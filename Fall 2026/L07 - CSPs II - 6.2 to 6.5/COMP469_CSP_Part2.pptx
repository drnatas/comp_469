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[0:00-0:03] Welcome back. Last session we defined CSPs and built backtracking search. Today we make it fast, and then we throw it away and try something completely different. Frame the two-hour arc: propagation, then smarter search, then local search, then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[0:03-0:07] Fast recap only - do not re-teach. Ask the room for the definition of a constraint graph before revealing. Key point to reinforce: the graph shows WHERE a constraint is, never WHAT it is. That same idea returns with Bayes nets later in the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[0:07-0:11] Walk the pseudocode. Emphasize: this is depth-first search with two CSP-specific additions - one variable at a time, and check constraints as you go. Everything in the next two hours is a modification of one of the three highlighted lines. Say explicitly: CSPs are NP-hard. Nothing today changes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[0:11-0:14] Set expectations. Two hours, one break at roughly the 55-minute mark, right after the Sudoku segment. Note that filtering and ordering extend last lecture; structure and local search are genuinely new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[0:14-0:16] Read these quickly. Point out that items 2 and 5 are the ones students most often lose points on: tracing AC-3 by hand, and knowing why the tree algorithm needs the tree property.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[0:16-0:17] Transition. The core idea of this section: a CSP algorithm has a choice an ordinary search algorithm does not have. It can do inference - reduce the domains before it ever expands a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[0:17-0:21] The central contrast of the section. An atomic state-space search makes progress exactly one way: expand a node. A CSP solver has a second lever - shrink domains using the constraints. Stress that propagation and search interleave; this is not just preprocessing.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[0:21-0:23] Quick slide. The point is that this level is trivially dischargeable - do it once at the start and never think about it again. Warn students not to confuse a unary constraint with a binary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[0:23-0:27] The most important definition of the section. Hammer the direction point: an arc is directed, X -&gt; Y is a different check from Y -&gt; X, and you always delete from the TAIL. Ask the room which end you delete from before revealing.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[0:27-0:29] Important corrective. Students come away thinking AC-3 solves things. On the plain 3-color Australia map with no assignments made, it does absolutely nothing. Arc consistency only earns its keep once search has committed to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[0:29-0:31] Set the scene carefully. WA=red and Q=green are ASSIGNED. The other five are unassigned but earlier filtering already trimmed their domains. We are now going to run arc checks and watch a cascade. Have students predict which arc breaks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[0:31-0:34] Walk each check aloud. The first two arcs pass. Then NSW -&gt; SA, the reverse of an arc we just passed, fails. Say it out loud: same edge, opposite direction, different answer. This is the moment direction stops being pedantic.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[0:34-0:37] This is the heart of AC-3 and the thing forward checking cannot do. We already passed V -&gt; NSW. That verdict depended on NSW still having blue. We just deleted blue. So the earlier check must be redone, and this time it deletes from V. Make sure everyone sees that the information travelled two edges away from the last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[0:37-0:40] The payoff. Neither SA nor NT is assigned, yet filtering alone proves this branch is dead. Deliver the line about there being no secret fourth color - it lands. Then draw the asymmetry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[0:40-0:42] Short but conceptually load-bearing. Filtering is sound but not complete: emptiness is a guarantee of failure, non-emptiness is not a guarantee of success. Students routinely assume the converse.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[0:42-0:46] Walk the pseudocode against the trace we just did. Two things to point out: the queue holds arcs not edges, and the re-queue line at the bottom is exactly the cascade from slide three. Note that we re-add (Xk, Xi) for neighbours Xk - arcs pointing INTO the variable that just shrank.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[0:46-0:48] Derive it live rather than reading it. n variables, domain size at most d, c binary arcs. Each arc can be inserted at most d times because the head can lose a value at most d times. Checking one arc costs d squared. So O(c d cubed).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[0:48-0:51] Motivate with the two-colour Australia problem. Arc consistency does nothing there because every single constraint is individually satisfiable. Path consistency looks at a pair with respect to a third variable and finds the contradiction. Emphasise it tightens sets of two using a third, the way arc consistency tightens singles using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[0:51-0:54] Present the table and let the pattern do the work. For this course K=2 is what you need cold; the general form matters conceptually and shows up in one exam question about why higher K is not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[0:54-0:57] Give the induction argument out loud - it is short and satisfying. Then immediately puncture it: if establishing strong n-consistency were cheap we would have solved an NP-hard problem in polynomial time. Flag that the idea is not wasted - it is the engine behind the tree algorithm in part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[0:57-1:01] Two families worth knowing. Alldiff with the pigeonhole check, and Atmost with the bounds check. The Australia Alldiff example is a nice callback - SA, NT and Q are pairwise different, so they form an implicit Alldiff.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[1:01-1:05] The best-known CSP in the world. Give the encoding, then the punchline: AC-3 alone solves the easy puzzles outright. Harder ones need PC-2 - and note the 255,960 path constraints, which is why nobody does that. Close with the framing paragraph about the power of the formalism; it is the real takeaway of the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[1:05-1:10] Cold-call or think-pair-share. Both answers are on the slide in small type - reveal only after discussion, or hide them if you are handing the deck out beforehand.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[1:10-1:20] Ten-minute break. Good moment to take individual questions on the AC-3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[1:20-1:21] Transition. Everything here is domain-independent - unlike an A* heuristic, none of it is hand-crafted for one problem. That is the whole appeal.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[1:21-1:23] Frame the section as four holes in the pseudocode from earlier. Uninformed search could only be improved with domain-specific heuristics; here we get general-purpose wins from the structure of the CSP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[1:23-1:27] Static ordering and random ordering are both bad. MRV is also called most-constrained-variable or fail-first. The key argument: if a variable has no legal values left, MRV picks it and the failure is detected immediately instead of after wandering through other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[1:27-1:31] The asymmetry slide. Get the class to articulate why the two heuristics point opposite directions before you give the answer. Every variable must eventually be assigned, so failing fast on variables is free information. But you only need ONE value to work, so be optimistic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[1:31-1:35] Walk the table row by row. Two things to point out explicitly: after WA and Q, both NT and SA are down to a single value, so branching on them disappears entirely. And after V = blue, SA is empty - detected before we ever try to assign 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[1:35-1:38] The motivating failure for MAC. Forward checking only propagates outward one step from the newest assignment. It cannot see that two unassigned neighbours have been squeezed onto the same single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[1:38-1:41] The Tasmania example is memorable - use it. Fixed ordering Q, NSW, V, T, SA, WA, NT. SA fails, and the algorithm dutifully goes back and recolours Tasmania, which shares no constraint with SA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[1:41-1:44] Define the conflict set precisely, then give the nice practical note: forward checking hands you the conflict set for free. Also be honest about the caveat - with forward checking in place, simple backjumping never actually fires, because FC catches the empty domain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[1:44-1:48] Work the propagation example on the slide slowly. The rule at the bottom is the examinable part. The deeper notion of a conflict set: the set of preceding variables that caused this variable, together with everything after it, to have no consistent 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[1:48-1:51] Close the section. Backjumping tells you how far to back up; constraint learning stops you from walking into the same wall again on a different branch. Mention that this is what makes modern SAT and CSP solvers fast - it is not a footnote.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[1:51-1:52] Transition, and flag the change of gear. Everything so far has been systematic search over partial assignments. Now we throw that away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[1:52-1:55] The single most important contrast in this section. Draw it on the board as two columns if the room is with you. Backtracking never holds an illegal state; local search never holds an incomplete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[1:55-1:58] Give the algorithm, then stress the shape of it: this is hill-climbing where the objective is the total number of violated constraints. Note MAX-STEPS - without it the loop may never terminate.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[1:58-2:01] Walk the three boards. Start complete and conflicted, pick a conflicted queen, move it within its column to the row with the fewest attacks. Two moves and we are done in the textbook figure - real runs take a few more, but not many.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[2:01-2:04] The n-queens result genuinely surprises people - say the numbers out loud. Then the Hubble example, which is the one students remember at the exam. End with the honest caveat that n-queens is under-constrained and therefore flattering.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[2:04-2:07] Three practical extensions. The plateau point explains why tie-breaking is random. Constraint weighting is the standard escape from plateaus. The online-repair story is the real-world argument for the whole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[2:07-2:10] From the Berkeley lecture rather than the chapter, but worth the two minutes. The counterintuitive part is that heavily over-constrained problems are also easy. The bad news is the punchline - real problems tend to sit in the hard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[2:10-2:11] Final section. Say up front that most of this transfers directly to probabilistic inference later in the term - the same tree property makes Bayes nets tractable.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[2:11-2:14] Start with the arithmetic - it is striking. Then be honest, as the Berkeley lecture is: genuinely independent subproblems almost never occur, because if the variables did not interact you would not have posed them as one CSP.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[2:14-2:17] The big theorem of the section. A constraint graph is a tree when any two variables are connected by exactly one path. State the bound, then walk the two passes on the next slide. Flag the forward reference: the same property makes tree-structured Bayes nets tractable.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[2:17-2:21] Walk both passes. The claim to justify carefully: the forward pass never backtracks. Ask why before you explain - the answer is on the next slide, and it is the one exam question students most often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[2:21-2:24] This is the conceptual heart of the section. Arc consistency alone is not what makes the forward pass safe - the single-parent property is. Two parents would require 3-consistency between the parents and the shared child, which plain arc consistency does not give.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[2:24-2:28] First of the two reductions. Australia is the canonical example - delete SA and the remainder is a tree. Give the algorithm and the bound, then the honest caveat that finding the smallest cutset is itself NP-hard.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[2:28-2:32] Second reduction. Instead of deleting nodes, group them. Give the three conditions, and be explicit about the third - the running intersection property - since it is the one that looks arbitrary but is doing all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[2:32-2:35] Define tree width, give the polynomial result for bounded tree width, then the comparison. The honest answer: time favours decomposition, but cutset conditioning wins on memory - which is often what actually decides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[2:35-2:37] Short closing topic. Structure is not only in the graph - it can be in the values. The 3! factor is easy to see and the fix is one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[2:37-2:41] The synthesis slide. Read down the left column - that is the arc of the last two lectures. Tell students this is the slide to revise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[2:41-2:44] Be specific about what is examinable. The four items on the left are the ones that show up as problems; the right-hand column is the conceptual framing.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[2:44-2:47] Close out. Assign the reading, flag the three practice exercises, and take questions. Office hours reminder if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303A"/>
        </a:solidFill>
      </p:bgPr>
    </p:bg>
    <p:spTree>
      <p:nvGrpSpPr>
        <p:cNvPr id="1" name=""/>
        <p:cNvGrpSpPr/>
        <p:nvPr/>
      </p:nvGrpSpPr>
      <p:grpSpPr>
        <a:xfrm>
          <a:off x="0" y="0"/>
          <a:ext cx="0" cy="0"/>
          <a:chOff x="0" y="0"/>
          <a:chExt cx="0" cy="0"/>
        </a:xfrm>
      </p:grpSpPr>
      <p:sp>
        <p:nvSpPr>
          <p:cNvPr id="2" name="Text 0"/>
          <p:cNvSpPr/>
          <p:nvPr/>
        </p:nvSpPr>
        <p:spPr>
          <a:xfrm>
            <a:off x="777240" y="1234440"/>
            <a:ext cx="10607040" cy="292608"/>
          </a:xfrm>
          <a:prstGeom prst="rect">
            <a:avLst/>
          </a:prstGeom>
          <a:noFill/>
          <a:ln/>
        </p:spPr>
        <p:txBody>
          <a:bodyPr wrap="square" lIns="0" tIns="0" rIns="0" bIns="0" rtlCol="0" anchor="ctr"/>
          <a:lstStyle/>
          <a:p>
            <a:pPr indent="0" marL="0">
              <a:buNone/>
            </a:pPr>
            <a:r>
              <a:rPr lang="en-US" sz="1250" b="1" spc="200" kern="0" dirty="0">
                <a:solidFill>
                  <a:srgbClr val="9FB8C4"/>
                </a:solidFill>
                <a:latin typeface="Calibri" pitchFamily="34" charset="0"/>
                <a:ea typeface="Calibri" pitchFamily="34" charset="-122"/>
                <a:cs typeface="Calibri" pitchFamily="34" charset="-120"/>
              </a:rPr>
              <a:t>COMP 469 - INTRODUCTION TO ARTIFICIAL INTELLIGENCE</a:t>
            </a:r>
            <a:endParaRPr lang="en-US" sz="1250" dirty="0"/>
          </a:p>
        </p:txBody>
      </p:sp>
      <p:sp>
        <p:nvSpPr>
          <p:cNvPr id="3" name="Text 1"/>
          <p:cNvSpPr/>
          <p:nvPr/>
        </p:nvSpPr>
        <p:spPr>
          <a:xfrm>
            <a:off x="777240" y="1737360"/>
            <a:ext cx="10607040" cy="7772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Constraint Satisfaction Problems</a:t>
            </a:r>
            <a:endParaRPr lang="en-US" sz="4600" dirty="0"/>
          </a:p>
        </p:txBody>
      </p:sp>
      <p:sp>
        <p:nvSpPr>
          <p:cNvPr id="4" name="Text 2"/>
          <p:cNvSpPr/>
          <p:nvPr/>
        </p:nvSpPr>
        <p:spPr>
          <a:xfrm>
            <a:off x="777240" y="2542032"/>
            <a:ext cx="10607040" cy="548640"/>
          </a:xfrm>
          <a:prstGeom prst="rect">
            <a:avLst/>
          </a:prstGeom>
          <a:noFill/>
          <a:ln/>
        </p:spPr>
        <p:txBody>
          <a:bodyPr wrap="square" lIns="0" tIns="0" rIns="0" bIns="0" rtlCol="0" anchor="ctr"/>
          <a:lstStyle/>
          <a:p>
            <a:pPr indent="0" marL="0">
              <a:buNone/>
            </a:pPr>
            <a:r>
              <a:rPr lang="en-US" sz="2700" dirty="0">
                <a:solidFill>
                  <a:srgbClr val="C8922F"/>
                </a:solidFill>
                <a:latin typeface="Cambria" pitchFamily="34" charset="0"/>
                <a:ea typeface="Cambria" pitchFamily="34" charset="-122"/>
                <a:cs typeface="Cambria" pitchFamily="34" charset="-120"/>
              </a:rPr>
              <a:t>Part 2: Propagation, Structure, and Local Search</a:t>
            </a:r>
            <a:endParaRPr lang="en-US" sz="2700" dirty="0"/>
          </a:p>
        </p:txBody>
      </p:sp>
      <p:sp>
        <p:nvSpPr>
          <p:cNvPr id="5" name="Shape 3"/>
          <p:cNvSpPr/>
          <p:nvPr/>
        </p:nvSpPr>
        <p:spPr>
          <a:xfrm>
            <a:off x="822960" y="3310128"/>
            <a:ext cx="2194560" cy="0"/>
          </a:xfrm>
          <a:prstGeom prst="line">
            <a:avLst/>
          </a:prstGeom>
          <a:noFill/>
          <a:ln w="38100">
            <a:solidFill>
              <a:srgbClr val="B85042"/>
            </a:solidFill>
            <a:prstDash val="solid"/>
          </a:ln>
        </p:spPr>
      </p:sp>
      <p:sp>
        <p:nvSpPr>
          <p:cNvPr id="6" name="Text 4"/>
          <p:cNvSpPr/>
          <p:nvPr/>
        </p:nvSpPr>
        <p:spPr>
          <a:xfrm>
            <a:off x="777240" y="3520440"/>
            <a:ext cx="7863840" cy="310896"/>
          </a:xfrm>
          <a:prstGeom prst="rect">
            <a:avLst/>
          </a:prstGeom>
          <a:noFill/>
          <a:ln/>
        </p:spPr>
        <p:txBody>
          <a:bodyPr wrap="square" lIns="0" tIns="0" rIns="0" bIns="0" rtlCol="0" anchor="ctr"/>
          <a:lstStyle/>
          <a:p>
            <a:pPr indent="0" marL="0">
              <a:buNone/>
            </a:pPr>
            <a:r>
              <a:rPr lang="en-US" sz="1400" dirty="0">
                <a:solidFill>
                  <a:srgbClr val="C4D5DE"/>
                </a:solidFill>
                <a:latin typeface="Calibri" pitchFamily="34" charset="0"/>
                <a:ea typeface="Calibri" pitchFamily="34" charset="-122"/>
                <a:cs typeface="Calibri" pitchFamily="34" charset="-120"/>
              </a:rPr>
              <a:t>Russell &amp; Norvig, Artificial Intelligence: A Modern Approach, 4e - Sections 6.2 through 6.5</a:t>
            </a:r>
            <a:endParaRPr lang="en-US" sz="1400" dirty="0"/>
          </a:p>
        </p:txBody>
      </p:sp>
      <p:sp>
        <p:nvSpPr>
          <p:cNvPr id="7" name="Text 5"/>
          <p:cNvSpPr/>
          <p:nvPr/>
        </p:nvSpPr>
        <p:spPr>
          <a:xfrm>
            <a:off x="777240" y="3886200"/>
            <a:ext cx="7863840" cy="310896"/>
          </a:xfrm>
          <a:prstGeom prst="rect">
            <a:avLst/>
          </a:prstGeom>
          <a:noFill/>
          <a:ln/>
        </p:spPr>
        <p:txBody>
          <a:bodyPr wrap="square" lIns="0" tIns="0" rIns="0" bIns="0" rtlCol="0" anchor="ctr"/>
          <a:lstStyle/>
          <a:p>
            <a:pPr indent="0" marL="0">
              <a:buNone/>
            </a:pPr>
            <a:r>
              <a:rPr lang="en-US" sz="1300" i="1" dirty="0">
                <a:solidFill>
                  <a:srgbClr val="8FA2AD"/>
                </a:solidFill>
                <a:latin typeface="Calibri" pitchFamily="34" charset="0"/>
                <a:ea typeface="Calibri" pitchFamily="34" charset="-122"/>
                <a:cs typeface="Calibri" pitchFamily="34" charset="-120"/>
              </a:rPr>
              <a:t>Two-hour session  |  CSU Channel Islands</a:t>
            </a:r>
            <a:endParaRPr lang="en-US" sz="1300" dirty="0"/>
          </a:p>
        </p:txBody>
      </p:sp>
      <p:sp>
        <p:nvSpPr>
          <p:cNvPr id="8" name="Shape 6"/>
          <p:cNvSpPr/>
          <p:nvPr/>
        </p:nvSpPr>
        <p:spPr>
          <a:xfrm flipV="1">
            <a:off x="8997696" y="4056278"/>
            <a:ext cx="689458" cy="462686"/>
          </a:xfrm>
          <a:prstGeom prst="line">
            <a:avLst/>
          </a:prstGeom>
          <a:noFill/>
          <a:ln w="17780">
            <a:solidFill>
              <a:srgbClr val="AEB9BF"/>
            </a:solidFill>
            <a:prstDash val="solid"/>
          </a:ln>
        </p:spPr>
      </p:sp>
      <p:sp>
        <p:nvSpPr>
          <p:cNvPr id="9" name="Shape 7"/>
          <p:cNvSpPr/>
          <p:nvPr/>
        </p:nvSpPr>
        <p:spPr>
          <a:xfrm>
            <a:off x="8997696" y="4518965"/>
            <a:ext cx="795528" cy="382219"/>
          </a:xfrm>
          <a:prstGeom prst="line">
            <a:avLst/>
          </a:prstGeom>
          <a:noFill/>
          <a:ln w="17780">
            <a:solidFill>
              <a:srgbClr val="AEB9BF"/>
            </a:solidFill>
            <a:prstDash val="solid"/>
          </a:ln>
        </p:spPr>
      </p:sp>
      <p:sp>
        <p:nvSpPr>
          <p:cNvPr id="10" name="Shape 8"/>
          <p:cNvSpPr/>
          <p:nvPr/>
        </p:nvSpPr>
        <p:spPr>
          <a:xfrm>
            <a:off x="9687154" y="4056278"/>
            <a:ext cx="106070" cy="844906"/>
          </a:xfrm>
          <a:prstGeom prst="line">
            <a:avLst/>
          </a:prstGeom>
          <a:noFill/>
          <a:ln w="17780">
            <a:solidFill>
              <a:srgbClr val="AEB9BF"/>
            </a:solidFill>
            <a:prstDash val="solid"/>
          </a:ln>
        </p:spPr>
      </p:sp>
      <p:sp>
        <p:nvSpPr>
          <p:cNvPr id="11" name="Shape 9"/>
          <p:cNvSpPr/>
          <p:nvPr/>
        </p:nvSpPr>
        <p:spPr>
          <a:xfrm>
            <a:off x="9687154" y="4056278"/>
            <a:ext cx="901598" cy="80467"/>
          </a:xfrm>
          <a:prstGeom prst="line">
            <a:avLst/>
          </a:prstGeom>
          <a:noFill/>
          <a:ln w="17780">
            <a:solidFill>
              <a:srgbClr val="AEB9BF"/>
            </a:solidFill>
            <a:prstDash val="solid"/>
          </a:ln>
        </p:spPr>
      </p:sp>
      <p:sp>
        <p:nvSpPr>
          <p:cNvPr id="12" name="Shape 10"/>
          <p:cNvSpPr/>
          <p:nvPr/>
        </p:nvSpPr>
        <p:spPr>
          <a:xfrm flipV="1">
            <a:off x="9793224" y="4136746"/>
            <a:ext cx="795528" cy="764438"/>
          </a:xfrm>
          <a:prstGeom prst="line">
            <a:avLst/>
          </a:prstGeom>
          <a:noFill/>
          <a:ln w="17780">
            <a:solidFill>
              <a:srgbClr val="AEB9BF"/>
            </a:solidFill>
            <a:prstDash val="solid"/>
          </a:ln>
        </p:spPr>
      </p:sp>
      <p:sp>
        <p:nvSpPr>
          <p:cNvPr id="13" name="Shape 11"/>
          <p:cNvSpPr/>
          <p:nvPr/>
        </p:nvSpPr>
        <p:spPr>
          <a:xfrm>
            <a:off x="9793224" y="4901184"/>
            <a:ext cx="901598" cy="0"/>
          </a:xfrm>
          <a:prstGeom prst="line">
            <a:avLst/>
          </a:prstGeom>
          <a:noFill/>
          <a:ln w="17780">
            <a:solidFill>
              <a:srgbClr val="AEB9BF"/>
            </a:solidFill>
            <a:prstDash val="solid"/>
          </a:ln>
        </p:spPr>
      </p:sp>
      <p:sp>
        <p:nvSpPr>
          <p:cNvPr id="14" name="Shape 12"/>
          <p:cNvSpPr/>
          <p:nvPr/>
        </p:nvSpPr>
        <p:spPr>
          <a:xfrm>
            <a:off x="9793224" y="4901184"/>
            <a:ext cx="530352" cy="563270"/>
          </a:xfrm>
          <a:prstGeom prst="line">
            <a:avLst/>
          </a:prstGeom>
          <a:noFill/>
          <a:ln w="17780">
            <a:solidFill>
              <a:srgbClr val="AEB9BF"/>
            </a:solidFill>
            <a:prstDash val="solid"/>
          </a:ln>
        </p:spPr>
      </p:sp>
      <p:sp>
        <p:nvSpPr>
          <p:cNvPr id="15" name="Shape 13"/>
          <p:cNvSpPr/>
          <p:nvPr/>
        </p:nvSpPr>
        <p:spPr>
          <a:xfrm>
            <a:off x="10588752" y="4136746"/>
            <a:ext cx="106070" cy="764438"/>
          </a:xfrm>
          <a:prstGeom prst="line">
            <a:avLst/>
          </a:prstGeom>
          <a:noFill/>
          <a:ln w="17780">
            <a:solidFill>
              <a:srgbClr val="AEB9BF"/>
            </a:solidFill>
            <a:prstDash val="solid"/>
          </a:ln>
        </p:spPr>
      </p:sp>
      <p:sp>
        <p:nvSpPr>
          <p:cNvPr id="16" name="Shape 14"/>
          <p:cNvSpPr/>
          <p:nvPr/>
        </p:nvSpPr>
        <p:spPr>
          <a:xfrm flipH="1">
            <a:off x="10323576" y="4901184"/>
            <a:ext cx="371246" cy="563270"/>
          </a:xfrm>
          <a:prstGeom prst="line">
            <a:avLst/>
          </a:prstGeom>
          <a:noFill/>
          <a:ln w="17780">
            <a:solidFill>
              <a:srgbClr val="AEB9BF"/>
            </a:solidFill>
            <a:prstDash val="solid"/>
          </a:ln>
        </p:spPr>
      </p:sp>
      <p:sp>
        <p:nvSpPr>
          <p:cNvPr id="17" name="Shape 15"/>
          <p:cNvSpPr/>
          <p:nvPr/>
        </p:nvSpPr>
        <p:spPr>
          <a:xfrm>
            <a:off x="8842248" y="4363517"/>
            <a:ext cx="310896" cy="310896"/>
          </a:xfrm>
          <a:prstGeom prst="ellipse">
            <a:avLst/>
          </a:prstGeom>
          <a:solidFill>
            <a:srgbClr val="B85042"/>
          </a:solidFill>
          <a:ln w="12700">
            <a:solidFill>
              <a:srgbClr val="B85042"/>
            </a:solidFill>
            <a:prstDash val="solid"/>
          </a:ln>
        </p:spPr>
      </p:sp>
      <p:sp>
        <p:nvSpPr>
          <p:cNvPr id="18" name="Text 16"/>
          <p:cNvSpPr/>
          <p:nvPr/>
        </p:nvSpPr>
        <p:spPr>
          <a:xfrm>
            <a:off x="8613648" y="4372661"/>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WA</a:t>
            </a:r>
            <a:endParaRPr lang="en-US" sz="1050" dirty="0"/>
          </a:p>
        </p:txBody>
      </p:sp>
      <p:sp>
        <p:nvSpPr>
          <p:cNvPr id="19" name="Shape 17"/>
          <p:cNvSpPr/>
          <p:nvPr/>
        </p:nvSpPr>
        <p:spPr>
          <a:xfrm>
            <a:off x="9531706" y="3900830"/>
            <a:ext cx="310896" cy="310896"/>
          </a:xfrm>
          <a:prstGeom prst="ellipse">
            <a:avLst/>
          </a:prstGeom>
          <a:solidFill>
            <a:srgbClr val="6E8B5A"/>
          </a:solidFill>
          <a:ln w="12700">
            <a:solidFill>
              <a:srgbClr val="6E8B5A"/>
            </a:solidFill>
            <a:prstDash val="solid"/>
          </a:ln>
        </p:spPr>
      </p:sp>
      <p:sp>
        <p:nvSpPr>
          <p:cNvPr id="20" name="Text 18"/>
          <p:cNvSpPr/>
          <p:nvPr/>
        </p:nvSpPr>
        <p:spPr>
          <a:xfrm>
            <a:off x="9303106" y="3909974"/>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NT</a:t>
            </a:r>
            <a:endParaRPr lang="en-US" sz="1050" dirty="0"/>
          </a:p>
        </p:txBody>
      </p:sp>
      <p:sp>
        <p:nvSpPr>
          <p:cNvPr id="21" name="Shape 19"/>
          <p:cNvSpPr/>
          <p:nvPr/>
        </p:nvSpPr>
        <p:spPr>
          <a:xfrm>
            <a:off x="10433304" y="3981298"/>
            <a:ext cx="310896" cy="310896"/>
          </a:xfrm>
          <a:prstGeom prst="ellipse">
            <a:avLst/>
          </a:prstGeom>
          <a:solidFill>
            <a:srgbClr val="B85042"/>
          </a:solidFill>
          <a:ln w="12700">
            <a:solidFill>
              <a:srgbClr val="B85042"/>
            </a:solidFill>
            <a:prstDash val="solid"/>
          </a:ln>
        </p:spPr>
      </p:sp>
      <p:sp>
        <p:nvSpPr>
          <p:cNvPr id="22" name="Text 20"/>
          <p:cNvSpPr/>
          <p:nvPr/>
        </p:nvSpPr>
        <p:spPr>
          <a:xfrm>
            <a:off x="10204704" y="3990442"/>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a:t>
            </a:r>
            <a:endParaRPr lang="en-US" sz="1050" dirty="0"/>
          </a:p>
        </p:txBody>
      </p:sp>
      <p:sp>
        <p:nvSpPr>
          <p:cNvPr id="23" name="Shape 21"/>
          <p:cNvSpPr/>
          <p:nvPr/>
        </p:nvSpPr>
        <p:spPr>
          <a:xfrm>
            <a:off x="9637776" y="4745736"/>
            <a:ext cx="310896" cy="310896"/>
          </a:xfrm>
          <a:prstGeom prst="ellipse">
            <a:avLst/>
          </a:prstGeom>
          <a:solidFill>
            <a:srgbClr val="50808E"/>
          </a:solidFill>
          <a:ln w="12700">
            <a:solidFill>
              <a:srgbClr val="50808E"/>
            </a:solidFill>
            <a:prstDash val="solid"/>
          </a:ln>
        </p:spPr>
      </p:sp>
      <p:sp>
        <p:nvSpPr>
          <p:cNvPr id="24" name="Text 22"/>
          <p:cNvSpPr/>
          <p:nvPr/>
        </p:nvSpPr>
        <p:spPr>
          <a:xfrm>
            <a:off x="9409176" y="4754880"/>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a:t>
            </a:r>
            <a:endParaRPr lang="en-US" sz="1050" dirty="0"/>
          </a:p>
        </p:txBody>
      </p:sp>
      <p:sp>
        <p:nvSpPr>
          <p:cNvPr id="25" name="Shape 23"/>
          <p:cNvSpPr/>
          <p:nvPr/>
        </p:nvSpPr>
        <p:spPr>
          <a:xfrm>
            <a:off x="10539374" y="4745736"/>
            <a:ext cx="310896" cy="310896"/>
          </a:xfrm>
          <a:prstGeom prst="ellipse">
            <a:avLst/>
          </a:prstGeom>
          <a:solidFill>
            <a:srgbClr val="6E8B5A"/>
          </a:solidFill>
          <a:ln w="12700">
            <a:solidFill>
              <a:srgbClr val="6E8B5A"/>
            </a:solidFill>
            <a:prstDash val="solid"/>
          </a:ln>
        </p:spPr>
      </p:sp>
      <p:sp>
        <p:nvSpPr>
          <p:cNvPr id="26" name="Text 24"/>
          <p:cNvSpPr/>
          <p:nvPr/>
        </p:nvSpPr>
        <p:spPr>
          <a:xfrm>
            <a:off x="10310774" y="4754880"/>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NSW</a:t>
            </a:r>
            <a:endParaRPr lang="en-US" sz="1050" dirty="0"/>
          </a:p>
        </p:txBody>
      </p:sp>
      <p:sp>
        <p:nvSpPr>
          <p:cNvPr id="27" name="Shape 25"/>
          <p:cNvSpPr/>
          <p:nvPr/>
        </p:nvSpPr>
        <p:spPr>
          <a:xfrm>
            <a:off x="10168128" y="5309006"/>
            <a:ext cx="310896" cy="310896"/>
          </a:xfrm>
          <a:prstGeom prst="ellipse">
            <a:avLst/>
          </a:prstGeom>
          <a:solidFill>
            <a:srgbClr val="B85042"/>
          </a:solidFill>
          <a:ln w="12700">
            <a:solidFill>
              <a:srgbClr val="B85042"/>
            </a:solidFill>
            <a:prstDash val="solid"/>
          </a:ln>
        </p:spPr>
      </p:sp>
      <p:sp>
        <p:nvSpPr>
          <p:cNvPr id="28" name="Text 26"/>
          <p:cNvSpPr/>
          <p:nvPr/>
        </p:nvSpPr>
        <p:spPr>
          <a:xfrm>
            <a:off x="9939528" y="5318150"/>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a:t>
            </a:r>
            <a:endParaRPr lang="en-US" sz="1050" dirty="0"/>
          </a:p>
        </p:txBody>
      </p:sp>
      <p:sp>
        <p:nvSpPr>
          <p:cNvPr id="29" name="Shape 27"/>
          <p:cNvSpPr/>
          <p:nvPr/>
        </p:nvSpPr>
        <p:spPr>
          <a:xfrm>
            <a:off x="10857586" y="5550408"/>
            <a:ext cx="310896" cy="310896"/>
          </a:xfrm>
          <a:prstGeom prst="ellipse">
            <a:avLst/>
          </a:prstGeom>
          <a:solidFill>
            <a:srgbClr val="B85042"/>
          </a:solidFill>
          <a:ln w="12700">
            <a:solidFill>
              <a:srgbClr val="B85042"/>
            </a:solidFill>
            <a:prstDash val="solid"/>
          </a:ln>
        </p:spPr>
      </p:sp>
      <p:sp>
        <p:nvSpPr>
          <p:cNvPr id="30" name="Text 28"/>
          <p:cNvSpPr/>
          <p:nvPr/>
        </p:nvSpPr>
        <p:spPr>
          <a:xfrm>
            <a:off x="10628986" y="5559552"/>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t>
            </a:r>
            <a:endParaRPr lang="en-US" sz="1050" dirty="0"/>
          </a:p>
        </p:txBody>
      </p:sp>
      <p:sp>
        <p:nvSpPr>
          <p:cNvPr id="32" name="Text 29"/>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8FA2AD"/>
                </a:solidFill>
                <a:latin typeface="Calibri" pitchFamily="34" charset="0"/>
                <a:ea typeface="Calibri" pitchFamily="34" charset="-122"/>
                <a:cs typeface="Calibri" pitchFamily="34" charset="-120"/>
              </a:rPr>
              <a:t>COMP 469 - Artificial Intelligence</a:t>
            </a:r>
            <a:endParaRPr lang="en-US" sz="900" dirty="0"/>
          </a:p>
        </p:txBody>
      </p:sp>
      <p:sp>
        <p:nvSpPr>
          <p:cNvPr id="33" name="Text 30"/>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8FA2AD"/>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RECAP</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Where we left off: the CSP toolkit so far</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2</a:t>
            </a:r>
            <a:endParaRPr lang="en-US" sz="900" dirty="0"/>
          </a:p>
        </p:txBody>
      </p:sp>
      <p:sp>
        <p:nvSpPr>
          <p:cNvPr id="7" name="Shape 4"/>
          <p:cNvSpPr/>
          <p:nvPr/>
        </p:nvSpPr>
        <p:spPr>
          <a:xfrm>
            <a:off x="502920" y="1417320"/>
            <a:ext cx="2148840" cy="1234440"/>
          </a:xfrm>
          <a:prstGeom prst="roundRect">
            <a:avLst>
              <a:gd name="adj" fmla="val 4444"/>
            </a:avLst>
          </a:prstGeom>
          <a:solidFill>
            <a:srgbClr val="F1F3F4"/>
          </a:solidFill>
          <a:ln w="9525">
            <a:solidFill>
              <a:srgbClr val="F1F3F4"/>
            </a:solidFill>
            <a:prstDash val="solid"/>
          </a:ln>
        </p:spPr>
      </p:sp>
      <p:sp>
        <p:nvSpPr>
          <p:cNvPr id="8" name="Shape 5"/>
          <p:cNvSpPr/>
          <p:nvPr/>
        </p:nvSpPr>
        <p:spPr>
          <a:xfrm>
            <a:off x="704088" y="1600200"/>
            <a:ext cx="274320" cy="274320"/>
          </a:xfrm>
          <a:prstGeom prst="ellipse">
            <a:avLst/>
          </a:prstGeom>
          <a:solidFill>
            <a:srgbClr val="50808E"/>
          </a:solidFill>
          <a:ln/>
        </p:spPr>
      </p:sp>
      <p:sp>
        <p:nvSpPr>
          <p:cNvPr id="9" name="Text 6"/>
          <p:cNvSpPr/>
          <p:nvPr/>
        </p:nvSpPr>
        <p:spPr>
          <a:xfrm>
            <a:off x="1069848" y="1581912"/>
            <a:ext cx="1463040" cy="301752"/>
          </a:xfrm>
          <a:prstGeom prst="rect">
            <a:avLst/>
          </a:prstGeom>
          <a:noFill/>
          <a:ln/>
        </p:spPr>
        <p:txBody>
          <a:bodyPr wrap="square" lIns="0" tIns="0" rIns="0" bIns="0" rtlCol="0" anchor="ctr"/>
          <a:lstStyle/>
          <a:p>
            <a:pPr indent="0" marL="0">
              <a:buNone/>
            </a:pPr>
            <a:r>
              <a:rPr lang="en-US" sz="1400" b="1" dirty="0">
                <a:solidFill>
                  <a:srgbClr val="22303A"/>
                </a:solidFill>
                <a:latin typeface="Calibri" pitchFamily="34" charset="0"/>
                <a:ea typeface="Calibri" pitchFamily="34" charset="-122"/>
                <a:cs typeface="Calibri" pitchFamily="34" charset="-120"/>
              </a:rPr>
              <a:t>Variables</a:t>
            </a:r>
            <a:endParaRPr lang="en-US" sz="1400" dirty="0"/>
          </a:p>
        </p:txBody>
      </p:sp>
      <p:sp>
        <p:nvSpPr>
          <p:cNvPr id="10" name="Text 7"/>
          <p:cNvSpPr/>
          <p:nvPr/>
        </p:nvSpPr>
        <p:spPr>
          <a:xfrm>
            <a:off x="704088" y="1975104"/>
            <a:ext cx="1783080" cy="594360"/>
          </a:xfrm>
          <a:prstGeom prst="rect">
            <a:avLst/>
          </a:prstGeom>
          <a:noFill/>
          <a:ln/>
        </p:spPr>
        <p:txBody>
          <a:bodyPr wrap="square" lIns="0" tIns="0" rIns="0" bIns="0" rtlCol="0" anchor="t"/>
          <a:lstStyle/>
          <a:p>
            <a:pPr indent="0" marL="0">
              <a:lnSpc>
                <a:spcPct val="112000"/>
              </a:lnSpc>
              <a:buNone/>
            </a:pPr>
            <a:r>
              <a:rPr lang="en-US" sz="1150" dirty="0">
                <a:solidFill>
                  <a:srgbClr val="6E7A83"/>
                </a:solidFill>
                <a:latin typeface="Calibri" pitchFamily="34" charset="0"/>
                <a:ea typeface="Calibri" pitchFamily="34" charset="-122"/>
                <a:cs typeface="Calibri" pitchFamily="34" charset="-120"/>
              </a:rPr>
              <a:t>X1 ... Xn, the things we must assign</a:t>
            </a:r>
            <a:endParaRPr lang="en-US" sz="1150" dirty="0"/>
          </a:p>
        </p:txBody>
      </p:sp>
      <p:sp>
        <p:nvSpPr>
          <p:cNvPr id="11" name="Shape 8"/>
          <p:cNvSpPr/>
          <p:nvPr/>
        </p:nvSpPr>
        <p:spPr>
          <a:xfrm>
            <a:off x="2834640" y="1417320"/>
            <a:ext cx="2148840" cy="1234440"/>
          </a:xfrm>
          <a:prstGeom prst="roundRect">
            <a:avLst>
              <a:gd name="adj" fmla="val 4444"/>
            </a:avLst>
          </a:prstGeom>
          <a:solidFill>
            <a:srgbClr val="F1F3F4"/>
          </a:solidFill>
          <a:ln w="9525">
            <a:solidFill>
              <a:srgbClr val="F1F3F4"/>
            </a:solidFill>
            <a:prstDash val="solid"/>
          </a:ln>
        </p:spPr>
      </p:sp>
      <p:sp>
        <p:nvSpPr>
          <p:cNvPr id="12" name="Shape 9"/>
          <p:cNvSpPr/>
          <p:nvPr/>
        </p:nvSpPr>
        <p:spPr>
          <a:xfrm>
            <a:off x="3035808" y="1600200"/>
            <a:ext cx="274320" cy="274320"/>
          </a:xfrm>
          <a:prstGeom prst="ellipse">
            <a:avLst/>
          </a:prstGeom>
          <a:solidFill>
            <a:srgbClr val="6E8B5A"/>
          </a:solidFill>
          <a:ln/>
        </p:spPr>
      </p:sp>
      <p:sp>
        <p:nvSpPr>
          <p:cNvPr id="13" name="Text 10"/>
          <p:cNvSpPr/>
          <p:nvPr/>
        </p:nvSpPr>
        <p:spPr>
          <a:xfrm>
            <a:off x="3401568" y="1581912"/>
            <a:ext cx="1463040" cy="301752"/>
          </a:xfrm>
          <a:prstGeom prst="rect">
            <a:avLst/>
          </a:prstGeom>
          <a:noFill/>
          <a:ln/>
        </p:spPr>
        <p:txBody>
          <a:bodyPr wrap="square" lIns="0" tIns="0" rIns="0" bIns="0" rtlCol="0" anchor="ctr"/>
          <a:lstStyle/>
          <a:p>
            <a:pPr indent="0" marL="0">
              <a:buNone/>
            </a:pPr>
            <a:r>
              <a:rPr lang="en-US" sz="1400" b="1" dirty="0">
                <a:solidFill>
                  <a:srgbClr val="22303A"/>
                </a:solidFill>
                <a:latin typeface="Calibri" pitchFamily="34" charset="0"/>
                <a:ea typeface="Calibri" pitchFamily="34" charset="-122"/>
                <a:cs typeface="Calibri" pitchFamily="34" charset="-120"/>
              </a:rPr>
              <a:t>Domains</a:t>
            </a:r>
            <a:endParaRPr lang="en-US" sz="1400" dirty="0"/>
          </a:p>
        </p:txBody>
      </p:sp>
      <p:sp>
        <p:nvSpPr>
          <p:cNvPr id="14" name="Text 11"/>
          <p:cNvSpPr/>
          <p:nvPr/>
        </p:nvSpPr>
        <p:spPr>
          <a:xfrm>
            <a:off x="3035808" y="1975104"/>
            <a:ext cx="1783080" cy="594360"/>
          </a:xfrm>
          <a:prstGeom prst="rect">
            <a:avLst/>
          </a:prstGeom>
          <a:noFill/>
          <a:ln/>
        </p:spPr>
        <p:txBody>
          <a:bodyPr wrap="square" lIns="0" tIns="0" rIns="0" bIns="0" rtlCol="0" anchor="t"/>
          <a:lstStyle/>
          <a:p>
            <a:pPr indent="0" marL="0">
              <a:lnSpc>
                <a:spcPct val="112000"/>
              </a:lnSpc>
              <a:buNone/>
            </a:pPr>
            <a:r>
              <a:rPr lang="en-US" sz="1150" dirty="0">
                <a:solidFill>
                  <a:srgbClr val="6E7A83"/>
                </a:solidFill>
                <a:latin typeface="Calibri" pitchFamily="34" charset="0"/>
                <a:ea typeface="Calibri" pitchFamily="34" charset="-122"/>
                <a:cs typeface="Calibri" pitchFamily="34" charset="-120"/>
              </a:rPr>
              <a:t>Di, the values each variable may take</a:t>
            </a:r>
            <a:endParaRPr lang="en-US" sz="1150" dirty="0"/>
          </a:p>
        </p:txBody>
      </p:sp>
      <p:sp>
        <p:nvSpPr>
          <p:cNvPr id="15" name="Shape 12"/>
          <p:cNvSpPr/>
          <p:nvPr/>
        </p:nvSpPr>
        <p:spPr>
          <a:xfrm>
            <a:off x="5166360" y="1417320"/>
            <a:ext cx="2148840" cy="1234440"/>
          </a:xfrm>
          <a:prstGeom prst="roundRect">
            <a:avLst>
              <a:gd name="adj" fmla="val 4444"/>
            </a:avLst>
          </a:prstGeom>
          <a:solidFill>
            <a:srgbClr val="F1F3F4"/>
          </a:solidFill>
          <a:ln w="9525">
            <a:solidFill>
              <a:srgbClr val="F1F3F4"/>
            </a:solidFill>
            <a:prstDash val="solid"/>
          </a:ln>
        </p:spPr>
      </p:sp>
      <p:sp>
        <p:nvSpPr>
          <p:cNvPr id="16" name="Shape 13"/>
          <p:cNvSpPr/>
          <p:nvPr/>
        </p:nvSpPr>
        <p:spPr>
          <a:xfrm>
            <a:off x="5367528" y="1600200"/>
            <a:ext cx="274320" cy="274320"/>
          </a:xfrm>
          <a:prstGeom prst="ellipse">
            <a:avLst/>
          </a:prstGeom>
          <a:solidFill>
            <a:srgbClr val="B85042"/>
          </a:solidFill>
          <a:ln/>
        </p:spPr>
      </p:sp>
      <p:sp>
        <p:nvSpPr>
          <p:cNvPr id="17" name="Text 14"/>
          <p:cNvSpPr/>
          <p:nvPr/>
        </p:nvSpPr>
        <p:spPr>
          <a:xfrm>
            <a:off x="5733288" y="1581912"/>
            <a:ext cx="1463040" cy="301752"/>
          </a:xfrm>
          <a:prstGeom prst="rect">
            <a:avLst/>
          </a:prstGeom>
          <a:noFill/>
          <a:ln/>
        </p:spPr>
        <p:txBody>
          <a:bodyPr wrap="square" lIns="0" tIns="0" rIns="0" bIns="0" rtlCol="0" anchor="ctr"/>
          <a:lstStyle/>
          <a:p>
            <a:pPr indent="0" marL="0">
              <a:buNone/>
            </a:pPr>
            <a:r>
              <a:rPr lang="en-US" sz="1400" b="1" dirty="0">
                <a:solidFill>
                  <a:srgbClr val="22303A"/>
                </a:solidFill>
                <a:latin typeface="Calibri" pitchFamily="34" charset="0"/>
                <a:ea typeface="Calibri" pitchFamily="34" charset="-122"/>
                <a:cs typeface="Calibri" pitchFamily="34" charset="-120"/>
              </a:rPr>
              <a:t>Constraints</a:t>
            </a:r>
            <a:endParaRPr lang="en-US" sz="1400" dirty="0"/>
          </a:p>
        </p:txBody>
      </p:sp>
      <p:sp>
        <p:nvSpPr>
          <p:cNvPr id="18" name="Text 15"/>
          <p:cNvSpPr/>
          <p:nvPr/>
        </p:nvSpPr>
        <p:spPr>
          <a:xfrm>
            <a:off x="5367528" y="1975104"/>
            <a:ext cx="1783080" cy="594360"/>
          </a:xfrm>
          <a:prstGeom prst="rect">
            <a:avLst/>
          </a:prstGeom>
          <a:noFill/>
          <a:ln/>
        </p:spPr>
        <p:txBody>
          <a:bodyPr wrap="square" lIns="0" tIns="0" rIns="0" bIns="0" rtlCol="0" anchor="t"/>
          <a:lstStyle/>
          <a:p>
            <a:pPr indent="0" marL="0">
              <a:lnSpc>
                <a:spcPct val="112000"/>
              </a:lnSpc>
              <a:buNone/>
            </a:pPr>
            <a:r>
              <a:rPr lang="en-US" sz="1150" dirty="0">
                <a:solidFill>
                  <a:srgbClr val="6E7A83"/>
                </a:solidFill>
                <a:latin typeface="Calibri" pitchFamily="34" charset="0"/>
                <a:ea typeface="Calibri" pitchFamily="34" charset="-122"/>
                <a:cs typeface="Calibri" pitchFamily="34" charset="-120"/>
              </a:rPr>
              <a:t>restrictions on simultaneous values</a:t>
            </a:r>
            <a:endParaRPr lang="en-US" sz="1150" dirty="0"/>
          </a:p>
        </p:txBody>
      </p:sp>
      <p:sp>
        <p:nvSpPr>
          <p:cNvPr id="19" name="Text 16"/>
          <p:cNvSpPr/>
          <p:nvPr/>
        </p:nvSpPr>
        <p:spPr>
          <a:xfrm>
            <a:off x="502920" y="2880360"/>
            <a:ext cx="6858000" cy="237744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Implicit constraints: code you call to test an assignment. General, but nothing can be precomputed from it.</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Explicit constraints: an enumerated list of legal tuples, e.g. {(red,green), (green,blue), ...}</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The constraint graph shows only where a constraint exists - never what it says</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Arity: unary (restricts one domain), binary (two variables), global / higher-order (three or more)</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In this course the goal is: find any one solution, then stop</a:t>
            </a:r>
            <a:endParaRPr lang="en-US" sz="1350" dirty="0"/>
          </a:p>
        </p:txBody>
      </p:sp>
      <p:sp>
        <p:nvSpPr>
          <p:cNvPr id="20" name="Shape 17"/>
          <p:cNvSpPr/>
          <p:nvPr/>
        </p:nvSpPr>
        <p:spPr>
          <a:xfrm flipV="1">
            <a:off x="8385048" y="3429914"/>
            <a:ext cx="879653" cy="567842"/>
          </a:xfrm>
          <a:prstGeom prst="line">
            <a:avLst/>
          </a:prstGeom>
          <a:noFill/>
          <a:ln w="17780">
            <a:solidFill>
              <a:srgbClr val="AEB9BF"/>
            </a:solidFill>
            <a:prstDash val="solid"/>
          </a:ln>
        </p:spPr>
      </p:sp>
      <p:sp>
        <p:nvSpPr>
          <p:cNvPr id="21" name="Shape 18"/>
          <p:cNvSpPr/>
          <p:nvPr/>
        </p:nvSpPr>
        <p:spPr>
          <a:xfrm>
            <a:off x="8385048" y="3997757"/>
            <a:ext cx="1014984" cy="469087"/>
          </a:xfrm>
          <a:prstGeom prst="line">
            <a:avLst/>
          </a:prstGeom>
          <a:noFill/>
          <a:ln w="17780">
            <a:solidFill>
              <a:srgbClr val="AEB9BF"/>
            </a:solidFill>
            <a:prstDash val="solid"/>
          </a:ln>
        </p:spPr>
      </p:sp>
      <p:sp>
        <p:nvSpPr>
          <p:cNvPr id="22" name="Shape 19"/>
          <p:cNvSpPr/>
          <p:nvPr/>
        </p:nvSpPr>
        <p:spPr>
          <a:xfrm>
            <a:off x="9264701" y="3429914"/>
            <a:ext cx="135331" cy="1036930"/>
          </a:xfrm>
          <a:prstGeom prst="line">
            <a:avLst/>
          </a:prstGeom>
          <a:noFill/>
          <a:ln w="17780">
            <a:solidFill>
              <a:srgbClr val="AEB9BF"/>
            </a:solidFill>
            <a:prstDash val="solid"/>
          </a:ln>
        </p:spPr>
      </p:sp>
      <p:sp>
        <p:nvSpPr>
          <p:cNvPr id="23" name="Shape 20"/>
          <p:cNvSpPr/>
          <p:nvPr/>
        </p:nvSpPr>
        <p:spPr>
          <a:xfrm>
            <a:off x="9264701" y="3429914"/>
            <a:ext cx="1150315" cy="98755"/>
          </a:xfrm>
          <a:prstGeom prst="line">
            <a:avLst/>
          </a:prstGeom>
          <a:noFill/>
          <a:ln w="17780">
            <a:solidFill>
              <a:srgbClr val="AEB9BF"/>
            </a:solidFill>
            <a:prstDash val="solid"/>
          </a:ln>
        </p:spPr>
      </p:sp>
      <p:sp>
        <p:nvSpPr>
          <p:cNvPr id="24" name="Shape 21"/>
          <p:cNvSpPr/>
          <p:nvPr/>
        </p:nvSpPr>
        <p:spPr>
          <a:xfrm flipV="1">
            <a:off x="9400032" y="3528670"/>
            <a:ext cx="1014984" cy="938174"/>
          </a:xfrm>
          <a:prstGeom prst="line">
            <a:avLst/>
          </a:prstGeom>
          <a:noFill/>
          <a:ln w="17780">
            <a:solidFill>
              <a:srgbClr val="AEB9BF"/>
            </a:solidFill>
            <a:prstDash val="solid"/>
          </a:ln>
        </p:spPr>
      </p:sp>
      <p:sp>
        <p:nvSpPr>
          <p:cNvPr id="25" name="Shape 22"/>
          <p:cNvSpPr/>
          <p:nvPr/>
        </p:nvSpPr>
        <p:spPr>
          <a:xfrm>
            <a:off x="9400032" y="4466844"/>
            <a:ext cx="1150315" cy="0"/>
          </a:xfrm>
          <a:prstGeom prst="line">
            <a:avLst/>
          </a:prstGeom>
          <a:noFill/>
          <a:ln w="17780">
            <a:solidFill>
              <a:srgbClr val="AEB9BF"/>
            </a:solidFill>
            <a:prstDash val="solid"/>
          </a:ln>
        </p:spPr>
      </p:sp>
      <p:sp>
        <p:nvSpPr>
          <p:cNvPr id="26" name="Shape 23"/>
          <p:cNvSpPr/>
          <p:nvPr/>
        </p:nvSpPr>
        <p:spPr>
          <a:xfrm>
            <a:off x="9400032" y="4466844"/>
            <a:ext cx="676656" cy="691286"/>
          </a:xfrm>
          <a:prstGeom prst="line">
            <a:avLst/>
          </a:prstGeom>
          <a:noFill/>
          <a:ln w="17780">
            <a:solidFill>
              <a:srgbClr val="AEB9BF"/>
            </a:solidFill>
            <a:prstDash val="solid"/>
          </a:ln>
        </p:spPr>
      </p:sp>
      <p:sp>
        <p:nvSpPr>
          <p:cNvPr id="27" name="Shape 24"/>
          <p:cNvSpPr/>
          <p:nvPr/>
        </p:nvSpPr>
        <p:spPr>
          <a:xfrm>
            <a:off x="10415016" y="3528670"/>
            <a:ext cx="135331" cy="938174"/>
          </a:xfrm>
          <a:prstGeom prst="line">
            <a:avLst/>
          </a:prstGeom>
          <a:noFill/>
          <a:ln w="17780">
            <a:solidFill>
              <a:srgbClr val="AEB9BF"/>
            </a:solidFill>
            <a:prstDash val="solid"/>
          </a:ln>
        </p:spPr>
      </p:sp>
      <p:sp>
        <p:nvSpPr>
          <p:cNvPr id="28" name="Shape 25"/>
          <p:cNvSpPr/>
          <p:nvPr/>
        </p:nvSpPr>
        <p:spPr>
          <a:xfrm flipH="1">
            <a:off x="10076688" y="4466844"/>
            <a:ext cx="473659" cy="691286"/>
          </a:xfrm>
          <a:prstGeom prst="line">
            <a:avLst/>
          </a:prstGeom>
          <a:noFill/>
          <a:ln w="17780">
            <a:solidFill>
              <a:srgbClr val="AEB9BF"/>
            </a:solidFill>
            <a:prstDash val="solid"/>
          </a:ln>
        </p:spPr>
      </p:sp>
      <p:sp>
        <p:nvSpPr>
          <p:cNvPr id="29" name="Shape 26"/>
          <p:cNvSpPr/>
          <p:nvPr/>
        </p:nvSpPr>
        <p:spPr>
          <a:xfrm>
            <a:off x="8238744" y="3851453"/>
            <a:ext cx="292608" cy="292608"/>
          </a:xfrm>
          <a:prstGeom prst="ellipse">
            <a:avLst/>
          </a:prstGeom>
          <a:solidFill>
            <a:srgbClr val="E4E9EB"/>
          </a:solidFill>
          <a:ln w="12700">
            <a:solidFill>
              <a:srgbClr val="9FAAB1"/>
            </a:solidFill>
            <a:prstDash val="solid"/>
          </a:ln>
        </p:spPr>
      </p:sp>
      <p:sp>
        <p:nvSpPr>
          <p:cNvPr id="30" name="Text 27"/>
          <p:cNvSpPr/>
          <p:nvPr/>
        </p:nvSpPr>
        <p:spPr>
          <a:xfrm>
            <a:off x="8001000" y="3851453"/>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WA</a:t>
            </a:r>
            <a:endParaRPr lang="en-US" sz="1050" dirty="0"/>
          </a:p>
        </p:txBody>
      </p:sp>
      <p:sp>
        <p:nvSpPr>
          <p:cNvPr id="31" name="Shape 28"/>
          <p:cNvSpPr/>
          <p:nvPr/>
        </p:nvSpPr>
        <p:spPr>
          <a:xfrm>
            <a:off x="9118397" y="3283610"/>
            <a:ext cx="292608" cy="292608"/>
          </a:xfrm>
          <a:prstGeom prst="ellipse">
            <a:avLst/>
          </a:prstGeom>
          <a:solidFill>
            <a:srgbClr val="E4E9EB"/>
          </a:solidFill>
          <a:ln w="12700">
            <a:solidFill>
              <a:srgbClr val="9FAAB1"/>
            </a:solidFill>
            <a:prstDash val="solid"/>
          </a:ln>
        </p:spPr>
      </p:sp>
      <p:sp>
        <p:nvSpPr>
          <p:cNvPr id="32" name="Text 29"/>
          <p:cNvSpPr/>
          <p:nvPr/>
        </p:nvSpPr>
        <p:spPr>
          <a:xfrm>
            <a:off x="8880653" y="3283610"/>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NT</a:t>
            </a:r>
            <a:endParaRPr lang="en-US" sz="1050" dirty="0"/>
          </a:p>
        </p:txBody>
      </p:sp>
      <p:sp>
        <p:nvSpPr>
          <p:cNvPr id="33" name="Shape 30"/>
          <p:cNvSpPr/>
          <p:nvPr/>
        </p:nvSpPr>
        <p:spPr>
          <a:xfrm>
            <a:off x="10268712" y="3382366"/>
            <a:ext cx="292608" cy="292608"/>
          </a:xfrm>
          <a:prstGeom prst="ellipse">
            <a:avLst/>
          </a:prstGeom>
          <a:solidFill>
            <a:srgbClr val="E4E9EB"/>
          </a:solidFill>
          <a:ln w="12700">
            <a:solidFill>
              <a:srgbClr val="9FAAB1"/>
            </a:solidFill>
            <a:prstDash val="solid"/>
          </a:ln>
        </p:spPr>
      </p:sp>
      <p:sp>
        <p:nvSpPr>
          <p:cNvPr id="34" name="Text 31"/>
          <p:cNvSpPr/>
          <p:nvPr/>
        </p:nvSpPr>
        <p:spPr>
          <a:xfrm>
            <a:off x="10030968" y="3382366"/>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Q</a:t>
            </a:r>
            <a:endParaRPr lang="en-US" sz="1050" dirty="0"/>
          </a:p>
        </p:txBody>
      </p:sp>
      <p:sp>
        <p:nvSpPr>
          <p:cNvPr id="35" name="Shape 32"/>
          <p:cNvSpPr/>
          <p:nvPr/>
        </p:nvSpPr>
        <p:spPr>
          <a:xfrm>
            <a:off x="9253728" y="4320540"/>
            <a:ext cx="292608" cy="292608"/>
          </a:xfrm>
          <a:prstGeom prst="ellipse">
            <a:avLst/>
          </a:prstGeom>
          <a:solidFill>
            <a:srgbClr val="E4E9EB"/>
          </a:solidFill>
          <a:ln w="12700">
            <a:solidFill>
              <a:srgbClr val="9FAAB1"/>
            </a:solidFill>
            <a:prstDash val="solid"/>
          </a:ln>
        </p:spPr>
      </p:sp>
      <p:sp>
        <p:nvSpPr>
          <p:cNvPr id="36" name="Text 33"/>
          <p:cNvSpPr/>
          <p:nvPr/>
        </p:nvSpPr>
        <p:spPr>
          <a:xfrm>
            <a:off x="9015984" y="4320540"/>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SA</a:t>
            </a:r>
            <a:endParaRPr lang="en-US" sz="1050" dirty="0"/>
          </a:p>
        </p:txBody>
      </p:sp>
      <p:sp>
        <p:nvSpPr>
          <p:cNvPr id="37" name="Shape 34"/>
          <p:cNvSpPr/>
          <p:nvPr/>
        </p:nvSpPr>
        <p:spPr>
          <a:xfrm>
            <a:off x="10404043" y="4320540"/>
            <a:ext cx="292608" cy="292608"/>
          </a:xfrm>
          <a:prstGeom prst="ellipse">
            <a:avLst/>
          </a:prstGeom>
          <a:solidFill>
            <a:srgbClr val="E4E9EB"/>
          </a:solidFill>
          <a:ln w="12700">
            <a:solidFill>
              <a:srgbClr val="9FAAB1"/>
            </a:solidFill>
            <a:prstDash val="solid"/>
          </a:ln>
        </p:spPr>
      </p:sp>
      <p:sp>
        <p:nvSpPr>
          <p:cNvPr id="38" name="Text 35"/>
          <p:cNvSpPr/>
          <p:nvPr/>
        </p:nvSpPr>
        <p:spPr>
          <a:xfrm>
            <a:off x="10166299" y="4320540"/>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NSW</a:t>
            </a:r>
            <a:endParaRPr lang="en-US" sz="1050" dirty="0"/>
          </a:p>
        </p:txBody>
      </p:sp>
      <p:sp>
        <p:nvSpPr>
          <p:cNvPr id="39" name="Shape 36"/>
          <p:cNvSpPr/>
          <p:nvPr/>
        </p:nvSpPr>
        <p:spPr>
          <a:xfrm>
            <a:off x="9930384" y="5011826"/>
            <a:ext cx="292608" cy="292608"/>
          </a:xfrm>
          <a:prstGeom prst="ellipse">
            <a:avLst/>
          </a:prstGeom>
          <a:solidFill>
            <a:srgbClr val="E4E9EB"/>
          </a:solidFill>
          <a:ln w="12700">
            <a:solidFill>
              <a:srgbClr val="9FAAB1"/>
            </a:solidFill>
            <a:prstDash val="solid"/>
          </a:ln>
        </p:spPr>
      </p:sp>
      <p:sp>
        <p:nvSpPr>
          <p:cNvPr id="40" name="Text 37"/>
          <p:cNvSpPr/>
          <p:nvPr/>
        </p:nvSpPr>
        <p:spPr>
          <a:xfrm>
            <a:off x="9692640" y="5011826"/>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V</a:t>
            </a:r>
            <a:endParaRPr lang="en-US" sz="1050" dirty="0"/>
          </a:p>
        </p:txBody>
      </p:sp>
      <p:sp>
        <p:nvSpPr>
          <p:cNvPr id="41" name="Shape 38"/>
          <p:cNvSpPr/>
          <p:nvPr/>
        </p:nvSpPr>
        <p:spPr>
          <a:xfrm>
            <a:off x="10810037" y="5308092"/>
            <a:ext cx="292608" cy="292608"/>
          </a:xfrm>
          <a:prstGeom prst="ellipse">
            <a:avLst/>
          </a:prstGeom>
          <a:solidFill>
            <a:srgbClr val="E4E9EB"/>
          </a:solidFill>
          <a:ln w="12700">
            <a:solidFill>
              <a:srgbClr val="9FAAB1"/>
            </a:solidFill>
            <a:prstDash val="solid"/>
          </a:ln>
        </p:spPr>
      </p:sp>
      <p:sp>
        <p:nvSpPr>
          <p:cNvPr id="42" name="Text 39"/>
          <p:cNvSpPr/>
          <p:nvPr/>
        </p:nvSpPr>
        <p:spPr>
          <a:xfrm>
            <a:off x="10572293" y="5308092"/>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T</a:t>
            </a:r>
            <a:endParaRPr lang="en-US" sz="1050" dirty="0"/>
          </a:p>
        </p:txBody>
      </p:sp>
      <p:sp>
        <p:nvSpPr>
          <p:cNvPr id="43" name="Text 40"/>
          <p:cNvSpPr/>
          <p:nvPr/>
        </p:nvSpPr>
        <p:spPr>
          <a:xfrm>
            <a:off x="7772400" y="5806440"/>
            <a:ext cx="3931920" cy="365760"/>
          </a:xfrm>
          <a:prstGeom prst="rect">
            <a:avLst/>
          </a:prstGeom>
          <a:noFill/>
          <a:ln/>
        </p:spPr>
        <p:txBody>
          <a:bodyPr wrap="square" lIns="0" tIns="0" rIns="0" bIns="0" rtlCol="0" anchor="ctr"/>
          <a:lstStyle/>
          <a:p>
            <a:pPr algn="ctr" indent="0" marL="0">
              <a:buNone/>
            </a:pPr>
            <a:r>
              <a:rPr lang="en-US" sz="1050" i="1" dirty="0">
                <a:solidFill>
                  <a:srgbClr val="6E7A83"/>
                </a:solidFill>
                <a:latin typeface="Calibri" pitchFamily="34" charset="0"/>
                <a:ea typeface="Calibri" pitchFamily="34" charset="-122"/>
                <a:cs typeface="Calibri" pitchFamily="34" charset="-120"/>
              </a:rPr>
              <a:t>Australia: seven variables, nine binary constraints, one island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RECAP</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Backtracking search: the baseline we are speeding up</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3</a:t>
            </a:r>
            <a:endParaRPr lang="en-US" sz="900" dirty="0"/>
          </a:p>
        </p:txBody>
      </p:sp>
      <p:sp>
        <p:nvSpPr>
          <p:cNvPr id="7" name="Shape 4"/>
          <p:cNvSpPr/>
          <p:nvPr/>
        </p:nvSpPr>
        <p:spPr>
          <a:xfrm>
            <a:off x="502920" y="1371600"/>
            <a:ext cx="6675120" cy="3200400"/>
          </a:xfrm>
          <a:prstGeom prst="roundRect">
            <a:avLst>
              <a:gd name="adj" fmla="val 1714"/>
            </a:avLst>
          </a:prstGeom>
          <a:solidFill>
            <a:srgbClr val="EDF0F1"/>
          </a:solidFill>
          <a:ln w="9525">
            <a:solidFill>
              <a:srgbClr val="EDF0F1"/>
            </a:solidFill>
            <a:prstDash val="solid"/>
          </a:ln>
        </p:spPr>
      </p:sp>
      <p:sp>
        <p:nvSpPr>
          <p:cNvPr id="8" name="Text 5"/>
          <p:cNvSpPr/>
          <p:nvPr/>
        </p:nvSpPr>
        <p:spPr>
          <a:xfrm>
            <a:off x="704088" y="1517904"/>
            <a:ext cx="6272784" cy="2907792"/>
          </a:xfrm>
          <a:prstGeom prst="rect">
            <a:avLst/>
          </a:prstGeom>
          <a:noFill/>
          <a:ln/>
        </p:spPr>
        <p:txBody>
          <a:bodyPr wrap="square" lIns="0" tIns="0" rIns="0" bIns="0" rtlCol="0" anchor="t"/>
          <a:lstStyle/>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function BACKTRACKING-SEARCH(csp) returns solution or failure</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return BACKTRACK(csp, { })</a:t>
            </a:r>
            <a:endParaRPr lang="en-US" sz="1000" dirty="0"/>
          </a:p>
          <a:p>
            <a:pPr indent="0" marL="0">
              <a:lnSpc>
                <a:spcPct val="114000"/>
              </a:lnSpc>
              <a:buNone/>
            </a:pP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function BACKTRACK(csp, assignment) returns solution or failure</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if assignment is complete then return assignment</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var &lt;- SELECT-UNASSIGNED-VARIABLE(csp, assignment)      &lt;-- ordering</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for each value in ORDER-DOMAIN-VALUES(csp, var, assign) &lt;-- ordering</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if value is consistent with assignment then</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add {var = value} to assignment</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inferences &lt;- INFERENCE(csp, var, assignment)    &lt;-- filtering</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if inferences != failure then</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add inferences to assignment</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result &lt;- BACKTRACK(csp, assignment)</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if result != failure then return result</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remove {var = value} and inferences</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return failure</a:t>
            </a:r>
            <a:endParaRPr lang="en-US" sz="1000" dirty="0"/>
          </a:p>
        </p:txBody>
      </p:sp>
      <p:sp>
        <p:nvSpPr>
          <p:cNvPr id="9" name="Text 6"/>
          <p:cNvSpPr/>
          <p:nvPr/>
        </p:nvSpPr>
        <p:spPr>
          <a:xfrm>
            <a:off x="7498080" y="1417320"/>
            <a:ext cx="4206240" cy="301752"/>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What makes it a CSP algorithm</a:t>
            </a:r>
            <a:endParaRPr lang="en-US" sz="1500" dirty="0"/>
          </a:p>
        </p:txBody>
      </p:sp>
      <p:sp>
        <p:nvSpPr>
          <p:cNvPr id="10" name="Text 7"/>
          <p:cNvSpPr/>
          <p:nvPr/>
        </p:nvSpPr>
        <p:spPr>
          <a:xfrm>
            <a:off x="7498080" y="1810512"/>
            <a:ext cx="4206240" cy="219456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300" dirty="0">
                <a:solidFill>
                  <a:srgbClr val="2B3138"/>
                </a:solidFill>
                <a:latin typeface="Calibri" pitchFamily="34" charset="0"/>
                <a:ea typeface="Calibri" pitchFamily="34" charset="-122"/>
                <a:cs typeface="Calibri" pitchFamily="34" charset="-120"/>
              </a:rPr>
              <a:t>A state is a partial assignment; the root is the empty assignment</a:t>
            </a:r>
            <a:endParaRPr lang="en-US" sz="1300" dirty="0"/>
          </a:p>
          <a:p>
            <a:pPr marL="342900" indent="-342900">
              <a:lnSpc>
                <a:spcPct val="106000"/>
              </a:lnSpc>
              <a:spcAft>
                <a:spcPts val="700"/>
              </a:spcAft>
              <a:buSzPct val="100000"/>
              <a:buChar char="•"/>
            </a:pPr>
            <a:r>
              <a:rPr lang="en-US" sz="1300" dirty="0">
                <a:solidFill>
                  <a:srgbClr val="2B3138"/>
                </a:solidFill>
                <a:latin typeface="Calibri" pitchFamily="34" charset="0"/>
                <a:ea typeface="Calibri" pitchFamily="34" charset="-122"/>
                <a:cs typeface="Calibri" pitchFamily="34" charset="-120"/>
              </a:rPr>
              <a:t>Successors assign one more variable - order does not matter, so branching stays at d not nd</a:t>
            </a:r>
            <a:endParaRPr lang="en-US" sz="1300" dirty="0"/>
          </a:p>
          <a:p>
            <a:pPr marL="342900" indent="-342900">
              <a:lnSpc>
                <a:spcPct val="106000"/>
              </a:lnSpc>
              <a:spcAft>
                <a:spcPts val="700"/>
              </a:spcAft>
              <a:buSzPct val="100000"/>
              <a:buChar char="•"/>
            </a:pPr>
            <a:r>
              <a:rPr lang="en-US" sz="1300" dirty="0">
                <a:solidFill>
                  <a:srgbClr val="2B3138"/>
                </a:solidFill>
                <a:latin typeface="Calibri" pitchFamily="34" charset="0"/>
                <a:ea typeface="Calibri" pitchFamily="34" charset="-122"/>
                <a:cs typeface="Calibri" pitchFamily="34" charset="-120"/>
              </a:rPr>
              <a:t>The goal test decomposes into constraints, so it can be checked incrementally</a:t>
            </a:r>
            <a:endParaRPr lang="en-US" sz="1300" dirty="0"/>
          </a:p>
        </p:txBody>
      </p:sp>
      <p:sp>
        <p:nvSpPr>
          <p:cNvPr id="11" name="Shape 8"/>
          <p:cNvSpPr/>
          <p:nvPr/>
        </p:nvSpPr>
        <p:spPr>
          <a:xfrm>
            <a:off x="7498080" y="4160520"/>
            <a:ext cx="4206240" cy="777240"/>
          </a:xfrm>
          <a:prstGeom prst="roundRect">
            <a:avLst>
              <a:gd name="adj" fmla="val 7059"/>
            </a:avLst>
          </a:prstGeom>
          <a:solidFill>
            <a:srgbClr val="F7EEEA"/>
          </a:solidFill>
          <a:ln w="9525">
            <a:solidFill>
              <a:srgbClr val="F7EEEA"/>
            </a:solidFill>
            <a:prstDash val="solid"/>
          </a:ln>
        </p:spPr>
      </p:sp>
      <p:sp>
        <p:nvSpPr>
          <p:cNvPr id="12" name="Text 9"/>
          <p:cNvSpPr/>
          <p:nvPr/>
        </p:nvSpPr>
        <p:spPr>
          <a:xfrm>
            <a:off x="7726680" y="4178808"/>
            <a:ext cx="3749040" cy="740664"/>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Solving CSPs is NP-hard. Nothing today changes that - we are buying speed on structured instances.</a:t>
            </a:r>
            <a:endParaRPr lang="en-US" sz="1400" dirty="0"/>
          </a:p>
        </p:txBody>
      </p:sp>
      <p:sp>
        <p:nvSpPr>
          <p:cNvPr id="13" name="Shape 10"/>
          <p:cNvSpPr/>
          <p:nvPr/>
        </p:nvSpPr>
        <p:spPr>
          <a:xfrm>
            <a:off x="502920" y="4754880"/>
            <a:ext cx="6675120" cy="1280160"/>
          </a:xfrm>
          <a:prstGeom prst="roundRect">
            <a:avLst>
              <a:gd name="adj" fmla="val 4286"/>
            </a:avLst>
          </a:prstGeom>
          <a:solidFill>
            <a:srgbClr val="F1F3F4"/>
          </a:solidFill>
          <a:ln w="9525">
            <a:solidFill>
              <a:srgbClr val="F1F3F4"/>
            </a:solidFill>
            <a:prstDash val="solid"/>
          </a:ln>
        </p:spPr>
      </p:sp>
      <p:sp>
        <p:nvSpPr>
          <p:cNvPr id="14" name="Text 11"/>
          <p:cNvSpPr/>
          <p:nvPr/>
        </p:nvSpPr>
        <p:spPr>
          <a:xfrm>
            <a:off x="777240" y="4956048"/>
            <a:ext cx="6126480" cy="914400"/>
          </a:xfrm>
          <a:prstGeom prst="rect">
            <a:avLst/>
          </a:prstGeom>
          <a:noFill/>
          <a:ln/>
        </p:spPr>
        <p:txBody>
          <a:bodyPr wrap="square" lIns="0" tIns="0" rIns="0" bIns="0" rtlCol="0" anchor="t"/>
          <a:lstStyle/>
          <a:p>
            <a:pPr indent="0" marL="0">
              <a:lnSpc>
                <a:spcPct val="112000"/>
              </a:lnSpc>
              <a:buNone/>
            </a:pPr>
            <a:r>
              <a:rPr lang="en-US" sz="1350" dirty="0">
                <a:solidFill>
                  <a:srgbClr val="2B3138"/>
                </a:solidFill>
                <a:latin typeface="Calibri" pitchFamily="34" charset="0"/>
                <a:ea typeface="Calibri" pitchFamily="34" charset="-122"/>
                <a:cs typeface="Calibri" pitchFamily="34" charset="-120"/>
              </a:rPr>
              <a:t>Three general-purpose speedups, and unlike an A* heuristic none of them is hand-crafted for one problem: ORDERING (which variable, which value), FILTERING (prune doomed subtrees early), and STRUCTURE (exploit the shape of the constraint graph).</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Roadmap for today</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4</a:t>
            </a:r>
            <a:endParaRPr lang="en-US" sz="900" dirty="0"/>
          </a:p>
        </p:txBody>
      </p:sp>
      <p:sp>
        <p:nvSpPr>
          <p:cNvPr id="7" name="Shape 4"/>
          <p:cNvSpPr/>
          <p:nvPr/>
        </p:nvSpPr>
        <p:spPr>
          <a:xfrm>
            <a:off x="502920" y="1463040"/>
            <a:ext cx="11155680" cy="969264"/>
          </a:xfrm>
          <a:prstGeom prst="roundRect">
            <a:avLst>
              <a:gd name="adj" fmla="val 5660"/>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8" name="Shape 5"/>
          <p:cNvSpPr/>
          <p:nvPr/>
        </p:nvSpPr>
        <p:spPr>
          <a:xfrm>
            <a:off x="777240" y="1700784"/>
            <a:ext cx="502920" cy="502920"/>
          </a:xfrm>
          <a:prstGeom prst="ellipse">
            <a:avLst/>
          </a:prstGeom>
          <a:solidFill>
            <a:srgbClr val="50808E"/>
          </a:solidFill>
          <a:ln/>
        </p:spPr>
      </p:sp>
      <p:sp>
        <p:nvSpPr>
          <p:cNvPr id="9" name="Text 6"/>
          <p:cNvSpPr/>
          <p:nvPr/>
        </p:nvSpPr>
        <p:spPr>
          <a:xfrm>
            <a:off x="777240" y="1700784"/>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6.2</a:t>
            </a:r>
            <a:endParaRPr lang="en-US" sz="1300" dirty="0"/>
          </a:p>
        </p:txBody>
      </p:sp>
      <p:sp>
        <p:nvSpPr>
          <p:cNvPr id="10" name="Text 7"/>
          <p:cNvSpPr/>
          <p:nvPr/>
        </p:nvSpPr>
        <p:spPr>
          <a:xfrm>
            <a:off x="1508760" y="1645920"/>
            <a:ext cx="4023360" cy="301752"/>
          </a:xfrm>
          <a:prstGeom prst="rect">
            <a:avLst/>
          </a:prstGeom>
          <a:noFill/>
          <a:ln/>
        </p:spPr>
        <p:txBody>
          <a:bodyPr wrap="square" lIns="0" tIns="0" rIns="0" bIns="0" rtlCol="0" anchor="ctr"/>
          <a:lstStyle/>
          <a:p>
            <a:pPr indent="0" marL="0">
              <a:buNone/>
            </a:pPr>
            <a:r>
              <a:rPr lang="en-US" sz="1600" b="1" dirty="0">
                <a:solidFill>
                  <a:srgbClr val="22303A"/>
                </a:solidFill>
                <a:latin typeface="Calibri" pitchFamily="34" charset="0"/>
                <a:ea typeface="Calibri" pitchFamily="34" charset="-122"/>
                <a:cs typeface="Calibri" pitchFamily="34" charset="-120"/>
              </a:rPr>
              <a:t>Constraint propagation</a:t>
            </a:r>
            <a:endParaRPr lang="en-US" sz="1600" dirty="0"/>
          </a:p>
        </p:txBody>
      </p:sp>
      <p:sp>
        <p:nvSpPr>
          <p:cNvPr id="11" name="Text 8"/>
          <p:cNvSpPr/>
          <p:nvPr/>
        </p:nvSpPr>
        <p:spPr>
          <a:xfrm>
            <a:off x="1508760" y="1993392"/>
            <a:ext cx="8229600" cy="365760"/>
          </a:xfrm>
          <a:prstGeom prst="rect">
            <a:avLst/>
          </a:prstGeom>
          <a:noFill/>
          <a:ln/>
        </p:spPr>
        <p:txBody>
          <a:bodyPr wrap="square" lIns="0" tIns="0" rIns="0" bIns="0" rtlCol="0" anchor="t"/>
          <a:lstStyle/>
          <a:p>
            <a:pPr indent="0" marL="0">
              <a:lnSpc>
                <a:spcPct val="112000"/>
              </a:lnSpc>
              <a:buNone/>
            </a:pPr>
            <a:r>
              <a:rPr lang="en-US" sz="1250" dirty="0">
                <a:solidFill>
                  <a:srgbClr val="6E7A83"/>
                </a:solidFill>
                <a:latin typeface="Calibri" pitchFamily="34" charset="0"/>
                <a:ea typeface="Calibri" pitchFamily="34" charset="-122"/>
                <a:cs typeface="Calibri" pitchFamily="34" charset="-120"/>
              </a:rPr>
              <a:t>Node, arc, path, and k-consistency. AC-3. Global constraints. Sudoku.</a:t>
            </a:r>
            <a:endParaRPr lang="en-US" sz="1250" dirty="0"/>
          </a:p>
        </p:txBody>
      </p:sp>
      <p:sp>
        <p:nvSpPr>
          <p:cNvPr id="12" name="Text 9"/>
          <p:cNvSpPr/>
          <p:nvPr/>
        </p:nvSpPr>
        <p:spPr>
          <a:xfrm>
            <a:off x="10149840" y="1764792"/>
            <a:ext cx="1280160" cy="365760"/>
          </a:xfrm>
          <a:prstGeom prst="rect">
            <a:avLst/>
          </a:prstGeom>
          <a:noFill/>
          <a:ln/>
        </p:spPr>
        <p:txBody>
          <a:bodyPr wrap="square" lIns="0" tIns="0" rIns="0" bIns="0" rtlCol="0" anchor="ctr"/>
          <a:lstStyle/>
          <a:p>
            <a:pPr algn="r" indent="0" marL="0">
              <a:buNone/>
            </a:pPr>
            <a:r>
              <a:rPr lang="en-US" sz="1300" b="1" dirty="0">
                <a:solidFill>
                  <a:srgbClr val="50808E"/>
                </a:solidFill>
                <a:latin typeface="Calibri" pitchFamily="34" charset="0"/>
                <a:ea typeface="Calibri" pitchFamily="34" charset="-122"/>
                <a:cs typeface="Calibri" pitchFamily="34" charset="-120"/>
              </a:rPr>
              <a:t>35 min</a:t>
            </a:r>
            <a:endParaRPr lang="en-US" sz="1300" dirty="0"/>
          </a:p>
        </p:txBody>
      </p:sp>
      <p:sp>
        <p:nvSpPr>
          <p:cNvPr id="13" name="Shape 10"/>
          <p:cNvSpPr/>
          <p:nvPr/>
        </p:nvSpPr>
        <p:spPr>
          <a:xfrm>
            <a:off x="502920" y="2596896"/>
            <a:ext cx="11155680" cy="969264"/>
          </a:xfrm>
          <a:prstGeom prst="roundRect">
            <a:avLst>
              <a:gd name="adj" fmla="val 5660"/>
            </a:avLst>
          </a:prstGeom>
          <a:solidFill>
            <a:srgbClr val="FFFFFF"/>
          </a:solidFill>
          <a:ln w="9525">
            <a:solidFill>
              <a:srgbClr val="D5DBDE"/>
            </a:solidFill>
            <a:prstDash val="solid"/>
          </a:ln>
        </p:spPr>
      </p:sp>
      <p:sp>
        <p:nvSpPr>
          <p:cNvPr id="14" name="Shape 11"/>
          <p:cNvSpPr/>
          <p:nvPr/>
        </p:nvSpPr>
        <p:spPr>
          <a:xfrm>
            <a:off x="777240" y="2834640"/>
            <a:ext cx="502920" cy="502920"/>
          </a:xfrm>
          <a:prstGeom prst="ellipse">
            <a:avLst/>
          </a:prstGeom>
          <a:solidFill>
            <a:srgbClr val="B85042"/>
          </a:solidFill>
          <a:ln/>
        </p:spPr>
      </p:sp>
      <p:sp>
        <p:nvSpPr>
          <p:cNvPr id="15" name="Text 12"/>
          <p:cNvSpPr/>
          <p:nvPr/>
        </p:nvSpPr>
        <p:spPr>
          <a:xfrm>
            <a:off x="777240" y="283464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6.3</a:t>
            </a:r>
            <a:endParaRPr lang="en-US" sz="1300" dirty="0"/>
          </a:p>
        </p:txBody>
      </p:sp>
      <p:sp>
        <p:nvSpPr>
          <p:cNvPr id="16" name="Text 13"/>
          <p:cNvSpPr/>
          <p:nvPr/>
        </p:nvSpPr>
        <p:spPr>
          <a:xfrm>
            <a:off x="1508760" y="2779776"/>
            <a:ext cx="4023360" cy="301752"/>
          </a:xfrm>
          <a:prstGeom prst="rect">
            <a:avLst/>
          </a:prstGeom>
          <a:noFill/>
          <a:ln/>
        </p:spPr>
        <p:txBody>
          <a:bodyPr wrap="square" lIns="0" tIns="0" rIns="0" bIns="0" rtlCol="0" anchor="ctr"/>
          <a:lstStyle/>
          <a:p>
            <a:pPr indent="0" marL="0">
              <a:buNone/>
            </a:pPr>
            <a:r>
              <a:rPr lang="en-US" sz="1600" b="1" dirty="0">
                <a:solidFill>
                  <a:srgbClr val="22303A"/>
                </a:solidFill>
                <a:latin typeface="Calibri" pitchFamily="34" charset="0"/>
                <a:ea typeface="Calibri" pitchFamily="34" charset="-122"/>
                <a:cs typeface="Calibri" pitchFamily="34" charset="-120"/>
              </a:rPr>
              <a:t>Smarter backtracking</a:t>
            </a:r>
            <a:endParaRPr lang="en-US" sz="1600" dirty="0"/>
          </a:p>
        </p:txBody>
      </p:sp>
      <p:sp>
        <p:nvSpPr>
          <p:cNvPr id="17" name="Text 14"/>
          <p:cNvSpPr/>
          <p:nvPr/>
        </p:nvSpPr>
        <p:spPr>
          <a:xfrm>
            <a:off x="1508760" y="3127248"/>
            <a:ext cx="8229600" cy="365760"/>
          </a:xfrm>
          <a:prstGeom prst="rect">
            <a:avLst/>
          </a:prstGeom>
          <a:noFill/>
          <a:ln/>
        </p:spPr>
        <p:txBody>
          <a:bodyPr wrap="square" lIns="0" tIns="0" rIns="0" bIns="0" rtlCol="0" anchor="t"/>
          <a:lstStyle/>
          <a:p>
            <a:pPr indent="0" marL="0">
              <a:lnSpc>
                <a:spcPct val="112000"/>
              </a:lnSpc>
              <a:buNone/>
            </a:pPr>
            <a:r>
              <a:rPr lang="en-US" sz="1250" dirty="0">
                <a:solidFill>
                  <a:srgbClr val="6E7A83"/>
                </a:solidFill>
                <a:latin typeface="Calibri" pitchFamily="34" charset="0"/>
                <a:ea typeface="Calibri" pitchFamily="34" charset="-122"/>
                <a:cs typeface="Calibri" pitchFamily="34" charset="-120"/>
              </a:rPr>
              <a:t>MRV, degree, LCV. Forward checking, MAC, backjumping, no-goods.</a:t>
            </a:r>
            <a:endParaRPr lang="en-US" sz="1250" dirty="0"/>
          </a:p>
        </p:txBody>
      </p:sp>
      <p:sp>
        <p:nvSpPr>
          <p:cNvPr id="18" name="Text 15"/>
          <p:cNvSpPr/>
          <p:nvPr/>
        </p:nvSpPr>
        <p:spPr>
          <a:xfrm>
            <a:off x="10149840" y="2898648"/>
            <a:ext cx="1280160" cy="365760"/>
          </a:xfrm>
          <a:prstGeom prst="rect">
            <a:avLst/>
          </a:prstGeom>
          <a:noFill/>
          <a:ln/>
        </p:spPr>
        <p:txBody>
          <a:bodyPr wrap="square" lIns="0" tIns="0" rIns="0" bIns="0" rtlCol="0" anchor="ctr"/>
          <a:lstStyle/>
          <a:p>
            <a:pPr algn="r" indent="0" marL="0">
              <a:buNone/>
            </a:pPr>
            <a:r>
              <a:rPr lang="en-US" sz="1300" b="1" dirty="0">
                <a:solidFill>
                  <a:srgbClr val="B85042"/>
                </a:solidFill>
                <a:latin typeface="Calibri" pitchFamily="34" charset="0"/>
                <a:ea typeface="Calibri" pitchFamily="34" charset="-122"/>
                <a:cs typeface="Calibri" pitchFamily="34" charset="-120"/>
              </a:rPr>
              <a:t>30 min</a:t>
            </a:r>
            <a:endParaRPr lang="en-US" sz="1300" dirty="0"/>
          </a:p>
        </p:txBody>
      </p:sp>
      <p:sp>
        <p:nvSpPr>
          <p:cNvPr id="19" name="Shape 16"/>
          <p:cNvSpPr/>
          <p:nvPr/>
        </p:nvSpPr>
        <p:spPr>
          <a:xfrm>
            <a:off x="502920" y="3730752"/>
            <a:ext cx="11155680" cy="969264"/>
          </a:xfrm>
          <a:prstGeom prst="roundRect">
            <a:avLst>
              <a:gd name="adj" fmla="val 5660"/>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20" name="Shape 17"/>
          <p:cNvSpPr/>
          <p:nvPr/>
        </p:nvSpPr>
        <p:spPr>
          <a:xfrm>
            <a:off x="777240" y="3968496"/>
            <a:ext cx="502920" cy="502920"/>
          </a:xfrm>
          <a:prstGeom prst="ellipse">
            <a:avLst/>
          </a:prstGeom>
          <a:solidFill>
            <a:srgbClr val="6E8B5A"/>
          </a:solidFill>
          <a:ln/>
        </p:spPr>
      </p:sp>
      <p:sp>
        <p:nvSpPr>
          <p:cNvPr id="21" name="Text 18"/>
          <p:cNvSpPr/>
          <p:nvPr/>
        </p:nvSpPr>
        <p:spPr>
          <a:xfrm>
            <a:off x="777240" y="3968496"/>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6.4</a:t>
            </a:r>
            <a:endParaRPr lang="en-US" sz="1300" dirty="0"/>
          </a:p>
        </p:txBody>
      </p:sp>
      <p:sp>
        <p:nvSpPr>
          <p:cNvPr id="22" name="Text 19"/>
          <p:cNvSpPr/>
          <p:nvPr/>
        </p:nvSpPr>
        <p:spPr>
          <a:xfrm>
            <a:off x="1508760" y="3913632"/>
            <a:ext cx="4023360" cy="301752"/>
          </a:xfrm>
          <a:prstGeom prst="rect">
            <a:avLst/>
          </a:prstGeom>
          <a:noFill/>
          <a:ln/>
        </p:spPr>
        <p:txBody>
          <a:bodyPr wrap="square" lIns="0" tIns="0" rIns="0" bIns="0" rtlCol="0" anchor="ctr"/>
          <a:lstStyle/>
          <a:p>
            <a:pPr indent="0" marL="0">
              <a:buNone/>
            </a:pPr>
            <a:r>
              <a:rPr lang="en-US" sz="1600" b="1" dirty="0">
                <a:solidFill>
                  <a:srgbClr val="22303A"/>
                </a:solidFill>
                <a:latin typeface="Calibri" pitchFamily="34" charset="0"/>
                <a:ea typeface="Calibri" pitchFamily="34" charset="-122"/>
                <a:cs typeface="Calibri" pitchFamily="34" charset="-120"/>
              </a:rPr>
              <a:t>Local search for CSPs</a:t>
            </a:r>
            <a:endParaRPr lang="en-US" sz="1600" dirty="0"/>
          </a:p>
        </p:txBody>
      </p:sp>
      <p:sp>
        <p:nvSpPr>
          <p:cNvPr id="23" name="Text 20"/>
          <p:cNvSpPr/>
          <p:nvPr/>
        </p:nvSpPr>
        <p:spPr>
          <a:xfrm>
            <a:off x="1508760" y="4261104"/>
            <a:ext cx="8229600" cy="365760"/>
          </a:xfrm>
          <a:prstGeom prst="rect">
            <a:avLst/>
          </a:prstGeom>
          <a:noFill/>
          <a:ln/>
        </p:spPr>
        <p:txBody>
          <a:bodyPr wrap="square" lIns="0" tIns="0" rIns="0" bIns="0" rtlCol="0" anchor="t"/>
          <a:lstStyle/>
          <a:p>
            <a:pPr indent="0" marL="0">
              <a:lnSpc>
                <a:spcPct val="112000"/>
              </a:lnSpc>
              <a:buNone/>
            </a:pPr>
            <a:r>
              <a:rPr lang="en-US" sz="1250" dirty="0">
                <a:solidFill>
                  <a:srgbClr val="6E7A83"/>
                </a:solidFill>
                <a:latin typeface="Calibri" pitchFamily="34" charset="0"/>
                <a:ea typeface="Calibri" pitchFamily="34" charset="-122"/>
                <a:cs typeface="Calibri" pitchFamily="34" charset="-120"/>
              </a:rPr>
              <a:t>Min-conflicts, plateaus, constraint weighting, the critical ratio.</a:t>
            </a:r>
            <a:endParaRPr lang="en-US" sz="1250" dirty="0"/>
          </a:p>
        </p:txBody>
      </p:sp>
      <p:sp>
        <p:nvSpPr>
          <p:cNvPr id="24" name="Text 21"/>
          <p:cNvSpPr/>
          <p:nvPr/>
        </p:nvSpPr>
        <p:spPr>
          <a:xfrm>
            <a:off x="10149840" y="4032504"/>
            <a:ext cx="1280160" cy="365760"/>
          </a:xfrm>
          <a:prstGeom prst="rect">
            <a:avLst/>
          </a:prstGeom>
          <a:noFill/>
          <a:ln/>
        </p:spPr>
        <p:txBody>
          <a:bodyPr wrap="square" lIns="0" tIns="0" rIns="0" bIns="0" rtlCol="0" anchor="ctr"/>
          <a:lstStyle/>
          <a:p>
            <a:pPr algn="r" indent="0" marL="0">
              <a:buNone/>
            </a:pPr>
            <a:r>
              <a:rPr lang="en-US" sz="1300" b="1" dirty="0">
                <a:solidFill>
                  <a:srgbClr val="6E8B5A"/>
                </a:solidFill>
                <a:latin typeface="Calibri" pitchFamily="34" charset="0"/>
                <a:ea typeface="Calibri" pitchFamily="34" charset="-122"/>
                <a:cs typeface="Calibri" pitchFamily="34" charset="-120"/>
              </a:rPr>
              <a:t>18 min</a:t>
            </a:r>
            <a:endParaRPr lang="en-US" sz="1300" dirty="0"/>
          </a:p>
        </p:txBody>
      </p:sp>
      <p:sp>
        <p:nvSpPr>
          <p:cNvPr id="25" name="Shape 22"/>
          <p:cNvSpPr/>
          <p:nvPr/>
        </p:nvSpPr>
        <p:spPr>
          <a:xfrm>
            <a:off x="502920" y="4864608"/>
            <a:ext cx="11155680" cy="969264"/>
          </a:xfrm>
          <a:prstGeom prst="roundRect">
            <a:avLst>
              <a:gd name="adj" fmla="val 5660"/>
            </a:avLst>
          </a:prstGeom>
          <a:solidFill>
            <a:srgbClr val="FFFFFF"/>
          </a:solidFill>
          <a:ln w="9525">
            <a:solidFill>
              <a:srgbClr val="D5DBDE"/>
            </a:solidFill>
            <a:prstDash val="solid"/>
          </a:ln>
        </p:spPr>
      </p:sp>
      <p:sp>
        <p:nvSpPr>
          <p:cNvPr id="26" name="Shape 23"/>
          <p:cNvSpPr/>
          <p:nvPr/>
        </p:nvSpPr>
        <p:spPr>
          <a:xfrm>
            <a:off x="777240" y="5102352"/>
            <a:ext cx="502920" cy="502920"/>
          </a:xfrm>
          <a:prstGeom prst="ellipse">
            <a:avLst/>
          </a:prstGeom>
          <a:solidFill>
            <a:srgbClr val="C8922F"/>
          </a:solidFill>
          <a:ln/>
        </p:spPr>
      </p:sp>
      <p:sp>
        <p:nvSpPr>
          <p:cNvPr id="27" name="Text 24"/>
          <p:cNvSpPr/>
          <p:nvPr/>
        </p:nvSpPr>
        <p:spPr>
          <a:xfrm>
            <a:off x="777240" y="5102352"/>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6.5</a:t>
            </a:r>
            <a:endParaRPr lang="en-US" sz="1300" dirty="0"/>
          </a:p>
        </p:txBody>
      </p:sp>
      <p:sp>
        <p:nvSpPr>
          <p:cNvPr id="28" name="Text 25"/>
          <p:cNvSpPr/>
          <p:nvPr/>
        </p:nvSpPr>
        <p:spPr>
          <a:xfrm>
            <a:off x="1508760" y="5047488"/>
            <a:ext cx="4023360" cy="301752"/>
          </a:xfrm>
          <a:prstGeom prst="rect">
            <a:avLst/>
          </a:prstGeom>
          <a:noFill/>
          <a:ln/>
        </p:spPr>
        <p:txBody>
          <a:bodyPr wrap="square" lIns="0" tIns="0" rIns="0" bIns="0" rtlCol="0" anchor="ctr"/>
          <a:lstStyle/>
          <a:p>
            <a:pPr indent="0" marL="0">
              <a:buNone/>
            </a:pPr>
            <a:r>
              <a:rPr lang="en-US" sz="1600" b="1" dirty="0">
                <a:solidFill>
                  <a:srgbClr val="22303A"/>
                </a:solidFill>
                <a:latin typeface="Calibri" pitchFamily="34" charset="0"/>
                <a:ea typeface="Calibri" pitchFamily="34" charset="-122"/>
                <a:cs typeface="Calibri" pitchFamily="34" charset="-120"/>
              </a:rPr>
              <a:t>The structure of problems</a:t>
            </a:r>
            <a:endParaRPr lang="en-US" sz="1600" dirty="0"/>
          </a:p>
        </p:txBody>
      </p:sp>
      <p:sp>
        <p:nvSpPr>
          <p:cNvPr id="29" name="Text 26"/>
          <p:cNvSpPr/>
          <p:nvPr/>
        </p:nvSpPr>
        <p:spPr>
          <a:xfrm>
            <a:off x="1508760" y="5394960"/>
            <a:ext cx="8229600" cy="365760"/>
          </a:xfrm>
          <a:prstGeom prst="rect">
            <a:avLst/>
          </a:prstGeom>
          <a:noFill/>
          <a:ln/>
        </p:spPr>
        <p:txBody>
          <a:bodyPr wrap="square" lIns="0" tIns="0" rIns="0" bIns="0" rtlCol="0" anchor="t"/>
          <a:lstStyle/>
          <a:p>
            <a:pPr indent="0" marL="0">
              <a:lnSpc>
                <a:spcPct val="112000"/>
              </a:lnSpc>
              <a:buNone/>
            </a:pPr>
            <a:r>
              <a:rPr lang="en-US" sz="1250" dirty="0">
                <a:solidFill>
                  <a:srgbClr val="6E7A83"/>
                </a:solidFill>
                <a:latin typeface="Calibri" pitchFamily="34" charset="0"/>
                <a:ea typeface="Calibri" pitchFamily="34" charset="-122"/>
                <a:cs typeface="Calibri" pitchFamily="34" charset="-120"/>
              </a:rPr>
              <a:t>Independent components, trees, cutset conditioning, tree decomposition.</a:t>
            </a:r>
            <a:endParaRPr lang="en-US" sz="1250" dirty="0"/>
          </a:p>
        </p:txBody>
      </p:sp>
      <p:sp>
        <p:nvSpPr>
          <p:cNvPr id="30" name="Text 27"/>
          <p:cNvSpPr/>
          <p:nvPr/>
        </p:nvSpPr>
        <p:spPr>
          <a:xfrm>
            <a:off x="10149840" y="5166360"/>
            <a:ext cx="1280160" cy="365760"/>
          </a:xfrm>
          <a:prstGeom prst="rect">
            <a:avLst/>
          </a:prstGeom>
          <a:noFill/>
          <a:ln/>
        </p:spPr>
        <p:txBody>
          <a:bodyPr wrap="square" lIns="0" tIns="0" rIns="0" bIns="0" rtlCol="0" anchor="ctr"/>
          <a:lstStyle/>
          <a:p>
            <a:pPr algn="r" indent="0" marL="0">
              <a:buNone/>
            </a:pPr>
            <a:r>
              <a:rPr lang="en-US" sz="1300" b="1" dirty="0">
                <a:solidFill>
                  <a:srgbClr val="C8922F"/>
                </a:solidFill>
                <a:latin typeface="Calibri" pitchFamily="34" charset="0"/>
                <a:ea typeface="Calibri" pitchFamily="34" charset="-122"/>
                <a:cs typeface="Calibri" pitchFamily="34" charset="-120"/>
              </a:rPr>
              <a:t>25 min</a:t>
            </a:r>
            <a:endParaRPr lang="en-US" sz="1300" dirty="0"/>
          </a:p>
        </p:txBody>
      </p:sp>
      <p:sp>
        <p:nvSpPr>
          <p:cNvPr id="31" name="Text 28"/>
          <p:cNvSpPr/>
          <p:nvPr/>
        </p:nvSpPr>
        <p:spPr>
          <a:xfrm>
            <a:off x="502920" y="6035040"/>
            <a:ext cx="11155680" cy="320040"/>
          </a:xfrm>
          <a:prstGeom prst="rect">
            <a:avLst/>
          </a:prstGeom>
          <a:noFill/>
          <a:ln/>
        </p:spPr>
        <p:txBody>
          <a:bodyPr wrap="square" lIns="0" tIns="0" rIns="0" bIns="0" rtlCol="0" anchor="t"/>
          <a:lstStyle/>
          <a:p>
            <a:pPr indent="0" marL="0">
              <a:lnSpc>
                <a:spcPct val="112000"/>
              </a:lnSpc>
              <a:buNone/>
            </a:pPr>
            <a:r>
              <a:rPr lang="en-US" sz="1250" i="1" dirty="0">
                <a:solidFill>
                  <a:srgbClr val="6E7A83"/>
                </a:solidFill>
                <a:latin typeface="Calibri" pitchFamily="34" charset="0"/>
                <a:ea typeface="Calibri" pitchFamily="34" charset="-122"/>
                <a:cs typeface="Calibri" pitchFamily="34" charset="-120"/>
              </a:rPr>
              <a:t>Ten-minute break after 6.2. Two checkpoint questions along the way - they are the shape of what shows up on the midterm.</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LEARNING OUTCOMES</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By the end of this session you should be able to</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5</a:t>
            </a:r>
            <a:endParaRPr lang="en-US" sz="900" dirty="0"/>
          </a:p>
        </p:txBody>
      </p:sp>
      <p:sp>
        <p:nvSpPr>
          <p:cNvPr id="7" name="Shape 4"/>
          <p:cNvSpPr/>
          <p:nvPr/>
        </p:nvSpPr>
        <p:spPr>
          <a:xfrm>
            <a:off x="502920" y="1463040"/>
            <a:ext cx="5440680" cy="1325880"/>
          </a:xfrm>
          <a:prstGeom prst="roundRect">
            <a:avLst>
              <a:gd name="adj" fmla="val 4138"/>
            </a:avLst>
          </a:prstGeom>
          <a:solidFill>
            <a:srgbClr val="F1F3F4"/>
          </a:solidFill>
          <a:ln w="9525">
            <a:solidFill>
              <a:srgbClr val="F1F3F4"/>
            </a:solidFill>
            <a:prstDash val="solid"/>
          </a:ln>
        </p:spPr>
      </p:sp>
      <p:sp>
        <p:nvSpPr>
          <p:cNvPr id="8" name="Text 5"/>
          <p:cNvSpPr/>
          <p:nvPr/>
        </p:nvSpPr>
        <p:spPr>
          <a:xfrm>
            <a:off x="758952" y="1609344"/>
            <a:ext cx="2743200" cy="301752"/>
          </a:xfrm>
          <a:prstGeom prst="rect">
            <a:avLst/>
          </a:prstGeom>
          <a:noFill/>
          <a:ln/>
        </p:spPr>
        <p:txBody>
          <a:bodyPr wrap="square" lIns="0" tIns="0" rIns="0" bIns="0" rtlCol="0" anchor="ctr"/>
          <a:lstStyle/>
          <a:p>
            <a:pPr indent="0" marL="0">
              <a:buNone/>
            </a:pPr>
            <a:r>
              <a:rPr lang="en-US" sz="1500" b="1" dirty="0">
                <a:solidFill>
                  <a:srgbClr val="50808E"/>
                </a:solidFill>
                <a:latin typeface="Calibri" pitchFamily="34" charset="0"/>
                <a:ea typeface="Calibri" pitchFamily="34" charset="-122"/>
                <a:cs typeface="Calibri" pitchFamily="34" charset="-120"/>
              </a:rPr>
              <a:t>Trace</a:t>
            </a:r>
            <a:endParaRPr lang="en-US" sz="1500" dirty="0"/>
          </a:p>
        </p:txBody>
      </p:sp>
      <p:sp>
        <p:nvSpPr>
          <p:cNvPr id="9" name="Text 6"/>
          <p:cNvSpPr/>
          <p:nvPr/>
        </p:nvSpPr>
        <p:spPr>
          <a:xfrm>
            <a:off x="758952" y="1975104"/>
            <a:ext cx="4937760" cy="73152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Run AC-3 by hand on a small constraint graph and say exactly which values get deleted, from which side of the arc, and when.</a:t>
            </a:r>
            <a:endParaRPr lang="en-US" sz="1250" dirty="0"/>
          </a:p>
        </p:txBody>
      </p:sp>
      <p:sp>
        <p:nvSpPr>
          <p:cNvPr id="10" name="Shape 7"/>
          <p:cNvSpPr/>
          <p:nvPr/>
        </p:nvSpPr>
        <p:spPr>
          <a:xfrm>
            <a:off x="6217920" y="1463040"/>
            <a:ext cx="5440680" cy="1325880"/>
          </a:xfrm>
          <a:prstGeom prst="roundRect">
            <a:avLst>
              <a:gd name="adj" fmla="val 4138"/>
            </a:avLst>
          </a:prstGeom>
          <a:solidFill>
            <a:srgbClr val="F7EEEA"/>
          </a:solidFill>
          <a:ln w="9525">
            <a:solidFill>
              <a:srgbClr val="F7EEEA"/>
            </a:solidFill>
            <a:prstDash val="solid"/>
          </a:ln>
        </p:spPr>
      </p:sp>
      <p:sp>
        <p:nvSpPr>
          <p:cNvPr id="11" name="Text 8"/>
          <p:cNvSpPr/>
          <p:nvPr/>
        </p:nvSpPr>
        <p:spPr>
          <a:xfrm>
            <a:off x="6473952" y="1609344"/>
            <a:ext cx="2743200" cy="301752"/>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Distinguish</a:t>
            </a:r>
            <a:endParaRPr lang="en-US" sz="1500" dirty="0"/>
          </a:p>
        </p:txBody>
      </p:sp>
      <p:sp>
        <p:nvSpPr>
          <p:cNvPr id="12" name="Text 9"/>
          <p:cNvSpPr/>
          <p:nvPr/>
        </p:nvSpPr>
        <p:spPr>
          <a:xfrm>
            <a:off x="6473952" y="1975104"/>
            <a:ext cx="4937760" cy="73152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State the difference between node, arc, path, and k-consistency, and explain what strong k-consistency buys you.</a:t>
            </a:r>
            <a:endParaRPr lang="en-US" sz="1250" dirty="0"/>
          </a:p>
        </p:txBody>
      </p:sp>
      <p:sp>
        <p:nvSpPr>
          <p:cNvPr id="13" name="Shape 10"/>
          <p:cNvSpPr/>
          <p:nvPr/>
        </p:nvSpPr>
        <p:spPr>
          <a:xfrm>
            <a:off x="502920" y="3017520"/>
            <a:ext cx="5440680" cy="1325880"/>
          </a:xfrm>
          <a:prstGeom prst="roundRect">
            <a:avLst>
              <a:gd name="adj" fmla="val 4138"/>
            </a:avLst>
          </a:prstGeom>
          <a:solidFill>
            <a:srgbClr val="F1F3F4"/>
          </a:solidFill>
          <a:ln w="9525">
            <a:solidFill>
              <a:srgbClr val="F1F3F4"/>
            </a:solidFill>
            <a:prstDash val="solid"/>
          </a:ln>
        </p:spPr>
      </p:sp>
      <p:sp>
        <p:nvSpPr>
          <p:cNvPr id="14" name="Text 11"/>
          <p:cNvSpPr/>
          <p:nvPr/>
        </p:nvSpPr>
        <p:spPr>
          <a:xfrm>
            <a:off x="758952" y="3163824"/>
            <a:ext cx="2743200" cy="301752"/>
          </a:xfrm>
          <a:prstGeom prst="rect">
            <a:avLst/>
          </a:prstGeom>
          <a:noFill/>
          <a:ln/>
        </p:spPr>
        <p:txBody>
          <a:bodyPr wrap="square" lIns="0" tIns="0" rIns="0" bIns="0" rtlCol="0" anchor="ctr"/>
          <a:lstStyle/>
          <a:p>
            <a:pPr indent="0" marL="0">
              <a:buNone/>
            </a:pPr>
            <a:r>
              <a:rPr lang="en-US" sz="1500" b="1" dirty="0">
                <a:solidFill>
                  <a:srgbClr val="50808E"/>
                </a:solidFill>
                <a:latin typeface="Calibri" pitchFamily="34" charset="0"/>
                <a:ea typeface="Calibri" pitchFamily="34" charset="-122"/>
                <a:cs typeface="Calibri" pitchFamily="34" charset="-120"/>
              </a:rPr>
              <a:t>Apply</a:t>
            </a:r>
            <a:endParaRPr lang="en-US" sz="1500" dirty="0"/>
          </a:p>
        </p:txBody>
      </p:sp>
      <p:sp>
        <p:nvSpPr>
          <p:cNvPr id="15" name="Text 12"/>
          <p:cNvSpPr/>
          <p:nvPr/>
        </p:nvSpPr>
        <p:spPr>
          <a:xfrm>
            <a:off x="758952" y="3529584"/>
            <a:ext cx="4937760" cy="73152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Choose the next variable and value using MRV, degree, and least-constraining-value, and justify why one is fail-first and the other fail-last.</a:t>
            </a:r>
            <a:endParaRPr lang="en-US" sz="1250" dirty="0"/>
          </a:p>
        </p:txBody>
      </p:sp>
      <p:sp>
        <p:nvSpPr>
          <p:cNvPr id="16" name="Shape 13"/>
          <p:cNvSpPr/>
          <p:nvPr/>
        </p:nvSpPr>
        <p:spPr>
          <a:xfrm>
            <a:off x="6217920" y="3017520"/>
            <a:ext cx="5440680" cy="1325880"/>
          </a:xfrm>
          <a:prstGeom prst="roundRect">
            <a:avLst>
              <a:gd name="adj" fmla="val 4138"/>
            </a:avLst>
          </a:prstGeom>
          <a:solidFill>
            <a:srgbClr val="F7EEEA"/>
          </a:solidFill>
          <a:ln w="9525">
            <a:solidFill>
              <a:srgbClr val="F7EEEA"/>
            </a:solidFill>
            <a:prstDash val="solid"/>
          </a:ln>
        </p:spPr>
      </p:sp>
      <p:sp>
        <p:nvSpPr>
          <p:cNvPr id="17" name="Text 14"/>
          <p:cNvSpPr/>
          <p:nvPr/>
        </p:nvSpPr>
        <p:spPr>
          <a:xfrm>
            <a:off x="6473952" y="3163824"/>
            <a:ext cx="2743200" cy="301752"/>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Compare</a:t>
            </a:r>
            <a:endParaRPr lang="en-US" sz="1500" dirty="0"/>
          </a:p>
        </p:txBody>
      </p:sp>
      <p:sp>
        <p:nvSpPr>
          <p:cNvPr id="18" name="Text 15"/>
          <p:cNvSpPr/>
          <p:nvPr/>
        </p:nvSpPr>
        <p:spPr>
          <a:xfrm>
            <a:off x="6473952" y="3529584"/>
            <a:ext cx="4937760" cy="73152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Explain what forward checking misses that MAC catches, and what backjumping adds over chronological backtracking.</a:t>
            </a:r>
            <a:endParaRPr lang="en-US" sz="1250" dirty="0"/>
          </a:p>
        </p:txBody>
      </p:sp>
      <p:sp>
        <p:nvSpPr>
          <p:cNvPr id="19" name="Shape 16"/>
          <p:cNvSpPr/>
          <p:nvPr/>
        </p:nvSpPr>
        <p:spPr>
          <a:xfrm>
            <a:off x="502920" y="4572000"/>
            <a:ext cx="5440680" cy="1325880"/>
          </a:xfrm>
          <a:prstGeom prst="roundRect">
            <a:avLst>
              <a:gd name="adj" fmla="val 4138"/>
            </a:avLst>
          </a:prstGeom>
          <a:solidFill>
            <a:srgbClr val="F1F3F4"/>
          </a:solidFill>
          <a:ln w="9525">
            <a:solidFill>
              <a:srgbClr val="F1F3F4"/>
            </a:solidFill>
            <a:prstDash val="solid"/>
          </a:ln>
        </p:spPr>
      </p:sp>
      <p:sp>
        <p:nvSpPr>
          <p:cNvPr id="20" name="Text 17"/>
          <p:cNvSpPr/>
          <p:nvPr/>
        </p:nvSpPr>
        <p:spPr>
          <a:xfrm>
            <a:off x="758952" y="4718304"/>
            <a:ext cx="2743200" cy="301752"/>
          </a:xfrm>
          <a:prstGeom prst="rect">
            <a:avLst/>
          </a:prstGeom>
          <a:noFill/>
          <a:ln/>
        </p:spPr>
        <p:txBody>
          <a:bodyPr wrap="square" lIns="0" tIns="0" rIns="0" bIns="0" rtlCol="0" anchor="ctr"/>
          <a:lstStyle/>
          <a:p>
            <a:pPr indent="0" marL="0">
              <a:buNone/>
            </a:pPr>
            <a:r>
              <a:rPr lang="en-US" sz="1500" b="1" dirty="0">
                <a:solidFill>
                  <a:srgbClr val="50808E"/>
                </a:solidFill>
                <a:latin typeface="Calibri" pitchFamily="34" charset="0"/>
                <a:ea typeface="Calibri" pitchFamily="34" charset="-122"/>
                <a:cs typeface="Calibri" pitchFamily="34" charset="-120"/>
              </a:rPr>
              <a:t>Analyze</a:t>
            </a:r>
            <a:endParaRPr lang="en-US" sz="1500" dirty="0"/>
          </a:p>
        </p:txBody>
      </p:sp>
      <p:sp>
        <p:nvSpPr>
          <p:cNvPr id="21" name="Text 18"/>
          <p:cNvSpPr/>
          <p:nvPr/>
        </p:nvSpPr>
        <p:spPr>
          <a:xfrm>
            <a:off x="758952" y="5084064"/>
            <a:ext cx="4937760" cy="73152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Identify a cycle cutset or a tree decomposition and give the resulting run-time bound.</a:t>
            </a:r>
            <a:endParaRPr lang="en-US" sz="1250" dirty="0"/>
          </a:p>
        </p:txBody>
      </p:sp>
      <p:sp>
        <p:nvSpPr>
          <p:cNvPr id="22" name="Shape 19"/>
          <p:cNvSpPr/>
          <p:nvPr/>
        </p:nvSpPr>
        <p:spPr>
          <a:xfrm>
            <a:off x="6217920" y="4572000"/>
            <a:ext cx="5440680" cy="1325880"/>
          </a:xfrm>
          <a:prstGeom prst="roundRect">
            <a:avLst>
              <a:gd name="adj" fmla="val 4138"/>
            </a:avLst>
          </a:prstGeom>
          <a:solidFill>
            <a:srgbClr val="F7EEEA"/>
          </a:solidFill>
          <a:ln w="9525">
            <a:solidFill>
              <a:srgbClr val="F7EEEA"/>
            </a:solidFill>
            <a:prstDash val="solid"/>
          </a:ln>
        </p:spPr>
      </p:sp>
      <p:sp>
        <p:nvSpPr>
          <p:cNvPr id="23" name="Text 20"/>
          <p:cNvSpPr/>
          <p:nvPr/>
        </p:nvSpPr>
        <p:spPr>
          <a:xfrm>
            <a:off x="6473952" y="4718304"/>
            <a:ext cx="2743200" cy="301752"/>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Contrast</a:t>
            </a:r>
            <a:endParaRPr lang="en-US" sz="1500" dirty="0"/>
          </a:p>
        </p:txBody>
      </p:sp>
      <p:sp>
        <p:nvSpPr>
          <p:cNvPr id="24" name="Text 21"/>
          <p:cNvSpPr/>
          <p:nvPr/>
        </p:nvSpPr>
        <p:spPr>
          <a:xfrm>
            <a:off x="6473952" y="5084064"/>
            <a:ext cx="4937760" cy="73152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Explain when min-conflicts beats systematic search and what guarantees you give up to get that speed.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2303A"/>
        </a:solidFill>
      </p:bgPr>
    </p:bg>
    <p:spTree>
      <p:nvGrpSpPr>
        <p:cNvPr id="1" name=""/>
        <p:cNvGrpSpPr/>
        <p:nvPr/>
      </p:nvGrpSpPr>
      <p:grpSpPr>
        <a:xfrm>
          <a:off x="0" y="0"/>
          <a:ext cx="0" cy="0"/>
          <a:chOff x="0" y="0"/>
          <a:chExt cx="0" cy="0"/>
        </a:xfrm>
      </p:grpSpPr>
      <p:sp>
        <p:nvSpPr>
          <p:cNvPr id="2" name="Shape 0"/>
          <p:cNvSpPr/>
          <p:nvPr/>
        </p:nvSpPr>
        <p:spPr>
          <a:xfrm>
            <a:off x="822960" y="1874520"/>
            <a:ext cx="1234440" cy="1234440"/>
          </a:xfrm>
          <a:prstGeom prst="ellipse">
            <a:avLst/>
          </a:prstGeom>
          <a:solidFill>
            <a:srgbClr val="B85042"/>
          </a:solidFill>
          <a:ln/>
        </p:spPr>
      </p:sp>
      <p:sp>
        <p:nvSpPr>
          <p:cNvPr id="3" name="Text 1"/>
          <p:cNvSpPr/>
          <p:nvPr/>
        </p:nvSpPr>
        <p:spPr>
          <a:xfrm>
            <a:off x="822960" y="1874520"/>
            <a:ext cx="1234440" cy="12344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4" name="Text 2"/>
          <p:cNvSpPr/>
          <p:nvPr/>
        </p:nvSpPr>
        <p:spPr>
          <a:xfrm>
            <a:off x="2423160" y="1874520"/>
            <a:ext cx="877824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Constraint Propagation</a:t>
            </a:r>
            <a:endParaRPr lang="en-US" sz="3800" dirty="0"/>
          </a:p>
        </p:txBody>
      </p:sp>
      <p:sp>
        <p:nvSpPr>
          <p:cNvPr id="5" name="Text 3"/>
          <p:cNvSpPr/>
          <p:nvPr/>
        </p:nvSpPr>
        <p:spPr>
          <a:xfrm>
            <a:off x="2468880" y="2761488"/>
            <a:ext cx="8686800" cy="411480"/>
          </a:xfrm>
          <a:prstGeom prst="rect">
            <a:avLst/>
          </a:prstGeom>
          <a:noFill/>
          <a:ln/>
        </p:spPr>
        <p:txBody>
          <a:bodyPr wrap="square" lIns="0" tIns="0" rIns="0" bIns="0" rtlCol="0" anchor="ctr"/>
          <a:lstStyle/>
          <a:p>
            <a:pPr indent="0" marL="0">
              <a:buNone/>
            </a:pPr>
            <a:r>
              <a:rPr lang="en-US" sz="1500" i="1" dirty="0">
                <a:solidFill>
                  <a:srgbClr val="A9BFCB"/>
                </a:solidFill>
                <a:latin typeface="Calibri" pitchFamily="34" charset="0"/>
                <a:ea typeface="Calibri" pitchFamily="34" charset="-122"/>
                <a:cs typeface="Calibri" pitchFamily="34" charset="-120"/>
              </a:rPr>
              <a:t>AIMA 6.2 - inference in CSPs</a:t>
            </a:r>
            <a:endParaRPr lang="en-US" sz="1500" dirty="0"/>
          </a:p>
        </p:txBody>
      </p:sp>
      <p:sp>
        <p:nvSpPr>
          <p:cNvPr id="6" name="Text 4"/>
          <p:cNvSpPr/>
          <p:nvPr/>
        </p:nvSpPr>
        <p:spPr>
          <a:xfrm>
            <a:off x="2487168" y="3429000"/>
            <a:ext cx="8595360" cy="17373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FDDE4"/>
                </a:solidFill>
                <a:latin typeface="Calibri" pitchFamily="34" charset="0"/>
                <a:ea typeface="Calibri" pitchFamily="34" charset="-122"/>
                <a:cs typeface="Calibri" pitchFamily="34" charset="-120"/>
              </a:rPr>
              <a:t>Local consistency: node, arc, path, k</a:t>
            </a:r>
            <a:endParaRPr lang="en-US" sz="1400" dirty="0"/>
          </a:p>
          <a:p>
            <a:pPr marL="342900" indent="-342900">
              <a:spcAft>
                <a:spcPts val="600"/>
              </a:spcAft>
              <a:buSzPct val="100000"/>
              <a:buChar char="•"/>
            </a:pPr>
            <a:r>
              <a:rPr lang="en-US" sz="1400" dirty="0">
                <a:solidFill>
                  <a:srgbClr val="CFDDE4"/>
                </a:solidFill>
                <a:latin typeface="Calibri" pitchFamily="34" charset="0"/>
                <a:ea typeface="Calibri" pitchFamily="34" charset="-122"/>
                <a:cs typeface="Calibri" pitchFamily="34" charset="-120"/>
              </a:rPr>
              <a:t>AC-3 and its complexity</a:t>
            </a:r>
            <a:endParaRPr lang="en-US" sz="1400" dirty="0"/>
          </a:p>
          <a:p>
            <a:pPr marL="342900" indent="-342900">
              <a:spcAft>
                <a:spcPts val="600"/>
              </a:spcAft>
              <a:buSzPct val="100000"/>
              <a:buChar char="•"/>
            </a:pPr>
            <a:r>
              <a:rPr lang="en-US" sz="1400" dirty="0">
                <a:solidFill>
                  <a:srgbClr val="CFDDE4"/>
                </a:solidFill>
                <a:latin typeface="Calibri" pitchFamily="34" charset="0"/>
                <a:ea typeface="Calibri" pitchFamily="34" charset="-122"/>
                <a:cs typeface="Calibri" pitchFamily="34" charset="-120"/>
              </a:rPr>
              <a:t>Global constraints: Alldiff and resource limits</a:t>
            </a:r>
            <a:endParaRPr lang="en-US" sz="1400" dirty="0"/>
          </a:p>
          <a:p>
            <a:pPr marL="342900" indent="-342900">
              <a:spcAft>
                <a:spcPts val="600"/>
              </a:spcAft>
              <a:buSzPct val="100000"/>
              <a:buChar char="•"/>
            </a:pPr>
            <a:r>
              <a:rPr lang="en-US" sz="1400" dirty="0">
                <a:solidFill>
                  <a:srgbClr val="CFDDE4"/>
                </a:solidFill>
                <a:latin typeface="Calibri" pitchFamily="34" charset="0"/>
                <a:ea typeface="Calibri" pitchFamily="34" charset="-122"/>
                <a:cs typeface="Calibri" pitchFamily="34" charset="-120"/>
              </a:rPr>
              <a:t>Case study: Sudoku</a:t>
            </a:r>
            <a:endParaRPr lang="en-US" sz="1400" dirty="0"/>
          </a:p>
        </p:txBody>
      </p:sp>
      <p:sp>
        <p:nvSpPr>
          <p:cNvPr id="8" name="Text 5"/>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8FA2AD"/>
                </a:solidFill>
                <a:latin typeface="Calibri" pitchFamily="34" charset="0"/>
                <a:ea typeface="Calibri" pitchFamily="34" charset="-122"/>
                <a:cs typeface="Calibri" pitchFamily="34" charset="-120"/>
              </a:rPr>
              <a:t>COMP 469 - Artificial Intelligence</a:t>
            </a:r>
            <a:endParaRPr lang="en-US" sz="900" dirty="0"/>
          </a:p>
        </p:txBody>
      </p:sp>
      <p:sp>
        <p:nvSpPr>
          <p:cNvPr id="9" name="Text 6"/>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8FA2AD"/>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6.2</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The key idea: local consistency</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7</a:t>
            </a:r>
            <a:endParaRPr lang="en-US" sz="900" dirty="0"/>
          </a:p>
        </p:txBody>
      </p:sp>
      <p:sp>
        <p:nvSpPr>
          <p:cNvPr id="7" name="Shape 4"/>
          <p:cNvSpPr/>
          <p:nvPr/>
        </p:nvSpPr>
        <p:spPr>
          <a:xfrm>
            <a:off x="502920" y="1463040"/>
            <a:ext cx="5394960" cy="1417320"/>
          </a:xfrm>
          <a:prstGeom prst="roundRect">
            <a:avLst>
              <a:gd name="adj" fmla="val 3871"/>
            </a:avLst>
          </a:prstGeom>
          <a:solidFill>
            <a:srgbClr val="F1F3F4"/>
          </a:solidFill>
          <a:ln w="9525">
            <a:solidFill>
              <a:srgbClr val="F1F3F4"/>
            </a:solidFill>
            <a:prstDash val="solid"/>
          </a:ln>
        </p:spPr>
      </p:sp>
      <p:sp>
        <p:nvSpPr>
          <p:cNvPr id="8" name="Text 5"/>
          <p:cNvSpPr/>
          <p:nvPr/>
        </p:nvSpPr>
        <p:spPr>
          <a:xfrm>
            <a:off x="777240" y="1645920"/>
            <a:ext cx="4846320" cy="301752"/>
          </a:xfrm>
          <a:prstGeom prst="rect">
            <a:avLst/>
          </a:prstGeom>
          <a:noFill/>
          <a:ln/>
        </p:spPr>
        <p:txBody>
          <a:bodyPr wrap="square" lIns="0" tIns="0" rIns="0" bIns="0" rtlCol="0" anchor="ctr"/>
          <a:lstStyle/>
          <a:p>
            <a:pPr indent="0" marL="0">
              <a:buNone/>
            </a:pPr>
            <a:r>
              <a:rPr lang="en-US" sz="1500" b="1" dirty="0">
                <a:solidFill>
                  <a:srgbClr val="31424E"/>
                </a:solidFill>
                <a:latin typeface="Calibri" pitchFamily="34" charset="0"/>
                <a:ea typeface="Calibri" pitchFamily="34" charset="-122"/>
                <a:cs typeface="Calibri" pitchFamily="34" charset="-120"/>
              </a:rPr>
              <a:t>Atomic state-space search</a:t>
            </a:r>
            <a:endParaRPr lang="en-US" sz="1500" dirty="0"/>
          </a:p>
        </p:txBody>
      </p:sp>
      <p:sp>
        <p:nvSpPr>
          <p:cNvPr id="9" name="Text 6"/>
          <p:cNvSpPr/>
          <p:nvPr/>
        </p:nvSpPr>
        <p:spPr>
          <a:xfrm>
            <a:off x="777240" y="2011680"/>
            <a:ext cx="4846320" cy="73152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One move available: expand a node and visit its successors. States are opaque, so nothing can be deduced without generating them.</a:t>
            </a:r>
            <a:endParaRPr lang="en-US" sz="1300" dirty="0"/>
          </a:p>
        </p:txBody>
      </p:sp>
      <p:sp>
        <p:nvSpPr>
          <p:cNvPr id="10" name="Shape 7"/>
          <p:cNvSpPr/>
          <p:nvPr/>
        </p:nvSpPr>
        <p:spPr>
          <a:xfrm>
            <a:off x="6263640" y="1463040"/>
            <a:ext cx="5394960" cy="1417320"/>
          </a:xfrm>
          <a:prstGeom prst="roundRect">
            <a:avLst>
              <a:gd name="adj" fmla="val 3871"/>
            </a:avLst>
          </a:prstGeom>
          <a:solidFill>
            <a:srgbClr val="F7EEEA"/>
          </a:solidFill>
          <a:ln w="9525">
            <a:solidFill>
              <a:srgbClr val="F7EEEA"/>
            </a:solidFill>
            <a:prstDash val="solid"/>
          </a:ln>
        </p:spPr>
      </p:sp>
      <p:sp>
        <p:nvSpPr>
          <p:cNvPr id="11" name="Text 8"/>
          <p:cNvSpPr/>
          <p:nvPr/>
        </p:nvSpPr>
        <p:spPr>
          <a:xfrm>
            <a:off x="6537960" y="1645920"/>
            <a:ext cx="4846320" cy="301752"/>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A CSP solver has a choice</a:t>
            </a:r>
            <a:endParaRPr lang="en-US" sz="1500" dirty="0"/>
          </a:p>
        </p:txBody>
      </p:sp>
      <p:sp>
        <p:nvSpPr>
          <p:cNvPr id="12" name="Text 9"/>
          <p:cNvSpPr/>
          <p:nvPr/>
        </p:nvSpPr>
        <p:spPr>
          <a:xfrm>
            <a:off x="6537960" y="2011680"/>
            <a:ext cx="4846320" cy="73152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It can search, or it can infer: use the constraints to shrink domains, so that fewer legal choices remain to search over in the first place.</a:t>
            </a:r>
            <a:endParaRPr lang="en-US" sz="1300" dirty="0"/>
          </a:p>
        </p:txBody>
      </p:sp>
      <p:sp>
        <p:nvSpPr>
          <p:cNvPr id="13" name="Text 10"/>
          <p:cNvSpPr/>
          <p:nvPr/>
        </p:nvSpPr>
        <p:spPr>
          <a:xfrm>
            <a:off x="502920" y="3154680"/>
            <a:ext cx="6766560" cy="265176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Treat each variable as a node and each binary constraint as an edge</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Enforcing local consistency on each part of the graph causes inconsistent values to be eliminated everywhere</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Propagation can run before search as a preprocessing pass, or - far more usefully - after every single assignment during search</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Four strengths, each stronger and more expensive than the last: node, arc, path, and k-consistency</a:t>
            </a:r>
            <a:endParaRPr lang="en-US" sz="1400" dirty="0"/>
          </a:p>
        </p:txBody>
      </p:sp>
      <p:sp>
        <p:nvSpPr>
          <p:cNvPr id="14" name="Shape 11"/>
          <p:cNvSpPr/>
          <p:nvPr/>
        </p:nvSpPr>
        <p:spPr>
          <a:xfrm>
            <a:off x="7589520" y="3154680"/>
            <a:ext cx="4069080" cy="2377440"/>
          </a:xfrm>
          <a:prstGeom prst="roundRect">
            <a:avLst>
              <a:gd name="adj" fmla="val 2308"/>
            </a:avLst>
          </a:prstGeom>
          <a:solidFill>
            <a:srgbClr val="F1F3F4"/>
          </a:solidFill>
          <a:ln w="9525">
            <a:solidFill>
              <a:srgbClr val="F1F3F4"/>
            </a:solidFill>
            <a:prstDash val="solid"/>
          </a:ln>
        </p:spPr>
      </p:sp>
      <p:sp>
        <p:nvSpPr>
          <p:cNvPr id="15" name="Text 12"/>
          <p:cNvSpPr/>
          <p:nvPr/>
        </p:nvSpPr>
        <p:spPr>
          <a:xfrm>
            <a:off x="7863840" y="3337560"/>
            <a:ext cx="3566160" cy="301752"/>
          </a:xfrm>
          <a:prstGeom prst="rect">
            <a:avLst/>
          </a:prstGeom>
          <a:noFill/>
          <a:ln/>
        </p:spPr>
        <p:txBody>
          <a:bodyPr wrap="square" lIns="0" tIns="0" rIns="0" bIns="0" rtlCol="0" anchor="ctr"/>
          <a:lstStyle/>
          <a:p>
            <a:pPr indent="0" marL="0">
              <a:buNone/>
            </a:pPr>
            <a:r>
              <a:rPr lang="en-US" sz="1400" b="1" dirty="0">
                <a:solidFill>
                  <a:srgbClr val="50808E"/>
                </a:solidFill>
                <a:latin typeface="Calibri" pitchFamily="34" charset="0"/>
                <a:ea typeface="Calibri" pitchFamily="34" charset="-122"/>
                <a:cs typeface="Calibri" pitchFamily="34" charset="-120"/>
              </a:rPr>
              <a:t>Reading the ladder</a:t>
            </a:r>
            <a:endParaRPr lang="en-US" sz="1400" dirty="0"/>
          </a:p>
        </p:txBody>
      </p:sp>
      <p:sp>
        <p:nvSpPr>
          <p:cNvPr id="16" name="Text 13"/>
          <p:cNvSpPr/>
          <p:nvPr/>
        </p:nvSpPr>
        <p:spPr>
          <a:xfrm>
            <a:off x="7863840" y="3703320"/>
            <a:ext cx="3520440" cy="169164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Node consistency looks at one variable.</a:t>
            </a:r>
            <a:endParaRPr lang="en-US" sz="1250" dirty="0"/>
          </a:p>
          <a:p>
            <a:pPr indent="0" marL="0">
              <a:lnSpc>
                <a:spcPct val="112000"/>
              </a:lnSpc>
              <a:buNone/>
            </a:pPr>
            <a:endParaRPr lang="en-US" sz="1250" dirty="0"/>
          </a:p>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Arc consistency looks at pairs.</a:t>
            </a:r>
            <a:endParaRPr lang="en-US" sz="1250" dirty="0"/>
          </a:p>
          <a:p>
            <a:pPr indent="0" marL="0">
              <a:lnSpc>
                <a:spcPct val="112000"/>
              </a:lnSpc>
              <a:buNone/>
            </a:pPr>
            <a:endParaRPr lang="en-US" sz="1250" dirty="0"/>
          </a:p>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Path consistency looks at triples.</a:t>
            </a:r>
            <a:endParaRPr lang="en-US" sz="1250" dirty="0"/>
          </a:p>
          <a:p>
            <a:pPr indent="0" marL="0">
              <a:lnSpc>
                <a:spcPct val="112000"/>
              </a:lnSpc>
              <a:buNone/>
            </a:pPr>
            <a:endParaRPr lang="en-US" sz="1250" dirty="0"/>
          </a:p>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K-consistency generalizes to any K - and costs exponentially more as K grows.</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6.2.1</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Node consistency: enforcing unary constraints</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8</a:t>
            </a:r>
            <a:endParaRPr lang="en-US" sz="900" dirty="0"/>
          </a:p>
        </p:txBody>
      </p:sp>
      <p:sp>
        <p:nvSpPr>
          <p:cNvPr id="7" name="Text 4"/>
          <p:cNvSpPr/>
          <p:nvPr/>
        </p:nvSpPr>
        <p:spPr>
          <a:xfrm>
            <a:off x="502920" y="1417320"/>
            <a:ext cx="6035040" cy="201168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A variable is node-consistent if every value in its domain satisfies that variable's own unary constraints</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A graph is node-consistent if every variable is</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Enforce it once, up front, by shrinking domains - then it never needs revisiting</a:t>
            </a:r>
            <a:endParaRPr lang="en-US" sz="1400" dirty="0"/>
          </a:p>
        </p:txBody>
      </p:sp>
      <p:sp>
        <p:nvSpPr>
          <p:cNvPr id="8" name="Shape 5"/>
          <p:cNvSpPr/>
          <p:nvPr/>
        </p:nvSpPr>
        <p:spPr>
          <a:xfrm>
            <a:off x="502920" y="3611880"/>
            <a:ext cx="6035040" cy="2194560"/>
          </a:xfrm>
          <a:prstGeom prst="roundRect">
            <a:avLst>
              <a:gd name="adj" fmla="val 2500"/>
            </a:avLst>
          </a:prstGeom>
          <a:solidFill>
            <a:srgbClr val="F1F3F4"/>
          </a:solidFill>
          <a:ln w="9525">
            <a:solidFill>
              <a:srgbClr val="F1F3F4"/>
            </a:solidFill>
            <a:prstDash val="solid"/>
          </a:ln>
        </p:spPr>
      </p:sp>
      <p:sp>
        <p:nvSpPr>
          <p:cNvPr id="9" name="Text 6"/>
          <p:cNvSpPr/>
          <p:nvPr/>
        </p:nvSpPr>
        <p:spPr>
          <a:xfrm>
            <a:off x="777240" y="3794760"/>
            <a:ext cx="5394960" cy="301752"/>
          </a:xfrm>
          <a:prstGeom prst="rect">
            <a:avLst/>
          </a:prstGeom>
          <a:noFill/>
          <a:ln/>
        </p:spPr>
        <p:txBody>
          <a:bodyPr wrap="square" lIns="0" tIns="0" rIns="0" bIns="0" rtlCol="0" anchor="ctr"/>
          <a:lstStyle/>
          <a:p>
            <a:pPr indent="0" marL="0">
              <a:buNone/>
            </a:pPr>
            <a:r>
              <a:rPr lang="en-US" sz="1400" b="1" dirty="0">
                <a:solidFill>
                  <a:srgbClr val="22303A"/>
                </a:solidFill>
                <a:latin typeface="Calibri" pitchFamily="34" charset="0"/>
                <a:ea typeface="Calibri" pitchFamily="34" charset="-122"/>
                <a:cs typeface="Calibri" pitchFamily="34" charset="-120"/>
              </a:rPr>
              <a:t>Example: South Australians dislike green</a:t>
            </a:r>
            <a:endParaRPr lang="en-US" sz="1400" dirty="0"/>
          </a:p>
        </p:txBody>
      </p:sp>
      <p:sp>
        <p:nvSpPr>
          <p:cNvPr id="10" name="Text 7"/>
          <p:cNvSpPr/>
          <p:nvPr/>
        </p:nvSpPr>
        <p:spPr>
          <a:xfrm>
            <a:off x="777240" y="4187952"/>
            <a:ext cx="5486400" cy="36576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Original domain for SA:</a:t>
            </a:r>
            <a:endParaRPr lang="en-US" sz="1300" dirty="0"/>
          </a:p>
        </p:txBody>
      </p:sp>
      <p:sp>
        <p:nvSpPr>
          <p:cNvPr id="11" name="Text 8"/>
          <p:cNvSpPr/>
          <p:nvPr/>
        </p:nvSpPr>
        <p:spPr>
          <a:xfrm>
            <a:off x="777240" y="4553712"/>
            <a:ext cx="566928" cy="274320"/>
          </a:xfrm>
          <a:prstGeom prst="rect">
            <a:avLst/>
          </a:prstGeom>
          <a:noFill/>
          <a:ln/>
        </p:spPr>
        <p:txBody>
          <a:bodyPr wrap="square" lIns="0" tIns="0" rIns="0" bIns="0" rtlCol="0" anchor="ctr"/>
          <a:lstStyle/>
          <a:p>
            <a:pPr indent="0" marL="0">
              <a:buNone/>
            </a:pPr>
            <a:r>
              <a:rPr lang="en-US" sz="1250" b="1" dirty="0">
                <a:solidFill>
                  <a:srgbClr val="22303A"/>
                </a:solidFill>
                <a:latin typeface="Calibri" pitchFamily="34" charset="0"/>
                <a:ea typeface="Calibri" pitchFamily="34" charset="-122"/>
                <a:cs typeface="Calibri" pitchFamily="34" charset="-120"/>
              </a:rPr>
              <a:t>SA</a:t>
            </a:r>
            <a:endParaRPr lang="en-US" sz="1250" dirty="0"/>
          </a:p>
        </p:txBody>
      </p:sp>
      <p:sp>
        <p:nvSpPr>
          <p:cNvPr id="12" name="Shape 9"/>
          <p:cNvSpPr/>
          <p:nvPr/>
        </p:nvSpPr>
        <p:spPr>
          <a:xfrm>
            <a:off x="1380744" y="4576572"/>
            <a:ext cx="292608" cy="228600"/>
          </a:xfrm>
          <a:prstGeom prst="roundRect">
            <a:avLst>
              <a:gd name="adj" fmla="val 16000"/>
            </a:avLst>
          </a:prstGeom>
          <a:solidFill>
            <a:srgbClr val="B85042"/>
          </a:solidFill>
          <a:ln w="9525">
            <a:solidFill>
              <a:srgbClr val="B85042"/>
            </a:solidFill>
            <a:prstDash val="solid"/>
          </a:ln>
        </p:spPr>
      </p:sp>
      <p:sp>
        <p:nvSpPr>
          <p:cNvPr id="13" name="Text 10"/>
          <p:cNvSpPr/>
          <p:nvPr/>
        </p:nvSpPr>
        <p:spPr>
          <a:xfrm>
            <a:off x="1380744" y="4576572"/>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a:t>
            </a:r>
            <a:endParaRPr lang="en-US" sz="1050" dirty="0"/>
          </a:p>
        </p:txBody>
      </p:sp>
      <p:sp>
        <p:nvSpPr>
          <p:cNvPr id="14" name="Shape 11"/>
          <p:cNvSpPr/>
          <p:nvPr/>
        </p:nvSpPr>
        <p:spPr>
          <a:xfrm>
            <a:off x="1728216" y="4576572"/>
            <a:ext cx="292608" cy="228600"/>
          </a:xfrm>
          <a:prstGeom prst="roundRect">
            <a:avLst>
              <a:gd name="adj" fmla="val 16000"/>
            </a:avLst>
          </a:prstGeom>
          <a:solidFill>
            <a:srgbClr val="6E8B5A"/>
          </a:solidFill>
          <a:ln w="9525">
            <a:solidFill>
              <a:srgbClr val="6E8B5A"/>
            </a:solidFill>
            <a:prstDash val="solid"/>
          </a:ln>
        </p:spPr>
      </p:sp>
      <p:sp>
        <p:nvSpPr>
          <p:cNvPr id="15" name="Text 12"/>
          <p:cNvSpPr/>
          <p:nvPr/>
        </p:nvSpPr>
        <p:spPr>
          <a:xfrm>
            <a:off x="1728216" y="4576572"/>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a:t>
            </a:r>
            <a:endParaRPr lang="en-US" sz="1050" dirty="0"/>
          </a:p>
        </p:txBody>
      </p:sp>
      <p:sp>
        <p:nvSpPr>
          <p:cNvPr id="16" name="Shape 13"/>
          <p:cNvSpPr/>
          <p:nvPr/>
        </p:nvSpPr>
        <p:spPr>
          <a:xfrm>
            <a:off x="2075688" y="4576572"/>
            <a:ext cx="292608" cy="228600"/>
          </a:xfrm>
          <a:prstGeom prst="roundRect">
            <a:avLst>
              <a:gd name="adj" fmla="val 16000"/>
            </a:avLst>
          </a:prstGeom>
          <a:solidFill>
            <a:srgbClr val="50808E"/>
          </a:solidFill>
          <a:ln w="9525">
            <a:solidFill>
              <a:srgbClr val="50808E"/>
            </a:solidFill>
            <a:prstDash val="solid"/>
          </a:ln>
        </p:spPr>
      </p:sp>
      <p:sp>
        <p:nvSpPr>
          <p:cNvPr id="17" name="Text 14"/>
          <p:cNvSpPr/>
          <p:nvPr/>
        </p:nvSpPr>
        <p:spPr>
          <a:xfrm>
            <a:off x="2075688" y="4576572"/>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t>
            </a:r>
            <a:endParaRPr lang="en-US" sz="1050" dirty="0"/>
          </a:p>
        </p:txBody>
      </p:sp>
      <p:sp>
        <p:nvSpPr>
          <p:cNvPr id="18" name="Text 15"/>
          <p:cNvSpPr/>
          <p:nvPr/>
        </p:nvSpPr>
        <p:spPr>
          <a:xfrm>
            <a:off x="777240" y="4919472"/>
            <a:ext cx="5486400" cy="36576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After enforcing the unary constraint SA != green:</a:t>
            </a:r>
            <a:endParaRPr lang="en-US" sz="1300" dirty="0"/>
          </a:p>
        </p:txBody>
      </p:sp>
      <p:sp>
        <p:nvSpPr>
          <p:cNvPr id="19" name="Text 16"/>
          <p:cNvSpPr/>
          <p:nvPr/>
        </p:nvSpPr>
        <p:spPr>
          <a:xfrm>
            <a:off x="777240" y="5285232"/>
            <a:ext cx="566928" cy="274320"/>
          </a:xfrm>
          <a:prstGeom prst="rect">
            <a:avLst/>
          </a:prstGeom>
          <a:noFill/>
          <a:ln/>
        </p:spPr>
        <p:txBody>
          <a:bodyPr wrap="square" lIns="0" tIns="0" rIns="0" bIns="0" rtlCol="0" anchor="ctr"/>
          <a:lstStyle/>
          <a:p>
            <a:pPr indent="0" marL="0">
              <a:buNone/>
            </a:pPr>
            <a:r>
              <a:rPr lang="en-US" sz="1250" b="1" dirty="0">
                <a:solidFill>
                  <a:srgbClr val="22303A"/>
                </a:solidFill>
                <a:latin typeface="Calibri" pitchFamily="34" charset="0"/>
                <a:ea typeface="Calibri" pitchFamily="34" charset="-122"/>
                <a:cs typeface="Calibri" pitchFamily="34" charset="-120"/>
              </a:rPr>
              <a:t>SA</a:t>
            </a:r>
            <a:endParaRPr lang="en-US" sz="1250" dirty="0"/>
          </a:p>
        </p:txBody>
      </p:sp>
      <p:sp>
        <p:nvSpPr>
          <p:cNvPr id="20" name="Shape 17"/>
          <p:cNvSpPr/>
          <p:nvPr/>
        </p:nvSpPr>
        <p:spPr>
          <a:xfrm>
            <a:off x="1380744" y="5308092"/>
            <a:ext cx="292608" cy="228600"/>
          </a:xfrm>
          <a:prstGeom prst="roundRect">
            <a:avLst>
              <a:gd name="adj" fmla="val 16000"/>
            </a:avLst>
          </a:prstGeom>
          <a:solidFill>
            <a:srgbClr val="B85042"/>
          </a:solidFill>
          <a:ln w="9525">
            <a:solidFill>
              <a:srgbClr val="B85042"/>
            </a:solidFill>
            <a:prstDash val="solid"/>
          </a:ln>
        </p:spPr>
      </p:sp>
      <p:sp>
        <p:nvSpPr>
          <p:cNvPr id="21" name="Text 18"/>
          <p:cNvSpPr/>
          <p:nvPr/>
        </p:nvSpPr>
        <p:spPr>
          <a:xfrm>
            <a:off x="1380744" y="5308092"/>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a:t>
            </a:r>
            <a:endParaRPr lang="en-US" sz="1050" dirty="0"/>
          </a:p>
        </p:txBody>
      </p:sp>
      <p:sp>
        <p:nvSpPr>
          <p:cNvPr id="22" name="Shape 19"/>
          <p:cNvSpPr/>
          <p:nvPr/>
        </p:nvSpPr>
        <p:spPr>
          <a:xfrm>
            <a:off x="1728216" y="5308092"/>
            <a:ext cx="292608" cy="228600"/>
          </a:xfrm>
          <a:prstGeom prst="roundRect">
            <a:avLst>
              <a:gd name="adj" fmla="val 16000"/>
            </a:avLst>
          </a:prstGeom>
          <a:solidFill>
            <a:srgbClr val="EDEFF0"/>
          </a:solidFill>
          <a:ln w="9525">
            <a:solidFill>
              <a:srgbClr val="DCE0E2"/>
            </a:solidFill>
            <a:prstDash val="solid"/>
          </a:ln>
        </p:spPr>
      </p:sp>
      <p:sp>
        <p:nvSpPr>
          <p:cNvPr id="23" name="Text 20"/>
          <p:cNvSpPr/>
          <p:nvPr/>
        </p:nvSpPr>
        <p:spPr>
          <a:xfrm>
            <a:off x="1728216" y="5308092"/>
            <a:ext cx="292608" cy="228600"/>
          </a:xfrm>
          <a:prstGeom prst="rect">
            <a:avLst/>
          </a:prstGeom>
          <a:noFill/>
          <a:ln/>
        </p:spPr>
        <p:txBody>
          <a:bodyPr wrap="square" lIns="0" tIns="0" rIns="0" bIns="0" rtlCol="0" anchor="ctr"/>
          <a:lstStyle/>
          <a:p>
            <a:pPr algn="ctr" indent="0" marL="0">
              <a:buNone/>
            </a:pPr>
            <a:r>
              <a:rPr lang="en-US" sz="1050" b="1" strike="sngStrike" dirty="0">
                <a:solidFill>
                  <a:srgbClr val="B85042"/>
                </a:solidFill>
                <a:latin typeface="Calibri" pitchFamily="34" charset="0"/>
                <a:ea typeface="Calibri" pitchFamily="34" charset="-122"/>
                <a:cs typeface="Calibri" pitchFamily="34" charset="-120"/>
              </a:rPr>
              <a:t>G</a:t>
            </a:r>
            <a:endParaRPr lang="en-US" sz="1050" dirty="0"/>
          </a:p>
        </p:txBody>
      </p:sp>
      <p:sp>
        <p:nvSpPr>
          <p:cNvPr id="24" name="Shape 21"/>
          <p:cNvSpPr/>
          <p:nvPr/>
        </p:nvSpPr>
        <p:spPr>
          <a:xfrm>
            <a:off x="2075688" y="5308092"/>
            <a:ext cx="292608" cy="228600"/>
          </a:xfrm>
          <a:prstGeom prst="roundRect">
            <a:avLst>
              <a:gd name="adj" fmla="val 16000"/>
            </a:avLst>
          </a:prstGeom>
          <a:solidFill>
            <a:srgbClr val="50808E"/>
          </a:solidFill>
          <a:ln w="9525">
            <a:solidFill>
              <a:srgbClr val="50808E"/>
            </a:solidFill>
            <a:prstDash val="solid"/>
          </a:ln>
        </p:spPr>
      </p:sp>
      <p:sp>
        <p:nvSpPr>
          <p:cNvPr id="25" name="Text 22"/>
          <p:cNvSpPr/>
          <p:nvPr/>
        </p:nvSpPr>
        <p:spPr>
          <a:xfrm>
            <a:off x="2075688" y="5308092"/>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t>
            </a:r>
            <a:endParaRPr lang="en-US" sz="1050" dirty="0"/>
          </a:p>
        </p:txBody>
      </p:sp>
      <p:sp>
        <p:nvSpPr>
          <p:cNvPr id="26" name="Text 23"/>
          <p:cNvSpPr/>
          <p:nvPr/>
        </p:nvSpPr>
        <p:spPr>
          <a:xfrm>
            <a:off x="2514600" y="5285232"/>
            <a:ext cx="3657600" cy="274320"/>
          </a:xfrm>
          <a:prstGeom prst="rect">
            <a:avLst/>
          </a:prstGeom>
          <a:noFill/>
          <a:ln/>
        </p:spPr>
        <p:txBody>
          <a:bodyPr wrap="square" lIns="0" tIns="0" rIns="0" bIns="0" rtlCol="0" anchor="ctr"/>
          <a:lstStyle/>
          <a:p>
            <a:pPr indent="0" marL="0">
              <a:buNone/>
            </a:pPr>
            <a:r>
              <a:rPr lang="en-US" sz="1150" i="1" dirty="0">
                <a:solidFill>
                  <a:srgbClr val="B85042"/>
                </a:solidFill>
                <a:latin typeface="Calibri" pitchFamily="34" charset="0"/>
                <a:ea typeface="Calibri" pitchFamily="34" charset="-122"/>
                <a:cs typeface="Calibri" pitchFamily="34" charset="-120"/>
              </a:rPr>
              <a:t>green eliminated permanently</a:t>
            </a:r>
            <a:endParaRPr lang="en-US" sz="1150" dirty="0"/>
          </a:p>
        </p:txBody>
      </p:sp>
      <p:sp>
        <p:nvSpPr>
          <p:cNvPr id="27" name="Shape 24"/>
          <p:cNvSpPr/>
          <p:nvPr/>
        </p:nvSpPr>
        <p:spPr>
          <a:xfrm>
            <a:off x="6949440" y="1417320"/>
            <a:ext cx="4709160" cy="1874520"/>
          </a:xfrm>
          <a:prstGeom prst="roundRect">
            <a:avLst>
              <a:gd name="adj" fmla="val 2927"/>
            </a:avLst>
          </a:prstGeom>
          <a:solidFill>
            <a:srgbClr val="F7EEEA"/>
          </a:solidFill>
          <a:ln w="9525">
            <a:solidFill>
              <a:srgbClr val="F7EEEA"/>
            </a:solidFill>
            <a:prstDash val="solid"/>
          </a:ln>
        </p:spPr>
      </p:sp>
      <p:sp>
        <p:nvSpPr>
          <p:cNvPr id="28" name="Text 25"/>
          <p:cNvSpPr/>
          <p:nvPr/>
        </p:nvSpPr>
        <p:spPr>
          <a:xfrm>
            <a:off x="7223760" y="1600200"/>
            <a:ext cx="4206240" cy="301752"/>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Watch the terminology</a:t>
            </a:r>
            <a:endParaRPr lang="en-US" sz="1400" dirty="0"/>
          </a:p>
        </p:txBody>
      </p:sp>
      <p:sp>
        <p:nvSpPr>
          <p:cNvPr id="29" name="Text 26"/>
          <p:cNvSpPr/>
          <p:nvPr/>
        </p:nvSpPr>
        <p:spPr>
          <a:xfrm>
            <a:off x="7223760" y="1975104"/>
            <a:ext cx="4206240" cy="118872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A unary constraint restricts one variable's domain. That is not the same thing as a binary domain, which just means a variable has two possible values. Students lose points on this every term.</a:t>
            </a:r>
            <a:endParaRPr lang="en-US" sz="1250" dirty="0"/>
          </a:p>
        </p:txBody>
      </p:sp>
      <p:sp>
        <p:nvSpPr>
          <p:cNvPr id="30" name="Shape 27"/>
          <p:cNvSpPr/>
          <p:nvPr/>
        </p:nvSpPr>
        <p:spPr>
          <a:xfrm>
            <a:off x="6949440" y="3611880"/>
            <a:ext cx="4709160" cy="2194560"/>
          </a:xfrm>
          <a:prstGeom prst="roundRect">
            <a:avLst>
              <a:gd name="adj" fmla="val 2500"/>
            </a:avLst>
          </a:prstGeom>
          <a:solidFill>
            <a:srgbClr val="F1F3F4"/>
          </a:solidFill>
          <a:ln w="9525">
            <a:solidFill>
              <a:srgbClr val="F1F3F4"/>
            </a:solidFill>
            <a:prstDash val="solid"/>
          </a:ln>
        </p:spPr>
      </p:sp>
      <p:sp>
        <p:nvSpPr>
          <p:cNvPr id="31" name="Text 28"/>
          <p:cNvSpPr/>
          <p:nvPr/>
        </p:nvSpPr>
        <p:spPr>
          <a:xfrm>
            <a:off x="7223760" y="3794760"/>
            <a:ext cx="4206240" cy="301752"/>
          </a:xfrm>
          <a:prstGeom prst="rect">
            <a:avLst/>
          </a:prstGeom>
          <a:noFill/>
          <a:ln/>
        </p:spPr>
        <p:txBody>
          <a:bodyPr wrap="square" lIns="0" tIns="0" rIns="0" bIns="0" rtlCol="0" anchor="ctr"/>
          <a:lstStyle/>
          <a:p>
            <a:pPr indent="0" marL="0">
              <a:buNone/>
            </a:pPr>
            <a:r>
              <a:rPr lang="en-US" sz="1400" b="1" dirty="0">
                <a:solidFill>
                  <a:srgbClr val="50808E"/>
                </a:solidFill>
                <a:latin typeface="Calibri" pitchFamily="34" charset="0"/>
                <a:ea typeface="Calibri" pitchFamily="34" charset="-122"/>
                <a:cs typeface="Calibri" pitchFamily="34" charset="-120"/>
              </a:rPr>
              <a:t>Why it is not enough</a:t>
            </a:r>
            <a:endParaRPr lang="en-US" sz="1400" dirty="0"/>
          </a:p>
        </p:txBody>
      </p:sp>
      <p:sp>
        <p:nvSpPr>
          <p:cNvPr id="32" name="Text 29"/>
          <p:cNvSpPr/>
          <p:nvPr/>
        </p:nvSpPr>
        <p:spPr>
          <a:xfrm>
            <a:off x="7223760" y="4187952"/>
            <a:ext cx="4206240" cy="146304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Node consistency never looks at a relationship between two variables. It cannot notice that two adjacent regions are both down to blue. For that we need to look along an edge - which is the next level.</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6.2.2</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Arc consistency: the workhorse</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9</a:t>
            </a:r>
            <a:endParaRPr lang="en-US" sz="900" dirty="0"/>
          </a:p>
        </p:txBody>
      </p:sp>
      <p:sp>
        <p:nvSpPr>
          <p:cNvPr id="7" name="Shape 4"/>
          <p:cNvSpPr/>
          <p:nvPr/>
        </p:nvSpPr>
        <p:spPr>
          <a:xfrm>
            <a:off x="502920" y="1417320"/>
            <a:ext cx="11155680" cy="1051560"/>
          </a:xfrm>
          <a:prstGeom prst="roundRect">
            <a:avLst>
              <a:gd name="adj" fmla="val 5217"/>
            </a:avLst>
          </a:prstGeom>
          <a:solidFill>
            <a:srgbClr val="F1F3F4"/>
          </a:solidFill>
          <a:ln w="9525">
            <a:solidFill>
              <a:srgbClr val="F1F3F4"/>
            </a:solidFill>
            <a:prstDash val="solid"/>
          </a:ln>
        </p:spPr>
      </p:sp>
      <p:sp>
        <p:nvSpPr>
          <p:cNvPr id="8" name="Text 5"/>
          <p:cNvSpPr/>
          <p:nvPr/>
        </p:nvSpPr>
        <p:spPr>
          <a:xfrm>
            <a:off x="822960" y="1627632"/>
            <a:ext cx="10515600" cy="685800"/>
          </a:xfrm>
          <a:prstGeom prst="rect">
            <a:avLst/>
          </a:prstGeom>
          <a:noFill/>
          <a:ln/>
        </p:spPr>
        <p:txBody>
          <a:bodyPr wrap="square" lIns="0" tIns="0" rIns="0" bIns="0" rtlCol="0" anchor="t"/>
          <a:lstStyle/>
          <a:p>
            <a:pPr indent="0" marL="0">
              <a:lnSpc>
                <a:spcPct val="112000"/>
              </a:lnSpc>
              <a:buNone/>
            </a:pPr>
            <a:r>
              <a:rPr lang="en-US" sz="1500" b="1" dirty="0">
                <a:solidFill>
                  <a:srgbClr val="22303A"/>
                </a:solidFill>
                <a:latin typeface="Calibri" pitchFamily="34" charset="0"/>
                <a:ea typeface="Calibri" pitchFamily="34" charset="-122"/>
                <a:cs typeface="Calibri" pitchFamily="34" charset="-120"/>
              </a:rPr>
              <a:t>Xi is arc-consistent with respect to Xj when, for every value remaining in Xi's domain, there is some value in Xj's domain that satisfies the binary constraint between them.</a:t>
            </a:r>
            <a:endParaRPr lang="en-US" sz="1500" dirty="0"/>
          </a:p>
        </p:txBody>
      </p:sp>
      <p:sp>
        <p:nvSpPr>
          <p:cNvPr id="9" name="Shape 6"/>
          <p:cNvSpPr/>
          <p:nvPr/>
        </p:nvSpPr>
        <p:spPr>
          <a:xfrm>
            <a:off x="1371600" y="3063240"/>
            <a:ext cx="777240" cy="777240"/>
          </a:xfrm>
          <a:prstGeom prst="ellipse">
            <a:avLst/>
          </a:prstGeom>
          <a:solidFill>
            <a:srgbClr val="50808E"/>
          </a:solidFill>
          <a:ln/>
        </p:spPr>
      </p:sp>
      <p:sp>
        <p:nvSpPr>
          <p:cNvPr id="10" name="Text 7"/>
          <p:cNvSpPr/>
          <p:nvPr/>
        </p:nvSpPr>
        <p:spPr>
          <a:xfrm>
            <a:off x="1371600" y="3063240"/>
            <a:ext cx="77724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X</a:t>
            </a:r>
            <a:endParaRPr lang="en-US" sz="2000" dirty="0"/>
          </a:p>
        </p:txBody>
      </p:sp>
      <p:sp>
        <p:nvSpPr>
          <p:cNvPr id="11" name="Shape 8"/>
          <p:cNvSpPr/>
          <p:nvPr/>
        </p:nvSpPr>
        <p:spPr>
          <a:xfrm>
            <a:off x="4663440" y="3063240"/>
            <a:ext cx="777240" cy="777240"/>
          </a:xfrm>
          <a:prstGeom prst="ellipse">
            <a:avLst/>
          </a:prstGeom>
          <a:solidFill>
            <a:srgbClr val="6E8B5A"/>
          </a:solidFill>
          <a:ln/>
        </p:spPr>
      </p:sp>
      <p:sp>
        <p:nvSpPr>
          <p:cNvPr id="12" name="Text 9"/>
          <p:cNvSpPr/>
          <p:nvPr/>
        </p:nvSpPr>
        <p:spPr>
          <a:xfrm>
            <a:off x="4663440" y="3063240"/>
            <a:ext cx="77724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Y</a:t>
            </a:r>
            <a:endParaRPr lang="en-US" sz="2000" dirty="0"/>
          </a:p>
        </p:txBody>
      </p:sp>
      <p:sp>
        <p:nvSpPr>
          <p:cNvPr id="13" name="Shape 10"/>
          <p:cNvSpPr/>
          <p:nvPr/>
        </p:nvSpPr>
        <p:spPr>
          <a:xfrm>
            <a:off x="2286000" y="3451860"/>
            <a:ext cx="2240280" cy="0"/>
          </a:xfrm>
          <a:prstGeom prst="line">
            <a:avLst/>
          </a:prstGeom>
          <a:noFill/>
          <a:ln w="38100">
            <a:solidFill>
              <a:srgbClr val="B85042"/>
            </a:solidFill>
            <a:prstDash val="solid"/>
            <a:tailEnd type="triangle"/>
          </a:ln>
        </p:spPr>
      </p:sp>
      <p:sp>
        <p:nvSpPr>
          <p:cNvPr id="14" name="Text 11"/>
          <p:cNvSpPr/>
          <p:nvPr/>
        </p:nvSpPr>
        <p:spPr>
          <a:xfrm>
            <a:off x="1371600" y="3913632"/>
            <a:ext cx="777240" cy="274320"/>
          </a:xfrm>
          <a:prstGeom prst="rect">
            <a:avLst/>
          </a:prstGeom>
          <a:noFill/>
          <a:ln/>
        </p:spPr>
        <p:txBody>
          <a:bodyPr wrap="square" lIns="0" tIns="0" rIns="0" bIns="0" rtlCol="0" anchor="ctr"/>
          <a:lstStyle/>
          <a:p>
            <a:pPr algn="ctr" indent="0" marL="0">
              <a:buNone/>
            </a:pPr>
            <a:r>
              <a:rPr lang="en-US" sz="1200" b="1" dirty="0">
                <a:solidFill>
                  <a:srgbClr val="B85042"/>
                </a:solidFill>
                <a:latin typeface="Calibri" pitchFamily="34" charset="0"/>
                <a:ea typeface="Calibri" pitchFamily="34" charset="-122"/>
                <a:cs typeface="Calibri" pitchFamily="34" charset="-120"/>
              </a:rPr>
              <a:t>tail</a:t>
            </a:r>
            <a:endParaRPr lang="en-US" sz="1200" dirty="0"/>
          </a:p>
        </p:txBody>
      </p:sp>
      <p:sp>
        <p:nvSpPr>
          <p:cNvPr id="15" name="Text 12"/>
          <p:cNvSpPr/>
          <p:nvPr/>
        </p:nvSpPr>
        <p:spPr>
          <a:xfrm>
            <a:off x="4663440" y="3913632"/>
            <a:ext cx="777240" cy="274320"/>
          </a:xfrm>
          <a:prstGeom prst="rect">
            <a:avLst/>
          </a:prstGeom>
          <a:noFill/>
          <a:ln/>
        </p:spPr>
        <p:txBody>
          <a:bodyPr wrap="square" lIns="0" tIns="0" rIns="0" bIns="0" rtlCol="0" anchor="ctr"/>
          <a:lstStyle/>
          <a:p>
            <a:pPr algn="ctr" indent="0" marL="0">
              <a:buNone/>
            </a:pPr>
            <a:r>
              <a:rPr lang="en-US" sz="1200" b="1" dirty="0">
                <a:solidFill>
                  <a:srgbClr val="6E7A83"/>
                </a:solidFill>
                <a:latin typeface="Calibri" pitchFamily="34" charset="0"/>
                <a:ea typeface="Calibri" pitchFamily="34" charset="-122"/>
                <a:cs typeface="Calibri" pitchFamily="34" charset="-120"/>
              </a:rPr>
              <a:t>head</a:t>
            </a:r>
            <a:endParaRPr lang="en-US" sz="1200" dirty="0"/>
          </a:p>
        </p:txBody>
      </p:sp>
      <p:sp>
        <p:nvSpPr>
          <p:cNvPr id="16" name="Text 13"/>
          <p:cNvSpPr/>
          <p:nvPr/>
        </p:nvSpPr>
        <p:spPr>
          <a:xfrm>
            <a:off x="640080" y="4206240"/>
            <a:ext cx="2240280" cy="274320"/>
          </a:xfrm>
          <a:prstGeom prst="rect">
            <a:avLst/>
          </a:prstGeom>
          <a:noFill/>
          <a:ln/>
        </p:spPr>
        <p:txBody>
          <a:bodyPr wrap="square" lIns="0" tIns="0" rIns="0" bIns="0" rtlCol="0" anchor="ctr"/>
          <a:lstStyle/>
          <a:p>
            <a:pPr algn="ctr" indent="0" marL="0">
              <a:buNone/>
            </a:pPr>
            <a:r>
              <a:rPr lang="en-US" sz="1150" i="1" dirty="0">
                <a:solidFill>
                  <a:srgbClr val="B85042"/>
                </a:solidFill>
                <a:latin typeface="Calibri" pitchFamily="34" charset="0"/>
                <a:ea typeface="Calibri" pitchFamily="34" charset="-122"/>
                <a:cs typeface="Calibri" pitchFamily="34" charset="-120"/>
              </a:rPr>
              <a:t>delete offending values here</a:t>
            </a:r>
            <a:endParaRPr lang="en-US" sz="1150" dirty="0"/>
          </a:p>
        </p:txBody>
      </p:sp>
      <p:sp>
        <p:nvSpPr>
          <p:cNvPr id="17" name="Text 14"/>
          <p:cNvSpPr/>
          <p:nvPr/>
        </p:nvSpPr>
        <p:spPr>
          <a:xfrm>
            <a:off x="502920" y="4800600"/>
            <a:ext cx="5486400" cy="137160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An arc is directed: X -&gt; Y and Y -&gt; X are two separate checks</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To repair an inconsistent arc, delete values from the tail</a:t>
            </a:r>
            <a:endParaRPr lang="en-US" sz="1350" dirty="0"/>
          </a:p>
        </p:txBody>
      </p:sp>
      <p:sp>
        <p:nvSpPr>
          <p:cNvPr id="18" name="Shape 15"/>
          <p:cNvSpPr/>
          <p:nvPr/>
        </p:nvSpPr>
        <p:spPr>
          <a:xfrm>
            <a:off x="6400800" y="2788920"/>
            <a:ext cx="5257800" cy="3063240"/>
          </a:xfrm>
          <a:prstGeom prst="roundRect">
            <a:avLst>
              <a:gd name="adj" fmla="val 1791"/>
            </a:avLst>
          </a:prstGeom>
          <a:solidFill>
            <a:srgbClr val="F1F3F4"/>
          </a:solidFill>
          <a:ln w="9525">
            <a:solidFill>
              <a:srgbClr val="F1F3F4"/>
            </a:solidFill>
            <a:prstDash val="solid"/>
          </a:ln>
        </p:spPr>
      </p:sp>
      <p:sp>
        <p:nvSpPr>
          <p:cNvPr id="19" name="Text 16"/>
          <p:cNvSpPr/>
          <p:nvPr/>
        </p:nvSpPr>
        <p:spPr>
          <a:xfrm>
            <a:off x="6675120" y="2971800"/>
            <a:ext cx="4754880" cy="301752"/>
          </a:xfrm>
          <a:prstGeom prst="rect">
            <a:avLst/>
          </a:prstGeom>
          <a:noFill/>
          <a:ln/>
        </p:spPr>
        <p:txBody>
          <a:bodyPr wrap="square" lIns="0" tIns="0" rIns="0" bIns="0" rtlCol="0" anchor="ctr"/>
          <a:lstStyle/>
          <a:p>
            <a:pPr indent="0" marL="0">
              <a:buNone/>
            </a:pPr>
            <a:r>
              <a:rPr lang="en-US" sz="1500" b="1" dirty="0">
                <a:solidFill>
                  <a:srgbClr val="50808E"/>
                </a:solidFill>
                <a:latin typeface="Calibri" pitchFamily="34" charset="0"/>
                <a:ea typeface="Calibri" pitchFamily="34" charset="-122"/>
                <a:cs typeface="Calibri" pitchFamily="34" charset="-120"/>
              </a:rPr>
              <a:t>Worked example: Y = X squared</a:t>
            </a:r>
            <a:endParaRPr lang="en-US" sz="1500" dirty="0"/>
          </a:p>
        </p:txBody>
      </p:sp>
      <p:sp>
        <p:nvSpPr>
          <p:cNvPr id="20" name="Text 17"/>
          <p:cNvSpPr/>
          <p:nvPr/>
        </p:nvSpPr>
        <p:spPr>
          <a:xfrm>
            <a:off x="6675120" y="3364992"/>
            <a:ext cx="4754880" cy="228600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Both X and Y have domain {0, 1, ..., 9}. Written explicitly, the constraint is the tuple set</a:t>
            </a:r>
            <a:endParaRPr lang="en-US" sz="1250" dirty="0"/>
          </a:p>
          <a:p>
            <a:pPr indent="0" marL="0">
              <a:lnSpc>
                <a:spcPct val="112000"/>
              </a:lnSpc>
              <a:buNone/>
            </a:pPr>
            <a:endParaRPr lang="en-US" sz="1250" dirty="0"/>
          </a:p>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     {(0,0), (1,1), (2,4), (3,9)}</a:t>
            </a:r>
            <a:endParaRPr lang="en-US" sz="1250" dirty="0"/>
          </a:p>
          <a:p>
            <a:pPr indent="0" marL="0">
              <a:lnSpc>
                <a:spcPct val="112000"/>
              </a:lnSpc>
              <a:buNone/>
            </a:pPr>
            <a:endParaRPr lang="en-US" sz="1250" dirty="0"/>
          </a:p>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Make X arc-consistent w.r.t. Y:  X becomes {0, 1, 2, 3}</a:t>
            </a:r>
            <a:endParaRPr lang="en-US" sz="1250" dirty="0"/>
          </a:p>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Make Y arc-consistent w.r.t. X:  Y becomes {0, 1, 4, 9}</a:t>
            </a:r>
            <a:endParaRPr lang="en-US" sz="1250" dirty="0"/>
          </a:p>
          <a:p>
            <a:pPr indent="0" marL="0">
              <a:lnSpc>
                <a:spcPct val="112000"/>
              </a:lnSpc>
              <a:buNone/>
            </a:pPr>
            <a:endParaRPr lang="en-US" sz="1250" dirty="0"/>
          </a:p>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Now the whole CSP is arc-consistent - and we removed twelve values without searching at all.</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6.2.2</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A warning: arc consistency is not magic</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10</a:t>
            </a:r>
            <a:endParaRPr lang="en-US" sz="900" dirty="0"/>
          </a:p>
        </p:txBody>
      </p:sp>
      <p:sp>
        <p:nvSpPr>
          <p:cNvPr id="7" name="Text 4"/>
          <p:cNvSpPr/>
          <p:nvPr/>
        </p:nvSpPr>
        <p:spPr>
          <a:xfrm>
            <a:off x="502920" y="1417320"/>
            <a:ext cx="6675120" cy="822960"/>
          </a:xfrm>
          <a:prstGeom prst="rect">
            <a:avLst/>
          </a:prstGeom>
          <a:noFill/>
          <a:ln/>
        </p:spPr>
        <p:txBody>
          <a:bodyPr wrap="square" lIns="0" tIns="0" rIns="0" bIns="0" rtlCol="0" anchor="t"/>
          <a:lstStyle/>
          <a:p>
            <a:pPr indent="0" marL="0">
              <a:lnSpc>
                <a:spcPct val="112000"/>
              </a:lnSpc>
              <a:buNone/>
            </a:pPr>
            <a:r>
              <a:rPr lang="en-US" sz="1400" dirty="0">
                <a:solidFill>
                  <a:srgbClr val="2B3138"/>
                </a:solidFill>
                <a:latin typeface="Calibri" pitchFamily="34" charset="0"/>
                <a:ea typeface="Calibri" pitchFamily="34" charset="-122"/>
                <a:cs typeface="Calibri" pitchFamily="34" charset="-120"/>
              </a:rPr>
              <a:t>Consider the inequality constraint on (SA, WA) with three colors. Written out, the legal tuples are:</a:t>
            </a:r>
            <a:endParaRPr lang="en-US" sz="1400" dirty="0"/>
          </a:p>
        </p:txBody>
      </p:sp>
      <p:sp>
        <p:nvSpPr>
          <p:cNvPr id="8" name="Shape 5"/>
          <p:cNvSpPr/>
          <p:nvPr/>
        </p:nvSpPr>
        <p:spPr>
          <a:xfrm>
            <a:off x="502920" y="2148840"/>
            <a:ext cx="6675120" cy="868680"/>
          </a:xfrm>
          <a:prstGeom prst="roundRect">
            <a:avLst>
              <a:gd name="adj" fmla="val 6316"/>
            </a:avLst>
          </a:prstGeom>
          <a:solidFill>
            <a:srgbClr val="EDF0F1"/>
          </a:solidFill>
          <a:ln w="9525">
            <a:solidFill>
              <a:srgbClr val="EDF0F1"/>
            </a:solidFill>
            <a:prstDash val="solid"/>
          </a:ln>
        </p:spPr>
      </p:sp>
      <p:sp>
        <p:nvSpPr>
          <p:cNvPr id="9" name="Text 6"/>
          <p:cNvSpPr/>
          <p:nvPr/>
        </p:nvSpPr>
        <p:spPr>
          <a:xfrm>
            <a:off x="704088" y="2295144"/>
            <a:ext cx="6272784" cy="576072"/>
          </a:xfrm>
          <a:prstGeom prst="rect">
            <a:avLst/>
          </a:prstGeom>
          <a:noFill/>
          <a:ln/>
        </p:spPr>
        <p:txBody>
          <a:bodyPr wrap="square" lIns="0" tIns="0" rIns="0" bIns="0" rtlCol="0" anchor="t"/>
          <a:lstStyle/>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(red,green), (red,blue), (green,red),</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(green,blue), (blue,red), (blue,green) }</a:t>
            </a:r>
            <a:endParaRPr lang="en-US" sz="1150" dirty="0"/>
          </a:p>
        </p:txBody>
      </p:sp>
      <p:sp>
        <p:nvSpPr>
          <p:cNvPr id="10" name="Text 7"/>
          <p:cNvSpPr/>
          <p:nvPr/>
        </p:nvSpPr>
        <p:spPr>
          <a:xfrm>
            <a:off x="502920" y="3291840"/>
            <a:ext cx="6675120" cy="237744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Whatever you choose for SA, there is always a legal value left for WA - and vice versa</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So applying arc consistency to the untouched map-coloring problem changes nothing: no domain shrinks</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Filtering pays off only once search has committed to some assignments, or once domains have already been squeezed by something else</a:t>
            </a:r>
            <a:endParaRPr lang="en-US" sz="1400" dirty="0"/>
          </a:p>
        </p:txBody>
      </p:sp>
      <p:sp>
        <p:nvSpPr>
          <p:cNvPr id="11" name="Shape 8"/>
          <p:cNvSpPr/>
          <p:nvPr/>
        </p:nvSpPr>
        <p:spPr>
          <a:xfrm flipV="1">
            <a:off x="8220456" y="2185416"/>
            <a:ext cx="927202" cy="630936"/>
          </a:xfrm>
          <a:prstGeom prst="line">
            <a:avLst/>
          </a:prstGeom>
          <a:noFill/>
          <a:ln w="17780">
            <a:solidFill>
              <a:srgbClr val="AEB9BF"/>
            </a:solidFill>
            <a:prstDash val="solid"/>
          </a:ln>
        </p:spPr>
      </p:sp>
      <p:sp>
        <p:nvSpPr>
          <p:cNvPr id="12" name="Shape 9"/>
          <p:cNvSpPr/>
          <p:nvPr/>
        </p:nvSpPr>
        <p:spPr>
          <a:xfrm>
            <a:off x="8220456" y="2816352"/>
            <a:ext cx="1069848" cy="521208"/>
          </a:xfrm>
          <a:prstGeom prst="line">
            <a:avLst/>
          </a:prstGeom>
          <a:noFill/>
          <a:ln w="17780">
            <a:solidFill>
              <a:srgbClr val="AEB9BF"/>
            </a:solidFill>
            <a:prstDash val="solid"/>
          </a:ln>
        </p:spPr>
      </p:sp>
      <p:sp>
        <p:nvSpPr>
          <p:cNvPr id="13" name="Shape 10"/>
          <p:cNvSpPr/>
          <p:nvPr/>
        </p:nvSpPr>
        <p:spPr>
          <a:xfrm>
            <a:off x="9147658" y="2185416"/>
            <a:ext cx="142646" cy="1152144"/>
          </a:xfrm>
          <a:prstGeom prst="line">
            <a:avLst/>
          </a:prstGeom>
          <a:noFill/>
          <a:ln w="17780">
            <a:solidFill>
              <a:srgbClr val="AEB9BF"/>
            </a:solidFill>
            <a:prstDash val="solid"/>
          </a:ln>
        </p:spPr>
      </p:sp>
      <p:sp>
        <p:nvSpPr>
          <p:cNvPr id="14" name="Shape 11"/>
          <p:cNvSpPr/>
          <p:nvPr/>
        </p:nvSpPr>
        <p:spPr>
          <a:xfrm>
            <a:off x="9147658" y="2185416"/>
            <a:ext cx="1212494" cy="109728"/>
          </a:xfrm>
          <a:prstGeom prst="line">
            <a:avLst/>
          </a:prstGeom>
          <a:noFill/>
          <a:ln w="17780">
            <a:solidFill>
              <a:srgbClr val="AEB9BF"/>
            </a:solidFill>
            <a:prstDash val="solid"/>
          </a:ln>
        </p:spPr>
      </p:sp>
      <p:sp>
        <p:nvSpPr>
          <p:cNvPr id="15" name="Shape 12"/>
          <p:cNvSpPr/>
          <p:nvPr/>
        </p:nvSpPr>
        <p:spPr>
          <a:xfrm flipV="1">
            <a:off x="9290304" y="2295144"/>
            <a:ext cx="1069848" cy="1042416"/>
          </a:xfrm>
          <a:prstGeom prst="line">
            <a:avLst/>
          </a:prstGeom>
          <a:noFill/>
          <a:ln w="17780">
            <a:solidFill>
              <a:srgbClr val="AEB9BF"/>
            </a:solidFill>
            <a:prstDash val="solid"/>
          </a:ln>
        </p:spPr>
      </p:sp>
      <p:sp>
        <p:nvSpPr>
          <p:cNvPr id="16" name="Shape 13"/>
          <p:cNvSpPr/>
          <p:nvPr/>
        </p:nvSpPr>
        <p:spPr>
          <a:xfrm>
            <a:off x="9290304" y="3337560"/>
            <a:ext cx="1212494" cy="0"/>
          </a:xfrm>
          <a:prstGeom prst="line">
            <a:avLst/>
          </a:prstGeom>
          <a:noFill/>
          <a:ln w="17780">
            <a:solidFill>
              <a:srgbClr val="AEB9BF"/>
            </a:solidFill>
            <a:prstDash val="solid"/>
          </a:ln>
        </p:spPr>
      </p:sp>
      <p:sp>
        <p:nvSpPr>
          <p:cNvPr id="17" name="Shape 14"/>
          <p:cNvSpPr/>
          <p:nvPr/>
        </p:nvSpPr>
        <p:spPr>
          <a:xfrm>
            <a:off x="9290304" y="3337560"/>
            <a:ext cx="713232" cy="768096"/>
          </a:xfrm>
          <a:prstGeom prst="line">
            <a:avLst/>
          </a:prstGeom>
          <a:noFill/>
          <a:ln w="17780">
            <a:solidFill>
              <a:srgbClr val="AEB9BF"/>
            </a:solidFill>
            <a:prstDash val="solid"/>
          </a:ln>
        </p:spPr>
      </p:sp>
      <p:sp>
        <p:nvSpPr>
          <p:cNvPr id="18" name="Shape 15"/>
          <p:cNvSpPr/>
          <p:nvPr/>
        </p:nvSpPr>
        <p:spPr>
          <a:xfrm>
            <a:off x="10360152" y="2295144"/>
            <a:ext cx="142646" cy="1042416"/>
          </a:xfrm>
          <a:prstGeom prst="line">
            <a:avLst/>
          </a:prstGeom>
          <a:noFill/>
          <a:ln w="17780">
            <a:solidFill>
              <a:srgbClr val="AEB9BF"/>
            </a:solidFill>
            <a:prstDash val="solid"/>
          </a:ln>
        </p:spPr>
      </p:sp>
      <p:sp>
        <p:nvSpPr>
          <p:cNvPr id="19" name="Shape 16"/>
          <p:cNvSpPr/>
          <p:nvPr/>
        </p:nvSpPr>
        <p:spPr>
          <a:xfrm flipH="1">
            <a:off x="10003536" y="3337560"/>
            <a:ext cx="499262" cy="768096"/>
          </a:xfrm>
          <a:prstGeom prst="line">
            <a:avLst/>
          </a:prstGeom>
          <a:noFill/>
          <a:ln w="17780">
            <a:solidFill>
              <a:srgbClr val="AEB9BF"/>
            </a:solidFill>
            <a:prstDash val="solid"/>
          </a:ln>
        </p:spPr>
      </p:sp>
      <p:sp>
        <p:nvSpPr>
          <p:cNvPr id="20" name="Shape 17"/>
          <p:cNvSpPr/>
          <p:nvPr/>
        </p:nvSpPr>
        <p:spPr>
          <a:xfrm>
            <a:off x="8069580" y="2665476"/>
            <a:ext cx="301752" cy="301752"/>
          </a:xfrm>
          <a:prstGeom prst="ellipse">
            <a:avLst/>
          </a:prstGeom>
          <a:solidFill>
            <a:srgbClr val="E4E9EB"/>
          </a:solidFill>
          <a:ln w="12700">
            <a:solidFill>
              <a:srgbClr val="9FAAB1"/>
            </a:solidFill>
            <a:prstDash val="solid"/>
          </a:ln>
        </p:spPr>
      </p:sp>
      <p:sp>
        <p:nvSpPr>
          <p:cNvPr id="21" name="Text 18"/>
          <p:cNvSpPr/>
          <p:nvPr/>
        </p:nvSpPr>
        <p:spPr>
          <a:xfrm>
            <a:off x="7836408" y="2670048"/>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WA</a:t>
            </a:r>
            <a:endParaRPr lang="en-US" sz="1050" dirty="0"/>
          </a:p>
        </p:txBody>
      </p:sp>
      <p:sp>
        <p:nvSpPr>
          <p:cNvPr id="22" name="Shape 19"/>
          <p:cNvSpPr/>
          <p:nvPr/>
        </p:nvSpPr>
        <p:spPr>
          <a:xfrm>
            <a:off x="8996782" y="2034540"/>
            <a:ext cx="301752" cy="301752"/>
          </a:xfrm>
          <a:prstGeom prst="ellipse">
            <a:avLst/>
          </a:prstGeom>
          <a:solidFill>
            <a:srgbClr val="E4E9EB"/>
          </a:solidFill>
          <a:ln w="12700">
            <a:solidFill>
              <a:srgbClr val="9FAAB1"/>
            </a:solidFill>
            <a:prstDash val="solid"/>
          </a:ln>
        </p:spPr>
      </p:sp>
      <p:sp>
        <p:nvSpPr>
          <p:cNvPr id="23" name="Text 20"/>
          <p:cNvSpPr/>
          <p:nvPr/>
        </p:nvSpPr>
        <p:spPr>
          <a:xfrm>
            <a:off x="8763610" y="2039112"/>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NT</a:t>
            </a:r>
            <a:endParaRPr lang="en-US" sz="1050" dirty="0"/>
          </a:p>
        </p:txBody>
      </p:sp>
      <p:sp>
        <p:nvSpPr>
          <p:cNvPr id="24" name="Shape 21"/>
          <p:cNvSpPr/>
          <p:nvPr/>
        </p:nvSpPr>
        <p:spPr>
          <a:xfrm>
            <a:off x="10209276" y="2144268"/>
            <a:ext cx="301752" cy="301752"/>
          </a:xfrm>
          <a:prstGeom prst="ellipse">
            <a:avLst/>
          </a:prstGeom>
          <a:solidFill>
            <a:srgbClr val="E4E9EB"/>
          </a:solidFill>
          <a:ln w="12700">
            <a:solidFill>
              <a:srgbClr val="9FAAB1"/>
            </a:solidFill>
            <a:prstDash val="solid"/>
          </a:ln>
        </p:spPr>
      </p:sp>
      <p:sp>
        <p:nvSpPr>
          <p:cNvPr id="25" name="Text 22"/>
          <p:cNvSpPr/>
          <p:nvPr/>
        </p:nvSpPr>
        <p:spPr>
          <a:xfrm>
            <a:off x="9976104" y="2148840"/>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Q</a:t>
            </a:r>
            <a:endParaRPr lang="en-US" sz="1050" dirty="0"/>
          </a:p>
        </p:txBody>
      </p:sp>
      <p:sp>
        <p:nvSpPr>
          <p:cNvPr id="26" name="Shape 23"/>
          <p:cNvSpPr/>
          <p:nvPr/>
        </p:nvSpPr>
        <p:spPr>
          <a:xfrm>
            <a:off x="9139428" y="3186684"/>
            <a:ext cx="301752" cy="301752"/>
          </a:xfrm>
          <a:prstGeom prst="ellipse">
            <a:avLst/>
          </a:prstGeom>
          <a:solidFill>
            <a:srgbClr val="E4E9EB"/>
          </a:solidFill>
          <a:ln w="12700">
            <a:solidFill>
              <a:srgbClr val="9FAAB1"/>
            </a:solidFill>
            <a:prstDash val="solid"/>
          </a:ln>
        </p:spPr>
      </p:sp>
      <p:sp>
        <p:nvSpPr>
          <p:cNvPr id="27" name="Text 24"/>
          <p:cNvSpPr/>
          <p:nvPr/>
        </p:nvSpPr>
        <p:spPr>
          <a:xfrm>
            <a:off x="8906256" y="3191256"/>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SA</a:t>
            </a:r>
            <a:endParaRPr lang="en-US" sz="1050" dirty="0"/>
          </a:p>
        </p:txBody>
      </p:sp>
      <p:sp>
        <p:nvSpPr>
          <p:cNvPr id="28" name="Shape 25"/>
          <p:cNvSpPr/>
          <p:nvPr/>
        </p:nvSpPr>
        <p:spPr>
          <a:xfrm>
            <a:off x="10351922" y="3186684"/>
            <a:ext cx="301752" cy="301752"/>
          </a:xfrm>
          <a:prstGeom prst="ellipse">
            <a:avLst/>
          </a:prstGeom>
          <a:solidFill>
            <a:srgbClr val="E4E9EB"/>
          </a:solidFill>
          <a:ln w="12700">
            <a:solidFill>
              <a:srgbClr val="9FAAB1"/>
            </a:solidFill>
            <a:prstDash val="solid"/>
          </a:ln>
        </p:spPr>
      </p:sp>
      <p:sp>
        <p:nvSpPr>
          <p:cNvPr id="29" name="Text 26"/>
          <p:cNvSpPr/>
          <p:nvPr/>
        </p:nvSpPr>
        <p:spPr>
          <a:xfrm>
            <a:off x="10118750" y="3191256"/>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NSW</a:t>
            </a:r>
            <a:endParaRPr lang="en-US" sz="1050" dirty="0"/>
          </a:p>
        </p:txBody>
      </p:sp>
      <p:sp>
        <p:nvSpPr>
          <p:cNvPr id="30" name="Shape 27"/>
          <p:cNvSpPr/>
          <p:nvPr/>
        </p:nvSpPr>
        <p:spPr>
          <a:xfrm>
            <a:off x="9852660" y="3954780"/>
            <a:ext cx="301752" cy="301752"/>
          </a:xfrm>
          <a:prstGeom prst="ellipse">
            <a:avLst/>
          </a:prstGeom>
          <a:solidFill>
            <a:srgbClr val="E4E9EB"/>
          </a:solidFill>
          <a:ln w="12700">
            <a:solidFill>
              <a:srgbClr val="9FAAB1"/>
            </a:solidFill>
            <a:prstDash val="solid"/>
          </a:ln>
        </p:spPr>
      </p:sp>
      <p:sp>
        <p:nvSpPr>
          <p:cNvPr id="31" name="Text 28"/>
          <p:cNvSpPr/>
          <p:nvPr/>
        </p:nvSpPr>
        <p:spPr>
          <a:xfrm>
            <a:off x="9619488" y="3959352"/>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V</a:t>
            </a:r>
            <a:endParaRPr lang="en-US" sz="1050" dirty="0"/>
          </a:p>
        </p:txBody>
      </p:sp>
      <p:sp>
        <p:nvSpPr>
          <p:cNvPr id="32" name="Shape 29"/>
          <p:cNvSpPr/>
          <p:nvPr/>
        </p:nvSpPr>
        <p:spPr>
          <a:xfrm>
            <a:off x="10779862" y="4283964"/>
            <a:ext cx="301752" cy="301752"/>
          </a:xfrm>
          <a:prstGeom prst="ellipse">
            <a:avLst/>
          </a:prstGeom>
          <a:solidFill>
            <a:srgbClr val="E4E9EB"/>
          </a:solidFill>
          <a:ln w="12700">
            <a:solidFill>
              <a:srgbClr val="9FAAB1"/>
            </a:solidFill>
            <a:prstDash val="solid"/>
          </a:ln>
        </p:spPr>
      </p:sp>
      <p:sp>
        <p:nvSpPr>
          <p:cNvPr id="33" name="Text 30"/>
          <p:cNvSpPr/>
          <p:nvPr/>
        </p:nvSpPr>
        <p:spPr>
          <a:xfrm>
            <a:off x="10546690" y="4288536"/>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T</a:t>
            </a:r>
            <a:endParaRPr lang="en-US" sz="1050" dirty="0"/>
          </a:p>
        </p:txBody>
      </p:sp>
      <p:sp>
        <p:nvSpPr>
          <p:cNvPr id="34" name="Shape 31"/>
          <p:cNvSpPr/>
          <p:nvPr/>
        </p:nvSpPr>
        <p:spPr>
          <a:xfrm>
            <a:off x="7589520" y="5074920"/>
            <a:ext cx="4069080" cy="777240"/>
          </a:xfrm>
          <a:prstGeom prst="roundRect">
            <a:avLst>
              <a:gd name="adj" fmla="val 7059"/>
            </a:avLst>
          </a:prstGeom>
          <a:solidFill>
            <a:srgbClr val="F1F3F4"/>
          </a:solidFill>
          <a:ln w="9525">
            <a:solidFill>
              <a:srgbClr val="F1F3F4"/>
            </a:solidFill>
            <a:prstDash val="solid"/>
          </a:ln>
        </p:spPr>
      </p:sp>
      <p:sp>
        <p:nvSpPr>
          <p:cNvPr id="35" name="Text 32"/>
          <p:cNvSpPr/>
          <p:nvPr/>
        </p:nvSpPr>
        <p:spPr>
          <a:xfrm>
            <a:off x="7818120" y="5093208"/>
            <a:ext cx="3611880" cy="740664"/>
          </a:xfrm>
          <a:prstGeom prst="rect">
            <a:avLst/>
          </a:prstGeom>
          <a:noFill/>
          <a:ln/>
        </p:spPr>
        <p:txBody>
          <a:bodyPr wrap="square" lIns="0" tIns="0" rIns="0" bIns="0" rtlCol="0" anchor="ctr"/>
          <a:lstStyle/>
          <a:p>
            <a:pPr indent="0" marL="0">
              <a:buNone/>
            </a:pPr>
            <a:r>
              <a:rPr lang="en-US" sz="1400" b="1" dirty="0">
                <a:solidFill>
                  <a:srgbClr val="6E7A83"/>
                </a:solidFill>
                <a:latin typeface="Calibri" pitchFamily="34" charset="0"/>
                <a:ea typeface="Calibri" pitchFamily="34" charset="-122"/>
                <a:cs typeface="Calibri" pitchFamily="34" charset="-120"/>
              </a:rPr>
              <a:t>Zero values pruned. Every constraint is individually satisfiable.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WORKED TRACE - 1 OF 4</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Arc consistency in the middle of a search</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11</a:t>
            </a:r>
            <a:endParaRPr lang="en-US" sz="900" dirty="0"/>
          </a:p>
        </p:txBody>
      </p:sp>
      <p:sp>
        <p:nvSpPr>
          <p:cNvPr id="7" name="Text 4"/>
          <p:cNvSpPr/>
          <p:nvPr/>
        </p:nvSpPr>
        <p:spPr>
          <a:xfrm>
            <a:off x="502920" y="1371600"/>
            <a:ext cx="6766560" cy="457200"/>
          </a:xfrm>
          <a:prstGeom prst="rect">
            <a:avLst/>
          </a:prstGeom>
          <a:noFill/>
          <a:ln/>
        </p:spPr>
        <p:txBody>
          <a:bodyPr wrap="square" lIns="0" tIns="0" rIns="0" bIns="0" rtlCol="0" anchor="t"/>
          <a:lstStyle/>
          <a:p>
            <a:pPr indent="0" marL="0">
              <a:lnSpc>
                <a:spcPct val="112000"/>
              </a:lnSpc>
              <a:buNone/>
            </a:pPr>
            <a:r>
              <a:rPr lang="en-US" sz="1400" b="1" dirty="0">
                <a:solidFill>
                  <a:srgbClr val="22303A"/>
                </a:solidFill>
                <a:latin typeface="Calibri" pitchFamily="34" charset="0"/>
                <a:ea typeface="Calibri" pitchFamily="34" charset="-122"/>
                <a:cs typeface="Calibri" pitchFamily="34" charset="-120"/>
              </a:rPr>
              <a:t>State: WA = red and Q = green are assigned. Earlier filtering has already pruned some domains.</a:t>
            </a:r>
            <a:endParaRPr lang="en-US" sz="1400" dirty="0"/>
          </a:p>
        </p:txBody>
      </p:sp>
      <p:sp>
        <p:nvSpPr>
          <p:cNvPr id="8" name="Shape 5"/>
          <p:cNvSpPr/>
          <p:nvPr/>
        </p:nvSpPr>
        <p:spPr>
          <a:xfrm flipV="1">
            <a:off x="8138160" y="2243023"/>
            <a:ext cx="950976" cy="651967"/>
          </a:xfrm>
          <a:prstGeom prst="line">
            <a:avLst/>
          </a:prstGeom>
          <a:noFill/>
          <a:ln w="17780">
            <a:solidFill>
              <a:srgbClr val="AEB9BF"/>
            </a:solidFill>
            <a:prstDash val="solid"/>
          </a:ln>
        </p:spPr>
      </p:sp>
      <p:sp>
        <p:nvSpPr>
          <p:cNvPr id="9" name="Shape 6"/>
          <p:cNvSpPr/>
          <p:nvPr/>
        </p:nvSpPr>
        <p:spPr>
          <a:xfrm>
            <a:off x="8138160" y="2894990"/>
            <a:ext cx="1097280" cy="538582"/>
          </a:xfrm>
          <a:prstGeom prst="line">
            <a:avLst/>
          </a:prstGeom>
          <a:noFill/>
          <a:ln w="17780">
            <a:solidFill>
              <a:srgbClr val="AEB9BF"/>
            </a:solidFill>
            <a:prstDash val="solid"/>
          </a:ln>
        </p:spPr>
      </p:sp>
      <p:sp>
        <p:nvSpPr>
          <p:cNvPr id="10" name="Shape 7"/>
          <p:cNvSpPr/>
          <p:nvPr/>
        </p:nvSpPr>
        <p:spPr>
          <a:xfrm>
            <a:off x="9089136" y="2243023"/>
            <a:ext cx="146304" cy="1190549"/>
          </a:xfrm>
          <a:prstGeom prst="line">
            <a:avLst/>
          </a:prstGeom>
          <a:noFill/>
          <a:ln w="17780">
            <a:solidFill>
              <a:srgbClr val="AEB9BF"/>
            </a:solidFill>
            <a:prstDash val="solid"/>
          </a:ln>
        </p:spPr>
      </p:sp>
      <p:sp>
        <p:nvSpPr>
          <p:cNvPr id="11" name="Shape 8"/>
          <p:cNvSpPr/>
          <p:nvPr/>
        </p:nvSpPr>
        <p:spPr>
          <a:xfrm>
            <a:off x="9089136" y="2243023"/>
            <a:ext cx="1243584" cy="113386"/>
          </a:xfrm>
          <a:prstGeom prst="line">
            <a:avLst/>
          </a:prstGeom>
          <a:noFill/>
          <a:ln w="17780">
            <a:solidFill>
              <a:srgbClr val="AEB9BF"/>
            </a:solidFill>
            <a:prstDash val="solid"/>
          </a:ln>
        </p:spPr>
      </p:sp>
      <p:sp>
        <p:nvSpPr>
          <p:cNvPr id="12" name="Shape 9"/>
          <p:cNvSpPr/>
          <p:nvPr/>
        </p:nvSpPr>
        <p:spPr>
          <a:xfrm flipV="1">
            <a:off x="9235440" y="2356409"/>
            <a:ext cx="1097280" cy="1077163"/>
          </a:xfrm>
          <a:prstGeom prst="line">
            <a:avLst/>
          </a:prstGeom>
          <a:noFill/>
          <a:ln w="17780">
            <a:solidFill>
              <a:srgbClr val="AEB9BF"/>
            </a:solidFill>
            <a:prstDash val="solid"/>
          </a:ln>
        </p:spPr>
      </p:sp>
      <p:sp>
        <p:nvSpPr>
          <p:cNvPr id="13" name="Shape 10"/>
          <p:cNvSpPr/>
          <p:nvPr/>
        </p:nvSpPr>
        <p:spPr>
          <a:xfrm>
            <a:off x="9235440" y="3433572"/>
            <a:ext cx="1243584" cy="0"/>
          </a:xfrm>
          <a:prstGeom prst="line">
            <a:avLst/>
          </a:prstGeom>
          <a:noFill/>
          <a:ln w="17780">
            <a:solidFill>
              <a:srgbClr val="AEB9BF"/>
            </a:solidFill>
            <a:prstDash val="solid"/>
          </a:ln>
        </p:spPr>
      </p:sp>
      <p:sp>
        <p:nvSpPr>
          <p:cNvPr id="14" name="Shape 11"/>
          <p:cNvSpPr/>
          <p:nvPr/>
        </p:nvSpPr>
        <p:spPr>
          <a:xfrm>
            <a:off x="9235440" y="3433572"/>
            <a:ext cx="731520" cy="793699"/>
          </a:xfrm>
          <a:prstGeom prst="line">
            <a:avLst/>
          </a:prstGeom>
          <a:noFill/>
          <a:ln w="17780">
            <a:solidFill>
              <a:srgbClr val="AEB9BF"/>
            </a:solidFill>
            <a:prstDash val="solid"/>
          </a:ln>
        </p:spPr>
      </p:sp>
      <p:sp>
        <p:nvSpPr>
          <p:cNvPr id="15" name="Shape 12"/>
          <p:cNvSpPr/>
          <p:nvPr/>
        </p:nvSpPr>
        <p:spPr>
          <a:xfrm>
            <a:off x="10332720" y="2356409"/>
            <a:ext cx="146304" cy="1077163"/>
          </a:xfrm>
          <a:prstGeom prst="line">
            <a:avLst/>
          </a:prstGeom>
          <a:noFill/>
          <a:ln w="17780">
            <a:solidFill>
              <a:srgbClr val="AEB9BF"/>
            </a:solidFill>
            <a:prstDash val="solid"/>
          </a:ln>
        </p:spPr>
      </p:sp>
      <p:sp>
        <p:nvSpPr>
          <p:cNvPr id="16" name="Shape 13"/>
          <p:cNvSpPr/>
          <p:nvPr/>
        </p:nvSpPr>
        <p:spPr>
          <a:xfrm flipH="1">
            <a:off x="9966960" y="3433572"/>
            <a:ext cx="512064" cy="793699"/>
          </a:xfrm>
          <a:prstGeom prst="line">
            <a:avLst/>
          </a:prstGeom>
          <a:noFill/>
          <a:ln w="17780">
            <a:solidFill>
              <a:srgbClr val="AEB9BF"/>
            </a:solidFill>
            <a:prstDash val="solid"/>
          </a:ln>
        </p:spPr>
      </p:sp>
      <p:sp>
        <p:nvSpPr>
          <p:cNvPr id="17" name="Shape 14"/>
          <p:cNvSpPr/>
          <p:nvPr/>
        </p:nvSpPr>
        <p:spPr>
          <a:xfrm>
            <a:off x="7987284" y="2744114"/>
            <a:ext cx="301752" cy="301752"/>
          </a:xfrm>
          <a:prstGeom prst="ellipse">
            <a:avLst/>
          </a:prstGeom>
          <a:solidFill>
            <a:srgbClr val="B85042"/>
          </a:solidFill>
          <a:ln w="12700">
            <a:solidFill>
              <a:srgbClr val="B85042"/>
            </a:solidFill>
            <a:prstDash val="solid"/>
          </a:ln>
        </p:spPr>
      </p:sp>
      <p:sp>
        <p:nvSpPr>
          <p:cNvPr id="18" name="Text 15"/>
          <p:cNvSpPr/>
          <p:nvPr/>
        </p:nvSpPr>
        <p:spPr>
          <a:xfrm>
            <a:off x="7754112" y="2748686"/>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WA</a:t>
            </a:r>
            <a:endParaRPr lang="en-US" sz="1050" dirty="0"/>
          </a:p>
        </p:txBody>
      </p:sp>
      <p:sp>
        <p:nvSpPr>
          <p:cNvPr id="19" name="Shape 16"/>
          <p:cNvSpPr/>
          <p:nvPr/>
        </p:nvSpPr>
        <p:spPr>
          <a:xfrm>
            <a:off x="8938260" y="2092147"/>
            <a:ext cx="301752" cy="301752"/>
          </a:xfrm>
          <a:prstGeom prst="ellipse">
            <a:avLst/>
          </a:prstGeom>
          <a:solidFill>
            <a:srgbClr val="E4E9EB"/>
          </a:solidFill>
          <a:ln w="12700">
            <a:solidFill>
              <a:srgbClr val="9FAAB1"/>
            </a:solidFill>
            <a:prstDash val="solid"/>
          </a:ln>
        </p:spPr>
      </p:sp>
      <p:sp>
        <p:nvSpPr>
          <p:cNvPr id="20" name="Text 17"/>
          <p:cNvSpPr/>
          <p:nvPr/>
        </p:nvSpPr>
        <p:spPr>
          <a:xfrm>
            <a:off x="8705088" y="2096719"/>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NT</a:t>
            </a:r>
            <a:endParaRPr lang="en-US" sz="1050" dirty="0"/>
          </a:p>
        </p:txBody>
      </p:sp>
      <p:sp>
        <p:nvSpPr>
          <p:cNvPr id="21" name="Shape 18"/>
          <p:cNvSpPr/>
          <p:nvPr/>
        </p:nvSpPr>
        <p:spPr>
          <a:xfrm>
            <a:off x="10181844" y="2205533"/>
            <a:ext cx="301752" cy="301752"/>
          </a:xfrm>
          <a:prstGeom prst="ellipse">
            <a:avLst/>
          </a:prstGeom>
          <a:solidFill>
            <a:srgbClr val="6E8B5A"/>
          </a:solidFill>
          <a:ln w="12700">
            <a:solidFill>
              <a:srgbClr val="6E8B5A"/>
            </a:solidFill>
            <a:prstDash val="solid"/>
          </a:ln>
        </p:spPr>
      </p:sp>
      <p:sp>
        <p:nvSpPr>
          <p:cNvPr id="22" name="Text 19"/>
          <p:cNvSpPr/>
          <p:nvPr/>
        </p:nvSpPr>
        <p:spPr>
          <a:xfrm>
            <a:off x="9948672" y="2210105"/>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a:t>
            </a:r>
            <a:endParaRPr lang="en-US" sz="1050" dirty="0"/>
          </a:p>
        </p:txBody>
      </p:sp>
      <p:sp>
        <p:nvSpPr>
          <p:cNvPr id="23" name="Shape 20"/>
          <p:cNvSpPr/>
          <p:nvPr/>
        </p:nvSpPr>
        <p:spPr>
          <a:xfrm>
            <a:off x="9084564" y="3282696"/>
            <a:ext cx="301752" cy="301752"/>
          </a:xfrm>
          <a:prstGeom prst="ellipse">
            <a:avLst/>
          </a:prstGeom>
          <a:solidFill>
            <a:srgbClr val="E4E9EB"/>
          </a:solidFill>
          <a:ln w="12700">
            <a:solidFill>
              <a:srgbClr val="9FAAB1"/>
            </a:solidFill>
            <a:prstDash val="solid"/>
          </a:ln>
        </p:spPr>
      </p:sp>
      <p:sp>
        <p:nvSpPr>
          <p:cNvPr id="24" name="Text 21"/>
          <p:cNvSpPr/>
          <p:nvPr/>
        </p:nvSpPr>
        <p:spPr>
          <a:xfrm>
            <a:off x="8851392" y="3287268"/>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SA</a:t>
            </a:r>
            <a:endParaRPr lang="en-US" sz="1050" dirty="0"/>
          </a:p>
        </p:txBody>
      </p:sp>
      <p:sp>
        <p:nvSpPr>
          <p:cNvPr id="25" name="Shape 22"/>
          <p:cNvSpPr/>
          <p:nvPr/>
        </p:nvSpPr>
        <p:spPr>
          <a:xfrm>
            <a:off x="10328148" y="3282696"/>
            <a:ext cx="301752" cy="301752"/>
          </a:xfrm>
          <a:prstGeom prst="ellipse">
            <a:avLst/>
          </a:prstGeom>
          <a:solidFill>
            <a:srgbClr val="E4E9EB"/>
          </a:solidFill>
          <a:ln w="12700">
            <a:solidFill>
              <a:srgbClr val="9FAAB1"/>
            </a:solidFill>
            <a:prstDash val="solid"/>
          </a:ln>
        </p:spPr>
      </p:sp>
      <p:sp>
        <p:nvSpPr>
          <p:cNvPr id="26" name="Text 23"/>
          <p:cNvSpPr/>
          <p:nvPr/>
        </p:nvSpPr>
        <p:spPr>
          <a:xfrm>
            <a:off x="10094976" y="3287268"/>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NSW</a:t>
            </a:r>
            <a:endParaRPr lang="en-US" sz="1050" dirty="0"/>
          </a:p>
        </p:txBody>
      </p:sp>
      <p:sp>
        <p:nvSpPr>
          <p:cNvPr id="27" name="Shape 24"/>
          <p:cNvSpPr/>
          <p:nvPr/>
        </p:nvSpPr>
        <p:spPr>
          <a:xfrm>
            <a:off x="9816084" y="4076395"/>
            <a:ext cx="301752" cy="301752"/>
          </a:xfrm>
          <a:prstGeom prst="ellipse">
            <a:avLst/>
          </a:prstGeom>
          <a:solidFill>
            <a:srgbClr val="E4E9EB"/>
          </a:solidFill>
          <a:ln w="12700">
            <a:solidFill>
              <a:srgbClr val="9FAAB1"/>
            </a:solidFill>
            <a:prstDash val="solid"/>
          </a:ln>
        </p:spPr>
      </p:sp>
      <p:sp>
        <p:nvSpPr>
          <p:cNvPr id="28" name="Text 25"/>
          <p:cNvSpPr/>
          <p:nvPr/>
        </p:nvSpPr>
        <p:spPr>
          <a:xfrm>
            <a:off x="9582912" y="4080967"/>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V</a:t>
            </a:r>
            <a:endParaRPr lang="en-US" sz="1050" dirty="0"/>
          </a:p>
        </p:txBody>
      </p:sp>
      <p:sp>
        <p:nvSpPr>
          <p:cNvPr id="29" name="Shape 26"/>
          <p:cNvSpPr/>
          <p:nvPr/>
        </p:nvSpPr>
        <p:spPr>
          <a:xfrm>
            <a:off x="10767060" y="4416552"/>
            <a:ext cx="301752" cy="301752"/>
          </a:xfrm>
          <a:prstGeom prst="ellipse">
            <a:avLst/>
          </a:prstGeom>
          <a:solidFill>
            <a:srgbClr val="E4E9EB"/>
          </a:solidFill>
          <a:ln w="12700">
            <a:solidFill>
              <a:srgbClr val="9FAAB1"/>
            </a:solidFill>
            <a:prstDash val="solid"/>
          </a:ln>
        </p:spPr>
      </p:sp>
      <p:sp>
        <p:nvSpPr>
          <p:cNvPr id="30" name="Text 27"/>
          <p:cNvSpPr/>
          <p:nvPr/>
        </p:nvSpPr>
        <p:spPr>
          <a:xfrm>
            <a:off x="10533888" y="4421124"/>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T</a:t>
            </a:r>
            <a:endParaRPr lang="en-US" sz="1050" dirty="0"/>
          </a:p>
        </p:txBody>
      </p:sp>
      <p:sp>
        <p:nvSpPr>
          <p:cNvPr id="31" name="Text 28"/>
          <p:cNvSpPr/>
          <p:nvPr/>
        </p:nvSpPr>
        <p:spPr>
          <a:xfrm>
            <a:off x="777240" y="1965960"/>
            <a:ext cx="566928" cy="274320"/>
          </a:xfrm>
          <a:prstGeom prst="rect">
            <a:avLst/>
          </a:prstGeom>
          <a:noFill/>
          <a:ln/>
        </p:spPr>
        <p:txBody>
          <a:bodyPr wrap="square" lIns="0" tIns="0" rIns="0" bIns="0" rtlCol="0" anchor="ctr"/>
          <a:lstStyle/>
          <a:p>
            <a:pPr indent="0" marL="0">
              <a:buNone/>
            </a:pPr>
            <a:r>
              <a:rPr lang="en-US" sz="1250" b="1" dirty="0">
                <a:solidFill>
                  <a:srgbClr val="22303A"/>
                </a:solidFill>
                <a:latin typeface="Calibri" pitchFamily="34" charset="0"/>
                <a:ea typeface="Calibri" pitchFamily="34" charset="-122"/>
                <a:cs typeface="Calibri" pitchFamily="34" charset="-120"/>
              </a:rPr>
              <a:t>WA</a:t>
            </a:r>
            <a:endParaRPr lang="en-US" sz="1250" dirty="0"/>
          </a:p>
        </p:txBody>
      </p:sp>
      <p:sp>
        <p:nvSpPr>
          <p:cNvPr id="32" name="Shape 29"/>
          <p:cNvSpPr/>
          <p:nvPr/>
        </p:nvSpPr>
        <p:spPr>
          <a:xfrm>
            <a:off x="1380744" y="1988820"/>
            <a:ext cx="292608" cy="228600"/>
          </a:xfrm>
          <a:prstGeom prst="roundRect">
            <a:avLst>
              <a:gd name="adj" fmla="val 16000"/>
            </a:avLst>
          </a:prstGeom>
          <a:solidFill>
            <a:srgbClr val="B85042"/>
          </a:solidFill>
          <a:ln w="9525">
            <a:solidFill>
              <a:srgbClr val="B85042"/>
            </a:solidFill>
            <a:prstDash val="solid"/>
          </a:ln>
        </p:spPr>
      </p:sp>
      <p:sp>
        <p:nvSpPr>
          <p:cNvPr id="33" name="Text 30"/>
          <p:cNvSpPr/>
          <p:nvPr/>
        </p:nvSpPr>
        <p:spPr>
          <a:xfrm>
            <a:off x="1380744" y="1988820"/>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a:t>
            </a:r>
            <a:endParaRPr lang="en-US" sz="1050" dirty="0"/>
          </a:p>
        </p:txBody>
      </p:sp>
      <p:sp>
        <p:nvSpPr>
          <p:cNvPr id="34" name="Shape 31"/>
          <p:cNvSpPr/>
          <p:nvPr/>
        </p:nvSpPr>
        <p:spPr>
          <a:xfrm>
            <a:off x="1728216" y="1988820"/>
            <a:ext cx="292608" cy="228600"/>
          </a:xfrm>
          <a:prstGeom prst="roundRect">
            <a:avLst>
              <a:gd name="adj" fmla="val 16000"/>
            </a:avLst>
          </a:prstGeom>
          <a:solidFill>
            <a:srgbClr val="EDEFF0"/>
          </a:solidFill>
          <a:ln w="9525">
            <a:solidFill>
              <a:srgbClr val="DCE0E2"/>
            </a:solidFill>
            <a:prstDash val="solid"/>
          </a:ln>
        </p:spPr>
      </p:sp>
      <p:sp>
        <p:nvSpPr>
          <p:cNvPr id="35" name="Text 32"/>
          <p:cNvSpPr/>
          <p:nvPr/>
        </p:nvSpPr>
        <p:spPr>
          <a:xfrm>
            <a:off x="1728216" y="1988820"/>
            <a:ext cx="292608" cy="228600"/>
          </a:xfrm>
          <a:prstGeom prst="rect">
            <a:avLst/>
          </a:prstGeom>
          <a:noFill/>
          <a:ln/>
        </p:spPr>
        <p:txBody>
          <a:bodyPr wrap="square" lIns="0" tIns="0" rIns="0" bIns="0" rtlCol="0" anchor="ctr"/>
          <a:lstStyle/>
          <a:p>
            <a:pPr algn="ctr" indent="0" marL="0">
              <a:buNone/>
            </a:pPr>
            <a:r>
              <a:rPr lang="en-US" sz="1050" b="1" dirty="0">
                <a:solidFill>
                  <a:srgbClr val="B6BEC2"/>
                </a:solidFill>
                <a:latin typeface="Calibri" pitchFamily="34" charset="0"/>
                <a:ea typeface="Calibri" pitchFamily="34" charset="-122"/>
                <a:cs typeface="Calibri" pitchFamily="34" charset="-120"/>
              </a:rPr>
              <a:t>G</a:t>
            </a:r>
            <a:endParaRPr lang="en-US" sz="1050" dirty="0"/>
          </a:p>
        </p:txBody>
      </p:sp>
      <p:sp>
        <p:nvSpPr>
          <p:cNvPr id="36" name="Shape 33"/>
          <p:cNvSpPr/>
          <p:nvPr/>
        </p:nvSpPr>
        <p:spPr>
          <a:xfrm>
            <a:off x="2075688" y="1988820"/>
            <a:ext cx="292608" cy="228600"/>
          </a:xfrm>
          <a:prstGeom prst="roundRect">
            <a:avLst>
              <a:gd name="adj" fmla="val 16000"/>
            </a:avLst>
          </a:prstGeom>
          <a:solidFill>
            <a:srgbClr val="EDEFF0"/>
          </a:solidFill>
          <a:ln w="9525">
            <a:solidFill>
              <a:srgbClr val="DCE0E2"/>
            </a:solidFill>
            <a:prstDash val="solid"/>
          </a:ln>
        </p:spPr>
      </p:sp>
      <p:sp>
        <p:nvSpPr>
          <p:cNvPr id="37" name="Text 34"/>
          <p:cNvSpPr/>
          <p:nvPr/>
        </p:nvSpPr>
        <p:spPr>
          <a:xfrm>
            <a:off x="2075688" y="1988820"/>
            <a:ext cx="292608" cy="228600"/>
          </a:xfrm>
          <a:prstGeom prst="rect">
            <a:avLst/>
          </a:prstGeom>
          <a:noFill/>
          <a:ln/>
        </p:spPr>
        <p:txBody>
          <a:bodyPr wrap="square" lIns="0" tIns="0" rIns="0" bIns="0" rtlCol="0" anchor="ctr"/>
          <a:lstStyle/>
          <a:p>
            <a:pPr algn="ctr" indent="0" marL="0">
              <a:buNone/>
            </a:pPr>
            <a:r>
              <a:rPr lang="en-US" sz="1050" b="1" dirty="0">
                <a:solidFill>
                  <a:srgbClr val="B6BEC2"/>
                </a:solidFill>
                <a:latin typeface="Calibri" pitchFamily="34" charset="0"/>
                <a:ea typeface="Calibri" pitchFamily="34" charset="-122"/>
                <a:cs typeface="Calibri" pitchFamily="34" charset="-120"/>
              </a:rPr>
              <a:t>B</a:t>
            </a:r>
            <a:endParaRPr lang="en-US" sz="1050" dirty="0"/>
          </a:p>
        </p:txBody>
      </p:sp>
      <p:sp>
        <p:nvSpPr>
          <p:cNvPr id="38" name="Text 35"/>
          <p:cNvSpPr/>
          <p:nvPr/>
        </p:nvSpPr>
        <p:spPr>
          <a:xfrm>
            <a:off x="2514600" y="1965960"/>
            <a:ext cx="4663440" cy="274320"/>
          </a:xfrm>
          <a:prstGeom prst="rect">
            <a:avLst/>
          </a:prstGeom>
          <a:noFill/>
          <a:ln/>
        </p:spPr>
        <p:txBody>
          <a:bodyPr wrap="square" lIns="0" tIns="0" rIns="0" bIns="0" rtlCol="0" anchor="ctr"/>
          <a:lstStyle/>
          <a:p>
            <a:pPr indent="0" marL="0">
              <a:buNone/>
            </a:pPr>
            <a:r>
              <a:rPr lang="en-US" sz="1150" i="1" dirty="0">
                <a:solidFill>
                  <a:srgbClr val="6E7A83"/>
                </a:solidFill>
                <a:latin typeface="Calibri" pitchFamily="34" charset="0"/>
                <a:ea typeface="Calibri" pitchFamily="34" charset="-122"/>
                <a:cs typeface="Calibri" pitchFamily="34" charset="-120"/>
              </a:rPr>
              <a:t>assigned red</a:t>
            </a:r>
            <a:endParaRPr lang="en-US" sz="1150" dirty="0"/>
          </a:p>
        </p:txBody>
      </p:sp>
      <p:sp>
        <p:nvSpPr>
          <p:cNvPr id="39" name="Text 36"/>
          <p:cNvSpPr/>
          <p:nvPr/>
        </p:nvSpPr>
        <p:spPr>
          <a:xfrm>
            <a:off x="777240" y="2468880"/>
            <a:ext cx="566928" cy="274320"/>
          </a:xfrm>
          <a:prstGeom prst="rect">
            <a:avLst/>
          </a:prstGeom>
          <a:noFill/>
          <a:ln/>
        </p:spPr>
        <p:txBody>
          <a:bodyPr wrap="square" lIns="0" tIns="0" rIns="0" bIns="0" rtlCol="0" anchor="ctr"/>
          <a:lstStyle/>
          <a:p>
            <a:pPr indent="0" marL="0">
              <a:buNone/>
            </a:pPr>
            <a:r>
              <a:rPr lang="en-US" sz="1250" b="1" dirty="0">
                <a:solidFill>
                  <a:srgbClr val="22303A"/>
                </a:solidFill>
                <a:latin typeface="Calibri" pitchFamily="34" charset="0"/>
                <a:ea typeface="Calibri" pitchFamily="34" charset="-122"/>
                <a:cs typeface="Calibri" pitchFamily="34" charset="-120"/>
              </a:rPr>
              <a:t>NT</a:t>
            </a:r>
            <a:endParaRPr lang="en-US" sz="1250" dirty="0"/>
          </a:p>
        </p:txBody>
      </p:sp>
      <p:sp>
        <p:nvSpPr>
          <p:cNvPr id="40" name="Shape 37"/>
          <p:cNvSpPr/>
          <p:nvPr/>
        </p:nvSpPr>
        <p:spPr>
          <a:xfrm>
            <a:off x="1380744" y="2491740"/>
            <a:ext cx="292608" cy="228600"/>
          </a:xfrm>
          <a:prstGeom prst="roundRect">
            <a:avLst>
              <a:gd name="adj" fmla="val 16000"/>
            </a:avLst>
          </a:prstGeom>
          <a:solidFill>
            <a:srgbClr val="EDEFF0"/>
          </a:solidFill>
          <a:ln w="9525">
            <a:solidFill>
              <a:srgbClr val="DCE0E2"/>
            </a:solidFill>
            <a:prstDash val="solid"/>
          </a:ln>
        </p:spPr>
      </p:sp>
      <p:sp>
        <p:nvSpPr>
          <p:cNvPr id="41" name="Text 38"/>
          <p:cNvSpPr/>
          <p:nvPr/>
        </p:nvSpPr>
        <p:spPr>
          <a:xfrm>
            <a:off x="1380744" y="2491740"/>
            <a:ext cx="292608" cy="228600"/>
          </a:xfrm>
          <a:prstGeom prst="rect">
            <a:avLst/>
          </a:prstGeom>
          <a:noFill/>
          <a:ln/>
        </p:spPr>
        <p:txBody>
          <a:bodyPr wrap="square" lIns="0" tIns="0" rIns="0" bIns="0" rtlCol="0" anchor="ctr"/>
          <a:lstStyle/>
          <a:p>
            <a:pPr algn="ctr" indent="0" marL="0">
              <a:buNone/>
            </a:pPr>
            <a:r>
              <a:rPr lang="en-US" sz="1050" b="1" dirty="0">
                <a:solidFill>
                  <a:srgbClr val="B6BEC2"/>
                </a:solidFill>
                <a:latin typeface="Calibri" pitchFamily="34" charset="0"/>
                <a:ea typeface="Calibri" pitchFamily="34" charset="-122"/>
                <a:cs typeface="Calibri" pitchFamily="34" charset="-120"/>
              </a:rPr>
              <a:t>R</a:t>
            </a:r>
            <a:endParaRPr lang="en-US" sz="1050" dirty="0"/>
          </a:p>
        </p:txBody>
      </p:sp>
      <p:sp>
        <p:nvSpPr>
          <p:cNvPr id="42" name="Shape 39"/>
          <p:cNvSpPr/>
          <p:nvPr/>
        </p:nvSpPr>
        <p:spPr>
          <a:xfrm>
            <a:off x="1728216" y="2491740"/>
            <a:ext cx="292608" cy="228600"/>
          </a:xfrm>
          <a:prstGeom prst="roundRect">
            <a:avLst>
              <a:gd name="adj" fmla="val 16000"/>
            </a:avLst>
          </a:prstGeom>
          <a:solidFill>
            <a:srgbClr val="6E8B5A"/>
          </a:solidFill>
          <a:ln w="9525">
            <a:solidFill>
              <a:srgbClr val="6E8B5A"/>
            </a:solidFill>
            <a:prstDash val="solid"/>
          </a:ln>
        </p:spPr>
      </p:sp>
      <p:sp>
        <p:nvSpPr>
          <p:cNvPr id="43" name="Text 40"/>
          <p:cNvSpPr/>
          <p:nvPr/>
        </p:nvSpPr>
        <p:spPr>
          <a:xfrm>
            <a:off x="1728216" y="2491740"/>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a:t>
            </a:r>
            <a:endParaRPr lang="en-US" sz="1050" dirty="0"/>
          </a:p>
        </p:txBody>
      </p:sp>
      <p:sp>
        <p:nvSpPr>
          <p:cNvPr id="44" name="Shape 41"/>
          <p:cNvSpPr/>
          <p:nvPr/>
        </p:nvSpPr>
        <p:spPr>
          <a:xfrm>
            <a:off x="2075688" y="2491740"/>
            <a:ext cx="292608" cy="228600"/>
          </a:xfrm>
          <a:prstGeom prst="roundRect">
            <a:avLst>
              <a:gd name="adj" fmla="val 16000"/>
            </a:avLst>
          </a:prstGeom>
          <a:solidFill>
            <a:srgbClr val="50808E"/>
          </a:solidFill>
          <a:ln w="9525">
            <a:solidFill>
              <a:srgbClr val="50808E"/>
            </a:solidFill>
            <a:prstDash val="solid"/>
          </a:ln>
        </p:spPr>
      </p:sp>
      <p:sp>
        <p:nvSpPr>
          <p:cNvPr id="45" name="Text 42"/>
          <p:cNvSpPr/>
          <p:nvPr/>
        </p:nvSpPr>
        <p:spPr>
          <a:xfrm>
            <a:off x="2075688" y="2491740"/>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t>
            </a:r>
            <a:endParaRPr lang="en-US" sz="1050" dirty="0"/>
          </a:p>
        </p:txBody>
      </p:sp>
      <p:sp>
        <p:nvSpPr>
          <p:cNvPr id="46" name="Text 43"/>
          <p:cNvSpPr/>
          <p:nvPr/>
        </p:nvSpPr>
        <p:spPr>
          <a:xfrm>
            <a:off x="2514600" y="2468880"/>
            <a:ext cx="4663440" cy="274320"/>
          </a:xfrm>
          <a:prstGeom prst="rect">
            <a:avLst/>
          </a:prstGeom>
          <a:noFill/>
          <a:ln/>
        </p:spPr>
        <p:txBody>
          <a:bodyPr wrap="square" lIns="0" tIns="0" rIns="0" bIns="0" rtlCol="0" anchor="ctr"/>
          <a:lstStyle/>
          <a:p>
            <a:pPr indent="0" marL="0">
              <a:buNone/>
            </a:pPr>
            <a:r>
              <a:rPr lang="en-US" sz="1150" i="1" dirty="0">
                <a:solidFill>
                  <a:srgbClr val="6E7A83"/>
                </a:solidFill>
                <a:latin typeface="Calibri" pitchFamily="34" charset="0"/>
                <a:ea typeface="Calibri" pitchFamily="34" charset="-122"/>
                <a:cs typeface="Calibri" pitchFamily="34" charset="-120"/>
              </a:rPr>
              <a:t>red pruned by WA</a:t>
            </a:r>
            <a:endParaRPr lang="en-US" sz="1150" dirty="0"/>
          </a:p>
        </p:txBody>
      </p:sp>
      <p:sp>
        <p:nvSpPr>
          <p:cNvPr id="47" name="Text 44"/>
          <p:cNvSpPr/>
          <p:nvPr/>
        </p:nvSpPr>
        <p:spPr>
          <a:xfrm>
            <a:off x="777240" y="2971800"/>
            <a:ext cx="566928" cy="274320"/>
          </a:xfrm>
          <a:prstGeom prst="rect">
            <a:avLst/>
          </a:prstGeom>
          <a:noFill/>
          <a:ln/>
        </p:spPr>
        <p:txBody>
          <a:bodyPr wrap="square" lIns="0" tIns="0" rIns="0" bIns="0" rtlCol="0" anchor="ctr"/>
          <a:lstStyle/>
          <a:p>
            <a:pPr indent="0" marL="0">
              <a:buNone/>
            </a:pPr>
            <a:r>
              <a:rPr lang="en-US" sz="1250" b="1" dirty="0">
                <a:solidFill>
                  <a:srgbClr val="22303A"/>
                </a:solidFill>
                <a:latin typeface="Calibri" pitchFamily="34" charset="0"/>
                <a:ea typeface="Calibri" pitchFamily="34" charset="-122"/>
                <a:cs typeface="Calibri" pitchFamily="34" charset="-120"/>
              </a:rPr>
              <a:t>Q</a:t>
            </a:r>
            <a:endParaRPr lang="en-US" sz="1250" dirty="0"/>
          </a:p>
        </p:txBody>
      </p:sp>
      <p:sp>
        <p:nvSpPr>
          <p:cNvPr id="48" name="Shape 45"/>
          <p:cNvSpPr/>
          <p:nvPr/>
        </p:nvSpPr>
        <p:spPr>
          <a:xfrm>
            <a:off x="1380744" y="2994660"/>
            <a:ext cx="292608" cy="228600"/>
          </a:xfrm>
          <a:prstGeom prst="roundRect">
            <a:avLst>
              <a:gd name="adj" fmla="val 16000"/>
            </a:avLst>
          </a:prstGeom>
          <a:solidFill>
            <a:srgbClr val="EDEFF0"/>
          </a:solidFill>
          <a:ln w="9525">
            <a:solidFill>
              <a:srgbClr val="DCE0E2"/>
            </a:solidFill>
            <a:prstDash val="solid"/>
          </a:ln>
        </p:spPr>
      </p:sp>
      <p:sp>
        <p:nvSpPr>
          <p:cNvPr id="49" name="Text 46"/>
          <p:cNvSpPr/>
          <p:nvPr/>
        </p:nvSpPr>
        <p:spPr>
          <a:xfrm>
            <a:off x="1380744" y="2994660"/>
            <a:ext cx="292608" cy="228600"/>
          </a:xfrm>
          <a:prstGeom prst="rect">
            <a:avLst/>
          </a:prstGeom>
          <a:noFill/>
          <a:ln/>
        </p:spPr>
        <p:txBody>
          <a:bodyPr wrap="square" lIns="0" tIns="0" rIns="0" bIns="0" rtlCol="0" anchor="ctr"/>
          <a:lstStyle/>
          <a:p>
            <a:pPr algn="ctr" indent="0" marL="0">
              <a:buNone/>
            </a:pPr>
            <a:r>
              <a:rPr lang="en-US" sz="1050" b="1" dirty="0">
                <a:solidFill>
                  <a:srgbClr val="B6BEC2"/>
                </a:solidFill>
                <a:latin typeface="Calibri" pitchFamily="34" charset="0"/>
                <a:ea typeface="Calibri" pitchFamily="34" charset="-122"/>
                <a:cs typeface="Calibri" pitchFamily="34" charset="-120"/>
              </a:rPr>
              <a:t>R</a:t>
            </a:r>
            <a:endParaRPr lang="en-US" sz="1050" dirty="0"/>
          </a:p>
        </p:txBody>
      </p:sp>
      <p:sp>
        <p:nvSpPr>
          <p:cNvPr id="50" name="Shape 47"/>
          <p:cNvSpPr/>
          <p:nvPr/>
        </p:nvSpPr>
        <p:spPr>
          <a:xfrm>
            <a:off x="1728216" y="2994660"/>
            <a:ext cx="292608" cy="228600"/>
          </a:xfrm>
          <a:prstGeom prst="roundRect">
            <a:avLst>
              <a:gd name="adj" fmla="val 16000"/>
            </a:avLst>
          </a:prstGeom>
          <a:solidFill>
            <a:srgbClr val="6E8B5A"/>
          </a:solidFill>
          <a:ln w="9525">
            <a:solidFill>
              <a:srgbClr val="6E8B5A"/>
            </a:solidFill>
            <a:prstDash val="solid"/>
          </a:ln>
        </p:spPr>
      </p:sp>
      <p:sp>
        <p:nvSpPr>
          <p:cNvPr id="51" name="Text 48"/>
          <p:cNvSpPr/>
          <p:nvPr/>
        </p:nvSpPr>
        <p:spPr>
          <a:xfrm>
            <a:off x="1728216" y="2994660"/>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a:t>
            </a:r>
            <a:endParaRPr lang="en-US" sz="1050" dirty="0"/>
          </a:p>
        </p:txBody>
      </p:sp>
      <p:sp>
        <p:nvSpPr>
          <p:cNvPr id="52" name="Shape 49"/>
          <p:cNvSpPr/>
          <p:nvPr/>
        </p:nvSpPr>
        <p:spPr>
          <a:xfrm>
            <a:off x="2075688" y="2994660"/>
            <a:ext cx="292608" cy="228600"/>
          </a:xfrm>
          <a:prstGeom prst="roundRect">
            <a:avLst>
              <a:gd name="adj" fmla="val 16000"/>
            </a:avLst>
          </a:prstGeom>
          <a:solidFill>
            <a:srgbClr val="EDEFF0"/>
          </a:solidFill>
          <a:ln w="9525">
            <a:solidFill>
              <a:srgbClr val="DCE0E2"/>
            </a:solidFill>
            <a:prstDash val="solid"/>
          </a:ln>
        </p:spPr>
      </p:sp>
      <p:sp>
        <p:nvSpPr>
          <p:cNvPr id="53" name="Text 50"/>
          <p:cNvSpPr/>
          <p:nvPr/>
        </p:nvSpPr>
        <p:spPr>
          <a:xfrm>
            <a:off x="2075688" y="2994660"/>
            <a:ext cx="292608" cy="228600"/>
          </a:xfrm>
          <a:prstGeom prst="rect">
            <a:avLst/>
          </a:prstGeom>
          <a:noFill/>
          <a:ln/>
        </p:spPr>
        <p:txBody>
          <a:bodyPr wrap="square" lIns="0" tIns="0" rIns="0" bIns="0" rtlCol="0" anchor="ctr"/>
          <a:lstStyle/>
          <a:p>
            <a:pPr algn="ctr" indent="0" marL="0">
              <a:buNone/>
            </a:pPr>
            <a:r>
              <a:rPr lang="en-US" sz="1050" b="1" dirty="0">
                <a:solidFill>
                  <a:srgbClr val="B6BEC2"/>
                </a:solidFill>
                <a:latin typeface="Calibri" pitchFamily="34" charset="0"/>
                <a:ea typeface="Calibri" pitchFamily="34" charset="-122"/>
                <a:cs typeface="Calibri" pitchFamily="34" charset="-120"/>
              </a:rPr>
              <a:t>B</a:t>
            </a:r>
            <a:endParaRPr lang="en-US" sz="1050" dirty="0"/>
          </a:p>
        </p:txBody>
      </p:sp>
      <p:sp>
        <p:nvSpPr>
          <p:cNvPr id="54" name="Text 51"/>
          <p:cNvSpPr/>
          <p:nvPr/>
        </p:nvSpPr>
        <p:spPr>
          <a:xfrm>
            <a:off x="2514600" y="2971800"/>
            <a:ext cx="4663440" cy="274320"/>
          </a:xfrm>
          <a:prstGeom prst="rect">
            <a:avLst/>
          </a:prstGeom>
          <a:noFill/>
          <a:ln/>
        </p:spPr>
        <p:txBody>
          <a:bodyPr wrap="square" lIns="0" tIns="0" rIns="0" bIns="0" rtlCol="0" anchor="ctr"/>
          <a:lstStyle/>
          <a:p>
            <a:pPr indent="0" marL="0">
              <a:buNone/>
            </a:pPr>
            <a:r>
              <a:rPr lang="en-US" sz="1150" i="1" dirty="0">
                <a:solidFill>
                  <a:srgbClr val="6E7A83"/>
                </a:solidFill>
                <a:latin typeface="Calibri" pitchFamily="34" charset="0"/>
                <a:ea typeface="Calibri" pitchFamily="34" charset="-122"/>
                <a:cs typeface="Calibri" pitchFamily="34" charset="-120"/>
              </a:rPr>
              <a:t>assigned green</a:t>
            </a:r>
            <a:endParaRPr lang="en-US" sz="1150" dirty="0"/>
          </a:p>
        </p:txBody>
      </p:sp>
      <p:sp>
        <p:nvSpPr>
          <p:cNvPr id="55" name="Text 52"/>
          <p:cNvSpPr/>
          <p:nvPr/>
        </p:nvSpPr>
        <p:spPr>
          <a:xfrm>
            <a:off x="777240" y="3474720"/>
            <a:ext cx="566928" cy="274320"/>
          </a:xfrm>
          <a:prstGeom prst="rect">
            <a:avLst/>
          </a:prstGeom>
          <a:noFill/>
          <a:ln/>
        </p:spPr>
        <p:txBody>
          <a:bodyPr wrap="square" lIns="0" tIns="0" rIns="0" bIns="0" rtlCol="0" anchor="ctr"/>
          <a:lstStyle/>
          <a:p>
            <a:pPr indent="0" marL="0">
              <a:buNone/>
            </a:pPr>
            <a:r>
              <a:rPr lang="en-US" sz="1250" b="1" dirty="0">
                <a:solidFill>
                  <a:srgbClr val="22303A"/>
                </a:solidFill>
                <a:latin typeface="Calibri" pitchFamily="34" charset="0"/>
                <a:ea typeface="Calibri" pitchFamily="34" charset="-122"/>
                <a:cs typeface="Calibri" pitchFamily="34" charset="-120"/>
              </a:rPr>
              <a:t>SA</a:t>
            </a:r>
            <a:endParaRPr lang="en-US" sz="1250" dirty="0"/>
          </a:p>
        </p:txBody>
      </p:sp>
      <p:sp>
        <p:nvSpPr>
          <p:cNvPr id="56" name="Shape 53"/>
          <p:cNvSpPr/>
          <p:nvPr/>
        </p:nvSpPr>
        <p:spPr>
          <a:xfrm>
            <a:off x="1380744" y="3497580"/>
            <a:ext cx="292608" cy="228600"/>
          </a:xfrm>
          <a:prstGeom prst="roundRect">
            <a:avLst>
              <a:gd name="adj" fmla="val 16000"/>
            </a:avLst>
          </a:prstGeom>
          <a:solidFill>
            <a:srgbClr val="EDEFF0"/>
          </a:solidFill>
          <a:ln w="9525">
            <a:solidFill>
              <a:srgbClr val="DCE0E2"/>
            </a:solidFill>
            <a:prstDash val="solid"/>
          </a:ln>
        </p:spPr>
      </p:sp>
      <p:sp>
        <p:nvSpPr>
          <p:cNvPr id="57" name="Text 54"/>
          <p:cNvSpPr/>
          <p:nvPr/>
        </p:nvSpPr>
        <p:spPr>
          <a:xfrm>
            <a:off x="1380744" y="3497580"/>
            <a:ext cx="292608" cy="228600"/>
          </a:xfrm>
          <a:prstGeom prst="rect">
            <a:avLst/>
          </a:prstGeom>
          <a:noFill/>
          <a:ln/>
        </p:spPr>
        <p:txBody>
          <a:bodyPr wrap="square" lIns="0" tIns="0" rIns="0" bIns="0" rtlCol="0" anchor="ctr"/>
          <a:lstStyle/>
          <a:p>
            <a:pPr algn="ctr" indent="0" marL="0">
              <a:buNone/>
            </a:pPr>
            <a:r>
              <a:rPr lang="en-US" sz="1050" b="1" dirty="0">
                <a:solidFill>
                  <a:srgbClr val="B6BEC2"/>
                </a:solidFill>
                <a:latin typeface="Calibri" pitchFamily="34" charset="0"/>
                <a:ea typeface="Calibri" pitchFamily="34" charset="-122"/>
                <a:cs typeface="Calibri" pitchFamily="34" charset="-120"/>
              </a:rPr>
              <a:t>R</a:t>
            </a:r>
            <a:endParaRPr lang="en-US" sz="1050" dirty="0"/>
          </a:p>
        </p:txBody>
      </p:sp>
      <p:sp>
        <p:nvSpPr>
          <p:cNvPr id="58" name="Shape 55"/>
          <p:cNvSpPr/>
          <p:nvPr/>
        </p:nvSpPr>
        <p:spPr>
          <a:xfrm>
            <a:off x="1728216" y="3497580"/>
            <a:ext cx="292608" cy="228600"/>
          </a:xfrm>
          <a:prstGeom prst="roundRect">
            <a:avLst>
              <a:gd name="adj" fmla="val 16000"/>
            </a:avLst>
          </a:prstGeom>
          <a:solidFill>
            <a:srgbClr val="EDEFF0"/>
          </a:solidFill>
          <a:ln w="9525">
            <a:solidFill>
              <a:srgbClr val="DCE0E2"/>
            </a:solidFill>
            <a:prstDash val="solid"/>
          </a:ln>
        </p:spPr>
      </p:sp>
      <p:sp>
        <p:nvSpPr>
          <p:cNvPr id="59" name="Text 56"/>
          <p:cNvSpPr/>
          <p:nvPr/>
        </p:nvSpPr>
        <p:spPr>
          <a:xfrm>
            <a:off x="1728216" y="3497580"/>
            <a:ext cx="292608" cy="228600"/>
          </a:xfrm>
          <a:prstGeom prst="rect">
            <a:avLst/>
          </a:prstGeom>
          <a:noFill/>
          <a:ln/>
        </p:spPr>
        <p:txBody>
          <a:bodyPr wrap="square" lIns="0" tIns="0" rIns="0" bIns="0" rtlCol="0" anchor="ctr"/>
          <a:lstStyle/>
          <a:p>
            <a:pPr algn="ctr" indent="0" marL="0">
              <a:buNone/>
            </a:pPr>
            <a:r>
              <a:rPr lang="en-US" sz="1050" b="1" dirty="0">
                <a:solidFill>
                  <a:srgbClr val="B6BEC2"/>
                </a:solidFill>
                <a:latin typeface="Calibri" pitchFamily="34" charset="0"/>
                <a:ea typeface="Calibri" pitchFamily="34" charset="-122"/>
                <a:cs typeface="Calibri" pitchFamily="34" charset="-120"/>
              </a:rPr>
              <a:t>G</a:t>
            </a:r>
            <a:endParaRPr lang="en-US" sz="1050" dirty="0"/>
          </a:p>
        </p:txBody>
      </p:sp>
      <p:sp>
        <p:nvSpPr>
          <p:cNvPr id="60" name="Shape 57"/>
          <p:cNvSpPr/>
          <p:nvPr/>
        </p:nvSpPr>
        <p:spPr>
          <a:xfrm>
            <a:off x="2075688" y="3497580"/>
            <a:ext cx="292608" cy="228600"/>
          </a:xfrm>
          <a:prstGeom prst="roundRect">
            <a:avLst>
              <a:gd name="adj" fmla="val 16000"/>
            </a:avLst>
          </a:prstGeom>
          <a:solidFill>
            <a:srgbClr val="50808E"/>
          </a:solidFill>
          <a:ln w="9525">
            <a:solidFill>
              <a:srgbClr val="50808E"/>
            </a:solidFill>
            <a:prstDash val="solid"/>
          </a:ln>
        </p:spPr>
      </p:sp>
      <p:sp>
        <p:nvSpPr>
          <p:cNvPr id="61" name="Text 58"/>
          <p:cNvSpPr/>
          <p:nvPr/>
        </p:nvSpPr>
        <p:spPr>
          <a:xfrm>
            <a:off x="2075688" y="3497580"/>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t>
            </a:r>
            <a:endParaRPr lang="en-US" sz="1050" dirty="0"/>
          </a:p>
        </p:txBody>
      </p:sp>
      <p:sp>
        <p:nvSpPr>
          <p:cNvPr id="62" name="Text 59"/>
          <p:cNvSpPr/>
          <p:nvPr/>
        </p:nvSpPr>
        <p:spPr>
          <a:xfrm>
            <a:off x="2514600" y="3474720"/>
            <a:ext cx="4663440" cy="274320"/>
          </a:xfrm>
          <a:prstGeom prst="rect">
            <a:avLst/>
          </a:prstGeom>
          <a:noFill/>
          <a:ln/>
        </p:spPr>
        <p:txBody>
          <a:bodyPr wrap="square" lIns="0" tIns="0" rIns="0" bIns="0" rtlCol="0" anchor="ctr"/>
          <a:lstStyle/>
          <a:p>
            <a:pPr indent="0" marL="0">
              <a:buNone/>
            </a:pPr>
            <a:r>
              <a:rPr lang="en-US" sz="1150" i="1" dirty="0">
                <a:solidFill>
                  <a:srgbClr val="6E7A83"/>
                </a:solidFill>
                <a:latin typeface="Calibri" pitchFamily="34" charset="0"/>
                <a:ea typeface="Calibri" pitchFamily="34" charset="-122"/>
                <a:cs typeface="Calibri" pitchFamily="34" charset="-120"/>
              </a:rPr>
              <a:t>down to one value</a:t>
            </a:r>
            <a:endParaRPr lang="en-US" sz="1150" dirty="0"/>
          </a:p>
        </p:txBody>
      </p:sp>
      <p:sp>
        <p:nvSpPr>
          <p:cNvPr id="63" name="Text 60"/>
          <p:cNvSpPr/>
          <p:nvPr/>
        </p:nvSpPr>
        <p:spPr>
          <a:xfrm>
            <a:off x="777240" y="3977640"/>
            <a:ext cx="566928" cy="274320"/>
          </a:xfrm>
          <a:prstGeom prst="rect">
            <a:avLst/>
          </a:prstGeom>
          <a:noFill/>
          <a:ln/>
        </p:spPr>
        <p:txBody>
          <a:bodyPr wrap="square" lIns="0" tIns="0" rIns="0" bIns="0" rtlCol="0" anchor="ctr"/>
          <a:lstStyle/>
          <a:p>
            <a:pPr indent="0" marL="0">
              <a:buNone/>
            </a:pPr>
            <a:r>
              <a:rPr lang="en-US" sz="1250" b="1" dirty="0">
                <a:solidFill>
                  <a:srgbClr val="22303A"/>
                </a:solidFill>
                <a:latin typeface="Calibri" pitchFamily="34" charset="0"/>
                <a:ea typeface="Calibri" pitchFamily="34" charset="-122"/>
                <a:cs typeface="Calibri" pitchFamily="34" charset="-120"/>
              </a:rPr>
              <a:t>NSW</a:t>
            </a:r>
            <a:endParaRPr lang="en-US" sz="1250" dirty="0"/>
          </a:p>
        </p:txBody>
      </p:sp>
      <p:sp>
        <p:nvSpPr>
          <p:cNvPr id="64" name="Shape 61"/>
          <p:cNvSpPr/>
          <p:nvPr/>
        </p:nvSpPr>
        <p:spPr>
          <a:xfrm>
            <a:off x="1380744" y="4000500"/>
            <a:ext cx="292608" cy="228600"/>
          </a:xfrm>
          <a:prstGeom prst="roundRect">
            <a:avLst>
              <a:gd name="adj" fmla="val 16000"/>
            </a:avLst>
          </a:prstGeom>
          <a:solidFill>
            <a:srgbClr val="B85042"/>
          </a:solidFill>
          <a:ln w="9525">
            <a:solidFill>
              <a:srgbClr val="B85042"/>
            </a:solidFill>
            <a:prstDash val="solid"/>
          </a:ln>
        </p:spPr>
      </p:sp>
      <p:sp>
        <p:nvSpPr>
          <p:cNvPr id="65" name="Text 62"/>
          <p:cNvSpPr/>
          <p:nvPr/>
        </p:nvSpPr>
        <p:spPr>
          <a:xfrm>
            <a:off x="1380744" y="4000500"/>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a:t>
            </a:r>
            <a:endParaRPr lang="en-US" sz="1050" dirty="0"/>
          </a:p>
        </p:txBody>
      </p:sp>
      <p:sp>
        <p:nvSpPr>
          <p:cNvPr id="66" name="Shape 63"/>
          <p:cNvSpPr/>
          <p:nvPr/>
        </p:nvSpPr>
        <p:spPr>
          <a:xfrm>
            <a:off x="1728216" y="4000500"/>
            <a:ext cx="292608" cy="228600"/>
          </a:xfrm>
          <a:prstGeom prst="roundRect">
            <a:avLst>
              <a:gd name="adj" fmla="val 16000"/>
            </a:avLst>
          </a:prstGeom>
          <a:solidFill>
            <a:srgbClr val="EDEFF0"/>
          </a:solidFill>
          <a:ln w="9525">
            <a:solidFill>
              <a:srgbClr val="DCE0E2"/>
            </a:solidFill>
            <a:prstDash val="solid"/>
          </a:ln>
        </p:spPr>
      </p:sp>
      <p:sp>
        <p:nvSpPr>
          <p:cNvPr id="67" name="Text 64"/>
          <p:cNvSpPr/>
          <p:nvPr/>
        </p:nvSpPr>
        <p:spPr>
          <a:xfrm>
            <a:off x="1728216" y="4000500"/>
            <a:ext cx="292608" cy="228600"/>
          </a:xfrm>
          <a:prstGeom prst="rect">
            <a:avLst/>
          </a:prstGeom>
          <a:noFill/>
          <a:ln/>
        </p:spPr>
        <p:txBody>
          <a:bodyPr wrap="square" lIns="0" tIns="0" rIns="0" bIns="0" rtlCol="0" anchor="ctr"/>
          <a:lstStyle/>
          <a:p>
            <a:pPr algn="ctr" indent="0" marL="0">
              <a:buNone/>
            </a:pPr>
            <a:r>
              <a:rPr lang="en-US" sz="1050" b="1" dirty="0">
                <a:solidFill>
                  <a:srgbClr val="B6BEC2"/>
                </a:solidFill>
                <a:latin typeface="Calibri" pitchFamily="34" charset="0"/>
                <a:ea typeface="Calibri" pitchFamily="34" charset="-122"/>
                <a:cs typeface="Calibri" pitchFamily="34" charset="-120"/>
              </a:rPr>
              <a:t>G</a:t>
            </a:r>
            <a:endParaRPr lang="en-US" sz="1050" dirty="0"/>
          </a:p>
        </p:txBody>
      </p:sp>
      <p:sp>
        <p:nvSpPr>
          <p:cNvPr id="68" name="Shape 65"/>
          <p:cNvSpPr/>
          <p:nvPr/>
        </p:nvSpPr>
        <p:spPr>
          <a:xfrm>
            <a:off x="2075688" y="4000500"/>
            <a:ext cx="292608" cy="228600"/>
          </a:xfrm>
          <a:prstGeom prst="roundRect">
            <a:avLst>
              <a:gd name="adj" fmla="val 16000"/>
            </a:avLst>
          </a:prstGeom>
          <a:solidFill>
            <a:srgbClr val="50808E"/>
          </a:solidFill>
          <a:ln w="9525">
            <a:solidFill>
              <a:srgbClr val="50808E"/>
            </a:solidFill>
            <a:prstDash val="solid"/>
          </a:ln>
        </p:spPr>
      </p:sp>
      <p:sp>
        <p:nvSpPr>
          <p:cNvPr id="69" name="Text 66"/>
          <p:cNvSpPr/>
          <p:nvPr/>
        </p:nvSpPr>
        <p:spPr>
          <a:xfrm>
            <a:off x="2075688" y="4000500"/>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t>
            </a:r>
            <a:endParaRPr lang="en-US" sz="1050" dirty="0"/>
          </a:p>
        </p:txBody>
      </p:sp>
      <p:sp>
        <p:nvSpPr>
          <p:cNvPr id="70" name="Text 67"/>
          <p:cNvSpPr/>
          <p:nvPr/>
        </p:nvSpPr>
        <p:spPr>
          <a:xfrm>
            <a:off x="777240" y="4480560"/>
            <a:ext cx="566928" cy="274320"/>
          </a:xfrm>
          <a:prstGeom prst="rect">
            <a:avLst/>
          </a:prstGeom>
          <a:noFill/>
          <a:ln/>
        </p:spPr>
        <p:txBody>
          <a:bodyPr wrap="square" lIns="0" tIns="0" rIns="0" bIns="0" rtlCol="0" anchor="ctr"/>
          <a:lstStyle/>
          <a:p>
            <a:pPr indent="0" marL="0">
              <a:buNone/>
            </a:pPr>
            <a:r>
              <a:rPr lang="en-US" sz="1250" b="1" dirty="0">
                <a:solidFill>
                  <a:srgbClr val="22303A"/>
                </a:solidFill>
                <a:latin typeface="Calibri" pitchFamily="34" charset="0"/>
                <a:ea typeface="Calibri" pitchFamily="34" charset="-122"/>
                <a:cs typeface="Calibri" pitchFamily="34" charset="-120"/>
              </a:rPr>
              <a:t>V</a:t>
            </a:r>
            <a:endParaRPr lang="en-US" sz="1250" dirty="0"/>
          </a:p>
        </p:txBody>
      </p:sp>
      <p:sp>
        <p:nvSpPr>
          <p:cNvPr id="71" name="Shape 68"/>
          <p:cNvSpPr/>
          <p:nvPr/>
        </p:nvSpPr>
        <p:spPr>
          <a:xfrm>
            <a:off x="1380744" y="4503420"/>
            <a:ext cx="292608" cy="228600"/>
          </a:xfrm>
          <a:prstGeom prst="roundRect">
            <a:avLst>
              <a:gd name="adj" fmla="val 16000"/>
            </a:avLst>
          </a:prstGeom>
          <a:solidFill>
            <a:srgbClr val="B85042"/>
          </a:solidFill>
          <a:ln w="9525">
            <a:solidFill>
              <a:srgbClr val="B85042"/>
            </a:solidFill>
            <a:prstDash val="solid"/>
          </a:ln>
        </p:spPr>
      </p:sp>
      <p:sp>
        <p:nvSpPr>
          <p:cNvPr id="72" name="Text 69"/>
          <p:cNvSpPr/>
          <p:nvPr/>
        </p:nvSpPr>
        <p:spPr>
          <a:xfrm>
            <a:off x="1380744" y="4503420"/>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a:t>
            </a:r>
            <a:endParaRPr lang="en-US" sz="1050" dirty="0"/>
          </a:p>
        </p:txBody>
      </p:sp>
      <p:sp>
        <p:nvSpPr>
          <p:cNvPr id="73" name="Shape 70"/>
          <p:cNvSpPr/>
          <p:nvPr/>
        </p:nvSpPr>
        <p:spPr>
          <a:xfrm>
            <a:off x="1728216" y="4503420"/>
            <a:ext cx="292608" cy="228600"/>
          </a:xfrm>
          <a:prstGeom prst="roundRect">
            <a:avLst>
              <a:gd name="adj" fmla="val 16000"/>
            </a:avLst>
          </a:prstGeom>
          <a:solidFill>
            <a:srgbClr val="6E8B5A"/>
          </a:solidFill>
          <a:ln w="9525">
            <a:solidFill>
              <a:srgbClr val="6E8B5A"/>
            </a:solidFill>
            <a:prstDash val="solid"/>
          </a:ln>
        </p:spPr>
      </p:sp>
      <p:sp>
        <p:nvSpPr>
          <p:cNvPr id="74" name="Text 71"/>
          <p:cNvSpPr/>
          <p:nvPr/>
        </p:nvSpPr>
        <p:spPr>
          <a:xfrm>
            <a:off x="1728216" y="4503420"/>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a:t>
            </a:r>
            <a:endParaRPr lang="en-US" sz="1050" dirty="0"/>
          </a:p>
        </p:txBody>
      </p:sp>
      <p:sp>
        <p:nvSpPr>
          <p:cNvPr id="75" name="Shape 72"/>
          <p:cNvSpPr/>
          <p:nvPr/>
        </p:nvSpPr>
        <p:spPr>
          <a:xfrm>
            <a:off x="2075688" y="4503420"/>
            <a:ext cx="292608" cy="228600"/>
          </a:xfrm>
          <a:prstGeom prst="roundRect">
            <a:avLst>
              <a:gd name="adj" fmla="val 16000"/>
            </a:avLst>
          </a:prstGeom>
          <a:solidFill>
            <a:srgbClr val="50808E"/>
          </a:solidFill>
          <a:ln w="9525">
            <a:solidFill>
              <a:srgbClr val="50808E"/>
            </a:solidFill>
            <a:prstDash val="solid"/>
          </a:ln>
        </p:spPr>
      </p:sp>
      <p:sp>
        <p:nvSpPr>
          <p:cNvPr id="76" name="Text 73"/>
          <p:cNvSpPr/>
          <p:nvPr/>
        </p:nvSpPr>
        <p:spPr>
          <a:xfrm>
            <a:off x="2075688" y="4503420"/>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t>
            </a:r>
            <a:endParaRPr lang="en-US" sz="1050" dirty="0"/>
          </a:p>
        </p:txBody>
      </p:sp>
      <p:sp>
        <p:nvSpPr>
          <p:cNvPr id="77" name="Text 74"/>
          <p:cNvSpPr/>
          <p:nvPr/>
        </p:nvSpPr>
        <p:spPr>
          <a:xfrm>
            <a:off x="2514600" y="4480560"/>
            <a:ext cx="4663440" cy="274320"/>
          </a:xfrm>
          <a:prstGeom prst="rect">
            <a:avLst/>
          </a:prstGeom>
          <a:noFill/>
          <a:ln/>
        </p:spPr>
        <p:txBody>
          <a:bodyPr wrap="square" lIns="0" tIns="0" rIns="0" bIns="0" rtlCol="0" anchor="ctr"/>
          <a:lstStyle/>
          <a:p>
            <a:pPr indent="0" marL="0">
              <a:buNone/>
            </a:pPr>
            <a:r>
              <a:rPr lang="en-US" sz="1150" i="1" dirty="0">
                <a:solidFill>
                  <a:srgbClr val="6E7A83"/>
                </a:solidFill>
                <a:latin typeface="Calibri" pitchFamily="34" charset="0"/>
                <a:ea typeface="Calibri" pitchFamily="34" charset="-122"/>
                <a:cs typeface="Calibri" pitchFamily="34" charset="-120"/>
              </a:rPr>
              <a:t>untouched</a:t>
            </a:r>
            <a:endParaRPr lang="en-US" sz="1150" dirty="0"/>
          </a:p>
        </p:txBody>
      </p:sp>
      <p:sp>
        <p:nvSpPr>
          <p:cNvPr id="78" name="Shape 75"/>
          <p:cNvSpPr/>
          <p:nvPr/>
        </p:nvSpPr>
        <p:spPr>
          <a:xfrm>
            <a:off x="502920" y="5120640"/>
            <a:ext cx="6766560" cy="777240"/>
          </a:xfrm>
          <a:prstGeom prst="roundRect">
            <a:avLst>
              <a:gd name="adj" fmla="val 7059"/>
            </a:avLst>
          </a:prstGeom>
          <a:solidFill>
            <a:srgbClr val="F1F3F4"/>
          </a:solidFill>
          <a:ln w="9525">
            <a:solidFill>
              <a:srgbClr val="F1F3F4"/>
            </a:solidFill>
            <a:prstDash val="solid"/>
          </a:ln>
        </p:spPr>
      </p:sp>
      <p:sp>
        <p:nvSpPr>
          <p:cNvPr id="79" name="Text 76"/>
          <p:cNvSpPr/>
          <p:nvPr/>
        </p:nvSpPr>
        <p:spPr>
          <a:xfrm>
            <a:off x="731520" y="5138928"/>
            <a:ext cx="6309360" cy="740664"/>
          </a:xfrm>
          <a:prstGeom prst="rect">
            <a:avLst/>
          </a:prstGeom>
          <a:noFill/>
          <a:ln/>
        </p:spPr>
        <p:txBody>
          <a:bodyPr wrap="square" lIns="0" tIns="0" rIns="0" bIns="0" rtlCol="0" anchor="ctr"/>
          <a:lstStyle/>
          <a:p>
            <a:pPr indent="0" marL="0">
              <a:buNone/>
            </a:pPr>
            <a:r>
              <a:rPr lang="en-US" sz="1400" b="1" dirty="0">
                <a:solidFill>
                  <a:srgbClr val="22303A"/>
                </a:solidFill>
                <a:latin typeface="Calibri" pitchFamily="34" charset="0"/>
                <a:ea typeface="Calibri" pitchFamily="34" charset="-122"/>
                <a:cs typeface="Calibri" pitchFamily="34" charset="-120"/>
              </a:rPr>
              <a:t>Question for the room: which arc is the first one that fails?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WORKED TRACE - 2 OF 4</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Checking arcs one at a time</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12</a:t>
            </a:r>
            <a:endParaRPr lang="en-US" sz="900" dirty="0"/>
          </a:p>
        </p:txBody>
      </p:sp>
      <p:sp>
        <p:nvSpPr>
          <p:cNvPr id="7" name="Shape 4"/>
          <p:cNvSpPr/>
          <p:nvPr/>
        </p:nvSpPr>
        <p:spPr>
          <a:xfrm>
            <a:off x="502920" y="1417320"/>
            <a:ext cx="7680960" cy="1280160"/>
          </a:xfrm>
          <a:prstGeom prst="roundRect">
            <a:avLst>
              <a:gd name="adj" fmla="val 4286"/>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8" name="Text 5"/>
          <p:cNvSpPr/>
          <p:nvPr/>
        </p:nvSpPr>
        <p:spPr>
          <a:xfrm>
            <a:off x="777240" y="1581912"/>
            <a:ext cx="1920240" cy="329184"/>
          </a:xfrm>
          <a:prstGeom prst="rect">
            <a:avLst/>
          </a:prstGeom>
          <a:noFill/>
          <a:ln/>
        </p:spPr>
        <p:txBody>
          <a:bodyPr wrap="square" lIns="0" tIns="0" rIns="0" bIns="0" rtlCol="0" anchor="ctr"/>
          <a:lstStyle/>
          <a:p>
            <a:pPr indent="0" marL="0">
              <a:buNone/>
            </a:pPr>
            <a:r>
              <a:rPr lang="en-US" sz="1600" b="1" dirty="0">
                <a:solidFill>
                  <a:srgbClr val="22303A"/>
                </a:solidFill>
                <a:latin typeface="Courier New" pitchFamily="34" charset="0"/>
                <a:ea typeface="Courier New" pitchFamily="34" charset="-122"/>
                <a:cs typeface="Courier New" pitchFamily="34" charset="-120"/>
              </a:rPr>
              <a:t>V -&gt; NSW</a:t>
            </a:r>
            <a:endParaRPr lang="en-US" sz="1600" dirty="0"/>
          </a:p>
        </p:txBody>
      </p:sp>
      <p:sp>
        <p:nvSpPr>
          <p:cNvPr id="9" name="Shape 6"/>
          <p:cNvSpPr/>
          <p:nvPr/>
        </p:nvSpPr>
        <p:spPr>
          <a:xfrm>
            <a:off x="2788920" y="1600200"/>
            <a:ext cx="822960" cy="292608"/>
          </a:xfrm>
          <a:prstGeom prst="roundRect">
            <a:avLst>
              <a:gd name="adj" fmla="val 15625"/>
            </a:avLst>
          </a:prstGeom>
          <a:solidFill>
            <a:srgbClr val="6E8B5A"/>
          </a:solidFill>
          <a:ln/>
        </p:spPr>
      </p:sp>
      <p:sp>
        <p:nvSpPr>
          <p:cNvPr id="10" name="Text 7"/>
          <p:cNvSpPr/>
          <p:nvPr/>
        </p:nvSpPr>
        <p:spPr>
          <a:xfrm>
            <a:off x="2788920" y="1600200"/>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pass</a:t>
            </a:r>
            <a:endParaRPr lang="en-US" sz="1100" dirty="0"/>
          </a:p>
        </p:txBody>
      </p:sp>
      <p:sp>
        <p:nvSpPr>
          <p:cNvPr id="11" name="Text 8"/>
          <p:cNvSpPr/>
          <p:nvPr/>
        </p:nvSpPr>
        <p:spPr>
          <a:xfrm>
            <a:off x="777240" y="2020824"/>
            <a:ext cx="7132320" cy="59436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Every value of V has a legal partner at NSW: red works (NSW can be blue), green works, blue works (NSW can be red).</a:t>
            </a:r>
            <a:endParaRPr lang="en-US" sz="1250" dirty="0"/>
          </a:p>
        </p:txBody>
      </p:sp>
      <p:sp>
        <p:nvSpPr>
          <p:cNvPr id="12" name="Shape 9"/>
          <p:cNvSpPr/>
          <p:nvPr/>
        </p:nvSpPr>
        <p:spPr>
          <a:xfrm>
            <a:off x="502920" y="2880360"/>
            <a:ext cx="7680960" cy="1280160"/>
          </a:xfrm>
          <a:prstGeom prst="roundRect">
            <a:avLst>
              <a:gd name="adj" fmla="val 4286"/>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13" name="Text 10"/>
          <p:cNvSpPr/>
          <p:nvPr/>
        </p:nvSpPr>
        <p:spPr>
          <a:xfrm>
            <a:off x="777240" y="3044952"/>
            <a:ext cx="1920240" cy="329184"/>
          </a:xfrm>
          <a:prstGeom prst="rect">
            <a:avLst/>
          </a:prstGeom>
          <a:noFill/>
          <a:ln/>
        </p:spPr>
        <p:txBody>
          <a:bodyPr wrap="square" lIns="0" tIns="0" rIns="0" bIns="0" rtlCol="0" anchor="ctr"/>
          <a:lstStyle/>
          <a:p>
            <a:pPr indent="0" marL="0">
              <a:buNone/>
            </a:pPr>
            <a:r>
              <a:rPr lang="en-US" sz="1600" b="1" dirty="0">
                <a:solidFill>
                  <a:srgbClr val="22303A"/>
                </a:solidFill>
                <a:latin typeface="Courier New" pitchFamily="34" charset="0"/>
                <a:ea typeface="Courier New" pitchFamily="34" charset="-122"/>
                <a:cs typeface="Courier New" pitchFamily="34" charset="-120"/>
              </a:rPr>
              <a:t>SA -&gt; NSW</a:t>
            </a:r>
            <a:endParaRPr lang="en-US" sz="1600" dirty="0"/>
          </a:p>
        </p:txBody>
      </p:sp>
      <p:sp>
        <p:nvSpPr>
          <p:cNvPr id="14" name="Shape 11"/>
          <p:cNvSpPr/>
          <p:nvPr/>
        </p:nvSpPr>
        <p:spPr>
          <a:xfrm>
            <a:off x="2788920" y="3063240"/>
            <a:ext cx="822960" cy="292608"/>
          </a:xfrm>
          <a:prstGeom prst="roundRect">
            <a:avLst>
              <a:gd name="adj" fmla="val 15625"/>
            </a:avLst>
          </a:prstGeom>
          <a:solidFill>
            <a:srgbClr val="6E8B5A"/>
          </a:solidFill>
          <a:ln/>
        </p:spPr>
      </p:sp>
      <p:sp>
        <p:nvSpPr>
          <p:cNvPr id="15" name="Text 12"/>
          <p:cNvSpPr/>
          <p:nvPr/>
        </p:nvSpPr>
        <p:spPr>
          <a:xfrm>
            <a:off x="2788920" y="3063240"/>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pass</a:t>
            </a:r>
            <a:endParaRPr lang="en-US" sz="1100" dirty="0"/>
          </a:p>
        </p:txBody>
      </p:sp>
      <p:sp>
        <p:nvSpPr>
          <p:cNvPr id="16" name="Text 13"/>
          <p:cNvSpPr/>
          <p:nvPr/>
        </p:nvSpPr>
        <p:spPr>
          <a:xfrm>
            <a:off x="777240" y="3483864"/>
            <a:ext cx="7132320" cy="59436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SA's only remaining value is blue; NSW can still be red. Consistent in this direction.</a:t>
            </a:r>
            <a:endParaRPr lang="en-US" sz="1250" dirty="0"/>
          </a:p>
        </p:txBody>
      </p:sp>
      <p:sp>
        <p:nvSpPr>
          <p:cNvPr id="17" name="Shape 14"/>
          <p:cNvSpPr/>
          <p:nvPr/>
        </p:nvSpPr>
        <p:spPr>
          <a:xfrm>
            <a:off x="502920" y="4343400"/>
            <a:ext cx="7680960" cy="1280160"/>
          </a:xfrm>
          <a:prstGeom prst="roundRect">
            <a:avLst>
              <a:gd name="adj" fmla="val 4286"/>
            </a:avLst>
          </a:prstGeom>
          <a:solidFill>
            <a:srgbClr val="F7EEEA"/>
          </a:solidFill>
          <a:ln w="9525">
            <a:solidFill>
              <a:srgbClr val="F7EEEA"/>
            </a:solidFill>
            <a:prstDash val="solid"/>
          </a:ln>
          <a:effectLst>
            <a:outerShdw sx="100000" sy="100000" kx="0" ky="0" algn="bl" rotWithShape="0" blurRad="101600" dist="19050" dir="5400000">
              <a:srgbClr val="9AA6AD">
                <a:alpha val="28000"/>
              </a:srgbClr>
            </a:outerShdw>
          </a:effectLst>
        </p:spPr>
      </p:sp>
      <p:sp>
        <p:nvSpPr>
          <p:cNvPr id="18" name="Text 15"/>
          <p:cNvSpPr/>
          <p:nvPr/>
        </p:nvSpPr>
        <p:spPr>
          <a:xfrm>
            <a:off x="777240" y="4507992"/>
            <a:ext cx="1920240" cy="329184"/>
          </a:xfrm>
          <a:prstGeom prst="rect">
            <a:avLst/>
          </a:prstGeom>
          <a:noFill/>
          <a:ln/>
        </p:spPr>
        <p:txBody>
          <a:bodyPr wrap="square" lIns="0" tIns="0" rIns="0" bIns="0" rtlCol="0" anchor="ctr"/>
          <a:lstStyle/>
          <a:p>
            <a:pPr indent="0" marL="0">
              <a:buNone/>
            </a:pPr>
            <a:r>
              <a:rPr lang="en-US" sz="1600" b="1" dirty="0">
                <a:solidFill>
                  <a:srgbClr val="22303A"/>
                </a:solidFill>
                <a:latin typeface="Courier New" pitchFamily="34" charset="0"/>
                <a:ea typeface="Courier New" pitchFamily="34" charset="-122"/>
                <a:cs typeface="Courier New" pitchFamily="34" charset="-120"/>
              </a:rPr>
              <a:t>NSW -&gt; SA</a:t>
            </a:r>
            <a:endParaRPr lang="en-US" sz="1600" dirty="0"/>
          </a:p>
        </p:txBody>
      </p:sp>
      <p:sp>
        <p:nvSpPr>
          <p:cNvPr id="19" name="Shape 16"/>
          <p:cNvSpPr/>
          <p:nvPr/>
        </p:nvSpPr>
        <p:spPr>
          <a:xfrm>
            <a:off x="2788920" y="4526280"/>
            <a:ext cx="822960" cy="292608"/>
          </a:xfrm>
          <a:prstGeom prst="roundRect">
            <a:avLst>
              <a:gd name="adj" fmla="val 15625"/>
            </a:avLst>
          </a:prstGeom>
          <a:solidFill>
            <a:srgbClr val="B85042"/>
          </a:solidFill>
          <a:ln/>
        </p:spPr>
      </p:sp>
      <p:sp>
        <p:nvSpPr>
          <p:cNvPr id="20" name="Text 17"/>
          <p:cNvSpPr/>
          <p:nvPr/>
        </p:nvSpPr>
        <p:spPr>
          <a:xfrm>
            <a:off x="2788920" y="4526280"/>
            <a:ext cx="822960"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FAIL</a:t>
            </a:r>
            <a:endParaRPr lang="en-US" sz="1100" dirty="0"/>
          </a:p>
        </p:txBody>
      </p:sp>
      <p:sp>
        <p:nvSpPr>
          <p:cNvPr id="21" name="Text 18"/>
          <p:cNvSpPr/>
          <p:nvPr/>
        </p:nvSpPr>
        <p:spPr>
          <a:xfrm>
            <a:off x="777240" y="4946904"/>
            <a:ext cx="7132320" cy="59436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NSW = red extends to SA = blue, fine. But NSW = blue cannot - SA is blue and they are adjacent. Delete blue from NSW, the tail.</a:t>
            </a:r>
            <a:endParaRPr lang="en-US" sz="1250" dirty="0"/>
          </a:p>
        </p:txBody>
      </p:sp>
      <p:sp>
        <p:nvSpPr>
          <p:cNvPr id="22" name="Shape 19"/>
          <p:cNvSpPr/>
          <p:nvPr/>
        </p:nvSpPr>
        <p:spPr>
          <a:xfrm flipV="1">
            <a:off x="8887968" y="2034540"/>
            <a:ext cx="760781" cy="525780"/>
          </a:xfrm>
          <a:prstGeom prst="line">
            <a:avLst/>
          </a:prstGeom>
          <a:noFill/>
          <a:ln w="17780">
            <a:solidFill>
              <a:srgbClr val="AEB9BF"/>
            </a:solidFill>
            <a:prstDash val="solid"/>
          </a:ln>
        </p:spPr>
      </p:sp>
      <p:sp>
        <p:nvSpPr>
          <p:cNvPr id="23" name="Shape 20"/>
          <p:cNvSpPr/>
          <p:nvPr/>
        </p:nvSpPr>
        <p:spPr>
          <a:xfrm>
            <a:off x="8887968" y="2560320"/>
            <a:ext cx="877824" cy="434340"/>
          </a:xfrm>
          <a:prstGeom prst="line">
            <a:avLst/>
          </a:prstGeom>
          <a:noFill/>
          <a:ln w="17780">
            <a:solidFill>
              <a:srgbClr val="AEB9BF"/>
            </a:solidFill>
            <a:prstDash val="solid"/>
          </a:ln>
        </p:spPr>
      </p:sp>
      <p:sp>
        <p:nvSpPr>
          <p:cNvPr id="24" name="Shape 21"/>
          <p:cNvSpPr/>
          <p:nvPr/>
        </p:nvSpPr>
        <p:spPr>
          <a:xfrm>
            <a:off x="9648749" y="2034540"/>
            <a:ext cx="117043" cy="960120"/>
          </a:xfrm>
          <a:prstGeom prst="line">
            <a:avLst/>
          </a:prstGeom>
          <a:noFill/>
          <a:ln w="17780">
            <a:solidFill>
              <a:srgbClr val="AEB9BF"/>
            </a:solidFill>
            <a:prstDash val="solid"/>
          </a:ln>
        </p:spPr>
      </p:sp>
      <p:sp>
        <p:nvSpPr>
          <p:cNvPr id="25" name="Shape 22"/>
          <p:cNvSpPr/>
          <p:nvPr/>
        </p:nvSpPr>
        <p:spPr>
          <a:xfrm>
            <a:off x="9648749" y="2034540"/>
            <a:ext cx="994867" cy="91440"/>
          </a:xfrm>
          <a:prstGeom prst="line">
            <a:avLst/>
          </a:prstGeom>
          <a:noFill/>
          <a:ln w="17780">
            <a:solidFill>
              <a:srgbClr val="AEB9BF"/>
            </a:solidFill>
            <a:prstDash val="solid"/>
          </a:ln>
        </p:spPr>
      </p:sp>
      <p:sp>
        <p:nvSpPr>
          <p:cNvPr id="26" name="Shape 23"/>
          <p:cNvSpPr/>
          <p:nvPr/>
        </p:nvSpPr>
        <p:spPr>
          <a:xfrm flipV="1">
            <a:off x="9765792" y="2125980"/>
            <a:ext cx="877824" cy="868680"/>
          </a:xfrm>
          <a:prstGeom prst="line">
            <a:avLst/>
          </a:prstGeom>
          <a:noFill/>
          <a:ln w="17780">
            <a:solidFill>
              <a:srgbClr val="AEB9BF"/>
            </a:solidFill>
            <a:prstDash val="solid"/>
          </a:ln>
        </p:spPr>
      </p:sp>
      <p:sp>
        <p:nvSpPr>
          <p:cNvPr id="27" name="Shape 24"/>
          <p:cNvSpPr/>
          <p:nvPr/>
        </p:nvSpPr>
        <p:spPr>
          <a:xfrm>
            <a:off x="9765792" y="2994660"/>
            <a:ext cx="994867" cy="0"/>
          </a:xfrm>
          <a:prstGeom prst="line">
            <a:avLst/>
          </a:prstGeom>
          <a:noFill/>
          <a:ln w="34925">
            <a:solidFill>
              <a:srgbClr val="B85042"/>
            </a:solidFill>
            <a:prstDash val="solid"/>
          </a:ln>
        </p:spPr>
      </p:sp>
      <p:sp>
        <p:nvSpPr>
          <p:cNvPr id="28" name="Shape 25"/>
          <p:cNvSpPr/>
          <p:nvPr/>
        </p:nvSpPr>
        <p:spPr>
          <a:xfrm>
            <a:off x="9765792" y="2994660"/>
            <a:ext cx="585216" cy="640080"/>
          </a:xfrm>
          <a:prstGeom prst="line">
            <a:avLst/>
          </a:prstGeom>
          <a:noFill/>
          <a:ln w="17780">
            <a:solidFill>
              <a:srgbClr val="AEB9BF"/>
            </a:solidFill>
            <a:prstDash val="solid"/>
          </a:ln>
        </p:spPr>
      </p:sp>
      <p:sp>
        <p:nvSpPr>
          <p:cNvPr id="29" name="Shape 26"/>
          <p:cNvSpPr/>
          <p:nvPr/>
        </p:nvSpPr>
        <p:spPr>
          <a:xfrm>
            <a:off x="10643616" y="2125980"/>
            <a:ext cx="117043" cy="868680"/>
          </a:xfrm>
          <a:prstGeom prst="line">
            <a:avLst/>
          </a:prstGeom>
          <a:noFill/>
          <a:ln w="17780">
            <a:solidFill>
              <a:srgbClr val="AEB9BF"/>
            </a:solidFill>
            <a:prstDash val="solid"/>
          </a:ln>
        </p:spPr>
      </p:sp>
      <p:sp>
        <p:nvSpPr>
          <p:cNvPr id="30" name="Shape 27"/>
          <p:cNvSpPr/>
          <p:nvPr/>
        </p:nvSpPr>
        <p:spPr>
          <a:xfrm flipH="1">
            <a:off x="10351008" y="2994660"/>
            <a:ext cx="409651" cy="640080"/>
          </a:xfrm>
          <a:prstGeom prst="line">
            <a:avLst/>
          </a:prstGeom>
          <a:noFill/>
          <a:ln w="34925">
            <a:solidFill>
              <a:srgbClr val="B85042"/>
            </a:solidFill>
            <a:prstDash val="solid"/>
          </a:ln>
        </p:spPr>
      </p:sp>
      <p:sp>
        <p:nvSpPr>
          <p:cNvPr id="31" name="Shape 28"/>
          <p:cNvSpPr/>
          <p:nvPr/>
        </p:nvSpPr>
        <p:spPr>
          <a:xfrm>
            <a:off x="8750808" y="2423160"/>
            <a:ext cx="274320" cy="274320"/>
          </a:xfrm>
          <a:prstGeom prst="ellipse">
            <a:avLst/>
          </a:prstGeom>
          <a:solidFill>
            <a:srgbClr val="B85042"/>
          </a:solidFill>
          <a:ln w="12700">
            <a:solidFill>
              <a:srgbClr val="B85042"/>
            </a:solidFill>
            <a:prstDash val="solid"/>
          </a:ln>
        </p:spPr>
      </p:sp>
      <p:sp>
        <p:nvSpPr>
          <p:cNvPr id="32" name="Text 29"/>
          <p:cNvSpPr/>
          <p:nvPr/>
        </p:nvSpPr>
        <p:spPr>
          <a:xfrm>
            <a:off x="8503920" y="2414016"/>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WA</a:t>
            </a:r>
            <a:endParaRPr lang="en-US" sz="1050" dirty="0"/>
          </a:p>
        </p:txBody>
      </p:sp>
      <p:sp>
        <p:nvSpPr>
          <p:cNvPr id="33" name="Shape 30"/>
          <p:cNvSpPr/>
          <p:nvPr/>
        </p:nvSpPr>
        <p:spPr>
          <a:xfrm>
            <a:off x="9511589" y="1897380"/>
            <a:ext cx="274320" cy="274320"/>
          </a:xfrm>
          <a:prstGeom prst="ellipse">
            <a:avLst/>
          </a:prstGeom>
          <a:solidFill>
            <a:srgbClr val="E4E9EB"/>
          </a:solidFill>
          <a:ln w="12700">
            <a:solidFill>
              <a:srgbClr val="9FAAB1"/>
            </a:solidFill>
            <a:prstDash val="solid"/>
          </a:ln>
        </p:spPr>
      </p:sp>
      <p:sp>
        <p:nvSpPr>
          <p:cNvPr id="34" name="Text 31"/>
          <p:cNvSpPr/>
          <p:nvPr/>
        </p:nvSpPr>
        <p:spPr>
          <a:xfrm>
            <a:off x="9264701" y="1888236"/>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NT</a:t>
            </a:r>
            <a:endParaRPr lang="en-US" sz="1050" dirty="0"/>
          </a:p>
        </p:txBody>
      </p:sp>
      <p:sp>
        <p:nvSpPr>
          <p:cNvPr id="35" name="Shape 32"/>
          <p:cNvSpPr/>
          <p:nvPr/>
        </p:nvSpPr>
        <p:spPr>
          <a:xfrm>
            <a:off x="10506456" y="1988820"/>
            <a:ext cx="274320" cy="274320"/>
          </a:xfrm>
          <a:prstGeom prst="ellipse">
            <a:avLst/>
          </a:prstGeom>
          <a:solidFill>
            <a:srgbClr val="6E8B5A"/>
          </a:solidFill>
          <a:ln w="12700">
            <a:solidFill>
              <a:srgbClr val="6E8B5A"/>
            </a:solidFill>
            <a:prstDash val="solid"/>
          </a:ln>
        </p:spPr>
      </p:sp>
      <p:sp>
        <p:nvSpPr>
          <p:cNvPr id="36" name="Text 33"/>
          <p:cNvSpPr/>
          <p:nvPr/>
        </p:nvSpPr>
        <p:spPr>
          <a:xfrm>
            <a:off x="10259568" y="1979676"/>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a:t>
            </a:r>
            <a:endParaRPr lang="en-US" sz="1050" dirty="0"/>
          </a:p>
        </p:txBody>
      </p:sp>
      <p:sp>
        <p:nvSpPr>
          <p:cNvPr id="37" name="Shape 34"/>
          <p:cNvSpPr/>
          <p:nvPr/>
        </p:nvSpPr>
        <p:spPr>
          <a:xfrm>
            <a:off x="9628632" y="2857500"/>
            <a:ext cx="274320" cy="274320"/>
          </a:xfrm>
          <a:prstGeom prst="ellipse">
            <a:avLst/>
          </a:prstGeom>
          <a:solidFill>
            <a:srgbClr val="50808E"/>
          </a:solidFill>
          <a:ln w="12700">
            <a:solidFill>
              <a:srgbClr val="50808E"/>
            </a:solidFill>
            <a:prstDash val="solid"/>
          </a:ln>
        </p:spPr>
      </p:sp>
      <p:sp>
        <p:nvSpPr>
          <p:cNvPr id="38" name="Text 35"/>
          <p:cNvSpPr/>
          <p:nvPr/>
        </p:nvSpPr>
        <p:spPr>
          <a:xfrm>
            <a:off x="9381744" y="2848356"/>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a:t>
            </a:r>
            <a:endParaRPr lang="en-US" sz="1050" dirty="0"/>
          </a:p>
        </p:txBody>
      </p:sp>
      <p:sp>
        <p:nvSpPr>
          <p:cNvPr id="39" name="Shape 36"/>
          <p:cNvSpPr/>
          <p:nvPr/>
        </p:nvSpPr>
        <p:spPr>
          <a:xfrm>
            <a:off x="10623499" y="2857500"/>
            <a:ext cx="274320" cy="274320"/>
          </a:xfrm>
          <a:prstGeom prst="ellipse">
            <a:avLst/>
          </a:prstGeom>
          <a:solidFill>
            <a:srgbClr val="E4E9EB"/>
          </a:solidFill>
          <a:ln w="12700">
            <a:solidFill>
              <a:srgbClr val="9FAAB1"/>
            </a:solidFill>
            <a:prstDash val="solid"/>
          </a:ln>
        </p:spPr>
      </p:sp>
      <p:sp>
        <p:nvSpPr>
          <p:cNvPr id="40" name="Text 37"/>
          <p:cNvSpPr/>
          <p:nvPr/>
        </p:nvSpPr>
        <p:spPr>
          <a:xfrm>
            <a:off x="10376611" y="2848356"/>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NSW</a:t>
            </a:r>
            <a:endParaRPr lang="en-US" sz="1050" dirty="0"/>
          </a:p>
        </p:txBody>
      </p:sp>
      <p:sp>
        <p:nvSpPr>
          <p:cNvPr id="41" name="Shape 38"/>
          <p:cNvSpPr/>
          <p:nvPr/>
        </p:nvSpPr>
        <p:spPr>
          <a:xfrm>
            <a:off x="10213848" y="3497580"/>
            <a:ext cx="274320" cy="274320"/>
          </a:xfrm>
          <a:prstGeom prst="ellipse">
            <a:avLst/>
          </a:prstGeom>
          <a:solidFill>
            <a:srgbClr val="E4E9EB"/>
          </a:solidFill>
          <a:ln w="12700">
            <a:solidFill>
              <a:srgbClr val="9FAAB1"/>
            </a:solidFill>
            <a:prstDash val="solid"/>
          </a:ln>
        </p:spPr>
      </p:sp>
      <p:sp>
        <p:nvSpPr>
          <p:cNvPr id="42" name="Text 39"/>
          <p:cNvSpPr/>
          <p:nvPr/>
        </p:nvSpPr>
        <p:spPr>
          <a:xfrm>
            <a:off x="9966960" y="3488436"/>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V</a:t>
            </a:r>
            <a:endParaRPr lang="en-US" sz="1050" dirty="0"/>
          </a:p>
        </p:txBody>
      </p:sp>
      <p:sp>
        <p:nvSpPr>
          <p:cNvPr id="43" name="Shape 40"/>
          <p:cNvSpPr/>
          <p:nvPr/>
        </p:nvSpPr>
        <p:spPr>
          <a:xfrm>
            <a:off x="10974629" y="3771900"/>
            <a:ext cx="274320" cy="274320"/>
          </a:xfrm>
          <a:prstGeom prst="ellipse">
            <a:avLst/>
          </a:prstGeom>
          <a:solidFill>
            <a:srgbClr val="E4E9EB"/>
          </a:solidFill>
          <a:ln w="12700">
            <a:solidFill>
              <a:srgbClr val="9FAAB1"/>
            </a:solidFill>
            <a:prstDash val="solid"/>
          </a:ln>
        </p:spPr>
      </p:sp>
      <p:sp>
        <p:nvSpPr>
          <p:cNvPr id="44" name="Text 41"/>
          <p:cNvSpPr/>
          <p:nvPr/>
        </p:nvSpPr>
        <p:spPr>
          <a:xfrm>
            <a:off x="10727741" y="3762756"/>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T</a:t>
            </a:r>
            <a:endParaRPr lang="en-US" sz="1050" dirty="0"/>
          </a:p>
        </p:txBody>
      </p:sp>
      <p:sp>
        <p:nvSpPr>
          <p:cNvPr id="45" name="Shape 42"/>
          <p:cNvSpPr/>
          <p:nvPr/>
        </p:nvSpPr>
        <p:spPr>
          <a:xfrm>
            <a:off x="8366760" y="4343400"/>
            <a:ext cx="3291840" cy="1508760"/>
          </a:xfrm>
          <a:prstGeom prst="roundRect">
            <a:avLst>
              <a:gd name="adj" fmla="val 3636"/>
            </a:avLst>
          </a:prstGeom>
          <a:solidFill>
            <a:srgbClr val="F7EEEA"/>
          </a:solidFill>
          <a:ln w="9525">
            <a:solidFill>
              <a:srgbClr val="F7EEEA"/>
            </a:solidFill>
            <a:prstDash val="solid"/>
          </a:ln>
        </p:spPr>
      </p:sp>
      <p:sp>
        <p:nvSpPr>
          <p:cNvPr id="46" name="Text 43"/>
          <p:cNvSpPr/>
          <p:nvPr/>
        </p:nvSpPr>
        <p:spPr>
          <a:xfrm>
            <a:off x="8595360" y="4526280"/>
            <a:ext cx="2834640" cy="301752"/>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The lesson</a:t>
            </a:r>
            <a:endParaRPr lang="en-US" sz="1400" dirty="0"/>
          </a:p>
        </p:txBody>
      </p:sp>
      <p:sp>
        <p:nvSpPr>
          <p:cNvPr id="47" name="Text 44"/>
          <p:cNvSpPr/>
          <p:nvPr/>
        </p:nvSpPr>
        <p:spPr>
          <a:xfrm>
            <a:off x="8595360" y="4892040"/>
            <a:ext cx="2834640" cy="86868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Same edge, opposite direction, different verdict. AC-3 must queue both arcs, not just the edge.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WORKED TRACE - 3 OF 4</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The cascade: one deletion invalidates an earlier check</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13</a:t>
            </a:r>
            <a:endParaRPr lang="en-US" sz="900" dirty="0"/>
          </a:p>
        </p:txBody>
      </p:sp>
      <p:sp>
        <p:nvSpPr>
          <p:cNvPr id="7" name="Shape 4"/>
          <p:cNvSpPr/>
          <p:nvPr/>
        </p:nvSpPr>
        <p:spPr>
          <a:xfrm>
            <a:off x="548640" y="1655064"/>
            <a:ext cx="457200" cy="457200"/>
          </a:xfrm>
          <a:prstGeom prst="ellipse">
            <a:avLst/>
          </a:prstGeom>
          <a:solidFill>
            <a:srgbClr val="50808E"/>
          </a:solidFill>
          <a:ln/>
        </p:spPr>
      </p:sp>
      <p:sp>
        <p:nvSpPr>
          <p:cNvPr id="8" name="Text 5"/>
          <p:cNvSpPr/>
          <p:nvPr/>
        </p:nvSpPr>
        <p:spPr>
          <a:xfrm>
            <a:off x="548640" y="165506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p:nvPr/>
        </p:nvSpPr>
        <p:spPr>
          <a:xfrm>
            <a:off x="1207008" y="1600200"/>
            <a:ext cx="5852160" cy="301752"/>
          </a:xfrm>
          <a:prstGeom prst="rect">
            <a:avLst/>
          </a:prstGeom>
          <a:noFill/>
          <a:ln/>
        </p:spPr>
        <p:txBody>
          <a:bodyPr wrap="square" lIns="0" tIns="0" rIns="0" bIns="0" rtlCol="0" anchor="ctr"/>
          <a:lstStyle/>
          <a:p>
            <a:pPr indent="0" marL="0">
              <a:buNone/>
            </a:pPr>
            <a:r>
              <a:rPr lang="en-US" sz="1500" b="1" dirty="0">
                <a:solidFill>
                  <a:srgbClr val="22303A"/>
                </a:solidFill>
                <a:latin typeface="Calibri" pitchFamily="34" charset="0"/>
                <a:ea typeface="Calibri" pitchFamily="34" charset="-122"/>
                <a:cs typeface="Calibri" pitchFamily="34" charset="-120"/>
              </a:rPr>
              <a:t>We deleted blue from NSW</a:t>
            </a:r>
            <a:endParaRPr lang="en-US" sz="1500" dirty="0"/>
          </a:p>
        </p:txBody>
      </p:sp>
      <p:sp>
        <p:nvSpPr>
          <p:cNvPr id="10" name="Text 7"/>
          <p:cNvSpPr/>
          <p:nvPr/>
        </p:nvSpPr>
        <p:spPr>
          <a:xfrm>
            <a:off x="1207008" y="1984248"/>
            <a:ext cx="6035040" cy="411480"/>
          </a:xfrm>
          <a:prstGeom prst="rect">
            <a:avLst/>
          </a:prstGeom>
          <a:noFill/>
          <a:ln/>
        </p:spPr>
        <p:txBody>
          <a:bodyPr wrap="square" lIns="0" tIns="0" rIns="0" bIns="0" rtlCol="0" anchor="t"/>
          <a:lstStyle/>
          <a:p>
            <a:pPr indent="0" marL="0">
              <a:lnSpc>
                <a:spcPct val="112000"/>
              </a:lnSpc>
              <a:buNone/>
            </a:pPr>
            <a:r>
              <a:rPr lang="en-US" sz="1250" dirty="0">
                <a:solidFill>
                  <a:srgbClr val="6E7A83"/>
                </a:solidFill>
                <a:latin typeface="Calibri" pitchFamily="34" charset="0"/>
                <a:ea typeface="Calibri" pitchFamily="34" charset="-122"/>
                <a:cs typeface="Calibri" pitchFamily="34" charset="-120"/>
              </a:rPr>
              <a:t>NSW is now down to {red}.</a:t>
            </a:r>
            <a:endParaRPr lang="en-US" sz="1250" dirty="0"/>
          </a:p>
        </p:txBody>
      </p:sp>
      <p:sp>
        <p:nvSpPr>
          <p:cNvPr id="11" name="Shape 8"/>
          <p:cNvSpPr/>
          <p:nvPr/>
        </p:nvSpPr>
        <p:spPr>
          <a:xfrm>
            <a:off x="777240" y="2167128"/>
            <a:ext cx="0" cy="877824"/>
          </a:xfrm>
          <a:prstGeom prst="line">
            <a:avLst/>
          </a:prstGeom>
          <a:noFill/>
          <a:ln w="19050">
            <a:solidFill>
              <a:srgbClr val="C6CFD4"/>
            </a:solidFill>
            <a:prstDash val="solid"/>
          </a:ln>
        </p:spPr>
      </p:sp>
      <p:sp>
        <p:nvSpPr>
          <p:cNvPr id="12" name="Shape 9"/>
          <p:cNvSpPr/>
          <p:nvPr/>
        </p:nvSpPr>
        <p:spPr>
          <a:xfrm>
            <a:off x="548640" y="2788920"/>
            <a:ext cx="457200" cy="457200"/>
          </a:xfrm>
          <a:prstGeom prst="ellipse">
            <a:avLst/>
          </a:prstGeom>
          <a:solidFill>
            <a:srgbClr val="50808E"/>
          </a:solidFill>
          <a:ln/>
        </p:spPr>
      </p:sp>
      <p:sp>
        <p:nvSpPr>
          <p:cNvPr id="13" name="Text 10"/>
          <p:cNvSpPr/>
          <p:nvPr/>
        </p:nvSpPr>
        <p:spPr>
          <a:xfrm>
            <a:off x="548640" y="27889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207008" y="2734056"/>
            <a:ext cx="5852160" cy="301752"/>
          </a:xfrm>
          <a:prstGeom prst="rect">
            <a:avLst/>
          </a:prstGeom>
          <a:noFill/>
          <a:ln/>
        </p:spPr>
        <p:txBody>
          <a:bodyPr wrap="square" lIns="0" tIns="0" rIns="0" bIns="0" rtlCol="0" anchor="ctr"/>
          <a:lstStyle/>
          <a:p>
            <a:pPr indent="0" marL="0">
              <a:buNone/>
            </a:pPr>
            <a:r>
              <a:rPr lang="en-US" sz="1500" b="1" dirty="0">
                <a:solidFill>
                  <a:srgbClr val="22303A"/>
                </a:solidFill>
                <a:latin typeface="Calibri" pitchFamily="34" charset="0"/>
                <a:ea typeface="Calibri" pitchFamily="34" charset="-122"/>
                <a:cs typeface="Calibri" pitchFamily="34" charset="-120"/>
              </a:rPr>
              <a:t>But V -&gt; NSW passed earlier</a:t>
            </a:r>
            <a:endParaRPr lang="en-US" sz="1500" dirty="0"/>
          </a:p>
        </p:txBody>
      </p:sp>
      <p:sp>
        <p:nvSpPr>
          <p:cNvPr id="15" name="Text 12"/>
          <p:cNvSpPr/>
          <p:nvPr/>
        </p:nvSpPr>
        <p:spPr>
          <a:xfrm>
            <a:off x="1207008" y="3118104"/>
            <a:ext cx="6035040" cy="411480"/>
          </a:xfrm>
          <a:prstGeom prst="rect">
            <a:avLst/>
          </a:prstGeom>
          <a:noFill/>
          <a:ln/>
        </p:spPr>
        <p:txBody>
          <a:bodyPr wrap="square" lIns="0" tIns="0" rIns="0" bIns="0" rtlCol="0" anchor="t"/>
          <a:lstStyle/>
          <a:p>
            <a:pPr indent="0" marL="0">
              <a:lnSpc>
                <a:spcPct val="112000"/>
              </a:lnSpc>
              <a:buNone/>
            </a:pPr>
            <a:r>
              <a:rPr lang="en-US" sz="1250" dirty="0">
                <a:solidFill>
                  <a:srgbClr val="6E7A83"/>
                </a:solidFill>
                <a:latin typeface="Calibri" pitchFamily="34" charset="0"/>
                <a:ea typeface="Calibri" pitchFamily="34" charset="-122"/>
                <a:cs typeface="Calibri" pitchFamily="34" charset="-120"/>
              </a:rPr>
              <a:t>That verdict relied on NSW being able to take blue.</a:t>
            </a:r>
            <a:endParaRPr lang="en-US" sz="1250" dirty="0"/>
          </a:p>
        </p:txBody>
      </p:sp>
      <p:sp>
        <p:nvSpPr>
          <p:cNvPr id="16" name="Shape 13"/>
          <p:cNvSpPr/>
          <p:nvPr/>
        </p:nvSpPr>
        <p:spPr>
          <a:xfrm>
            <a:off x="777240" y="3300984"/>
            <a:ext cx="0" cy="877824"/>
          </a:xfrm>
          <a:prstGeom prst="line">
            <a:avLst/>
          </a:prstGeom>
          <a:noFill/>
          <a:ln w="19050">
            <a:solidFill>
              <a:srgbClr val="C6CFD4"/>
            </a:solidFill>
            <a:prstDash val="solid"/>
          </a:ln>
        </p:spPr>
      </p:sp>
      <p:sp>
        <p:nvSpPr>
          <p:cNvPr id="17" name="Shape 14"/>
          <p:cNvSpPr/>
          <p:nvPr/>
        </p:nvSpPr>
        <p:spPr>
          <a:xfrm>
            <a:off x="548640" y="3922776"/>
            <a:ext cx="457200" cy="457200"/>
          </a:xfrm>
          <a:prstGeom prst="ellipse">
            <a:avLst/>
          </a:prstGeom>
          <a:solidFill>
            <a:srgbClr val="50808E"/>
          </a:solidFill>
          <a:ln/>
        </p:spPr>
      </p:sp>
      <p:sp>
        <p:nvSpPr>
          <p:cNvPr id="18" name="Text 15"/>
          <p:cNvSpPr/>
          <p:nvPr/>
        </p:nvSpPr>
        <p:spPr>
          <a:xfrm>
            <a:off x="548640" y="392277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p:nvPr/>
        </p:nvSpPr>
        <p:spPr>
          <a:xfrm>
            <a:off x="1207008" y="3867912"/>
            <a:ext cx="5852160" cy="301752"/>
          </a:xfrm>
          <a:prstGeom prst="rect">
            <a:avLst/>
          </a:prstGeom>
          <a:noFill/>
          <a:ln/>
        </p:spPr>
        <p:txBody>
          <a:bodyPr wrap="square" lIns="0" tIns="0" rIns="0" bIns="0" rtlCol="0" anchor="ctr"/>
          <a:lstStyle/>
          <a:p>
            <a:pPr indent="0" marL="0">
              <a:buNone/>
            </a:pPr>
            <a:r>
              <a:rPr lang="en-US" sz="1500" b="1" dirty="0">
                <a:solidFill>
                  <a:srgbClr val="22303A"/>
                </a:solidFill>
                <a:latin typeface="Calibri" pitchFamily="34" charset="0"/>
                <a:ea typeface="Calibri" pitchFamily="34" charset="-122"/>
                <a:cs typeface="Calibri" pitchFamily="34" charset="-120"/>
              </a:rPr>
              <a:t>So re-queue V -&gt; NSW</a:t>
            </a:r>
            <a:endParaRPr lang="en-US" sz="1500" dirty="0"/>
          </a:p>
        </p:txBody>
      </p:sp>
      <p:sp>
        <p:nvSpPr>
          <p:cNvPr id="20" name="Text 17"/>
          <p:cNvSpPr/>
          <p:nvPr/>
        </p:nvSpPr>
        <p:spPr>
          <a:xfrm>
            <a:off x="1207008" y="4251960"/>
            <a:ext cx="6035040" cy="411480"/>
          </a:xfrm>
          <a:prstGeom prst="rect">
            <a:avLst/>
          </a:prstGeom>
          <a:noFill/>
          <a:ln/>
        </p:spPr>
        <p:txBody>
          <a:bodyPr wrap="square" lIns="0" tIns="0" rIns="0" bIns="0" rtlCol="0" anchor="t"/>
          <a:lstStyle/>
          <a:p>
            <a:pPr indent="0" marL="0">
              <a:lnSpc>
                <a:spcPct val="112000"/>
              </a:lnSpc>
              <a:buNone/>
            </a:pPr>
            <a:r>
              <a:rPr lang="en-US" sz="1250" dirty="0">
                <a:solidFill>
                  <a:srgbClr val="6E7A83"/>
                </a:solidFill>
                <a:latin typeface="Calibri" pitchFamily="34" charset="0"/>
                <a:ea typeface="Calibri" pitchFamily="34" charset="-122"/>
                <a:cs typeface="Calibri" pitchFamily="34" charset="-120"/>
              </a:rPr>
              <a:t>V = red needed NSW = blue. That option is gone.</a:t>
            </a:r>
            <a:endParaRPr lang="en-US" sz="1250" dirty="0"/>
          </a:p>
        </p:txBody>
      </p:sp>
      <p:sp>
        <p:nvSpPr>
          <p:cNvPr id="21" name="Shape 18"/>
          <p:cNvSpPr/>
          <p:nvPr/>
        </p:nvSpPr>
        <p:spPr>
          <a:xfrm>
            <a:off x="777240" y="4434840"/>
            <a:ext cx="0" cy="877824"/>
          </a:xfrm>
          <a:prstGeom prst="line">
            <a:avLst/>
          </a:prstGeom>
          <a:noFill/>
          <a:ln w="19050">
            <a:solidFill>
              <a:srgbClr val="C6CFD4"/>
            </a:solidFill>
            <a:prstDash val="solid"/>
          </a:ln>
        </p:spPr>
      </p:sp>
      <p:sp>
        <p:nvSpPr>
          <p:cNvPr id="22" name="Shape 19"/>
          <p:cNvSpPr/>
          <p:nvPr/>
        </p:nvSpPr>
        <p:spPr>
          <a:xfrm>
            <a:off x="548640" y="5056632"/>
            <a:ext cx="457200" cy="457200"/>
          </a:xfrm>
          <a:prstGeom prst="ellipse">
            <a:avLst/>
          </a:prstGeom>
          <a:solidFill>
            <a:srgbClr val="50808E"/>
          </a:solidFill>
          <a:ln/>
        </p:spPr>
      </p:sp>
      <p:sp>
        <p:nvSpPr>
          <p:cNvPr id="23" name="Text 20"/>
          <p:cNvSpPr/>
          <p:nvPr/>
        </p:nvSpPr>
        <p:spPr>
          <a:xfrm>
            <a:off x="548640" y="505663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1"/>
          <p:cNvSpPr/>
          <p:nvPr/>
        </p:nvSpPr>
        <p:spPr>
          <a:xfrm>
            <a:off x="1207008" y="5001768"/>
            <a:ext cx="5852160" cy="301752"/>
          </a:xfrm>
          <a:prstGeom prst="rect">
            <a:avLst/>
          </a:prstGeom>
          <a:noFill/>
          <a:ln/>
        </p:spPr>
        <p:txBody>
          <a:bodyPr wrap="square" lIns="0" tIns="0" rIns="0" bIns="0" rtlCol="0" anchor="ctr"/>
          <a:lstStyle/>
          <a:p>
            <a:pPr indent="0" marL="0">
              <a:buNone/>
            </a:pPr>
            <a:r>
              <a:rPr lang="en-US" sz="1500" b="1" dirty="0">
                <a:solidFill>
                  <a:srgbClr val="22303A"/>
                </a:solidFill>
                <a:latin typeface="Calibri" pitchFamily="34" charset="0"/>
                <a:ea typeface="Calibri" pitchFamily="34" charset="-122"/>
                <a:cs typeface="Calibri" pitchFamily="34" charset="-120"/>
              </a:rPr>
              <a:t>Delete red from V</a:t>
            </a:r>
            <a:endParaRPr lang="en-US" sz="1500" dirty="0"/>
          </a:p>
        </p:txBody>
      </p:sp>
      <p:sp>
        <p:nvSpPr>
          <p:cNvPr id="25" name="Text 22"/>
          <p:cNvSpPr/>
          <p:nvPr/>
        </p:nvSpPr>
        <p:spPr>
          <a:xfrm>
            <a:off x="1207008" y="5385816"/>
            <a:ext cx="6035040" cy="411480"/>
          </a:xfrm>
          <a:prstGeom prst="rect">
            <a:avLst/>
          </a:prstGeom>
          <a:noFill/>
          <a:ln/>
        </p:spPr>
        <p:txBody>
          <a:bodyPr wrap="square" lIns="0" tIns="0" rIns="0" bIns="0" rtlCol="0" anchor="t"/>
          <a:lstStyle/>
          <a:p>
            <a:pPr indent="0" marL="0">
              <a:lnSpc>
                <a:spcPct val="112000"/>
              </a:lnSpc>
              <a:buNone/>
            </a:pPr>
            <a:r>
              <a:rPr lang="en-US" sz="1250" dirty="0">
                <a:solidFill>
                  <a:srgbClr val="6E7A83"/>
                </a:solidFill>
                <a:latin typeface="Calibri" pitchFamily="34" charset="0"/>
                <a:ea typeface="Calibri" pitchFamily="34" charset="-122"/>
                <a:cs typeface="Calibri" pitchFamily="34" charset="-120"/>
              </a:rPr>
              <a:t>V becomes {green, blue}. Now V -&gt; NSW is consistent again.</a:t>
            </a:r>
            <a:endParaRPr lang="en-US" sz="1250" dirty="0"/>
          </a:p>
        </p:txBody>
      </p:sp>
      <p:sp>
        <p:nvSpPr>
          <p:cNvPr id="26" name="Shape 23"/>
          <p:cNvSpPr/>
          <p:nvPr/>
        </p:nvSpPr>
        <p:spPr>
          <a:xfrm>
            <a:off x="7635240" y="1417320"/>
            <a:ext cx="4023360" cy="2286000"/>
          </a:xfrm>
          <a:prstGeom prst="roundRect">
            <a:avLst>
              <a:gd name="adj" fmla="val 2400"/>
            </a:avLst>
          </a:prstGeom>
          <a:solidFill>
            <a:srgbClr val="F1F3F4"/>
          </a:solidFill>
          <a:ln w="9525">
            <a:solidFill>
              <a:srgbClr val="F1F3F4"/>
            </a:solidFill>
            <a:prstDash val="solid"/>
          </a:ln>
        </p:spPr>
      </p:sp>
      <p:sp>
        <p:nvSpPr>
          <p:cNvPr id="27" name="Text 24"/>
          <p:cNvSpPr/>
          <p:nvPr/>
        </p:nvSpPr>
        <p:spPr>
          <a:xfrm>
            <a:off x="7909560" y="1600200"/>
            <a:ext cx="3566160" cy="301752"/>
          </a:xfrm>
          <a:prstGeom prst="rect">
            <a:avLst/>
          </a:prstGeom>
          <a:noFill/>
          <a:ln/>
        </p:spPr>
        <p:txBody>
          <a:bodyPr wrap="square" lIns="0" tIns="0" rIns="0" bIns="0" rtlCol="0" anchor="ctr"/>
          <a:lstStyle/>
          <a:p>
            <a:pPr indent="0" marL="0">
              <a:buNone/>
            </a:pPr>
            <a:r>
              <a:rPr lang="en-US" sz="1500" b="1" dirty="0">
                <a:solidFill>
                  <a:srgbClr val="50808E"/>
                </a:solidFill>
                <a:latin typeface="Calibri" pitchFamily="34" charset="0"/>
                <a:ea typeface="Calibri" pitchFamily="34" charset="-122"/>
                <a:cs typeface="Calibri" pitchFamily="34" charset="-120"/>
              </a:rPr>
              <a:t>Why this matters</a:t>
            </a:r>
            <a:endParaRPr lang="en-US" sz="1500" dirty="0"/>
          </a:p>
        </p:txBody>
      </p:sp>
      <p:sp>
        <p:nvSpPr>
          <p:cNvPr id="28" name="Text 25"/>
          <p:cNvSpPr/>
          <p:nvPr/>
        </p:nvSpPr>
        <p:spPr>
          <a:xfrm>
            <a:off x="7909560" y="1993392"/>
            <a:ext cx="3520440" cy="155448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The deletion at NSW propagated to V - a variable that is not adjacent to anything we just assigned. Forward checking would never have looked there.</a:t>
            </a:r>
            <a:endParaRPr lang="en-US" sz="1250" dirty="0"/>
          </a:p>
        </p:txBody>
      </p:sp>
      <p:sp>
        <p:nvSpPr>
          <p:cNvPr id="29" name="Shape 26"/>
          <p:cNvSpPr/>
          <p:nvPr/>
        </p:nvSpPr>
        <p:spPr>
          <a:xfrm>
            <a:off x="7635240" y="3931920"/>
            <a:ext cx="4023360" cy="1920240"/>
          </a:xfrm>
          <a:prstGeom prst="roundRect">
            <a:avLst>
              <a:gd name="adj" fmla="val 2857"/>
            </a:avLst>
          </a:prstGeom>
          <a:solidFill>
            <a:srgbClr val="F7EEEA"/>
          </a:solidFill>
          <a:ln w="9525">
            <a:solidFill>
              <a:srgbClr val="F7EEEA"/>
            </a:solidFill>
            <a:prstDash val="solid"/>
          </a:ln>
        </p:spPr>
      </p:sp>
      <p:sp>
        <p:nvSpPr>
          <p:cNvPr id="30" name="Text 27"/>
          <p:cNvSpPr/>
          <p:nvPr/>
        </p:nvSpPr>
        <p:spPr>
          <a:xfrm>
            <a:off x="7909560" y="4114800"/>
            <a:ext cx="3566160" cy="301752"/>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Termination</a:t>
            </a:r>
            <a:endParaRPr lang="en-US" sz="1500" dirty="0"/>
          </a:p>
        </p:txBody>
      </p:sp>
      <p:sp>
        <p:nvSpPr>
          <p:cNvPr id="31" name="Text 28"/>
          <p:cNvSpPr/>
          <p:nvPr/>
        </p:nvSpPr>
        <p:spPr>
          <a:xfrm>
            <a:off x="7909560" y="4507992"/>
            <a:ext cx="3520440" cy="123444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An arc is re-queued only after some domain shrinks, and a domain can only shrink finitely many times. So the cascade always stops.</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WORKED TRACE - 4 OF 4</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The interesting case: SA -&gt; NT and an empty domain</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14</a:t>
            </a:r>
            <a:endParaRPr lang="en-US" sz="900" dirty="0"/>
          </a:p>
        </p:txBody>
      </p:sp>
      <p:sp>
        <p:nvSpPr>
          <p:cNvPr id="7" name="Text 4"/>
          <p:cNvSpPr/>
          <p:nvPr/>
        </p:nvSpPr>
        <p:spPr>
          <a:xfrm>
            <a:off x="502920" y="1371600"/>
            <a:ext cx="6949440" cy="777240"/>
          </a:xfrm>
          <a:prstGeom prst="rect">
            <a:avLst/>
          </a:prstGeom>
          <a:noFill/>
          <a:ln/>
        </p:spPr>
        <p:txBody>
          <a:bodyPr wrap="square" lIns="0" tIns="0" rIns="0" bIns="0" rtlCol="0" anchor="t"/>
          <a:lstStyle/>
          <a:p>
            <a:pPr indent="0" marL="0">
              <a:lnSpc>
                <a:spcPct val="112000"/>
              </a:lnSpc>
              <a:buNone/>
            </a:pPr>
            <a:r>
              <a:rPr lang="en-US" sz="1400" dirty="0">
                <a:solidFill>
                  <a:srgbClr val="2B3138"/>
                </a:solidFill>
                <a:latin typeface="Calibri" pitchFamily="34" charset="0"/>
                <a:ea typeface="Calibri" pitchFamily="34" charset="-122"/>
                <a:cs typeface="Calibri" pitchFamily="34" charset="-120"/>
              </a:rPr>
              <a:t>Neither SA nor NT is assigned. Earlier filtering has pinned both down to blue alone - but they are adjacent, so they cannot both be blue.</a:t>
            </a:r>
            <a:endParaRPr lang="en-US" sz="1400" dirty="0"/>
          </a:p>
        </p:txBody>
      </p:sp>
      <p:sp>
        <p:nvSpPr>
          <p:cNvPr id="8" name="Text 5"/>
          <p:cNvSpPr/>
          <p:nvPr/>
        </p:nvSpPr>
        <p:spPr>
          <a:xfrm>
            <a:off x="777240" y="2286000"/>
            <a:ext cx="566928" cy="274320"/>
          </a:xfrm>
          <a:prstGeom prst="rect">
            <a:avLst/>
          </a:prstGeom>
          <a:noFill/>
          <a:ln/>
        </p:spPr>
        <p:txBody>
          <a:bodyPr wrap="square" lIns="0" tIns="0" rIns="0" bIns="0" rtlCol="0" anchor="ctr"/>
          <a:lstStyle/>
          <a:p>
            <a:pPr indent="0" marL="0">
              <a:buNone/>
            </a:pPr>
            <a:r>
              <a:rPr lang="en-US" sz="1250" b="1" dirty="0">
                <a:solidFill>
                  <a:srgbClr val="22303A"/>
                </a:solidFill>
                <a:latin typeface="Calibri" pitchFamily="34" charset="0"/>
                <a:ea typeface="Calibri" pitchFamily="34" charset="-122"/>
                <a:cs typeface="Calibri" pitchFamily="34" charset="-120"/>
              </a:rPr>
              <a:t>SA</a:t>
            </a:r>
            <a:endParaRPr lang="en-US" sz="1250" dirty="0"/>
          </a:p>
        </p:txBody>
      </p:sp>
      <p:sp>
        <p:nvSpPr>
          <p:cNvPr id="9" name="Shape 6"/>
          <p:cNvSpPr/>
          <p:nvPr/>
        </p:nvSpPr>
        <p:spPr>
          <a:xfrm>
            <a:off x="1380744" y="2308860"/>
            <a:ext cx="292608" cy="228600"/>
          </a:xfrm>
          <a:prstGeom prst="roundRect">
            <a:avLst>
              <a:gd name="adj" fmla="val 16000"/>
            </a:avLst>
          </a:prstGeom>
          <a:solidFill>
            <a:srgbClr val="EDEFF0"/>
          </a:solidFill>
          <a:ln w="9525">
            <a:solidFill>
              <a:srgbClr val="DCE0E2"/>
            </a:solidFill>
            <a:prstDash val="solid"/>
          </a:ln>
        </p:spPr>
      </p:sp>
      <p:sp>
        <p:nvSpPr>
          <p:cNvPr id="10" name="Text 7"/>
          <p:cNvSpPr/>
          <p:nvPr/>
        </p:nvSpPr>
        <p:spPr>
          <a:xfrm>
            <a:off x="1380744" y="2308860"/>
            <a:ext cx="292608" cy="228600"/>
          </a:xfrm>
          <a:prstGeom prst="rect">
            <a:avLst/>
          </a:prstGeom>
          <a:noFill/>
          <a:ln/>
        </p:spPr>
        <p:txBody>
          <a:bodyPr wrap="square" lIns="0" tIns="0" rIns="0" bIns="0" rtlCol="0" anchor="ctr"/>
          <a:lstStyle/>
          <a:p>
            <a:pPr algn="ctr" indent="0" marL="0">
              <a:buNone/>
            </a:pPr>
            <a:r>
              <a:rPr lang="en-US" sz="1050" b="1" dirty="0">
                <a:solidFill>
                  <a:srgbClr val="B6BEC2"/>
                </a:solidFill>
                <a:latin typeface="Calibri" pitchFamily="34" charset="0"/>
                <a:ea typeface="Calibri" pitchFamily="34" charset="-122"/>
                <a:cs typeface="Calibri" pitchFamily="34" charset="-120"/>
              </a:rPr>
              <a:t>R</a:t>
            </a:r>
            <a:endParaRPr lang="en-US" sz="1050" dirty="0"/>
          </a:p>
        </p:txBody>
      </p:sp>
      <p:sp>
        <p:nvSpPr>
          <p:cNvPr id="11" name="Shape 8"/>
          <p:cNvSpPr/>
          <p:nvPr/>
        </p:nvSpPr>
        <p:spPr>
          <a:xfrm>
            <a:off x="1728216" y="2308860"/>
            <a:ext cx="292608" cy="228600"/>
          </a:xfrm>
          <a:prstGeom prst="roundRect">
            <a:avLst>
              <a:gd name="adj" fmla="val 16000"/>
            </a:avLst>
          </a:prstGeom>
          <a:solidFill>
            <a:srgbClr val="EDEFF0"/>
          </a:solidFill>
          <a:ln w="9525">
            <a:solidFill>
              <a:srgbClr val="DCE0E2"/>
            </a:solidFill>
            <a:prstDash val="solid"/>
          </a:ln>
        </p:spPr>
      </p:sp>
      <p:sp>
        <p:nvSpPr>
          <p:cNvPr id="12" name="Text 9"/>
          <p:cNvSpPr/>
          <p:nvPr/>
        </p:nvSpPr>
        <p:spPr>
          <a:xfrm>
            <a:off x="1728216" y="2308860"/>
            <a:ext cx="292608" cy="228600"/>
          </a:xfrm>
          <a:prstGeom prst="rect">
            <a:avLst/>
          </a:prstGeom>
          <a:noFill/>
          <a:ln/>
        </p:spPr>
        <p:txBody>
          <a:bodyPr wrap="square" lIns="0" tIns="0" rIns="0" bIns="0" rtlCol="0" anchor="ctr"/>
          <a:lstStyle/>
          <a:p>
            <a:pPr algn="ctr" indent="0" marL="0">
              <a:buNone/>
            </a:pPr>
            <a:r>
              <a:rPr lang="en-US" sz="1050" b="1" dirty="0">
                <a:solidFill>
                  <a:srgbClr val="B6BEC2"/>
                </a:solidFill>
                <a:latin typeface="Calibri" pitchFamily="34" charset="0"/>
                <a:ea typeface="Calibri" pitchFamily="34" charset="-122"/>
                <a:cs typeface="Calibri" pitchFamily="34" charset="-120"/>
              </a:rPr>
              <a:t>G</a:t>
            </a:r>
            <a:endParaRPr lang="en-US" sz="1050" dirty="0"/>
          </a:p>
        </p:txBody>
      </p:sp>
      <p:sp>
        <p:nvSpPr>
          <p:cNvPr id="13" name="Shape 10"/>
          <p:cNvSpPr/>
          <p:nvPr/>
        </p:nvSpPr>
        <p:spPr>
          <a:xfrm>
            <a:off x="2075688" y="2308860"/>
            <a:ext cx="292608" cy="228600"/>
          </a:xfrm>
          <a:prstGeom prst="roundRect">
            <a:avLst>
              <a:gd name="adj" fmla="val 16000"/>
            </a:avLst>
          </a:prstGeom>
          <a:solidFill>
            <a:srgbClr val="50808E"/>
          </a:solidFill>
          <a:ln w="9525">
            <a:solidFill>
              <a:srgbClr val="50808E"/>
            </a:solidFill>
            <a:prstDash val="solid"/>
          </a:ln>
        </p:spPr>
      </p:sp>
      <p:sp>
        <p:nvSpPr>
          <p:cNvPr id="14" name="Text 11"/>
          <p:cNvSpPr/>
          <p:nvPr/>
        </p:nvSpPr>
        <p:spPr>
          <a:xfrm>
            <a:off x="2075688" y="2308860"/>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t>
            </a:r>
            <a:endParaRPr lang="en-US" sz="1050" dirty="0"/>
          </a:p>
        </p:txBody>
      </p:sp>
      <p:sp>
        <p:nvSpPr>
          <p:cNvPr id="15" name="Text 12"/>
          <p:cNvSpPr/>
          <p:nvPr/>
        </p:nvSpPr>
        <p:spPr>
          <a:xfrm>
            <a:off x="2514600" y="2286000"/>
            <a:ext cx="4663440" cy="274320"/>
          </a:xfrm>
          <a:prstGeom prst="rect">
            <a:avLst/>
          </a:prstGeom>
          <a:noFill/>
          <a:ln/>
        </p:spPr>
        <p:txBody>
          <a:bodyPr wrap="square" lIns="0" tIns="0" rIns="0" bIns="0" rtlCol="0" anchor="ctr"/>
          <a:lstStyle/>
          <a:p>
            <a:pPr indent="0" marL="0">
              <a:buNone/>
            </a:pPr>
            <a:r>
              <a:rPr lang="en-US" sz="1150" i="1" dirty="0">
                <a:solidFill>
                  <a:srgbClr val="6E7A83"/>
                </a:solidFill>
                <a:latin typeface="Calibri" pitchFamily="34" charset="0"/>
                <a:ea typeface="Calibri" pitchFamily="34" charset="-122"/>
                <a:cs typeface="Calibri" pitchFamily="34" charset="-120"/>
              </a:rPr>
              <a:t>only blue remains</a:t>
            </a:r>
            <a:endParaRPr lang="en-US" sz="1150" dirty="0"/>
          </a:p>
        </p:txBody>
      </p:sp>
      <p:sp>
        <p:nvSpPr>
          <p:cNvPr id="16" name="Text 13"/>
          <p:cNvSpPr/>
          <p:nvPr/>
        </p:nvSpPr>
        <p:spPr>
          <a:xfrm>
            <a:off x="777240" y="2743200"/>
            <a:ext cx="566928" cy="274320"/>
          </a:xfrm>
          <a:prstGeom prst="rect">
            <a:avLst/>
          </a:prstGeom>
          <a:noFill/>
          <a:ln/>
        </p:spPr>
        <p:txBody>
          <a:bodyPr wrap="square" lIns="0" tIns="0" rIns="0" bIns="0" rtlCol="0" anchor="ctr"/>
          <a:lstStyle/>
          <a:p>
            <a:pPr indent="0" marL="0">
              <a:buNone/>
            </a:pPr>
            <a:r>
              <a:rPr lang="en-US" sz="1250" b="1" dirty="0">
                <a:solidFill>
                  <a:srgbClr val="22303A"/>
                </a:solidFill>
                <a:latin typeface="Calibri" pitchFamily="34" charset="0"/>
                <a:ea typeface="Calibri" pitchFamily="34" charset="-122"/>
                <a:cs typeface="Calibri" pitchFamily="34" charset="-120"/>
              </a:rPr>
              <a:t>NT</a:t>
            </a:r>
            <a:endParaRPr lang="en-US" sz="1250" dirty="0"/>
          </a:p>
        </p:txBody>
      </p:sp>
      <p:sp>
        <p:nvSpPr>
          <p:cNvPr id="17" name="Shape 14"/>
          <p:cNvSpPr/>
          <p:nvPr/>
        </p:nvSpPr>
        <p:spPr>
          <a:xfrm>
            <a:off x="1380744" y="2766060"/>
            <a:ext cx="292608" cy="228600"/>
          </a:xfrm>
          <a:prstGeom prst="roundRect">
            <a:avLst>
              <a:gd name="adj" fmla="val 16000"/>
            </a:avLst>
          </a:prstGeom>
          <a:solidFill>
            <a:srgbClr val="EDEFF0"/>
          </a:solidFill>
          <a:ln w="9525">
            <a:solidFill>
              <a:srgbClr val="DCE0E2"/>
            </a:solidFill>
            <a:prstDash val="solid"/>
          </a:ln>
        </p:spPr>
      </p:sp>
      <p:sp>
        <p:nvSpPr>
          <p:cNvPr id="18" name="Text 15"/>
          <p:cNvSpPr/>
          <p:nvPr/>
        </p:nvSpPr>
        <p:spPr>
          <a:xfrm>
            <a:off x="1380744" y="2766060"/>
            <a:ext cx="292608" cy="228600"/>
          </a:xfrm>
          <a:prstGeom prst="rect">
            <a:avLst/>
          </a:prstGeom>
          <a:noFill/>
          <a:ln/>
        </p:spPr>
        <p:txBody>
          <a:bodyPr wrap="square" lIns="0" tIns="0" rIns="0" bIns="0" rtlCol="0" anchor="ctr"/>
          <a:lstStyle/>
          <a:p>
            <a:pPr algn="ctr" indent="0" marL="0">
              <a:buNone/>
            </a:pPr>
            <a:r>
              <a:rPr lang="en-US" sz="1050" b="1" dirty="0">
                <a:solidFill>
                  <a:srgbClr val="B6BEC2"/>
                </a:solidFill>
                <a:latin typeface="Calibri" pitchFamily="34" charset="0"/>
                <a:ea typeface="Calibri" pitchFamily="34" charset="-122"/>
                <a:cs typeface="Calibri" pitchFamily="34" charset="-120"/>
              </a:rPr>
              <a:t>R</a:t>
            </a:r>
            <a:endParaRPr lang="en-US" sz="1050" dirty="0"/>
          </a:p>
        </p:txBody>
      </p:sp>
      <p:sp>
        <p:nvSpPr>
          <p:cNvPr id="19" name="Shape 16"/>
          <p:cNvSpPr/>
          <p:nvPr/>
        </p:nvSpPr>
        <p:spPr>
          <a:xfrm>
            <a:off x="1728216" y="2766060"/>
            <a:ext cx="292608" cy="228600"/>
          </a:xfrm>
          <a:prstGeom prst="roundRect">
            <a:avLst>
              <a:gd name="adj" fmla="val 16000"/>
            </a:avLst>
          </a:prstGeom>
          <a:solidFill>
            <a:srgbClr val="EDEFF0"/>
          </a:solidFill>
          <a:ln w="9525">
            <a:solidFill>
              <a:srgbClr val="DCE0E2"/>
            </a:solidFill>
            <a:prstDash val="solid"/>
          </a:ln>
        </p:spPr>
      </p:sp>
      <p:sp>
        <p:nvSpPr>
          <p:cNvPr id="20" name="Text 17"/>
          <p:cNvSpPr/>
          <p:nvPr/>
        </p:nvSpPr>
        <p:spPr>
          <a:xfrm>
            <a:off x="1728216" y="2766060"/>
            <a:ext cx="292608" cy="228600"/>
          </a:xfrm>
          <a:prstGeom prst="rect">
            <a:avLst/>
          </a:prstGeom>
          <a:noFill/>
          <a:ln/>
        </p:spPr>
        <p:txBody>
          <a:bodyPr wrap="square" lIns="0" tIns="0" rIns="0" bIns="0" rtlCol="0" anchor="ctr"/>
          <a:lstStyle/>
          <a:p>
            <a:pPr algn="ctr" indent="0" marL="0">
              <a:buNone/>
            </a:pPr>
            <a:r>
              <a:rPr lang="en-US" sz="1050" b="1" dirty="0">
                <a:solidFill>
                  <a:srgbClr val="B6BEC2"/>
                </a:solidFill>
                <a:latin typeface="Calibri" pitchFamily="34" charset="0"/>
                <a:ea typeface="Calibri" pitchFamily="34" charset="-122"/>
                <a:cs typeface="Calibri" pitchFamily="34" charset="-120"/>
              </a:rPr>
              <a:t>G</a:t>
            </a:r>
            <a:endParaRPr lang="en-US" sz="1050" dirty="0"/>
          </a:p>
        </p:txBody>
      </p:sp>
      <p:sp>
        <p:nvSpPr>
          <p:cNvPr id="21" name="Shape 18"/>
          <p:cNvSpPr/>
          <p:nvPr/>
        </p:nvSpPr>
        <p:spPr>
          <a:xfrm>
            <a:off x="2075688" y="2766060"/>
            <a:ext cx="292608" cy="228600"/>
          </a:xfrm>
          <a:prstGeom prst="roundRect">
            <a:avLst>
              <a:gd name="adj" fmla="val 16000"/>
            </a:avLst>
          </a:prstGeom>
          <a:solidFill>
            <a:srgbClr val="50808E"/>
          </a:solidFill>
          <a:ln w="9525">
            <a:solidFill>
              <a:srgbClr val="50808E"/>
            </a:solidFill>
            <a:prstDash val="solid"/>
          </a:ln>
        </p:spPr>
      </p:sp>
      <p:sp>
        <p:nvSpPr>
          <p:cNvPr id="22" name="Text 19"/>
          <p:cNvSpPr/>
          <p:nvPr/>
        </p:nvSpPr>
        <p:spPr>
          <a:xfrm>
            <a:off x="2075688" y="2766060"/>
            <a:ext cx="292608" cy="22860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a:t>
            </a:r>
            <a:endParaRPr lang="en-US" sz="1050" dirty="0"/>
          </a:p>
        </p:txBody>
      </p:sp>
      <p:sp>
        <p:nvSpPr>
          <p:cNvPr id="23" name="Text 20"/>
          <p:cNvSpPr/>
          <p:nvPr/>
        </p:nvSpPr>
        <p:spPr>
          <a:xfrm>
            <a:off x="2514600" y="2743200"/>
            <a:ext cx="4663440" cy="274320"/>
          </a:xfrm>
          <a:prstGeom prst="rect">
            <a:avLst/>
          </a:prstGeom>
          <a:noFill/>
          <a:ln/>
        </p:spPr>
        <p:txBody>
          <a:bodyPr wrap="square" lIns="0" tIns="0" rIns="0" bIns="0" rtlCol="0" anchor="ctr"/>
          <a:lstStyle/>
          <a:p>
            <a:pPr indent="0" marL="0">
              <a:buNone/>
            </a:pPr>
            <a:r>
              <a:rPr lang="en-US" sz="1150" i="1" dirty="0">
                <a:solidFill>
                  <a:srgbClr val="6E7A83"/>
                </a:solidFill>
                <a:latin typeface="Calibri" pitchFamily="34" charset="0"/>
                <a:ea typeface="Calibri" pitchFamily="34" charset="-122"/>
                <a:cs typeface="Calibri" pitchFamily="34" charset="-120"/>
              </a:rPr>
              <a:t>only blue remains</a:t>
            </a:r>
            <a:endParaRPr lang="en-US" sz="1150" dirty="0"/>
          </a:p>
        </p:txBody>
      </p:sp>
      <p:sp>
        <p:nvSpPr>
          <p:cNvPr id="24" name="Text 21"/>
          <p:cNvSpPr/>
          <p:nvPr/>
        </p:nvSpPr>
        <p:spPr>
          <a:xfrm>
            <a:off x="777240" y="3246120"/>
            <a:ext cx="6400800" cy="320040"/>
          </a:xfrm>
          <a:prstGeom prst="rect">
            <a:avLst/>
          </a:prstGeom>
          <a:noFill/>
          <a:ln/>
        </p:spPr>
        <p:txBody>
          <a:bodyPr wrap="square" lIns="0" tIns="0" rIns="0" bIns="0" rtlCol="0" anchor="ctr"/>
          <a:lstStyle/>
          <a:p>
            <a:pPr indent="0" marL="0">
              <a:buNone/>
            </a:pPr>
            <a:r>
              <a:rPr lang="en-US" sz="1350" b="1" dirty="0">
                <a:solidFill>
                  <a:srgbClr val="22303A"/>
                </a:solidFill>
                <a:latin typeface="Calibri" pitchFamily="34" charset="0"/>
                <a:ea typeface="Calibri" pitchFamily="34" charset="-122"/>
                <a:cs typeface="Calibri" pitchFamily="34" charset="-120"/>
              </a:rPr>
              <a:t>Enforce SA -&gt; NT: delete from the tail.</a:t>
            </a:r>
            <a:endParaRPr lang="en-US" sz="1350" dirty="0"/>
          </a:p>
        </p:txBody>
      </p:sp>
      <p:sp>
        <p:nvSpPr>
          <p:cNvPr id="25" name="Text 22"/>
          <p:cNvSpPr/>
          <p:nvPr/>
        </p:nvSpPr>
        <p:spPr>
          <a:xfrm>
            <a:off x="777240" y="3657600"/>
            <a:ext cx="566928" cy="274320"/>
          </a:xfrm>
          <a:prstGeom prst="rect">
            <a:avLst/>
          </a:prstGeom>
          <a:noFill/>
          <a:ln/>
        </p:spPr>
        <p:txBody>
          <a:bodyPr wrap="square" lIns="0" tIns="0" rIns="0" bIns="0" rtlCol="0" anchor="ctr"/>
          <a:lstStyle/>
          <a:p>
            <a:pPr indent="0" marL="0">
              <a:buNone/>
            </a:pPr>
            <a:r>
              <a:rPr lang="en-US" sz="1250" b="1" dirty="0">
                <a:solidFill>
                  <a:srgbClr val="22303A"/>
                </a:solidFill>
                <a:latin typeface="Calibri" pitchFamily="34" charset="0"/>
                <a:ea typeface="Calibri" pitchFamily="34" charset="-122"/>
                <a:cs typeface="Calibri" pitchFamily="34" charset="-120"/>
              </a:rPr>
              <a:t>SA</a:t>
            </a:r>
            <a:endParaRPr lang="en-US" sz="1250" dirty="0"/>
          </a:p>
        </p:txBody>
      </p:sp>
      <p:sp>
        <p:nvSpPr>
          <p:cNvPr id="26" name="Shape 23"/>
          <p:cNvSpPr/>
          <p:nvPr/>
        </p:nvSpPr>
        <p:spPr>
          <a:xfrm>
            <a:off x="1380744" y="3680460"/>
            <a:ext cx="292608" cy="228600"/>
          </a:xfrm>
          <a:prstGeom prst="roundRect">
            <a:avLst>
              <a:gd name="adj" fmla="val 16000"/>
            </a:avLst>
          </a:prstGeom>
          <a:solidFill>
            <a:srgbClr val="EDEFF0"/>
          </a:solidFill>
          <a:ln w="9525">
            <a:solidFill>
              <a:srgbClr val="DCE0E2"/>
            </a:solidFill>
            <a:prstDash val="solid"/>
          </a:ln>
        </p:spPr>
      </p:sp>
      <p:sp>
        <p:nvSpPr>
          <p:cNvPr id="27" name="Text 24"/>
          <p:cNvSpPr/>
          <p:nvPr/>
        </p:nvSpPr>
        <p:spPr>
          <a:xfrm>
            <a:off x="1380744" y="3680460"/>
            <a:ext cx="292608" cy="228600"/>
          </a:xfrm>
          <a:prstGeom prst="rect">
            <a:avLst/>
          </a:prstGeom>
          <a:noFill/>
          <a:ln/>
        </p:spPr>
        <p:txBody>
          <a:bodyPr wrap="square" lIns="0" tIns="0" rIns="0" bIns="0" rtlCol="0" anchor="ctr"/>
          <a:lstStyle/>
          <a:p>
            <a:pPr algn="ctr" indent="0" marL="0">
              <a:buNone/>
            </a:pPr>
            <a:r>
              <a:rPr lang="en-US" sz="1050" b="1" dirty="0">
                <a:solidFill>
                  <a:srgbClr val="B6BEC2"/>
                </a:solidFill>
                <a:latin typeface="Calibri" pitchFamily="34" charset="0"/>
                <a:ea typeface="Calibri" pitchFamily="34" charset="-122"/>
                <a:cs typeface="Calibri" pitchFamily="34" charset="-120"/>
              </a:rPr>
              <a:t>R</a:t>
            </a:r>
            <a:endParaRPr lang="en-US" sz="1050" dirty="0"/>
          </a:p>
        </p:txBody>
      </p:sp>
      <p:sp>
        <p:nvSpPr>
          <p:cNvPr id="28" name="Shape 25"/>
          <p:cNvSpPr/>
          <p:nvPr/>
        </p:nvSpPr>
        <p:spPr>
          <a:xfrm>
            <a:off x="1728216" y="3680460"/>
            <a:ext cx="292608" cy="228600"/>
          </a:xfrm>
          <a:prstGeom prst="roundRect">
            <a:avLst>
              <a:gd name="adj" fmla="val 16000"/>
            </a:avLst>
          </a:prstGeom>
          <a:solidFill>
            <a:srgbClr val="EDEFF0"/>
          </a:solidFill>
          <a:ln w="9525">
            <a:solidFill>
              <a:srgbClr val="DCE0E2"/>
            </a:solidFill>
            <a:prstDash val="solid"/>
          </a:ln>
        </p:spPr>
      </p:sp>
      <p:sp>
        <p:nvSpPr>
          <p:cNvPr id="29" name="Text 26"/>
          <p:cNvSpPr/>
          <p:nvPr/>
        </p:nvSpPr>
        <p:spPr>
          <a:xfrm>
            <a:off x="1728216" y="3680460"/>
            <a:ext cx="292608" cy="228600"/>
          </a:xfrm>
          <a:prstGeom prst="rect">
            <a:avLst/>
          </a:prstGeom>
          <a:noFill/>
          <a:ln/>
        </p:spPr>
        <p:txBody>
          <a:bodyPr wrap="square" lIns="0" tIns="0" rIns="0" bIns="0" rtlCol="0" anchor="ctr"/>
          <a:lstStyle/>
          <a:p>
            <a:pPr algn="ctr" indent="0" marL="0">
              <a:buNone/>
            </a:pPr>
            <a:r>
              <a:rPr lang="en-US" sz="1050" b="1" dirty="0">
                <a:solidFill>
                  <a:srgbClr val="B6BEC2"/>
                </a:solidFill>
                <a:latin typeface="Calibri" pitchFamily="34" charset="0"/>
                <a:ea typeface="Calibri" pitchFamily="34" charset="-122"/>
                <a:cs typeface="Calibri" pitchFamily="34" charset="-120"/>
              </a:rPr>
              <a:t>G</a:t>
            </a:r>
            <a:endParaRPr lang="en-US" sz="1050" dirty="0"/>
          </a:p>
        </p:txBody>
      </p:sp>
      <p:sp>
        <p:nvSpPr>
          <p:cNvPr id="30" name="Shape 27"/>
          <p:cNvSpPr/>
          <p:nvPr/>
        </p:nvSpPr>
        <p:spPr>
          <a:xfrm>
            <a:off x="2075688" y="3680460"/>
            <a:ext cx="292608" cy="228600"/>
          </a:xfrm>
          <a:prstGeom prst="roundRect">
            <a:avLst>
              <a:gd name="adj" fmla="val 16000"/>
            </a:avLst>
          </a:prstGeom>
          <a:solidFill>
            <a:srgbClr val="EDEFF0"/>
          </a:solidFill>
          <a:ln w="9525">
            <a:solidFill>
              <a:srgbClr val="DCE0E2"/>
            </a:solidFill>
            <a:prstDash val="solid"/>
          </a:ln>
        </p:spPr>
      </p:sp>
      <p:sp>
        <p:nvSpPr>
          <p:cNvPr id="31" name="Text 28"/>
          <p:cNvSpPr/>
          <p:nvPr/>
        </p:nvSpPr>
        <p:spPr>
          <a:xfrm>
            <a:off x="2075688" y="3680460"/>
            <a:ext cx="292608" cy="228600"/>
          </a:xfrm>
          <a:prstGeom prst="rect">
            <a:avLst/>
          </a:prstGeom>
          <a:noFill/>
          <a:ln/>
        </p:spPr>
        <p:txBody>
          <a:bodyPr wrap="square" lIns="0" tIns="0" rIns="0" bIns="0" rtlCol="0" anchor="ctr"/>
          <a:lstStyle/>
          <a:p>
            <a:pPr algn="ctr" indent="0" marL="0">
              <a:buNone/>
            </a:pPr>
            <a:r>
              <a:rPr lang="en-US" sz="1050" b="1" strike="sngStrike" dirty="0">
                <a:solidFill>
                  <a:srgbClr val="B85042"/>
                </a:solidFill>
                <a:latin typeface="Calibri" pitchFamily="34" charset="0"/>
                <a:ea typeface="Calibri" pitchFamily="34" charset="-122"/>
                <a:cs typeface="Calibri" pitchFamily="34" charset="-120"/>
              </a:rPr>
              <a:t>B</a:t>
            </a:r>
            <a:endParaRPr lang="en-US" sz="1050" dirty="0"/>
          </a:p>
        </p:txBody>
      </p:sp>
      <p:sp>
        <p:nvSpPr>
          <p:cNvPr id="32" name="Text 29"/>
          <p:cNvSpPr/>
          <p:nvPr/>
        </p:nvSpPr>
        <p:spPr>
          <a:xfrm>
            <a:off x="2514600" y="3657600"/>
            <a:ext cx="4663440" cy="274320"/>
          </a:xfrm>
          <a:prstGeom prst="rect">
            <a:avLst/>
          </a:prstGeom>
          <a:noFill/>
          <a:ln/>
        </p:spPr>
        <p:txBody>
          <a:bodyPr wrap="square" lIns="0" tIns="0" rIns="0" bIns="0" rtlCol="0" anchor="ctr"/>
          <a:lstStyle/>
          <a:p>
            <a:pPr indent="0" marL="0">
              <a:buNone/>
            </a:pPr>
            <a:r>
              <a:rPr lang="en-US" sz="1150" i="1" dirty="0">
                <a:solidFill>
                  <a:srgbClr val="B85042"/>
                </a:solidFill>
                <a:latin typeface="Calibri" pitchFamily="34" charset="0"/>
                <a:ea typeface="Calibri" pitchFamily="34" charset="-122"/>
                <a:cs typeface="Calibri" pitchFamily="34" charset="-120"/>
              </a:rPr>
              <a:t>empty domain</a:t>
            </a:r>
            <a:endParaRPr lang="en-US" sz="1150" dirty="0"/>
          </a:p>
        </p:txBody>
      </p:sp>
      <p:sp>
        <p:nvSpPr>
          <p:cNvPr id="33" name="Shape 30"/>
          <p:cNvSpPr/>
          <p:nvPr/>
        </p:nvSpPr>
        <p:spPr>
          <a:xfrm>
            <a:off x="502920" y="4297680"/>
            <a:ext cx="6949440" cy="868680"/>
          </a:xfrm>
          <a:prstGeom prst="roundRect">
            <a:avLst>
              <a:gd name="adj" fmla="val 6316"/>
            </a:avLst>
          </a:prstGeom>
          <a:solidFill>
            <a:srgbClr val="F7EEEA"/>
          </a:solidFill>
          <a:ln w="9525">
            <a:solidFill>
              <a:srgbClr val="F7EEEA"/>
            </a:solidFill>
            <a:prstDash val="solid"/>
          </a:ln>
        </p:spPr>
      </p:sp>
      <p:sp>
        <p:nvSpPr>
          <p:cNvPr id="34" name="Text 31"/>
          <p:cNvSpPr/>
          <p:nvPr/>
        </p:nvSpPr>
        <p:spPr>
          <a:xfrm>
            <a:off x="731520" y="4315968"/>
            <a:ext cx="6492240" cy="832104"/>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An empty domain is a proof. There is no solution below this node - backtrack now, before expanding a single successor.</a:t>
            </a:r>
            <a:endParaRPr lang="en-US" sz="1400" dirty="0"/>
          </a:p>
        </p:txBody>
      </p:sp>
      <p:sp>
        <p:nvSpPr>
          <p:cNvPr id="35" name="Shape 32"/>
          <p:cNvSpPr/>
          <p:nvPr/>
        </p:nvSpPr>
        <p:spPr>
          <a:xfrm flipV="1">
            <a:off x="8385048" y="2036369"/>
            <a:ext cx="879653" cy="609905"/>
          </a:xfrm>
          <a:prstGeom prst="line">
            <a:avLst/>
          </a:prstGeom>
          <a:noFill/>
          <a:ln w="17780">
            <a:solidFill>
              <a:srgbClr val="AEB9BF"/>
            </a:solidFill>
            <a:prstDash val="solid"/>
          </a:ln>
        </p:spPr>
      </p:sp>
      <p:sp>
        <p:nvSpPr>
          <p:cNvPr id="36" name="Shape 33"/>
          <p:cNvSpPr/>
          <p:nvPr/>
        </p:nvSpPr>
        <p:spPr>
          <a:xfrm>
            <a:off x="8385048" y="2646274"/>
            <a:ext cx="1014984" cy="503834"/>
          </a:xfrm>
          <a:prstGeom prst="line">
            <a:avLst/>
          </a:prstGeom>
          <a:noFill/>
          <a:ln w="17780">
            <a:solidFill>
              <a:srgbClr val="AEB9BF"/>
            </a:solidFill>
            <a:prstDash val="solid"/>
          </a:ln>
        </p:spPr>
      </p:sp>
      <p:sp>
        <p:nvSpPr>
          <p:cNvPr id="37" name="Shape 34"/>
          <p:cNvSpPr/>
          <p:nvPr/>
        </p:nvSpPr>
        <p:spPr>
          <a:xfrm>
            <a:off x="9264701" y="2036369"/>
            <a:ext cx="135331" cy="1113739"/>
          </a:xfrm>
          <a:prstGeom prst="line">
            <a:avLst/>
          </a:prstGeom>
          <a:noFill/>
          <a:ln w="34925">
            <a:solidFill>
              <a:srgbClr val="B85042"/>
            </a:solidFill>
            <a:prstDash val="solid"/>
          </a:ln>
        </p:spPr>
      </p:sp>
      <p:sp>
        <p:nvSpPr>
          <p:cNvPr id="38" name="Shape 35"/>
          <p:cNvSpPr/>
          <p:nvPr/>
        </p:nvSpPr>
        <p:spPr>
          <a:xfrm>
            <a:off x="9264701" y="2036369"/>
            <a:ext cx="1150315" cy="106070"/>
          </a:xfrm>
          <a:prstGeom prst="line">
            <a:avLst/>
          </a:prstGeom>
          <a:noFill/>
          <a:ln w="17780">
            <a:solidFill>
              <a:srgbClr val="AEB9BF"/>
            </a:solidFill>
            <a:prstDash val="solid"/>
          </a:ln>
        </p:spPr>
      </p:sp>
      <p:sp>
        <p:nvSpPr>
          <p:cNvPr id="39" name="Shape 36"/>
          <p:cNvSpPr/>
          <p:nvPr/>
        </p:nvSpPr>
        <p:spPr>
          <a:xfrm flipV="1">
            <a:off x="9400032" y="2142439"/>
            <a:ext cx="1014984" cy="1007669"/>
          </a:xfrm>
          <a:prstGeom prst="line">
            <a:avLst/>
          </a:prstGeom>
          <a:noFill/>
          <a:ln w="17780">
            <a:solidFill>
              <a:srgbClr val="AEB9BF"/>
            </a:solidFill>
            <a:prstDash val="solid"/>
          </a:ln>
        </p:spPr>
      </p:sp>
      <p:sp>
        <p:nvSpPr>
          <p:cNvPr id="40" name="Shape 37"/>
          <p:cNvSpPr/>
          <p:nvPr/>
        </p:nvSpPr>
        <p:spPr>
          <a:xfrm>
            <a:off x="9400032" y="3150108"/>
            <a:ext cx="1150315" cy="0"/>
          </a:xfrm>
          <a:prstGeom prst="line">
            <a:avLst/>
          </a:prstGeom>
          <a:noFill/>
          <a:ln w="17780">
            <a:solidFill>
              <a:srgbClr val="AEB9BF"/>
            </a:solidFill>
            <a:prstDash val="solid"/>
          </a:ln>
        </p:spPr>
      </p:sp>
      <p:sp>
        <p:nvSpPr>
          <p:cNvPr id="41" name="Shape 38"/>
          <p:cNvSpPr/>
          <p:nvPr/>
        </p:nvSpPr>
        <p:spPr>
          <a:xfrm>
            <a:off x="9400032" y="3150108"/>
            <a:ext cx="676656" cy="742493"/>
          </a:xfrm>
          <a:prstGeom prst="line">
            <a:avLst/>
          </a:prstGeom>
          <a:noFill/>
          <a:ln w="17780">
            <a:solidFill>
              <a:srgbClr val="AEB9BF"/>
            </a:solidFill>
            <a:prstDash val="solid"/>
          </a:ln>
        </p:spPr>
      </p:sp>
      <p:sp>
        <p:nvSpPr>
          <p:cNvPr id="42" name="Shape 39"/>
          <p:cNvSpPr/>
          <p:nvPr/>
        </p:nvSpPr>
        <p:spPr>
          <a:xfrm>
            <a:off x="10415016" y="2142439"/>
            <a:ext cx="135331" cy="1007669"/>
          </a:xfrm>
          <a:prstGeom prst="line">
            <a:avLst/>
          </a:prstGeom>
          <a:noFill/>
          <a:ln w="17780">
            <a:solidFill>
              <a:srgbClr val="AEB9BF"/>
            </a:solidFill>
            <a:prstDash val="solid"/>
          </a:ln>
        </p:spPr>
      </p:sp>
      <p:sp>
        <p:nvSpPr>
          <p:cNvPr id="43" name="Shape 40"/>
          <p:cNvSpPr/>
          <p:nvPr/>
        </p:nvSpPr>
        <p:spPr>
          <a:xfrm flipH="1">
            <a:off x="10076688" y="3150108"/>
            <a:ext cx="473659" cy="742493"/>
          </a:xfrm>
          <a:prstGeom prst="line">
            <a:avLst/>
          </a:prstGeom>
          <a:noFill/>
          <a:ln w="17780">
            <a:solidFill>
              <a:srgbClr val="AEB9BF"/>
            </a:solidFill>
            <a:prstDash val="solid"/>
          </a:ln>
        </p:spPr>
      </p:sp>
      <p:sp>
        <p:nvSpPr>
          <p:cNvPr id="44" name="Shape 41"/>
          <p:cNvSpPr/>
          <p:nvPr/>
        </p:nvSpPr>
        <p:spPr>
          <a:xfrm>
            <a:off x="8238744" y="2499970"/>
            <a:ext cx="292608" cy="292608"/>
          </a:xfrm>
          <a:prstGeom prst="ellipse">
            <a:avLst/>
          </a:prstGeom>
          <a:solidFill>
            <a:srgbClr val="B85042"/>
          </a:solidFill>
          <a:ln w="12700">
            <a:solidFill>
              <a:srgbClr val="B85042"/>
            </a:solidFill>
            <a:prstDash val="solid"/>
          </a:ln>
        </p:spPr>
      </p:sp>
      <p:sp>
        <p:nvSpPr>
          <p:cNvPr id="45" name="Text 42"/>
          <p:cNvSpPr/>
          <p:nvPr/>
        </p:nvSpPr>
        <p:spPr>
          <a:xfrm>
            <a:off x="8001000" y="2499970"/>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WA</a:t>
            </a:r>
            <a:endParaRPr lang="en-US" sz="1050" dirty="0"/>
          </a:p>
        </p:txBody>
      </p:sp>
      <p:sp>
        <p:nvSpPr>
          <p:cNvPr id="46" name="Shape 43"/>
          <p:cNvSpPr/>
          <p:nvPr/>
        </p:nvSpPr>
        <p:spPr>
          <a:xfrm>
            <a:off x="9118397" y="1890065"/>
            <a:ext cx="292608" cy="292608"/>
          </a:xfrm>
          <a:prstGeom prst="ellipse">
            <a:avLst/>
          </a:prstGeom>
          <a:solidFill>
            <a:srgbClr val="B0393B"/>
          </a:solidFill>
          <a:ln w="12700">
            <a:solidFill>
              <a:srgbClr val="B0393B"/>
            </a:solidFill>
            <a:prstDash val="solid"/>
          </a:ln>
        </p:spPr>
      </p:sp>
      <p:sp>
        <p:nvSpPr>
          <p:cNvPr id="47" name="Text 44"/>
          <p:cNvSpPr/>
          <p:nvPr/>
        </p:nvSpPr>
        <p:spPr>
          <a:xfrm>
            <a:off x="8880653" y="1890065"/>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NT</a:t>
            </a:r>
            <a:endParaRPr lang="en-US" sz="1050" dirty="0"/>
          </a:p>
        </p:txBody>
      </p:sp>
      <p:sp>
        <p:nvSpPr>
          <p:cNvPr id="48" name="Shape 45"/>
          <p:cNvSpPr/>
          <p:nvPr/>
        </p:nvSpPr>
        <p:spPr>
          <a:xfrm>
            <a:off x="10268712" y="1996135"/>
            <a:ext cx="292608" cy="292608"/>
          </a:xfrm>
          <a:prstGeom prst="ellipse">
            <a:avLst/>
          </a:prstGeom>
          <a:solidFill>
            <a:srgbClr val="6E8B5A"/>
          </a:solidFill>
          <a:ln w="12700">
            <a:solidFill>
              <a:srgbClr val="6E8B5A"/>
            </a:solidFill>
            <a:prstDash val="solid"/>
          </a:ln>
        </p:spPr>
      </p:sp>
      <p:sp>
        <p:nvSpPr>
          <p:cNvPr id="49" name="Text 46"/>
          <p:cNvSpPr/>
          <p:nvPr/>
        </p:nvSpPr>
        <p:spPr>
          <a:xfrm>
            <a:off x="10030968" y="1996135"/>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a:t>
            </a:r>
            <a:endParaRPr lang="en-US" sz="1050" dirty="0"/>
          </a:p>
        </p:txBody>
      </p:sp>
      <p:sp>
        <p:nvSpPr>
          <p:cNvPr id="50" name="Shape 47"/>
          <p:cNvSpPr/>
          <p:nvPr/>
        </p:nvSpPr>
        <p:spPr>
          <a:xfrm>
            <a:off x="9253728" y="3003804"/>
            <a:ext cx="292608" cy="292608"/>
          </a:xfrm>
          <a:prstGeom prst="ellipse">
            <a:avLst/>
          </a:prstGeom>
          <a:solidFill>
            <a:srgbClr val="B0393B"/>
          </a:solidFill>
          <a:ln w="12700">
            <a:solidFill>
              <a:srgbClr val="B0393B"/>
            </a:solidFill>
            <a:prstDash val="solid"/>
          </a:ln>
        </p:spPr>
      </p:sp>
      <p:sp>
        <p:nvSpPr>
          <p:cNvPr id="51" name="Text 48"/>
          <p:cNvSpPr/>
          <p:nvPr/>
        </p:nvSpPr>
        <p:spPr>
          <a:xfrm>
            <a:off x="9015984" y="3003804"/>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a:t>
            </a:r>
            <a:endParaRPr lang="en-US" sz="1050" dirty="0"/>
          </a:p>
        </p:txBody>
      </p:sp>
      <p:sp>
        <p:nvSpPr>
          <p:cNvPr id="52" name="Shape 49"/>
          <p:cNvSpPr/>
          <p:nvPr/>
        </p:nvSpPr>
        <p:spPr>
          <a:xfrm>
            <a:off x="10404043" y="3003804"/>
            <a:ext cx="292608" cy="292608"/>
          </a:xfrm>
          <a:prstGeom prst="ellipse">
            <a:avLst/>
          </a:prstGeom>
          <a:solidFill>
            <a:srgbClr val="E4E9EB"/>
          </a:solidFill>
          <a:ln w="12700">
            <a:solidFill>
              <a:srgbClr val="9FAAB1"/>
            </a:solidFill>
            <a:prstDash val="solid"/>
          </a:ln>
        </p:spPr>
      </p:sp>
      <p:sp>
        <p:nvSpPr>
          <p:cNvPr id="53" name="Text 50"/>
          <p:cNvSpPr/>
          <p:nvPr/>
        </p:nvSpPr>
        <p:spPr>
          <a:xfrm>
            <a:off x="10166299" y="3003804"/>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NSW</a:t>
            </a:r>
            <a:endParaRPr lang="en-US" sz="1050" dirty="0"/>
          </a:p>
        </p:txBody>
      </p:sp>
      <p:sp>
        <p:nvSpPr>
          <p:cNvPr id="54" name="Shape 51"/>
          <p:cNvSpPr/>
          <p:nvPr/>
        </p:nvSpPr>
        <p:spPr>
          <a:xfrm>
            <a:off x="9930384" y="3746297"/>
            <a:ext cx="292608" cy="292608"/>
          </a:xfrm>
          <a:prstGeom prst="ellipse">
            <a:avLst/>
          </a:prstGeom>
          <a:solidFill>
            <a:srgbClr val="E4E9EB"/>
          </a:solidFill>
          <a:ln w="12700">
            <a:solidFill>
              <a:srgbClr val="9FAAB1"/>
            </a:solidFill>
            <a:prstDash val="solid"/>
          </a:ln>
        </p:spPr>
      </p:sp>
      <p:sp>
        <p:nvSpPr>
          <p:cNvPr id="55" name="Text 52"/>
          <p:cNvSpPr/>
          <p:nvPr/>
        </p:nvSpPr>
        <p:spPr>
          <a:xfrm>
            <a:off x="9692640" y="3746297"/>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V</a:t>
            </a:r>
            <a:endParaRPr lang="en-US" sz="1050" dirty="0"/>
          </a:p>
        </p:txBody>
      </p:sp>
      <p:sp>
        <p:nvSpPr>
          <p:cNvPr id="56" name="Shape 53"/>
          <p:cNvSpPr/>
          <p:nvPr/>
        </p:nvSpPr>
        <p:spPr>
          <a:xfrm>
            <a:off x="10810037" y="4064508"/>
            <a:ext cx="292608" cy="292608"/>
          </a:xfrm>
          <a:prstGeom prst="ellipse">
            <a:avLst/>
          </a:prstGeom>
          <a:solidFill>
            <a:srgbClr val="E4E9EB"/>
          </a:solidFill>
          <a:ln w="12700">
            <a:solidFill>
              <a:srgbClr val="9FAAB1"/>
            </a:solidFill>
            <a:prstDash val="solid"/>
          </a:ln>
        </p:spPr>
      </p:sp>
      <p:sp>
        <p:nvSpPr>
          <p:cNvPr id="57" name="Text 54"/>
          <p:cNvSpPr/>
          <p:nvPr/>
        </p:nvSpPr>
        <p:spPr>
          <a:xfrm>
            <a:off x="10572293" y="4064508"/>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T</a:t>
            </a:r>
            <a:endParaRPr lang="en-US" sz="1050" dirty="0"/>
          </a:p>
        </p:txBody>
      </p:sp>
      <p:sp>
        <p:nvSpPr>
          <p:cNvPr id="58" name="Shape 55"/>
          <p:cNvSpPr/>
          <p:nvPr/>
        </p:nvSpPr>
        <p:spPr>
          <a:xfrm>
            <a:off x="7818120" y="4617720"/>
            <a:ext cx="3840480" cy="1234440"/>
          </a:xfrm>
          <a:prstGeom prst="roundRect">
            <a:avLst>
              <a:gd name="adj" fmla="val 4444"/>
            </a:avLst>
          </a:prstGeom>
          <a:solidFill>
            <a:srgbClr val="F1F3F4"/>
          </a:solidFill>
          <a:ln w="9525">
            <a:solidFill>
              <a:srgbClr val="F1F3F4"/>
            </a:solidFill>
            <a:prstDash val="solid"/>
          </a:ln>
        </p:spPr>
      </p:sp>
      <p:sp>
        <p:nvSpPr>
          <p:cNvPr id="59" name="Text 56"/>
          <p:cNvSpPr/>
          <p:nvPr/>
        </p:nvSpPr>
        <p:spPr>
          <a:xfrm>
            <a:off x="8092440" y="4800600"/>
            <a:ext cx="3383280" cy="914400"/>
          </a:xfrm>
          <a:prstGeom prst="rect">
            <a:avLst/>
          </a:prstGeom>
          <a:noFill/>
          <a:ln/>
        </p:spPr>
        <p:txBody>
          <a:bodyPr wrap="square" lIns="0" tIns="0" rIns="0" bIns="0" rtlCol="0" anchor="t"/>
          <a:lstStyle/>
          <a:p>
            <a:pPr indent="0" marL="0">
              <a:lnSpc>
                <a:spcPct val="112000"/>
              </a:lnSpc>
              <a:buNone/>
            </a:pPr>
            <a:r>
              <a:rPr lang="en-US" sz="1250" i="1" dirty="0">
                <a:solidFill>
                  <a:srgbClr val="6E7A83"/>
                </a:solidFill>
                <a:latin typeface="Calibri" pitchFamily="34" charset="0"/>
                <a:ea typeface="Calibri" pitchFamily="34" charset="-122"/>
                <a:cs typeface="Calibri" pitchFamily="34" charset="-120"/>
              </a:rPr>
              <a:t>Detected without ever assigning SA or NT, and without generating any successor state.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INTERPRETATION</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What an empty domain proves - and what a full one does not</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15</a:t>
            </a:r>
            <a:endParaRPr lang="en-US" sz="900" dirty="0"/>
          </a:p>
        </p:txBody>
      </p:sp>
      <p:sp>
        <p:nvSpPr>
          <p:cNvPr id="7" name="Shape 4"/>
          <p:cNvSpPr/>
          <p:nvPr/>
        </p:nvSpPr>
        <p:spPr>
          <a:xfrm>
            <a:off x="502920" y="1600200"/>
            <a:ext cx="5440680" cy="2148840"/>
          </a:xfrm>
          <a:prstGeom prst="roundRect">
            <a:avLst>
              <a:gd name="adj" fmla="val 2553"/>
            </a:avLst>
          </a:prstGeom>
          <a:solidFill>
            <a:srgbClr val="F7EEEA"/>
          </a:solidFill>
          <a:ln w="9525">
            <a:solidFill>
              <a:srgbClr val="F7EEEA"/>
            </a:solidFill>
            <a:prstDash val="solid"/>
          </a:ln>
          <a:effectLst>
            <a:outerShdw sx="100000" sy="100000" kx="0" ky="0" algn="bl" rotWithShape="0" blurRad="101600" dist="19050" dir="5400000">
              <a:srgbClr val="9AA6AD">
                <a:alpha val="28000"/>
              </a:srgbClr>
            </a:outerShdw>
          </a:effectLst>
        </p:spPr>
      </p:sp>
      <p:sp>
        <p:nvSpPr>
          <p:cNvPr id="8" name="Shape 5"/>
          <p:cNvSpPr/>
          <p:nvPr/>
        </p:nvSpPr>
        <p:spPr>
          <a:xfrm>
            <a:off x="777240" y="1828800"/>
            <a:ext cx="402336" cy="402336"/>
          </a:xfrm>
          <a:prstGeom prst="ellipse">
            <a:avLst/>
          </a:prstGeom>
          <a:solidFill>
            <a:srgbClr val="B85042"/>
          </a:solidFill>
          <a:ln/>
        </p:spPr>
      </p:sp>
      <p:sp>
        <p:nvSpPr>
          <p:cNvPr id="9" name="Text 6"/>
          <p:cNvSpPr/>
          <p:nvPr/>
        </p:nvSpPr>
        <p:spPr>
          <a:xfrm>
            <a:off x="1325880" y="1856232"/>
            <a:ext cx="4389120" cy="301752"/>
          </a:xfrm>
          <a:prstGeom prst="rect">
            <a:avLst/>
          </a:prstGeom>
          <a:noFill/>
          <a:ln/>
        </p:spPr>
        <p:txBody>
          <a:bodyPr wrap="square" lIns="0" tIns="0" rIns="0" bIns="0" rtlCol="0" anchor="ctr"/>
          <a:lstStyle/>
          <a:p>
            <a:pPr indent="0" marL="0">
              <a:buNone/>
            </a:pPr>
            <a:r>
              <a:rPr lang="en-US" sz="1700" b="1" dirty="0">
                <a:solidFill>
                  <a:srgbClr val="B85042"/>
                </a:solidFill>
                <a:latin typeface="Calibri" pitchFamily="34" charset="0"/>
                <a:ea typeface="Calibri" pitchFamily="34" charset="-122"/>
                <a:cs typeface="Calibri" pitchFamily="34" charset="-120"/>
              </a:rPr>
              <a:t>Empty domain</a:t>
            </a:r>
            <a:endParaRPr lang="en-US" sz="1700" dirty="0"/>
          </a:p>
        </p:txBody>
      </p:sp>
      <p:sp>
        <p:nvSpPr>
          <p:cNvPr id="10" name="Text 7"/>
          <p:cNvSpPr/>
          <p:nvPr/>
        </p:nvSpPr>
        <p:spPr>
          <a:xfrm>
            <a:off x="822960" y="2423160"/>
            <a:ext cx="4892040" cy="118872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A guarantee of failure. Filtering only ever removes values that are definitely illegal given the current assignment, so if nothing is left, nothing legal ever existed. Backtrack immediately.</a:t>
            </a:r>
            <a:endParaRPr lang="en-US" sz="1300" dirty="0"/>
          </a:p>
        </p:txBody>
      </p:sp>
      <p:sp>
        <p:nvSpPr>
          <p:cNvPr id="11" name="Shape 8"/>
          <p:cNvSpPr/>
          <p:nvPr/>
        </p:nvSpPr>
        <p:spPr>
          <a:xfrm>
            <a:off x="6217920" y="1600200"/>
            <a:ext cx="5440680" cy="2148840"/>
          </a:xfrm>
          <a:prstGeom prst="roundRect">
            <a:avLst>
              <a:gd name="adj" fmla="val 2553"/>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12" name="Shape 9"/>
          <p:cNvSpPr/>
          <p:nvPr/>
        </p:nvSpPr>
        <p:spPr>
          <a:xfrm>
            <a:off x="6492240" y="1828800"/>
            <a:ext cx="402336" cy="402336"/>
          </a:xfrm>
          <a:prstGeom prst="ellipse">
            <a:avLst/>
          </a:prstGeom>
          <a:solidFill>
            <a:srgbClr val="50808E"/>
          </a:solidFill>
          <a:ln/>
        </p:spPr>
      </p:sp>
      <p:sp>
        <p:nvSpPr>
          <p:cNvPr id="13" name="Text 10"/>
          <p:cNvSpPr/>
          <p:nvPr/>
        </p:nvSpPr>
        <p:spPr>
          <a:xfrm>
            <a:off x="7040880" y="1856232"/>
            <a:ext cx="4389120" cy="301752"/>
          </a:xfrm>
          <a:prstGeom prst="rect">
            <a:avLst/>
          </a:prstGeom>
          <a:noFill/>
          <a:ln/>
        </p:spPr>
        <p:txBody>
          <a:bodyPr wrap="square" lIns="0" tIns="0" rIns="0" bIns="0" rtlCol="0" anchor="ctr"/>
          <a:lstStyle/>
          <a:p>
            <a:pPr indent="0" marL="0">
              <a:buNone/>
            </a:pPr>
            <a:r>
              <a:rPr lang="en-US" sz="1700" b="1" dirty="0">
                <a:solidFill>
                  <a:srgbClr val="50808E"/>
                </a:solidFill>
                <a:latin typeface="Calibri" pitchFamily="34" charset="0"/>
                <a:ea typeface="Calibri" pitchFamily="34" charset="-122"/>
                <a:cs typeface="Calibri" pitchFamily="34" charset="-120"/>
              </a:rPr>
              <a:t>Non-empty domain</a:t>
            </a:r>
            <a:endParaRPr lang="en-US" sz="1700" dirty="0"/>
          </a:p>
        </p:txBody>
      </p:sp>
      <p:sp>
        <p:nvSpPr>
          <p:cNvPr id="14" name="Text 11"/>
          <p:cNvSpPr/>
          <p:nvPr/>
        </p:nvSpPr>
        <p:spPr>
          <a:xfrm>
            <a:off x="6537960" y="2423160"/>
            <a:ext cx="4892040" cy="118872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No guarantee of anything. It means only "not yet disproven." There may still be no solution below this node - filtering simply has not found the contradiction.</a:t>
            </a:r>
            <a:endParaRPr lang="en-US" sz="1300" dirty="0"/>
          </a:p>
        </p:txBody>
      </p:sp>
      <p:sp>
        <p:nvSpPr>
          <p:cNvPr id="15" name="Text 12"/>
          <p:cNvSpPr/>
          <p:nvPr/>
        </p:nvSpPr>
        <p:spPr>
          <a:xfrm>
            <a:off x="502920" y="4114800"/>
            <a:ext cx="11155680" cy="457200"/>
          </a:xfrm>
          <a:prstGeom prst="rect">
            <a:avLst/>
          </a:prstGeom>
          <a:noFill/>
          <a:ln/>
        </p:spPr>
        <p:txBody>
          <a:bodyPr wrap="square" lIns="0" tIns="0" rIns="0" bIns="0" rtlCol="0" anchor="t"/>
          <a:lstStyle/>
          <a:p>
            <a:pPr indent="0" marL="0">
              <a:lnSpc>
                <a:spcPct val="112000"/>
              </a:lnSpc>
              <a:buNone/>
            </a:pPr>
            <a:r>
              <a:rPr lang="en-US" sz="1450" b="1" dirty="0">
                <a:solidFill>
                  <a:srgbClr val="22303A"/>
                </a:solidFill>
                <a:latin typeface="Calibri" pitchFamily="34" charset="0"/>
                <a:ea typeface="Calibri" pitchFamily="34" charset="-122"/>
                <a:cs typeface="Calibri" pitchFamily="34" charset="-120"/>
              </a:rPr>
              <a:t>In other words: filtering is sound but not complete. It never deletes a value that could have been part of a solution, but it does not find every dead end.</a:t>
            </a:r>
            <a:endParaRPr lang="en-US" sz="1450" dirty="0"/>
          </a:p>
        </p:txBody>
      </p:sp>
      <p:sp>
        <p:nvSpPr>
          <p:cNvPr id="16" name="Shape 13"/>
          <p:cNvSpPr/>
          <p:nvPr/>
        </p:nvSpPr>
        <p:spPr>
          <a:xfrm>
            <a:off x="502920" y="4800600"/>
            <a:ext cx="11155680" cy="1051560"/>
          </a:xfrm>
          <a:prstGeom prst="roundRect">
            <a:avLst>
              <a:gd name="adj" fmla="val 5217"/>
            </a:avLst>
          </a:prstGeom>
          <a:solidFill>
            <a:srgbClr val="F1F3F4"/>
          </a:solidFill>
          <a:ln w="9525">
            <a:solidFill>
              <a:srgbClr val="F1F3F4"/>
            </a:solidFill>
            <a:prstDash val="solid"/>
          </a:ln>
        </p:spPr>
      </p:sp>
      <p:sp>
        <p:nvSpPr>
          <p:cNvPr id="17" name="Text 14"/>
          <p:cNvSpPr/>
          <p:nvPr/>
        </p:nvSpPr>
        <p:spPr>
          <a:xfrm>
            <a:off x="822960" y="5029200"/>
            <a:ext cx="10515600" cy="640080"/>
          </a:xfrm>
          <a:prstGeom prst="rect">
            <a:avLst/>
          </a:prstGeom>
          <a:noFill/>
          <a:ln/>
        </p:spPr>
        <p:txBody>
          <a:bodyPr wrap="square" lIns="0" tIns="0" rIns="0" bIns="0" rtlCol="0" anchor="t"/>
          <a:lstStyle/>
          <a:p>
            <a:pPr indent="0" marL="0">
              <a:lnSpc>
                <a:spcPct val="112000"/>
              </a:lnSpc>
              <a:buNone/>
            </a:pPr>
            <a:r>
              <a:rPr lang="en-US" sz="1350" i="1" dirty="0">
                <a:solidFill>
                  <a:srgbClr val="2B3138"/>
                </a:solidFill>
                <a:latin typeface="Calibri" pitchFamily="34" charset="0"/>
                <a:ea typeface="Calibri" pitchFamily="34" charset="-122"/>
                <a:cs typeface="Calibri" pitchFamily="34" charset="-120"/>
              </a:rPr>
              <a:t>This filtering pass runs again after every single assignment during backtracking search. It is not a one-time preprocessing step - unless you deliberately choose to use it that way.</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6.2.2</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AC-3: the standard arc-consistency algorithm</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16</a:t>
            </a:r>
            <a:endParaRPr lang="en-US" sz="900" dirty="0"/>
          </a:p>
        </p:txBody>
      </p:sp>
      <p:sp>
        <p:nvSpPr>
          <p:cNvPr id="7" name="Shape 4"/>
          <p:cNvSpPr/>
          <p:nvPr/>
        </p:nvSpPr>
        <p:spPr>
          <a:xfrm>
            <a:off x="502920" y="1371600"/>
            <a:ext cx="6903720" cy="3200400"/>
          </a:xfrm>
          <a:prstGeom prst="roundRect">
            <a:avLst>
              <a:gd name="adj" fmla="val 1714"/>
            </a:avLst>
          </a:prstGeom>
          <a:solidFill>
            <a:srgbClr val="EDF0F1"/>
          </a:solidFill>
          <a:ln w="9525">
            <a:solidFill>
              <a:srgbClr val="EDF0F1"/>
            </a:solidFill>
            <a:prstDash val="solid"/>
          </a:ln>
        </p:spPr>
      </p:sp>
      <p:sp>
        <p:nvSpPr>
          <p:cNvPr id="8" name="Text 5"/>
          <p:cNvSpPr/>
          <p:nvPr/>
        </p:nvSpPr>
        <p:spPr>
          <a:xfrm>
            <a:off x="704088" y="1517904"/>
            <a:ext cx="6501384" cy="2907792"/>
          </a:xfrm>
          <a:prstGeom prst="rect">
            <a:avLst/>
          </a:prstGeom>
          <a:noFill/>
          <a:ln/>
        </p:spPr>
        <p:txBody>
          <a:bodyPr wrap="square" lIns="0" tIns="0" rIns="0" bIns="0" rtlCol="0" anchor="t"/>
          <a:lstStyle/>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function AC-3(csp) returns false if an inconsistency is found</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queue &lt;- all arcs in csp</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while queue is not empty do</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(Xi, Xj) &lt;- POP(queue)</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if REVISE(csp, Xi, Xj) then</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if size of Di = 0 then return false</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for each Xk in NEIGHBORS(Xi) - {Xj} do</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add (Xk, Xi) to queue</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return true</a:t>
            </a:r>
            <a:endParaRPr lang="en-US" sz="1150" dirty="0"/>
          </a:p>
          <a:p>
            <a:pPr indent="0" marL="0">
              <a:lnSpc>
                <a:spcPct val="114000"/>
              </a:lnSpc>
              <a:buNone/>
            </a:pP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function REVISE(csp, Xi, Xj) returns true iff Di was revised</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revised &lt;- false</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for each x in Di do</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if no value y in Dj satisfies the constraint then</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delete x from Di ; revised &lt;- true</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return revised</a:t>
            </a:r>
            <a:endParaRPr lang="en-US" sz="1150" dirty="0"/>
          </a:p>
        </p:txBody>
      </p:sp>
      <p:sp>
        <p:nvSpPr>
          <p:cNvPr id="9" name="Text 6"/>
          <p:cNvSpPr/>
          <p:nvPr/>
        </p:nvSpPr>
        <p:spPr>
          <a:xfrm>
            <a:off x="7680960" y="1371600"/>
            <a:ext cx="4023360" cy="301752"/>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Reading the algorithm</a:t>
            </a:r>
            <a:endParaRPr lang="en-US" sz="1600" dirty="0"/>
          </a:p>
        </p:txBody>
      </p:sp>
      <p:sp>
        <p:nvSpPr>
          <p:cNvPr id="10" name="Text 7"/>
          <p:cNvSpPr/>
          <p:nvPr/>
        </p:nvSpPr>
        <p:spPr>
          <a:xfrm>
            <a:off x="7680960" y="1783080"/>
            <a:ext cx="4023360" cy="329184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300" dirty="0">
                <a:solidFill>
                  <a:srgbClr val="2B3138"/>
                </a:solidFill>
                <a:latin typeface="Calibri" pitchFamily="34" charset="0"/>
                <a:ea typeface="Calibri" pitchFamily="34" charset="-122"/>
                <a:cs typeface="Calibri" pitchFamily="34" charset="-120"/>
              </a:rPr>
              <a:t>The queue holds arcs, not edges - both directions of every constraint go in</a:t>
            </a:r>
            <a:endParaRPr lang="en-US" sz="1300" dirty="0"/>
          </a:p>
          <a:p>
            <a:pPr marL="342900" indent="-342900">
              <a:lnSpc>
                <a:spcPct val="106000"/>
              </a:lnSpc>
              <a:spcAft>
                <a:spcPts val="700"/>
              </a:spcAft>
              <a:buSzPct val="100000"/>
              <a:buChar char="•"/>
            </a:pPr>
            <a:r>
              <a:rPr lang="en-US" sz="1300" dirty="0">
                <a:solidFill>
                  <a:srgbClr val="2B3138"/>
                </a:solidFill>
                <a:latin typeface="Calibri" pitchFamily="34" charset="0"/>
                <a:ea typeface="Calibri" pitchFamily="34" charset="-122"/>
                <a:cs typeface="Calibri" pitchFamily="34" charset="-120"/>
              </a:rPr>
              <a:t>REVISE deletes from the tail Xi only</a:t>
            </a:r>
            <a:endParaRPr lang="en-US" sz="1300" dirty="0"/>
          </a:p>
          <a:p>
            <a:pPr marL="342900" indent="-342900">
              <a:lnSpc>
                <a:spcPct val="106000"/>
              </a:lnSpc>
              <a:spcAft>
                <a:spcPts val="700"/>
              </a:spcAft>
              <a:buSzPct val="100000"/>
              <a:buChar char="•"/>
            </a:pPr>
            <a:r>
              <a:rPr lang="en-US" sz="1300" dirty="0">
                <a:solidFill>
                  <a:srgbClr val="2B3138"/>
                </a:solidFill>
                <a:latin typeface="Calibri" pitchFamily="34" charset="0"/>
                <a:ea typeface="Calibri" pitchFamily="34" charset="-122"/>
                <a:cs typeface="Calibri" pitchFamily="34" charset="-120"/>
              </a:rPr>
              <a:t>If a domain empties, the whole CSP is inconsistent: return false</a:t>
            </a:r>
            <a:endParaRPr lang="en-US" sz="1300" dirty="0"/>
          </a:p>
          <a:p>
            <a:pPr marL="342900" indent="-342900">
              <a:lnSpc>
                <a:spcPct val="106000"/>
              </a:lnSpc>
              <a:spcAft>
                <a:spcPts val="700"/>
              </a:spcAft>
              <a:buSzPct val="100000"/>
              <a:buChar char="•"/>
            </a:pPr>
            <a:r>
              <a:rPr lang="en-US" sz="1300" dirty="0">
                <a:solidFill>
                  <a:srgbClr val="2B3138"/>
                </a:solidFill>
                <a:latin typeface="Calibri" pitchFamily="34" charset="0"/>
                <a:ea typeface="Calibri" pitchFamily="34" charset="-122"/>
                <a:cs typeface="Calibri" pitchFamily="34" charset="-120"/>
              </a:rPr>
              <a:t>If Di shrank, every arc pointing into Xi may have become stale, so re-queue them</a:t>
            </a:r>
            <a:endParaRPr lang="en-US" sz="1300" dirty="0"/>
          </a:p>
          <a:p>
            <a:pPr marL="342900" indent="-342900">
              <a:lnSpc>
                <a:spcPct val="106000"/>
              </a:lnSpc>
              <a:spcAft>
                <a:spcPts val="700"/>
              </a:spcAft>
              <a:buSzPct val="100000"/>
              <a:buChar char="•"/>
            </a:pPr>
            <a:r>
              <a:rPr lang="en-US" sz="1300" dirty="0">
                <a:solidFill>
                  <a:srgbClr val="2B3138"/>
                </a:solidFill>
                <a:latin typeface="Calibri" pitchFamily="34" charset="0"/>
                <a:ea typeface="Calibri" pitchFamily="34" charset="-122"/>
                <a:cs typeface="Calibri" pitchFamily="34" charset="-120"/>
              </a:rPr>
              <a:t>On exit, every arc is consistent and every remaining domain is a superset of the solutions</a:t>
            </a:r>
            <a:endParaRPr lang="en-US" sz="1300" dirty="0"/>
          </a:p>
        </p:txBody>
      </p:sp>
      <p:sp>
        <p:nvSpPr>
          <p:cNvPr id="11" name="Shape 8"/>
          <p:cNvSpPr/>
          <p:nvPr/>
        </p:nvSpPr>
        <p:spPr>
          <a:xfrm>
            <a:off x="502920" y="4800600"/>
            <a:ext cx="6903720" cy="1005840"/>
          </a:xfrm>
          <a:prstGeom prst="roundRect">
            <a:avLst>
              <a:gd name="adj" fmla="val 5455"/>
            </a:avLst>
          </a:prstGeom>
          <a:solidFill>
            <a:srgbClr val="F1F3F4"/>
          </a:solidFill>
          <a:ln w="9525">
            <a:solidFill>
              <a:srgbClr val="F1F3F4"/>
            </a:solidFill>
            <a:prstDash val="solid"/>
          </a:ln>
        </p:spPr>
      </p:sp>
      <p:sp>
        <p:nvSpPr>
          <p:cNvPr id="12" name="Text 9"/>
          <p:cNvSpPr/>
          <p:nvPr/>
        </p:nvSpPr>
        <p:spPr>
          <a:xfrm>
            <a:off x="731520" y="4818888"/>
            <a:ext cx="6446520" cy="969264"/>
          </a:xfrm>
          <a:prstGeom prst="rect">
            <a:avLst/>
          </a:prstGeom>
          <a:noFill/>
          <a:ln/>
        </p:spPr>
        <p:txBody>
          <a:bodyPr wrap="square" lIns="0" tIns="0" rIns="0" bIns="0" rtlCol="0" anchor="ctr"/>
          <a:lstStyle/>
          <a:p>
            <a:pPr indent="0" marL="0">
              <a:buNone/>
            </a:pPr>
            <a:r>
              <a:rPr lang="en-US" sz="1400" b="1" dirty="0">
                <a:solidFill>
                  <a:srgbClr val="22303A"/>
                </a:solidFill>
                <a:latin typeface="Calibri" pitchFamily="34" charset="0"/>
                <a:ea typeface="Calibri" pitchFamily="34" charset="-122"/>
                <a:cs typeface="Calibri" pitchFamily="34" charset="-120"/>
              </a:rPr>
              <a:t>Compare with the trace: the re-queue line is exactly what forced us to recheck V -&gt; NSW after NSW lost blue.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COMPLEXITY</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How expensive is AC-3?</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17</a:t>
            </a:r>
            <a:endParaRPr lang="en-US" sz="900" dirty="0"/>
          </a:p>
        </p:txBody>
      </p:sp>
      <p:sp>
        <p:nvSpPr>
          <p:cNvPr id="7" name="Shape 4"/>
          <p:cNvSpPr/>
          <p:nvPr/>
        </p:nvSpPr>
        <p:spPr>
          <a:xfrm>
            <a:off x="502920" y="1463040"/>
            <a:ext cx="2011680" cy="1051560"/>
          </a:xfrm>
          <a:prstGeom prst="roundRect">
            <a:avLst>
              <a:gd name="adj" fmla="val 5217"/>
            </a:avLst>
          </a:prstGeom>
          <a:solidFill>
            <a:srgbClr val="F1F3F4"/>
          </a:solidFill>
          <a:ln w="9525">
            <a:solidFill>
              <a:srgbClr val="F1F3F4"/>
            </a:solidFill>
            <a:prstDash val="solid"/>
          </a:ln>
        </p:spPr>
      </p:sp>
      <p:sp>
        <p:nvSpPr>
          <p:cNvPr id="8" name="Text 5"/>
          <p:cNvSpPr/>
          <p:nvPr/>
        </p:nvSpPr>
        <p:spPr>
          <a:xfrm>
            <a:off x="502920" y="1554480"/>
            <a:ext cx="2011680" cy="457200"/>
          </a:xfrm>
          <a:prstGeom prst="rect">
            <a:avLst/>
          </a:prstGeom>
          <a:noFill/>
          <a:ln/>
        </p:spPr>
        <p:txBody>
          <a:bodyPr wrap="square" lIns="0" tIns="0" rIns="0" bIns="0" rtlCol="0" anchor="ctr"/>
          <a:lstStyle/>
          <a:p>
            <a:pPr algn="ctr" indent="0" marL="0">
              <a:buNone/>
            </a:pPr>
            <a:r>
              <a:rPr lang="en-US" sz="3000" b="1" dirty="0">
                <a:solidFill>
                  <a:srgbClr val="50808E"/>
                </a:solidFill>
                <a:latin typeface="Cambria" pitchFamily="34" charset="0"/>
                <a:ea typeface="Cambria" pitchFamily="34" charset="-122"/>
                <a:cs typeface="Cambria" pitchFamily="34" charset="-120"/>
              </a:rPr>
              <a:t>n</a:t>
            </a:r>
            <a:endParaRPr lang="en-US" sz="3000" dirty="0"/>
          </a:p>
        </p:txBody>
      </p:sp>
      <p:sp>
        <p:nvSpPr>
          <p:cNvPr id="9" name="Text 6"/>
          <p:cNvSpPr/>
          <p:nvPr/>
        </p:nvSpPr>
        <p:spPr>
          <a:xfrm>
            <a:off x="502920" y="2066544"/>
            <a:ext cx="2011680" cy="320040"/>
          </a:xfrm>
          <a:prstGeom prst="rect">
            <a:avLst/>
          </a:prstGeom>
          <a:noFill/>
          <a:ln/>
        </p:spPr>
        <p:txBody>
          <a:bodyPr wrap="square" lIns="0" tIns="0" rIns="0" bIns="0" rtlCol="0" anchor="ctr"/>
          <a:lstStyle/>
          <a:p>
            <a:pPr algn="ctr" indent="0" marL="0">
              <a:buNone/>
            </a:pPr>
            <a:r>
              <a:rPr lang="en-US" sz="1200" dirty="0">
                <a:solidFill>
                  <a:srgbClr val="6E7A83"/>
                </a:solidFill>
                <a:latin typeface="Calibri" pitchFamily="34" charset="0"/>
                <a:ea typeface="Calibri" pitchFamily="34" charset="-122"/>
                <a:cs typeface="Calibri" pitchFamily="34" charset="-120"/>
              </a:rPr>
              <a:t>variables</a:t>
            </a:r>
            <a:endParaRPr lang="en-US" sz="1200" dirty="0"/>
          </a:p>
        </p:txBody>
      </p:sp>
      <p:sp>
        <p:nvSpPr>
          <p:cNvPr id="10" name="Shape 7"/>
          <p:cNvSpPr/>
          <p:nvPr/>
        </p:nvSpPr>
        <p:spPr>
          <a:xfrm>
            <a:off x="2697480" y="1463040"/>
            <a:ext cx="2011680" cy="1051560"/>
          </a:xfrm>
          <a:prstGeom prst="roundRect">
            <a:avLst>
              <a:gd name="adj" fmla="val 5217"/>
            </a:avLst>
          </a:prstGeom>
          <a:solidFill>
            <a:srgbClr val="F1F3F4"/>
          </a:solidFill>
          <a:ln w="9525">
            <a:solidFill>
              <a:srgbClr val="F1F3F4"/>
            </a:solidFill>
            <a:prstDash val="solid"/>
          </a:ln>
        </p:spPr>
      </p:sp>
      <p:sp>
        <p:nvSpPr>
          <p:cNvPr id="11" name="Text 8"/>
          <p:cNvSpPr/>
          <p:nvPr/>
        </p:nvSpPr>
        <p:spPr>
          <a:xfrm>
            <a:off x="2697480" y="1554480"/>
            <a:ext cx="2011680" cy="457200"/>
          </a:xfrm>
          <a:prstGeom prst="rect">
            <a:avLst/>
          </a:prstGeom>
          <a:noFill/>
          <a:ln/>
        </p:spPr>
        <p:txBody>
          <a:bodyPr wrap="square" lIns="0" tIns="0" rIns="0" bIns="0" rtlCol="0" anchor="ctr"/>
          <a:lstStyle/>
          <a:p>
            <a:pPr algn="ctr" indent="0" marL="0">
              <a:buNone/>
            </a:pPr>
            <a:r>
              <a:rPr lang="en-US" sz="3000" b="1" dirty="0">
                <a:solidFill>
                  <a:srgbClr val="6E8B5A"/>
                </a:solidFill>
                <a:latin typeface="Cambria" pitchFamily="34" charset="0"/>
                <a:ea typeface="Cambria" pitchFamily="34" charset="-122"/>
                <a:cs typeface="Cambria" pitchFamily="34" charset="-120"/>
              </a:rPr>
              <a:t>d</a:t>
            </a:r>
            <a:endParaRPr lang="en-US" sz="3000" dirty="0"/>
          </a:p>
        </p:txBody>
      </p:sp>
      <p:sp>
        <p:nvSpPr>
          <p:cNvPr id="12" name="Text 9"/>
          <p:cNvSpPr/>
          <p:nvPr/>
        </p:nvSpPr>
        <p:spPr>
          <a:xfrm>
            <a:off x="2697480" y="2066544"/>
            <a:ext cx="2011680" cy="320040"/>
          </a:xfrm>
          <a:prstGeom prst="rect">
            <a:avLst/>
          </a:prstGeom>
          <a:noFill/>
          <a:ln/>
        </p:spPr>
        <p:txBody>
          <a:bodyPr wrap="square" lIns="0" tIns="0" rIns="0" bIns="0" rtlCol="0" anchor="ctr"/>
          <a:lstStyle/>
          <a:p>
            <a:pPr algn="ctr" indent="0" marL="0">
              <a:buNone/>
            </a:pPr>
            <a:r>
              <a:rPr lang="en-US" sz="1200" dirty="0">
                <a:solidFill>
                  <a:srgbClr val="6E7A83"/>
                </a:solidFill>
                <a:latin typeface="Calibri" pitchFamily="34" charset="0"/>
                <a:ea typeface="Calibri" pitchFamily="34" charset="-122"/>
                <a:cs typeface="Calibri" pitchFamily="34" charset="-120"/>
              </a:rPr>
              <a:t>max domain size</a:t>
            </a:r>
            <a:endParaRPr lang="en-US" sz="1200" dirty="0"/>
          </a:p>
        </p:txBody>
      </p:sp>
      <p:sp>
        <p:nvSpPr>
          <p:cNvPr id="13" name="Shape 10"/>
          <p:cNvSpPr/>
          <p:nvPr/>
        </p:nvSpPr>
        <p:spPr>
          <a:xfrm>
            <a:off x="4892040" y="1463040"/>
            <a:ext cx="2011680" cy="1051560"/>
          </a:xfrm>
          <a:prstGeom prst="roundRect">
            <a:avLst>
              <a:gd name="adj" fmla="val 5217"/>
            </a:avLst>
          </a:prstGeom>
          <a:solidFill>
            <a:srgbClr val="F1F3F4"/>
          </a:solidFill>
          <a:ln w="9525">
            <a:solidFill>
              <a:srgbClr val="F1F3F4"/>
            </a:solidFill>
            <a:prstDash val="solid"/>
          </a:ln>
        </p:spPr>
      </p:sp>
      <p:sp>
        <p:nvSpPr>
          <p:cNvPr id="14" name="Text 11"/>
          <p:cNvSpPr/>
          <p:nvPr/>
        </p:nvSpPr>
        <p:spPr>
          <a:xfrm>
            <a:off x="4892040" y="1554480"/>
            <a:ext cx="2011680" cy="457200"/>
          </a:xfrm>
          <a:prstGeom prst="rect">
            <a:avLst/>
          </a:prstGeom>
          <a:noFill/>
          <a:ln/>
        </p:spPr>
        <p:txBody>
          <a:bodyPr wrap="square" lIns="0" tIns="0" rIns="0" bIns="0" rtlCol="0" anchor="ctr"/>
          <a:lstStyle/>
          <a:p>
            <a:pPr algn="ctr" indent="0" marL="0">
              <a:buNone/>
            </a:pPr>
            <a:r>
              <a:rPr lang="en-US" sz="3000" b="1" dirty="0">
                <a:solidFill>
                  <a:srgbClr val="C8922F"/>
                </a:solidFill>
                <a:latin typeface="Cambria" pitchFamily="34" charset="0"/>
                <a:ea typeface="Cambria" pitchFamily="34" charset="-122"/>
                <a:cs typeface="Cambria" pitchFamily="34" charset="-120"/>
              </a:rPr>
              <a:t>c</a:t>
            </a:r>
            <a:endParaRPr lang="en-US" sz="3000" dirty="0"/>
          </a:p>
        </p:txBody>
      </p:sp>
      <p:sp>
        <p:nvSpPr>
          <p:cNvPr id="15" name="Text 12"/>
          <p:cNvSpPr/>
          <p:nvPr/>
        </p:nvSpPr>
        <p:spPr>
          <a:xfrm>
            <a:off x="4892040" y="2066544"/>
            <a:ext cx="2011680" cy="320040"/>
          </a:xfrm>
          <a:prstGeom prst="rect">
            <a:avLst/>
          </a:prstGeom>
          <a:noFill/>
          <a:ln/>
        </p:spPr>
        <p:txBody>
          <a:bodyPr wrap="square" lIns="0" tIns="0" rIns="0" bIns="0" rtlCol="0" anchor="ctr"/>
          <a:lstStyle/>
          <a:p>
            <a:pPr algn="ctr" indent="0" marL="0">
              <a:buNone/>
            </a:pPr>
            <a:r>
              <a:rPr lang="en-US" sz="1200" dirty="0">
                <a:solidFill>
                  <a:srgbClr val="6E7A83"/>
                </a:solidFill>
                <a:latin typeface="Calibri" pitchFamily="34" charset="0"/>
                <a:ea typeface="Calibri" pitchFamily="34" charset="-122"/>
                <a:cs typeface="Calibri" pitchFamily="34" charset="-120"/>
              </a:rPr>
              <a:t>binary arcs</a:t>
            </a:r>
            <a:endParaRPr lang="en-US" sz="1200" dirty="0"/>
          </a:p>
        </p:txBody>
      </p:sp>
      <p:sp>
        <p:nvSpPr>
          <p:cNvPr id="16" name="Text 13"/>
          <p:cNvSpPr/>
          <p:nvPr/>
        </p:nvSpPr>
        <p:spPr>
          <a:xfrm>
            <a:off x="502920" y="2834640"/>
            <a:ext cx="6583680" cy="219456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Each arc (Xk, Xi) can be inserted into the queue at most d times, because Xi has at most d values to lose</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Checking the consistency of one arc costs O(d squared) - every tail value against every head value</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Worst-case total: O(c d cubed)</a:t>
            </a:r>
            <a:endParaRPr lang="en-US" sz="1400" dirty="0"/>
          </a:p>
        </p:txBody>
      </p:sp>
      <p:sp>
        <p:nvSpPr>
          <p:cNvPr id="17" name="Shape 14"/>
          <p:cNvSpPr/>
          <p:nvPr/>
        </p:nvSpPr>
        <p:spPr>
          <a:xfrm>
            <a:off x="7498080" y="1463040"/>
            <a:ext cx="4160520" cy="2286000"/>
          </a:xfrm>
          <a:prstGeom prst="roundRect">
            <a:avLst>
              <a:gd name="adj" fmla="val 2400"/>
            </a:avLst>
          </a:prstGeom>
          <a:solidFill>
            <a:srgbClr val="F7EEEA"/>
          </a:solidFill>
          <a:ln w="9525">
            <a:solidFill>
              <a:srgbClr val="F7EEEA"/>
            </a:solidFill>
            <a:prstDash val="solid"/>
          </a:ln>
        </p:spPr>
      </p:sp>
      <p:sp>
        <p:nvSpPr>
          <p:cNvPr id="18" name="Text 15"/>
          <p:cNvSpPr/>
          <p:nvPr/>
        </p:nvSpPr>
        <p:spPr>
          <a:xfrm>
            <a:off x="7772400" y="1645920"/>
            <a:ext cx="3657600" cy="301752"/>
          </a:xfrm>
          <a:prstGeom prst="rect">
            <a:avLst/>
          </a:prstGeom>
          <a:noFill/>
          <a:ln/>
        </p:spPr>
        <p:txBody>
          <a:bodyPr wrap="square" lIns="0" tIns="0" rIns="0" bIns="0" rtlCol="0" anchor="ctr"/>
          <a:lstStyle/>
          <a:p>
            <a:pPr indent="0" marL="0">
              <a:buNone/>
            </a:pPr>
            <a:r>
              <a:rPr lang="en-US" sz="2600" b="1" dirty="0">
                <a:solidFill>
                  <a:srgbClr val="B85042"/>
                </a:solidFill>
                <a:latin typeface="Calibri" pitchFamily="34" charset="0"/>
                <a:ea typeface="Calibri" pitchFamily="34" charset="-122"/>
                <a:cs typeface="Calibri" pitchFamily="34" charset="-120"/>
              </a:rPr>
              <a:t>O(c d³)</a:t>
            </a:r>
            <a:endParaRPr lang="en-US" sz="2600" dirty="0"/>
          </a:p>
        </p:txBody>
      </p:sp>
      <p:sp>
        <p:nvSpPr>
          <p:cNvPr id="19" name="Text 16"/>
          <p:cNvSpPr/>
          <p:nvPr/>
        </p:nvSpPr>
        <p:spPr>
          <a:xfrm>
            <a:off x="7772400" y="2194560"/>
            <a:ext cx="3657600" cy="137160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Polynomial - a bargain compared to the exponential search it prunes. Special-purpose algorithms do better still, but this is the one you should be able to write from memory.</a:t>
            </a:r>
            <a:endParaRPr lang="en-US" sz="1250" dirty="0"/>
          </a:p>
        </p:txBody>
      </p:sp>
      <p:sp>
        <p:nvSpPr>
          <p:cNvPr id="20" name="Shape 17"/>
          <p:cNvSpPr/>
          <p:nvPr/>
        </p:nvSpPr>
        <p:spPr>
          <a:xfrm>
            <a:off x="7498080" y="3931920"/>
            <a:ext cx="4160520" cy="1920240"/>
          </a:xfrm>
          <a:prstGeom prst="roundRect">
            <a:avLst>
              <a:gd name="adj" fmla="val 2857"/>
            </a:avLst>
          </a:prstGeom>
          <a:solidFill>
            <a:srgbClr val="F1F3F4"/>
          </a:solidFill>
          <a:ln w="9525">
            <a:solidFill>
              <a:srgbClr val="F1F3F4"/>
            </a:solidFill>
            <a:prstDash val="solid"/>
          </a:ln>
        </p:spPr>
      </p:sp>
      <p:sp>
        <p:nvSpPr>
          <p:cNvPr id="21" name="Text 18"/>
          <p:cNvSpPr/>
          <p:nvPr/>
        </p:nvSpPr>
        <p:spPr>
          <a:xfrm>
            <a:off x="7772400" y="4114800"/>
            <a:ext cx="3657600" cy="301752"/>
          </a:xfrm>
          <a:prstGeom prst="rect">
            <a:avLst/>
          </a:prstGeom>
          <a:noFill/>
          <a:ln/>
        </p:spPr>
        <p:txBody>
          <a:bodyPr wrap="square" lIns="0" tIns="0" rIns="0" bIns="0" rtlCol="0" anchor="ctr"/>
          <a:lstStyle/>
          <a:p>
            <a:pPr indent="0" marL="0">
              <a:buNone/>
            </a:pPr>
            <a:r>
              <a:rPr lang="en-US" sz="1400" b="1" dirty="0">
                <a:solidFill>
                  <a:srgbClr val="50808E"/>
                </a:solidFill>
                <a:latin typeface="Calibri" pitchFamily="34" charset="0"/>
                <a:ea typeface="Calibri" pitchFamily="34" charset="-122"/>
                <a:cs typeface="Calibri" pitchFamily="34" charset="-120"/>
              </a:rPr>
              <a:t>Do not oversell it</a:t>
            </a:r>
            <a:endParaRPr lang="en-US" sz="1400" dirty="0"/>
          </a:p>
        </p:txBody>
      </p:sp>
      <p:sp>
        <p:nvSpPr>
          <p:cNvPr id="22" name="Text 19"/>
          <p:cNvSpPr/>
          <p:nvPr/>
        </p:nvSpPr>
        <p:spPr>
          <a:xfrm>
            <a:off x="7772400" y="4498848"/>
            <a:ext cx="3657600" cy="123444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Arc consistency is polynomial, and CSPs are NP-hard. So AC-3 cannot be deciding satisfiability - it only prunes.</a:t>
            </a:r>
            <a:endParaRPr lang="en-US" sz="1250" dirty="0"/>
          </a:p>
        </p:txBody>
      </p:sp>
      <p:sp>
        <p:nvSpPr>
          <p:cNvPr id="23" name="Shape 20"/>
          <p:cNvSpPr/>
          <p:nvPr/>
        </p:nvSpPr>
        <p:spPr>
          <a:xfrm>
            <a:off x="502920" y="5212080"/>
            <a:ext cx="6583680" cy="685800"/>
          </a:xfrm>
          <a:prstGeom prst="roundRect">
            <a:avLst>
              <a:gd name="adj" fmla="val 8000"/>
            </a:avLst>
          </a:prstGeom>
          <a:solidFill>
            <a:srgbClr val="F1F3F4"/>
          </a:solidFill>
          <a:ln w="9525">
            <a:solidFill>
              <a:srgbClr val="F1F3F4"/>
            </a:solidFill>
            <a:prstDash val="solid"/>
          </a:ln>
        </p:spPr>
      </p:sp>
      <p:sp>
        <p:nvSpPr>
          <p:cNvPr id="24" name="Text 21"/>
          <p:cNvSpPr/>
          <p:nvPr/>
        </p:nvSpPr>
        <p:spPr>
          <a:xfrm>
            <a:off x="731520" y="5230368"/>
            <a:ext cx="6126480" cy="649224"/>
          </a:xfrm>
          <a:prstGeom prst="rect">
            <a:avLst/>
          </a:prstGeom>
          <a:noFill/>
          <a:ln/>
        </p:spPr>
        <p:txBody>
          <a:bodyPr wrap="square" lIns="0" tIns="0" rIns="0" bIns="0" rtlCol="0" anchor="ctr"/>
          <a:lstStyle/>
          <a:p>
            <a:pPr indent="0" marL="0">
              <a:buNone/>
            </a:pPr>
            <a:r>
              <a:rPr lang="en-US" sz="1400" b="1" dirty="0">
                <a:solidFill>
                  <a:srgbClr val="22303A"/>
                </a:solidFill>
                <a:latin typeface="Calibri" pitchFamily="34" charset="0"/>
                <a:ea typeface="Calibri" pitchFamily="34" charset="-122"/>
                <a:cs typeface="Calibri" pitchFamily="34" charset="-120"/>
              </a:rPr>
              <a:t>Sanity check: a polynomial algorithm cannot solve an NP-hard problem.</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6.2.3</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Path consistency: when pairs are not enough</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18</a:t>
            </a:r>
            <a:endParaRPr lang="en-US" sz="900" dirty="0"/>
          </a:p>
        </p:txBody>
      </p:sp>
      <p:sp>
        <p:nvSpPr>
          <p:cNvPr id="7" name="Shape 4"/>
          <p:cNvSpPr/>
          <p:nvPr/>
        </p:nvSpPr>
        <p:spPr>
          <a:xfrm>
            <a:off x="502920" y="1371600"/>
            <a:ext cx="11155680" cy="914400"/>
          </a:xfrm>
          <a:prstGeom prst="roundRect">
            <a:avLst>
              <a:gd name="adj" fmla="val 6000"/>
            </a:avLst>
          </a:prstGeom>
          <a:solidFill>
            <a:srgbClr val="F1F3F4"/>
          </a:solidFill>
          <a:ln w="9525">
            <a:solidFill>
              <a:srgbClr val="F1F3F4"/>
            </a:solidFill>
            <a:prstDash val="solid"/>
          </a:ln>
        </p:spPr>
      </p:sp>
      <p:sp>
        <p:nvSpPr>
          <p:cNvPr id="8" name="Text 5"/>
          <p:cNvSpPr/>
          <p:nvPr/>
        </p:nvSpPr>
        <p:spPr>
          <a:xfrm>
            <a:off x="822960" y="1554480"/>
            <a:ext cx="10515600" cy="594360"/>
          </a:xfrm>
          <a:prstGeom prst="rect">
            <a:avLst/>
          </a:prstGeom>
          <a:noFill/>
          <a:ln/>
        </p:spPr>
        <p:txBody>
          <a:bodyPr wrap="square" lIns="0" tIns="0" rIns="0" bIns="0" rtlCol="0" anchor="t"/>
          <a:lstStyle/>
          <a:p>
            <a:pPr indent="0" marL="0">
              <a:lnSpc>
                <a:spcPct val="112000"/>
              </a:lnSpc>
              <a:buNone/>
            </a:pPr>
            <a:r>
              <a:rPr lang="en-US" sz="1400" b="1" dirty="0">
                <a:solidFill>
                  <a:srgbClr val="22303A"/>
                </a:solidFill>
                <a:latin typeface="Calibri" pitchFamily="34" charset="0"/>
                <a:ea typeface="Calibri" pitchFamily="34" charset="-122"/>
                <a:cs typeface="Calibri" pitchFamily="34" charset="-120"/>
              </a:rPr>
              <a:t>A two-variable set {Xi, Xj} is path-consistent with respect to Xm if, for every assignment to Xi and Xj that satisfies their constraints, there is an assignment to Xm that satisfies the constraints on {Xi, Xm} and {Xm, Xj}.</a:t>
            </a:r>
            <a:endParaRPr lang="en-US" sz="1400" dirty="0"/>
          </a:p>
        </p:txBody>
      </p:sp>
      <p:sp>
        <p:nvSpPr>
          <p:cNvPr id="9" name="Text 6"/>
          <p:cNvSpPr/>
          <p:nvPr/>
        </p:nvSpPr>
        <p:spPr>
          <a:xfrm>
            <a:off x="502920" y="2514600"/>
            <a:ext cx="6766560" cy="301752"/>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Australia with only two colours</a:t>
            </a:r>
            <a:endParaRPr lang="en-US" sz="1600" dirty="0"/>
          </a:p>
        </p:txBody>
      </p:sp>
      <p:sp>
        <p:nvSpPr>
          <p:cNvPr id="10" name="Text 7"/>
          <p:cNvSpPr/>
          <p:nvPr/>
        </p:nvSpPr>
        <p:spPr>
          <a:xfrm>
            <a:off x="502920" y="2926080"/>
            <a:ext cx="6766560" cy="265176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Arc consistency does nothing: every individual inequality can still be satisfied</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Make {WA, SA} path-consistent with respect to NT</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Only two consistent assignments exist: {WA=red, SA=blue} and {WA=blue, SA=red}</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In both, NT can be neither red nor blue - it conflicts with one or the other</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So both assignments are removed, {WA, SA} has no consistent assignment left, and the whole CSP is proved unsolvable</a:t>
            </a:r>
            <a:endParaRPr lang="en-US" sz="1350" dirty="0"/>
          </a:p>
        </p:txBody>
      </p:sp>
      <p:sp>
        <p:nvSpPr>
          <p:cNvPr id="11" name="Shape 8"/>
          <p:cNvSpPr/>
          <p:nvPr/>
        </p:nvSpPr>
        <p:spPr>
          <a:xfrm flipV="1">
            <a:off x="8458200" y="2058314"/>
            <a:ext cx="832104" cy="567842"/>
          </a:xfrm>
          <a:prstGeom prst="line">
            <a:avLst/>
          </a:prstGeom>
          <a:noFill/>
          <a:ln w="34925">
            <a:solidFill>
              <a:srgbClr val="B85042"/>
            </a:solidFill>
            <a:prstDash val="solid"/>
          </a:ln>
        </p:spPr>
      </p:sp>
      <p:sp>
        <p:nvSpPr>
          <p:cNvPr id="12" name="Shape 9"/>
          <p:cNvSpPr/>
          <p:nvPr/>
        </p:nvSpPr>
        <p:spPr>
          <a:xfrm>
            <a:off x="8458200" y="2626157"/>
            <a:ext cx="960120" cy="469087"/>
          </a:xfrm>
          <a:prstGeom prst="line">
            <a:avLst/>
          </a:prstGeom>
          <a:noFill/>
          <a:ln w="34925">
            <a:solidFill>
              <a:srgbClr val="B85042"/>
            </a:solidFill>
            <a:prstDash val="solid"/>
          </a:ln>
        </p:spPr>
      </p:sp>
      <p:sp>
        <p:nvSpPr>
          <p:cNvPr id="13" name="Shape 10"/>
          <p:cNvSpPr/>
          <p:nvPr/>
        </p:nvSpPr>
        <p:spPr>
          <a:xfrm>
            <a:off x="9290304" y="2058314"/>
            <a:ext cx="128016" cy="1036930"/>
          </a:xfrm>
          <a:prstGeom prst="line">
            <a:avLst/>
          </a:prstGeom>
          <a:noFill/>
          <a:ln w="34925">
            <a:solidFill>
              <a:srgbClr val="B85042"/>
            </a:solidFill>
            <a:prstDash val="solid"/>
          </a:ln>
        </p:spPr>
      </p:sp>
      <p:sp>
        <p:nvSpPr>
          <p:cNvPr id="14" name="Shape 11"/>
          <p:cNvSpPr/>
          <p:nvPr/>
        </p:nvSpPr>
        <p:spPr>
          <a:xfrm>
            <a:off x="9290304" y="2058314"/>
            <a:ext cx="1088136" cy="98755"/>
          </a:xfrm>
          <a:prstGeom prst="line">
            <a:avLst/>
          </a:prstGeom>
          <a:noFill/>
          <a:ln w="17780">
            <a:solidFill>
              <a:srgbClr val="AEB9BF"/>
            </a:solidFill>
            <a:prstDash val="solid"/>
          </a:ln>
        </p:spPr>
      </p:sp>
      <p:sp>
        <p:nvSpPr>
          <p:cNvPr id="15" name="Shape 12"/>
          <p:cNvSpPr/>
          <p:nvPr/>
        </p:nvSpPr>
        <p:spPr>
          <a:xfrm flipV="1">
            <a:off x="9418320" y="2157070"/>
            <a:ext cx="960120" cy="938174"/>
          </a:xfrm>
          <a:prstGeom prst="line">
            <a:avLst/>
          </a:prstGeom>
          <a:noFill/>
          <a:ln w="17780">
            <a:solidFill>
              <a:srgbClr val="AEB9BF"/>
            </a:solidFill>
            <a:prstDash val="solid"/>
          </a:ln>
        </p:spPr>
      </p:sp>
      <p:sp>
        <p:nvSpPr>
          <p:cNvPr id="16" name="Shape 13"/>
          <p:cNvSpPr/>
          <p:nvPr/>
        </p:nvSpPr>
        <p:spPr>
          <a:xfrm>
            <a:off x="9418320" y="3095244"/>
            <a:ext cx="1088136" cy="0"/>
          </a:xfrm>
          <a:prstGeom prst="line">
            <a:avLst/>
          </a:prstGeom>
          <a:noFill/>
          <a:ln w="17780">
            <a:solidFill>
              <a:srgbClr val="AEB9BF"/>
            </a:solidFill>
            <a:prstDash val="solid"/>
          </a:ln>
        </p:spPr>
      </p:sp>
      <p:sp>
        <p:nvSpPr>
          <p:cNvPr id="17" name="Shape 14"/>
          <p:cNvSpPr/>
          <p:nvPr/>
        </p:nvSpPr>
        <p:spPr>
          <a:xfrm>
            <a:off x="9418320" y="3095244"/>
            <a:ext cx="640080" cy="691286"/>
          </a:xfrm>
          <a:prstGeom prst="line">
            <a:avLst/>
          </a:prstGeom>
          <a:noFill/>
          <a:ln w="17780">
            <a:solidFill>
              <a:srgbClr val="AEB9BF"/>
            </a:solidFill>
            <a:prstDash val="solid"/>
          </a:ln>
        </p:spPr>
      </p:sp>
      <p:sp>
        <p:nvSpPr>
          <p:cNvPr id="18" name="Shape 15"/>
          <p:cNvSpPr/>
          <p:nvPr/>
        </p:nvSpPr>
        <p:spPr>
          <a:xfrm>
            <a:off x="10378440" y="2157070"/>
            <a:ext cx="128016" cy="938174"/>
          </a:xfrm>
          <a:prstGeom prst="line">
            <a:avLst/>
          </a:prstGeom>
          <a:noFill/>
          <a:ln w="17780">
            <a:solidFill>
              <a:srgbClr val="AEB9BF"/>
            </a:solidFill>
            <a:prstDash val="solid"/>
          </a:ln>
        </p:spPr>
      </p:sp>
      <p:sp>
        <p:nvSpPr>
          <p:cNvPr id="19" name="Shape 16"/>
          <p:cNvSpPr/>
          <p:nvPr/>
        </p:nvSpPr>
        <p:spPr>
          <a:xfrm flipH="1">
            <a:off x="10058400" y="3095244"/>
            <a:ext cx="448056" cy="691286"/>
          </a:xfrm>
          <a:prstGeom prst="line">
            <a:avLst/>
          </a:prstGeom>
          <a:noFill/>
          <a:ln w="17780">
            <a:solidFill>
              <a:srgbClr val="AEB9BF"/>
            </a:solidFill>
            <a:prstDash val="solid"/>
          </a:ln>
        </p:spPr>
      </p:sp>
      <p:sp>
        <p:nvSpPr>
          <p:cNvPr id="20" name="Shape 17"/>
          <p:cNvSpPr/>
          <p:nvPr/>
        </p:nvSpPr>
        <p:spPr>
          <a:xfrm>
            <a:off x="8311896" y="2479853"/>
            <a:ext cx="292608" cy="292608"/>
          </a:xfrm>
          <a:prstGeom prst="ellipse">
            <a:avLst/>
          </a:prstGeom>
          <a:solidFill>
            <a:srgbClr val="B85042"/>
          </a:solidFill>
          <a:ln w="12700">
            <a:solidFill>
              <a:srgbClr val="B85042"/>
            </a:solidFill>
            <a:prstDash val="solid"/>
          </a:ln>
        </p:spPr>
      </p:sp>
      <p:sp>
        <p:nvSpPr>
          <p:cNvPr id="21" name="Text 18"/>
          <p:cNvSpPr/>
          <p:nvPr/>
        </p:nvSpPr>
        <p:spPr>
          <a:xfrm>
            <a:off x="8074152" y="2479853"/>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WA</a:t>
            </a:r>
            <a:endParaRPr lang="en-US" sz="1050" dirty="0"/>
          </a:p>
        </p:txBody>
      </p:sp>
      <p:sp>
        <p:nvSpPr>
          <p:cNvPr id="22" name="Shape 19"/>
          <p:cNvSpPr/>
          <p:nvPr/>
        </p:nvSpPr>
        <p:spPr>
          <a:xfrm>
            <a:off x="9144000" y="1912010"/>
            <a:ext cx="292608" cy="292608"/>
          </a:xfrm>
          <a:prstGeom prst="ellipse">
            <a:avLst/>
          </a:prstGeom>
          <a:solidFill>
            <a:srgbClr val="E4E9EB"/>
          </a:solidFill>
          <a:ln w="12700">
            <a:solidFill>
              <a:srgbClr val="9FAAB1"/>
            </a:solidFill>
            <a:prstDash val="solid"/>
          </a:ln>
        </p:spPr>
      </p:sp>
      <p:sp>
        <p:nvSpPr>
          <p:cNvPr id="23" name="Text 20"/>
          <p:cNvSpPr/>
          <p:nvPr/>
        </p:nvSpPr>
        <p:spPr>
          <a:xfrm>
            <a:off x="8906256" y="1912010"/>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NT</a:t>
            </a:r>
            <a:endParaRPr lang="en-US" sz="1050" dirty="0"/>
          </a:p>
        </p:txBody>
      </p:sp>
      <p:sp>
        <p:nvSpPr>
          <p:cNvPr id="24" name="Shape 21"/>
          <p:cNvSpPr/>
          <p:nvPr/>
        </p:nvSpPr>
        <p:spPr>
          <a:xfrm>
            <a:off x="10232136" y="2010766"/>
            <a:ext cx="292608" cy="292608"/>
          </a:xfrm>
          <a:prstGeom prst="ellipse">
            <a:avLst/>
          </a:prstGeom>
          <a:solidFill>
            <a:srgbClr val="E4E9EB"/>
          </a:solidFill>
          <a:ln w="12700">
            <a:solidFill>
              <a:srgbClr val="9FAAB1"/>
            </a:solidFill>
            <a:prstDash val="solid"/>
          </a:ln>
        </p:spPr>
      </p:sp>
      <p:sp>
        <p:nvSpPr>
          <p:cNvPr id="25" name="Text 22"/>
          <p:cNvSpPr/>
          <p:nvPr/>
        </p:nvSpPr>
        <p:spPr>
          <a:xfrm>
            <a:off x="9994392" y="2010766"/>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Q</a:t>
            </a:r>
            <a:endParaRPr lang="en-US" sz="1050" dirty="0"/>
          </a:p>
        </p:txBody>
      </p:sp>
      <p:sp>
        <p:nvSpPr>
          <p:cNvPr id="26" name="Shape 23"/>
          <p:cNvSpPr/>
          <p:nvPr/>
        </p:nvSpPr>
        <p:spPr>
          <a:xfrm>
            <a:off x="9272016" y="2948940"/>
            <a:ext cx="292608" cy="292608"/>
          </a:xfrm>
          <a:prstGeom prst="ellipse">
            <a:avLst/>
          </a:prstGeom>
          <a:solidFill>
            <a:srgbClr val="50808E"/>
          </a:solidFill>
          <a:ln w="12700">
            <a:solidFill>
              <a:srgbClr val="50808E"/>
            </a:solidFill>
            <a:prstDash val="solid"/>
          </a:ln>
        </p:spPr>
      </p:sp>
      <p:sp>
        <p:nvSpPr>
          <p:cNvPr id="27" name="Text 24"/>
          <p:cNvSpPr/>
          <p:nvPr/>
        </p:nvSpPr>
        <p:spPr>
          <a:xfrm>
            <a:off x="9034272" y="2948940"/>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a:t>
            </a:r>
            <a:endParaRPr lang="en-US" sz="1050" dirty="0"/>
          </a:p>
        </p:txBody>
      </p:sp>
      <p:sp>
        <p:nvSpPr>
          <p:cNvPr id="28" name="Shape 25"/>
          <p:cNvSpPr/>
          <p:nvPr/>
        </p:nvSpPr>
        <p:spPr>
          <a:xfrm>
            <a:off x="10360152" y="2948940"/>
            <a:ext cx="292608" cy="292608"/>
          </a:xfrm>
          <a:prstGeom prst="ellipse">
            <a:avLst/>
          </a:prstGeom>
          <a:solidFill>
            <a:srgbClr val="E4E9EB"/>
          </a:solidFill>
          <a:ln w="12700">
            <a:solidFill>
              <a:srgbClr val="9FAAB1"/>
            </a:solidFill>
            <a:prstDash val="solid"/>
          </a:ln>
        </p:spPr>
      </p:sp>
      <p:sp>
        <p:nvSpPr>
          <p:cNvPr id="29" name="Text 26"/>
          <p:cNvSpPr/>
          <p:nvPr/>
        </p:nvSpPr>
        <p:spPr>
          <a:xfrm>
            <a:off x="10122408" y="2948940"/>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NSW</a:t>
            </a:r>
            <a:endParaRPr lang="en-US" sz="1050" dirty="0"/>
          </a:p>
        </p:txBody>
      </p:sp>
      <p:sp>
        <p:nvSpPr>
          <p:cNvPr id="30" name="Shape 27"/>
          <p:cNvSpPr/>
          <p:nvPr/>
        </p:nvSpPr>
        <p:spPr>
          <a:xfrm>
            <a:off x="9912096" y="3640226"/>
            <a:ext cx="292608" cy="292608"/>
          </a:xfrm>
          <a:prstGeom prst="ellipse">
            <a:avLst/>
          </a:prstGeom>
          <a:solidFill>
            <a:srgbClr val="E4E9EB"/>
          </a:solidFill>
          <a:ln w="12700">
            <a:solidFill>
              <a:srgbClr val="9FAAB1"/>
            </a:solidFill>
            <a:prstDash val="solid"/>
          </a:ln>
        </p:spPr>
      </p:sp>
      <p:sp>
        <p:nvSpPr>
          <p:cNvPr id="31" name="Text 28"/>
          <p:cNvSpPr/>
          <p:nvPr/>
        </p:nvSpPr>
        <p:spPr>
          <a:xfrm>
            <a:off x="9674352" y="3640226"/>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V</a:t>
            </a:r>
            <a:endParaRPr lang="en-US" sz="1050" dirty="0"/>
          </a:p>
        </p:txBody>
      </p:sp>
      <p:sp>
        <p:nvSpPr>
          <p:cNvPr id="32" name="Shape 29"/>
          <p:cNvSpPr/>
          <p:nvPr/>
        </p:nvSpPr>
        <p:spPr>
          <a:xfrm>
            <a:off x="10744200" y="3936492"/>
            <a:ext cx="292608" cy="292608"/>
          </a:xfrm>
          <a:prstGeom prst="ellipse">
            <a:avLst/>
          </a:prstGeom>
          <a:solidFill>
            <a:srgbClr val="E4E9EB"/>
          </a:solidFill>
          <a:ln w="12700">
            <a:solidFill>
              <a:srgbClr val="9FAAB1"/>
            </a:solidFill>
            <a:prstDash val="solid"/>
          </a:ln>
        </p:spPr>
      </p:sp>
      <p:sp>
        <p:nvSpPr>
          <p:cNvPr id="33" name="Text 30"/>
          <p:cNvSpPr/>
          <p:nvPr/>
        </p:nvSpPr>
        <p:spPr>
          <a:xfrm>
            <a:off x="10506456" y="3936492"/>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T</a:t>
            </a:r>
            <a:endParaRPr lang="en-US" sz="1050" dirty="0"/>
          </a:p>
        </p:txBody>
      </p:sp>
      <p:sp>
        <p:nvSpPr>
          <p:cNvPr id="34" name="Shape 31"/>
          <p:cNvSpPr/>
          <p:nvPr/>
        </p:nvSpPr>
        <p:spPr>
          <a:xfrm>
            <a:off x="7635240" y="4480560"/>
            <a:ext cx="4023360" cy="1097280"/>
          </a:xfrm>
          <a:prstGeom prst="roundRect">
            <a:avLst>
              <a:gd name="adj" fmla="val 5000"/>
            </a:avLst>
          </a:prstGeom>
          <a:solidFill>
            <a:srgbClr val="F1F3F4"/>
          </a:solidFill>
          <a:ln w="9525">
            <a:solidFill>
              <a:srgbClr val="F1F3F4"/>
            </a:solidFill>
            <a:prstDash val="solid"/>
          </a:ln>
        </p:spPr>
      </p:sp>
      <p:sp>
        <p:nvSpPr>
          <p:cNvPr id="35" name="Text 32"/>
          <p:cNvSpPr/>
          <p:nvPr/>
        </p:nvSpPr>
        <p:spPr>
          <a:xfrm>
            <a:off x="7863840" y="4498848"/>
            <a:ext cx="3566160" cy="1060704"/>
          </a:xfrm>
          <a:prstGeom prst="rect">
            <a:avLst/>
          </a:prstGeom>
          <a:noFill/>
          <a:ln/>
        </p:spPr>
        <p:txBody>
          <a:bodyPr wrap="square" lIns="0" tIns="0" rIns="0" bIns="0" rtlCol="0" anchor="ctr"/>
          <a:lstStyle/>
          <a:p>
            <a:pPr indent="0" marL="0">
              <a:buNone/>
            </a:pPr>
            <a:r>
              <a:rPr lang="en-US" sz="1400" b="1" dirty="0">
                <a:solidFill>
                  <a:srgbClr val="22303A"/>
                </a:solidFill>
                <a:latin typeface="Calibri" pitchFamily="34" charset="0"/>
                <a:ea typeface="Calibri" pitchFamily="34" charset="-122"/>
                <a:cs typeface="Calibri" pitchFamily="34" charset="-120"/>
              </a:rPr>
              <a:t>Arc consistency tightens single domains using arcs. Path consistency tightens pairs using a third variable.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6.2.4</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K-consistency: the general ladder</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19</a:t>
            </a:r>
            <a:endParaRPr lang="en-US" sz="900" dirty="0"/>
          </a:p>
        </p:txBody>
      </p:sp>
      <p:sp>
        <p:nvSpPr>
          <p:cNvPr id="7" name="Shape 4"/>
          <p:cNvSpPr/>
          <p:nvPr/>
        </p:nvSpPr>
        <p:spPr>
          <a:xfrm>
            <a:off x="502920" y="1417320"/>
            <a:ext cx="7863840" cy="914400"/>
          </a:xfrm>
          <a:prstGeom prst="roundRect">
            <a:avLst>
              <a:gd name="adj" fmla="val 6000"/>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8" name="Shape 5"/>
          <p:cNvSpPr/>
          <p:nvPr/>
        </p:nvSpPr>
        <p:spPr>
          <a:xfrm>
            <a:off x="777240" y="1645920"/>
            <a:ext cx="457200" cy="457200"/>
          </a:xfrm>
          <a:prstGeom prst="roundRect">
            <a:avLst>
              <a:gd name="adj" fmla="val 12000"/>
            </a:avLst>
          </a:prstGeom>
          <a:solidFill>
            <a:srgbClr val="50808E"/>
          </a:solidFill>
          <a:ln/>
        </p:spPr>
      </p:sp>
      <p:sp>
        <p:nvSpPr>
          <p:cNvPr id="9" name="Text 6"/>
          <p:cNvSpPr/>
          <p:nvPr/>
        </p:nvSpPr>
        <p:spPr>
          <a:xfrm>
            <a:off x="777240" y="16459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7"/>
          <p:cNvSpPr/>
          <p:nvPr/>
        </p:nvSpPr>
        <p:spPr>
          <a:xfrm>
            <a:off x="1463040" y="1563624"/>
            <a:ext cx="3657600" cy="301752"/>
          </a:xfrm>
          <a:prstGeom prst="rect">
            <a:avLst/>
          </a:prstGeom>
          <a:noFill/>
          <a:ln/>
        </p:spPr>
        <p:txBody>
          <a:bodyPr wrap="square" lIns="0" tIns="0" rIns="0" bIns="0" rtlCol="0" anchor="ctr"/>
          <a:lstStyle/>
          <a:p>
            <a:pPr indent="0" marL="0">
              <a:buNone/>
            </a:pPr>
            <a:r>
              <a:rPr lang="en-US" sz="1500" b="1" dirty="0">
                <a:solidFill>
                  <a:srgbClr val="22303A"/>
                </a:solidFill>
                <a:latin typeface="Calibri" pitchFamily="34" charset="0"/>
                <a:ea typeface="Calibri" pitchFamily="34" charset="-122"/>
                <a:cs typeface="Calibri" pitchFamily="34" charset="-120"/>
              </a:rPr>
              <a:t>Node consistency</a:t>
            </a:r>
            <a:endParaRPr lang="en-US" sz="1500" dirty="0"/>
          </a:p>
        </p:txBody>
      </p:sp>
      <p:sp>
        <p:nvSpPr>
          <p:cNvPr id="11" name="Text 8"/>
          <p:cNvSpPr/>
          <p:nvPr/>
        </p:nvSpPr>
        <p:spPr>
          <a:xfrm>
            <a:off x="1463040" y="1920240"/>
            <a:ext cx="6583680" cy="365760"/>
          </a:xfrm>
          <a:prstGeom prst="rect">
            <a:avLst/>
          </a:prstGeom>
          <a:noFill/>
          <a:ln/>
        </p:spPr>
        <p:txBody>
          <a:bodyPr wrap="square" lIns="0" tIns="0" rIns="0" bIns="0" rtlCol="0" anchor="t"/>
          <a:lstStyle/>
          <a:p>
            <a:pPr indent="0" marL="0">
              <a:lnSpc>
                <a:spcPct val="112000"/>
              </a:lnSpc>
              <a:buNone/>
            </a:pPr>
            <a:r>
              <a:rPr lang="en-US" sz="1250" dirty="0">
                <a:solidFill>
                  <a:srgbClr val="6E7A83"/>
                </a:solidFill>
                <a:latin typeface="Calibri" pitchFamily="34" charset="0"/>
                <a:ea typeface="Calibri" pitchFamily="34" charset="-122"/>
                <a:cs typeface="Calibri" pitchFamily="34" charset="-120"/>
              </a:rPr>
              <a:t>Every variable's domain has a value satisfying its own unary constraints.</a:t>
            </a:r>
            <a:endParaRPr lang="en-US" sz="1250" dirty="0"/>
          </a:p>
        </p:txBody>
      </p:sp>
      <p:sp>
        <p:nvSpPr>
          <p:cNvPr id="12" name="Shape 9"/>
          <p:cNvSpPr/>
          <p:nvPr/>
        </p:nvSpPr>
        <p:spPr>
          <a:xfrm>
            <a:off x="502920" y="2478024"/>
            <a:ext cx="7863840" cy="914400"/>
          </a:xfrm>
          <a:prstGeom prst="roundRect">
            <a:avLst>
              <a:gd name="adj" fmla="val 6000"/>
            </a:avLst>
          </a:prstGeom>
          <a:solidFill>
            <a:srgbClr val="FFFFFF"/>
          </a:solidFill>
          <a:ln w="9525">
            <a:solidFill>
              <a:srgbClr val="D5DBDE"/>
            </a:solidFill>
            <a:prstDash val="solid"/>
          </a:ln>
        </p:spPr>
      </p:sp>
      <p:sp>
        <p:nvSpPr>
          <p:cNvPr id="13" name="Shape 10"/>
          <p:cNvSpPr/>
          <p:nvPr/>
        </p:nvSpPr>
        <p:spPr>
          <a:xfrm>
            <a:off x="777240" y="2706624"/>
            <a:ext cx="457200" cy="457200"/>
          </a:xfrm>
          <a:prstGeom prst="roundRect">
            <a:avLst>
              <a:gd name="adj" fmla="val 12000"/>
            </a:avLst>
          </a:prstGeom>
          <a:solidFill>
            <a:srgbClr val="B85042"/>
          </a:solidFill>
          <a:ln/>
        </p:spPr>
      </p:sp>
      <p:sp>
        <p:nvSpPr>
          <p:cNvPr id="14" name="Text 11"/>
          <p:cNvSpPr/>
          <p:nvPr/>
        </p:nvSpPr>
        <p:spPr>
          <a:xfrm>
            <a:off x="777240" y="27066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1463040" y="2624328"/>
            <a:ext cx="3657600" cy="301752"/>
          </a:xfrm>
          <a:prstGeom prst="rect">
            <a:avLst/>
          </a:prstGeom>
          <a:noFill/>
          <a:ln/>
        </p:spPr>
        <p:txBody>
          <a:bodyPr wrap="square" lIns="0" tIns="0" rIns="0" bIns="0" rtlCol="0" anchor="ctr"/>
          <a:lstStyle/>
          <a:p>
            <a:pPr indent="0" marL="0">
              <a:buNone/>
            </a:pPr>
            <a:r>
              <a:rPr lang="en-US" sz="1500" b="1" dirty="0">
                <a:solidFill>
                  <a:srgbClr val="22303A"/>
                </a:solidFill>
                <a:latin typeface="Calibri" pitchFamily="34" charset="0"/>
                <a:ea typeface="Calibri" pitchFamily="34" charset="-122"/>
                <a:cs typeface="Calibri" pitchFamily="34" charset="-120"/>
              </a:rPr>
              <a:t>Arc consistency</a:t>
            </a:r>
            <a:endParaRPr lang="en-US" sz="1500" dirty="0"/>
          </a:p>
        </p:txBody>
      </p:sp>
      <p:sp>
        <p:nvSpPr>
          <p:cNvPr id="16" name="Text 13"/>
          <p:cNvSpPr/>
          <p:nvPr/>
        </p:nvSpPr>
        <p:spPr>
          <a:xfrm>
            <a:off x="1463040" y="2980944"/>
            <a:ext cx="6583680" cy="365760"/>
          </a:xfrm>
          <a:prstGeom prst="rect">
            <a:avLst/>
          </a:prstGeom>
          <a:noFill/>
          <a:ln/>
        </p:spPr>
        <p:txBody>
          <a:bodyPr wrap="square" lIns="0" tIns="0" rIns="0" bIns="0" rtlCol="0" anchor="t"/>
          <a:lstStyle/>
          <a:p>
            <a:pPr indent="0" marL="0">
              <a:lnSpc>
                <a:spcPct val="112000"/>
              </a:lnSpc>
              <a:buNone/>
            </a:pPr>
            <a:r>
              <a:rPr lang="en-US" sz="1250" dirty="0">
                <a:solidFill>
                  <a:srgbClr val="6E7A83"/>
                </a:solidFill>
                <a:latin typeface="Calibri" pitchFamily="34" charset="0"/>
                <a:ea typeface="Calibri" pitchFamily="34" charset="-122"/>
                <a:cs typeface="Calibri" pitchFamily="34" charset="-120"/>
              </a:rPr>
              <a:t>For any pair, any legal assignment to one extends to the other.</a:t>
            </a:r>
            <a:endParaRPr lang="en-US" sz="1250" dirty="0"/>
          </a:p>
        </p:txBody>
      </p:sp>
      <p:sp>
        <p:nvSpPr>
          <p:cNvPr id="17" name="Shape 14"/>
          <p:cNvSpPr/>
          <p:nvPr/>
        </p:nvSpPr>
        <p:spPr>
          <a:xfrm>
            <a:off x="502920" y="3538728"/>
            <a:ext cx="7863840" cy="914400"/>
          </a:xfrm>
          <a:prstGeom prst="roundRect">
            <a:avLst>
              <a:gd name="adj" fmla="val 6000"/>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18" name="Shape 15"/>
          <p:cNvSpPr/>
          <p:nvPr/>
        </p:nvSpPr>
        <p:spPr>
          <a:xfrm>
            <a:off x="777240" y="3767328"/>
            <a:ext cx="457200" cy="457200"/>
          </a:xfrm>
          <a:prstGeom prst="roundRect">
            <a:avLst>
              <a:gd name="adj" fmla="val 12000"/>
            </a:avLst>
          </a:prstGeom>
          <a:solidFill>
            <a:srgbClr val="6E8B5A"/>
          </a:solidFill>
          <a:ln/>
        </p:spPr>
      </p:sp>
      <p:sp>
        <p:nvSpPr>
          <p:cNvPr id="19" name="Text 16"/>
          <p:cNvSpPr/>
          <p:nvPr/>
        </p:nvSpPr>
        <p:spPr>
          <a:xfrm>
            <a:off x="777240" y="3767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p:nvPr/>
        </p:nvSpPr>
        <p:spPr>
          <a:xfrm>
            <a:off x="1463040" y="3685032"/>
            <a:ext cx="3657600" cy="301752"/>
          </a:xfrm>
          <a:prstGeom prst="rect">
            <a:avLst/>
          </a:prstGeom>
          <a:noFill/>
          <a:ln/>
        </p:spPr>
        <p:txBody>
          <a:bodyPr wrap="square" lIns="0" tIns="0" rIns="0" bIns="0" rtlCol="0" anchor="ctr"/>
          <a:lstStyle/>
          <a:p>
            <a:pPr indent="0" marL="0">
              <a:buNone/>
            </a:pPr>
            <a:r>
              <a:rPr lang="en-US" sz="1500" b="1" dirty="0">
                <a:solidFill>
                  <a:srgbClr val="22303A"/>
                </a:solidFill>
                <a:latin typeface="Calibri" pitchFamily="34" charset="0"/>
                <a:ea typeface="Calibri" pitchFamily="34" charset="-122"/>
                <a:cs typeface="Calibri" pitchFamily="34" charset="-120"/>
              </a:rPr>
              <a:t>Path consistency</a:t>
            </a:r>
            <a:endParaRPr lang="en-US" sz="1500" dirty="0"/>
          </a:p>
        </p:txBody>
      </p:sp>
      <p:sp>
        <p:nvSpPr>
          <p:cNvPr id="21" name="Text 18"/>
          <p:cNvSpPr/>
          <p:nvPr/>
        </p:nvSpPr>
        <p:spPr>
          <a:xfrm>
            <a:off x="1463040" y="4041648"/>
            <a:ext cx="6583680" cy="365760"/>
          </a:xfrm>
          <a:prstGeom prst="rect">
            <a:avLst/>
          </a:prstGeom>
          <a:noFill/>
          <a:ln/>
        </p:spPr>
        <p:txBody>
          <a:bodyPr wrap="square" lIns="0" tIns="0" rIns="0" bIns="0" rtlCol="0" anchor="t"/>
          <a:lstStyle/>
          <a:p>
            <a:pPr indent="0" marL="0">
              <a:lnSpc>
                <a:spcPct val="112000"/>
              </a:lnSpc>
              <a:buNone/>
            </a:pPr>
            <a:r>
              <a:rPr lang="en-US" sz="1250" dirty="0">
                <a:solidFill>
                  <a:srgbClr val="6E7A83"/>
                </a:solidFill>
                <a:latin typeface="Calibri" pitchFamily="34" charset="0"/>
                <a:ea typeface="Calibri" pitchFamily="34" charset="-122"/>
                <a:cs typeface="Calibri" pitchFamily="34" charset="-120"/>
              </a:rPr>
              <a:t>For any three, any legal assignment to two extends to the third.</a:t>
            </a:r>
            <a:endParaRPr lang="en-US" sz="1250" dirty="0"/>
          </a:p>
        </p:txBody>
      </p:sp>
      <p:sp>
        <p:nvSpPr>
          <p:cNvPr id="22" name="Shape 19"/>
          <p:cNvSpPr/>
          <p:nvPr/>
        </p:nvSpPr>
        <p:spPr>
          <a:xfrm>
            <a:off x="502920" y="4599432"/>
            <a:ext cx="7863840" cy="914400"/>
          </a:xfrm>
          <a:prstGeom prst="roundRect">
            <a:avLst>
              <a:gd name="adj" fmla="val 6000"/>
            </a:avLst>
          </a:prstGeom>
          <a:solidFill>
            <a:srgbClr val="FFFFFF"/>
          </a:solidFill>
          <a:ln w="9525">
            <a:solidFill>
              <a:srgbClr val="D5DBDE"/>
            </a:solidFill>
            <a:prstDash val="solid"/>
          </a:ln>
        </p:spPr>
      </p:sp>
      <p:sp>
        <p:nvSpPr>
          <p:cNvPr id="23" name="Shape 20"/>
          <p:cNvSpPr/>
          <p:nvPr/>
        </p:nvSpPr>
        <p:spPr>
          <a:xfrm>
            <a:off x="777240" y="4828032"/>
            <a:ext cx="457200" cy="457200"/>
          </a:xfrm>
          <a:prstGeom prst="roundRect">
            <a:avLst>
              <a:gd name="adj" fmla="val 12000"/>
            </a:avLst>
          </a:prstGeom>
          <a:solidFill>
            <a:srgbClr val="C8922F"/>
          </a:solidFill>
          <a:ln/>
        </p:spPr>
      </p:sp>
      <p:sp>
        <p:nvSpPr>
          <p:cNvPr id="24" name="Text 21"/>
          <p:cNvSpPr/>
          <p:nvPr/>
        </p:nvSpPr>
        <p:spPr>
          <a:xfrm>
            <a:off x="777240" y="482803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K</a:t>
            </a:r>
            <a:endParaRPr lang="en-US" sz="1500" dirty="0"/>
          </a:p>
        </p:txBody>
      </p:sp>
      <p:sp>
        <p:nvSpPr>
          <p:cNvPr id="25" name="Text 22"/>
          <p:cNvSpPr/>
          <p:nvPr/>
        </p:nvSpPr>
        <p:spPr>
          <a:xfrm>
            <a:off x="1463040" y="4745736"/>
            <a:ext cx="3657600" cy="301752"/>
          </a:xfrm>
          <a:prstGeom prst="rect">
            <a:avLst/>
          </a:prstGeom>
          <a:noFill/>
          <a:ln/>
        </p:spPr>
        <p:txBody>
          <a:bodyPr wrap="square" lIns="0" tIns="0" rIns="0" bIns="0" rtlCol="0" anchor="ctr"/>
          <a:lstStyle/>
          <a:p>
            <a:pPr indent="0" marL="0">
              <a:buNone/>
            </a:pPr>
            <a:r>
              <a:rPr lang="en-US" sz="1500" b="1" dirty="0">
                <a:solidFill>
                  <a:srgbClr val="22303A"/>
                </a:solidFill>
                <a:latin typeface="Calibri" pitchFamily="34" charset="0"/>
                <a:ea typeface="Calibri" pitchFamily="34" charset="-122"/>
                <a:cs typeface="Calibri" pitchFamily="34" charset="-120"/>
              </a:rPr>
              <a:t>K-consistency</a:t>
            </a:r>
            <a:endParaRPr lang="en-US" sz="1500" dirty="0"/>
          </a:p>
        </p:txBody>
      </p:sp>
      <p:sp>
        <p:nvSpPr>
          <p:cNvPr id="26" name="Text 23"/>
          <p:cNvSpPr/>
          <p:nvPr/>
        </p:nvSpPr>
        <p:spPr>
          <a:xfrm>
            <a:off x="1463040" y="5102352"/>
            <a:ext cx="6583680" cy="365760"/>
          </a:xfrm>
          <a:prstGeom prst="rect">
            <a:avLst/>
          </a:prstGeom>
          <a:noFill/>
          <a:ln/>
        </p:spPr>
        <p:txBody>
          <a:bodyPr wrap="square" lIns="0" tIns="0" rIns="0" bIns="0" rtlCol="0" anchor="t"/>
          <a:lstStyle/>
          <a:p>
            <a:pPr indent="0" marL="0">
              <a:lnSpc>
                <a:spcPct val="112000"/>
              </a:lnSpc>
              <a:buNone/>
            </a:pPr>
            <a:r>
              <a:rPr lang="en-US" sz="1250" dirty="0">
                <a:solidFill>
                  <a:srgbClr val="6E7A83"/>
                </a:solidFill>
                <a:latin typeface="Calibri" pitchFamily="34" charset="0"/>
                <a:ea typeface="Calibri" pitchFamily="34" charset="-122"/>
                <a:cs typeface="Calibri" pitchFamily="34" charset="-120"/>
              </a:rPr>
              <a:t>For any K variables, any consistent assignment to K-1 of them extends to the K-th.</a:t>
            </a:r>
            <a:endParaRPr lang="en-US" sz="1250" dirty="0"/>
          </a:p>
        </p:txBody>
      </p:sp>
      <p:sp>
        <p:nvSpPr>
          <p:cNvPr id="27" name="Shape 24"/>
          <p:cNvSpPr/>
          <p:nvPr/>
        </p:nvSpPr>
        <p:spPr>
          <a:xfrm>
            <a:off x="8641080" y="1417320"/>
            <a:ext cx="3017520" cy="2423160"/>
          </a:xfrm>
          <a:prstGeom prst="roundRect">
            <a:avLst>
              <a:gd name="adj" fmla="val 2264"/>
            </a:avLst>
          </a:prstGeom>
          <a:solidFill>
            <a:srgbClr val="F7EEEA"/>
          </a:solidFill>
          <a:ln w="9525">
            <a:solidFill>
              <a:srgbClr val="F7EEEA"/>
            </a:solidFill>
            <a:prstDash val="solid"/>
          </a:ln>
        </p:spPr>
      </p:sp>
      <p:sp>
        <p:nvSpPr>
          <p:cNvPr id="28" name="Text 25"/>
          <p:cNvSpPr/>
          <p:nvPr/>
        </p:nvSpPr>
        <p:spPr>
          <a:xfrm>
            <a:off x="8869680" y="1600200"/>
            <a:ext cx="2651760" cy="301752"/>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The cost curve</a:t>
            </a:r>
            <a:endParaRPr lang="en-US" sz="1500" dirty="0"/>
          </a:p>
        </p:txBody>
      </p:sp>
      <p:sp>
        <p:nvSpPr>
          <p:cNvPr id="29" name="Text 26"/>
          <p:cNvSpPr/>
          <p:nvPr/>
        </p:nvSpPr>
        <p:spPr>
          <a:xfrm>
            <a:off x="8869680" y="1993392"/>
            <a:ext cx="2606040" cy="169164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Higher K is strictly more powerful and exponentially more expensive - you are now reasoning over triples, quadruples, and beyond instead of pairs.</a:t>
            </a:r>
            <a:endParaRPr lang="en-US" sz="1250" dirty="0"/>
          </a:p>
        </p:txBody>
      </p:sp>
      <p:sp>
        <p:nvSpPr>
          <p:cNvPr id="30" name="Shape 27"/>
          <p:cNvSpPr/>
          <p:nvPr/>
        </p:nvSpPr>
        <p:spPr>
          <a:xfrm>
            <a:off x="8641080" y="4023360"/>
            <a:ext cx="3017520" cy="1645920"/>
          </a:xfrm>
          <a:prstGeom prst="roundRect">
            <a:avLst>
              <a:gd name="adj" fmla="val 3333"/>
            </a:avLst>
          </a:prstGeom>
          <a:solidFill>
            <a:srgbClr val="F1F3F4"/>
          </a:solidFill>
          <a:ln w="9525">
            <a:solidFill>
              <a:srgbClr val="F1F3F4"/>
            </a:solidFill>
            <a:prstDash val="solid"/>
          </a:ln>
        </p:spPr>
      </p:sp>
      <p:sp>
        <p:nvSpPr>
          <p:cNvPr id="31" name="Text 28"/>
          <p:cNvSpPr/>
          <p:nvPr/>
        </p:nvSpPr>
        <p:spPr>
          <a:xfrm>
            <a:off x="8869680" y="4206240"/>
            <a:ext cx="2651760" cy="301752"/>
          </a:xfrm>
          <a:prstGeom prst="rect">
            <a:avLst/>
          </a:prstGeom>
          <a:noFill/>
          <a:ln/>
        </p:spPr>
        <p:txBody>
          <a:bodyPr wrap="square" lIns="0" tIns="0" rIns="0" bIns="0" rtlCol="0" anchor="ctr"/>
          <a:lstStyle/>
          <a:p>
            <a:pPr indent="0" marL="0">
              <a:buNone/>
            </a:pPr>
            <a:r>
              <a:rPr lang="en-US" sz="1500" b="1" dirty="0">
                <a:solidFill>
                  <a:srgbClr val="50808E"/>
                </a:solidFill>
                <a:latin typeface="Calibri" pitchFamily="34" charset="0"/>
                <a:ea typeface="Calibri" pitchFamily="34" charset="-122"/>
                <a:cs typeface="Calibri" pitchFamily="34" charset="-120"/>
              </a:rPr>
              <a:t>For this course</a:t>
            </a:r>
            <a:endParaRPr lang="en-US" sz="1500" dirty="0"/>
          </a:p>
        </p:txBody>
      </p:sp>
      <p:sp>
        <p:nvSpPr>
          <p:cNvPr id="32" name="Text 29"/>
          <p:cNvSpPr/>
          <p:nvPr/>
        </p:nvSpPr>
        <p:spPr>
          <a:xfrm>
            <a:off x="8869680" y="4572000"/>
            <a:ext cx="2606040" cy="96012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Know K=2 cold. Know what K=3 is called and why nobody runs K=n.</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6.2.4</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Strong k-consistency and the no-backtracking claim</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20</a:t>
            </a:r>
            <a:endParaRPr lang="en-US" sz="900" dirty="0"/>
          </a:p>
        </p:txBody>
      </p:sp>
      <p:sp>
        <p:nvSpPr>
          <p:cNvPr id="7" name="Shape 4"/>
          <p:cNvSpPr/>
          <p:nvPr/>
        </p:nvSpPr>
        <p:spPr>
          <a:xfrm>
            <a:off x="502920" y="1371600"/>
            <a:ext cx="11155680" cy="777240"/>
          </a:xfrm>
          <a:prstGeom prst="roundRect">
            <a:avLst>
              <a:gd name="adj" fmla="val 7059"/>
            </a:avLst>
          </a:prstGeom>
          <a:solidFill>
            <a:srgbClr val="F1F3F4"/>
          </a:solidFill>
          <a:ln w="9525">
            <a:solidFill>
              <a:srgbClr val="F1F3F4"/>
            </a:solidFill>
            <a:prstDash val="solid"/>
          </a:ln>
        </p:spPr>
      </p:sp>
      <p:sp>
        <p:nvSpPr>
          <p:cNvPr id="8" name="Text 5"/>
          <p:cNvSpPr/>
          <p:nvPr/>
        </p:nvSpPr>
        <p:spPr>
          <a:xfrm>
            <a:off x="822960" y="1536192"/>
            <a:ext cx="10515600" cy="502920"/>
          </a:xfrm>
          <a:prstGeom prst="rect">
            <a:avLst/>
          </a:prstGeom>
          <a:noFill/>
          <a:ln/>
        </p:spPr>
        <p:txBody>
          <a:bodyPr wrap="square" lIns="0" tIns="0" rIns="0" bIns="0" rtlCol="0" anchor="t"/>
          <a:lstStyle/>
          <a:p>
            <a:pPr indent="0" marL="0">
              <a:lnSpc>
                <a:spcPct val="112000"/>
              </a:lnSpc>
              <a:buNone/>
            </a:pPr>
            <a:r>
              <a:rPr lang="en-US" sz="1400" b="1" dirty="0">
                <a:solidFill>
                  <a:srgbClr val="22303A"/>
                </a:solidFill>
                <a:latin typeface="Calibri" pitchFamily="34" charset="0"/>
                <a:ea typeface="Calibri" pitchFamily="34" charset="-122"/>
                <a:cs typeface="Calibri" pitchFamily="34" charset="-120"/>
              </a:rPr>
              <a:t>A CSP is strongly k-consistent if it is k-consistent and also (k-1)-consistent, (k-2)-consistent, and so on all the way down to 1-consistent.</a:t>
            </a:r>
            <a:endParaRPr lang="en-US" sz="1400" dirty="0"/>
          </a:p>
        </p:txBody>
      </p:sp>
      <p:sp>
        <p:nvSpPr>
          <p:cNvPr id="9" name="Text 6"/>
          <p:cNvSpPr/>
          <p:nvPr/>
        </p:nvSpPr>
        <p:spPr>
          <a:xfrm>
            <a:off x="502920" y="2331720"/>
            <a:ext cx="6400800" cy="301752"/>
          </a:xfrm>
          <a:prstGeom prst="rect">
            <a:avLst/>
          </a:prstGeom>
          <a:noFill/>
          <a:ln/>
        </p:spPr>
        <p:txBody>
          <a:bodyPr wrap="square" lIns="0" tIns="0" rIns="0" bIns="0" rtlCol="0" anchor="ctr"/>
          <a:lstStyle/>
          <a:p>
            <a:pPr indent="0" marL="0">
              <a:buNone/>
            </a:pPr>
            <a:r>
              <a:rPr lang="en-US" sz="1600" b="1" dirty="0">
                <a:solidFill>
                  <a:srgbClr val="6E8B5A"/>
                </a:solidFill>
                <a:latin typeface="Calibri" pitchFamily="34" charset="0"/>
                <a:ea typeface="Calibri" pitchFamily="34" charset="-122"/>
                <a:cs typeface="Calibri" pitchFamily="34" charset="-120"/>
              </a:rPr>
              <a:t>The claim: zero backtracking</a:t>
            </a:r>
            <a:endParaRPr lang="en-US" sz="1600" dirty="0"/>
          </a:p>
        </p:txBody>
      </p:sp>
      <p:sp>
        <p:nvSpPr>
          <p:cNvPr id="10" name="Text 7"/>
          <p:cNvSpPr/>
          <p:nvPr/>
        </p:nvSpPr>
        <p:spPr>
          <a:xfrm>
            <a:off x="502920" y="2743200"/>
            <a:ext cx="6400800" cy="237744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Take a CSP with n variables that is strongly n-consistent</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Assign X1: it is 1-consistent, so some legal value exists</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Assign X2: 2-consistency guarantees a legal extension, whatever we chose for X1</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Assign X3: 3-consistency guarantees an extension to any legal pair - and so on by induction</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Every variable is assigned in sequence and we never once back up</a:t>
            </a:r>
            <a:endParaRPr lang="en-US" sz="1350" dirty="0"/>
          </a:p>
        </p:txBody>
      </p:sp>
      <p:sp>
        <p:nvSpPr>
          <p:cNvPr id="11" name="Shape 8"/>
          <p:cNvSpPr/>
          <p:nvPr/>
        </p:nvSpPr>
        <p:spPr>
          <a:xfrm>
            <a:off x="7315200" y="2240280"/>
            <a:ext cx="4343400" cy="1965960"/>
          </a:xfrm>
          <a:prstGeom prst="roundRect">
            <a:avLst>
              <a:gd name="adj" fmla="val 2791"/>
            </a:avLst>
          </a:prstGeom>
          <a:solidFill>
            <a:srgbClr val="F7EEEA"/>
          </a:solidFill>
          <a:ln w="9525">
            <a:solidFill>
              <a:srgbClr val="F7EEEA"/>
            </a:solidFill>
            <a:prstDash val="solid"/>
          </a:ln>
        </p:spPr>
      </p:sp>
      <p:sp>
        <p:nvSpPr>
          <p:cNvPr id="12" name="Text 9"/>
          <p:cNvSpPr/>
          <p:nvPr/>
        </p:nvSpPr>
        <p:spPr>
          <a:xfrm>
            <a:off x="7589520" y="2423160"/>
            <a:ext cx="3840480" cy="301752"/>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There is no free lunch</a:t>
            </a:r>
            <a:endParaRPr lang="en-US" sz="1600" dirty="0"/>
          </a:p>
        </p:txBody>
      </p:sp>
      <p:sp>
        <p:nvSpPr>
          <p:cNvPr id="13" name="Text 10"/>
          <p:cNvSpPr/>
          <p:nvPr/>
        </p:nvSpPr>
        <p:spPr>
          <a:xfrm>
            <a:off x="7589520" y="2834640"/>
            <a:ext cx="3840480" cy="128016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Constraint satisfaction is NP-complete. Any algorithm that establishes n-consistency must take time exponential in n in the worst case - and space too.</a:t>
            </a:r>
            <a:endParaRPr lang="en-US" sz="1250" dirty="0"/>
          </a:p>
        </p:txBody>
      </p:sp>
      <p:sp>
        <p:nvSpPr>
          <p:cNvPr id="14" name="Shape 11"/>
          <p:cNvSpPr/>
          <p:nvPr/>
        </p:nvSpPr>
        <p:spPr>
          <a:xfrm>
            <a:off x="7315200" y="4389120"/>
            <a:ext cx="4343400" cy="1463040"/>
          </a:xfrm>
          <a:prstGeom prst="roundRect">
            <a:avLst>
              <a:gd name="adj" fmla="val 3750"/>
            </a:avLst>
          </a:prstGeom>
          <a:solidFill>
            <a:srgbClr val="F1F3F4"/>
          </a:solidFill>
          <a:ln w="9525">
            <a:solidFill>
              <a:srgbClr val="F1F3F4"/>
            </a:solidFill>
            <a:prstDash val="solid"/>
          </a:ln>
        </p:spPr>
      </p:sp>
      <p:sp>
        <p:nvSpPr>
          <p:cNvPr id="15" name="Text 12"/>
          <p:cNvSpPr/>
          <p:nvPr/>
        </p:nvSpPr>
        <p:spPr>
          <a:xfrm>
            <a:off x="7589520" y="4572000"/>
            <a:ext cx="3840480" cy="301752"/>
          </a:xfrm>
          <a:prstGeom prst="rect">
            <a:avLst/>
          </a:prstGeom>
          <a:noFill/>
          <a:ln/>
        </p:spPr>
        <p:txBody>
          <a:bodyPr wrap="square" lIns="0" tIns="0" rIns="0" bIns="0" rtlCol="0" anchor="ctr"/>
          <a:lstStyle/>
          <a:p>
            <a:pPr indent="0" marL="0">
              <a:buNone/>
            </a:pPr>
            <a:r>
              <a:rPr lang="en-US" sz="1500" b="1" dirty="0">
                <a:solidFill>
                  <a:srgbClr val="50808E"/>
                </a:solidFill>
                <a:latin typeface="Calibri" pitchFamily="34" charset="0"/>
                <a:ea typeface="Calibri" pitchFamily="34" charset="-122"/>
                <a:cs typeface="Calibri" pitchFamily="34" charset="-120"/>
              </a:rPr>
              <a:t>But hold on to the idea</a:t>
            </a:r>
            <a:endParaRPr lang="en-US" sz="1500" dirty="0"/>
          </a:p>
        </p:txBody>
      </p:sp>
      <p:sp>
        <p:nvSpPr>
          <p:cNvPr id="16" name="Text 13"/>
          <p:cNvSpPr/>
          <p:nvPr/>
        </p:nvSpPr>
        <p:spPr>
          <a:xfrm>
            <a:off x="7589520" y="4956048"/>
            <a:ext cx="3840480" cy="77724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"March forward without worrying about the past" is exactly the tree-CSP algorithm in part four.</a:t>
            </a:r>
            <a:endParaRPr lang="en-US" sz="1250" dirty="0"/>
          </a:p>
        </p:txBody>
      </p:sp>
      <p:sp>
        <p:nvSpPr>
          <p:cNvPr id="17" name="Shape 14"/>
          <p:cNvSpPr/>
          <p:nvPr/>
        </p:nvSpPr>
        <p:spPr>
          <a:xfrm>
            <a:off x="502920" y="5257800"/>
            <a:ext cx="6400800" cy="640080"/>
          </a:xfrm>
          <a:prstGeom prst="roundRect">
            <a:avLst>
              <a:gd name="adj" fmla="val 8571"/>
            </a:avLst>
          </a:prstGeom>
          <a:solidFill>
            <a:srgbClr val="F1F3F4"/>
          </a:solidFill>
          <a:ln w="9525">
            <a:solidFill>
              <a:srgbClr val="F1F3F4"/>
            </a:solidFill>
            <a:prstDash val="solid"/>
          </a:ln>
        </p:spPr>
      </p:sp>
      <p:sp>
        <p:nvSpPr>
          <p:cNvPr id="18" name="Text 15"/>
          <p:cNvSpPr/>
          <p:nvPr/>
        </p:nvSpPr>
        <p:spPr>
          <a:xfrm>
            <a:off x="731520" y="5276088"/>
            <a:ext cx="5943600" cy="603504"/>
          </a:xfrm>
          <a:prstGeom prst="rect">
            <a:avLst/>
          </a:prstGeom>
          <a:noFill/>
          <a:ln/>
        </p:spPr>
        <p:txBody>
          <a:bodyPr wrap="square" lIns="0" tIns="0" rIns="0" bIns="0" rtlCol="0" anchor="ctr"/>
          <a:lstStyle/>
          <a:p>
            <a:pPr indent="0" marL="0">
              <a:buNone/>
            </a:pPr>
            <a:r>
              <a:rPr lang="en-US" sz="1400" b="1" dirty="0">
                <a:solidFill>
                  <a:srgbClr val="22303A"/>
                </a:solidFill>
                <a:latin typeface="Calibri" pitchFamily="34" charset="0"/>
                <a:ea typeface="Calibri" pitchFamily="34" charset="-122"/>
                <a:cs typeface="Calibri" pitchFamily="34" charset="-120"/>
              </a:rPr>
              <a:t>In practice: enforce 2-consistency, occasionally 3, and never n.</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6.2.5</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Global constraints: Alldiff and resource limits</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21</a:t>
            </a:r>
            <a:endParaRPr lang="en-US" sz="900" dirty="0"/>
          </a:p>
        </p:txBody>
      </p:sp>
      <p:sp>
        <p:nvSpPr>
          <p:cNvPr id="7" name="Shape 4"/>
          <p:cNvSpPr/>
          <p:nvPr/>
        </p:nvSpPr>
        <p:spPr>
          <a:xfrm>
            <a:off x="502920" y="1371600"/>
            <a:ext cx="5577840" cy="2377440"/>
          </a:xfrm>
          <a:prstGeom prst="roundRect">
            <a:avLst>
              <a:gd name="adj" fmla="val 2308"/>
            </a:avLst>
          </a:prstGeom>
          <a:solidFill>
            <a:srgbClr val="F1F3F4"/>
          </a:solidFill>
          <a:ln w="9525">
            <a:solidFill>
              <a:srgbClr val="F1F3F4"/>
            </a:solidFill>
            <a:prstDash val="solid"/>
          </a:ln>
        </p:spPr>
      </p:sp>
      <p:sp>
        <p:nvSpPr>
          <p:cNvPr id="8" name="Text 5"/>
          <p:cNvSpPr/>
          <p:nvPr/>
        </p:nvSpPr>
        <p:spPr>
          <a:xfrm>
            <a:off x="777240" y="1554480"/>
            <a:ext cx="5029200" cy="301752"/>
          </a:xfrm>
          <a:prstGeom prst="rect">
            <a:avLst/>
          </a:prstGeom>
          <a:noFill/>
          <a:ln/>
        </p:spPr>
        <p:txBody>
          <a:bodyPr wrap="square" lIns="0" tIns="0" rIns="0" bIns="0" rtlCol="0" anchor="ctr"/>
          <a:lstStyle/>
          <a:p>
            <a:pPr indent="0" marL="0">
              <a:buNone/>
            </a:pPr>
            <a:r>
              <a:rPr lang="en-US" sz="1700" b="1" dirty="0">
                <a:solidFill>
                  <a:srgbClr val="50808E"/>
                </a:solidFill>
                <a:latin typeface="Calibri" pitchFamily="34" charset="0"/>
                <a:ea typeface="Calibri" pitchFamily="34" charset="-122"/>
                <a:cs typeface="Calibri" pitchFamily="34" charset="-120"/>
              </a:rPr>
              <a:t>Alldiff</a:t>
            </a:r>
            <a:endParaRPr lang="en-US" sz="1700" dirty="0"/>
          </a:p>
        </p:txBody>
      </p:sp>
      <p:sp>
        <p:nvSpPr>
          <p:cNvPr id="9" name="Text 6"/>
          <p:cNvSpPr/>
          <p:nvPr/>
        </p:nvSpPr>
        <p:spPr>
          <a:xfrm>
            <a:off x="777240" y="1938528"/>
            <a:ext cx="5029200" cy="45720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All the variables in the constraint must take different values.</a:t>
            </a:r>
            <a:endParaRPr lang="en-US" sz="1300" dirty="0"/>
          </a:p>
        </p:txBody>
      </p:sp>
      <p:sp>
        <p:nvSpPr>
          <p:cNvPr id="10" name="Text 7"/>
          <p:cNvSpPr/>
          <p:nvPr/>
        </p:nvSpPr>
        <p:spPr>
          <a:xfrm>
            <a:off x="777240" y="2450592"/>
            <a:ext cx="5029200" cy="118872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50" dirty="0">
                <a:solidFill>
                  <a:srgbClr val="2B3138"/>
                </a:solidFill>
                <a:latin typeface="Calibri" pitchFamily="34" charset="0"/>
                <a:ea typeface="Calibri" pitchFamily="34" charset="-122"/>
                <a:cs typeface="Calibri" pitchFamily="34" charset="-120"/>
              </a:rPr>
              <a:t>Remove any variable with a singleton domain, and delete its value from the others</a:t>
            </a:r>
            <a:endParaRPr lang="en-US" sz="1250" dirty="0"/>
          </a:p>
          <a:p>
            <a:pPr marL="342900" indent="-342900">
              <a:lnSpc>
                <a:spcPct val="106000"/>
              </a:lnSpc>
              <a:spcAft>
                <a:spcPts val="700"/>
              </a:spcAft>
              <a:buSzPct val="100000"/>
              <a:buChar char="•"/>
            </a:pPr>
            <a:r>
              <a:rPr lang="en-US" sz="1250" dirty="0">
                <a:solidFill>
                  <a:srgbClr val="2B3138"/>
                </a:solidFill>
                <a:latin typeface="Calibri" pitchFamily="34" charset="0"/>
                <a:ea typeface="Calibri" pitchFamily="34" charset="-122"/>
                <a:cs typeface="Calibri" pitchFamily="34" charset="-120"/>
              </a:rPr>
              <a:t>Repeat. If at any point more variables remain than values, the constraint is violated</a:t>
            </a:r>
            <a:endParaRPr lang="en-US" sz="1250" dirty="0"/>
          </a:p>
        </p:txBody>
      </p:sp>
      <p:sp>
        <p:nvSpPr>
          <p:cNvPr id="11" name="Shape 8"/>
          <p:cNvSpPr/>
          <p:nvPr/>
        </p:nvSpPr>
        <p:spPr>
          <a:xfrm>
            <a:off x="6355080" y="1371600"/>
            <a:ext cx="5303520" cy="2377440"/>
          </a:xfrm>
          <a:prstGeom prst="roundRect">
            <a:avLst>
              <a:gd name="adj" fmla="val 2308"/>
            </a:avLst>
          </a:prstGeom>
          <a:solidFill>
            <a:srgbClr val="F7EEEA"/>
          </a:solidFill>
          <a:ln w="9525">
            <a:solidFill>
              <a:srgbClr val="F7EEEA"/>
            </a:solidFill>
            <a:prstDash val="solid"/>
          </a:ln>
        </p:spPr>
      </p:sp>
      <p:sp>
        <p:nvSpPr>
          <p:cNvPr id="12" name="Text 9"/>
          <p:cNvSpPr/>
          <p:nvPr/>
        </p:nvSpPr>
        <p:spPr>
          <a:xfrm>
            <a:off x="6629400" y="1554480"/>
            <a:ext cx="4754880" cy="301752"/>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Detecting the failure in Australia</a:t>
            </a:r>
            <a:endParaRPr lang="en-US" sz="1500" dirty="0"/>
          </a:p>
        </p:txBody>
      </p:sp>
      <p:sp>
        <p:nvSpPr>
          <p:cNvPr id="13" name="Text 10"/>
          <p:cNvSpPr/>
          <p:nvPr/>
        </p:nvSpPr>
        <p:spPr>
          <a:xfrm>
            <a:off x="6629400" y="1938528"/>
            <a:ext cx="4754880" cy="169164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SA, NT and Q are pairwise different, so they are effectively under an Alldiff. Given WA = red and NSW = red, all three are reduced to {green, blue}: three variables, two values. The constraint is violated - and we found it without any search.</a:t>
            </a:r>
            <a:endParaRPr lang="en-US" sz="1250" dirty="0"/>
          </a:p>
        </p:txBody>
      </p:sp>
      <p:sp>
        <p:nvSpPr>
          <p:cNvPr id="14" name="Shape 11"/>
          <p:cNvSpPr/>
          <p:nvPr/>
        </p:nvSpPr>
        <p:spPr>
          <a:xfrm>
            <a:off x="502920" y="3977640"/>
            <a:ext cx="5577840" cy="1874520"/>
          </a:xfrm>
          <a:prstGeom prst="roundRect">
            <a:avLst>
              <a:gd name="adj" fmla="val 2927"/>
            </a:avLst>
          </a:prstGeom>
          <a:solidFill>
            <a:srgbClr val="F7EEEA"/>
          </a:solidFill>
          <a:ln w="9525">
            <a:solidFill>
              <a:srgbClr val="F7EEEA"/>
            </a:solidFill>
            <a:prstDash val="solid"/>
          </a:ln>
        </p:spPr>
      </p:sp>
      <p:sp>
        <p:nvSpPr>
          <p:cNvPr id="15" name="Text 12"/>
          <p:cNvSpPr/>
          <p:nvPr/>
        </p:nvSpPr>
        <p:spPr>
          <a:xfrm>
            <a:off x="777240" y="4160520"/>
            <a:ext cx="5029200" cy="301752"/>
          </a:xfrm>
          <a:prstGeom prst="rect">
            <a:avLst/>
          </a:prstGeom>
          <a:noFill/>
          <a:ln/>
        </p:spPr>
        <p:txBody>
          <a:bodyPr wrap="square" lIns="0" tIns="0" rIns="0" bIns="0" rtlCol="0" anchor="ctr"/>
          <a:lstStyle/>
          <a:p>
            <a:pPr indent="0" marL="0">
              <a:buNone/>
            </a:pPr>
            <a:r>
              <a:rPr lang="en-US" sz="1700" b="1" dirty="0">
                <a:solidFill>
                  <a:srgbClr val="B85042"/>
                </a:solidFill>
                <a:latin typeface="Calibri" pitchFamily="34" charset="0"/>
                <a:ea typeface="Calibri" pitchFamily="34" charset="-122"/>
                <a:cs typeface="Calibri" pitchFamily="34" charset="-120"/>
              </a:rPr>
              <a:t>Resource / Atmost</a:t>
            </a:r>
            <a:endParaRPr lang="en-US" sz="1700" dirty="0"/>
          </a:p>
        </p:txBody>
      </p:sp>
      <p:sp>
        <p:nvSpPr>
          <p:cNvPr id="16" name="Text 13"/>
          <p:cNvSpPr/>
          <p:nvPr/>
        </p:nvSpPr>
        <p:spPr>
          <a:xfrm>
            <a:off x="777240" y="4544568"/>
            <a:ext cx="5029200" cy="118872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Atmost(10, P1, P2, P3, P4) caps the total. Check the sum of the minimum values in the current domains: if each Pi has domain {3,4,5,6}, the minimum total is 12 and the constraint cannot be satisfied. Enforce consistency by deleting a maximum value inconsistent with the others' minima.</a:t>
            </a:r>
            <a:endParaRPr lang="en-US" sz="1250" dirty="0"/>
          </a:p>
        </p:txBody>
      </p:sp>
      <p:sp>
        <p:nvSpPr>
          <p:cNvPr id="17" name="Shape 14"/>
          <p:cNvSpPr/>
          <p:nvPr/>
        </p:nvSpPr>
        <p:spPr>
          <a:xfrm>
            <a:off x="6355080" y="3977640"/>
            <a:ext cx="5303520" cy="1874520"/>
          </a:xfrm>
          <a:prstGeom prst="roundRect">
            <a:avLst>
              <a:gd name="adj" fmla="val 2927"/>
            </a:avLst>
          </a:prstGeom>
          <a:solidFill>
            <a:srgbClr val="F1F3F4"/>
          </a:solidFill>
          <a:ln w="9525">
            <a:solidFill>
              <a:srgbClr val="F1F3F4"/>
            </a:solidFill>
            <a:prstDash val="solid"/>
          </a:ln>
        </p:spPr>
      </p:sp>
      <p:sp>
        <p:nvSpPr>
          <p:cNvPr id="18" name="Text 15"/>
          <p:cNvSpPr/>
          <p:nvPr/>
        </p:nvSpPr>
        <p:spPr>
          <a:xfrm>
            <a:off x="6629400" y="4160520"/>
            <a:ext cx="4754880" cy="301752"/>
          </a:xfrm>
          <a:prstGeom prst="rect">
            <a:avLst/>
          </a:prstGeom>
          <a:noFill/>
          <a:ln/>
        </p:spPr>
        <p:txBody>
          <a:bodyPr wrap="square" lIns="0" tIns="0" rIns="0" bIns="0" rtlCol="0" anchor="ctr"/>
          <a:lstStyle/>
          <a:p>
            <a:pPr indent="0" marL="0">
              <a:buNone/>
            </a:pPr>
            <a:r>
              <a:rPr lang="en-US" sz="1700" b="1" dirty="0">
                <a:solidFill>
                  <a:srgbClr val="50808E"/>
                </a:solidFill>
                <a:latin typeface="Calibri" pitchFamily="34" charset="0"/>
                <a:ea typeface="Calibri" pitchFamily="34" charset="-122"/>
                <a:cs typeface="Calibri" pitchFamily="34" charset="-120"/>
              </a:rPr>
              <a:t>Bounds propagation</a:t>
            </a:r>
            <a:endParaRPr lang="en-US" sz="1700" dirty="0"/>
          </a:p>
        </p:txBody>
      </p:sp>
      <p:sp>
        <p:nvSpPr>
          <p:cNvPr id="19" name="Text 16"/>
          <p:cNvSpPr/>
          <p:nvPr/>
        </p:nvSpPr>
        <p:spPr>
          <a:xfrm>
            <a:off x="6629400" y="4544568"/>
            <a:ext cx="4754880" cy="118872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For large integer domains, store an interval instead of a set. Two flights with capacities D1 = [0,165] and D2 = [0,385] plus the constraint F1 + F2 = 420 propagate to D1 = [35,165] and D2 = [255,385]. A CSP is bounds-consistent when both endpoints of every variable have a legal partner.</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6.2.6</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Case study: Sudoku is a CSP</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22</a:t>
            </a:r>
            <a:endParaRPr lang="en-US" sz="900" dirty="0"/>
          </a:p>
        </p:txBody>
      </p:sp>
      <p:sp>
        <p:nvSpPr>
          <p:cNvPr id="7" name="Text 4"/>
          <p:cNvSpPr/>
          <p:nvPr/>
        </p:nvSpPr>
        <p:spPr>
          <a:xfrm>
            <a:off x="502920" y="1371600"/>
            <a:ext cx="5943600" cy="219456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81 variables, A1 through I9 - one per square</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Empty squares have domain {1..9}; pre-filled squares have a singleton domain</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27 Alldiff constraints: one per row, one per column, one per 3x3 box</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That is the entire model. Nothing else about Sudoku is encoded anywhere</a:t>
            </a:r>
            <a:endParaRPr lang="en-US" sz="1400" dirty="0"/>
          </a:p>
        </p:txBody>
      </p:sp>
      <p:sp>
        <p:nvSpPr>
          <p:cNvPr id="8" name="Shape 5"/>
          <p:cNvSpPr/>
          <p:nvPr/>
        </p:nvSpPr>
        <p:spPr>
          <a:xfrm>
            <a:off x="502920" y="3703320"/>
            <a:ext cx="5943600" cy="1371600"/>
          </a:xfrm>
          <a:prstGeom prst="roundRect">
            <a:avLst>
              <a:gd name="adj" fmla="val 4000"/>
            </a:avLst>
          </a:prstGeom>
          <a:solidFill>
            <a:srgbClr val="EDF0F1"/>
          </a:solidFill>
          <a:ln w="9525">
            <a:solidFill>
              <a:srgbClr val="EDF0F1"/>
            </a:solidFill>
            <a:prstDash val="solid"/>
          </a:ln>
        </p:spPr>
      </p:sp>
      <p:sp>
        <p:nvSpPr>
          <p:cNvPr id="9" name="Text 6"/>
          <p:cNvSpPr/>
          <p:nvPr/>
        </p:nvSpPr>
        <p:spPr>
          <a:xfrm>
            <a:off x="704088" y="3849624"/>
            <a:ext cx="5541264" cy="1078992"/>
          </a:xfrm>
          <a:prstGeom prst="rect">
            <a:avLst/>
          </a:prstGeom>
          <a:noFill/>
          <a:ln/>
        </p:spPr>
        <p:txBody>
          <a:bodyPr wrap="square" lIns="0" tIns="0" rIns="0" bIns="0" rtlCol="0" anchor="t"/>
          <a:lstStyle/>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Alldiff(A1, A2, A3, A4, A5, A6, A7, A8, A9)</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Alldiff(A1, B1, C1, D1, E1, F1, G1, H1, I1)</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Alldiff(A1, A2, A3, B1, B2, B3, C1, C2, C3)</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  27 of these in total</a:t>
            </a:r>
            <a:endParaRPr lang="en-US" sz="1150" dirty="0"/>
          </a:p>
        </p:txBody>
      </p:sp>
      <p:sp>
        <p:nvSpPr>
          <p:cNvPr id="10" name="Shape 7"/>
          <p:cNvSpPr/>
          <p:nvPr/>
        </p:nvSpPr>
        <p:spPr>
          <a:xfrm>
            <a:off x="6766560" y="1371600"/>
            <a:ext cx="4892040" cy="2194560"/>
          </a:xfrm>
          <a:prstGeom prst="roundRect">
            <a:avLst>
              <a:gd name="adj" fmla="val 2500"/>
            </a:avLst>
          </a:prstGeom>
          <a:solidFill>
            <a:srgbClr val="F1F3F4"/>
          </a:solidFill>
          <a:ln w="9525">
            <a:solidFill>
              <a:srgbClr val="F1F3F4"/>
            </a:solidFill>
            <a:prstDash val="solid"/>
          </a:ln>
        </p:spPr>
      </p:sp>
      <p:sp>
        <p:nvSpPr>
          <p:cNvPr id="11" name="Text 8"/>
          <p:cNvSpPr/>
          <p:nvPr/>
        </p:nvSpPr>
        <p:spPr>
          <a:xfrm>
            <a:off x="7040880" y="1554480"/>
            <a:ext cx="4389120" cy="301752"/>
          </a:xfrm>
          <a:prstGeom prst="rect">
            <a:avLst/>
          </a:prstGeom>
          <a:noFill/>
          <a:ln/>
        </p:spPr>
        <p:txBody>
          <a:bodyPr wrap="square" lIns="0" tIns="0" rIns="0" bIns="0" rtlCol="0" anchor="ctr"/>
          <a:lstStyle/>
          <a:p>
            <a:pPr indent="0" marL="0">
              <a:buNone/>
            </a:pPr>
            <a:r>
              <a:rPr lang="en-US" sz="1500" b="1" dirty="0">
                <a:solidFill>
                  <a:srgbClr val="50808E"/>
                </a:solidFill>
                <a:latin typeface="Calibri" pitchFamily="34" charset="0"/>
                <a:ea typeface="Calibri" pitchFamily="34" charset="-122"/>
                <a:cs typeface="Calibri" pitchFamily="34" charset="-120"/>
              </a:rPr>
              <a:t>How far does propagation get?</a:t>
            </a:r>
            <a:endParaRPr lang="en-US" sz="1500" dirty="0"/>
          </a:p>
        </p:txBody>
      </p:sp>
      <p:sp>
        <p:nvSpPr>
          <p:cNvPr id="12" name="Text 9"/>
          <p:cNvSpPr/>
          <p:nvPr/>
        </p:nvSpPr>
        <p:spPr>
          <a:xfrm>
            <a:off x="7040880" y="1965960"/>
            <a:ext cx="4389120" cy="146304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50" dirty="0">
                <a:solidFill>
                  <a:srgbClr val="2B3138"/>
                </a:solidFill>
                <a:latin typeface="Calibri" pitchFamily="34" charset="0"/>
                <a:ea typeface="Calibri" pitchFamily="34" charset="-122"/>
                <a:cs typeface="Calibri" pitchFamily="34" charset="-120"/>
              </a:rPr>
              <a:t>Expand Alldiff into binary constraints and run AC-3</a:t>
            </a:r>
            <a:endParaRPr lang="en-US" sz="1250" dirty="0"/>
          </a:p>
          <a:p>
            <a:pPr marL="342900" indent="-342900">
              <a:lnSpc>
                <a:spcPct val="106000"/>
              </a:lnSpc>
              <a:spcAft>
                <a:spcPts val="700"/>
              </a:spcAft>
              <a:buSzPct val="100000"/>
              <a:buChar char="•"/>
            </a:pPr>
            <a:r>
              <a:rPr lang="en-US" sz="1250" dirty="0">
                <a:solidFill>
                  <a:srgbClr val="2B3138"/>
                </a:solidFill>
                <a:latin typeface="Calibri" pitchFamily="34" charset="0"/>
                <a:ea typeface="Calibri" pitchFamily="34" charset="-122"/>
                <a:cs typeface="Calibri" pitchFamily="34" charset="-120"/>
              </a:rPr>
              <a:t>It solves the easiest published puzzles outright - every domain collapses to a single value</a:t>
            </a:r>
            <a:endParaRPr lang="en-US" sz="1250" dirty="0"/>
          </a:p>
          <a:p>
            <a:pPr marL="342900" indent="-342900">
              <a:lnSpc>
                <a:spcPct val="106000"/>
              </a:lnSpc>
              <a:spcAft>
                <a:spcPts val="700"/>
              </a:spcAft>
              <a:buSzPct val="100000"/>
              <a:buChar char="•"/>
            </a:pPr>
            <a:r>
              <a:rPr lang="en-US" sz="1250" dirty="0">
                <a:solidFill>
                  <a:srgbClr val="2B3138"/>
                </a:solidFill>
                <a:latin typeface="Calibri" pitchFamily="34" charset="0"/>
                <a:ea typeface="Calibri" pitchFamily="34" charset="-122"/>
                <a:cs typeface="Calibri" pitchFamily="34" charset="-120"/>
              </a:rPr>
              <a:t>Slightly harder ones yield to PC-2, at great cost: 255,960 path constraints</a:t>
            </a:r>
            <a:endParaRPr lang="en-US" sz="1250" dirty="0"/>
          </a:p>
        </p:txBody>
      </p:sp>
      <p:sp>
        <p:nvSpPr>
          <p:cNvPr id="13" name="Shape 10"/>
          <p:cNvSpPr/>
          <p:nvPr/>
        </p:nvSpPr>
        <p:spPr>
          <a:xfrm>
            <a:off x="6766560" y="3703320"/>
            <a:ext cx="4892040" cy="2148840"/>
          </a:xfrm>
          <a:prstGeom prst="roundRect">
            <a:avLst>
              <a:gd name="adj" fmla="val 2553"/>
            </a:avLst>
          </a:prstGeom>
          <a:solidFill>
            <a:srgbClr val="F7EEEA"/>
          </a:solidFill>
          <a:ln w="9525">
            <a:solidFill>
              <a:srgbClr val="F7EEEA"/>
            </a:solidFill>
            <a:prstDash val="solid"/>
          </a:ln>
        </p:spPr>
      </p:sp>
      <p:sp>
        <p:nvSpPr>
          <p:cNvPr id="14" name="Text 11"/>
          <p:cNvSpPr/>
          <p:nvPr/>
        </p:nvSpPr>
        <p:spPr>
          <a:xfrm>
            <a:off x="7040880" y="3886200"/>
            <a:ext cx="4389120" cy="301752"/>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Why Sudoku is still fun</a:t>
            </a:r>
            <a:endParaRPr lang="en-US" sz="1500" dirty="0"/>
          </a:p>
        </p:txBody>
      </p:sp>
      <p:sp>
        <p:nvSpPr>
          <p:cNvPr id="15" name="Text 12"/>
          <p:cNvSpPr/>
          <p:nvPr/>
        </p:nvSpPr>
        <p:spPr>
          <a:xfrm>
            <a:off x="7040880" y="4279392"/>
            <a:ext cx="4389120" cy="137160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The hard puzzles need cleverer inference. Aficionados name their strategies - "naked triples": if three squares in a unit have domains {1,8}, {3,8} and {1,3,8}, those three digits must be distributed among those three squares, so 1, 3 and 8 can be deleted everywhere else in the unit.</a:t>
            </a:r>
            <a:endParaRPr lang="en-US" sz="1250" dirty="0"/>
          </a:p>
        </p:txBody>
      </p:sp>
      <p:sp>
        <p:nvSpPr>
          <p:cNvPr id="16" name="Text 13"/>
          <p:cNvSpPr/>
          <p:nvPr/>
        </p:nvSpPr>
        <p:spPr>
          <a:xfrm>
            <a:off x="502920" y="5257800"/>
            <a:ext cx="5943600" cy="640080"/>
          </a:xfrm>
          <a:prstGeom prst="rect">
            <a:avLst/>
          </a:prstGeom>
          <a:noFill/>
          <a:ln/>
        </p:spPr>
        <p:txBody>
          <a:bodyPr wrap="square" lIns="0" tIns="0" rIns="0" bIns="0" rtlCol="0" anchor="t"/>
          <a:lstStyle/>
          <a:p>
            <a:pPr indent="0" marL="0">
              <a:lnSpc>
                <a:spcPct val="112000"/>
              </a:lnSpc>
              <a:buNone/>
            </a:pPr>
            <a:r>
              <a:rPr lang="en-US" sz="1300" b="1" i="1" dirty="0">
                <a:solidFill>
                  <a:srgbClr val="B85042"/>
                </a:solidFill>
                <a:latin typeface="Calibri" pitchFamily="34" charset="0"/>
                <a:ea typeface="Calibri" pitchFamily="34" charset="-122"/>
                <a:cs typeface="Calibri" pitchFamily="34" charset="-120"/>
              </a:rPr>
              <a:t>Note how little of this is Sudoku-specific: 81 variables, digit domains, 27 Alldiffs. Define the problem in constraints and the general machinery takes over.</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2303A"/>
        </a:solidFill>
      </p:bgPr>
    </p:bg>
    <p:spTree>
      <p:nvGrpSpPr>
        <p:cNvPr id="1" name=""/>
        <p:cNvGrpSpPr/>
        <p:nvPr/>
      </p:nvGrpSpPr>
      <p:grpSpPr>
        <a:xfrm>
          <a:off x="0" y="0"/>
          <a:ext cx="0" cy="0"/>
          <a:chOff x="0" y="0"/>
          <a:chExt cx="0" cy="0"/>
        </a:xfrm>
      </p:grpSpPr>
      <p:sp>
        <p:nvSpPr>
          <p:cNvPr id="2" name="Text 0"/>
          <p:cNvSpPr/>
          <p:nvPr/>
        </p:nvSpPr>
        <p:spPr>
          <a:xfrm>
            <a:off x="777240" y="685800"/>
            <a:ext cx="10607040" cy="274320"/>
          </a:xfrm>
          <a:prstGeom prst="rect">
            <a:avLst/>
          </a:prstGeom>
          <a:noFill/>
          <a:ln/>
        </p:spPr>
        <p:txBody>
          <a:bodyPr wrap="square" lIns="0" tIns="0" rIns="0" bIns="0" rtlCol="0" anchor="ctr"/>
          <a:lstStyle/>
          <a:p>
            <a:pPr indent="0" marL="0">
              <a:buNone/>
            </a:pPr>
            <a:r>
              <a:rPr lang="en-US" sz="1200" b="1" spc="200" kern="0" dirty="0">
                <a:solidFill>
                  <a:srgbClr val="C8922F"/>
                </a:solidFill>
                <a:latin typeface="Calibri" pitchFamily="34" charset="0"/>
                <a:ea typeface="Calibri" pitchFamily="34" charset="-122"/>
                <a:cs typeface="Calibri" pitchFamily="34" charset="-120"/>
              </a:rPr>
              <a:t>CHECKPOINT</a:t>
            </a:r>
            <a:endParaRPr lang="en-US" sz="1200" dirty="0"/>
          </a:p>
        </p:txBody>
      </p:sp>
      <p:sp>
        <p:nvSpPr>
          <p:cNvPr id="3" name="Text 1"/>
          <p:cNvSpPr/>
          <p:nvPr/>
        </p:nvSpPr>
        <p:spPr>
          <a:xfrm>
            <a:off x="777240" y="1051560"/>
            <a:ext cx="1060704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Two questions before the break</a:t>
            </a:r>
            <a:endParaRPr lang="en-US" sz="3400" dirty="0"/>
          </a:p>
        </p:txBody>
      </p:sp>
      <p:sp>
        <p:nvSpPr>
          <p:cNvPr id="4" name="Shape 2"/>
          <p:cNvSpPr/>
          <p:nvPr/>
        </p:nvSpPr>
        <p:spPr>
          <a:xfrm>
            <a:off x="777240" y="2103120"/>
            <a:ext cx="10607040" cy="1371600"/>
          </a:xfrm>
          <a:prstGeom prst="roundRect">
            <a:avLst>
              <a:gd name="adj" fmla="val 3333"/>
            </a:avLst>
          </a:prstGeom>
          <a:solidFill>
            <a:srgbClr val="31424E"/>
          </a:solidFill>
          <a:ln w="12700">
            <a:solidFill>
              <a:srgbClr val="31424E"/>
            </a:solidFill>
            <a:prstDash val="solid"/>
          </a:ln>
        </p:spPr>
      </p:sp>
      <p:sp>
        <p:nvSpPr>
          <p:cNvPr id="5" name="Shape 3"/>
          <p:cNvSpPr/>
          <p:nvPr/>
        </p:nvSpPr>
        <p:spPr>
          <a:xfrm>
            <a:off x="1097280" y="2542032"/>
            <a:ext cx="502920" cy="502920"/>
          </a:xfrm>
          <a:prstGeom prst="ellipse">
            <a:avLst/>
          </a:prstGeom>
          <a:solidFill>
            <a:srgbClr val="B85042"/>
          </a:solidFill>
          <a:ln/>
        </p:spPr>
      </p:sp>
      <p:sp>
        <p:nvSpPr>
          <p:cNvPr id="6" name="Text 4"/>
          <p:cNvSpPr/>
          <p:nvPr/>
        </p:nvSpPr>
        <p:spPr>
          <a:xfrm>
            <a:off x="1097280" y="25420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874520" y="2331720"/>
            <a:ext cx="9144000" cy="914400"/>
          </a:xfrm>
          <a:prstGeom prst="rect">
            <a:avLst/>
          </a:prstGeom>
          <a:noFill/>
          <a:ln/>
        </p:spPr>
        <p:txBody>
          <a:bodyPr wrap="square" lIns="0" tIns="0" rIns="0" bIns="0" rtlCol="0" anchor="ctr"/>
          <a:lstStyle/>
          <a:p>
            <a:pPr indent="0" marL="0">
              <a:buNone/>
            </a:pPr>
            <a:r>
              <a:rPr lang="en-US" sz="1500" dirty="0">
                <a:solidFill>
                  <a:srgbClr val="E2EBEF"/>
                </a:solidFill>
                <a:latin typeface="Calibri" pitchFamily="34" charset="0"/>
                <a:ea typeface="Calibri" pitchFamily="34" charset="-122"/>
                <a:cs typeface="Calibri" pitchFamily="34" charset="-120"/>
              </a:rPr>
              <a:t>You enforce arc consistency on X -&gt; Y and delete two values. Which other arcs must go back on the queue, and why not the arc Y -&gt; X itself?</a:t>
            </a:r>
            <a:endParaRPr lang="en-US" sz="1500" dirty="0"/>
          </a:p>
        </p:txBody>
      </p:sp>
      <p:sp>
        <p:nvSpPr>
          <p:cNvPr id="8" name="Shape 6"/>
          <p:cNvSpPr/>
          <p:nvPr/>
        </p:nvSpPr>
        <p:spPr>
          <a:xfrm>
            <a:off x="777240" y="3794760"/>
            <a:ext cx="10607040" cy="1371600"/>
          </a:xfrm>
          <a:prstGeom prst="roundRect">
            <a:avLst>
              <a:gd name="adj" fmla="val 3333"/>
            </a:avLst>
          </a:prstGeom>
          <a:solidFill>
            <a:srgbClr val="31424E"/>
          </a:solidFill>
          <a:ln w="12700">
            <a:solidFill>
              <a:srgbClr val="31424E"/>
            </a:solidFill>
            <a:prstDash val="solid"/>
          </a:ln>
        </p:spPr>
      </p:sp>
      <p:sp>
        <p:nvSpPr>
          <p:cNvPr id="9" name="Shape 7"/>
          <p:cNvSpPr/>
          <p:nvPr/>
        </p:nvSpPr>
        <p:spPr>
          <a:xfrm>
            <a:off x="1097280" y="4233672"/>
            <a:ext cx="502920" cy="502920"/>
          </a:xfrm>
          <a:prstGeom prst="ellipse">
            <a:avLst/>
          </a:prstGeom>
          <a:solidFill>
            <a:srgbClr val="B85042"/>
          </a:solidFill>
          <a:ln/>
        </p:spPr>
      </p:sp>
      <p:sp>
        <p:nvSpPr>
          <p:cNvPr id="10" name="Text 8"/>
          <p:cNvSpPr/>
          <p:nvPr/>
        </p:nvSpPr>
        <p:spPr>
          <a:xfrm>
            <a:off x="1097280" y="423367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874520" y="4023360"/>
            <a:ext cx="9144000" cy="914400"/>
          </a:xfrm>
          <a:prstGeom prst="rect">
            <a:avLst/>
          </a:prstGeom>
          <a:noFill/>
          <a:ln/>
        </p:spPr>
        <p:txBody>
          <a:bodyPr wrap="square" lIns="0" tIns="0" rIns="0" bIns="0" rtlCol="0" anchor="ctr"/>
          <a:lstStyle/>
          <a:p>
            <a:pPr indent="0" marL="0">
              <a:buNone/>
            </a:pPr>
            <a:r>
              <a:rPr lang="en-US" sz="1500" dirty="0">
                <a:solidFill>
                  <a:srgbClr val="E2EBEF"/>
                </a:solidFill>
                <a:latin typeface="Calibri" pitchFamily="34" charset="0"/>
                <a:ea typeface="Calibri" pitchFamily="34" charset="-122"/>
                <a:cs typeface="Calibri" pitchFamily="34" charset="-120"/>
              </a:rPr>
              <a:t>A colleague says: "AC-3 runs in polynomial time, so I will just run it and read off the answer." What is wrong with that plan?</a:t>
            </a:r>
            <a:endParaRPr lang="en-US" sz="1500" dirty="0"/>
          </a:p>
        </p:txBody>
      </p:sp>
      <p:sp>
        <p:nvSpPr>
          <p:cNvPr id="12" name="Text 10"/>
          <p:cNvSpPr/>
          <p:nvPr/>
        </p:nvSpPr>
        <p:spPr>
          <a:xfrm>
            <a:off x="777240" y="5623560"/>
            <a:ext cx="10607040" cy="640080"/>
          </a:xfrm>
          <a:prstGeom prst="rect">
            <a:avLst/>
          </a:prstGeom>
          <a:noFill/>
          <a:ln/>
        </p:spPr>
        <p:txBody>
          <a:bodyPr wrap="square" lIns="0" tIns="0" rIns="0" bIns="0" rtlCol="0" anchor="ctr"/>
          <a:lstStyle/>
          <a:p>
            <a:pPr indent="0" marL="0">
              <a:buNone/>
            </a:pPr>
            <a:r>
              <a:rPr lang="en-US" sz="1150" i="1" dirty="0">
                <a:solidFill>
                  <a:srgbClr val="8FA2AD"/>
                </a:solidFill>
                <a:latin typeface="Calibri" pitchFamily="34" charset="0"/>
                <a:ea typeface="Calibri" pitchFamily="34" charset="-122"/>
                <a:cs typeface="Calibri" pitchFamily="34" charset="-120"/>
              </a:rPr>
              <a:t>Answers: (1) every arc pointing into X, excluding the one from Y - a value lost at X can break any neighbour that relied on it. Y -&gt; X is unaffected because Y's domain did not change. (2) A polynomial algorithm cannot decide an NP-hard problem; AC-3 prunes, it does not solve.</a:t>
            </a:r>
            <a:endParaRPr lang="en-US" sz="1150" dirty="0"/>
          </a:p>
        </p:txBody>
      </p:sp>
      <p:sp>
        <p:nvSpPr>
          <p:cNvPr id="14" name="Text 11"/>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8FA2AD"/>
                </a:solidFill>
                <a:latin typeface="Calibri" pitchFamily="34" charset="0"/>
                <a:ea typeface="Calibri" pitchFamily="34" charset="-122"/>
                <a:cs typeface="Calibri" pitchFamily="34" charset="-120"/>
              </a:rPr>
              <a:t>COMP 469 - Artificial Intelligence</a:t>
            </a:r>
            <a:endParaRPr lang="en-US" sz="900" dirty="0"/>
          </a:p>
        </p:txBody>
      </p:sp>
      <p:sp>
        <p:nvSpPr>
          <p:cNvPr id="15" name="Text 12"/>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8FA2AD"/>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2303A"/>
        </a:solidFill>
      </p:bgPr>
    </p:bg>
    <p:spTree>
      <p:nvGrpSpPr>
        <p:cNvPr id="1" name=""/>
        <p:cNvGrpSpPr/>
        <p:nvPr/>
      </p:nvGrpSpPr>
      <p:grpSpPr>
        <a:xfrm>
          <a:off x="0" y="0"/>
          <a:ext cx="0" cy="0"/>
          <a:chOff x="0" y="0"/>
          <a:chExt cx="0" cy="0"/>
        </a:xfrm>
      </p:grpSpPr>
      <p:sp>
        <p:nvSpPr>
          <p:cNvPr id="2" name="Shape 0"/>
          <p:cNvSpPr/>
          <p:nvPr/>
        </p:nvSpPr>
        <p:spPr>
          <a:xfrm>
            <a:off x="5166360" y="2057400"/>
            <a:ext cx="1828800" cy="1828800"/>
          </a:xfrm>
          <a:prstGeom prst="ellipse">
            <a:avLst/>
          </a:prstGeom>
          <a:solidFill>
            <a:srgbClr val="B85042"/>
          </a:solidFill>
          <a:ln/>
        </p:spPr>
      </p:sp>
      <p:sp>
        <p:nvSpPr>
          <p:cNvPr id="3" name="Text 1"/>
          <p:cNvSpPr/>
          <p:nvPr/>
        </p:nvSpPr>
        <p:spPr>
          <a:xfrm>
            <a:off x="5166360" y="2057400"/>
            <a:ext cx="1828800" cy="182880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10</a:t>
            </a:r>
            <a:endParaRPr lang="en-US" sz="5400" dirty="0"/>
          </a:p>
        </p:txBody>
      </p:sp>
      <p:sp>
        <p:nvSpPr>
          <p:cNvPr id="4" name="Text 2"/>
          <p:cNvSpPr/>
          <p:nvPr/>
        </p:nvSpPr>
        <p:spPr>
          <a:xfrm>
            <a:off x="777240" y="4114800"/>
            <a:ext cx="1060704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Cambria" pitchFamily="34" charset="0"/>
                <a:ea typeface="Cambria" pitchFamily="34" charset="-122"/>
                <a:cs typeface="Cambria" pitchFamily="34" charset="-120"/>
              </a:rPr>
              <a:t>Break</a:t>
            </a:r>
            <a:endParaRPr lang="en-US" sz="3600" dirty="0"/>
          </a:p>
        </p:txBody>
      </p:sp>
      <p:sp>
        <p:nvSpPr>
          <p:cNvPr id="5" name="Text 3"/>
          <p:cNvSpPr/>
          <p:nvPr/>
        </p:nvSpPr>
        <p:spPr>
          <a:xfrm>
            <a:off x="777240" y="4754880"/>
            <a:ext cx="10607040" cy="365760"/>
          </a:xfrm>
          <a:prstGeom prst="rect">
            <a:avLst/>
          </a:prstGeom>
          <a:noFill/>
          <a:ln/>
        </p:spPr>
        <p:txBody>
          <a:bodyPr wrap="square" lIns="0" tIns="0" rIns="0" bIns="0" rtlCol="0" anchor="ctr"/>
          <a:lstStyle/>
          <a:p>
            <a:pPr algn="ctr" indent="0" marL="0">
              <a:buNone/>
            </a:pPr>
            <a:r>
              <a:rPr lang="en-US" sz="1500" i="1" dirty="0">
                <a:solidFill>
                  <a:srgbClr val="A9BFCB"/>
                </a:solidFill>
                <a:latin typeface="Calibri" pitchFamily="34" charset="0"/>
                <a:ea typeface="Calibri" pitchFamily="34" charset="-122"/>
                <a:cs typeface="Calibri" pitchFamily="34" charset="-120"/>
              </a:rPr>
              <a:t>Back in ten minutes. Next up: making backtracking search itself smarter.</a:t>
            </a:r>
            <a:endParaRPr lang="en-US" sz="1500" dirty="0"/>
          </a:p>
        </p:txBody>
      </p:sp>
      <p:sp>
        <p:nvSpPr>
          <p:cNvPr id="7" name="Text 4"/>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8FA2AD"/>
                </a:solidFill>
                <a:latin typeface="Calibri" pitchFamily="34" charset="0"/>
                <a:ea typeface="Calibri" pitchFamily="34" charset="-122"/>
                <a:cs typeface="Calibri" pitchFamily="34" charset="-120"/>
              </a:rPr>
              <a:t>COMP 469 - Artificial Intelligence</a:t>
            </a:r>
            <a:endParaRPr lang="en-US" sz="900" dirty="0"/>
          </a:p>
        </p:txBody>
      </p:sp>
      <p:sp>
        <p:nvSpPr>
          <p:cNvPr id="8" name="Text 5"/>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8FA2AD"/>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2303A"/>
        </a:solidFill>
      </p:bgPr>
    </p:bg>
    <p:spTree>
      <p:nvGrpSpPr>
        <p:cNvPr id="1" name=""/>
        <p:cNvGrpSpPr/>
        <p:nvPr/>
      </p:nvGrpSpPr>
      <p:grpSpPr>
        <a:xfrm>
          <a:off x="0" y="0"/>
          <a:ext cx="0" cy="0"/>
          <a:chOff x="0" y="0"/>
          <a:chExt cx="0" cy="0"/>
        </a:xfrm>
      </p:grpSpPr>
      <p:sp>
        <p:nvSpPr>
          <p:cNvPr id="2" name="Shape 0"/>
          <p:cNvSpPr/>
          <p:nvPr/>
        </p:nvSpPr>
        <p:spPr>
          <a:xfrm>
            <a:off x="822960" y="1874520"/>
            <a:ext cx="1234440" cy="1234440"/>
          </a:xfrm>
          <a:prstGeom prst="ellipse">
            <a:avLst/>
          </a:prstGeom>
          <a:solidFill>
            <a:srgbClr val="B85042"/>
          </a:solidFill>
          <a:ln/>
        </p:spPr>
      </p:sp>
      <p:sp>
        <p:nvSpPr>
          <p:cNvPr id="3" name="Text 1"/>
          <p:cNvSpPr/>
          <p:nvPr/>
        </p:nvSpPr>
        <p:spPr>
          <a:xfrm>
            <a:off x="822960" y="1874520"/>
            <a:ext cx="1234440" cy="12344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2</a:t>
            </a:r>
            <a:endParaRPr lang="en-US" sz="4000" dirty="0"/>
          </a:p>
        </p:txBody>
      </p:sp>
      <p:sp>
        <p:nvSpPr>
          <p:cNvPr id="4" name="Text 2"/>
          <p:cNvSpPr/>
          <p:nvPr/>
        </p:nvSpPr>
        <p:spPr>
          <a:xfrm>
            <a:off x="2423160" y="1874520"/>
            <a:ext cx="877824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Smarter Backtracking</a:t>
            </a:r>
            <a:endParaRPr lang="en-US" sz="3800" dirty="0"/>
          </a:p>
        </p:txBody>
      </p:sp>
      <p:sp>
        <p:nvSpPr>
          <p:cNvPr id="5" name="Text 3"/>
          <p:cNvSpPr/>
          <p:nvPr/>
        </p:nvSpPr>
        <p:spPr>
          <a:xfrm>
            <a:off x="2468880" y="2761488"/>
            <a:ext cx="8686800" cy="411480"/>
          </a:xfrm>
          <a:prstGeom prst="rect">
            <a:avLst/>
          </a:prstGeom>
          <a:noFill/>
          <a:ln/>
        </p:spPr>
        <p:txBody>
          <a:bodyPr wrap="square" lIns="0" tIns="0" rIns="0" bIns="0" rtlCol="0" anchor="ctr"/>
          <a:lstStyle/>
          <a:p>
            <a:pPr indent="0" marL="0">
              <a:buNone/>
            </a:pPr>
            <a:r>
              <a:rPr lang="en-US" sz="1500" i="1" dirty="0">
                <a:solidFill>
                  <a:srgbClr val="A9BFCB"/>
                </a:solidFill>
                <a:latin typeface="Calibri" pitchFamily="34" charset="0"/>
                <a:ea typeface="Calibri" pitchFamily="34" charset="-122"/>
                <a:cs typeface="Calibri" pitchFamily="34" charset="-120"/>
              </a:rPr>
              <a:t>AIMA 6.3 - looking forward and looking backward</a:t>
            </a:r>
            <a:endParaRPr lang="en-US" sz="1500" dirty="0"/>
          </a:p>
        </p:txBody>
      </p:sp>
      <p:sp>
        <p:nvSpPr>
          <p:cNvPr id="6" name="Text 4"/>
          <p:cNvSpPr/>
          <p:nvPr/>
        </p:nvSpPr>
        <p:spPr>
          <a:xfrm>
            <a:off x="2487168" y="3429000"/>
            <a:ext cx="8595360" cy="17373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FDDE4"/>
                </a:solidFill>
                <a:latin typeface="Calibri" pitchFamily="34" charset="0"/>
                <a:ea typeface="Calibri" pitchFamily="34" charset="-122"/>
                <a:cs typeface="Calibri" pitchFamily="34" charset="-120"/>
              </a:rPr>
              <a:t>Which variable next, which value first</a:t>
            </a:r>
            <a:endParaRPr lang="en-US" sz="1400" dirty="0"/>
          </a:p>
          <a:p>
            <a:pPr marL="342900" indent="-342900">
              <a:spcAft>
                <a:spcPts val="600"/>
              </a:spcAft>
              <a:buSzPct val="100000"/>
              <a:buChar char="•"/>
            </a:pPr>
            <a:r>
              <a:rPr lang="en-US" sz="1400" dirty="0">
                <a:solidFill>
                  <a:srgbClr val="CFDDE4"/>
                </a:solidFill>
                <a:latin typeface="Calibri" pitchFamily="34" charset="0"/>
                <a:ea typeface="Calibri" pitchFamily="34" charset="-122"/>
                <a:cs typeface="Calibri" pitchFamily="34" charset="-120"/>
              </a:rPr>
              <a:t>Interleaving search and inference</a:t>
            </a:r>
            <a:endParaRPr lang="en-US" sz="1400" dirty="0"/>
          </a:p>
          <a:p>
            <a:pPr marL="342900" indent="-342900">
              <a:spcAft>
                <a:spcPts val="600"/>
              </a:spcAft>
              <a:buSzPct val="100000"/>
              <a:buChar char="•"/>
            </a:pPr>
            <a:r>
              <a:rPr lang="en-US" sz="1400" dirty="0">
                <a:solidFill>
                  <a:srgbClr val="CFDDE4"/>
                </a:solidFill>
                <a:latin typeface="Calibri" pitchFamily="34" charset="0"/>
                <a:ea typeface="Calibri" pitchFamily="34" charset="-122"/>
                <a:cs typeface="Calibri" pitchFamily="34" charset="-120"/>
              </a:rPr>
              <a:t>Backjumping and conflict sets</a:t>
            </a:r>
            <a:endParaRPr lang="en-US" sz="1400" dirty="0"/>
          </a:p>
          <a:p>
            <a:pPr marL="342900" indent="-342900">
              <a:spcAft>
                <a:spcPts val="600"/>
              </a:spcAft>
              <a:buSzPct val="100000"/>
              <a:buChar char="•"/>
            </a:pPr>
            <a:r>
              <a:rPr lang="en-US" sz="1400" dirty="0">
                <a:solidFill>
                  <a:srgbClr val="CFDDE4"/>
                </a:solidFill>
                <a:latin typeface="Calibri" pitchFamily="34" charset="0"/>
                <a:ea typeface="Calibri" pitchFamily="34" charset="-122"/>
                <a:cs typeface="Calibri" pitchFamily="34" charset="-120"/>
              </a:rPr>
              <a:t>Constraint learning and no-goods</a:t>
            </a:r>
            <a:endParaRPr lang="en-US" sz="1400" dirty="0"/>
          </a:p>
        </p:txBody>
      </p:sp>
      <p:sp>
        <p:nvSpPr>
          <p:cNvPr id="8" name="Text 5"/>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8FA2AD"/>
                </a:solidFill>
                <a:latin typeface="Calibri" pitchFamily="34" charset="0"/>
                <a:ea typeface="Calibri" pitchFamily="34" charset="-122"/>
                <a:cs typeface="Calibri" pitchFamily="34" charset="-120"/>
              </a:rPr>
              <a:t>COMP 469 - Artificial Intelligence</a:t>
            </a:r>
            <a:endParaRPr lang="en-US" sz="900" dirty="0"/>
          </a:p>
        </p:txBody>
      </p:sp>
      <p:sp>
        <p:nvSpPr>
          <p:cNvPr id="9" name="Text 6"/>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8FA2AD"/>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6.3</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Four questions the backtracking skeleton leaves open</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26</a:t>
            </a:r>
            <a:endParaRPr lang="en-US" sz="900" dirty="0"/>
          </a:p>
        </p:txBody>
      </p:sp>
      <p:sp>
        <p:nvSpPr>
          <p:cNvPr id="7" name="Shape 4"/>
          <p:cNvSpPr/>
          <p:nvPr/>
        </p:nvSpPr>
        <p:spPr>
          <a:xfrm>
            <a:off x="502920" y="1463040"/>
            <a:ext cx="5440680" cy="1874520"/>
          </a:xfrm>
          <a:prstGeom prst="roundRect">
            <a:avLst>
              <a:gd name="adj" fmla="val 2927"/>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8" name="Text 5"/>
          <p:cNvSpPr/>
          <p:nvPr/>
        </p:nvSpPr>
        <p:spPr>
          <a:xfrm>
            <a:off x="777240" y="1664208"/>
            <a:ext cx="1828800" cy="274320"/>
          </a:xfrm>
          <a:prstGeom prst="rect">
            <a:avLst/>
          </a:prstGeom>
          <a:noFill/>
          <a:ln/>
        </p:spPr>
        <p:txBody>
          <a:bodyPr wrap="square" lIns="0" tIns="0" rIns="0" bIns="0" rtlCol="0" anchor="ctr"/>
          <a:lstStyle/>
          <a:p>
            <a:pPr indent="0" marL="0">
              <a:buNone/>
            </a:pPr>
            <a:r>
              <a:rPr lang="en-US" sz="1100" b="1" spc="120" kern="0" dirty="0">
                <a:solidFill>
                  <a:srgbClr val="50808E"/>
                </a:solidFill>
                <a:latin typeface="Calibri" pitchFamily="34" charset="0"/>
                <a:ea typeface="Calibri" pitchFamily="34" charset="-122"/>
                <a:cs typeface="Calibri" pitchFamily="34" charset="-120"/>
              </a:rPr>
              <a:t>6.3.1</a:t>
            </a:r>
            <a:endParaRPr lang="en-US" sz="1100" dirty="0"/>
          </a:p>
        </p:txBody>
      </p:sp>
      <p:sp>
        <p:nvSpPr>
          <p:cNvPr id="9" name="Text 6"/>
          <p:cNvSpPr/>
          <p:nvPr/>
        </p:nvSpPr>
        <p:spPr>
          <a:xfrm>
            <a:off x="777240" y="1993392"/>
            <a:ext cx="4846320" cy="301752"/>
          </a:xfrm>
          <a:prstGeom prst="rect">
            <a:avLst/>
          </a:prstGeom>
          <a:noFill/>
          <a:ln/>
        </p:spPr>
        <p:txBody>
          <a:bodyPr wrap="square" lIns="0" tIns="0" rIns="0" bIns="0" rtlCol="0" anchor="ctr"/>
          <a:lstStyle/>
          <a:p>
            <a:pPr indent="0" marL="0">
              <a:buNone/>
            </a:pPr>
            <a:r>
              <a:rPr lang="en-US" sz="1900" b="1" dirty="0">
                <a:solidFill>
                  <a:srgbClr val="22303A"/>
                </a:solidFill>
                <a:latin typeface="Calibri" pitchFamily="34" charset="0"/>
                <a:ea typeface="Calibri" pitchFamily="34" charset="-122"/>
                <a:cs typeface="Calibri" pitchFamily="34" charset="-120"/>
              </a:rPr>
              <a:t>Which variable next?</a:t>
            </a:r>
            <a:endParaRPr lang="en-US" sz="1900" dirty="0"/>
          </a:p>
        </p:txBody>
      </p:sp>
      <p:sp>
        <p:nvSpPr>
          <p:cNvPr id="10" name="Text 7"/>
          <p:cNvSpPr/>
          <p:nvPr/>
        </p:nvSpPr>
        <p:spPr>
          <a:xfrm>
            <a:off x="777240" y="2487168"/>
            <a:ext cx="4892040" cy="731520"/>
          </a:xfrm>
          <a:prstGeom prst="rect">
            <a:avLst/>
          </a:prstGeom>
          <a:noFill/>
          <a:ln/>
        </p:spPr>
        <p:txBody>
          <a:bodyPr wrap="square" lIns="0" tIns="0" rIns="0" bIns="0" rtlCol="0" anchor="t"/>
          <a:lstStyle/>
          <a:p>
            <a:pPr indent="0" marL="0">
              <a:lnSpc>
                <a:spcPct val="112000"/>
              </a:lnSpc>
              <a:buNone/>
            </a:pPr>
            <a:r>
              <a:rPr lang="en-US" sz="1300" dirty="0">
                <a:solidFill>
                  <a:srgbClr val="6E7A83"/>
                </a:solidFill>
                <a:latin typeface="Calibri" pitchFamily="34" charset="0"/>
                <a:ea typeface="Calibri" pitchFamily="34" charset="-122"/>
                <a:cs typeface="Calibri" pitchFamily="34" charset="-120"/>
              </a:rPr>
              <a:t>SELECT-UNASSIGNED-VARIABLE, and in what order do we try its values?</a:t>
            </a:r>
            <a:endParaRPr lang="en-US" sz="1300" dirty="0"/>
          </a:p>
        </p:txBody>
      </p:sp>
      <p:sp>
        <p:nvSpPr>
          <p:cNvPr id="11" name="Shape 8"/>
          <p:cNvSpPr/>
          <p:nvPr/>
        </p:nvSpPr>
        <p:spPr>
          <a:xfrm>
            <a:off x="6217920" y="1463040"/>
            <a:ext cx="5440680" cy="1874520"/>
          </a:xfrm>
          <a:prstGeom prst="roundRect">
            <a:avLst>
              <a:gd name="adj" fmla="val 2927"/>
            </a:avLst>
          </a:prstGeom>
          <a:solidFill>
            <a:srgbClr val="F7EEEA"/>
          </a:solidFill>
          <a:ln w="9525">
            <a:solidFill>
              <a:srgbClr val="F7EEEA"/>
            </a:solidFill>
            <a:prstDash val="solid"/>
          </a:ln>
          <a:effectLst>
            <a:outerShdw sx="100000" sy="100000" kx="0" ky="0" algn="bl" rotWithShape="0" blurRad="101600" dist="19050" dir="5400000">
              <a:srgbClr val="9AA6AD">
                <a:alpha val="28000"/>
              </a:srgbClr>
            </a:outerShdw>
          </a:effectLst>
        </p:spPr>
      </p:sp>
      <p:sp>
        <p:nvSpPr>
          <p:cNvPr id="12" name="Text 9"/>
          <p:cNvSpPr/>
          <p:nvPr/>
        </p:nvSpPr>
        <p:spPr>
          <a:xfrm>
            <a:off x="6492240" y="1664208"/>
            <a:ext cx="1828800" cy="274320"/>
          </a:xfrm>
          <a:prstGeom prst="rect">
            <a:avLst/>
          </a:prstGeom>
          <a:noFill/>
          <a:ln/>
        </p:spPr>
        <p:txBody>
          <a:bodyPr wrap="square" lIns="0" tIns="0" rIns="0" bIns="0" rtlCol="0" anchor="ctr"/>
          <a:lstStyle/>
          <a:p>
            <a:pPr indent="0" marL="0">
              <a:buNone/>
            </a:pPr>
            <a:r>
              <a:rPr lang="en-US" sz="1100" b="1" spc="120" kern="0" dirty="0">
                <a:solidFill>
                  <a:srgbClr val="B85042"/>
                </a:solidFill>
                <a:latin typeface="Calibri" pitchFamily="34" charset="0"/>
                <a:ea typeface="Calibri" pitchFamily="34" charset="-122"/>
                <a:cs typeface="Calibri" pitchFamily="34" charset="-120"/>
              </a:rPr>
              <a:t>6.3.2</a:t>
            </a:r>
            <a:endParaRPr lang="en-US" sz="1100" dirty="0"/>
          </a:p>
        </p:txBody>
      </p:sp>
      <p:sp>
        <p:nvSpPr>
          <p:cNvPr id="13" name="Text 10"/>
          <p:cNvSpPr/>
          <p:nvPr/>
        </p:nvSpPr>
        <p:spPr>
          <a:xfrm>
            <a:off x="6492240" y="1993392"/>
            <a:ext cx="4846320" cy="301752"/>
          </a:xfrm>
          <a:prstGeom prst="rect">
            <a:avLst/>
          </a:prstGeom>
          <a:noFill/>
          <a:ln/>
        </p:spPr>
        <p:txBody>
          <a:bodyPr wrap="square" lIns="0" tIns="0" rIns="0" bIns="0" rtlCol="0" anchor="ctr"/>
          <a:lstStyle/>
          <a:p>
            <a:pPr indent="0" marL="0">
              <a:buNone/>
            </a:pPr>
            <a:r>
              <a:rPr lang="en-US" sz="1900" b="1" dirty="0">
                <a:solidFill>
                  <a:srgbClr val="22303A"/>
                </a:solidFill>
                <a:latin typeface="Calibri" pitchFamily="34" charset="0"/>
                <a:ea typeface="Calibri" pitchFamily="34" charset="-122"/>
                <a:cs typeface="Calibri" pitchFamily="34" charset="-120"/>
              </a:rPr>
              <a:t>What do we infer?</a:t>
            </a:r>
            <a:endParaRPr lang="en-US" sz="1900" dirty="0"/>
          </a:p>
        </p:txBody>
      </p:sp>
      <p:sp>
        <p:nvSpPr>
          <p:cNvPr id="14" name="Text 11"/>
          <p:cNvSpPr/>
          <p:nvPr/>
        </p:nvSpPr>
        <p:spPr>
          <a:xfrm>
            <a:off x="6492240" y="2487168"/>
            <a:ext cx="4892040" cy="731520"/>
          </a:xfrm>
          <a:prstGeom prst="rect">
            <a:avLst/>
          </a:prstGeom>
          <a:noFill/>
          <a:ln/>
        </p:spPr>
        <p:txBody>
          <a:bodyPr wrap="square" lIns="0" tIns="0" rIns="0" bIns="0" rtlCol="0" anchor="t"/>
          <a:lstStyle/>
          <a:p>
            <a:pPr indent="0" marL="0">
              <a:lnSpc>
                <a:spcPct val="112000"/>
              </a:lnSpc>
              <a:buNone/>
            </a:pPr>
            <a:r>
              <a:rPr lang="en-US" sz="1300" dirty="0">
                <a:solidFill>
                  <a:srgbClr val="6E7A83"/>
                </a:solidFill>
                <a:latin typeface="Calibri" pitchFamily="34" charset="0"/>
                <a:ea typeface="Calibri" pitchFamily="34" charset="-122"/>
                <a:cs typeface="Calibri" pitchFamily="34" charset="-120"/>
              </a:rPr>
              <a:t>What inference runs at each step - INFERENCE in the skeleton?</a:t>
            </a:r>
            <a:endParaRPr lang="en-US" sz="1300" dirty="0"/>
          </a:p>
        </p:txBody>
      </p:sp>
      <p:sp>
        <p:nvSpPr>
          <p:cNvPr id="15" name="Shape 12"/>
          <p:cNvSpPr/>
          <p:nvPr/>
        </p:nvSpPr>
        <p:spPr>
          <a:xfrm>
            <a:off x="502920" y="3611880"/>
            <a:ext cx="5440680" cy="1874520"/>
          </a:xfrm>
          <a:prstGeom prst="roundRect">
            <a:avLst>
              <a:gd name="adj" fmla="val 2927"/>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16" name="Text 13"/>
          <p:cNvSpPr/>
          <p:nvPr/>
        </p:nvSpPr>
        <p:spPr>
          <a:xfrm>
            <a:off x="777240" y="3813048"/>
            <a:ext cx="1828800" cy="274320"/>
          </a:xfrm>
          <a:prstGeom prst="rect">
            <a:avLst/>
          </a:prstGeom>
          <a:noFill/>
          <a:ln/>
        </p:spPr>
        <p:txBody>
          <a:bodyPr wrap="square" lIns="0" tIns="0" rIns="0" bIns="0" rtlCol="0" anchor="ctr"/>
          <a:lstStyle/>
          <a:p>
            <a:pPr indent="0" marL="0">
              <a:buNone/>
            </a:pPr>
            <a:r>
              <a:rPr lang="en-US" sz="1100" b="1" spc="120" kern="0" dirty="0">
                <a:solidFill>
                  <a:srgbClr val="6E8B5A"/>
                </a:solidFill>
                <a:latin typeface="Calibri" pitchFamily="34" charset="0"/>
                <a:ea typeface="Calibri" pitchFamily="34" charset="-122"/>
                <a:cs typeface="Calibri" pitchFamily="34" charset="-120"/>
              </a:rPr>
              <a:t>6.3.3</a:t>
            </a:r>
            <a:endParaRPr lang="en-US" sz="1100" dirty="0"/>
          </a:p>
        </p:txBody>
      </p:sp>
      <p:sp>
        <p:nvSpPr>
          <p:cNvPr id="17" name="Text 14"/>
          <p:cNvSpPr/>
          <p:nvPr/>
        </p:nvSpPr>
        <p:spPr>
          <a:xfrm>
            <a:off x="777240" y="4142232"/>
            <a:ext cx="4846320" cy="301752"/>
          </a:xfrm>
          <a:prstGeom prst="rect">
            <a:avLst/>
          </a:prstGeom>
          <a:noFill/>
          <a:ln/>
        </p:spPr>
        <p:txBody>
          <a:bodyPr wrap="square" lIns="0" tIns="0" rIns="0" bIns="0" rtlCol="0" anchor="ctr"/>
          <a:lstStyle/>
          <a:p>
            <a:pPr indent="0" marL="0">
              <a:buNone/>
            </a:pPr>
            <a:r>
              <a:rPr lang="en-US" sz="1900" b="1" dirty="0">
                <a:solidFill>
                  <a:srgbClr val="22303A"/>
                </a:solidFill>
                <a:latin typeface="Calibri" pitchFamily="34" charset="0"/>
                <a:ea typeface="Calibri" pitchFamily="34" charset="-122"/>
                <a:cs typeface="Calibri" pitchFamily="34" charset="-120"/>
              </a:rPr>
              <a:t>How far do we back up?</a:t>
            </a:r>
            <a:endParaRPr lang="en-US" sz="1900" dirty="0"/>
          </a:p>
        </p:txBody>
      </p:sp>
      <p:sp>
        <p:nvSpPr>
          <p:cNvPr id="18" name="Text 15"/>
          <p:cNvSpPr/>
          <p:nvPr/>
        </p:nvSpPr>
        <p:spPr>
          <a:xfrm>
            <a:off x="777240" y="4636008"/>
            <a:ext cx="4892040" cy="731520"/>
          </a:xfrm>
          <a:prstGeom prst="rect">
            <a:avLst/>
          </a:prstGeom>
          <a:noFill/>
          <a:ln/>
        </p:spPr>
        <p:txBody>
          <a:bodyPr wrap="square" lIns="0" tIns="0" rIns="0" bIns="0" rtlCol="0" anchor="t"/>
          <a:lstStyle/>
          <a:p>
            <a:pPr indent="0" marL="0">
              <a:lnSpc>
                <a:spcPct val="112000"/>
              </a:lnSpc>
              <a:buNone/>
            </a:pPr>
            <a:r>
              <a:rPr lang="en-US" sz="1300" dirty="0">
                <a:solidFill>
                  <a:srgbClr val="6E7A83"/>
                </a:solidFill>
                <a:latin typeface="Calibri" pitchFamily="34" charset="0"/>
                <a:ea typeface="Calibri" pitchFamily="34" charset="-122"/>
                <a:cs typeface="Calibri" pitchFamily="34" charset="-120"/>
              </a:rPr>
              <a:t>Can we backtrack more than one step when a branch fails?</a:t>
            </a:r>
            <a:endParaRPr lang="en-US" sz="1300" dirty="0"/>
          </a:p>
        </p:txBody>
      </p:sp>
      <p:sp>
        <p:nvSpPr>
          <p:cNvPr id="19" name="Shape 16"/>
          <p:cNvSpPr/>
          <p:nvPr/>
        </p:nvSpPr>
        <p:spPr>
          <a:xfrm>
            <a:off x="6217920" y="3611880"/>
            <a:ext cx="5440680" cy="1874520"/>
          </a:xfrm>
          <a:prstGeom prst="roundRect">
            <a:avLst>
              <a:gd name="adj" fmla="val 2927"/>
            </a:avLst>
          </a:prstGeom>
          <a:solidFill>
            <a:srgbClr val="F7EEEA"/>
          </a:solidFill>
          <a:ln w="9525">
            <a:solidFill>
              <a:srgbClr val="F7EEEA"/>
            </a:solidFill>
            <a:prstDash val="solid"/>
          </a:ln>
          <a:effectLst>
            <a:outerShdw sx="100000" sy="100000" kx="0" ky="0" algn="bl" rotWithShape="0" blurRad="101600" dist="19050" dir="5400000">
              <a:srgbClr val="9AA6AD">
                <a:alpha val="28000"/>
              </a:srgbClr>
            </a:outerShdw>
          </a:effectLst>
        </p:spPr>
      </p:sp>
      <p:sp>
        <p:nvSpPr>
          <p:cNvPr id="20" name="Text 17"/>
          <p:cNvSpPr/>
          <p:nvPr/>
        </p:nvSpPr>
        <p:spPr>
          <a:xfrm>
            <a:off x="6492240" y="3813048"/>
            <a:ext cx="1828800" cy="274320"/>
          </a:xfrm>
          <a:prstGeom prst="rect">
            <a:avLst/>
          </a:prstGeom>
          <a:noFill/>
          <a:ln/>
        </p:spPr>
        <p:txBody>
          <a:bodyPr wrap="square" lIns="0" tIns="0" rIns="0" bIns="0" rtlCol="0" anchor="ctr"/>
          <a:lstStyle/>
          <a:p>
            <a:pPr indent="0" marL="0">
              <a:buNone/>
            </a:pPr>
            <a:r>
              <a:rPr lang="en-US" sz="1100" b="1" spc="120" kern="0" dirty="0">
                <a:solidFill>
                  <a:srgbClr val="C8922F"/>
                </a:solidFill>
                <a:latin typeface="Calibri" pitchFamily="34" charset="0"/>
                <a:ea typeface="Calibri" pitchFamily="34" charset="-122"/>
                <a:cs typeface="Calibri" pitchFamily="34" charset="-120"/>
              </a:rPr>
              <a:t>6.3.4</a:t>
            </a:r>
            <a:endParaRPr lang="en-US" sz="1100" dirty="0"/>
          </a:p>
        </p:txBody>
      </p:sp>
      <p:sp>
        <p:nvSpPr>
          <p:cNvPr id="21" name="Text 18"/>
          <p:cNvSpPr/>
          <p:nvPr/>
        </p:nvSpPr>
        <p:spPr>
          <a:xfrm>
            <a:off x="6492240" y="4142232"/>
            <a:ext cx="4846320" cy="301752"/>
          </a:xfrm>
          <a:prstGeom prst="rect">
            <a:avLst/>
          </a:prstGeom>
          <a:noFill/>
          <a:ln/>
        </p:spPr>
        <p:txBody>
          <a:bodyPr wrap="square" lIns="0" tIns="0" rIns="0" bIns="0" rtlCol="0" anchor="ctr"/>
          <a:lstStyle/>
          <a:p>
            <a:pPr indent="0" marL="0">
              <a:buNone/>
            </a:pPr>
            <a:r>
              <a:rPr lang="en-US" sz="1900" b="1" dirty="0">
                <a:solidFill>
                  <a:srgbClr val="22303A"/>
                </a:solidFill>
                <a:latin typeface="Calibri" pitchFamily="34" charset="0"/>
                <a:ea typeface="Calibri" pitchFamily="34" charset="-122"/>
                <a:cs typeface="Calibri" pitchFamily="34" charset="-120"/>
              </a:rPr>
              <a:t>What do we remember?</a:t>
            </a:r>
            <a:endParaRPr lang="en-US" sz="1900" dirty="0"/>
          </a:p>
        </p:txBody>
      </p:sp>
      <p:sp>
        <p:nvSpPr>
          <p:cNvPr id="22" name="Text 19"/>
          <p:cNvSpPr/>
          <p:nvPr/>
        </p:nvSpPr>
        <p:spPr>
          <a:xfrm>
            <a:off x="6492240" y="4636008"/>
            <a:ext cx="4892040" cy="731520"/>
          </a:xfrm>
          <a:prstGeom prst="rect">
            <a:avLst/>
          </a:prstGeom>
          <a:noFill/>
          <a:ln/>
        </p:spPr>
        <p:txBody>
          <a:bodyPr wrap="square" lIns="0" tIns="0" rIns="0" bIns="0" rtlCol="0" anchor="t"/>
          <a:lstStyle/>
          <a:p>
            <a:pPr indent="0" marL="0">
              <a:lnSpc>
                <a:spcPct val="112000"/>
              </a:lnSpc>
              <a:buNone/>
            </a:pPr>
            <a:r>
              <a:rPr lang="en-US" sz="1300" dirty="0">
                <a:solidFill>
                  <a:srgbClr val="6E7A83"/>
                </a:solidFill>
                <a:latin typeface="Calibri" pitchFamily="34" charset="0"/>
                <a:ea typeface="Calibri" pitchFamily="34" charset="-122"/>
                <a:cs typeface="Calibri" pitchFamily="34" charset="-120"/>
              </a:rPr>
              <a:t>Can we save and reuse partial results so we do not repeat the same failure?</a:t>
            </a:r>
            <a:endParaRPr lang="en-US" sz="1300" dirty="0"/>
          </a:p>
        </p:txBody>
      </p:sp>
      <p:sp>
        <p:nvSpPr>
          <p:cNvPr id="23" name="Text 20"/>
          <p:cNvSpPr/>
          <p:nvPr/>
        </p:nvSpPr>
        <p:spPr>
          <a:xfrm>
            <a:off x="502920" y="5897880"/>
            <a:ext cx="11155680" cy="365760"/>
          </a:xfrm>
          <a:prstGeom prst="rect">
            <a:avLst/>
          </a:prstGeom>
          <a:noFill/>
          <a:ln/>
        </p:spPr>
        <p:txBody>
          <a:bodyPr wrap="square" lIns="0" tIns="0" rIns="0" bIns="0" rtlCol="0" anchor="t"/>
          <a:lstStyle/>
          <a:p>
            <a:pPr indent="0" marL="0">
              <a:lnSpc>
                <a:spcPct val="112000"/>
              </a:lnSpc>
              <a:buNone/>
            </a:pPr>
            <a:r>
              <a:rPr lang="en-US" sz="1250" i="1" dirty="0">
                <a:solidFill>
                  <a:srgbClr val="B85042"/>
                </a:solidFill>
                <a:latin typeface="Calibri" pitchFamily="34" charset="0"/>
                <a:ea typeface="Calibri" pitchFamily="34" charset="-122"/>
                <a:cs typeface="Calibri" pitchFamily="34" charset="-120"/>
              </a:rPr>
              <a:t>The answers are domain-independent: they exploit the structure of the CSP representation itself, not knowledge of the particular puzzle.</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6.3.1 - VARIABLE ORDERING</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MRV: choose the variable with the fewest legal values</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27</a:t>
            </a:r>
            <a:endParaRPr lang="en-US" sz="900" dirty="0"/>
          </a:p>
        </p:txBody>
      </p:sp>
      <p:sp>
        <p:nvSpPr>
          <p:cNvPr id="7" name="Text 4"/>
          <p:cNvSpPr/>
          <p:nvPr/>
        </p:nvSpPr>
        <p:spPr>
          <a:xfrm>
            <a:off x="502920" y="1371600"/>
            <a:ext cx="6400800" cy="210312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Also called the most constrained variable, or fail-first heuristic</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After WA = red and NT = green, SA has only one possible value left - assigning it is forced, so do it now rather than branching elsewhere</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If some variable has no legal values at all, MRV selects it and failure is detected immediately</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Typically a factor of 3 to 3,000 faster than static or random ordering, depending on the problem</a:t>
            </a:r>
            <a:endParaRPr lang="en-US" sz="1400" dirty="0"/>
          </a:p>
        </p:txBody>
      </p:sp>
      <p:sp>
        <p:nvSpPr>
          <p:cNvPr id="8" name="Shape 5"/>
          <p:cNvSpPr/>
          <p:nvPr/>
        </p:nvSpPr>
        <p:spPr>
          <a:xfrm flipV="1">
            <a:off x="8037576" y="2036369"/>
            <a:ext cx="927202" cy="609905"/>
          </a:xfrm>
          <a:prstGeom prst="line">
            <a:avLst/>
          </a:prstGeom>
          <a:noFill/>
          <a:ln w="17780">
            <a:solidFill>
              <a:srgbClr val="AEB9BF"/>
            </a:solidFill>
            <a:prstDash val="solid"/>
          </a:ln>
        </p:spPr>
      </p:sp>
      <p:sp>
        <p:nvSpPr>
          <p:cNvPr id="9" name="Shape 6"/>
          <p:cNvSpPr/>
          <p:nvPr/>
        </p:nvSpPr>
        <p:spPr>
          <a:xfrm>
            <a:off x="8037576" y="2646274"/>
            <a:ext cx="1069848" cy="503834"/>
          </a:xfrm>
          <a:prstGeom prst="line">
            <a:avLst/>
          </a:prstGeom>
          <a:noFill/>
          <a:ln w="34925">
            <a:solidFill>
              <a:srgbClr val="B85042"/>
            </a:solidFill>
            <a:prstDash val="solid"/>
          </a:ln>
        </p:spPr>
      </p:sp>
      <p:sp>
        <p:nvSpPr>
          <p:cNvPr id="10" name="Shape 7"/>
          <p:cNvSpPr/>
          <p:nvPr/>
        </p:nvSpPr>
        <p:spPr>
          <a:xfrm>
            <a:off x="8964778" y="2036369"/>
            <a:ext cx="142646" cy="1113739"/>
          </a:xfrm>
          <a:prstGeom prst="line">
            <a:avLst/>
          </a:prstGeom>
          <a:noFill/>
          <a:ln w="34925">
            <a:solidFill>
              <a:srgbClr val="B85042"/>
            </a:solidFill>
            <a:prstDash val="solid"/>
          </a:ln>
        </p:spPr>
      </p:sp>
      <p:sp>
        <p:nvSpPr>
          <p:cNvPr id="11" name="Shape 8"/>
          <p:cNvSpPr/>
          <p:nvPr/>
        </p:nvSpPr>
        <p:spPr>
          <a:xfrm>
            <a:off x="8964778" y="2036369"/>
            <a:ext cx="1212494" cy="106070"/>
          </a:xfrm>
          <a:prstGeom prst="line">
            <a:avLst/>
          </a:prstGeom>
          <a:noFill/>
          <a:ln w="17780">
            <a:solidFill>
              <a:srgbClr val="AEB9BF"/>
            </a:solidFill>
            <a:prstDash val="solid"/>
          </a:ln>
        </p:spPr>
      </p:sp>
      <p:sp>
        <p:nvSpPr>
          <p:cNvPr id="12" name="Shape 9"/>
          <p:cNvSpPr/>
          <p:nvPr/>
        </p:nvSpPr>
        <p:spPr>
          <a:xfrm flipV="1">
            <a:off x="9107424" y="2142439"/>
            <a:ext cx="1069848" cy="1007669"/>
          </a:xfrm>
          <a:prstGeom prst="line">
            <a:avLst/>
          </a:prstGeom>
          <a:noFill/>
          <a:ln w="17780">
            <a:solidFill>
              <a:srgbClr val="AEB9BF"/>
            </a:solidFill>
            <a:prstDash val="solid"/>
          </a:ln>
        </p:spPr>
      </p:sp>
      <p:sp>
        <p:nvSpPr>
          <p:cNvPr id="13" name="Shape 10"/>
          <p:cNvSpPr/>
          <p:nvPr/>
        </p:nvSpPr>
        <p:spPr>
          <a:xfrm>
            <a:off x="9107424" y="3150108"/>
            <a:ext cx="1212494" cy="0"/>
          </a:xfrm>
          <a:prstGeom prst="line">
            <a:avLst/>
          </a:prstGeom>
          <a:noFill/>
          <a:ln w="17780">
            <a:solidFill>
              <a:srgbClr val="AEB9BF"/>
            </a:solidFill>
            <a:prstDash val="solid"/>
          </a:ln>
        </p:spPr>
      </p:sp>
      <p:sp>
        <p:nvSpPr>
          <p:cNvPr id="14" name="Shape 11"/>
          <p:cNvSpPr/>
          <p:nvPr/>
        </p:nvSpPr>
        <p:spPr>
          <a:xfrm>
            <a:off x="9107424" y="3150108"/>
            <a:ext cx="713232" cy="742493"/>
          </a:xfrm>
          <a:prstGeom prst="line">
            <a:avLst/>
          </a:prstGeom>
          <a:noFill/>
          <a:ln w="17780">
            <a:solidFill>
              <a:srgbClr val="AEB9BF"/>
            </a:solidFill>
            <a:prstDash val="solid"/>
          </a:ln>
        </p:spPr>
      </p:sp>
      <p:sp>
        <p:nvSpPr>
          <p:cNvPr id="15" name="Shape 12"/>
          <p:cNvSpPr/>
          <p:nvPr/>
        </p:nvSpPr>
        <p:spPr>
          <a:xfrm>
            <a:off x="10177272" y="2142439"/>
            <a:ext cx="142646" cy="1007669"/>
          </a:xfrm>
          <a:prstGeom prst="line">
            <a:avLst/>
          </a:prstGeom>
          <a:noFill/>
          <a:ln w="17780">
            <a:solidFill>
              <a:srgbClr val="AEB9BF"/>
            </a:solidFill>
            <a:prstDash val="solid"/>
          </a:ln>
        </p:spPr>
      </p:sp>
      <p:sp>
        <p:nvSpPr>
          <p:cNvPr id="16" name="Shape 13"/>
          <p:cNvSpPr/>
          <p:nvPr/>
        </p:nvSpPr>
        <p:spPr>
          <a:xfrm flipH="1">
            <a:off x="9820656" y="3150108"/>
            <a:ext cx="499262" cy="742493"/>
          </a:xfrm>
          <a:prstGeom prst="line">
            <a:avLst/>
          </a:prstGeom>
          <a:noFill/>
          <a:ln w="17780">
            <a:solidFill>
              <a:srgbClr val="AEB9BF"/>
            </a:solidFill>
            <a:prstDash val="solid"/>
          </a:ln>
        </p:spPr>
      </p:sp>
      <p:sp>
        <p:nvSpPr>
          <p:cNvPr id="17" name="Shape 14"/>
          <p:cNvSpPr/>
          <p:nvPr/>
        </p:nvSpPr>
        <p:spPr>
          <a:xfrm>
            <a:off x="7886700" y="2495398"/>
            <a:ext cx="301752" cy="301752"/>
          </a:xfrm>
          <a:prstGeom prst="ellipse">
            <a:avLst/>
          </a:prstGeom>
          <a:solidFill>
            <a:srgbClr val="B85042"/>
          </a:solidFill>
          <a:ln w="12700">
            <a:solidFill>
              <a:srgbClr val="B85042"/>
            </a:solidFill>
            <a:prstDash val="solid"/>
          </a:ln>
        </p:spPr>
      </p:sp>
      <p:sp>
        <p:nvSpPr>
          <p:cNvPr id="18" name="Text 15"/>
          <p:cNvSpPr/>
          <p:nvPr/>
        </p:nvSpPr>
        <p:spPr>
          <a:xfrm>
            <a:off x="7653528" y="2499970"/>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WA</a:t>
            </a:r>
            <a:endParaRPr lang="en-US" sz="1050" dirty="0"/>
          </a:p>
        </p:txBody>
      </p:sp>
      <p:sp>
        <p:nvSpPr>
          <p:cNvPr id="19" name="Shape 16"/>
          <p:cNvSpPr/>
          <p:nvPr/>
        </p:nvSpPr>
        <p:spPr>
          <a:xfrm>
            <a:off x="8813902" y="1885493"/>
            <a:ext cx="301752" cy="301752"/>
          </a:xfrm>
          <a:prstGeom prst="ellipse">
            <a:avLst/>
          </a:prstGeom>
          <a:solidFill>
            <a:srgbClr val="6E8B5A"/>
          </a:solidFill>
          <a:ln w="12700">
            <a:solidFill>
              <a:srgbClr val="6E8B5A"/>
            </a:solidFill>
            <a:prstDash val="solid"/>
          </a:ln>
        </p:spPr>
      </p:sp>
      <p:sp>
        <p:nvSpPr>
          <p:cNvPr id="20" name="Text 17"/>
          <p:cNvSpPr/>
          <p:nvPr/>
        </p:nvSpPr>
        <p:spPr>
          <a:xfrm>
            <a:off x="8580730" y="1890065"/>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NT</a:t>
            </a:r>
            <a:endParaRPr lang="en-US" sz="1050" dirty="0"/>
          </a:p>
        </p:txBody>
      </p:sp>
      <p:sp>
        <p:nvSpPr>
          <p:cNvPr id="21" name="Shape 18"/>
          <p:cNvSpPr/>
          <p:nvPr/>
        </p:nvSpPr>
        <p:spPr>
          <a:xfrm>
            <a:off x="10026396" y="1991563"/>
            <a:ext cx="301752" cy="301752"/>
          </a:xfrm>
          <a:prstGeom prst="ellipse">
            <a:avLst/>
          </a:prstGeom>
          <a:solidFill>
            <a:srgbClr val="E4E9EB"/>
          </a:solidFill>
          <a:ln w="12700">
            <a:solidFill>
              <a:srgbClr val="9FAAB1"/>
            </a:solidFill>
            <a:prstDash val="solid"/>
          </a:ln>
        </p:spPr>
      </p:sp>
      <p:sp>
        <p:nvSpPr>
          <p:cNvPr id="22" name="Text 19"/>
          <p:cNvSpPr/>
          <p:nvPr/>
        </p:nvSpPr>
        <p:spPr>
          <a:xfrm>
            <a:off x="9793224" y="1996135"/>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Q</a:t>
            </a:r>
            <a:endParaRPr lang="en-US" sz="1050" dirty="0"/>
          </a:p>
        </p:txBody>
      </p:sp>
      <p:sp>
        <p:nvSpPr>
          <p:cNvPr id="23" name="Shape 20"/>
          <p:cNvSpPr/>
          <p:nvPr/>
        </p:nvSpPr>
        <p:spPr>
          <a:xfrm>
            <a:off x="8956548" y="2999232"/>
            <a:ext cx="301752" cy="301752"/>
          </a:xfrm>
          <a:prstGeom prst="ellipse">
            <a:avLst/>
          </a:prstGeom>
          <a:solidFill>
            <a:srgbClr val="50808E"/>
          </a:solidFill>
          <a:ln w="12700">
            <a:solidFill>
              <a:srgbClr val="50808E"/>
            </a:solidFill>
            <a:prstDash val="solid"/>
          </a:ln>
        </p:spPr>
      </p:sp>
      <p:sp>
        <p:nvSpPr>
          <p:cNvPr id="24" name="Text 21"/>
          <p:cNvSpPr/>
          <p:nvPr/>
        </p:nvSpPr>
        <p:spPr>
          <a:xfrm>
            <a:off x="8723376" y="3003804"/>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a:t>
            </a:r>
            <a:endParaRPr lang="en-US" sz="1050" dirty="0"/>
          </a:p>
        </p:txBody>
      </p:sp>
      <p:sp>
        <p:nvSpPr>
          <p:cNvPr id="25" name="Shape 22"/>
          <p:cNvSpPr/>
          <p:nvPr/>
        </p:nvSpPr>
        <p:spPr>
          <a:xfrm>
            <a:off x="10169042" y="2999232"/>
            <a:ext cx="301752" cy="301752"/>
          </a:xfrm>
          <a:prstGeom prst="ellipse">
            <a:avLst/>
          </a:prstGeom>
          <a:solidFill>
            <a:srgbClr val="E4E9EB"/>
          </a:solidFill>
          <a:ln w="12700">
            <a:solidFill>
              <a:srgbClr val="9FAAB1"/>
            </a:solidFill>
            <a:prstDash val="solid"/>
          </a:ln>
        </p:spPr>
      </p:sp>
      <p:sp>
        <p:nvSpPr>
          <p:cNvPr id="26" name="Text 23"/>
          <p:cNvSpPr/>
          <p:nvPr/>
        </p:nvSpPr>
        <p:spPr>
          <a:xfrm>
            <a:off x="9935870" y="3003804"/>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NSW</a:t>
            </a:r>
            <a:endParaRPr lang="en-US" sz="1050" dirty="0"/>
          </a:p>
        </p:txBody>
      </p:sp>
      <p:sp>
        <p:nvSpPr>
          <p:cNvPr id="27" name="Shape 24"/>
          <p:cNvSpPr/>
          <p:nvPr/>
        </p:nvSpPr>
        <p:spPr>
          <a:xfrm>
            <a:off x="9669780" y="3741725"/>
            <a:ext cx="301752" cy="301752"/>
          </a:xfrm>
          <a:prstGeom prst="ellipse">
            <a:avLst/>
          </a:prstGeom>
          <a:solidFill>
            <a:srgbClr val="E4E9EB"/>
          </a:solidFill>
          <a:ln w="12700">
            <a:solidFill>
              <a:srgbClr val="9FAAB1"/>
            </a:solidFill>
            <a:prstDash val="solid"/>
          </a:ln>
        </p:spPr>
      </p:sp>
      <p:sp>
        <p:nvSpPr>
          <p:cNvPr id="28" name="Text 25"/>
          <p:cNvSpPr/>
          <p:nvPr/>
        </p:nvSpPr>
        <p:spPr>
          <a:xfrm>
            <a:off x="9436608" y="3746297"/>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V</a:t>
            </a:r>
            <a:endParaRPr lang="en-US" sz="1050" dirty="0"/>
          </a:p>
        </p:txBody>
      </p:sp>
      <p:sp>
        <p:nvSpPr>
          <p:cNvPr id="29" name="Shape 26"/>
          <p:cNvSpPr/>
          <p:nvPr/>
        </p:nvSpPr>
        <p:spPr>
          <a:xfrm>
            <a:off x="10596982" y="4059936"/>
            <a:ext cx="301752" cy="301752"/>
          </a:xfrm>
          <a:prstGeom prst="ellipse">
            <a:avLst/>
          </a:prstGeom>
          <a:solidFill>
            <a:srgbClr val="E4E9EB"/>
          </a:solidFill>
          <a:ln w="12700">
            <a:solidFill>
              <a:srgbClr val="9FAAB1"/>
            </a:solidFill>
            <a:prstDash val="solid"/>
          </a:ln>
        </p:spPr>
      </p:sp>
      <p:sp>
        <p:nvSpPr>
          <p:cNvPr id="30" name="Text 27"/>
          <p:cNvSpPr/>
          <p:nvPr/>
        </p:nvSpPr>
        <p:spPr>
          <a:xfrm>
            <a:off x="10363810" y="4064508"/>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T</a:t>
            </a:r>
            <a:endParaRPr lang="en-US" sz="1050" dirty="0"/>
          </a:p>
        </p:txBody>
      </p:sp>
      <p:sp>
        <p:nvSpPr>
          <p:cNvPr id="31" name="Text 28"/>
          <p:cNvSpPr/>
          <p:nvPr/>
        </p:nvSpPr>
        <p:spPr>
          <a:xfrm>
            <a:off x="7498080" y="4526280"/>
            <a:ext cx="3931920" cy="320040"/>
          </a:xfrm>
          <a:prstGeom prst="rect">
            <a:avLst/>
          </a:prstGeom>
          <a:noFill/>
          <a:ln/>
        </p:spPr>
        <p:txBody>
          <a:bodyPr wrap="square" lIns="0" tIns="0" rIns="0" bIns="0" rtlCol="0" anchor="ctr"/>
          <a:lstStyle/>
          <a:p>
            <a:pPr algn="ctr" indent="0" marL="0">
              <a:buNone/>
            </a:pPr>
            <a:r>
              <a:rPr lang="en-US" sz="1200" b="1" dirty="0">
                <a:solidFill>
                  <a:srgbClr val="50808E"/>
                </a:solidFill>
                <a:latin typeface="Calibri" pitchFamily="34" charset="0"/>
                <a:ea typeface="Calibri" pitchFamily="34" charset="-122"/>
                <a:cs typeface="Calibri" pitchFamily="34" charset="-120"/>
              </a:rPr>
              <a:t>SA: one value left</a:t>
            </a:r>
            <a:endParaRPr lang="en-US" sz="1200" dirty="0"/>
          </a:p>
        </p:txBody>
      </p:sp>
      <p:sp>
        <p:nvSpPr>
          <p:cNvPr id="32" name="Shape 29"/>
          <p:cNvSpPr/>
          <p:nvPr/>
        </p:nvSpPr>
        <p:spPr>
          <a:xfrm>
            <a:off x="502920" y="3794760"/>
            <a:ext cx="6400800" cy="2057400"/>
          </a:xfrm>
          <a:prstGeom prst="roundRect">
            <a:avLst>
              <a:gd name="adj" fmla="val 2667"/>
            </a:avLst>
          </a:prstGeom>
          <a:solidFill>
            <a:srgbClr val="F7EEEA"/>
          </a:solidFill>
          <a:ln w="9525">
            <a:solidFill>
              <a:srgbClr val="F7EEEA"/>
            </a:solidFill>
            <a:prstDash val="solid"/>
          </a:ln>
        </p:spPr>
      </p:sp>
      <p:sp>
        <p:nvSpPr>
          <p:cNvPr id="33" name="Text 30"/>
          <p:cNvSpPr/>
          <p:nvPr/>
        </p:nvSpPr>
        <p:spPr>
          <a:xfrm>
            <a:off x="777240" y="3977640"/>
            <a:ext cx="5852160" cy="301752"/>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Where MRV is useless: the degree heuristic</a:t>
            </a:r>
            <a:endParaRPr lang="en-US" sz="1500" dirty="0"/>
          </a:p>
        </p:txBody>
      </p:sp>
      <p:sp>
        <p:nvSpPr>
          <p:cNvPr id="34" name="Text 31"/>
          <p:cNvSpPr/>
          <p:nvPr/>
        </p:nvSpPr>
        <p:spPr>
          <a:xfrm>
            <a:off x="777240" y="4370832"/>
            <a:ext cx="5852160" cy="128016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At the very start of Australia, every region has three legal colours, so MRV cannot break the tie. The degree heuristic does: pick the variable involved in the most constraints on other unassigned variables. SA has degree 5; everything else has 2 or 3, except Tasmania at 0. Choose SA first and the rest of the map colours with no false steps at all.</a:t>
            </a:r>
            <a:endParaRPr lang="en-US" sz="1250" dirty="0"/>
          </a:p>
        </p:txBody>
      </p:sp>
      <p:sp>
        <p:nvSpPr>
          <p:cNvPr id="35" name="Shape 32"/>
          <p:cNvSpPr/>
          <p:nvPr/>
        </p:nvSpPr>
        <p:spPr>
          <a:xfrm>
            <a:off x="7498080" y="5074920"/>
            <a:ext cx="4160520" cy="777240"/>
          </a:xfrm>
          <a:prstGeom prst="roundRect">
            <a:avLst>
              <a:gd name="adj" fmla="val 7059"/>
            </a:avLst>
          </a:prstGeom>
          <a:solidFill>
            <a:srgbClr val="F1F3F4"/>
          </a:solidFill>
          <a:ln w="9525">
            <a:solidFill>
              <a:srgbClr val="F1F3F4"/>
            </a:solidFill>
            <a:prstDash val="solid"/>
          </a:ln>
        </p:spPr>
      </p:sp>
      <p:sp>
        <p:nvSpPr>
          <p:cNvPr id="36" name="Text 33"/>
          <p:cNvSpPr/>
          <p:nvPr/>
        </p:nvSpPr>
        <p:spPr>
          <a:xfrm>
            <a:off x="7726680" y="5093208"/>
            <a:ext cx="3703320" cy="740664"/>
          </a:xfrm>
          <a:prstGeom prst="rect">
            <a:avLst/>
          </a:prstGeom>
          <a:noFill/>
          <a:ln/>
        </p:spPr>
        <p:txBody>
          <a:bodyPr wrap="square" lIns="0" tIns="0" rIns="0" bIns="0" rtlCol="0" anchor="ctr"/>
          <a:lstStyle/>
          <a:p>
            <a:pPr indent="0" marL="0">
              <a:buNone/>
            </a:pPr>
            <a:r>
              <a:rPr lang="en-US" sz="1400" b="1" dirty="0">
                <a:solidFill>
                  <a:srgbClr val="22303A"/>
                </a:solidFill>
                <a:latin typeface="Calibri" pitchFamily="34" charset="0"/>
                <a:ea typeface="Calibri" pitchFamily="34" charset="-122"/>
                <a:cs typeface="Calibri" pitchFamily="34" charset="-120"/>
              </a:rPr>
              <a:t>Use degree as a tie-breaker for MRV, not as a replacement.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6.3.1 - VALUE ORDERING</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Least-constraining-value: be optimistic about values</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28</a:t>
            </a:r>
            <a:endParaRPr lang="en-US" sz="900" dirty="0"/>
          </a:p>
        </p:txBody>
      </p:sp>
      <p:sp>
        <p:nvSpPr>
          <p:cNvPr id="7" name="Text 4"/>
          <p:cNvSpPr/>
          <p:nvPr/>
        </p:nvSpPr>
        <p:spPr>
          <a:xfrm>
            <a:off x="502920" y="1371600"/>
            <a:ext cx="11155680" cy="457200"/>
          </a:xfrm>
          <a:prstGeom prst="rect">
            <a:avLst/>
          </a:prstGeom>
          <a:noFill/>
          <a:ln/>
        </p:spPr>
        <p:txBody>
          <a:bodyPr wrap="square" lIns="0" tIns="0" rIns="0" bIns="0" rtlCol="0" anchor="t"/>
          <a:lstStyle/>
          <a:p>
            <a:pPr indent="0" marL="0">
              <a:lnSpc>
                <a:spcPct val="112000"/>
              </a:lnSpc>
              <a:buNone/>
            </a:pPr>
            <a:r>
              <a:rPr lang="en-US" sz="1500" b="1" dirty="0">
                <a:solidFill>
                  <a:srgbClr val="22303A"/>
                </a:solidFill>
                <a:latin typeface="Calibri" pitchFamily="34" charset="0"/>
                <a:ea typeface="Calibri" pitchFamily="34" charset="-122"/>
                <a:cs typeface="Calibri" pitchFamily="34" charset="-120"/>
              </a:rPr>
              <a:t>Prefer the value that rules out the fewest choices for the neighbouring variables in the constraint graph.</a:t>
            </a:r>
            <a:endParaRPr lang="en-US" sz="1500" dirty="0"/>
          </a:p>
        </p:txBody>
      </p:sp>
      <p:sp>
        <p:nvSpPr>
          <p:cNvPr id="8" name="Shape 5"/>
          <p:cNvSpPr/>
          <p:nvPr/>
        </p:nvSpPr>
        <p:spPr>
          <a:xfrm>
            <a:off x="502920" y="2011680"/>
            <a:ext cx="5577840" cy="1965960"/>
          </a:xfrm>
          <a:prstGeom prst="roundRect">
            <a:avLst>
              <a:gd name="adj" fmla="val 2791"/>
            </a:avLst>
          </a:prstGeom>
          <a:solidFill>
            <a:srgbClr val="F1F3F4"/>
          </a:solidFill>
          <a:ln w="9525">
            <a:solidFill>
              <a:srgbClr val="F1F3F4"/>
            </a:solidFill>
            <a:prstDash val="solid"/>
          </a:ln>
        </p:spPr>
      </p:sp>
      <p:sp>
        <p:nvSpPr>
          <p:cNvPr id="9" name="Text 6"/>
          <p:cNvSpPr/>
          <p:nvPr/>
        </p:nvSpPr>
        <p:spPr>
          <a:xfrm>
            <a:off x="777240" y="2194560"/>
            <a:ext cx="5029200" cy="301752"/>
          </a:xfrm>
          <a:prstGeom prst="rect">
            <a:avLst/>
          </a:prstGeom>
          <a:noFill/>
          <a:ln/>
        </p:spPr>
        <p:txBody>
          <a:bodyPr wrap="square" lIns="0" tIns="0" rIns="0" bIns="0" rtlCol="0" anchor="ctr"/>
          <a:lstStyle/>
          <a:p>
            <a:pPr indent="0" marL="0">
              <a:buNone/>
            </a:pPr>
            <a:r>
              <a:rPr lang="en-US" sz="1500" b="1" dirty="0">
                <a:solidFill>
                  <a:srgbClr val="50808E"/>
                </a:solidFill>
                <a:latin typeface="Calibri" pitchFamily="34" charset="0"/>
                <a:ea typeface="Calibri" pitchFamily="34" charset="-122"/>
                <a:cs typeface="Calibri" pitchFamily="34" charset="-120"/>
              </a:rPr>
              <a:t>Worked example</a:t>
            </a:r>
            <a:endParaRPr lang="en-US" sz="1500" dirty="0"/>
          </a:p>
        </p:txBody>
      </p:sp>
      <p:sp>
        <p:nvSpPr>
          <p:cNvPr id="10" name="Text 7"/>
          <p:cNvSpPr/>
          <p:nvPr/>
        </p:nvSpPr>
        <p:spPr>
          <a:xfrm>
            <a:off x="777240" y="2578608"/>
            <a:ext cx="5029200" cy="128016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Partial assignment: WA = red, NT = green. Next choice is Q. Blue is a bad choice - it removes the last legal value from Q's neighbour SA. Red leaves SA an option, so prefer red.</a:t>
            </a:r>
            <a:endParaRPr lang="en-US" sz="1250" dirty="0"/>
          </a:p>
        </p:txBody>
      </p:sp>
      <p:sp>
        <p:nvSpPr>
          <p:cNvPr id="11" name="Shape 8"/>
          <p:cNvSpPr/>
          <p:nvPr/>
        </p:nvSpPr>
        <p:spPr>
          <a:xfrm>
            <a:off x="6126480" y="2011680"/>
            <a:ext cx="5532120" cy="1965960"/>
          </a:xfrm>
          <a:prstGeom prst="roundRect">
            <a:avLst>
              <a:gd name="adj" fmla="val 2791"/>
            </a:avLst>
          </a:prstGeom>
          <a:solidFill>
            <a:srgbClr val="F7EEEA"/>
          </a:solidFill>
          <a:ln w="9525">
            <a:solidFill>
              <a:srgbClr val="F7EEEA"/>
            </a:solidFill>
            <a:prstDash val="solid"/>
          </a:ln>
        </p:spPr>
      </p:sp>
      <p:sp>
        <p:nvSpPr>
          <p:cNvPr id="12" name="Text 9"/>
          <p:cNvSpPr/>
          <p:nvPr/>
        </p:nvSpPr>
        <p:spPr>
          <a:xfrm>
            <a:off x="6400800" y="2194560"/>
            <a:ext cx="4937760" cy="301752"/>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How you compute it</a:t>
            </a:r>
            <a:endParaRPr lang="en-US" sz="1500" dirty="0"/>
          </a:p>
        </p:txBody>
      </p:sp>
      <p:sp>
        <p:nvSpPr>
          <p:cNvPr id="13" name="Text 10"/>
          <p:cNvSpPr/>
          <p:nvPr/>
        </p:nvSpPr>
        <p:spPr>
          <a:xfrm>
            <a:off x="6400800" y="2578608"/>
            <a:ext cx="4937760" cy="128016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Tentatively assign each candidate value, run a filtering pass, and count how many domain values survive elsewhere. Pick the value that disturbs the rest of the graph least.</a:t>
            </a:r>
            <a:endParaRPr lang="en-US" sz="1250" dirty="0"/>
          </a:p>
        </p:txBody>
      </p:sp>
      <p:sp>
        <p:nvSpPr>
          <p:cNvPr id="14" name="Shape 11"/>
          <p:cNvSpPr/>
          <p:nvPr/>
        </p:nvSpPr>
        <p:spPr>
          <a:xfrm>
            <a:off x="502920" y="4206240"/>
            <a:ext cx="11155680" cy="1691640"/>
          </a:xfrm>
          <a:prstGeom prst="roundRect">
            <a:avLst>
              <a:gd name="adj" fmla="val 3243"/>
            </a:avLst>
          </a:prstGeom>
          <a:solidFill>
            <a:srgbClr val="F1F3F4"/>
          </a:solidFill>
          <a:ln w="9525">
            <a:solidFill>
              <a:srgbClr val="F1F3F4"/>
            </a:solidFill>
            <a:prstDash val="solid"/>
          </a:ln>
        </p:spPr>
      </p:sp>
      <p:sp>
        <p:nvSpPr>
          <p:cNvPr id="15" name="Text 12"/>
          <p:cNvSpPr/>
          <p:nvPr/>
        </p:nvSpPr>
        <p:spPr>
          <a:xfrm>
            <a:off x="822960" y="4389120"/>
            <a:ext cx="10515600" cy="301752"/>
          </a:xfrm>
          <a:prstGeom prst="rect">
            <a:avLst/>
          </a:prstGeom>
          <a:noFill/>
          <a:ln/>
        </p:spPr>
        <p:txBody>
          <a:bodyPr wrap="square" lIns="0" tIns="0" rIns="0" bIns="0" rtlCol="0" anchor="ctr"/>
          <a:lstStyle/>
          <a:p>
            <a:pPr indent="0" marL="0">
              <a:buNone/>
            </a:pPr>
            <a:r>
              <a:rPr lang="en-US" sz="1700" b="1" dirty="0">
                <a:solidFill>
                  <a:srgbClr val="22303A"/>
                </a:solidFill>
                <a:latin typeface="Calibri" pitchFamily="34" charset="0"/>
                <a:ea typeface="Calibri" pitchFamily="34" charset="-122"/>
                <a:cs typeface="Calibri" pitchFamily="34" charset="-120"/>
              </a:rPr>
              <a:t>Why fail-first for variables, but fail-last for values?</a:t>
            </a:r>
            <a:endParaRPr lang="en-US" sz="1700" dirty="0"/>
          </a:p>
        </p:txBody>
      </p:sp>
      <p:sp>
        <p:nvSpPr>
          <p:cNvPr id="16" name="Text 13"/>
          <p:cNvSpPr/>
          <p:nvPr/>
        </p:nvSpPr>
        <p:spPr>
          <a:xfrm>
            <a:off x="822960" y="4828032"/>
            <a:ext cx="5120640" cy="100584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Every variable has to be assigned eventually. Choosing the ones likely to fail first means fewer successful assignments to unwind when the failure surfaces - backtracking stays local.</a:t>
            </a:r>
            <a:endParaRPr lang="en-US" sz="1300" dirty="0"/>
          </a:p>
        </p:txBody>
      </p:sp>
      <p:sp>
        <p:nvSpPr>
          <p:cNvPr id="17" name="Text 14"/>
          <p:cNvSpPr/>
          <p:nvPr/>
        </p:nvSpPr>
        <p:spPr>
          <a:xfrm>
            <a:off x="6355080" y="4828032"/>
            <a:ext cx="4983480" cy="100584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But you do not have to try every value. If the first one works you are done - so be optimistic and try the one most likely to succeed.</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6.3.2</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Forward checking: inference after every assignment</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29</a:t>
            </a:r>
            <a:endParaRPr lang="en-US" sz="900" dirty="0"/>
          </a:p>
        </p:txBody>
      </p:sp>
      <p:sp>
        <p:nvSpPr>
          <p:cNvPr id="7" name="Text 4"/>
          <p:cNvSpPr/>
          <p:nvPr/>
        </p:nvSpPr>
        <p:spPr>
          <a:xfrm>
            <a:off x="502920" y="1325880"/>
            <a:ext cx="11155680" cy="411480"/>
          </a:xfrm>
          <a:prstGeom prst="rect">
            <a:avLst/>
          </a:prstGeom>
          <a:noFill/>
          <a:ln/>
        </p:spPr>
        <p:txBody>
          <a:bodyPr wrap="square" lIns="0" tIns="0" rIns="0" bIns="0" rtlCol="0" anchor="t"/>
          <a:lstStyle/>
          <a:p>
            <a:pPr indent="0" marL="0">
              <a:lnSpc>
                <a:spcPct val="112000"/>
              </a:lnSpc>
              <a:buNone/>
            </a:pPr>
            <a:r>
              <a:rPr lang="en-US" sz="1400" b="1" dirty="0">
                <a:solidFill>
                  <a:srgbClr val="22303A"/>
                </a:solidFill>
                <a:latin typeface="Calibri" pitchFamily="34" charset="0"/>
                <a:ea typeface="Calibri" pitchFamily="34" charset="-122"/>
                <a:cs typeface="Calibri" pitchFamily="34" charset="-120"/>
              </a:rPr>
              <a:t>Whenever X is assigned, establish arc consistency for it: delete from each unassigned neighbour any value inconsistent with X's new value.</a:t>
            </a:r>
            <a:endParaRPr lang="en-US" sz="1400" dirty="0"/>
          </a:p>
        </p:txBody>
      </p:sp>
      <p:sp>
        <p:nvSpPr>
          <p:cNvPr id="8" name="Shape 5"/>
          <p:cNvSpPr/>
          <p:nvPr/>
        </p:nvSpPr>
        <p:spPr>
          <a:xfrm>
            <a:off x="502920" y="1874520"/>
            <a:ext cx="10881360" cy="365760"/>
          </a:xfrm>
          <a:prstGeom prst="rect">
            <a:avLst/>
          </a:prstGeom>
          <a:solidFill>
            <a:srgbClr val="22303A"/>
          </a:solidFill>
          <a:ln/>
        </p:spPr>
      </p:sp>
      <p:sp>
        <p:nvSpPr>
          <p:cNvPr id="9" name="Text 6"/>
          <p:cNvSpPr/>
          <p:nvPr/>
        </p:nvSpPr>
        <p:spPr>
          <a:xfrm>
            <a:off x="502920" y="1874520"/>
            <a:ext cx="155448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a:t>
            </a:r>
            <a:endParaRPr lang="en-US" sz="1250" dirty="0"/>
          </a:p>
        </p:txBody>
      </p:sp>
      <p:sp>
        <p:nvSpPr>
          <p:cNvPr id="10" name="Text 7"/>
          <p:cNvSpPr/>
          <p:nvPr/>
        </p:nvSpPr>
        <p:spPr>
          <a:xfrm>
            <a:off x="2057400" y="1874520"/>
            <a:ext cx="155448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NT</a:t>
            </a:r>
            <a:endParaRPr lang="en-US" sz="1250" dirty="0"/>
          </a:p>
        </p:txBody>
      </p:sp>
      <p:sp>
        <p:nvSpPr>
          <p:cNvPr id="11" name="Text 8"/>
          <p:cNvSpPr/>
          <p:nvPr/>
        </p:nvSpPr>
        <p:spPr>
          <a:xfrm>
            <a:off x="3611880" y="1874520"/>
            <a:ext cx="155448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Q</a:t>
            </a:r>
            <a:endParaRPr lang="en-US" sz="1250" dirty="0"/>
          </a:p>
        </p:txBody>
      </p:sp>
      <p:sp>
        <p:nvSpPr>
          <p:cNvPr id="12" name="Text 9"/>
          <p:cNvSpPr/>
          <p:nvPr/>
        </p:nvSpPr>
        <p:spPr>
          <a:xfrm>
            <a:off x="5166360" y="1874520"/>
            <a:ext cx="155448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NSW</a:t>
            </a:r>
            <a:endParaRPr lang="en-US" sz="1250" dirty="0"/>
          </a:p>
        </p:txBody>
      </p:sp>
      <p:sp>
        <p:nvSpPr>
          <p:cNvPr id="13" name="Text 10"/>
          <p:cNvSpPr/>
          <p:nvPr/>
        </p:nvSpPr>
        <p:spPr>
          <a:xfrm>
            <a:off x="6720840" y="1874520"/>
            <a:ext cx="155448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V</a:t>
            </a:r>
            <a:endParaRPr lang="en-US" sz="1250" dirty="0"/>
          </a:p>
        </p:txBody>
      </p:sp>
      <p:sp>
        <p:nvSpPr>
          <p:cNvPr id="14" name="Text 11"/>
          <p:cNvSpPr/>
          <p:nvPr/>
        </p:nvSpPr>
        <p:spPr>
          <a:xfrm>
            <a:off x="8275320" y="1874520"/>
            <a:ext cx="155448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SA</a:t>
            </a:r>
            <a:endParaRPr lang="en-US" sz="1250" dirty="0"/>
          </a:p>
        </p:txBody>
      </p:sp>
      <p:sp>
        <p:nvSpPr>
          <p:cNvPr id="15" name="Text 12"/>
          <p:cNvSpPr/>
          <p:nvPr/>
        </p:nvSpPr>
        <p:spPr>
          <a:xfrm>
            <a:off x="9829800" y="1874520"/>
            <a:ext cx="155448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a:t>
            </a:r>
            <a:endParaRPr lang="en-US" sz="1250" dirty="0"/>
          </a:p>
        </p:txBody>
      </p:sp>
      <p:sp>
        <p:nvSpPr>
          <p:cNvPr id="16" name="Shape 13"/>
          <p:cNvSpPr/>
          <p:nvPr/>
        </p:nvSpPr>
        <p:spPr>
          <a:xfrm>
            <a:off x="502920" y="2286000"/>
            <a:ext cx="10881360" cy="603504"/>
          </a:xfrm>
          <a:prstGeom prst="rect">
            <a:avLst/>
          </a:prstGeom>
          <a:solidFill>
            <a:srgbClr val="F6F8F8"/>
          </a:solidFill>
          <a:ln w="6350">
            <a:solidFill>
              <a:srgbClr val="D5DBDE"/>
            </a:solidFill>
            <a:prstDash val="solid"/>
          </a:ln>
        </p:spPr>
      </p:sp>
      <p:sp>
        <p:nvSpPr>
          <p:cNvPr id="17" name="Text 14"/>
          <p:cNvSpPr/>
          <p:nvPr/>
        </p:nvSpPr>
        <p:spPr>
          <a:xfrm>
            <a:off x="502920" y="2414016"/>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R G B</a:t>
            </a:r>
            <a:endParaRPr lang="en-US" sz="1300" dirty="0"/>
          </a:p>
        </p:txBody>
      </p:sp>
      <p:sp>
        <p:nvSpPr>
          <p:cNvPr id="18" name="Text 15"/>
          <p:cNvSpPr/>
          <p:nvPr/>
        </p:nvSpPr>
        <p:spPr>
          <a:xfrm>
            <a:off x="2057400" y="2414016"/>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R G B</a:t>
            </a:r>
            <a:endParaRPr lang="en-US" sz="1300" dirty="0"/>
          </a:p>
        </p:txBody>
      </p:sp>
      <p:sp>
        <p:nvSpPr>
          <p:cNvPr id="19" name="Text 16"/>
          <p:cNvSpPr/>
          <p:nvPr/>
        </p:nvSpPr>
        <p:spPr>
          <a:xfrm>
            <a:off x="3611880" y="2414016"/>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R G B</a:t>
            </a:r>
            <a:endParaRPr lang="en-US" sz="1300" dirty="0"/>
          </a:p>
        </p:txBody>
      </p:sp>
      <p:sp>
        <p:nvSpPr>
          <p:cNvPr id="20" name="Text 17"/>
          <p:cNvSpPr/>
          <p:nvPr/>
        </p:nvSpPr>
        <p:spPr>
          <a:xfrm>
            <a:off x="5166360" y="2414016"/>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R G B</a:t>
            </a:r>
            <a:endParaRPr lang="en-US" sz="1300" dirty="0"/>
          </a:p>
        </p:txBody>
      </p:sp>
      <p:sp>
        <p:nvSpPr>
          <p:cNvPr id="21" name="Text 18"/>
          <p:cNvSpPr/>
          <p:nvPr/>
        </p:nvSpPr>
        <p:spPr>
          <a:xfrm>
            <a:off x="6720840" y="2414016"/>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R G B</a:t>
            </a:r>
            <a:endParaRPr lang="en-US" sz="1300" dirty="0"/>
          </a:p>
        </p:txBody>
      </p:sp>
      <p:sp>
        <p:nvSpPr>
          <p:cNvPr id="22" name="Text 19"/>
          <p:cNvSpPr/>
          <p:nvPr/>
        </p:nvSpPr>
        <p:spPr>
          <a:xfrm>
            <a:off x="8275320" y="2414016"/>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R G B</a:t>
            </a:r>
            <a:endParaRPr lang="en-US" sz="1300" dirty="0"/>
          </a:p>
        </p:txBody>
      </p:sp>
      <p:sp>
        <p:nvSpPr>
          <p:cNvPr id="23" name="Text 20"/>
          <p:cNvSpPr/>
          <p:nvPr/>
        </p:nvSpPr>
        <p:spPr>
          <a:xfrm>
            <a:off x="9829800" y="2414016"/>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R G B</a:t>
            </a:r>
            <a:endParaRPr lang="en-US" sz="1300" dirty="0"/>
          </a:p>
        </p:txBody>
      </p:sp>
      <p:sp>
        <p:nvSpPr>
          <p:cNvPr id="24" name="Text 21"/>
          <p:cNvSpPr/>
          <p:nvPr/>
        </p:nvSpPr>
        <p:spPr>
          <a:xfrm>
            <a:off x="557784" y="2688336"/>
            <a:ext cx="3657600" cy="182880"/>
          </a:xfrm>
          <a:prstGeom prst="rect">
            <a:avLst/>
          </a:prstGeom>
          <a:noFill/>
          <a:ln/>
        </p:spPr>
        <p:txBody>
          <a:bodyPr wrap="square" lIns="0" tIns="0" rIns="0" bIns="0" rtlCol="0" anchor="ctr"/>
          <a:lstStyle/>
          <a:p>
            <a:pPr indent="0" marL="0">
              <a:buNone/>
            </a:pPr>
            <a:r>
              <a:rPr lang="en-US" sz="900" i="1" dirty="0">
                <a:solidFill>
                  <a:srgbClr val="6E7A83"/>
                </a:solidFill>
                <a:latin typeface="Calibri" pitchFamily="34" charset="0"/>
                <a:ea typeface="Calibri" pitchFamily="34" charset="-122"/>
                <a:cs typeface="Calibri" pitchFamily="34" charset="-120"/>
              </a:rPr>
              <a:t>initial domains</a:t>
            </a:r>
            <a:endParaRPr lang="en-US" sz="900" dirty="0"/>
          </a:p>
        </p:txBody>
      </p:sp>
      <p:sp>
        <p:nvSpPr>
          <p:cNvPr id="25" name="Shape 22"/>
          <p:cNvSpPr/>
          <p:nvPr/>
        </p:nvSpPr>
        <p:spPr>
          <a:xfrm>
            <a:off x="502920" y="2944368"/>
            <a:ext cx="10881360" cy="603504"/>
          </a:xfrm>
          <a:prstGeom prst="rect">
            <a:avLst/>
          </a:prstGeom>
          <a:solidFill>
            <a:srgbClr val="FFFFFF"/>
          </a:solidFill>
          <a:ln w="6350">
            <a:solidFill>
              <a:srgbClr val="D5DBDE"/>
            </a:solidFill>
            <a:prstDash val="solid"/>
          </a:ln>
        </p:spPr>
      </p:sp>
      <p:sp>
        <p:nvSpPr>
          <p:cNvPr id="26" name="Shape 23"/>
          <p:cNvSpPr/>
          <p:nvPr/>
        </p:nvSpPr>
        <p:spPr>
          <a:xfrm>
            <a:off x="886968" y="3072384"/>
            <a:ext cx="786384" cy="347472"/>
          </a:xfrm>
          <a:prstGeom prst="roundRect">
            <a:avLst>
              <a:gd name="adj" fmla="val 13158"/>
            </a:avLst>
          </a:prstGeom>
          <a:solidFill>
            <a:srgbClr val="B85042"/>
          </a:solidFill>
          <a:ln/>
        </p:spPr>
      </p:sp>
      <p:sp>
        <p:nvSpPr>
          <p:cNvPr id="27" name="Text 24"/>
          <p:cNvSpPr/>
          <p:nvPr/>
        </p:nvSpPr>
        <p:spPr>
          <a:xfrm>
            <a:off x="502920" y="3072384"/>
            <a:ext cx="15544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R</a:t>
            </a:r>
            <a:endParaRPr lang="en-US" sz="1300" dirty="0"/>
          </a:p>
        </p:txBody>
      </p:sp>
      <p:sp>
        <p:nvSpPr>
          <p:cNvPr id="28" name="Text 25"/>
          <p:cNvSpPr/>
          <p:nvPr/>
        </p:nvSpPr>
        <p:spPr>
          <a:xfrm>
            <a:off x="2057400" y="3072384"/>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G B</a:t>
            </a:r>
            <a:endParaRPr lang="en-US" sz="1300" dirty="0"/>
          </a:p>
        </p:txBody>
      </p:sp>
      <p:sp>
        <p:nvSpPr>
          <p:cNvPr id="29" name="Text 26"/>
          <p:cNvSpPr/>
          <p:nvPr/>
        </p:nvSpPr>
        <p:spPr>
          <a:xfrm>
            <a:off x="3611880" y="3072384"/>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R G B</a:t>
            </a:r>
            <a:endParaRPr lang="en-US" sz="1300" dirty="0"/>
          </a:p>
        </p:txBody>
      </p:sp>
      <p:sp>
        <p:nvSpPr>
          <p:cNvPr id="30" name="Text 27"/>
          <p:cNvSpPr/>
          <p:nvPr/>
        </p:nvSpPr>
        <p:spPr>
          <a:xfrm>
            <a:off x="5166360" y="3072384"/>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R G B</a:t>
            </a:r>
            <a:endParaRPr lang="en-US" sz="1300" dirty="0"/>
          </a:p>
        </p:txBody>
      </p:sp>
      <p:sp>
        <p:nvSpPr>
          <p:cNvPr id="31" name="Text 28"/>
          <p:cNvSpPr/>
          <p:nvPr/>
        </p:nvSpPr>
        <p:spPr>
          <a:xfrm>
            <a:off x="6720840" y="3072384"/>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R G B</a:t>
            </a:r>
            <a:endParaRPr lang="en-US" sz="1300" dirty="0"/>
          </a:p>
        </p:txBody>
      </p:sp>
      <p:sp>
        <p:nvSpPr>
          <p:cNvPr id="32" name="Text 29"/>
          <p:cNvSpPr/>
          <p:nvPr/>
        </p:nvSpPr>
        <p:spPr>
          <a:xfrm>
            <a:off x="8275320" y="3072384"/>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G B</a:t>
            </a:r>
            <a:endParaRPr lang="en-US" sz="1300" dirty="0"/>
          </a:p>
        </p:txBody>
      </p:sp>
      <p:sp>
        <p:nvSpPr>
          <p:cNvPr id="33" name="Text 30"/>
          <p:cNvSpPr/>
          <p:nvPr/>
        </p:nvSpPr>
        <p:spPr>
          <a:xfrm>
            <a:off x="9829800" y="3072384"/>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R G B</a:t>
            </a:r>
            <a:endParaRPr lang="en-US" sz="1300" dirty="0"/>
          </a:p>
        </p:txBody>
      </p:sp>
      <p:sp>
        <p:nvSpPr>
          <p:cNvPr id="34" name="Text 31"/>
          <p:cNvSpPr/>
          <p:nvPr/>
        </p:nvSpPr>
        <p:spPr>
          <a:xfrm>
            <a:off x="557784" y="3346704"/>
            <a:ext cx="3657600" cy="182880"/>
          </a:xfrm>
          <a:prstGeom prst="rect">
            <a:avLst/>
          </a:prstGeom>
          <a:noFill/>
          <a:ln/>
        </p:spPr>
        <p:txBody>
          <a:bodyPr wrap="square" lIns="0" tIns="0" rIns="0" bIns="0" rtlCol="0" anchor="ctr"/>
          <a:lstStyle/>
          <a:p>
            <a:pPr indent="0" marL="0">
              <a:buNone/>
            </a:pPr>
            <a:r>
              <a:rPr lang="en-US" sz="900" i="1" dirty="0">
                <a:solidFill>
                  <a:srgbClr val="6E7A83"/>
                </a:solidFill>
                <a:latin typeface="Calibri" pitchFamily="34" charset="0"/>
                <a:ea typeface="Calibri" pitchFamily="34" charset="-122"/>
                <a:cs typeface="Calibri" pitchFamily="34" charset="-120"/>
              </a:rPr>
              <a:t>after WA = red</a:t>
            </a:r>
            <a:endParaRPr lang="en-US" sz="900" dirty="0"/>
          </a:p>
        </p:txBody>
      </p:sp>
      <p:sp>
        <p:nvSpPr>
          <p:cNvPr id="35" name="Shape 32"/>
          <p:cNvSpPr/>
          <p:nvPr/>
        </p:nvSpPr>
        <p:spPr>
          <a:xfrm>
            <a:off x="502920" y="3602736"/>
            <a:ext cx="10881360" cy="603504"/>
          </a:xfrm>
          <a:prstGeom prst="rect">
            <a:avLst/>
          </a:prstGeom>
          <a:solidFill>
            <a:srgbClr val="F6F8F8"/>
          </a:solidFill>
          <a:ln w="6350">
            <a:solidFill>
              <a:srgbClr val="D5DBDE"/>
            </a:solidFill>
            <a:prstDash val="solid"/>
          </a:ln>
        </p:spPr>
      </p:sp>
      <p:sp>
        <p:nvSpPr>
          <p:cNvPr id="36" name="Shape 33"/>
          <p:cNvSpPr/>
          <p:nvPr/>
        </p:nvSpPr>
        <p:spPr>
          <a:xfrm>
            <a:off x="886968" y="3730752"/>
            <a:ext cx="786384" cy="347472"/>
          </a:xfrm>
          <a:prstGeom prst="roundRect">
            <a:avLst>
              <a:gd name="adj" fmla="val 13158"/>
            </a:avLst>
          </a:prstGeom>
          <a:solidFill>
            <a:srgbClr val="B85042"/>
          </a:solidFill>
          <a:ln/>
        </p:spPr>
      </p:sp>
      <p:sp>
        <p:nvSpPr>
          <p:cNvPr id="37" name="Text 34"/>
          <p:cNvSpPr/>
          <p:nvPr/>
        </p:nvSpPr>
        <p:spPr>
          <a:xfrm>
            <a:off x="502920" y="3730752"/>
            <a:ext cx="15544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R</a:t>
            </a:r>
            <a:endParaRPr lang="en-US" sz="1300" dirty="0"/>
          </a:p>
        </p:txBody>
      </p:sp>
      <p:sp>
        <p:nvSpPr>
          <p:cNvPr id="38" name="Text 35"/>
          <p:cNvSpPr/>
          <p:nvPr/>
        </p:nvSpPr>
        <p:spPr>
          <a:xfrm>
            <a:off x="2057400" y="3730752"/>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B</a:t>
            </a:r>
            <a:endParaRPr lang="en-US" sz="1300" dirty="0"/>
          </a:p>
        </p:txBody>
      </p:sp>
      <p:sp>
        <p:nvSpPr>
          <p:cNvPr id="39" name="Shape 36"/>
          <p:cNvSpPr/>
          <p:nvPr/>
        </p:nvSpPr>
        <p:spPr>
          <a:xfrm>
            <a:off x="3995928" y="3730752"/>
            <a:ext cx="786384" cy="347472"/>
          </a:xfrm>
          <a:prstGeom prst="roundRect">
            <a:avLst>
              <a:gd name="adj" fmla="val 13158"/>
            </a:avLst>
          </a:prstGeom>
          <a:solidFill>
            <a:srgbClr val="B85042"/>
          </a:solidFill>
          <a:ln/>
        </p:spPr>
      </p:sp>
      <p:sp>
        <p:nvSpPr>
          <p:cNvPr id="40" name="Text 37"/>
          <p:cNvSpPr/>
          <p:nvPr/>
        </p:nvSpPr>
        <p:spPr>
          <a:xfrm>
            <a:off x="3611880" y="3730752"/>
            <a:ext cx="15544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G</a:t>
            </a:r>
            <a:endParaRPr lang="en-US" sz="1300" dirty="0"/>
          </a:p>
        </p:txBody>
      </p:sp>
      <p:sp>
        <p:nvSpPr>
          <p:cNvPr id="41" name="Text 38"/>
          <p:cNvSpPr/>
          <p:nvPr/>
        </p:nvSpPr>
        <p:spPr>
          <a:xfrm>
            <a:off x="5166360" y="3730752"/>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R B</a:t>
            </a:r>
            <a:endParaRPr lang="en-US" sz="1300" dirty="0"/>
          </a:p>
        </p:txBody>
      </p:sp>
      <p:sp>
        <p:nvSpPr>
          <p:cNvPr id="42" name="Text 39"/>
          <p:cNvSpPr/>
          <p:nvPr/>
        </p:nvSpPr>
        <p:spPr>
          <a:xfrm>
            <a:off x="6720840" y="3730752"/>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R G B</a:t>
            </a:r>
            <a:endParaRPr lang="en-US" sz="1300" dirty="0"/>
          </a:p>
        </p:txBody>
      </p:sp>
      <p:sp>
        <p:nvSpPr>
          <p:cNvPr id="43" name="Text 40"/>
          <p:cNvSpPr/>
          <p:nvPr/>
        </p:nvSpPr>
        <p:spPr>
          <a:xfrm>
            <a:off x="8275320" y="3730752"/>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B</a:t>
            </a:r>
            <a:endParaRPr lang="en-US" sz="1300" dirty="0"/>
          </a:p>
        </p:txBody>
      </p:sp>
      <p:sp>
        <p:nvSpPr>
          <p:cNvPr id="44" name="Text 41"/>
          <p:cNvSpPr/>
          <p:nvPr/>
        </p:nvSpPr>
        <p:spPr>
          <a:xfrm>
            <a:off x="9829800" y="3730752"/>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R G B</a:t>
            </a:r>
            <a:endParaRPr lang="en-US" sz="1300" dirty="0"/>
          </a:p>
        </p:txBody>
      </p:sp>
      <p:sp>
        <p:nvSpPr>
          <p:cNvPr id="45" name="Text 42"/>
          <p:cNvSpPr/>
          <p:nvPr/>
        </p:nvSpPr>
        <p:spPr>
          <a:xfrm>
            <a:off x="557784" y="4005072"/>
            <a:ext cx="3657600" cy="182880"/>
          </a:xfrm>
          <a:prstGeom prst="rect">
            <a:avLst/>
          </a:prstGeom>
          <a:noFill/>
          <a:ln/>
        </p:spPr>
        <p:txBody>
          <a:bodyPr wrap="square" lIns="0" tIns="0" rIns="0" bIns="0" rtlCol="0" anchor="ctr"/>
          <a:lstStyle/>
          <a:p>
            <a:pPr indent="0" marL="0">
              <a:buNone/>
            </a:pPr>
            <a:r>
              <a:rPr lang="en-US" sz="900" i="1" dirty="0">
                <a:solidFill>
                  <a:srgbClr val="6E7A83"/>
                </a:solidFill>
                <a:latin typeface="Calibri" pitchFamily="34" charset="0"/>
                <a:ea typeface="Calibri" pitchFamily="34" charset="-122"/>
                <a:cs typeface="Calibri" pitchFamily="34" charset="-120"/>
              </a:rPr>
              <a:t>after Q = green</a:t>
            </a:r>
            <a:endParaRPr lang="en-US" sz="900" dirty="0"/>
          </a:p>
        </p:txBody>
      </p:sp>
      <p:sp>
        <p:nvSpPr>
          <p:cNvPr id="46" name="Shape 43"/>
          <p:cNvSpPr/>
          <p:nvPr/>
        </p:nvSpPr>
        <p:spPr>
          <a:xfrm>
            <a:off x="502920" y="4261104"/>
            <a:ext cx="10881360" cy="603504"/>
          </a:xfrm>
          <a:prstGeom prst="rect">
            <a:avLst/>
          </a:prstGeom>
          <a:solidFill>
            <a:srgbClr val="FFFFFF"/>
          </a:solidFill>
          <a:ln w="6350">
            <a:solidFill>
              <a:srgbClr val="D5DBDE"/>
            </a:solidFill>
            <a:prstDash val="solid"/>
          </a:ln>
        </p:spPr>
      </p:sp>
      <p:sp>
        <p:nvSpPr>
          <p:cNvPr id="47" name="Shape 44"/>
          <p:cNvSpPr/>
          <p:nvPr/>
        </p:nvSpPr>
        <p:spPr>
          <a:xfrm>
            <a:off x="886968" y="4389120"/>
            <a:ext cx="786384" cy="347472"/>
          </a:xfrm>
          <a:prstGeom prst="roundRect">
            <a:avLst>
              <a:gd name="adj" fmla="val 13158"/>
            </a:avLst>
          </a:prstGeom>
          <a:solidFill>
            <a:srgbClr val="B85042"/>
          </a:solidFill>
          <a:ln/>
        </p:spPr>
      </p:sp>
      <p:sp>
        <p:nvSpPr>
          <p:cNvPr id="48" name="Text 45"/>
          <p:cNvSpPr/>
          <p:nvPr/>
        </p:nvSpPr>
        <p:spPr>
          <a:xfrm>
            <a:off x="502920" y="4389120"/>
            <a:ext cx="15544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R</a:t>
            </a:r>
            <a:endParaRPr lang="en-US" sz="1300" dirty="0"/>
          </a:p>
        </p:txBody>
      </p:sp>
      <p:sp>
        <p:nvSpPr>
          <p:cNvPr id="49" name="Text 46"/>
          <p:cNvSpPr/>
          <p:nvPr/>
        </p:nvSpPr>
        <p:spPr>
          <a:xfrm>
            <a:off x="2057400" y="4389120"/>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B</a:t>
            </a:r>
            <a:endParaRPr lang="en-US" sz="1300" dirty="0"/>
          </a:p>
        </p:txBody>
      </p:sp>
      <p:sp>
        <p:nvSpPr>
          <p:cNvPr id="50" name="Shape 47"/>
          <p:cNvSpPr/>
          <p:nvPr/>
        </p:nvSpPr>
        <p:spPr>
          <a:xfrm>
            <a:off x="3995928" y="4389120"/>
            <a:ext cx="786384" cy="347472"/>
          </a:xfrm>
          <a:prstGeom prst="roundRect">
            <a:avLst>
              <a:gd name="adj" fmla="val 13158"/>
            </a:avLst>
          </a:prstGeom>
          <a:solidFill>
            <a:srgbClr val="B85042"/>
          </a:solidFill>
          <a:ln/>
        </p:spPr>
      </p:sp>
      <p:sp>
        <p:nvSpPr>
          <p:cNvPr id="51" name="Text 48"/>
          <p:cNvSpPr/>
          <p:nvPr/>
        </p:nvSpPr>
        <p:spPr>
          <a:xfrm>
            <a:off x="3611880" y="4389120"/>
            <a:ext cx="15544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G</a:t>
            </a:r>
            <a:endParaRPr lang="en-US" sz="1300" dirty="0"/>
          </a:p>
        </p:txBody>
      </p:sp>
      <p:sp>
        <p:nvSpPr>
          <p:cNvPr id="52" name="Text 49"/>
          <p:cNvSpPr/>
          <p:nvPr/>
        </p:nvSpPr>
        <p:spPr>
          <a:xfrm>
            <a:off x="5166360" y="4389120"/>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R</a:t>
            </a:r>
            <a:endParaRPr lang="en-US" sz="1300" dirty="0"/>
          </a:p>
        </p:txBody>
      </p:sp>
      <p:sp>
        <p:nvSpPr>
          <p:cNvPr id="53" name="Shape 50"/>
          <p:cNvSpPr/>
          <p:nvPr/>
        </p:nvSpPr>
        <p:spPr>
          <a:xfrm>
            <a:off x="7104888" y="4389120"/>
            <a:ext cx="786384" cy="347472"/>
          </a:xfrm>
          <a:prstGeom prst="roundRect">
            <a:avLst>
              <a:gd name="adj" fmla="val 13158"/>
            </a:avLst>
          </a:prstGeom>
          <a:solidFill>
            <a:srgbClr val="B85042"/>
          </a:solidFill>
          <a:ln/>
        </p:spPr>
      </p:sp>
      <p:sp>
        <p:nvSpPr>
          <p:cNvPr id="54" name="Text 51"/>
          <p:cNvSpPr/>
          <p:nvPr/>
        </p:nvSpPr>
        <p:spPr>
          <a:xfrm>
            <a:off x="6720840" y="4389120"/>
            <a:ext cx="1554480"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B</a:t>
            </a:r>
            <a:endParaRPr lang="en-US" sz="1300" dirty="0"/>
          </a:p>
        </p:txBody>
      </p:sp>
      <p:sp>
        <p:nvSpPr>
          <p:cNvPr id="55" name="Shape 52"/>
          <p:cNvSpPr/>
          <p:nvPr/>
        </p:nvSpPr>
        <p:spPr>
          <a:xfrm>
            <a:off x="8659368" y="4389120"/>
            <a:ext cx="786384" cy="347472"/>
          </a:xfrm>
          <a:prstGeom prst="roundRect">
            <a:avLst>
              <a:gd name="adj" fmla="val 13158"/>
            </a:avLst>
          </a:prstGeom>
          <a:solidFill>
            <a:srgbClr val="B0393B"/>
          </a:solidFill>
          <a:ln/>
        </p:spPr>
      </p:sp>
      <p:sp>
        <p:nvSpPr>
          <p:cNvPr id="56" name="Text 53"/>
          <p:cNvSpPr/>
          <p:nvPr/>
        </p:nvSpPr>
        <p:spPr>
          <a:xfrm>
            <a:off x="8275320" y="4389120"/>
            <a:ext cx="1554480"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empty</a:t>
            </a:r>
            <a:endParaRPr lang="en-US" sz="1050" dirty="0"/>
          </a:p>
        </p:txBody>
      </p:sp>
      <p:sp>
        <p:nvSpPr>
          <p:cNvPr id="57" name="Text 54"/>
          <p:cNvSpPr/>
          <p:nvPr/>
        </p:nvSpPr>
        <p:spPr>
          <a:xfrm>
            <a:off x="9829800" y="4389120"/>
            <a:ext cx="1554480" cy="347472"/>
          </a:xfrm>
          <a:prstGeom prst="rect">
            <a:avLst/>
          </a:prstGeom>
          <a:noFill/>
          <a:ln/>
        </p:spPr>
        <p:txBody>
          <a:bodyPr wrap="square" lIns="0" tIns="0" rIns="0" bIns="0" rtlCol="0" anchor="ctr"/>
          <a:lstStyle/>
          <a:p>
            <a:pPr algn="ctr" indent="0" marL="0">
              <a:buNone/>
            </a:pPr>
            <a:r>
              <a:rPr lang="en-US" sz="1300" b="1" dirty="0">
                <a:solidFill>
                  <a:srgbClr val="2B3138"/>
                </a:solidFill>
                <a:latin typeface="Courier New" pitchFamily="34" charset="0"/>
                <a:ea typeface="Courier New" pitchFamily="34" charset="-122"/>
                <a:cs typeface="Courier New" pitchFamily="34" charset="-120"/>
              </a:rPr>
              <a:t>R G B</a:t>
            </a:r>
            <a:endParaRPr lang="en-US" sz="1300" dirty="0"/>
          </a:p>
        </p:txBody>
      </p:sp>
      <p:sp>
        <p:nvSpPr>
          <p:cNvPr id="58" name="Text 55"/>
          <p:cNvSpPr/>
          <p:nvPr/>
        </p:nvSpPr>
        <p:spPr>
          <a:xfrm>
            <a:off x="557784" y="4663440"/>
            <a:ext cx="3657600" cy="182880"/>
          </a:xfrm>
          <a:prstGeom prst="rect">
            <a:avLst/>
          </a:prstGeom>
          <a:noFill/>
          <a:ln/>
        </p:spPr>
        <p:txBody>
          <a:bodyPr wrap="square" lIns="0" tIns="0" rIns="0" bIns="0" rtlCol="0" anchor="ctr"/>
          <a:lstStyle/>
          <a:p>
            <a:pPr indent="0" marL="0">
              <a:buNone/>
            </a:pPr>
            <a:r>
              <a:rPr lang="en-US" sz="900" i="1" dirty="0">
                <a:solidFill>
                  <a:srgbClr val="6E7A83"/>
                </a:solidFill>
                <a:latin typeface="Calibri" pitchFamily="34" charset="0"/>
                <a:ea typeface="Calibri" pitchFamily="34" charset="-122"/>
                <a:cs typeface="Calibri" pitchFamily="34" charset="-120"/>
              </a:rPr>
              <a:t>after V = blue</a:t>
            </a:r>
            <a:endParaRPr lang="en-US" sz="900" dirty="0"/>
          </a:p>
        </p:txBody>
      </p:sp>
      <p:sp>
        <p:nvSpPr>
          <p:cNvPr id="59" name="Shape 56"/>
          <p:cNvSpPr/>
          <p:nvPr/>
        </p:nvSpPr>
        <p:spPr>
          <a:xfrm>
            <a:off x="502920" y="5074920"/>
            <a:ext cx="5440680" cy="868680"/>
          </a:xfrm>
          <a:prstGeom prst="roundRect">
            <a:avLst>
              <a:gd name="adj" fmla="val 6316"/>
            </a:avLst>
          </a:prstGeom>
          <a:solidFill>
            <a:srgbClr val="F1F3F4"/>
          </a:solidFill>
          <a:ln w="9525">
            <a:solidFill>
              <a:srgbClr val="F1F3F4"/>
            </a:solidFill>
            <a:prstDash val="solid"/>
          </a:ln>
        </p:spPr>
      </p:sp>
      <p:sp>
        <p:nvSpPr>
          <p:cNvPr id="60" name="Text 57"/>
          <p:cNvSpPr/>
          <p:nvPr/>
        </p:nvSpPr>
        <p:spPr>
          <a:xfrm>
            <a:off x="777240" y="5230368"/>
            <a:ext cx="4937760" cy="59436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After WA and Q, both NT and SA are down to one value. Branching on them has been eliminated entirely.</a:t>
            </a:r>
            <a:endParaRPr lang="en-US" sz="1250" dirty="0"/>
          </a:p>
        </p:txBody>
      </p:sp>
      <p:sp>
        <p:nvSpPr>
          <p:cNvPr id="61" name="Shape 58"/>
          <p:cNvSpPr/>
          <p:nvPr/>
        </p:nvSpPr>
        <p:spPr>
          <a:xfrm>
            <a:off x="6217920" y="5074920"/>
            <a:ext cx="5440680" cy="868680"/>
          </a:xfrm>
          <a:prstGeom prst="roundRect">
            <a:avLst>
              <a:gd name="adj" fmla="val 6316"/>
            </a:avLst>
          </a:prstGeom>
          <a:solidFill>
            <a:srgbClr val="F7EEEA"/>
          </a:solidFill>
          <a:ln w="9525">
            <a:solidFill>
              <a:srgbClr val="F7EEEA"/>
            </a:solidFill>
            <a:prstDash val="solid"/>
          </a:ln>
        </p:spPr>
      </p:sp>
      <p:sp>
        <p:nvSpPr>
          <p:cNvPr id="62" name="Text 59"/>
          <p:cNvSpPr/>
          <p:nvPr/>
        </p:nvSpPr>
        <p:spPr>
          <a:xfrm>
            <a:off x="6446520" y="5093208"/>
            <a:ext cx="4983480" cy="832104"/>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After V = blue, SA's domain is empty. The partial assignment is proved inconsistent - backtrack now.</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6.3.2</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What forward checking misses</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30</a:t>
            </a:r>
            <a:endParaRPr lang="en-US" sz="900" dirty="0"/>
          </a:p>
        </p:txBody>
      </p:sp>
      <p:sp>
        <p:nvSpPr>
          <p:cNvPr id="7" name="Text 4"/>
          <p:cNvSpPr/>
          <p:nvPr/>
        </p:nvSpPr>
        <p:spPr>
          <a:xfrm>
            <a:off x="502920" y="1371600"/>
            <a:ext cx="6309360" cy="228600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Forward checking propagates one step: from the newly assigned variable to its immediate neighbours</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Consider the state after WA = red and Q = green. NT and SA are both reduced to {blue}</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But NT and SA are adjacent - they cannot both be blue</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Forward checking never checks that pair, because neither of them was the variable just assigned</a:t>
            </a:r>
            <a:endParaRPr lang="en-US" sz="1400" dirty="0"/>
          </a:p>
        </p:txBody>
      </p:sp>
      <p:sp>
        <p:nvSpPr>
          <p:cNvPr id="8" name="Shape 5"/>
          <p:cNvSpPr/>
          <p:nvPr/>
        </p:nvSpPr>
        <p:spPr>
          <a:xfrm flipV="1">
            <a:off x="7772400" y="1956816"/>
            <a:ext cx="950976" cy="630936"/>
          </a:xfrm>
          <a:prstGeom prst="line">
            <a:avLst/>
          </a:prstGeom>
          <a:noFill/>
          <a:ln w="17780">
            <a:solidFill>
              <a:srgbClr val="AEB9BF"/>
            </a:solidFill>
            <a:prstDash val="solid"/>
          </a:ln>
        </p:spPr>
      </p:sp>
      <p:sp>
        <p:nvSpPr>
          <p:cNvPr id="9" name="Shape 6"/>
          <p:cNvSpPr/>
          <p:nvPr/>
        </p:nvSpPr>
        <p:spPr>
          <a:xfrm>
            <a:off x="7772400" y="2587752"/>
            <a:ext cx="1097280" cy="521208"/>
          </a:xfrm>
          <a:prstGeom prst="line">
            <a:avLst/>
          </a:prstGeom>
          <a:noFill/>
          <a:ln w="17780">
            <a:solidFill>
              <a:srgbClr val="AEB9BF"/>
            </a:solidFill>
            <a:prstDash val="solid"/>
          </a:ln>
        </p:spPr>
      </p:sp>
      <p:sp>
        <p:nvSpPr>
          <p:cNvPr id="10" name="Shape 7"/>
          <p:cNvSpPr/>
          <p:nvPr/>
        </p:nvSpPr>
        <p:spPr>
          <a:xfrm>
            <a:off x="8723376" y="1956816"/>
            <a:ext cx="146304" cy="1152144"/>
          </a:xfrm>
          <a:prstGeom prst="line">
            <a:avLst/>
          </a:prstGeom>
          <a:noFill/>
          <a:ln w="34925">
            <a:solidFill>
              <a:srgbClr val="B85042"/>
            </a:solidFill>
            <a:prstDash val="solid"/>
          </a:ln>
        </p:spPr>
      </p:sp>
      <p:sp>
        <p:nvSpPr>
          <p:cNvPr id="11" name="Shape 8"/>
          <p:cNvSpPr/>
          <p:nvPr/>
        </p:nvSpPr>
        <p:spPr>
          <a:xfrm>
            <a:off x="8723376" y="1956816"/>
            <a:ext cx="1243584" cy="109728"/>
          </a:xfrm>
          <a:prstGeom prst="line">
            <a:avLst/>
          </a:prstGeom>
          <a:noFill/>
          <a:ln w="17780">
            <a:solidFill>
              <a:srgbClr val="AEB9BF"/>
            </a:solidFill>
            <a:prstDash val="solid"/>
          </a:ln>
        </p:spPr>
      </p:sp>
      <p:sp>
        <p:nvSpPr>
          <p:cNvPr id="12" name="Shape 9"/>
          <p:cNvSpPr/>
          <p:nvPr/>
        </p:nvSpPr>
        <p:spPr>
          <a:xfrm flipV="1">
            <a:off x="8869680" y="2066544"/>
            <a:ext cx="1097280" cy="1042416"/>
          </a:xfrm>
          <a:prstGeom prst="line">
            <a:avLst/>
          </a:prstGeom>
          <a:noFill/>
          <a:ln w="17780">
            <a:solidFill>
              <a:srgbClr val="AEB9BF"/>
            </a:solidFill>
            <a:prstDash val="solid"/>
          </a:ln>
        </p:spPr>
      </p:sp>
      <p:sp>
        <p:nvSpPr>
          <p:cNvPr id="13" name="Shape 10"/>
          <p:cNvSpPr/>
          <p:nvPr/>
        </p:nvSpPr>
        <p:spPr>
          <a:xfrm>
            <a:off x="8869680" y="3108960"/>
            <a:ext cx="1243584" cy="0"/>
          </a:xfrm>
          <a:prstGeom prst="line">
            <a:avLst/>
          </a:prstGeom>
          <a:noFill/>
          <a:ln w="17780">
            <a:solidFill>
              <a:srgbClr val="AEB9BF"/>
            </a:solidFill>
            <a:prstDash val="solid"/>
          </a:ln>
        </p:spPr>
      </p:sp>
      <p:sp>
        <p:nvSpPr>
          <p:cNvPr id="14" name="Shape 11"/>
          <p:cNvSpPr/>
          <p:nvPr/>
        </p:nvSpPr>
        <p:spPr>
          <a:xfrm>
            <a:off x="8869680" y="3108960"/>
            <a:ext cx="731520" cy="768096"/>
          </a:xfrm>
          <a:prstGeom prst="line">
            <a:avLst/>
          </a:prstGeom>
          <a:noFill/>
          <a:ln w="17780">
            <a:solidFill>
              <a:srgbClr val="AEB9BF"/>
            </a:solidFill>
            <a:prstDash val="solid"/>
          </a:ln>
        </p:spPr>
      </p:sp>
      <p:sp>
        <p:nvSpPr>
          <p:cNvPr id="15" name="Shape 12"/>
          <p:cNvSpPr/>
          <p:nvPr/>
        </p:nvSpPr>
        <p:spPr>
          <a:xfrm>
            <a:off x="9966960" y="2066544"/>
            <a:ext cx="146304" cy="1042416"/>
          </a:xfrm>
          <a:prstGeom prst="line">
            <a:avLst/>
          </a:prstGeom>
          <a:noFill/>
          <a:ln w="17780">
            <a:solidFill>
              <a:srgbClr val="AEB9BF"/>
            </a:solidFill>
            <a:prstDash val="solid"/>
          </a:ln>
        </p:spPr>
      </p:sp>
      <p:sp>
        <p:nvSpPr>
          <p:cNvPr id="16" name="Shape 13"/>
          <p:cNvSpPr/>
          <p:nvPr/>
        </p:nvSpPr>
        <p:spPr>
          <a:xfrm flipH="1">
            <a:off x="9601200" y="3108960"/>
            <a:ext cx="512064" cy="768096"/>
          </a:xfrm>
          <a:prstGeom prst="line">
            <a:avLst/>
          </a:prstGeom>
          <a:noFill/>
          <a:ln w="17780">
            <a:solidFill>
              <a:srgbClr val="AEB9BF"/>
            </a:solidFill>
            <a:prstDash val="solid"/>
          </a:ln>
        </p:spPr>
      </p:sp>
      <p:sp>
        <p:nvSpPr>
          <p:cNvPr id="17" name="Shape 14"/>
          <p:cNvSpPr/>
          <p:nvPr/>
        </p:nvSpPr>
        <p:spPr>
          <a:xfrm>
            <a:off x="7621524" y="2436876"/>
            <a:ext cx="301752" cy="301752"/>
          </a:xfrm>
          <a:prstGeom prst="ellipse">
            <a:avLst/>
          </a:prstGeom>
          <a:solidFill>
            <a:srgbClr val="B85042"/>
          </a:solidFill>
          <a:ln w="12700">
            <a:solidFill>
              <a:srgbClr val="B85042"/>
            </a:solidFill>
            <a:prstDash val="solid"/>
          </a:ln>
        </p:spPr>
      </p:sp>
      <p:sp>
        <p:nvSpPr>
          <p:cNvPr id="18" name="Text 15"/>
          <p:cNvSpPr/>
          <p:nvPr/>
        </p:nvSpPr>
        <p:spPr>
          <a:xfrm>
            <a:off x="7388352" y="2441448"/>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WA</a:t>
            </a:r>
            <a:endParaRPr lang="en-US" sz="1050" dirty="0"/>
          </a:p>
        </p:txBody>
      </p:sp>
      <p:sp>
        <p:nvSpPr>
          <p:cNvPr id="19" name="Shape 16"/>
          <p:cNvSpPr/>
          <p:nvPr/>
        </p:nvSpPr>
        <p:spPr>
          <a:xfrm>
            <a:off x="8572500" y="1805940"/>
            <a:ext cx="301752" cy="301752"/>
          </a:xfrm>
          <a:prstGeom prst="ellipse">
            <a:avLst/>
          </a:prstGeom>
          <a:solidFill>
            <a:srgbClr val="50808E"/>
          </a:solidFill>
          <a:ln w="12700">
            <a:solidFill>
              <a:srgbClr val="50808E"/>
            </a:solidFill>
            <a:prstDash val="solid"/>
          </a:ln>
        </p:spPr>
      </p:sp>
      <p:sp>
        <p:nvSpPr>
          <p:cNvPr id="20" name="Text 17"/>
          <p:cNvSpPr/>
          <p:nvPr/>
        </p:nvSpPr>
        <p:spPr>
          <a:xfrm>
            <a:off x="8339328" y="1810512"/>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NT</a:t>
            </a:r>
            <a:endParaRPr lang="en-US" sz="1050" dirty="0"/>
          </a:p>
        </p:txBody>
      </p:sp>
      <p:sp>
        <p:nvSpPr>
          <p:cNvPr id="21" name="Shape 18"/>
          <p:cNvSpPr/>
          <p:nvPr/>
        </p:nvSpPr>
        <p:spPr>
          <a:xfrm>
            <a:off x="9816084" y="1915668"/>
            <a:ext cx="301752" cy="301752"/>
          </a:xfrm>
          <a:prstGeom prst="ellipse">
            <a:avLst/>
          </a:prstGeom>
          <a:solidFill>
            <a:srgbClr val="6E8B5A"/>
          </a:solidFill>
          <a:ln w="12700">
            <a:solidFill>
              <a:srgbClr val="6E8B5A"/>
            </a:solidFill>
            <a:prstDash val="solid"/>
          </a:ln>
        </p:spPr>
      </p:sp>
      <p:sp>
        <p:nvSpPr>
          <p:cNvPr id="22" name="Text 19"/>
          <p:cNvSpPr/>
          <p:nvPr/>
        </p:nvSpPr>
        <p:spPr>
          <a:xfrm>
            <a:off x="9582912" y="1920240"/>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a:t>
            </a:r>
            <a:endParaRPr lang="en-US" sz="1050" dirty="0"/>
          </a:p>
        </p:txBody>
      </p:sp>
      <p:sp>
        <p:nvSpPr>
          <p:cNvPr id="23" name="Shape 20"/>
          <p:cNvSpPr/>
          <p:nvPr/>
        </p:nvSpPr>
        <p:spPr>
          <a:xfrm>
            <a:off x="8718804" y="2958084"/>
            <a:ext cx="301752" cy="301752"/>
          </a:xfrm>
          <a:prstGeom prst="ellipse">
            <a:avLst/>
          </a:prstGeom>
          <a:solidFill>
            <a:srgbClr val="50808E"/>
          </a:solidFill>
          <a:ln w="12700">
            <a:solidFill>
              <a:srgbClr val="50808E"/>
            </a:solidFill>
            <a:prstDash val="solid"/>
          </a:ln>
        </p:spPr>
      </p:sp>
      <p:sp>
        <p:nvSpPr>
          <p:cNvPr id="24" name="Text 21"/>
          <p:cNvSpPr/>
          <p:nvPr/>
        </p:nvSpPr>
        <p:spPr>
          <a:xfrm>
            <a:off x="8485632" y="2962656"/>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a:t>
            </a:r>
            <a:endParaRPr lang="en-US" sz="1050" dirty="0"/>
          </a:p>
        </p:txBody>
      </p:sp>
      <p:sp>
        <p:nvSpPr>
          <p:cNvPr id="25" name="Shape 22"/>
          <p:cNvSpPr/>
          <p:nvPr/>
        </p:nvSpPr>
        <p:spPr>
          <a:xfrm>
            <a:off x="9962388" y="2958084"/>
            <a:ext cx="301752" cy="301752"/>
          </a:xfrm>
          <a:prstGeom prst="ellipse">
            <a:avLst/>
          </a:prstGeom>
          <a:solidFill>
            <a:srgbClr val="E4E9EB"/>
          </a:solidFill>
          <a:ln w="12700">
            <a:solidFill>
              <a:srgbClr val="9FAAB1"/>
            </a:solidFill>
            <a:prstDash val="solid"/>
          </a:ln>
        </p:spPr>
      </p:sp>
      <p:sp>
        <p:nvSpPr>
          <p:cNvPr id="26" name="Text 23"/>
          <p:cNvSpPr/>
          <p:nvPr/>
        </p:nvSpPr>
        <p:spPr>
          <a:xfrm>
            <a:off x="9729216" y="2962656"/>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NSW</a:t>
            </a:r>
            <a:endParaRPr lang="en-US" sz="1050" dirty="0"/>
          </a:p>
        </p:txBody>
      </p:sp>
      <p:sp>
        <p:nvSpPr>
          <p:cNvPr id="27" name="Shape 24"/>
          <p:cNvSpPr/>
          <p:nvPr/>
        </p:nvSpPr>
        <p:spPr>
          <a:xfrm>
            <a:off x="9450324" y="3726180"/>
            <a:ext cx="301752" cy="301752"/>
          </a:xfrm>
          <a:prstGeom prst="ellipse">
            <a:avLst/>
          </a:prstGeom>
          <a:solidFill>
            <a:srgbClr val="E4E9EB"/>
          </a:solidFill>
          <a:ln w="12700">
            <a:solidFill>
              <a:srgbClr val="9FAAB1"/>
            </a:solidFill>
            <a:prstDash val="solid"/>
          </a:ln>
        </p:spPr>
      </p:sp>
      <p:sp>
        <p:nvSpPr>
          <p:cNvPr id="28" name="Text 25"/>
          <p:cNvSpPr/>
          <p:nvPr/>
        </p:nvSpPr>
        <p:spPr>
          <a:xfrm>
            <a:off x="9217152" y="3730752"/>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V</a:t>
            </a:r>
            <a:endParaRPr lang="en-US" sz="1050" dirty="0"/>
          </a:p>
        </p:txBody>
      </p:sp>
      <p:sp>
        <p:nvSpPr>
          <p:cNvPr id="29" name="Shape 26"/>
          <p:cNvSpPr/>
          <p:nvPr/>
        </p:nvSpPr>
        <p:spPr>
          <a:xfrm>
            <a:off x="10401300" y="4055364"/>
            <a:ext cx="301752" cy="301752"/>
          </a:xfrm>
          <a:prstGeom prst="ellipse">
            <a:avLst/>
          </a:prstGeom>
          <a:solidFill>
            <a:srgbClr val="E4E9EB"/>
          </a:solidFill>
          <a:ln w="12700">
            <a:solidFill>
              <a:srgbClr val="9FAAB1"/>
            </a:solidFill>
            <a:prstDash val="solid"/>
          </a:ln>
        </p:spPr>
      </p:sp>
      <p:sp>
        <p:nvSpPr>
          <p:cNvPr id="30" name="Text 27"/>
          <p:cNvSpPr/>
          <p:nvPr/>
        </p:nvSpPr>
        <p:spPr>
          <a:xfrm>
            <a:off x="10168128" y="4059936"/>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T</a:t>
            </a:r>
            <a:endParaRPr lang="en-US" sz="1050" dirty="0"/>
          </a:p>
        </p:txBody>
      </p:sp>
      <p:sp>
        <p:nvSpPr>
          <p:cNvPr id="31" name="Text 28"/>
          <p:cNvSpPr/>
          <p:nvPr/>
        </p:nvSpPr>
        <p:spPr>
          <a:xfrm>
            <a:off x="7132320" y="4526280"/>
            <a:ext cx="4480560" cy="320040"/>
          </a:xfrm>
          <a:prstGeom prst="rect">
            <a:avLst/>
          </a:prstGeom>
          <a:noFill/>
          <a:ln/>
        </p:spPr>
        <p:txBody>
          <a:bodyPr wrap="square" lIns="0" tIns="0" rIns="0" bIns="0" rtlCol="0" anchor="ctr"/>
          <a:lstStyle/>
          <a:p>
            <a:pPr algn="ctr" indent="0" marL="0">
              <a:buNone/>
            </a:pPr>
            <a:r>
              <a:rPr lang="en-US" sz="1200" i="1" dirty="0">
                <a:solidFill>
                  <a:srgbClr val="B85042"/>
                </a:solidFill>
                <a:latin typeface="Calibri" pitchFamily="34" charset="0"/>
                <a:ea typeface="Calibri" pitchFamily="34" charset="-122"/>
                <a:cs typeface="Calibri" pitchFamily="34" charset="-120"/>
              </a:rPr>
              <a:t>both stuck on blue, never compared</a:t>
            </a:r>
            <a:endParaRPr lang="en-US" sz="1200" dirty="0"/>
          </a:p>
        </p:txBody>
      </p:sp>
      <p:sp>
        <p:nvSpPr>
          <p:cNvPr id="32" name="Shape 29"/>
          <p:cNvSpPr/>
          <p:nvPr/>
        </p:nvSpPr>
        <p:spPr>
          <a:xfrm>
            <a:off x="502920" y="3886200"/>
            <a:ext cx="6309360" cy="1965960"/>
          </a:xfrm>
          <a:prstGeom prst="roundRect">
            <a:avLst>
              <a:gd name="adj" fmla="val 2791"/>
            </a:avLst>
          </a:prstGeom>
          <a:solidFill>
            <a:srgbClr val="F7EEEA"/>
          </a:solidFill>
          <a:ln w="9525">
            <a:solidFill>
              <a:srgbClr val="F7EEEA"/>
            </a:solidFill>
            <a:prstDash val="solid"/>
          </a:ln>
        </p:spPr>
      </p:sp>
      <p:sp>
        <p:nvSpPr>
          <p:cNvPr id="33" name="Text 30"/>
          <p:cNvSpPr/>
          <p:nvPr/>
        </p:nvSpPr>
        <p:spPr>
          <a:xfrm>
            <a:off x="777240" y="4069080"/>
            <a:ext cx="5760720" cy="301752"/>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MAC: Maintaining Arc Consistency</a:t>
            </a:r>
            <a:endParaRPr lang="en-US" sz="1600" dirty="0"/>
          </a:p>
        </p:txBody>
      </p:sp>
      <p:sp>
        <p:nvSpPr>
          <p:cNvPr id="34" name="Text 31"/>
          <p:cNvSpPr/>
          <p:nvPr/>
        </p:nvSpPr>
        <p:spPr>
          <a:xfrm>
            <a:off x="777240" y="4462272"/>
            <a:ext cx="5760720" cy="123444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After Xi is assigned, call AC-3 - but do not seed the queue with every arc in the CSP. Start with just the arcs (Xj, Xi) for unassigned neighbours Xj, and let the cascade carry the consequences outward from there. Strictly stronger than forward checking, at a higher per-node cost.</a:t>
            </a:r>
            <a:endParaRPr lang="en-US" sz="1250" dirty="0"/>
          </a:p>
        </p:txBody>
      </p:sp>
      <p:sp>
        <p:nvSpPr>
          <p:cNvPr id="35" name="Shape 32"/>
          <p:cNvSpPr/>
          <p:nvPr/>
        </p:nvSpPr>
        <p:spPr>
          <a:xfrm>
            <a:off x="6949440" y="5074920"/>
            <a:ext cx="4709160" cy="777240"/>
          </a:xfrm>
          <a:prstGeom prst="roundRect">
            <a:avLst>
              <a:gd name="adj" fmla="val 7059"/>
            </a:avLst>
          </a:prstGeom>
          <a:solidFill>
            <a:srgbClr val="F1F3F4"/>
          </a:solidFill>
          <a:ln w="9525">
            <a:solidFill>
              <a:srgbClr val="F1F3F4"/>
            </a:solidFill>
            <a:prstDash val="solid"/>
          </a:ln>
        </p:spPr>
      </p:sp>
      <p:sp>
        <p:nvSpPr>
          <p:cNvPr id="36" name="Text 33"/>
          <p:cNvSpPr/>
          <p:nvPr/>
        </p:nvSpPr>
        <p:spPr>
          <a:xfrm>
            <a:off x="7178040" y="5093208"/>
            <a:ext cx="4251960" cy="740664"/>
          </a:xfrm>
          <a:prstGeom prst="rect">
            <a:avLst/>
          </a:prstGeom>
          <a:noFill/>
          <a:ln/>
        </p:spPr>
        <p:txBody>
          <a:bodyPr wrap="square" lIns="0" tIns="0" rIns="0" bIns="0" rtlCol="0" anchor="ctr"/>
          <a:lstStyle/>
          <a:p>
            <a:pPr indent="0" marL="0">
              <a:buNone/>
            </a:pPr>
            <a:r>
              <a:rPr lang="en-US" sz="1400" b="1" dirty="0">
                <a:solidFill>
                  <a:srgbClr val="22303A"/>
                </a:solidFill>
                <a:latin typeface="Calibri" pitchFamily="34" charset="0"/>
                <a:ea typeface="Calibri" pitchFamily="34" charset="-122"/>
                <a:cs typeface="Calibri" pitchFamily="34" charset="-120"/>
              </a:rPr>
              <a:t>MAC is forward checking plus the cascade.</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6.3.3</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Looking backward: chronological backtracking is naive</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31</a:t>
            </a:r>
            <a:endParaRPr lang="en-US" sz="900" dirty="0"/>
          </a:p>
        </p:txBody>
      </p:sp>
      <p:sp>
        <p:nvSpPr>
          <p:cNvPr id="7" name="Text 4"/>
          <p:cNvSpPr/>
          <p:nvPr/>
        </p:nvSpPr>
        <p:spPr>
          <a:xfrm>
            <a:off x="502920" y="1371600"/>
            <a:ext cx="6766560" cy="777240"/>
          </a:xfrm>
          <a:prstGeom prst="rect">
            <a:avLst/>
          </a:prstGeom>
          <a:noFill/>
          <a:ln/>
        </p:spPr>
        <p:txBody>
          <a:bodyPr wrap="square" lIns="0" tIns="0" rIns="0" bIns="0" rtlCol="0" anchor="t"/>
          <a:lstStyle/>
          <a:p>
            <a:pPr indent="0" marL="0">
              <a:lnSpc>
                <a:spcPct val="112000"/>
              </a:lnSpc>
              <a:buNone/>
            </a:pPr>
            <a:r>
              <a:rPr lang="en-US" sz="1400" dirty="0">
                <a:solidFill>
                  <a:srgbClr val="2B3138"/>
                </a:solidFill>
                <a:latin typeface="Calibri" pitchFamily="34" charset="0"/>
                <a:ea typeface="Calibri" pitchFamily="34" charset="-122"/>
                <a:cs typeface="Calibri" pitchFamily="34" charset="-120"/>
              </a:rPr>
              <a:t>Fixed variable ordering: Q, NSW, V, T, SA, WA, NT. Partial assignment so far:</a:t>
            </a:r>
            <a:endParaRPr lang="en-US" sz="1400" dirty="0"/>
          </a:p>
        </p:txBody>
      </p:sp>
      <p:sp>
        <p:nvSpPr>
          <p:cNvPr id="8" name="Shape 5"/>
          <p:cNvSpPr/>
          <p:nvPr/>
        </p:nvSpPr>
        <p:spPr>
          <a:xfrm>
            <a:off x="502920" y="2057400"/>
            <a:ext cx="6766560" cy="594360"/>
          </a:xfrm>
          <a:prstGeom prst="roundRect">
            <a:avLst>
              <a:gd name="adj" fmla="val 9231"/>
            </a:avLst>
          </a:prstGeom>
          <a:solidFill>
            <a:srgbClr val="EDF0F1"/>
          </a:solidFill>
          <a:ln w="9525">
            <a:solidFill>
              <a:srgbClr val="EDF0F1"/>
            </a:solidFill>
            <a:prstDash val="solid"/>
          </a:ln>
        </p:spPr>
      </p:sp>
      <p:sp>
        <p:nvSpPr>
          <p:cNvPr id="9" name="Text 6"/>
          <p:cNvSpPr/>
          <p:nvPr/>
        </p:nvSpPr>
        <p:spPr>
          <a:xfrm>
            <a:off x="704088" y="2203704"/>
            <a:ext cx="6364224" cy="301752"/>
          </a:xfrm>
          <a:prstGeom prst="rect">
            <a:avLst/>
          </a:prstGeom>
          <a:noFill/>
          <a:ln/>
        </p:spPr>
        <p:txBody>
          <a:bodyPr wrap="square" lIns="0" tIns="0" rIns="0" bIns="0" rtlCol="0" anchor="t"/>
          <a:lstStyle/>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Q = red, NSW = green, V = blue, T = red }</a:t>
            </a:r>
            <a:endParaRPr lang="en-US" sz="1150" dirty="0"/>
          </a:p>
        </p:txBody>
      </p:sp>
      <p:sp>
        <p:nvSpPr>
          <p:cNvPr id="10" name="Text 7"/>
          <p:cNvSpPr/>
          <p:nvPr/>
        </p:nvSpPr>
        <p:spPr>
          <a:xfrm>
            <a:off x="502920" y="2880360"/>
            <a:ext cx="6766560" cy="210312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We try SA next: every value violates a constraint</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Chronological backtracking backs up to the preceding variable - T - and tries a new colour for Tasmania</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Tasmania shares no constraint with South Australia. Recolouring it cannot possibly help</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The search will grind through every colour of Tasmania before it touches anything relevant</a:t>
            </a:r>
            <a:endParaRPr lang="en-US" sz="1400" dirty="0"/>
          </a:p>
        </p:txBody>
      </p:sp>
      <p:sp>
        <p:nvSpPr>
          <p:cNvPr id="11" name="Shape 8"/>
          <p:cNvSpPr/>
          <p:nvPr/>
        </p:nvSpPr>
        <p:spPr>
          <a:xfrm flipV="1">
            <a:off x="8302752" y="2082089"/>
            <a:ext cx="903427" cy="609905"/>
          </a:xfrm>
          <a:prstGeom prst="line">
            <a:avLst/>
          </a:prstGeom>
          <a:noFill/>
          <a:ln w="17780">
            <a:solidFill>
              <a:srgbClr val="AEB9BF"/>
            </a:solidFill>
            <a:prstDash val="solid"/>
          </a:ln>
        </p:spPr>
      </p:sp>
      <p:sp>
        <p:nvSpPr>
          <p:cNvPr id="12" name="Shape 9"/>
          <p:cNvSpPr/>
          <p:nvPr/>
        </p:nvSpPr>
        <p:spPr>
          <a:xfrm>
            <a:off x="8302752" y="2691994"/>
            <a:ext cx="1042416" cy="503834"/>
          </a:xfrm>
          <a:prstGeom prst="line">
            <a:avLst/>
          </a:prstGeom>
          <a:noFill/>
          <a:ln w="17780">
            <a:solidFill>
              <a:srgbClr val="AEB9BF"/>
            </a:solidFill>
            <a:prstDash val="solid"/>
          </a:ln>
        </p:spPr>
      </p:sp>
      <p:sp>
        <p:nvSpPr>
          <p:cNvPr id="13" name="Shape 10"/>
          <p:cNvSpPr/>
          <p:nvPr/>
        </p:nvSpPr>
        <p:spPr>
          <a:xfrm>
            <a:off x="9206179" y="2082089"/>
            <a:ext cx="138989" cy="1113739"/>
          </a:xfrm>
          <a:prstGeom prst="line">
            <a:avLst/>
          </a:prstGeom>
          <a:noFill/>
          <a:ln w="17780">
            <a:solidFill>
              <a:srgbClr val="AEB9BF"/>
            </a:solidFill>
            <a:prstDash val="solid"/>
          </a:ln>
        </p:spPr>
      </p:sp>
      <p:sp>
        <p:nvSpPr>
          <p:cNvPr id="14" name="Shape 11"/>
          <p:cNvSpPr/>
          <p:nvPr/>
        </p:nvSpPr>
        <p:spPr>
          <a:xfrm>
            <a:off x="9206179" y="2082089"/>
            <a:ext cx="1181405" cy="106070"/>
          </a:xfrm>
          <a:prstGeom prst="line">
            <a:avLst/>
          </a:prstGeom>
          <a:noFill/>
          <a:ln w="17780">
            <a:solidFill>
              <a:srgbClr val="AEB9BF"/>
            </a:solidFill>
            <a:prstDash val="solid"/>
          </a:ln>
        </p:spPr>
      </p:sp>
      <p:sp>
        <p:nvSpPr>
          <p:cNvPr id="15" name="Shape 12"/>
          <p:cNvSpPr/>
          <p:nvPr/>
        </p:nvSpPr>
        <p:spPr>
          <a:xfrm flipV="1">
            <a:off x="9345168" y="2188159"/>
            <a:ext cx="1042416" cy="1007669"/>
          </a:xfrm>
          <a:prstGeom prst="line">
            <a:avLst/>
          </a:prstGeom>
          <a:noFill/>
          <a:ln w="17780">
            <a:solidFill>
              <a:srgbClr val="AEB9BF"/>
            </a:solidFill>
            <a:prstDash val="solid"/>
          </a:ln>
        </p:spPr>
      </p:sp>
      <p:sp>
        <p:nvSpPr>
          <p:cNvPr id="16" name="Shape 13"/>
          <p:cNvSpPr/>
          <p:nvPr/>
        </p:nvSpPr>
        <p:spPr>
          <a:xfrm>
            <a:off x="9345168" y="3195828"/>
            <a:ext cx="1181405" cy="0"/>
          </a:xfrm>
          <a:prstGeom prst="line">
            <a:avLst/>
          </a:prstGeom>
          <a:noFill/>
          <a:ln w="17780">
            <a:solidFill>
              <a:srgbClr val="AEB9BF"/>
            </a:solidFill>
            <a:prstDash val="solid"/>
          </a:ln>
        </p:spPr>
      </p:sp>
      <p:sp>
        <p:nvSpPr>
          <p:cNvPr id="17" name="Shape 14"/>
          <p:cNvSpPr/>
          <p:nvPr/>
        </p:nvSpPr>
        <p:spPr>
          <a:xfrm>
            <a:off x="9345168" y="3195828"/>
            <a:ext cx="694944" cy="742493"/>
          </a:xfrm>
          <a:prstGeom prst="line">
            <a:avLst/>
          </a:prstGeom>
          <a:noFill/>
          <a:ln w="17780">
            <a:solidFill>
              <a:srgbClr val="AEB9BF"/>
            </a:solidFill>
            <a:prstDash val="solid"/>
          </a:ln>
        </p:spPr>
      </p:sp>
      <p:sp>
        <p:nvSpPr>
          <p:cNvPr id="18" name="Shape 15"/>
          <p:cNvSpPr/>
          <p:nvPr/>
        </p:nvSpPr>
        <p:spPr>
          <a:xfrm>
            <a:off x="10387584" y="2188159"/>
            <a:ext cx="138989" cy="1007669"/>
          </a:xfrm>
          <a:prstGeom prst="line">
            <a:avLst/>
          </a:prstGeom>
          <a:noFill/>
          <a:ln w="17780">
            <a:solidFill>
              <a:srgbClr val="AEB9BF"/>
            </a:solidFill>
            <a:prstDash val="solid"/>
          </a:ln>
        </p:spPr>
      </p:sp>
      <p:sp>
        <p:nvSpPr>
          <p:cNvPr id="19" name="Shape 16"/>
          <p:cNvSpPr/>
          <p:nvPr/>
        </p:nvSpPr>
        <p:spPr>
          <a:xfrm flipH="1">
            <a:off x="10040112" y="3195828"/>
            <a:ext cx="486461" cy="742493"/>
          </a:xfrm>
          <a:prstGeom prst="line">
            <a:avLst/>
          </a:prstGeom>
          <a:noFill/>
          <a:ln w="17780">
            <a:solidFill>
              <a:srgbClr val="AEB9BF"/>
            </a:solidFill>
            <a:prstDash val="solid"/>
          </a:ln>
        </p:spPr>
      </p:sp>
      <p:sp>
        <p:nvSpPr>
          <p:cNvPr id="20" name="Shape 17"/>
          <p:cNvSpPr/>
          <p:nvPr/>
        </p:nvSpPr>
        <p:spPr>
          <a:xfrm>
            <a:off x="8151876" y="2541118"/>
            <a:ext cx="301752" cy="301752"/>
          </a:xfrm>
          <a:prstGeom prst="ellipse">
            <a:avLst/>
          </a:prstGeom>
          <a:solidFill>
            <a:srgbClr val="E4E9EB"/>
          </a:solidFill>
          <a:ln w="12700">
            <a:solidFill>
              <a:srgbClr val="9FAAB1"/>
            </a:solidFill>
            <a:prstDash val="solid"/>
          </a:ln>
        </p:spPr>
      </p:sp>
      <p:sp>
        <p:nvSpPr>
          <p:cNvPr id="21" name="Text 18"/>
          <p:cNvSpPr/>
          <p:nvPr/>
        </p:nvSpPr>
        <p:spPr>
          <a:xfrm>
            <a:off x="7918704" y="2545690"/>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WA</a:t>
            </a:r>
            <a:endParaRPr lang="en-US" sz="1050" dirty="0"/>
          </a:p>
        </p:txBody>
      </p:sp>
      <p:sp>
        <p:nvSpPr>
          <p:cNvPr id="22" name="Shape 19"/>
          <p:cNvSpPr/>
          <p:nvPr/>
        </p:nvSpPr>
        <p:spPr>
          <a:xfrm>
            <a:off x="9055303" y="1931213"/>
            <a:ext cx="301752" cy="301752"/>
          </a:xfrm>
          <a:prstGeom prst="ellipse">
            <a:avLst/>
          </a:prstGeom>
          <a:solidFill>
            <a:srgbClr val="E4E9EB"/>
          </a:solidFill>
          <a:ln w="12700">
            <a:solidFill>
              <a:srgbClr val="9FAAB1"/>
            </a:solidFill>
            <a:prstDash val="solid"/>
          </a:ln>
        </p:spPr>
      </p:sp>
      <p:sp>
        <p:nvSpPr>
          <p:cNvPr id="23" name="Text 20"/>
          <p:cNvSpPr/>
          <p:nvPr/>
        </p:nvSpPr>
        <p:spPr>
          <a:xfrm>
            <a:off x="8822131" y="1935785"/>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NT</a:t>
            </a:r>
            <a:endParaRPr lang="en-US" sz="1050" dirty="0"/>
          </a:p>
        </p:txBody>
      </p:sp>
      <p:sp>
        <p:nvSpPr>
          <p:cNvPr id="24" name="Shape 21"/>
          <p:cNvSpPr/>
          <p:nvPr/>
        </p:nvSpPr>
        <p:spPr>
          <a:xfrm>
            <a:off x="10236708" y="2037283"/>
            <a:ext cx="301752" cy="301752"/>
          </a:xfrm>
          <a:prstGeom prst="ellipse">
            <a:avLst/>
          </a:prstGeom>
          <a:solidFill>
            <a:srgbClr val="B85042"/>
          </a:solidFill>
          <a:ln w="12700">
            <a:solidFill>
              <a:srgbClr val="B85042"/>
            </a:solidFill>
            <a:prstDash val="solid"/>
          </a:ln>
        </p:spPr>
      </p:sp>
      <p:sp>
        <p:nvSpPr>
          <p:cNvPr id="25" name="Text 22"/>
          <p:cNvSpPr/>
          <p:nvPr/>
        </p:nvSpPr>
        <p:spPr>
          <a:xfrm>
            <a:off x="10003536" y="2041855"/>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a:t>
            </a:r>
            <a:endParaRPr lang="en-US" sz="1050" dirty="0"/>
          </a:p>
        </p:txBody>
      </p:sp>
      <p:sp>
        <p:nvSpPr>
          <p:cNvPr id="26" name="Shape 23"/>
          <p:cNvSpPr/>
          <p:nvPr/>
        </p:nvSpPr>
        <p:spPr>
          <a:xfrm>
            <a:off x="9194292" y="3044952"/>
            <a:ext cx="301752" cy="301752"/>
          </a:xfrm>
          <a:prstGeom prst="ellipse">
            <a:avLst/>
          </a:prstGeom>
          <a:solidFill>
            <a:srgbClr val="B0393B"/>
          </a:solidFill>
          <a:ln w="12700">
            <a:solidFill>
              <a:srgbClr val="B0393B"/>
            </a:solidFill>
            <a:prstDash val="solid"/>
          </a:ln>
        </p:spPr>
      </p:sp>
      <p:sp>
        <p:nvSpPr>
          <p:cNvPr id="27" name="Text 24"/>
          <p:cNvSpPr/>
          <p:nvPr/>
        </p:nvSpPr>
        <p:spPr>
          <a:xfrm>
            <a:off x="8961120" y="3049524"/>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a:t>
            </a:r>
            <a:endParaRPr lang="en-US" sz="1050" dirty="0"/>
          </a:p>
        </p:txBody>
      </p:sp>
      <p:sp>
        <p:nvSpPr>
          <p:cNvPr id="28" name="Shape 25"/>
          <p:cNvSpPr/>
          <p:nvPr/>
        </p:nvSpPr>
        <p:spPr>
          <a:xfrm>
            <a:off x="10375697" y="3044952"/>
            <a:ext cx="301752" cy="301752"/>
          </a:xfrm>
          <a:prstGeom prst="ellipse">
            <a:avLst/>
          </a:prstGeom>
          <a:solidFill>
            <a:srgbClr val="6E8B5A"/>
          </a:solidFill>
          <a:ln w="12700">
            <a:solidFill>
              <a:srgbClr val="6E8B5A"/>
            </a:solidFill>
            <a:prstDash val="solid"/>
          </a:ln>
        </p:spPr>
      </p:sp>
      <p:sp>
        <p:nvSpPr>
          <p:cNvPr id="29" name="Text 26"/>
          <p:cNvSpPr/>
          <p:nvPr/>
        </p:nvSpPr>
        <p:spPr>
          <a:xfrm>
            <a:off x="10142525" y="3049524"/>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NSW</a:t>
            </a:r>
            <a:endParaRPr lang="en-US" sz="1050" dirty="0"/>
          </a:p>
        </p:txBody>
      </p:sp>
      <p:sp>
        <p:nvSpPr>
          <p:cNvPr id="30" name="Shape 27"/>
          <p:cNvSpPr/>
          <p:nvPr/>
        </p:nvSpPr>
        <p:spPr>
          <a:xfrm>
            <a:off x="9889236" y="3787445"/>
            <a:ext cx="301752" cy="301752"/>
          </a:xfrm>
          <a:prstGeom prst="ellipse">
            <a:avLst/>
          </a:prstGeom>
          <a:solidFill>
            <a:srgbClr val="50808E"/>
          </a:solidFill>
          <a:ln w="12700">
            <a:solidFill>
              <a:srgbClr val="50808E"/>
            </a:solidFill>
            <a:prstDash val="solid"/>
          </a:ln>
        </p:spPr>
      </p:sp>
      <p:sp>
        <p:nvSpPr>
          <p:cNvPr id="31" name="Text 28"/>
          <p:cNvSpPr/>
          <p:nvPr/>
        </p:nvSpPr>
        <p:spPr>
          <a:xfrm>
            <a:off x="9656064" y="3792017"/>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a:t>
            </a:r>
            <a:endParaRPr lang="en-US" sz="1050" dirty="0"/>
          </a:p>
        </p:txBody>
      </p:sp>
      <p:sp>
        <p:nvSpPr>
          <p:cNvPr id="32" name="Shape 29"/>
          <p:cNvSpPr/>
          <p:nvPr/>
        </p:nvSpPr>
        <p:spPr>
          <a:xfrm>
            <a:off x="10792663" y="4105656"/>
            <a:ext cx="301752" cy="301752"/>
          </a:xfrm>
          <a:prstGeom prst="ellipse">
            <a:avLst/>
          </a:prstGeom>
          <a:solidFill>
            <a:srgbClr val="B85042"/>
          </a:solidFill>
          <a:ln w="12700">
            <a:solidFill>
              <a:srgbClr val="B85042"/>
            </a:solidFill>
            <a:prstDash val="solid"/>
          </a:ln>
        </p:spPr>
      </p:sp>
      <p:sp>
        <p:nvSpPr>
          <p:cNvPr id="33" name="Text 30"/>
          <p:cNvSpPr/>
          <p:nvPr/>
        </p:nvSpPr>
        <p:spPr>
          <a:xfrm>
            <a:off x="10559491" y="4110228"/>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t>
            </a:r>
            <a:endParaRPr lang="en-US" sz="1050" dirty="0"/>
          </a:p>
        </p:txBody>
      </p:sp>
      <p:sp>
        <p:nvSpPr>
          <p:cNvPr id="34" name="Text 31"/>
          <p:cNvSpPr/>
          <p:nvPr/>
        </p:nvSpPr>
        <p:spPr>
          <a:xfrm>
            <a:off x="7680960" y="4572000"/>
            <a:ext cx="3977640" cy="320040"/>
          </a:xfrm>
          <a:prstGeom prst="rect">
            <a:avLst/>
          </a:prstGeom>
          <a:noFill/>
          <a:ln/>
        </p:spPr>
        <p:txBody>
          <a:bodyPr wrap="square" lIns="0" tIns="0" rIns="0" bIns="0" rtlCol="0" anchor="ctr"/>
          <a:lstStyle/>
          <a:p>
            <a:pPr algn="ctr" indent="0" marL="0">
              <a:buNone/>
            </a:pPr>
            <a:r>
              <a:rPr lang="en-US" sz="1200" i="1" dirty="0">
                <a:solidFill>
                  <a:srgbClr val="6E7A83"/>
                </a:solidFill>
                <a:latin typeface="Calibri" pitchFamily="34" charset="0"/>
                <a:ea typeface="Calibri" pitchFamily="34" charset="-122"/>
                <a:cs typeface="Calibri" pitchFamily="34" charset="-120"/>
              </a:rPr>
              <a:t>T is an island - no edges at all</a:t>
            </a:r>
            <a:endParaRPr lang="en-US" sz="1200" dirty="0"/>
          </a:p>
        </p:txBody>
      </p:sp>
      <p:sp>
        <p:nvSpPr>
          <p:cNvPr id="35" name="Shape 32"/>
          <p:cNvSpPr/>
          <p:nvPr/>
        </p:nvSpPr>
        <p:spPr>
          <a:xfrm>
            <a:off x="502920" y="5166360"/>
            <a:ext cx="6766560" cy="731520"/>
          </a:xfrm>
          <a:prstGeom prst="roundRect">
            <a:avLst>
              <a:gd name="adj" fmla="val 7500"/>
            </a:avLst>
          </a:prstGeom>
          <a:solidFill>
            <a:srgbClr val="F7EEEA"/>
          </a:solidFill>
          <a:ln w="9525">
            <a:solidFill>
              <a:srgbClr val="F7EEEA"/>
            </a:solidFill>
            <a:prstDash val="solid"/>
          </a:ln>
        </p:spPr>
      </p:sp>
      <p:sp>
        <p:nvSpPr>
          <p:cNvPr id="36" name="Text 33"/>
          <p:cNvSpPr/>
          <p:nvPr/>
        </p:nvSpPr>
        <p:spPr>
          <a:xfrm>
            <a:off x="731520" y="5184648"/>
            <a:ext cx="6309360" cy="694944"/>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Back up to a variable that could actually fix the problem.</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6.3.3</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Backjumping and the conflict set</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32</a:t>
            </a:r>
            <a:endParaRPr lang="en-US" sz="900" dirty="0"/>
          </a:p>
        </p:txBody>
      </p:sp>
      <p:sp>
        <p:nvSpPr>
          <p:cNvPr id="7" name="Shape 4"/>
          <p:cNvSpPr/>
          <p:nvPr/>
        </p:nvSpPr>
        <p:spPr>
          <a:xfrm>
            <a:off x="502920" y="1371600"/>
            <a:ext cx="11155680" cy="822960"/>
          </a:xfrm>
          <a:prstGeom prst="roundRect">
            <a:avLst>
              <a:gd name="adj" fmla="val 6667"/>
            </a:avLst>
          </a:prstGeom>
          <a:solidFill>
            <a:srgbClr val="F1F3F4"/>
          </a:solidFill>
          <a:ln w="9525">
            <a:solidFill>
              <a:srgbClr val="F1F3F4"/>
            </a:solidFill>
            <a:prstDash val="solid"/>
          </a:ln>
        </p:spPr>
      </p:sp>
      <p:sp>
        <p:nvSpPr>
          <p:cNvPr id="8" name="Text 5"/>
          <p:cNvSpPr/>
          <p:nvPr/>
        </p:nvSpPr>
        <p:spPr>
          <a:xfrm>
            <a:off x="822960" y="1554480"/>
            <a:ext cx="10515600" cy="548640"/>
          </a:xfrm>
          <a:prstGeom prst="rect">
            <a:avLst/>
          </a:prstGeom>
          <a:noFill/>
          <a:ln/>
        </p:spPr>
        <p:txBody>
          <a:bodyPr wrap="square" lIns="0" tIns="0" rIns="0" bIns="0" rtlCol="0" anchor="t"/>
          <a:lstStyle/>
          <a:p>
            <a:pPr indent="0" marL="0">
              <a:lnSpc>
                <a:spcPct val="112000"/>
              </a:lnSpc>
              <a:buNone/>
            </a:pPr>
            <a:r>
              <a:rPr lang="en-US" sz="1450" b="1" dirty="0">
                <a:solidFill>
                  <a:srgbClr val="22303A"/>
                </a:solidFill>
                <a:latin typeface="Calibri" pitchFamily="34" charset="0"/>
                <a:ea typeface="Calibri" pitchFamily="34" charset="-122"/>
                <a:cs typeface="Calibri" pitchFamily="34" charset="-120"/>
              </a:rPr>
              <a:t>The conflict set for a variable X is the set of previously assigned variables that are connected to X by constraints and that ruled out some value of X.</a:t>
            </a:r>
            <a:endParaRPr lang="en-US" sz="1450" dirty="0"/>
          </a:p>
        </p:txBody>
      </p:sp>
      <p:sp>
        <p:nvSpPr>
          <p:cNvPr id="9" name="Text 6"/>
          <p:cNvSpPr/>
          <p:nvPr/>
        </p:nvSpPr>
        <p:spPr>
          <a:xfrm>
            <a:off x="502920" y="2423160"/>
            <a:ext cx="6766560" cy="201168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For SA in our example the conflict set is { Q = red, NSW = green, V = blue }</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Backjumping backs up to the most recent assignment in the conflict set - jumping straight over Tasmania and retrying V</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Forward checking supplies the conflict set for free: whenever an assignment X = x deletes a value from Y's domain, add X = x to Y's conflict set</a:t>
            </a:r>
            <a:endParaRPr lang="en-US" sz="1350" dirty="0"/>
          </a:p>
        </p:txBody>
      </p:sp>
      <p:sp>
        <p:nvSpPr>
          <p:cNvPr id="10" name="Shape 7"/>
          <p:cNvSpPr/>
          <p:nvPr/>
        </p:nvSpPr>
        <p:spPr>
          <a:xfrm>
            <a:off x="7498080" y="2423160"/>
            <a:ext cx="4160520" cy="2011680"/>
          </a:xfrm>
          <a:prstGeom prst="roundRect">
            <a:avLst>
              <a:gd name="adj" fmla="val 2727"/>
            </a:avLst>
          </a:prstGeom>
          <a:solidFill>
            <a:srgbClr val="F7EEEA"/>
          </a:solidFill>
          <a:ln w="9525">
            <a:solidFill>
              <a:srgbClr val="F7EEEA"/>
            </a:solidFill>
            <a:prstDash val="solid"/>
          </a:ln>
        </p:spPr>
      </p:sp>
      <p:sp>
        <p:nvSpPr>
          <p:cNvPr id="11" name="Text 8"/>
          <p:cNvSpPr/>
          <p:nvPr/>
        </p:nvSpPr>
        <p:spPr>
          <a:xfrm>
            <a:off x="7772400" y="2606040"/>
            <a:ext cx="3657600" cy="301752"/>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An honest caveat</a:t>
            </a:r>
            <a:endParaRPr lang="en-US" sz="1500" dirty="0"/>
          </a:p>
        </p:txBody>
      </p:sp>
      <p:sp>
        <p:nvSpPr>
          <p:cNvPr id="12" name="Text 9"/>
          <p:cNvSpPr/>
          <p:nvPr/>
        </p:nvSpPr>
        <p:spPr>
          <a:xfrm>
            <a:off x="7772400" y="2999232"/>
            <a:ext cx="3657600" cy="132588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Simple backjumping fires only when every value in a domain conflicts with the current assignment - but forward checking detects exactly that event and backtracks first. So with FC running, plain backjumping is redundant.</a:t>
            </a:r>
            <a:endParaRPr lang="en-US" sz="1250" dirty="0"/>
          </a:p>
        </p:txBody>
      </p:sp>
      <p:sp>
        <p:nvSpPr>
          <p:cNvPr id="13" name="Text 10"/>
          <p:cNvSpPr/>
          <p:nvPr/>
        </p:nvSpPr>
        <p:spPr>
          <a:xfrm>
            <a:off x="502920" y="4617720"/>
            <a:ext cx="11155680" cy="301752"/>
          </a:xfrm>
          <a:prstGeom prst="rect">
            <a:avLst/>
          </a:prstGeom>
          <a:noFill/>
          <a:ln/>
        </p:spPr>
        <p:txBody>
          <a:bodyPr wrap="square" lIns="0" tIns="0" rIns="0" bIns="0" rtlCol="0" anchor="ctr"/>
          <a:lstStyle/>
          <a:p>
            <a:pPr indent="0" marL="0">
              <a:buNone/>
            </a:pPr>
            <a:r>
              <a:rPr lang="en-US" sz="1600" b="1" dirty="0">
                <a:solidFill>
                  <a:srgbClr val="6E8B5A"/>
                </a:solidFill>
                <a:latin typeface="Calibri" pitchFamily="34" charset="0"/>
                <a:ea typeface="Calibri" pitchFamily="34" charset="-122"/>
                <a:cs typeface="Calibri" pitchFamily="34" charset="-120"/>
              </a:rPr>
              <a:t>The idea survives the caveat</a:t>
            </a:r>
            <a:endParaRPr lang="en-US" sz="1600" dirty="0"/>
          </a:p>
        </p:txBody>
      </p:sp>
      <p:sp>
        <p:nvSpPr>
          <p:cNvPr id="14" name="Text 11"/>
          <p:cNvSpPr/>
          <p:nvPr/>
        </p:nvSpPr>
        <p:spPr>
          <a:xfrm>
            <a:off x="502920" y="5029200"/>
            <a:ext cx="11155680" cy="868680"/>
          </a:xfrm>
          <a:prstGeom prst="rect">
            <a:avLst/>
          </a:prstGeom>
          <a:noFill/>
          <a:ln/>
        </p:spPr>
        <p:txBody>
          <a:bodyPr wrap="square" lIns="0" tIns="0" rIns="0" bIns="0" rtlCol="0" anchor="t"/>
          <a:lstStyle/>
          <a:p>
            <a:pPr indent="0" marL="0">
              <a:lnSpc>
                <a:spcPct val="112000"/>
              </a:lnSpc>
              <a:buNone/>
            </a:pPr>
            <a:r>
              <a:rPr lang="en-US" sz="1400" dirty="0">
                <a:solidFill>
                  <a:srgbClr val="2B3138"/>
                </a:solidFill>
                <a:latin typeface="Calibri" pitchFamily="34" charset="0"/>
                <a:ea typeface="Calibri" pitchFamily="34" charset="-122"/>
                <a:cs typeface="Calibri" pitchFamily="34" charset="-120"/>
              </a:rPr>
              <a:t>Backtracking based on the reasons for failure is still exactly right. Backjumping just uses too narrow a notion of failure - it notices only when a domain empties. Many failures are subtler than that, and that is what conflict-directed backjumping fixes.</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6.3.3</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Conflict-directed backjumping</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33</a:t>
            </a:r>
            <a:endParaRPr lang="en-US" sz="900" dirty="0"/>
          </a:p>
        </p:txBody>
      </p:sp>
      <p:sp>
        <p:nvSpPr>
          <p:cNvPr id="7" name="Text 4"/>
          <p:cNvSpPr/>
          <p:nvPr/>
        </p:nvSpPr>
        <p:spPr>
          <a:xfrm>
            <a:off x="502920" y="1325880"/>
            <a:ext cx="6949440" cy="777240"/>
          </a:xfrm>
          <a:prstGeom prst="rect">
            <a:avLst/>
          </a:prstGeom>
          <a:noFill/>
          <a:ln/>
        </p:spPr>
        <p:txBody>
          <a:bodyPr wrap="square" lIns="0" tIns="0" rIns="0" bIns="0" rtlCol="0" anchor="t"/>
          <a:lstStyle/>
          <a:p>
            <a:pPr indent="0" marL="0">
              <a:lnSpc>
                <a:spcPct val="112000"/>
              </a:lnSpc>
              <a:buNone/>
            </a:pPr>
            <a:r>
              <a:rPr lang="en-US" sz="1400" b="1" dirty="0">
                <a:solidFill>
                  <a:srgbClr val="22303A"/>
                </a:solidFill>
                <a:latin typeface="Calibri" pitchFamily="34" charset="0"/>
                <a:ea typeface="Calibri" pitchFamily="34" charset="-122"/>
                <a:cs typeface="Calibri" pitchFamily="34" charset="-120"/>
              </a:rPr>
              <a:t>A deeper notion: conf(Xj) is the set of preceding variables that caused Xj, together with any subsequent variables, to have no consistent solution.</a:t>
            </a:r>
            <a:endParaRPr lang="en-US" sz="1400" dirty="0"/>
          </a:p>
        </p:txBody>
      </p:sp>
      <p:sp>
        <p:nvSpPr>
          <p:cNvPr id="8" name="Shape 5"/>
          <p:cNvSpPr/>
          <p:nvPr/>
        </p:nvSpPr>
        <p:spPr>
          <a:xfrm>
            <a:off x="502920" y="2194560"/>
            <a:ext cx="6949440" cy="786384"/>
          </a:xfrm>
          <a:prstGeom prst="roundRect">
            <a:avLst>
              <a:gd name="adj" fmla="val 6977"/>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9" name="Shape 6"/>
          <p:cNvSpPr/>
          <p:nvPr/>
        </p:nvSpPr>
        <p:spPr>
          <a:xfrm>
            <a:off x="749808" y="2395728"/>
            <a:ext cx="384048" cy="384048"/>
          </a:xfrm>
          <a:prstGeom prst="ellipse">
            <a:avLst/>
          </a:prstGeom>
          <a:solidFill>
            <a:srgbClr val="50808E"/>
          </a:solidFill>
          <a:ln/>
        </p:spPr>
      </p:sp>
      <p:sp>
        <p:nvSpPr>
          <p:cNvPr id="10" name="Text 7"/>
          <p:cNvSpPr/>
          <p:nvPr/>
        </p:nvSpPr>
        <p:spPr>
          <a:xfrm>
            <a:off x="749808" y="23957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8"/>
          <p:cNvSpPr/>
          <p:nvPr/>
        </p:nvSpPr>
        <p:spPr>
          <a:xfrm>
            <a:off x="1325880" y="2286000"/>
            <a:ext cx="2743200" cy="301752"/>
          </a:xfrm>
          <a:prstGeom prst="rect">
            <a:avLst/>
          </a:prstGeom>
          <a:noFill/>
          <a:ln/>
        </p:spPr>
        <p:txBody>
          <a:bodyPr wrap="square" lIns="0" tIns="0" rIns="0" bIns="0" rtlCol="0" anchor="ctr"/>
          <a:lstStyle/>
          <a:p>
            <a:pPr indent="0" marL="0">
              <a:buNone/>
            </a:pPr>
            <a:r>
              <a:rPr lang="en-US" sz="1350" b="1" dirty="0">
                <a:solidFill>
                  <a:srgbClr val="22303A"/>
                </a:solidFill>
                <a:latin typeface="Calibri" pitchFamily="34" charset="0"/>
                <a:ea typeface="Calibri" pitchFamily="34" charset="-122"/>
                <a:cs typeface="Calibri" pitchFamily="34" charset="-120"/>
              </a:rPr>
              <a:t>SA fails</a:t>
            </a:r>
            <a:endParaRPr lang="en-US" sz="1350" dirty="0"/>
          </a:p>
        </p:txBody>
      </p:sp>
      <p:sp>
        <p:nvSpPr>
          <p:cNvPr id="12" name="Text 9"/>
          <p:cNvSpPr/>
          <p:nvPr/>
        </p:nvSpPr>
        <p:spPr>
          <a:xfrm>
            <a:off x="1325880" y="2596896"/>
            <a:ext cx="5852160" cy="329184"/>
          </a:xfrm>
          <a:prstGeom prst="rect">
            <a:avLst/>
          </a:prstGeom>
          <a:noFill/>
          <a:ln/>
        </p:spPr>
        <p:txBody>
          <a:bodyPr wrap="square" lIns="0" tIns="0" rIns="0" bIns="0" rtlCol="0" anchor="t"/>
          <a:lstStyle/>
          <a:p>
            <a:pPr indent="0" marL="0">
              <a:lnSpc>
                <a:spcPct val="112000"/>
              </a:lnSpc>
              <a:buNone/>
            </a:pPr>
            <a:r>
              <a:rPr lang="en-US" sz="1150" dirty="0">
                <a:solidFill>
                  <a:srgbClr val="6E7A83"/>
                </a:solidFill>
                <a:latin typeface="Calibri" pitchFamily="34" charset="0"/>
                <a:ea typeface="Calibri" pitchFamily="34" charset="-122"/>
                <a:cs typeface="Calibri" pitchFamily="34" charset="-120"/>
              </a:rPr>
              <a:t>direct conflict set { WA, NT, Q }. Backjump to Q.</a:t>
            </a:r>
            <a:endParaRPr lang="en-US" sz="1150" dirty="0"/>
          </a:p>
        </p:txBody>
      </p:sp>
      <p:sp>
        <p:nvSpPr>
          <p:cNvPr id="13" name="Shape 10"/>
          <p:cNvSpPr/>
          <p:nvPr/>
        </p:nvSpPr>
        <p:spPr>
          <a:xfrm>
            <a:off x="502920" y="3108960"/>
            <a:ext cx="6949440" cy="786384"/>
          </a:xfrm>
          <a:prstGeom prst="roundRect">
            <a:avLst>
              <a:gd name="adj" fmla="val 6977"/>
            </a:avLst>
          </a:prstGeom>
          <a:solidFill>
            <a:srgbClr val="FFFFFF"/>
          </a:solidFill>
          <a:ln w="9525">
            <a:solidFill>
              <a:srgbClr val="D5DBDE"/>
            </a:solidFill>
            <a:prstDash val="solid"/>
          </a:ln>
        </p:spPr>
      </p:sp>
      <p:sp>
        <p:nvSpPr>
          <p:cNvPr id="14" name="Shape 11"/>
          <p:cNvSpPr/>
          <p:nvPr/>
        </p:nvSpPr>
        <p:spPr>
          <a:xfrm>
            <a:off x="749808" y="3310128"/>
            <a:ext cx="384048" cy="384048"/>
          </a:xfrm>
          <a:prstGeom prst="ellipse">
            <a:avLst/>
          </a:prstGeom>
          <a:solidFill>
            <a:srgbClr val="50808E"/>
          </a:solidFill>
          <a:ln/>
        </p:spPr>
      </p:sp>
      <p:sp>
        <p:nvSpPr>
          <p:cNvPr id="15" name="Text 12"/>
          <p:cNvSpPr/>
          <p:nvPr/>
        </p:nvSpPr>
        <p:spPr>
          <a:xfrm>
            <a:off x="749808" y="33101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325880" y="3200400"/>
            <a:ext cx="2743200" cy="301752"/>
          </a:xfrm>
          <a:prstGeom prst="rect">
            <a:avLst/>
          </a:prstGeom>
          <a:noFill/>
          <a:ln/>
        </p:spPr>
        <p:txBody>
          <a:bodyPr wrap="square" lIns="0" tIns="0" rIns="0" bIns="0" rtlCol="0" anchor="ctr"/>
          <a:lstStyle/>
          <a:p>
            <a:pPr indent="0" marL="0">
              <a:buNone/>
            </a:pPr>
            <a:r>
              <a:rPr lang="en-US" sz="1350" b="1" dirty="0">
                <a:solidFill>
                  <a:srgbClr val="22303A"/>
                </a:solidFill>
                <a:latin typeface="Calibri" pitchFamily="34" charset="0"/>
                <a:ea typeface="Calibri" pitchFamily="34" charset="-122"/>
                <a:cs typeface="Calibri" pitchFamily="34" charset="-120"/>
              </a:rPr>
              <a:t>Q absorbs SA's set</a:t>
            </a:r>
            <a:endParaRPr lang="en-US" sz="1350" dirty="0"/>
          </a:p>
        </p:txBody>
      </p:sp>
      <p:sp>
        <p:nvSpPr>
          <p:cNvPr id="17" name="Text 14"/>
          <p:cNvSpPr/>
          <p:nvPr/>
        </p:nvSpPr>
        <p:spPr>
          <a:xfrm>
            <a:off x="1325880" y="3511296"/>
            <a:ext cx="5852160" cy="329184"/>
          </a:xfrm>
          <a:prstGeom prst="rect">
            <a:avLst/>
          </a:prstGeom>
          <a:noFill/>
          <a:ln/>
        </p:spPr>
        <p:txBody>
          <a:bodyPr wrap="square" lIns="0" tIns="0" rIns="0" bIns="0" rtlCol="0" anchor="t"/>
          <a:lstStyle/>
          <a:p>
            <a:pPr indent="0" marL="0">
              <a:lnSpc>
                <a:spcPct val="112000"/>
              </a:lnSpc>
              <a:buNone/>
            </a:pPr>
            <a:r>
              <a:rPr lang="en-US" sz="1150" dirty="0">
                <a:solidFill>
                  <a:srgbClr val="6E7A83"/>
                </a:solidFill>
                <a:latin typeface="Calibri" pitchFamily="34" charset="0"/>
                <a:ea typeface="Calibri" pitchFamily="34" charset="-122"/>
                <a:cs typeface="Calibri" pitchFamily="34" charset="-120"/>
              </a:rPr>
              <a:t>conf(Q) = { NT, NSW } union { WA, NT, Q } minus { Q } = { WA, NT, NSW }</a:t>
            </a:r>
            <a:endParaRPr lang="en-US" sz="1150" dirty="0"/>
          </a:p>
        </p:txBody>
      </p:sp>
      <p:sp>
        <p:nvSpPr>
          <p:cNvPr id="18" name="Shape 15"/>
          <p:cNvSpPr/>
          <p:nvPr/>
        </p:nvSpPr>
        <p:spPr>
          <a:xfrm>
            <a:off x="502920" y="4023360"/>
            <a:ext cx="6949440" cy="786384"/>
          </a:xfrm>
          <a:prstGeom prst="roundRect">
            <a:avLst>
              <a:gd name="adj" fmla="val 6977"/>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19" name="Shape 16"/>
          <p:cNvSpPr/>
          <p:nvPr/>
        </p:nvSpPr>
        <p:spPr>
          <a:xfrm>
            <a:off x="749808" y="4224528"/>
            <a:ext cx="384048" cy="384048"/>
          </a:xfrm>
          <a:prstGeom prst="ellipse">
            <a:avLst/>
          </a:prstGeom>
          <a:solidFill>
            <a:srgbClr val="50808E"/>
          </a:solidFill>
          <a:ln/>
        </p:spPr>
      </p:sp>
      <p:sp>
        <p:nvSpPr>
          <p:cNvPr id="20" name="Text 17"/>
          <p:cNvSpPr/>
          <p:nvPr/>
        </p:nvSpPr>
        <p:spPr>
          <a:xfrm>
            <a:off x="749808" y="42245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8"/>
          <p:cNvSpPr/>
          <p:nvPr/>
        </p:nvSpPr>
        <p:spPr>
          <a:xfrm>
            <a:off x="1325880" y="4114800"/>
            <a:ext cx="2743200" cy="301752"/>
          </a:xfrm>
          <a:prstGeom prst="rect">
            <a:avLst/>
          </a:prstGeom>
          <a:noFill/>
          <a:ln/>
        </p:spPr>
        <p:txBody>
          <a:bodyPr wrap="square" lIns="0" tIns="0" rIns="0" bIns="0" rtlCol="0" anchor="ctr"/>
          <a:lstStyle/>
          <a:p>
            <a:pPr indent="0" marL="0">
              <a:buNone/>
            </a:pPr>
            <a:r>
              <a:rPr lang="en-US" sz="1350" b="1" dirty="0">
                <a:solidFill>
                  <a:srgbClr val="22303A"/>
                </a:solidFill>
                <a:latin typeface="Calibri" pitchFamily="34" charset="0"/>
                <a:ea typeface="Calibri" pitchFamily="34" charset="-122"/>
                <a:cs typeface="Calibri" pitchFamily="34" charset="-120"/>
              </a:rPr>
              <a:t>Backjump to NT</a:t>
            </a:r>
            <a:endParaRPr lang="en-US" sz="1350" dirty="0"/>
          </a:p>
        </p:txBody>
      </p:sp>
      <p:sp>
        <p:nvSpPr>
          <p:cNvPr id="22" name="Text 19"/>
          <p:cNvSpPr/>
          <p:nvPr/>
        </p:nvSpPr>
        <p:spPr>
          <a:xfrm>
            <a:off x="1325880" y="4425696"/>
            <a:ext cx="5852160" cy="329184"/>
          </a:xfrm>
          <a:prstGeom prst="rect">
            <a:avLst/>
          </a:prstGeom>
          <a:noFill/>
          <a:ln/>
        </p:spPr>
        <p:txBody>
          <a:bodyPr wrap="square" lIns="0" tIns="0" rIns="0" bIns="0" rtlCol="0" anchor="t"/>
          <a:lstStyle/>
          <a:p>
            <a:pPr indent="0" marL="0">
              <a:lnSpc>
                <a:spcPct val="112000"/>
              </a:lnSpc>
              <a:buNone/>
            </a:pPr>
            <a:r>
              <a:rPr lang="en-US" sz="1150" dirty="0">
                <a:solidFill>
                  <a:srgbClr val="6E7A83"/>
                </a:solidFill>
                <a:latin typeface="Calibri" pitchFamily="34" charset="0"/>
                <a:ea typeface="Calibri" pitchFamily="34" charset="-122"/>
                <a:cs typeface="Calibri" pitchFamily="34" charset="-120"/>
              </a:rPr>
              <a:t>NT absorbs { WA, NT, NSW } minus { NT } into its direct set { WA }, giving { WA, NSW }</a:t>
            </a:r>
            <a:endParaRPr lang="en-US" sz="1150" dirty="0"/>
          </a:p>
        </p:txBody>
      </p:sp>
      <p:sp>
        <p:nvSpPr>
          <p:cNvPr id="23" name="Shape 20"/>
          <p:cNvSpPr/>
          <p:nvPr/>
        </p:nvSpPr>
        <p:spPr>
          <a:xfrm>
            <a:off x="502920" y="4937760"/>
            <a:ext cx="6949440" cy="786384"/>
          </a:xfrm>
          <a:prstGeom prst="roundRect">
            <a:avLst>
              <a:gd name="adj" fmla="val 6977"/>
            </a:avLst>
          </a:prstGeom>
          <a:solidFill>
            <a:srgbClr val="FFFFFF"/>
          </a:solidFill>
          <a:ln w="9525">
            <a:solidFill>
              <a:srgbClr val="D5DBDE"/>
            </a:solidFill>
            <a:prstDash val="solid"/>
          </a:ln>
        </p:spPr>
      </p:sp>
      <p:sp>
        <p:nvSpPr>
          <p:cNvPr id="24" name="Shape 21"/>
          <p:cNvSpPr/>
          <p:nvPr/>
        </p:nvSpPr>
        <p:spPr>
          <a:xfrm>
            <a:off x="749808" y="5138928"/>
            <a:ext cx="384048" cy="384048"/>
          </a:xfrm>
          <a:prstGeom prst="ellipse">
            <a:avLst/>
          </a:prstGeom>
          <a:solidFill>
            <a:srgbClr val="50808E"/>
          </a:solidFill>
          <a:ln/>
        </p:spPr>
      </p:sp>
      <p:sp>
        <p:nvSpPr>
          <p:cNvPr id="25" name="Text 22"/>
          <p:cNvSpPr/>
          <p:nvPr/>
        </p:nvSpPr>
        <p:spPr>
          <a:xfrm>
            <a:off x="749808" y="51389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3"/>
          <p:cNvSpPr/>
          <p:nvPr/>
        </p:nvSpPr>
        <p:spPr>
          <a:xfrm>
            <a:off x="1325880" y="5029200"/>
            <a:ext cx="2743200" cy="301752"/>
          </a:xfrm>
          <a:prstGeom prst="rect">
            <a:avLst/>
          </a:prstGeom>
          <a:noFill/>
          <a:ln/>
        </p:spPr>
        <p:txBody>
          <a:bodyPr wrap="square" lIns="0" tIns="0" rIns="0" bIns="0" rtlCol="0" anchor="ctr"/>
          <a:lstStyle/>
          <a:p>
            <a:pPr indent="0" marL="0">
              <a:buNone/>
            </a:pPr>
            <a:r>
              <a:rPr lang="en-US" sz="1350" b="1" dirty="0">
                <a:solidFill>
                  <a:srgbClr val="22303A"/>
                </a:solidFill>
                <a:latin typeface="Calibri" pitchFamily="34" charset="0"/>
                <a:ea typeface="Calibri" pitchFamily="34" charset="-122"/>
                <a:cs typeface="Calibri" pitchFamily="34" charset="-120"/>
              </a:rPr>
              <a:t>Backjump to NSW</a:t>
            </a:r>
            <a:endParaRPr lang="en-US" sz="1350" dirty="0"/>
          </a:p>
        </p:txBody>
      </p:sp>
      <p:sp>
        <p:nvSpPr>
          <p:cNvPr id="27" name="Text 24"/>
          <p:cNvSpPr/>
          <p:nvPr/>
        </p:nvSpPr>
        <p:spPr>
          <a:xfrm>
            <a:off x="1325880" y="5340096"/>
            <a:ext cx="5852160" cy="329184"/>
          </a:xfrm>
          <a:prstGeom prst="rect">
            <a:avLst/>
          </a:prstGeom>
          <a:noFill/>
          <a:ln/>
        </p:spPr>
        <p:txBody>
          <a:bodyPr wrap="square" lIns="0" tIns="0" rIns="0" bIns="0" rtlCol="0" anchor="t"/>
          <a:lstStyle/>
          <a:p>
            <a:pPr indent="0" marL="0">
              <a:lnSpc>
                <a:spcPct val="112000"/>
              </a:lnSpc>
              <a:buNone/>
            </a:pPr>
            <a:r>
              <a:rPr lang="en-US" sz="1150" dirty="0">
                <a:solidFill>
                  <a:srgbClr val="6E7A83"/>
                </a:solidFill>
                <a:latin typeface="Calibri" pitchFamily="34" charset="0"/>
                <a:ea typeface="Calibri" pitchFamily="34" charset="-122"/>
                <a:cs typeface="Calibri" pitchFamily="34" charset="-120"/>
              </a:rPr>
              <a:t>which is exactly where the real problem was.</a:t>
            </a:r>
            <a:endParaRPr lang="en-US" sz="1150" dirty="0"/>
          </a:p>
        </p:txBody>
      </p:sp>
      <p:sp>
        <p:nvSpPr>
          <p:cNvPr id="28" name="Shape 25"/>
          <p:cNvSpPr/>
          <p:nvPr/>
        </p:nvSpPr>
        <p:spPr>
          <a:xfrm>
            <a:off x="7726680" y="1325880"/>
            <a:ext cx="3931920" cy="2331720"/>
          </a:xfrm>
          <a:prstGeom prst="roundRect">
            <a:avLst>
              <a:gd name="adj" fmla="val 2353"/>
            </a:avLst>
          </a:prstGeom>
          <a:solidFill>
            <a:srgbClr val="F7EEEA"/>
          </a:solidFill>
          <a:ln w="9525">
            <a:solidFill>
              <a:srgbClr val="F7EEEA"/>
            </a:solidFill>
            <a:prstDash val="solid"/>
          </a:ln>
        </p:spPr>
      </p:sp>
      <p:sp>
        <p:nvSpPr>
          <p:cNvPr id="29" name="Text 26"/>
          <p:cNvSpPr/>
          <p:nvPr/>
        </p:nvSpPr>
        <p:spPr>
          <a:xfrm>
            <a:off x="8001000" y="1508760"/>
            <a:ext cx="3474720" cy="301752"/>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The update rule</a:t>
            </a:r>
            <a:endParaRPr lang="en-US" sz="1600" dirty="0"/>
          </a:p>
        </p:txBody>
      </p:sp>
      <p:sp>
        <p:nvSpPr>
          <p:cNvPr id="30" name="Text 27"/>
          <p:cNvSpPr/>
          <p:nvPr/>
        </p:nvSpPr>
        <p:spPr>
          <a:xfrm>
            <a:off x="8001000" y="1965960"/>
            <a:ext cx="3474720" cy="82296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If every value for Xj fails, backjump to the most recent Xi in conf(Xj) and set:</a:t>
            </a:r>
            <a:endParaRPr lang="en-US" sz="1250" dirty="0"/>
          </a:p>
        </p:txBody>
      </p:sp>
      <p:sp>
        <p:nvSpPr>
          <p:cNvPr id="31" name="Shape 28"/>
          <p:cNvSpPr/>
          <p:nvPr/>
        </p:nvSpPr>
        <p:spPr>
          <a:xfrm>
            <a:off x="8001000" y="2788920"/>
            <a:ext cx="3429000" cy="685800"/>
          </a:xfrm>
          <a:prstGeom prst="roundRect">
            <a:avLst>
              <a:gd name="adj" fmla="val 8000"/>
            </a:avLst>
          </a:prstGeom>
          <a:solidFill>
            <a:srgbClr val="EDF0F1"/>
          </a:solidFill>
          <a:ln w="9525">
            <a:solidFill>
              <a:srgbClr val="EDF0F1"/>
            </a:solidFill>
            <a:prstDash val="solid"/>
          </a:ln>
        </p:spPr>
      </p:sp>
      <p:sp>
        <p:nvSpPr>
          <p:cNvPr id="32" name="Text 29"/>
          <p:cNvSpPr/>
          <p:nvPr/>
        </p:nvSpPr>
        <p:spPr>
          <a:xfrm>
            <a:off x="8202168" y="2935224"/>
            <a:ext cx="3026664" cy="393192"/>
          </a:xfrm>
          <a:prstGeom prst="rect">
            <a:avLst/>
          </a:prstGeom>
          <a:noFill/>
          <a:ln/>
        </p:spPr>
        <p:txBody>
          <a:bodyPr wrap="square" lIns="0" tIns="0" rIns="0" bIns="0" rtlCol="0" anchor="t"/>
          <a:lstStyle/>
          <a:p>
            <a:pPr indent="0" marL="0">
              <a:lnSpc>
                <a:spcPct val="114000"/>
              </a:lnSpc>
              <a:buNone/>
            </a:pPr>
            <a:r>
              <a:rPr lang="en-US" sz="1050" dirty="0">
                <a:solidFill>
                  <a:srgbClr val="1F2A31"/>
                </a:solidFill>
                <a:latin typeface="Courier New" pitchFamily="34" charset="0"/>
                <a:ea typeface="Courier New" pitchFamily="34" charset="-122"/>
                <a:cs typeface="Courier New" pitchFamily="34" charset="-120"/>
              </a:rPr>
              <a:t>conf(Xi) &lt;-</a:t>
            </a:r>
            <a:endParaRPr lang="en-US" sz="1050" dirty="0"/>
          </a:p>
          <a:p>
            <a:pPr indent="0" marL="0">
              <a:lnSpc>
                <a:spcPct val="114000"/>
              </a:lnSpc>
              <a:buNone/>
            </a:pPr>
            <a:r>
              <a:rPr lang="en-US" sz="1050" dirty="0">
                <a:solidFill>
                  <a:srgbClr val="1F2A31"/>
                </a:solidFill>
                <a:latin typeface="Courier New" pitchFamily="34" charset="0"/>
                <a:ea typeface="Courier New" pitchFamily="34" charset="-122"/>
                <a:cs typeface="Courier New" pitchFamily="34" charset="-120"/>
              </a:rPr>
              <a:t>  conf(Xi) U conf(Xj) - {Xi}</a:t>
            </a:r>
            <a:endParaRPr lang="en-US" sz="1050" dirty="0"/>
          </a:p>
        </p:txBody>
      </p:sp>
      <p:sp>
        <p:nvSpPr>
          <p:cNvPr id="33" name="Shape 30"/>
          <p:cNvSpPr/>
          <p:nvPr/>
        </p:nvSpPr>
        <p:spPr>
          <a:xfrm>
            <a:off x="7726680" y="3886200"/>
            <a:ext cx="3931920" cy="1965960"/>
          </a:xfrm>
          <a:prstGeom prst="roundRect">
            <a:avLst>
              <a:gd name="adj" fmla="val 2791"/>
            </a:avLst>
          </a:prstGeom>
          <a:solidFill>
            <a:srgbClr val="F1F3F4"/>
          </a:solidFill>
          <a:ln w="9525">
            <a:solidFill>
              <a:srgbClr val="F1F3F4"/>
            </a:solidFill>
            <a:prstDash val="solid"/>
          </a:ln>
        </p:spPr>
      </p:sp>
      <p:sp>
        <p:nvSpPr>
          <p:cNvPr id="34" name="Text 31"/>
          <p:cNvSpPr/>
          <p:nvPr/>
        </p:nvSpPr>
        <p:spPr>
          <a:xfrm>
            <a:off x="8001000" y="4069080"/>
            <a:ext cx="3474720" cy="301752"/>
          </a:xfrm>
          <a:prstGeom prst="rect">
            <a:avLst/>
          </a:prstGeom>
          <a:noFill/>
          <a:ln/>
        </p:spPr>
        <p:txBody>
          <a:bodyPr wrap="square" lIns="0" tIns="0" rIns="0" bIns="0" rtlCol="0" anchor="ctr"/>
          <a:lstStyle/>
          <a:p>
            <a:pPr indent="0" marL="0">
              <a:buNone/>
            </a:pPr>
            <a:r>
              <a:rPr lang="en-US" sz="1500" b="1" dirty="0">
                <a:solidFill>
                  <a:srgbClr val="50808E"/>
                </a:solidFill>
                <a:latin typeface="Calibri" pitchFamily="34" charset="0"/>
                <a:ea typeface="Calibri" pitchFamily="34" charset="-122"/>
                <a:cs typeface="Calibri" pitchFamily="34" charset="-120"/>
              </a:rPr>
              <a:t>In one sentence</a:t>
            </a:r>
            <a:endParaRPr lang="en-US" sz="1500" dirty="0"/>
          </a:p>
        </p:txBody>
      </p:sp>
      <p:sp>
        <p:nvSpPr>
          <p:cNvPr id="35" name="Text 32"/>
          <p:cNvSpPr/>
          <p:nvPr/>
        </p:nvSpPr>
        <p:spPr>
          <a:xfrm>
            <a:off x="8001000" y="4480560"/>
            <a:ext cx="3474720" cy="118872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Every failing variable hands its reasons upward, so the search jumps back to the assignment actually responsible - not merely the most recent one.</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6.3.4</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Constraint learning: remember the no-goods</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34</a:t>
            </a:r>
            <a:endParaRPr lang="en-US" sz="900" dirty="0"/>
          </a:p>
        </p:txBody>
      </p:sp>
      <p:sp>
        <p:nvSpPr>
          <p:cNvPr id="7" name="Text 4"/>
          <p:cNvSpPr/>
          <p:nvPr/>
        </p:nvSpPr>
        <p:spPr>
          <a:xfrm>
            <a:off x="502920" y="1371600"/>
            <a:ext cx="6583680" cy="228600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A no-good is a minimal set of variable assignments that cannot appear in any solution</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Forward checking tells us that { WA = red, NT = green, Q = blue } has no valid assignment for SA</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Record it as a constraint. Now every future branch that tries those three assignments is pruned instantly</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Without recording it, we would rediscover the same contradiction once for every combination of assignments to V and T</a:t>
            </a:r>
            <a:endParaRPr lang="en-US" sz="1400" dirty="0"/>
          </a:p>
        </p:txBody>
      </p:sp>
      <p:sp>
        <p:nvSpPr>
          <p:cNvPr id="8" name="Shape 5"/>
          <p:cNvSpPr/>
          <p:nvPr/>
        </p:nvSpPr>
        <p:spPr>
          <a:xfrm flipV="1">
            <a:off x="7946136" y="1990649"/>
            <a:ext cx="927202" cy="609905"/>
          </a:xfrm>
          <a:prstGeom prst="line">
            <a:avLst/>
          </a:prstGeom>
          <a:noFill/>
          <a:ln w="17780">
            <a:solidFill>
              <a:srgbClr val="AEB9BF"/>
            </a:solidFill>
            <a:prstDash val="solid"/>
          </a:ln>
        </p:spPr>
      </p:sp>
      <p:sp>
        <p:nvSpPr>
          <p:cNvPr id="9" name="Shape 6"/>
          <p:cNvSpPr/>
          <p:nvPr/>
        </p:nvSpPr>
        <p:spPr>
          <a:xfrm>
            <a:off x="7946136" y="2600554"/>
            <a:ext cx="1069848" cy="503834"/>
          </a:xfrm>
          <a:prstGeom prst="line">
            <a:avLst/>
          </a:prstGeom>
          <a:noFill/>
          <a:ln w="17780">
            <a:solidFill>
              <a:srgbClr val="AEB9BF"/>
            </a:solidFill>
            <a:prstDash val="solid"/>
          </a:ln>
        </p:spPr>
      </p:sp>
      <p:sp>
        <p:nvSpPr>
          <p:cNvPr id="10" name="Shape 7"/>
          <p:cNvSpPr/>
          <p:nvPr/>
        </p:nvSpPr>
        <p:spPr>
          <a:xfrm>
            <a:off x="8873338" y="1990649"/>
            <a:ext cx="142646" cy="1113739"/>
          </a:xfrm>
          <a:prstGeom prst="line">
            <a:avLst/>
          </a:prstGeom>
          <a:noFill/>
          <a:ln w="17780">
            <a:solidFill>
              <a:srgbClr val="AEB9BF"/>
            </a:solidFill>
            <a:prstDash val="solid"/>
          </a:ln>
        </p:spPr>
      </p:sp>
      <p:sp>
        <p:nvSpPr>
          <p:cNvPr id="11" name="Shape 8"/>
          <p:cNvSpPr/>
          <p:nvPr/>
        </p:nvSpPr>
        <p:spPr>
          <a:xfrm>
            <a:off x="8873338" y="1990649"/>
            <a:ext cx="1212494" cy="106070"/>
          </a:xfrm>
          <a:prstGeom prst="line">
            <a:avLst/>
          </a:prstGeom>
          <a:noFill/>
          <a:ln w="17780">
            <a:solidFill>
              <a:srgbClr val="AEB9BF"/>
            </a:solidFill>
            <a:prstDash val="solid"/>
          </a:ln>
        </p:spPr>
      </p:sp>
      <p:sp>
        <p:nvSpPr>
          <p:cNvPr id="12" name="Shape 9"/>
          <p:cNvSpPr/>
          <p:nvPr/>
        </p:nvSpPr>
        <p:spPr>
          <a:xfrm flipV="1">
            <a:off x="9015984" y="2096719"/>
            <a:ext cx="1069848" cy="1007669"/>
          </a:xfrm>
          <a:prstGeom prst="line">
            <a:avLst/>
          </a:prstGeom>
          <a:noFill/>
          <a:ln w="17780">
            <a:solidFill>
              <a:srgbClr val="AEB9BF"/>
            </a:solidFill>
            <a:prstDash val="solid"/>
          </a:ln>
        </p:spPr>
      </p:sp>
      <p:sp>
        <p:nvSpPr>
          <p:cNvPr id="13" name="Shape 10"/>
          <p:cNvSpPr/>
          <p:nvPr/>
        </p:nvSpPr>
        <p:spPr>
          <a:xfrm>
            <a:off x="9015984" y="3104388"/>
            <a:ext cx="1212494" cy="0"/>
          </a:xfrm>
          <a:prstGeom prst="line">
            <a:avLst/>
          </a:prstGeom>
          <a:noFill/>
          <a:ln w="17780">
            <a:solidFill>
              <a:srgbClr val="AEB9BF"/>
            </a:solidFill>
            <a:prstDash val="solid"/>
          </a:ln>
        </p:spPr>
      </p:sp>
      <p:sp>
        <p:nvSpPr>
          <p:cNvPr id="14" name="Shape 11"/>
          <p:cNvSpPr/>
          <p:nvPr/>
        </p:nvSpPr>
        <p:spPr>
          <a:xfrm>
            <a:off x="9015984" y="3104388"/>
            <a:ext cx="713232" cy="742493"/>
          </a:xfrm>
          <a:prstGeom prst="line">
            <a:avLst/>
          </a:prstGeom>
          <a:noFill/>
          <a:ln w="17780">
            <a:solidFill>
              <a:srgbClr val="AEB9BF"/>
            </a:solidFill>
            <a:prstDash val="solid"/>
          </a:ln>
        </p:spPr>
      </p:sp>
      <p:sp>
        <p:nvSpPr>
          <p:cNvPr id="15" name="Shape 12"/>
          <p:cNvSpPr/>
          <p:nvPr/>
        </p:nvSpPr>
        <p:spPr>
          <a:xfrm>
            <a:off x="10085832" y="2096719"/>
            <a:ext cx="142646" cy="1007669"/>
          </a:xfrm>
          <a:prstGeom prst="line">
            <a:avLst/>
          </a:prstGeom>
          <a:noFill/>
          <a:ln w="17780">
            <a:solidFill>
              <a:srgbClr val="AEB9BF"/>
            </a:solidFill>
            <a:prstDash val="solid"/>
          </a:ln>
        </p:spPr>
      </p:sp>
      <p:sp>
        <p:nvSpPr>
          <p:cNvPr id="16" name="Shape 13"/>
          <p:cNvSpPr/>
          <p:nvPr/>
        </p:nvSpPr>
        <p:spPr>
          <a:xfrm flipH="1">
            <a:off x="9729216" y="3104388"/>
            <a:ext cx="499262" cy="742493"/>
          </a:xfrm>
          <a:prstGeom prst="line">
            <a:avLst/>
          </a:prstGeom>
          <a:noFill/>
          <a:ln w="17780">
            <a:solidFill>
              <a:srgbClr val="AEB9BF"/>
            </a:solidFill>
            <a:prstDash val="solid"/>
          </a:ln>
        </p:spPr>
      </p:sp>
      <p:sp>
        <p:nvSpPr>
          <p:cNvPr id="17" name="Shape 14"/>
          <p:cNvSpPr/>
          <p:nvPr/>
        </p:nvSpPr>
        <p:spPr>
          <a:xfrm>
            <a:off x="7795260" y="2449678"/>
            <a:ext cx="301752" cy="301752"/>
          </a:xfrm>
          <a:prstGeom prst="ellipse">
            <a:avLst/>
          </a:prstGeom>
          <a:solidFill>
            <a:srgbClr val="B85042"/>
          </a:solidFill>
          <a:ln w="12700">
            <a:solidFill>
              <a:srgbClr val="B85042"/>
            </a:solidFill>
            <a:prstDash val="solid"/>
          </a:ln>
        </p:spPr>
      </p:sp>
      <p:sp>
        <p:nvSpPr>
          <p:cNvPr id="18" name="Text 15"/>
          <p:cNvSpPr/>
          <p:nvPr/>
        </p:nvSpPr>
        <p:spPr>
          <a:xfrm>
            <a:off x="7562088" y="2454250"/>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WA</a:t>
            </a:r>
            <a:endParaRPr lang="en-US" sz="1050" dirty="0"/>
          </a:p>
        </p:txBody>
      </p:sp>
      <p:sp>
        <p:nvSpPr>
          <p:cNvPr id="19" name="Shape 16"/>
          <p:cNvSpPr/>
          <p:nvPr/>
        </p:nvSpPr>
        <p:spPr>
          <a:xfrm>
            <a:off x="8722462" y="1839773"/>
            <a:ext cx="301752" cy="301752"/>
          </a:xfrm>
          <a:prstGeom prst="ellipse">
            <a:avLst/>
          </a:prstGeom>
          <a:solidFill>
            <a:srgbClr val="6E8B5A"/>
          </a:solidFill>
          <a:ln w="12700">
            <a:solidFill>
              <a:srgbClr val="6E8B5A"/>
            </a:solidFill>
            <a:prstDash val="solid"/>
          </a:ln>
        </p:spPr>
      </p:sp>
      <p:sp>
        <p:nvSpPr>
          <p:cNvPr id="20" name="Text 17"/>
          <p:cNvSpPr/>
          <p:nvPr/>
        </p:nvSpPr>
        <p:spPr>
          <a:xfrm>
            <a:off x="8489290" y="1844345"/>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NT</a:t>
            </a:r>
            <a:endParaRPr lang="en-US" sz="1050" dirty="0"/>
          </a:p>
        </p:txBody>
      </p:sp>
      <p:sp>
        <p:nvSpPr>
          <p:cNvPr id="21" name="Shape 18"/>
          <p:cNvSpPr/>
          <p:nvPr/>
        </p:nvSpPr>
        <p:spPr>
          <a:xfrm>
            <a:off x="9934956" y="1945843"/>
            <a:ext cx="301752" cy="301752"/>
          </a:xfrm>
          <a:prstGeom prst="ellipse">
            <a:avLst/>
          </a:prstGeom>
          <a:solidFill>
            <a:srgbClr val="50808E"/>
          </a:solidFill>
          <a:ln w="12700">
            <a:solidFill>
              <a:srgbClr val="50808E"/>
            </a:solidFill>
            <a:prstDash val="solid"/>
          </a:ln>
        </p:spPr>
      </p:sp>
      <p:sp>
        <p:nvSpPr>
          <p:cNvPr id="22" name="Text 19"/>
          <p:cNvSpPr/>
          <p:nvPr/>
        </p:nvSpPr>
        <p:spPr>
          <a:xfrm>
            <a:off x="9701784" y="1950415"/>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a:t>
            </a:r>
            <a:endParaRPr lang="en-US" sz="1050" dirty="0"/>
          </a:p>
        </p:txBody>
      </p:sp>
      <p:sp>
        <p:nvSpPr>
          <p:cNvPr id="23" name="Shape 20"/>
          <p:cNvSpPr/>
          <p:nvPr/>
        </p:nvSpPr>
        <p:spPr>
          <a:xfrm>
            <a:off x="8865108" y="2953512"/>
            <a:ext cx="301752" cy="301752"/>
          </a:xfrm>
          <a:prstGeom prst="ellipse">
            <a:avLst/>
          </a:prstGeom>
          <a:solidFill>
            <a:srgbClr val="B0393B"/>
          </a:solidFill>
          <a:ln w="12700">
            <a:solidFill>
              <a:srgbClr val="B0393B"/>
            </a:solidFill>
            <a:prstDash val="solid"/>
          </a:ln>
        </p:spPr>
      </p:sp>
      <p:sp>
        <p:nvSpPr>
          <p:cNvPr id="24" name="Text 21"/>
          <p:cNvSpPr/>
          <p:nvPr/>
        </p:nvSpPr>
        <p:spPr>
          <a:xfrm>
            <a:off x="8631936" y="2958084"/>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a:t>
            </a:r>
            <a:endParaRPr lang="en-US" sz="1050" dirty="0"/>
          </a:p>
        </p:txBody>
      </p:sp>
      <p:sp>
        <p:nvSpPr>
          <p:cNvPr id="25" name="Shape 22"/>
          <p:cNvSpPr/>
          <p:nvPr/>
        </p:nvSpPr>
        <p:spPr>
          <a:xfrm>
            <a:off x="10077602" y="2953512"/>
            <a:ext cx="301752" cy="301752"/>
          </a:xfrm>
          <a:prstGeom prst="ellipse">
            <a:avLst/>
          </a:prstGeom>
          <a:solidFill>
            <a:srgbClr val="E4E9EB"/>
          </a:solidFill>
          <a:ln w="12700">
            <a:solidFill>
              <a:srgbClr val="9FAAB1"/>
            </a:solidFill>
            <a:prstDash val="solid"/>
          </a:ln>
        </p:spPr>
      </p:sp>
      <p:sp>
        <p:nvSpPr>
          <p:cNvPr id="26" name="Text 23"/>
          <p:cNvSpPr/>
          <p:nvPr/>
        </p:nvSpPr>
        <p:spPr>
          <a:xfrm>
            <a:off x="9844430" y="2958084"/>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NSW</a:t>
            </a:r>
            <a:endParaRPr lang="en-US" sz="1050" dirty="0"/>
          </a:p>
        </p:txBody>
      </p:sp>
      <p:sp>
        <p:nvSpPr>
          <p:cNvPr id="27" name="Shape 24"/>
          <p:cNvSpPr/>
          <p:nvPr/>
        </p:nvSpPr>
        <p:spPr>
          <a:xfrm>
            <a:off x="9578340" y="3696005"/>
            <a:ext cx="301752" cy="301752"/>
          </a:xfrm>
          <a:prstGeom prst="ellipse">
            <a:avLst/>
          </a:prstGeom>
          <a:solidFill>
            <a:srgbClr val="E4E9EB"/>
          </a:solidFill>
          <a:ln w="12700">
            <a:solidFill>
              <a:srgbClr val="9FAAB1"/>
            </a:solidFill>
            <a:prstDash val="solid"/>
          </a:ln>
        </p:spPr>
      </p:sp>
      <p:sp>
        <p:nvSpPr>
          <p:cNvPr id="28" name="Text 25"/>
          <p:cNvSpPr/>
          <p:nvPr/>
        </p:nvSpPr>
        <p:spPr>
          <a:xfrm>
            <a:off x="9345168" y="3700577"/>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V</a:t>
            </a:r>
            <a:endParaRPr lang="en-US" sz="1050" dirty="0"/>
          </a:p>
        </p:txBody>
      </p:sp>
      <p:sp>
        <p:nvSpPr>
          <p:cNvPr id="29" name="Shape 26"/>
          <p:cNvSpPr/>
          <p:nvPr/>
        </p:nvSpPr>
        <p:spPr>
          <a:xfrm>
            <a:off x="10505542" y="4014216"/>
            <a:ext cx="301752" cy="301752"/>
          </a:xfrm>
          <a:prstGeom prst="ellipse">
            <a:avLst/>
          </a:prstGeom>
          <a:solidFill>
            <a:srgbClr val="E4E9EB"/>
          </a:solidFill>
          <a:ln w="12700">
            <a:solidFill>
              <a:srgbClr val="9FAAB1"/>
            </a:solidFill>
            <a:prstDash val="solid"/>
          </a:ln>
        </p:spPr>
      </p:sp>
      <p:sp>
        <p:nvSpPr>
          <p:cNvPr id="30" name="Text 27"/>
          <p:cNvSpPr/>
          <p:nvPr/>
        </p:nvSpPr>
        <p:spPr>
          <a:xfrm>
            <a:off x="10272370" y="4018788"/>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T</a:t>
            </a:r>
            <a:endParaRPr lang="en-US" sz="1050" dirty="0"/>
          </a:p>
        </p:txBody>
      </p:sp>
      <p:sp>
        <p:nvSpPr>
          <p:cNvPr id="31" name="Text 28"/>
          <p:cNvSpPr/>
          <p:nvPr/>
        </p:nvSpPr>
        <p:spPr>
          <a:xfrm>
            <a:off x="7315200" y="4480560"/>
            <a:ext cx="4343400" cy="320040"/>
          </a:xfrm>
          <a:prstGeom prst="rect">
            <a:avLst/>
          </a:prstGeom>
          <a:noFill/>
          <a:ln/>
        </p:spPr>
        <p:txBody>
          <a:bodyPr wrap="square" lIns="0" tIns="0" rIns="0" bIns="0" rtlCol="0" anchor="ctr"/>
          <a:lstStyle/>
          <a:p>
            <a:pPr algn="ctr" indent="0" marL="0">
              <a:buNone/>
            </a:pPr>
            <a:r>
              <a:rPr lang="en-US" sz="1200" i="1" dirty="0">
                <a:solidFill>
                  <a:srgbClr val="B85042"/>
                </a:solidFill>
                <a:latin typeface="Calibri" pitchFamily="34" charset="0"/>
                <a:ea typeface="Calibri" pitchFamily="34" charset="-122"/>
                <a:cs typeface="Calibri" pitchFamily="34" charset="-120"/>
              </a:rPr>
              <a:t>no valid colour left for SA</a:t>
            </a:r>
            <a:endParaRPr lang="en-US" sz="1200" dirty="0"/>
          </a:p>
        </p:txBody>
      </p:sp>
      <p:sp>
        <p:nvSpPr>
          <p:cNvPr id="32" name="Shape 29"/>
          <p:cNvSpPr/>
          <p:nvPr/>
        </p:nvSpPr>
        <p:spPr>
          <a:xfrm>
            <a:off x="502920" y="3886200"/>
            <a:ext cx="6583680" cy="1965960"/>
          </a:xfrm>
          <a:prstGeom prst="roundRect">
            <a:avLst>
              <a:gd name="adj" fmla="val 2791"/>
            </a:avLst>
          </a:prstGeom>
          <a:solidFill>
            <a:srgbClr val="F7EEEA"/>
          </a:solidFill>
          <a:ln w="9525">
            <a:solidFill>
              <a:srgbClr val="F7EEEA"/>
            </a:solidFill>
            <a:prstDash val="solid"/>
          </a:ln>
        </p:spPr>
      </p:sp>
      <p:sp>
        <p:nvSpPr>
          <p:cNvPr id="33" name="Text 30"/>
          <p:cNvSpPr/>
          <p:nvPr/>
        </p:nvSpPr>
        <p:spPr>
          <a:xfrm>
            <a:off x="777240" y="4069080"/>
            <a:ext cx="6035040" cy="301752"/>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Why this is not a footnote</a:t>
            </a:r>
            <a:endParaRPr lang="en-US" sz="1600" dirty="0"/>
          </a:p>
        </p:txBody>
      </p:sp>
      <p:sp>
        <p:nvSpPr>
          <p:cNvPr id="34" name="Text 31"/>
          <p:cNvSpPr/>
          <p:nvPr/>
        </p:nvSpPr>
        <p:spPr>
          <a:xfrm>
            <a:off x="777240" y="4480560"/>
            <a:ext cx="6035040" cy="1234440"/>
          </a:xfrm>
          <a:prstGeom prst="rect">
            <a:avLst/>
          </a:prstGeom>
          <a:noFill/>
          <a:ln/>
        </p:spPr>
        <p:txBody>
          <a:bodyPr wrap="square" lIns="0" tIns="0" rIns="0" bIns="0" rtlCol="0" anchor="t"/>
          <a:lstStyle/>
          <a:p>
            <a:pPr indent="0" marL="0">
              <a:lnSpc>
                <a:spcPct val="112000"/>
              </a:lnSpc>
              <a:buNone/>
            </a:pPr>
            <a:r>
              <a:rPr lang="en-US" sz="1300" dirty="0">
                <a:solidFill>
                  <a:srgbClr val="2B3138"/>
                </a:solidFill>
                <a:latin typeface="Calibri" pitchFamily="34" charset="0"/>
                <a:ea typeface="Calibri" pitchFamily="34" charset="-122"/>
                <a:cs typeface="Calibri" pitchFamily="34" charset="-120"/>
              </a:rPr>
              <a:t>Constraint learning is one of the most important techniques in modern CSP and SAT solvers. The same idea - clause learning - is what turned SAT solving from a theoretical curiosity into industrial tooling used on circuits with millions of variables.</a:t>
            </a:r>
            <a:endParaRPr lang="en-US" sz="1300" dirty="0"/>
          </a:p>
        </p:txBody>
      </p:sp>
      <p:sp>
        <p:nvSpPr>
          <p:cNvPr id="35" name="Shape 32"/>
          <p:cNvSpPr/>
          <p:nvPr/>
        </p:nvSpPr>
        <p:spPr>
          <a:xfrm>
            <a:off x="7315200" y="5074920"/>
            <a:ext cx="4343400" cy="777240"/>
          </a:xfrm>
          <a:prstGeom prst="roundRect">
            <a:avLst>
              <a:gd name="adj" fmla="val 7059"/>
            </a:avLst>
          </a:prstGeom>
          <a:solidFill>
            <a:srgbClr val="F1F3F4"/>
          </a:solidFill>
          <a:ln w="9525">
            <a:solidFill>
              <a:srgbClr val="F1F3F4"/>
            </a:solidFill>
            <a:prstDash val="solid"/>
          </a:ln>
        </p:spPr>
      </p:sp>
      <p:sp>
        <p:nvSpPr>
          <p:cNvPr id="36" name="Text 33"/>
          <p:cNvSpPr/>
          <p:nvPr/>
        </p:nvSpPr>
        <p:spPr>
          <a:xfrm>
            <a:off x="7543800" y="5093208"/>
            <a:ext cx="3886200" cy="740664"/>
          </a:xfrm>
          <a:prstGeom prst="rect">
            <a:avLst/>
          </a:prstGeom>
          <a:noFill/>
          <a:ln/>
        </p:spPr>
        <p:txBody>
          <a:bodyPr wrap="square" lIns="0" tIns="0" rIns="0" bIns="0" rtlCol="0" anchor="ctr"/>
          <a:lstStyle/>
          <a:p>
            <a:pPr indent="0" marL="0">
              <a:buNone/>
            </a:pPr>
            <a:r>
              <a:rPr lang="en-US" sz="1400" b="1" dirty="0">
                <a:solidFill>
                  <a:srgbClr val="22303A"/>
                </a:solidFill>
                <a:latin typeface="Calibri" pitchFamily="34" charset="0"/>
                <a:ea typeface="Calibri" pitchFamily="34" charset="-122"/>
                <a:cs typeface="Calibri" pitchFamily="34" charset="-120"/>
              </a:rPr>
              <a:t>No-goods work with forward checking or backjumping.</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22303A"/>
        </a:solidFill>
      </p:bgPr>
    </p:bg>
    <p:spTree>
      <p:nvGrpSpPr>
        <p:cNvPr id="1" name=""/>
        <p:cNvGrpSpPr/>
        <p:nvPr/>
      </p:nvGrpSpPr>
      <p:grpSpPr>
        <a:xfrm>
          <a:off x="0" y="0"/>
          <a:ext cx="0" cy="0"/>
          <a:chOff x="0" y="0"/>
          <a:chExt cx="0" cy="0"/>
        </a:xfrm>
      </p:grpSpPr>
      <p:sp>
        <p:nvSpPr>
          <p:cNvPr id="2" name="Shape 0"/>
          <p:cNvSpPr/>
          <p:nvPr/>
        </p:nvSpPr>
        <p:spPr>
          <a:xfrm>
            <a:off x="822960" y="1874520"/>
            <a:ext cx="1234440" cy="1234440"/>
          </a:xfrm>
          <a:prstGeom prst="ellipse">
            <a:avLst/>
          </a:prstGeom>
          <a:solidFill>
            <a:srgbClr val="B85042"/>
          </a:solidFill>
          <a:ln/>
        </p:spPr>
      </p:sp>
      <p:sp>
        <p:nvSpPr>
          <p:cNvPr id="3" name="Text 1"/>
          <p:cNvSpPr/>
          <p:nvPr/>
        </p:nvSpPr>
        <p:spPr>
          <a:xfrm>
            <a:off x="822960" y="1874520"/>
            <a:ext cx="1234440" cy="12344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4" name="Text 2"/>
          <p:cNvSpPr/>
          <p:nvPr/>
        </p:nvSpPr>
        <p:spPr>
          <a:xfrm>
            <a:off x="2423160" y="1874520"/>
            <a:ext cx="877824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Local Search for CSPs</a:t>
            </a:r>
            <a:endParaRPr lang="en-US" sz="3800" dirty="0"/>
          </a:p>
        </p:txBody>
      </p:sp>
      <p:sp>
        <p:nvSpPr>
          <p:cNvPr id="5" name="Text 3"/>
          <p:cNvSpPr/>
          <p:nvPr/>
        </p:nvSpPr>
        <p:spPr>
          <a:xfrm>
            <a:off x="2468880" y="2761488"/>
            <a:ext cx="8686800" cy="411480"/>
          </a:xfrm>
          <a:prstGeom prst="rect">
            <a:avLst/>
          </a:prstGeom>
          <a:noFill/>
          <a:ln/>
        </p:spPr>
        <p:txBody>
          <a:bodyPr wrap="square" lIns="0" tIns="0" rIns="0" bIns="0" rtlCol="0" anchor="ctr"/>
          <a:lstStyle/>
          <a:p>
            <a:pPr indent="0" marL="0">
              <a:buNone/>
            </a:pPr>
            <a:r>
              <a:rPr lang="en-US" sz="1500" i="1" dirty="0">
                <a:solidFill>
                  <a:srgbClr val="A9BFCB"/>
                </a:solidFill>
                <a:latin typeface="Calibri" pitchFamily="34" charset="0"/>
                <a:ea typeface="Calibri" pitchFamily="34" charset="-122"/>
                <a:cs typeface="Calibri" pitchFamily="34" charset="-120"/>
              </a:rPr>
              <a:t>AIMA 6.4 - min-conflicts and iterative improvement</a:t>
            </a:r>
            <a:endParaRPr lang="en-US" sz="1500" dirty="0"/>
          </a:p>
        </p:txBody>
      </p:sp>
      <p:sp>
        <p:nvSpPr>
          <p:cNvPr id="6" name="Text 4"/>
          <p:cNvSpPr/>
          <p:nvPr/>
        </p:nvSpPr>
        <p:spPr>
          <a:xfrm>
            <a:off x="2487168" y="3429000"/>
            <a:ext cx="8595360" cy="17373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FDDE4"/>
                </a:solidFill>
                <a:latin typeface="Calibri" pitchFamily="34" charset="0"/>
                <a:ea typeface="Calibri" pitchFamily="34" charset="-122"/>
                <a:cs typeface="Calibri" pitchFamily="34" charset="-120"/>
              </a:rPr>
              <a:t>The complete-state formulation</a:t>
            </a:r>
            <a:endParaRPr lang="en-US" sz="1400" dirty="0"/>
          </a:p>
          <a:p>
            <a:pPr marL="342900" indent="-342900">
              <a:spcAft>
                <a:spcPts val="600"/>
              </a:spcAft>
              <a:buSzPct val="100000"/>
              <a:buChar char="•"/>
            </a:pPr>
            <a:r>
              <a:rPr lang="en-US" sz="1400" dirty="0">
                <a:solidFill>
                  <a:srgbClr val="CFDDE4"/>
                </a:solidFill>
                <a:latin typeface="Calibri" pitchFamily="34" charset="0"/>
                <a:ea typeface="Calibri" pitchFamily="34" charset="-122"/>
                <a:cs typeface="Calibri" pitchFamily="34" charset="-120"/>
              </a:rPr>
              <a:t>The min-conflicts heuristic</a:t>
            </a:r>
            <a:endParaRPr lang="en-US" sz="1400" dirty="0"/>
          </a:p>
          <a:p>
            <a:pPr marL="342900" indent="-342900">
              <a:spcAft>
                <a:spcPts val="600"/>
              </a:spcAft>
              <a:buSzPct val="100000"/>
              <a:buChar char="•"/>
            </a:pPr>
            <a:r>
              <a:rPr lang="en-US" sz="1400" dirty="0">
                <a:solidFill>
                  <a:srgbClr val="CFDDE4"/>
                </a:solidFill>
                <a:latin typeface="Calibri" pitchFamily="34" charset="0"/>
                <a:ea typeface="Calibri" pitchFamily="34" charset="-122"/>
                <a:cs typeface="Calibri" pitchFamily="34" charset="-120"/>
              </a:rPr>
              <a:t>Plateaus, constraint weighting, online repair</a:t>
            </a:r>
            <a:endParaRPr lang="en-US" sz="1400" dirty="0"/>
          </a:p>
          <a:p>
            <a:pPr marL="342900" indent="-342900">
              <a:spcAft>
                <a:spcPts val="600"/>
              </a:spcAft>
              <a:buSzPct val="100000"/>
              <a:buChar char="•"/>
            </a:pPr>
            <a:r>
              <a:rPr lang="en-US" sz="1400" dirty="0">
                <a:solidFill>
                  <a:srgbClr val="CFDDE4"/>
                </a:solidFill>
                <a:latin typeface="Calibri" pitchFamily="34" charset="0"/>
                <a:ea typeface="Calibri" pitchFamily="34" charset="-122"/>
                <a:cs typeface="Calibri" pitchFamily="34" charset="-120"/>
              </a:rPr>
              <a:t>The critical ratio</a:t>
            </a:r>
            <a:endParaRPr lang="en-US" sz="1400" dirty="0"/>
          </a:p>
        </p:txBody>
      </p:sp>
      <p:sp>
        <p:nvSpPr>
          <p:cNvPr id="8" name="Text 5"/>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8FA2AD"/>
                </a:solidFill>
                <a:latin typeface="Calibri" pitchFamily="34" charset="0"/>
                <a:ea typeface="Calibri" pitchFamily="34" charset="-122"/>
                <a:cs typeface="Calibri" pitchFamily="34" charset="-120"/>
              </a:rPr>
              <a:t>COMP 469 - Artificial Intelligence</a:t>
            </a:r>
            <a:endParaRPr lang="en-US" sz="900" dirty="0"/>
          </a:p>
        </p:txBody>
      </p:sp>
      <p:sp>
        <p:nvSpPr>
          <p:cNvPr id="9" name="Text 6"/>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8FA2AD"/>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6.4</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The inversion: complete but possibly illegal</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36</a:t>
            </a:r>
            <a:endParaRPr lang="en-US" sz="900" dirty="0"/>
          </a:p>
        </p:txBody>
      </p:sp>
      <p:sp>
        <p:nvSpPr>
          <p:cNvPr id="7" name="Shape 4"/>
          <p:cNvSpPr/>
          <p:nvPr/>
        </p:nvSpPr>
        <p:spPr>
          <a:xfrm>
            <a:off x="502920" y="1463040"/>
            <a:ext cx="5440680" cy="2377440"/>
          </a:xfrm>
          <a:prstGeom prst="roundRect">
            <a:avLst>
              <a:gd name="adj" fmla="val 2308"/>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8" name="Shape 5"/>
          <p:cNvSpPr/>
          <p:nvPr/>
        </p:nvSpPr>
        <p:spPr>
          <a:xfrm>
            <a:off x="777240" y="1691640"/>
            <a:ext cx="402336" cy="402336"/>
          </a:xfrm>
          <a:prstGeom prst="ellipse">
            <a:avLst/>
          </a:prstGeom>
          <a:solidFill>
            <a:srgbClr val="50808E"/>
          </a:solidFill>
          <a:ln/>
        </p:spPr>
      </p:sp>
      <p:sp>
        <p:nvSpPr>
          <p:cNvPr id="9" name="Text 6"/>
          <p:cNvSpPr/>
          <p:nvPr/>
        </p:nvSpPr>
        <p:spPr>
          <a:xfrm>
            <a:off x="1325880" y="1719072"/>
            <a:ext cx="4389120" cy="301752"/>
          </a:xfrm>
          <a:prstGeom prst="rect">
            <a:avLst/>
          </a:prstGeom>
          <a:noFill/>
          <a:ln/>
        </p:spPr>
        <p:txBody>
          <a:bodyPr wrap="square" lIns="0" tIns="0" rIns="0" bIns="0" rtlCol="0" anchor="ctr"/>
          <a:lstStyle/>
          <a:p>
            <a:pPr indent="0" marL="0">
              <a:buNone/>
            </a:pPr>
            <a:r>
              <a:rPr lang="en-US" sz="1700" b="1" dirty="0">
                <a:solidFill>
                  <a:srgbClr val="50808E"/>
                </a:solidFill>
                <a:latin typeface="Calibri" pitchFamily="34" charset="0"/>
                <a:ea typeface="Calibri" pitchFamily="34" charset="-122"/>
                <a:cs typeface="Calibri" pitchFamily="34" charset="-120"/>
              </a:rPr>
              <a:t>Backtracking search</a:t>
            </a:r>
            <a:endParaRPr lang="en-US" sz="1700" dirty="0"/>
          </a:p>
        </p:txBody>
      </p:sp>
      <p:sp>
        <p:nvSpPr>
          <p:cNvPr id="10" name="Text 7"/>
          <p:cNvSpPr/>
          <p:nvPr/>
        </p:nvSpPr>
        <p:spPr>
          <a:xfrm>
            <a:off x="822960" y="2286000"/>
            <a:ext cx="4892040" cy="146304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50" dirty="0">
                <a:solidFill>
                  <a:srgbClr val="2B3138"/>
                </a:solidFill>
                <a:latin typeface="Calibri" pitchFamily="34" charset="0"/>
                <a:ea typeface="Calibri" pitchFamily="34" charset="-122"/>
                <a:cs typeface="Calibri" pitchFamily="34" charset="-120"/>
              </a:rPr>
              <a:t>State = a partial assignment</a:t>
            </a:r>
            <a:endParaRPr lang="en-US" sz="1250" dirty="0"/>
          </a:p>
          <a:p>
            <a:pPr marL="342900" indent="-342900">
              <a:lnSpc>
                <a:spcPct val="106000"/>
              </a:lnSpc>
              <a:spcAft>
                <a:spcPts val="700"/>
              </a:spcAft>
              <a:buSzPct val="100000"/>
              <a:buChar char="•"/>
            </a:pPr>
            <a:r>
              <a:rPr lang="en-US" sz="1250" dirty="0">
                <a:solidFill>
                  <a:srgbClr val="2B3138"/>
                </a:solidFill>
                <a:latin typeface="Calibri" pitchFamily="34" charset="0"/>
                <a:ea typeface="Calibri" pitchFamily="34" charset="-122"/>
                <a:cs typeface="Calibri" pitchFamily="34" charset="-120"/>
              </a:rPr>
              <a:t>Always legal, possibly incomplete</a:t>
            </a:r>
            <a:endParaRPr lang="en-US" sz="1250" dirty="0"/>
          </a:p>
          <a:p>
            <a:pPr marL="342900" indent="-342900">
              <a:lnSpc>
                <a:spcPct val="106000"/>
              </a:lnSpc>
              <a:spcAft>
                <a:spcPts val="700"/>
              </a:spcAft>
              <a:buSzPct val="100000"/>
              <a:buChar char="•"/>
            </a:pPr>
            <a:r>
              <a:rPr lang="en-US" sz="1250" dirty="0">
                <a:solidFill>
                  <a:srgbClr val="2B3138"/>
                </a:solidFill>
                <a:latin typeface="Calibri" pitchFamily="34" charset="0"/>
                <a:ea typeface="Calibri" pitchFamily="34" charset="-122"/>
                <a:cs typeface="Calibri" pitchFamily="34" charset="-120"/>
              </a:rPr>
              <a:t>Keeps a fringe of untried alternatives - which is what makes it complete, and what makes it expensive</a:t>
            </a:r>
            <a:endParaRPr lang="en-US" sz="1250" dirty="0"/>
          </a:p>
        </p:txBody>
      </p:sp>
      <p:sp>
        <p:nvSpPr>
          <p:cNvPr id="11" name="Shape 8"/>
          <p:cNvSpPr/>
          <p:nvPr/>
        </p:nvSpPr>
        <p:spPr>
          <a:xfrm>
            <a:off x="6217920" y="1463040"/>
            <a:ext cx="5440680" cy="2377440"/>
          </a:xfrm>
          <a:prstGeom prst="roundRect">
            <a:avLst>
              <a:gd name="adj" fmla="val 2308"/>
            </a:avLst>
          </a:prstGeom>
          <a:solidFill>
            <a:srgbClr val="F7EEEA"/>
          </a:solidFill>
          <a:ln w="9525">
            <a:solidFill>
              <a:srgbClr val="F7EEEA"/>
            </a:solidFill>
            <a:prstDash val="solid"/>
          </a:ln>
          <a:effectLst>
            <a:outerShdw sx="100000" sy="100000" kx="0" ky="0" algn="bl" rotWithShape="0" blurRad="101600" dist="19050" dir="5400000">
              <a:srgbClr val="9AA6AD">
                <a:alpha val="28000"/>
              </a:srgbClr>
            </a:outerShdw>
          </a:effectLst>
        </p:spPr>
      </p:sp>
      <p:sp>
        <p:nvSpPr>
          <p:cNvPr id="12" name="Shape 9"/>
          <p:cNvSpPr/>
          <p:nvPr/>
        </p:nvSpPr>
        <p:spPr>
          <a:xfrm>
            <a:off x="6492240" y="1691640"/>
            <a:ext cx="402336" cy="402336"/>
          </a:xfrm>
          <a:prstGeom prst="ellipse">
            <a:avLst/>
          </a:prstGeom>
          <a:solidFill>
            <a:srgbClr val="B85042"/>
          </a:solidFill>
          <a:ln/>
        </p:spPr>
      </p:sp>
      <p:sp>
        <p:nvSpPr>
          <p:cNvPr id="13" name="Text 10"/>
          <p:cNvSpPr/>
          <p:nvPr/>
        </p:nvSpPr>
        <p:spPr>
          <a:xfrm>
            <a:off x="7040880" y="1719072"/>
            <a:ext cx="4389120" cy="301752"/>
          </a:xfrm>
          <a:prstGeom prst="rect">
            <a:avLst/>
          </a:prstGeom>
          <a:noFill/>
          <a:ln/>
        </p:spPr>
        <p:txBody>
          <a:bodyPr wrap="square" lIns="0" tIns="0" rIns="0" bIns="0" rtlCol="0" anchor="ctr"/>
          <a:lstStyle/>
          <a:p>
            <a:pPr indent="0" marL="0">
              <a:buNone/>
            </a:pPr>
            <a:r>
              <a:rPr lang="en-US" sz="1700" b="1" dirty="0">
                <a:solidFill>
                  <a:srgbClr val="B85042"/>
                </a:solidFill>
                <a:latin typeface="Calibri" pitchFamily="34" charset="0"/>
                <a:ea typeface="Calibri" pitchFamily="34" charset="-122"/>
                <a:cs typeface="Calibri" pitchFamily="34" charset="-120"/>
              </a:rPr>
              <a:t>Local search</a:t>
            </a:r>
            <a:endParaRPr lang="en-US" sz="1700" dirty="0"/>
          </a:p>
        </p:txBody>
      </p:sp>
      <p:sp>
        <p:nvSpPr>
          <p:cNvPr id="14" name="Text 11"/>
          <p:cNvSpPr/>
          <p:nvPr/>
        </p:nvSpPr>
        <p:spPr>
          <a:xfrm>
            <a:off x="6537960" y="2286000"/>
            <a:ext cx="4892040" cy="146304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50" dirty="0">
                <a:solidFill>
                  <a:srgbClr val="2B3138"/>
                </a:solidFill>
                <a:latin typeface="Calibri" pitchFamily="34" charset="0"/>
                <a:ea typeface="Calibri" pitchFamily="34" charset="-122"/>
                <a:cs typeface="Calibri" pitchFamily="34" charset="-120"/>
              </a:rPr>
              <a:t>State = a complete assignment</a:t>
            </a:r>
            <a:endParaRPr lang="en-US" sz="1250" dirty="0"/>
          </a:p>
          <a:p>
            <a:pPr marL="342900" indent="-342900">
              <a:lnSpc>
                <a:spcPct val="106000"/>
              </a:lnSpc>
              <a:spcAft>
                <a:spcPts val="700"/>
              </a:spcAft>
              <a:buSzPct val="100000"/>
              <a:buChar char="•"/>
            </a:pPr>
            <a:r>
              <a:rPr lang="en-US" sz="1250" dirty="0">
                <a:solidFill>
                  <a:srgbClr val="2B3138"/>
                </a:solidFill>
                <a:latin typeface="Calibri" pitchFamily="34" charset="0"/>
                <a:ea typeface="Calibri" pitchFamily="34" charset="-122"/>
                <a:cs typeface="Calibri" pitchFamily="34" charset="-120"/>
              </a:rPr>
              <a:t>Always complete, possibly illegal</a:t>
            </a:r>
            <a:endParaRPr lang="en-US" sz="1250" dirty="0"/>
          </a:p>
          <a:p>
            <a:pPr marL="342900" indent="-342900">
              <a:lnSpc>
                <a:spcPct val="106000"/>
              </a:lnSpc>
              <a:spcAft>
                <a:spcPts val="700"/>
              </a:spcAft>
              <a:buSzPct val="100000"/>
              <a:buChar char="•"/>
            </a:pPr>
            <a:r>
              <a:rPr lang="en-US" sz="1250" dirty="0">
                <a:solidFill>
                  <a:srgbClr val="2B3138"/>
                </a:solidFill>
                <a:latin typeface="Calibri" pitchFamily="34" charset="0"/>
                <a:ea typeface="Calibri" pitchFamily="34" charset="-122"/>
                <a:cs typeface="Calibri" pitchFamily="34" charset="-120"/>
              </a:rPr>
              <a:t>Keeps no fringe at all - exactly one current state, tweaked until it works</a:t>
            </a:r>
            <a:endParaRPr lang="en-US" sz="1250" dirty="0"/>
          </a:p>
        </p:txBody>
      </p:sp>
      <p:sp>
        <p:nvSpPr>
          <p:cNvPr id="15" name="Text 12"/>
          <p:cNvSpPr/>
          <p:nvPr/>
        </p:nvSpPr>
        <p:spPr>
          <a:xfrm>
            <a:off x="502920" y="4114800"/>
            <a:ext cx="11155680" cy="457200"/>
          </a:xfrm>
          <a:prstGeom prst="rect">
            <a:avLst/>
          </a:prstGeom>
          <a:noFill/>
          <a:ln/>
        </p:spPr>
        <p:txBody>
          <a:bodyPr wrap="square" lIns="0" tIns="0" rIns="0" bIns="0" rtlCol="0" anchor="t"/>
          <a:lstStyle/>
          <a:p>
            <a:pPr indent="0" marL="0">
              <a:lnSpc>
                <a:spcPct val="112000"/>
              </a:lnSpc>
              <a:buNone/>
            </a:pPr>
            <a:r>
              <a:rPr lang="en-US" sz="1450" b="1" dirty="0">
                <a:solidFill>
                  <a:srgbClr val="22303A"/>
                </a:solidFill>
                <a:latin typeface="Calibri" pitchFamily="34" charset="0"/>
                <a:ea typeface="Calibri" pitchFamily="34" charset="-122"/>
                <a:cs typeface="Calibri" pitchFamily="34" charset="-120"/>
              </a:rPr>
              <a:t>The successor function changes too: instead of extending a partial plan, it makes a local modification - reassign one variable to a different value.</a:t>
            </a:r>
            <a:endParaRPr lang="en-US" sz="1450" dirty="0"/>
          </a:p>
        </p:txBody>
      </p:sp>
      <p:sp>
        <p:nvSpPr>
          <p:cNvPr id="16" name="Shape 13"/>
          <p:cNvSpPr/>
          <p:nvPr/>
        </p:nvSpPr>
        <p:spPr>
          <a:xfrm>
            <a:off x="502920" y="4754880"/>
            <a:ext cx="11155680" cy="1143000"/>
          </a:xfrm>
          <a:prstGeom prst="roundRect">
            <a:avLst>
              <a:gd name="adj" fmla="val 4800"/>
            </a:avLst>
          </a:prstGeom>
          <a:solidFill>
            <a:srgbClr val="F1F3F4"/>
          </a:solidFill>
          <a:ln w="9525">
            <a:solidFill>
              <a:srgbClr val="F1F3F4"/>
            </a:solidFill>
            <a:prstDash val="solid"/>
          </a:ln>
        </p:spPr>
      </p:sp>
      <p:sp>
        <p:nvSpPr>
          <p:cNvPr id="17" name="Text 14"/>
          <p:cNvSpPr/>
          <p:nvPr/>
        </p:nvSpPr>
        <p:spPr>
          <a:xfrm>
            <a:off x="822960" y="4983480"/>
            <a:ext cx="10515600" cy="731520"/>
          </a:xfrm>
          <a:prstGeom prst="rect">
            <a:avLst/>
          </a:prstGeom>
          <a:noFill/>
          <a:ln/>
        </p:spPr>
        <p:txBody>
          <a:bodyPr wrap="square" lIns="0" tIns="0" rIns="0" bIns="0" rtlCol="0" anchor="t"/>
          <a:lstStyle/>
          <a:p>
            <a:pPr indent="0" marL="0">
              <a:lnSpc>
                <a:spcPct val="112000"/>
              </a:lnSpc>
              <a:buNone/>
            </a:pPr>
            <a:r>
              <a:rPr lang="en-US" sz="1350" dirty="0">
                <a:solidFill>
                  <a:srgbClr val="2B3138"/>
                </a:solidFill>
                <a:latin typeface="Calibri" pitchFamily="34" charset="0"/>
                <a:ea typeface="Calibri" pitchFamily="34" charset="-122"/>
                <a:cs typeface="Calibri" pitchFamily="34" charset="-120"/>
              </a:rPr>
              <a:t>What you gain: dramatic memory savings, and speed. What you give up: completeness and optimality. Local search can run forever, can introduce new conflicts while fixing old ones, and offers no guarantee if constraints are weighted.</a:t>
            </a:r>
            <a:endParaRPr lang="en-US" sz="13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6.4</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The min-conflicts heuristic</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37</a:t>
            </a:r>
            <a:endParaRPr lang="en-US" sz="900" dirty="0"/>
          </a:p>
        </p:txBody>
      </p:sp>
      <p:sp>
        <p:nvSpPr>
          <p:cNvPr id="7" name="Shape 4"/>
          <p:cNvSpPr/>
          <p:nvPr/>
        </p:nvSpPr>
        <p:spPr>
          <a:xfrm>
            <a:off x="502920" y="1371600"/>
            <a:ext cx="6766560" cy="2514600"/>
          </a:xfrm>
          <a:prstGeom prst="roundRect">
            <a:avLst>
              <a:gd name="adj" fmla="val 2182"/>
            </a:avLst>
          </a:prstGeom>
          <a:solidFill>
            <a:srgbClr val="EDF0F1"/>
          </a:solidFill>
          <a:ln w="9525">
            <a:solidFill>
              <a:srgbClr val="EDF0F1"/>
            </a:solidFill>
            <a:prstDash val="solid"/>
          </a:ln>
        </p:spPr>
      </p:sp>
      <p:sp>
        <p:nvSpPr>
          <p:cNvPr id="8" name="Text 5"/>
          <p:cNvSpPr/>
          <p:nvPr/>
        </p:nvSpPr>
        <p:spPr>
          <a:xfrm>
            <a:off x="704088" y="1517904"/>
            <a:ext cx="6364224" cy="2221992"/>
          </a:xfrm>
          <a:prstGeom prst="rect">
            <a:avLst/>
          </a:prstGeom>
          <a:noFill/>
          <a:ln/>
        </p:spPr>
        <p:txBody>
          <a:bodyPr wrap="square" lIns="0" tIns="0" rIns="0" bIns="0" rtlCol="0" anchor="t"/>
          <a:lstStyle/>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function MIN-CONFLICTS(csp, max_steps) returns a solution</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or failure</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current &lt;- an initial complete assignment for csp</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for i = 1 to max_steps do</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if current is a solution then return current</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var   &lt;- a randomly chosen conflicted variable</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value &lt;- the value v for var that minimizes</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CONFLICTS(csp, var, v, current)</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set var = value in current</a:t>
            </a:r>
            <a:endParaRPr lang="en-US" sz="1150" dirty="0"/>
          </a:p>
          <a:p>
            <a:pPr indent="0" marL="0">
              <a:lnSpc>
                <a:spcPct val="114000"/>
              </a:lnSpc>
              <a:buNone/>
            </a:pPr>
            <a:r>
              <a:rPr lang="en-US" sz="1150" dirty="0">
                <a:solidFill>
                  <a:srgbClr val="1F2A31"/>
                </a:solidFill>
                <a:latin typeface="Courier New" pitchFamily="34" charset="0"/>
                <a:ea typeface="Courier New" pitchFamily="34" charset="-122"/>
                <a:cs typeface="Courier New" pitchFamily="34" charset="-120"/>
              </a:rPr>
              <a:t>    return failure</a:t>
            </a:r>
            <a:endParaRPr lang="en-US" sz="1150" dirty="0"/>
          </a:p>
        </p:txBody>
      </p:sp>
      <p:sp>
        <p:nvSpPr>
          <p:cNvPr id="9" name="Text 6"/>
          <p:cNvSpPr/>
          <p:nvPr/>
        </p:nvSpPr>
        <p:spPr>
          <a:xfrm>
            <a:off x="502920" y="4114800"/>
            <a:ext cx="6766560" cy="173736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Pick a variable that participates in a violated constraint</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Reassign it to the value that violates the fewest constraints</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That is hill-climbing on the objective "total number of violated constraints"</a:t>
            </a:r>
            <a:endParaRPr lang="en-US" sz="1350" dirty="0"/>
          </a:p>
        </p:txBody>
      </p:sp>
      <p:sp>
        <p:nvSpPr>
          <p:cNvPr id="10" name="Shape 7"/>
          <p:cNvSpPr/>
          <p:nvPr/>
        </p:nvSpPr>
        <p:spPr>
          <a:xfrm>
            <a:off x="7543800" y="1371600"/>
            <a:ext cx="4114800" cy="2148840"/>
          </a:xfrm>
          <a:prstGeom prst="roundRect">
            <a:avLst>
              <a:gd name="adj" fmla="val 2553"/>
            </a:avLst>
          </a:prstGeom>
          <a:solidFill>
            <a:srgbClr val="F7EEEA"/>
          </a:solidFill>
          <a:ln w="9525">
            <a:solidFill>
              <a:srgbClr val="F7EEEA"/>
            </a:solidFill>
            <a:prstDash val="solid"/>
          </a:ln>
        </p:spPr>
      </p:sp>
      <p:sp>
        <p:nvSpPr>
          <p:cNvPr id="11" name="Text 8"/>
          <p:cNvSpPr/>
          <p:nvPr/>
        </p:nvSpPr>
        <p:spPr>
          <a:xfrm>
            <a:off x="7818120" y="1554480"/>
            <a:ext cx="3657600" cy="301752"/>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No fringe, no backup plan</a:t>
            </a:r>
            <a:endParaRPr lang="en-US" sz="1500" dirty="0"/>
          </a:p>
        </p:txBody>
      </p:sp>
      <p:sp>
        <p:nvSpPr>
          <p:cNvPr id="12" name="Text 9"/>
          <p:cNvSpPr/>
          <p:nvPr/>
        </p:nvSpPr>
        <p:spPr>
          <a:xfrm>
            <a:off x="7818120" y="1965960"/>
            <a:ext cx="3657600" cy="141732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There is exactly one current state at any moment. You tweak it until it works, or you run out of steps and give up. Compare that with a search tree carrying an exponentially large set of untried alternatives.</a:t>
            </a:r>
            <a:endParaRPr lang="en-US" sz="1250" dirty="0"/>
          </a:p>
        </p:txBody>
      </p:sp>
      <p:sp>
        <p:nvSpPr>
          <p:cNvPr id="13" name="Shape 10"/>
          <p:cNvSpPr/>
          <p:nvPr/>
        </p:nvSpPr>
        <p:spPr>
          <a:xfrm>
            <a:off x="7543800" y="3703320"/>
            <a:ext cx="4114800" cy="2148840"/>
          </a:xfrm>
          <a:prstGeom prst="roundRect">
            <a:avLst>
              <a:gd name="adj" fmla="val 2553"/>
            </a:avLst>
          </a:prstGeom>
          <a:solidFill>
            <a:srgbClr val="F1F3F4"/>
          </a:solidFill>
          <a:ln w="9525">
            <a:solidFill>
              <a:srgbClr val="F1F3F4"/>
            </a:solidFill>
            <a:prstDash val="solid"/>
          </a:ln>
        </p:spPr>
      </p:sp>
      <p:sp>
        <p:nvSpPr>
          <p:cNvPr id="14" name="Text 11"/>
          <p:cNvSpPr/>
          <p:nvPr/>
        </p:nvSpPr>
        <p:spPr>
          <a:xfrm>
            <a:off x="7818120" y="3886200"/>
            <a:ext cx="3657600" cy="301752"/>
          </a:xfrm>
          <a:prstGeom prst="rect">
            <a:avLst/>
          </a:prstGeom>
          <a:noFill/>
          <a:ln/>
        </p:spPr>
        <p:txBody>
          <a:bodyPr wrap="square" lIns="0" tIns="0" rIns="0" bIns="0" rtlCol="0" anchor="ctr"/>
          <a:lstStyle/>
          <a:p>
            <a:pPr indent="0" marL="0">
              <a:buNone/>
            </a:pPr>
            <a:r>
              <a:rPr lang="en-US" sz="1500" b="1" dirty="0">
                <a:solidFill>
                  <a:srgbClr val="50808E"/>
                </a:solidFill>
                <a:latin typeface="Calibri" pitchFamily="34" charset="0"/>
                <a:ea typeface="Calibri" pitchFamily="34" charset="-122"/>
                <a:cs typeface="Calibri" pitchFamily="34" charset="-120"/>
              </a:rPr>
              <a:t>Reading the objective</a:t>
            </a:r>
            <a:endParaRPr lang="en-US" sz="1500" dirty="0"/>
          </a:p>
        </p:txBody>
      </p:sp>
      <p:sp>
        <p:nvSpPr>
          <p:cNvPr id="15" name="Text 12"/>
          <p:cNvSpPr/>
          <p:nvPr/>
        </p:nvSpPr>
        <p:spPr>
          <a:xfrm>
            <a:off x="7818120" y="4297680"/>
            <a:ext cx="3657600" cy="141732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CONFLICTS counts how many constraints the candidate value would violate given the rest of the current assignment. Ties are broken randomly - which matters more than it sounds, because plateaus are everywhere.</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6.4</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Worked example: 8-queens by min-conflicts</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38</a:t>
            </a:r>
            <a:endParaRPr lang="en-US" sz="900" dirty="0"/>
          </a:p>
        </p:txBody>
      </p:sp>
      <p:sp>
        <p:nvSpPr>
          <p:cNvPr id="7" name="Shape 4"/>
          <p:cNvSpPr/>
          <p:nvPr/>
        </p:nvSpPr>
        <p:spPr>
          <a:xfrm>
            <a:off x="502920" y="1417320"/>
            <a:ext cx="3520440" cy="4160520"/>
          </a:xfrm>
          <a:prstGeom prst="roundRect">
            <a:avLst>
              <a:gd name="adj" fmla="val 1558"/>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8" name="Text 5"/>
          <p:cNvSpPr/>
          <p:nvPr/>
        </p:nvSpPr>
        <p:spPr>
          <a:xfrm>
            <a:off x="758952" y="1627632"/>
            <a:ext cx="3017520" cy="301752"/>
          </a:xfrm>
          <a:prstGeom prst="rect">
            <a:avLst/>
          </a:prstGeom>
          <a:noFill/>
          <a:ln/>
        </p:spPr>
        <p:txBody>
          <a:bodyPr wrap="square" lIns="0" tIns="0" rIns="0" bIns="0" rtlCol="0" anchor="ctr"/>
          <a:lstStyle/>
          <a:p>
            <a:pPr indent="0" marL="0">
              <a:buNone/>
            </a:pPr>
            <a:r>
              <a:rPr lang="en-US" sz="1600" b="1" dirty="0">
                <a:solidFill>
                  <a:srgbClr val="50808E"/>
                </a:solidFill>
                <a:latin typeface="Calibri" pitchFamily="34" charset="0"/>
                <a:ea typeface="Calibri" pitchFamily="34" charset="-122"/>
                <a:cs typeface="Calibri" pitchFamily="34" charset="-120"/>
              </a:rPr>
              <a:t>Start</a:t>
            </a:r>
            <a:endParaRPr lang="en-US" sz="1600" dirty="0"/>
          </a:p>
        </p:txBody>
      </p:sp>
      <p:sp>
        <p:nvSpPr>
          <p:cNvPr id="9" name="Shape 6"/>
          <p:cNvSpPr/>
          <p:nvPr/>
        </p:nvSpPr>
        <p:spPr>
          <a:xfrm>
            <a:off x="978408" y="2103120"/>
            <a:ext cx="320040" cy="320040"/>
          </a:xfrm>
          <a:prstGeom prst="rect">
            <a:avLst/>
          </a:prstGeom>
          <a:solidFill>
            <a:srgbClr val="E8ECEE"/>
          </a:solidFill>
          <a:ln w="5080">
            <a:solidFill>
              <a:srgbClr val="DCE2E4"/>
            </a:solidFill>
            <a:prstDash val="solid"/>
          </a:ln>
        </p:spPr>
      </p:sp>
      <p:sp>
        <p:nvSpPr>
          <p:cNvPr id="10" name="Shape 7"/>
          <p:cNvSpPr/>
          <p:nvPr/>
        </p:nvSpPr>
        <p:spPr>
          <a:xfrm>
            <a:off x="1298448" y="2103120"/>
            <a:ext cx="320040" cy="320040"/>
          </a:xfrm>
          <a:prstGeom prst="rect">
            <a:avLst/>
          </a:prstGeom>
          <a:solidFill>
            <a:srgbClr val="F7F9F9"/>
          </a:solidFill>
          <a:ln w="5080">
            <a:solidFill>
              <a:srgbClr val="DCE2E4"/>
            </a:solidFill>
            <a:prstDash val="solid"/>
          </a:ln>
        </p:spPr>
      </p:sp>
      <p:sp>
        <p:nvSpPr>
          <p:cNvPr id="11" name="Shape 8"/>
          <p:cNvSpPr/>
          <p:nvPr/>
        </p:nvSpPr>
        <p:spPr>
          <a:xfrm>
            <a:off x="1618488" y="2103120"/>
            <a:ext cx="320040" cy="320040"/>
          </a:xfrm>
          <a:prstGeom prst="rect">
            <a:avLst/>
          </a:prstGeom>
          <a:solidFill>
            <a:srgbClr val="E8ECEE"/>
          </a:solidFill>
          <a:ln w="5080">
            <a:solidFill>
              <a:srgbClr val="DCE2E4"/>
            </a:solidFill>
            <a:prstDash val="solid"/>
          </a:ln>
        </p:spPr>
      </p:sp>
      <p:sp>
        <p:nvSpPr>
          <p:cNvPr id="12" name="Shape 9"/>
          <p:cNvSpPr/>
          <p:nvPr/>
        </p:nvSpPr>
        <p:spPr>
          <a:xfrm>
            <a:off x="1938528" y="2103120"/>
            <a:ext cx="320040" cy="320040"/>
          </a:xfrm>
          <a:prstGeom prst="rect">
            <a:avLst/>
          </a:prstGeom>
          <a:solidFill>
            <a:srgbClr val="F7F9F9"/>
          </a:solidFill>
          <a:ln w="5080">
            <a:solidFill>
              <a:srgbClr val="DCE2E4"/>
            </a:solidFill>
            <a:prstDash val="solid"/>
          </a:ln>
        </p:spPr>
      </p:sp>
      <p:sp>
        <p:nvSpPr>
          <p:cNvPr id="13" name="Shape 10"/>
          <p:cNvSpPr/>
          <p:nvPr/>
        </p:nvSpPr>
        <p:spPr>
          <a:xfrm>
            <a:off x="2258568" y="2103120"/>
            <a:ext cx="320040" cy="320040"/>
          </a:xfrm>
          <a:prstGeom prst="rect">
            <a:avLst/>
          </a:prstGeom>
          <a:solidFill>
            <a:srgbClr val="E8ECEE"/>
          </a:solidFill>
          <a:ln w="5080">
            <a:solidFill>
              <a:srgbClr val="DCE2E4"/>
            </a:solidFill>
            <a:prstDash val="solid"/>
          </a:ln>
        </p:spPr>
      </p:sp>
      <p:sp>
        <p:nvSpPr>
          <p:cNvPr id="14" name="Shape 11"/>
          <p:cNvSpPr/>
          <p:nvPr/>
        </p:nvSpPr>
        <p:spPr>
          <a:xfrm>
            <a:off x="2578608" y="2103120"/>
            <a:ext cx="320040" cy="320040"/>
          </a:xfrm>
          <a:prstGeom prst="rect">
            <a:avLst/>
          </a:prstGeom>
          <a:solidFill>
            <a:srgbClr val="F7F9F9"/>
          </a:solidFill>
          <a:ln w="5080">
            <a:solidFill>
              <a:srgbClr val="DCE2E4"/>
            </a:solidFill>
            <a:prstDash val="solid"/>
          </a:ln>
        </p:spPr>
      </p:sp>
      <p:sp>
        <p:nvSpPr>
          <p:cNvPr id="15" name="Shape 12"/>
          <p:cNvSpPr/>
          <p:nvPr/>
        </p:nvSpPr>
        <p:spPr>
          <a:xfrm>
            <a:off x="2898648" y="2103120"/>
            <a:ext cx="320040" cy="320040"/>
          </a:xfrm>
          <a:prstGeom prst="rect">
            <a:avLst/>
          </a:prstGeom>
          <a:solidFill>
            <a:srgbClr val="E8ECEE"/>
          </a:solidFill>
          <a:ln w="5080">
            <a:solidFill>
              <a:srgbClr val="DCE2E4"/>
            </a:solidFill>
            <a:prstDash val="solid"/>
          </a:ln>
        </p:spPr>
      </p:sp>
      <p:sp>
        <p:nvSpPr>
          <p:cNvPr id="16" name="Shape 13"/>
          <p:cNvSpPr/>
          <p:nvPr/>
        </p:nvSpPr>
        <p:spPr>
          <a:xfrm>
            <a:off x="3218688" y="2103120"/>
            <a:ext cx="320040" cy="320040"/>
          </a:xfrm>
          <a:prstGeom prst="rect">
            <a:avLst/>
          </a:prstGeom>
          <a:solidFill>
            <a:srgbClr val="F7F9F9"/>
          </a:solidFill>
          <a:ln w="5080">
            <a:solidFill>
              <a:srgbClr val="DCE2E4"/>
            </a:solidFill>
            <a:prstDash val="solid"/>
          </a:ln>
        </p:spPr>
      </p:sp>
      <p:sp>
        <p:nvSpPr>
          <p:cNvPr id="17" name="Shape 14"/>
          <p:cNvSpPr/>
          <p:nvPr/>
        </p:nvSpPr>
        <p:spPr>
          <a:xfrm>
            <a:off x="978408" y="2423160"/>
            <a:ext cx="320040" cy="320040"/>
          </a:xfrm>
          <a:prstGeom prst="rect">
            <a:avLst/>
          </a:prstGeom>
          <a:solidFill>
            <a:srgbClr val="F7F9F9"/>
          </a:solidFill>
          <a:ln w="5080">
            <a:solidFill>
              <a:srgbClr val="DCE2E4"/>
            </a:solidFill>
            <a:prstDash val="solid"/>
          </a:ln>
        </p:spPr>
      </p:sp>
      <p:sp>
        <p:nvSpPr>
          <p:cNvPr id="18" name="Shape 15"/>
          <p:cNvSpPr/>
          <p:nvPr/>
        </p:nvSpPr>
        <p:spPr>
          <a:xfrm>
            <a:off x="1298448" y="2423160"/>
            <a:ext cx="320040" cy="320040"/>
          </a:xfrm>
          <a:prstGeom prst="rect">
            <a:avLst/>
          </a:prstGeom>
          <a:solidFill>
            <a:srgbClr val="E8ECEE"/>
          </a:solidFill>
          <a:ln w="5080">
            <a:solidFill>
              <a:srgbClr val="DCE2E4"/>
            </a:solidFill>
            <a:prstDash val="solid"/>
          </a:ln>
        </p:spPr>
      </p:sp>
      <p:sp>
        <p:nvSpPr>
          <p:cNvPr id="19" name="Shape 16"/>
          <p:cNvSpPr/>
          <p:nvPr/>
        </p:nvSpPr>
        <p:spPr>
          <a:xfrm>
            <a:off x="1618488" y="2423160"/>
            <a:ext cx="320040" cy="320040"/>
          </a:xfrm>
          <a:prstGeom prst="rect">
            <a:avLst/>
          </a:prstGeom>
          <a:solidFill>
            <a:srgbClr val="F7F9F9"/>
          </a:solidFill>
          <a:ln w="5080">
            <a:solidFill>
              <a:srgbClr val="DCE2E4"/>
            </a:solidFill>
            <a:prstDash val="solid"/>
          </a:ln>
        </p:spPr>
      </p:sp>
      <p:sp>
        <p:nvSpPr>
          <p:cNvPr id="20" name="Shape 17"/>
          <p:cNvSpPr/>
          <p:nvPr/>
        </p:nvSpPr>
        <p:spPr>
          <a:xfrm>
            <a:off x="1938528" y="2423160"/>
            <a:ext cx="320040" cy="320040"/>
          </a:xfrm>
          <a:prstGeom prst="rect">
            <a:avLst/>
          </a:prstGeom>
          <a:solidFill>
            <a:srgbClr val="E8ECEE"/>
          </a:solidFill>
          <a:ln w="5080">
            <a:solidFill>
              <a:srgbClr val="DCE2E4"/>
            </a:solidFill>
            <a:prstDash val="solid"/>
          </a:ln>
        </p:spPr>
      </p:sp>
      <p:sp>
        <p:nvSpPr>
          <p:cNvPr id="21" name="Shape 18"/>
          <p:cNvSpPr/>
          <p:nvPr/>
        </p:nvSpPr>
        <p:spPr>
          <a:xfrm>
            <a:off x="2258568" y="2423160"/>
            <a:ext cx="320040" cy="320040"/>
          </a:xfrm>
          <a:prstGeom prst="rect">
            <a:avLst/>
          </a:prstGeom>
          <a:solidFill>
            <a:srgbClr val="F7F9F9"/>
          </a:solidFill>
          <a:ln w="5080">
            <a:solidFill>
              <a:srgbClr val="DCE2E4"/>
            </a:solidFill>
            <a:prstDash val="solid"/>
          </a:ln>
        </p:spPr>
      </p:sp>
      <p:sp>
        <p:nvSpPr>
          <p:cNvPr id="22" name="Shape 19"/>
          <p:cNvSpPr/>
          <p:nvPr/>
        </p:nvSpPr>
        <p:spPr>
          <a:xfrm>
            <a:off x="2578608" y="2423160"/>
            <a:ext cx="320040" cy="320040"/>
          </a:xfrm>
          <a:prstGeom prst="rect">
            <a:avLst/>
          </a:prstGeom>
          <a:solidFill>
            <a:srgbClr val="E8ECEE"/>
          </a:solidFill>
          <a:ln w="5080">
            <a:solidFill>
              <a:srgbClr val="DCE2E4"/>
            </a:solidFill>
            <a:prstDash val="solid"/>
          </a:ln>
        </p:spPr>
      </p:sp>
      <p:sp>
        <p:nvSpPr>
          <p:cNvPr id="23" name="Shape 20"/>
          <p:cNvSpPr/>
          <p:nvPr/>
        </p:nvSpPr>
        <p:spPr>
          <a:xfrm>
            <a:off x="2898648" y="2423160"/>
            <a:ext cx="320040" cy="320040"/>
          </a:xfrm>
          <a:prstGeom prst="rect">
            <a:avLst/>
          </a:prstGeom>
          <a:solidFill>
            <a:srgbClr val="F7F9F9"/>
          </a:solidFill>
          <a:ln w="5080">
            <a:solidFill>
              <a:srgbClr val="DCE2E4"/>
            </a:solidFill>
            <a:prstDash val="solid"/>
          </a:ln>
        </p:spPr>
      </p:sp>
      <p:sp>
        <p:nvSpPr>
          <p:cNvPr id="24" name="Shape 21"/>
          <p:cNvSpPr/>
          <p:nvPr/>
        </p:nvSpPr>
        <p:spPr>
          <a:xfrm>
            <a:off x="3218688" y="2423160"/>
            <a:ext cx="320040" cy="320040"/>
          </a:xfrm>
          <a:prstGeom prst="rect">
            <a:avLst/>
          </a:prstGeom>
          <a:solidFill>
            <a:srgbClr val="E8ECEE"/>
          </a:solidFill>
          <a:ln w="5080">
            <a:solidFill>
              <a:srgbClr val="DCE2E4"/>
            </a:solidFill>
            <a:prstDash val="solid"/>
          </a:ln>
        </p:spPr>
      </p:sp>
      <p:sp>
        <p:nvSpPr>
          <p:cNvPr id="25" name="Shape 22"/>
          <p:cNvSpPr/>
          <p:nvPr/>
        </p:nvSpPr>
        <p:spPr>
          <a:xfrm>
            <a:off x="978408" y="2743200"/>
            <a:ext cx="320040" cy="320040"/>
          </a:xfrm>
          <a:prstGeom prst="rect">
            <a:avLst/>
          </a:prstGeom>
          <a:solidFill>
            <a:srgbClr val="E8ECEE"/>
          </a:solidFill>
          <a:ln w="5080">
            <a:solidFill>
              <a:srgbClr val="DCE2E4"/>
            </a:solidFill>
            <a:prstDash val="solid"/>
          </a:ln>
        </p:spPr>
      </p:sp>
      <p:sp>
        <p:nvSpPr>
          <p:cNvPr id="26" name="Shape 23"/>
          <p:cNvSpPr/>
          <p:nvPr/>
        </p:nvSpPr>
        <p:spPr>
          <a:xfrm>
            <a:off x="1298448" y="2743200"/>
            <a:ext cx="320040" cy="320040"/>
          </a:xfrm>
          <a:prstGeom prst="rect">
            <a:avLst/>
          </a:prstGeom>
          <a:solidFill>
            <a:srgbClr val="F7F9F9"/>
          </a:solidFill>
          <a:ln w="5080">
            <a:solidFill>
              <a:srgbClr val="DCE2E4"/>
            </a:solidFill>
            <a:prstDash val="solid"/>
          </a:ln>
        </p:spPr>
      </p:sp>
      <p:sp>
        <p:nvSpPr>
          <p:cNvPr id="27" name="Shape 24"/>
          <p:cNvSpPr/>
          <p:nvPr/>
        </p:nvSpPr>
        <p:spPr>
          <a:xfrm>
            <a:off x="1618488" y="2743200"/>
            <a:ext cx="320040" cy="320040"/>
          </a:xfrm>
          <a:prstGeom prst="rect">
            <a:avLst/>
          </a:prstGeom>
          <a:solidFill>
            <a:srgbClr val="E8ECEE"/>
          </a:solidFill>
          <a:ln w="5080">
            <a:solidFill>
              <a:srgbClr val="DCE2E4"/>
            </a:solidFill>
            <a:prstDash val="solid"/>
          </a:ln>
        </p:spPr>
      </p:sp>
      <p:sp>
        <p:nvSpPr>
          <p:cNvPr id="28" name="Shape 25"/>
          <p:cNvSpPr/>
          <p:nvPr/>
        </p:nvSpPr>
        <p:spPr>
          <a:xfrm>
            <a:off x="1938528" y="2743200"/>
            <a:ext cx="320040" cy="320040"/>
          </a:xfrm>
          <a:prstGeom prst="rect">
            <a:avLst/>
          </a:prstGeom>
          <a:solidFill>
            <a:srgbClr val="F7F9F9"/>
          </a:solidFill>
          <a:ln w="5080">
            <a:solidFill>
              <a:srgbClr val="DCE2E4"/>
            </a:solidFill>
            <a:prstDash val="solid"/>
          </a:ln>
        </p:spPr>
      </p:sp>
      <p:sp>
        <p:nvSpPr>
          <p:cNvPr id="29" name="Shape 26"/>
          <p:cNvSpPr/>
          <p:nvPr/>
        </p:nvSpPr>
        <p:spPr>
          <a:xfrm>
            <a:off x="2258568" y="2743200"/>
            <a:ext cx="320040" cy="320040"/>
          </a:xfrm>
          <a:prstGeom prst="rect">
            <a:avLst/>
          </a:prstGeom>
          <a:solidFill>
            <a:srgbClr val="E8ECEE"/>
          </a:solidFill>
          <a:ln w="5080">
            <a:solidFill>
              <a:srgbClr val="DCE2E4"/>
            </a:solidFill>
            <a:prstDash val="solid"/>
          </a:ln>
        </p:spPr>
      </p:sp>
      <p:sp>
        <p:nvSpPr>
          <p:cNvPr id="30" name="Shape 27"/>
          <p:cNvSpPr/>
          <p:nvPr/>
        </p:nvSpPr>
        <p:spPr>
          <a:xfrm>
            <a:off x="2578608" y="2743200"/>
            <a:ext cx="320040" cy="320040"/>
          </a:xfrm>
          <a:prstGeom prst="rect">
            <a:avLst/>
          </a:prstGeom>
          <a:solidFill>
            <a:srgbClr val="F7F9F9"/>
          </a:solidFill>
          <a:ln w="5080">
            <a:solidFill>
              <a:srgbClr val="DCE2E4"/>
            </a:solidFill>
            <a:prstDash val="solid"/>
          </a:ln>
        </p:spPr>
      </p:sp>
      <p:sp>
        <p:nvSpPr>
          <p:cNvPr id="31" name="Shape 28"/>
          <p:cNvSpPr/>
          <p:nvPr/>
        </p:nvSpPr>
        <p:spPr>
          <a:xfrm>
            <a:off x="2898648" y="2743200"/>
            <a:ext cx="320040" cy="320040"/>
          </a:xfrm>
          <a:prstGeom prst="rect">
            <a:avLst/>
          </a:prstGeom>
          <a:solidFill>
            <a:srgbClr val="E8ECEE"/>
          </a:solidFill>
          <a:ln w="5080">
            <a:solidFill>
              <a:srgbClr val="DCE2E4"/>
            </a:solidFill>
            <a:prstDash val="solid"/>
          </a:ln>
        </p:spPr>
      </p:sp>
      <p:sp>
        <p:nvSpPr>
          <p:cNvPr id="32" name="Shape 29"/>
          <p:cNvSpPr/>
          <p:nvPr/>
        </p:nvSpPr>
        <p:spPr>
          <a:xfrm>
            <a:off x="3218688" y="2743200"/>
            <a:ext cx="320040" cy="320040"/>
          </a:xfrm>
          <a:prstGeom prst="rect">
            <a:avLst/>
          </a:prstGeom>
          <a:solidFill>
            <a:srgbClr val="F7F9F9"/>
          </a:solidFill>
          <a:ln w="5080">
            <a:solidFill>
              <a:srgbClr val="DCE2E4"/>
            </a:solidFill>
            <a:prstDash val="solid"/>
          </a:ln>
        </p:spPr>
      </p:sp>
      <p:sp>
        <p:nvSpPr>
          <p:cNvPr id="33" name="Shape 30"/>
          <p:cNvSpPr/>
          <p:nvPr/>
        </p:nvSpPr>
        <p:spPr>
          <a:xfrm>
            <a:off x="978408" y="3063240"/>
            <a:ext cx="320040" cy="320040"/>
          </a:xfrm>
          <a:prstGeom prst="rect">
            <a:avLst/>
          </a:prstGeom>
          <a:solidFill>
            <a:srgbClr val="F7F9F9"/>
          </a:solidFill>
          <a:ln w="5080">
            <a:solidFill>
              <a:srgbClr val="DCE2E4"/>
            </a:solidFill>
            <a:prstDash val="solid"/>
          </a:ln>
        </p:spPr>
      </p:sp>
      <p:sp>
        <p:nvSpPr>
          <p:cNvPr id="34" name="Shape 31"/>
          <p:cNvSpPr/>
          <p:nvPr/>
        </p:nvSpPr>
        <p:spPr>
          <a:xfrm>
            <a:off x="1298448" y="3063240"/>
            <a:ext cx="320040" cy="320040"/>
          </a:xfrm>
          <a:prstGeom prst="rect">
            <a:avLst/>
          </a:prstGeom>
          <a:solidFill>
            <a:srgbClr val="E8ECEE"/>
          </a:solidFill>
          <a:ln w="5080">
            <a:solidFill>
              <a:srgbClr val="DCE2E4"/>
            </a:solidFill>
            <a:prstDash val="solid"/>
          </a:ln>
        </p:spPr>
      </p:sp>
      <p:sp>
        <p:nvSpPr>
          <p:cNvPr id="35" name="Shape 32"/>
          <p:cNvSpPr/>
          <p:nvPr/>
        </p:nvSpPr>
        <p:spPr>
          <a:xfrm>
            <a:off x="1618488" y="3063240"/>
            <a:ext cx="320040" cy="320040"/>
          </a:xfrm>
          <a:prstGeom prst="rect">
            <a:avLst/>
          </a:prstGeom>
          <a:solidFill>
            <a:srgbClr val="F7F9F9"/>
          </a:solidFill>
          <a:ln w="5080">
            <a:solidFill>
              <a:srgbClr val="DCE2E4"/>
            </a:solidFill>
            <a:prstDash val="solid"/>
          </a:ln>
        </p:spPr>
      </p:sp>
      <p:sp>
        <p:nvSpPr>
          <p:cNvPr id="36" name="Shape 33"/>
          <p:cNvSpPr/>
          <p:nvPr/>
        </p:nvSpPr>
        <p:spPr>
          <a:xfrm>
            <a:off x="1938528" y="3063240"/>
            <a:ext cx="320040" cy="320040"/>
          </a:xfrm>
          <a:prstGeom prst="rect">
            <a:avLst/>
          </a:prstGeom>
          <a:solidFill>
            <a:srgbClr val="E8ECEE"/>
          </a:solidFill>
          <a:ln w="5080">
            <a:solidFill>
              <a:srgbClr val="DCE2E4"/>
            </a:solidFill>
            <a:prstDash val="solid"/>
          </a:ln>
        </p:spPr>
      </p:sp>
      <p:sp>
        <p:nvSpPr>
          <p:cNvPr id="37" name="Shape 34"/>
          <p:cNvSpPr/>
          <p:nvPr/>
        </p:nvSpPr>
        <p:spPr>
          <a:xfrm>
            <a:off x="2258568" y="3063240"/>
            <a:ext cx="320040" cy="320040"/>
          </a:xfrm>
          <a:prstGeom prst="rect">
            <a:avLst/>
          </a:prstGeom>
          <a:solidFill>
            <a:srgbClr val="F7F9F9"/>
          </a:solidFill>
          <a:ln w="5080">
            <a:solidFill>
              <a:srgbClr val="DCE2E4"/>
            </a:solidFill>
            <a:prstDash val="solid"/>
          </a:ln>
        </p:spPr>
      </p:sp>
      <p:sp>
        <p:nvSpPr>
          <p:cNvPr id="38" name="Shape 35"/>
          <p:cNvSpPr/>
          <p:nvPr/>
        </p:nvSpPr>
        <p:spPr>
          <a:xfrm>
            <a:off x="2578608" y="3063240"/>
            <a:ext cx="320040" cy="320040"/>
          </a:xfrm>
          <a:prstGeom prst="rect">
            <a:avLst/>
          </a:prstGeom>
          <a:solidFill>
            <a:srgbClr val="E8ECEE"/>
          </a:solidFill>
          <a:ln w="5080">
            <a:solidFill>
              <a:srgbClr val="DCE2E4"/>
            </a:solidFill>
            <a:prstDash val="solid"/>
          </a:ln>
        </p:spPr>
      </p:sp>
      <p:sp>
        <p:nvSpPr>
          <p:cNvPr id="39" name="Shape 36"/>
          <p:cNvSpPr/>
          <p:nvPr/>
        </p:nvSpPr>
        <p:spPr>
          <a:xfrm>
            <a:off x="2898648" y="3063240"/>
            <a:ext cx="320040" cy="320040"/>
          </a:xfrm>
          <a:prstGeom prst="rect">
            <a:avLst/>
          </a:prstGeom>
          <a:solidFill>
            <a:srgbClr val="F7F9F9"/>
          </a:solidFill>
          <a:ln w="5080">
            <a:solidFill>
              <a:srgbClr val="DCE2E4"/>
            </a:solidFill>
            <a:prstDash val="solid"/>
          </a:ln>
        </p:spPr>
      </p:sp>
      <p:sp>
        <p:nvSpPr>
          <p:cNvPr id="40" name="Shape 37"/>
          <p:cNvSpPr/>
          <p:nvPr/>
        </p:nvSpPr>
        <p:spPr>
          <a:xfrm>
            <a:off x="3218688" y="3063240"/>
            <a:ext cx="320040" cy="320040"/>
          </a:xfrm>
          <a:prstGeom prst="rect">
            <a:avLst/>
          </a:prstGeom>
          <a:solidFill>
            <a:srgbClr val="E8ECEE"/>
          </a:solidFill>
          <a:ln w="5080">
            <a:solidFill>
              <a:srgbClr val="DCE2E4"/>
            </a:solidFill>
            <a:prstDash val="solid"/>
          </a:ln>
        </p:spPr>
      </p:sp>
      <p:sp>
        <p:nvSpPr>
          <p:cNvPr id="41" name="Shape 38"/>
          <p:cNvSpPr/>
          <p:nvPr/>
        </p:nvSpPr>
        <p:spPr>
          <a:xfrm>
            <a:off x="978408" y="3383280"/>
            <a:ext cx="320040" cy="320040"/>
          </a:xfrm>
          <a:prstGeom prst="rect">
            <a:avLst/>
          </a:prstGeom>
          <a:solidFill>
            <a:srgbClr val="E8ECEE"/>
          </a:solidFill>
          <a:ln w="5080">
            <a:solidFill>
              <a:srgbClr val="DCE2E4"/>
            </a:solidFill>
            <a:prstDash val="solid"/>
          </a:ln>
        </p:spPr>
      </p:sp>
      <p:sp>
        <p:nvSpPr>
          <p:cNvPr id="42" name="Shape 39"/>
          <p:cNvSpPr/>
          <p:nvPr/>
        </p:nvSpPr>
        <p:spPr>
          <a:xfrm>
            <a:off x="1298448" y="3383280"/>
            <a:ext cx="320040" cy="320040"/>
          </a:xfrm>
          <a:prstGeom prst="rect">
            <a:avLst/>
          </a:prstGeom>
          <a:solidFill>
            <a:srgbClr val="F7F9F9"/>
          </a:solidFill>
          <a:ln w="5080">
            <a:solidFill>
              <a:srgbClr val="DCE2E4"/>
            </a:solidFill>
            <a:prstDash val="solid"/>
          </a:ln>
        </p:spPr>
      </p:sp>
      <p:sp>
        <p:nvSpPr>
          <p:cNvPr id="43" name="Shape 40"/>
          <p:cNvSpPr/>
          <p:nvPr/>
        </p:nvSpPr>
        <p:spPr>
          <a:xfrm>
            <a:off x="1618488" y="3383280"/>
            <a:ext cx="320040" cy="320040"/>
          </a:xfrm>
          <a:prstGeom prst="rect">
            <a:avLst/>
          </a:prstGeom>
          <a:solidFill>
            <a:srgbClr val="E8ECEE"/>
          </a:solidFill>
          <a:ln w="5080">
            <a:solidFill>
              <a:srgbClr val="DCE2E4"/>
            </a:solidFill>
            <a:prstDash val="solid"/>
          </a:ln>
        </p:spPr>
      </p:sp>
      <p:sp>
        <p:nvSpPr>
          <p:cNvPr id="44" name="Shape 41"/>
          <p:cNvSpPr/>
          <p:nvPr/>
        </p:nvSpPr>
        <p:spPr>
          <a:xfrm>
            <a:off x="1938528" y="3383280"/>
            <a:ext cx="320040" cy="320040"/>
          </a:xfrm>
          <a:prstGeom prst="rect">
            <a:avLst/>
          </a:prstGeom>
          <a:solidFill>
            <a:srgbClr val="F7F9F9"/>
          </a:solidFill>
          <a:ln w="5080">
            <a:solidFill>
              <a:srgbClr val="DCE2E4"/>
            </a:solidFill>
            <a:prstDash val="solid"/>
          </a:ln>
        </p:spPr>
      </p:sp>
      <p:sp>
        <p:nvSpPr>
          <p:cNvPr id="45" name="Shape 42"/>
          <p:cNvSpPr/>
          <p:nvPr/>
        </p:nvSpPr>
        <p:spPr>
          <a:xfrm>
            <a:off x="2258568" y="3383280"/>
            <a:ext cx="320040" cy="320040"/>
          </a:xfrm>
          <a:prstGeom prst="rect">
            <a:avLst/>
          </a:prstGeom>
          <a:solidFill>
            <a:srgbClr val="E8ECEE"/>
          </a:solidFill>
          <a:ln w="5080">
            <a:solidFill>
              <a:srgbClr val="DCE2E4"/>
            </a:solidFill>
            <a:prstDash val="solid"/>
          </a:ln>
        </p:spPr>
      </p:sp>
      <p:sp>
        <p:nvSpPr>
          <p:cNvPr id="46" name="Shape 43"/>
          <p:cNvSpPr/>
          <p:nvPr/>
        </p:nvSpPr>
        <p:spPr>
          <a:xfrm>
            <a:off x="2578608" y="3383280"/>
            <a:ext cx="320040" cy="320040"/>
          </a:xfrm>
          <a:prstGeom prst="rect">
            <a:avLst/>
          </a:prstGeom>
          <a:solidFill>
            <a:srgbClr val="F7F9F9"/>
          </a:solidFill>
          <a:ln w="5080">
            <a:solidFill>
              <a:srgbClr val="DCE2E4"/>
            </a:solidFill>
            <a:prstDash val="solid"/>
          </a:ln>
        </p:spPr>
      </p:sp>
      <p:sp>
        <p:nvSpPr>
          <p:cNvPr id="47" name="Shape 44"/>
          <p:cNvSpPr/>
          <p:nvPr/>
        </p:nvSpPr>
        <p:spPr>
          <a:xfrm>
            <a:off x="2898648" y="3383280"/>
            <a:ext cx="320040" cy="320040"/>
          </a:xfrm>
          <a:prstGeom prst="rect">
            <a:avLst/>
          </a:prstGeom>
          <a:solidFill>
            <a:srgbClr val="E8ECEE"/>
          </a:solidFill>
          <a:ln w="5080">
            <a:solidFill>
              <a:srgbClr val="DCE2E4"/>
            </a:solidFill>
            <a:prstDash val="solid"/>
          </a:ln>
        </p:spPr>
      </p:sp>
      <p:sp>
        <p:nvSpPr>
          <p:cNvPr id="48" name="Shape 45"/>
          <p:cNvSpPr/>
          <p:nvPr/>
        </p:nvSpPr>
        <p:spPr>
          <a:xfrm>
            <a:off x="3218688" y="3383280"/>
            <a:ext cx="320040" cy="320040"/>
          </a:xfrm>
          <a:prstGeom prst="rect">
            <a:avLst/>
          </a:prstGeom>
          <a:solidFill>
            <a:srgbClr val="F7F9F9"/>
          </a:solidFill>
          <a:ln w="5080">
            <a:solidFill>
              <a:srgbClr val="DCE2E4"/>
            </a:solidFill>
            <a:prstDash val="solid"/>
          </a:ln>
        </p:spPr>
      </p:sp>
      <p:sp>
        <p:nvSpPr>
          <p:cNvPr id="49" name="Shape 46"/>
          <p:cNvSpPr/>
          <p:nvPr/>
        </p:nvSpPr>
        <p:spPr>
          <a:xfrm>
            <a:off x="978408" y="3703320"/>
            <a:ext cx="320040" cy="320040"/>
          </a:xfrm>
          <a:prstGeom prst="rect">
            <a:avLst/>
          </a:prstGeom>
          <a:solidFill>
            <a:srgbClr val="F7F9F9"/>
          </a:solidFill>
          <a:ln w="5080">
            <a:solidFill>
              <a:srgbClr val="DCE2E4"/>
            </a:solidFill>
            <a:prstDash val="solid"/>
          </a:ln>
        </p:spPr>
      </p:sp>
      <p:sp>
        <p:nvSpPr>
          <p:cNvPr id="50" name="Shape 47"/>
          <p:cNvSpPr/>
          <p:nvPr/>
        </p:nvSpPr>
        <p:spPr>
          <a:xfrm>
            <a:off x="1298448" y="3703320"/>
            <a:ext cx="320040" cy="320040"/>
          </a:xfrm>
          <a:prstGeom prst="rect">
            <a:avLst/>
          </a:prstGeom>
          <a:solidFill>
            <a:srgbClr val="E8ECEE"/>
          </a:solidFill>
          <a:ln w="5080">
            <a:solidFill>
              <a:srgbClr val="DCE2E4"/>
            </a:solidFill>
            <a:prstDash val="solid"/>
          </a:ln>
        </p:spPr>
      </p:sp>
      <p:sp>
        <p:nvSpPr>
          <p:cNvPr id="51" name="Shape 48"/>
          <p:cNvSpPr/>
          <p:nvPr/>
        </p:nvSpPr>
        <p:spPr>
          <a:xfrm>
            <a:off x="1618488" y="3703320"/>
            <a:ext cx="320040" cy="320040"/>
          </a:xfrm>
          <a:prstGeom prst="rect">
            <a:avLst/>
          </a:prstGeom>
          <a:solidFill>
            <a:srgbClr val="F7F9F9"/>
          </a:solidFill>
          <a:ln w="5080">
            <a:solidFill>
              <a:srgbClr val="DCE2E4"/>
            </a:solidFill>
            <a:prstDash val="solid"/>
          </a:ln>
        </p:spPr>
      </p:sp>
      <p:sp>
        <p:nvSpPr>
          <p:cNvPr id="52" name="Shape 49"/>
          <p:cNvSpPr/>
          <p:nvPr/>
        </p:nvSpPr>
        <p:spPr>
          <a:xfrm>
            <a:off x="1938528" y="3703320"/>
            <a:ext cx="320040" cy="320040"/>
          </a:xfrm>
          <a:prstGeom prst="rect">
            <a:avLst/>
          </a:prstGeom>
          <a:solidFill>
            <a:srgbClr val="E8ECEE"/>
          </a:solidFill>
          <a:ln w="5080">
            <a:solidFill>
              <a:srgbClr val="DCE2E4"/>
            </a:solidFill>
            <a:prstDash val="solid"/>
          </a:ln>
        </p:spPr>
      </p:sp>
      <p:sp>
        <p:nvSpPr>
          <p:cNvPr id="53" name="Shape 50"/>
          <p:cNvSpPr/>
          <p:nvPr/>
        </p:nvSpPr>
        <p:spPr>
          <a:xfrm>
            <a:off x="2258568" y="3703320"/>
            <a:ext cx="320040" cy="320040"/>
          </a:xfrm>
          <a:prstGeom prst="rect">
            <a:avLst/>
          </a:prstGeom>
          <a:solidFill>
            <a:srgbClr val="F7F9F9"/>
          </a:solidFill>
          <a:ln w="5080">
            <a:solidFill>
              <a:srgbClr val="DCE2E4"/>
            </a:solidFill>
            <a:prstDash val="solid"/>
          </a:ln>
        </p:spPr>
      </p:sp>
      <p:sp>
        <p:nvSpPr>
          <p:cNvPr id="54" name="Shape 51"/>
          <p:cNvSpPr/>
          <p:nvPr/>
        </p:nvSpPr>
        <p:spPr>
          <a:xfrm>
            <a:off x="2578608" y="3703320"/>
            <a:ext cx="320040" cy="320040"/>
          </a:xfrm>
          <a:prstGeom prst="rect">
            <a:avLst/>
          </a:prstGeom>
          <a:solidFill>
            <a:srgbClr val="E8ECEE"/>
          </a:solidFill>
          <a:ln w="5080">
            <a:solidFill>
              <a:srgbClr val="DCE2E4"/>
            </a:solidFill>
            <a:prstDash val="solid"/>
          </a:ln>
        </p:spPr>
      </p:sp>
      <p:sp>
        <p:nvSpPr>
          <p:cNvPr id="55" name="Shape 52"/>
          <p:cNvSpPr/>
          <p:nvPr/>
        </p:nvSpPr>
        <p:spPr>
          <a:xfrm>
            <a:off x="2898648" y="3703320"/>
            <a:ext cx="320040" cy="320040"/>
          </a:xfrm>
          <a:prstGeom prst="rect">
            <a:avLst/>
          </a:prstGeom>
          <a:solidFill>
            <a:srgbClr val="F7F9F9"/>
          </a:solidFill>
          <a:ln w="5080">
            <a:solidFill>
              <a:srgbClr val="DCE2E4"/>
            </a:solidFill>
            <a:prstDash val="solid"/>
          </a:ln>
        </p:spPr>
      </p:sp>
      <p:sp>
        <p:nvSpPr>
          <p:cNvPr id="56" name="Shape 53"/>
          <p:cNvSpPr/>
          <p:nvPr/>
        </p:nvSpPr>
        <p:spPr>
          <a:xfrm>
            <a:off x="3218688" y="3703320"/>
            <a:ext cx="320040" cy="320040"/>
          </a:xfrm>
          <a:prstGeom prst="rect">
            <a:avLst/>
          </a:prstGeom>
          <a:solidFill>
            <a:srgbClr val="E8ECEE"/>
          </a:solidFill>
          <a:ln w="5080">
            <a:solidFill>
              <a:srgbClr val="DCE2E4"/>
            </a:solidFill>
            <a:prstDash val="solid"/>
          </a:ln>
        </p:spPr>
      </p:sp>
      <p:sp>
        <p:nvSpPr>
          <p:cNvPr id="57" name="Shape 54"/>
          <p:cNvSpPr/>
          <p:nvPr/>
        </p:nvSpPr>
        <p:spPr>
          <a:xfrm>
            <a:off x="978408" y="4023360"/>
            <a:ext cx="320040" cy="320040"/>
          </a:xfrm>
          <a:prstGeom prst="rect">
            <a:avLst/>
          </a:prstGeom>
          <a:solidFill>
            <a:srgbClr val="E8ECEE"/>
          </a:solidFill>
          <a:ln w="5080">
            <a:solidFill>
              <a:srgbClr val="DCE2E4"/>
            </a:solidFill>
            <a:prstDash val="solid"/>
          </a:ln>
        </p:spPr>
      </p:sp>
      <p:sp>
        <p:nvSpPr>
          <p:cNvPr id="58" name="Shape 55"/>
          <p:cNvSpPr/>
          <p:nvPr/>
        </p:nvSpPr>
        <p:spPr>
          <a:xfrm>
            <a:off x="1298448" y="4023360"/>
            <a:ext cx="320040" cy="320040"/>
          </a:xfrm>
          <a:prstGeom prst="rect">
            <a:avLst/>
          </a:prstGeom>
          <a:solidFill>
            <a:srgbClr val="F7F9F9"/>
          </a:solidFill>
          <a:ln w="5080">
            <a:solidFill>
              <a:srgbClr val="DCE2E4"/>
            </a:solidFill>
            <a:prstDash val="solid"/>
          </a:ln>
        </p:spPr>
      </p:sp>
      <p:sp>
        <p:nvSpPr>
          <p:cNvPr id="59" name="Shape 56"/>
          <p:cNvSpPr/>
          <p:nvPr/>
        </p:nvSpPr>
        <p:spPr>
          <a:xfrm>
            <a:off x="1618488" y="4023360"/>
            <a:ext cx="320040" cy="320040"/>
          </a:xfrm>
          <a:prstGeom prst="rect">
            <a:avLst/>
          </a:prstGeom>
          <a:solidFill>
            <a:srgbClr val="E8ECEE"/>
          </a:solidFill>
          <a:ln w="5080">
            <a:solidFill>
              <a:srgbClr val="DCE2E4"/>
            </a:solidFill>
            <a:prstDash val="solid"/>
          </a:ln>
        </p:spPr>
      </p:sp>
      <p:sp>
        <p:nvSpPr>
          <p:cNvPr id="60" name="Shape 57"/>
          <p:cNvSpPr/>
          <p:nvPr/>
        </p:nvSpPr>
        <p:spPr>
          <a:xfrm>
            <a:off x="1938528" y="4023360"/>
            <a:ext cx="320040" cy="320040"/>
          </a:xfrm>
          <a:prstGeom prst="rect">
            <a:avLst/>
          </a:prstGeom>
          <a:solidFill>
            <a:srgbClr val="F7F9F9"/>
          </a:solidFill>
          <a:ln w="5080">
            <a:solidFill>
              <a:srgbClr val="DCE2E4"/>
            </a:solidFill>
            <a:prstDash val="solid"/>
          </a:ln>
        </p:spPr>
      </p:sp>
      <p:sp>
        <p:nvSpPr>
          <p:cNvPr id="61" name="Shape 58"/>
          <p:cNvSpPr/>
          <p:nvPr/>
        </p:nvSpPr>
        <p:spPr>
          <a:xfrm>
            <a:off x="2258568" y="4023360"/>
            <a:ext cx="320040" cy="320040"/>
          </a:xfrm>
          <a:prstGeom prst="rect">
            <a:avLst/>
          </a:prstGeom>
          <a:solidFill>
            <a:srgbClr val="E8ECEE"/>
          </a:solidFill>
          <a:ln w="5080">
            <a:solidFill>
              <a:srgbClr val="DCE2E4"/>
            </a:solidFill>
            <a:prstDash val="solid"/>
          </a:ln>
        </p:spPr>
      </p:sp>
      <p:sp>
        <p:nvSpPr>
          <p:cNvPr id="62" name="Shape 59"/>
          <p:cNvSpPr/>
          <p:nvPr/>
        </p:nvSpPr>
        <p:spPr>
          <a:xfrm>
            <a:off x="2578608" y="4023360"/>
            <a:ext cx="320040" cy="320040"/>
          </a:xfrm>
          <a:prstGeom prst="rect">
            <a:avLst/>
          </a:prstGeom>
          <a:solidFill>
            <a:srgbClr val="F7F9F9"/>
          </a:solidFill>
          <a:ln w="5080">
            <a:solidFill>
              <a:srgbClr val="DCE2E4"/>
            </a:solidFill>
            <a:prstDash val="solid"/>
          </a:ln>
        </p:spPr>
      </p:sp>
      <p:sp>
        <p:nvSpPr>
          <p:cNvPr id="63" name="Shape 60"/>
          <p:cNvSpPr/>
          <p:nvPr/>
        </p:nvSpPr>
        <p:spPr>
          <a:xfrm>
            <a:off x="2898648" y="4023360"/>
            <a:ext cx="320040" cy="320040"/>
          </a:xfrm>
          <a:prstGeom prst="rect">
            <a:avLst/>
          </a:prstGeom>
          <a:solidFill>
            <a:srgbClr val="E8ECEE"/>
          </a:solidFill>
          <a:ln w="5080">
            <a:solidFill>
              <a:srgbClr val="DCE2E4"/>
            </a:solidFill>
            <a:prstDash val="solid"/>
          </a:ln>
        </p:spPr>
      </p:sp>
      <p:sp>
        <p:nvSpPr>
          <p:cNvPr id="64" name="Shape 61"/>
          <p:cNvSpPr/>
          <p:nvPr/>
        </p:nvSpPr>
        <p:spPr>
          <a:xfrm>
            <a:off x="3218688" y="4023360"/>
            <a:ext cx="320040" cy="320040"/>
          </a:xfrm>
          <a:prstGeom prst="rect">
            <a:avLst/>
          </a:prstGeom>
          <a:solidFill>
            <a:srgbClr val="F7F9F9"/>
          </a:solidFill>
          <a:ln w="5080">
            <a:solidFill>
              <a:srgbClr val="DCE2E4"/>
            </a:solidFill>
            <a:prstDash val="solid"/>
          </a:ln>
        </p:spPr>
      </p:sp>
      <p:sp>
        <p:nvSpPr>
          <p:cNvPr id="65" name="Shape 62"/>
          <p:cNvSpPr/>
          <p:nvPr/>
        </p:nvSpPr>
        <p:spPr>
          <a:xfrm>
            <a:off x="978408" y="4343400"/>
            <a:ext cx="320040" cy="320040"/>
          </a:xfrm>
          <a:prstGeom prst="rect">
            <a:avLst/>
          </a:prstGeom>
          <a:solidFill>
            <a:srgbClr val="F7F9F9"/>
          </a:solidFill>
          <a:ln w="5080">
            <a:solidFill>
              <a:srgbClr val="DCE2E4"/>
            </a:solidFill>
            <a:prstDash val="solid"/>
          </a:ln>
        </p:spPr>
      </p:sp>
      <p:sp>
        <p:nvSpPr>
          <p:cNvPr id="66" name="Shape 63"/>
          <p:cNvSpPr/>
          <p:nvPr/>
        </p:nvSpPr>
        <p:spPr>
          <a:xfrm>
            <a:off x="1298448" y="4343400"/>
            <a:ext cx="320040" cy="320040"/>
          </a:xfrm>
          <a:prstGeom prst="rect">
            <a:avLst/>
          </a:prstGeom>
          <a:solidFill>
            <a:srgbClr val="E8ECEE"/>
          </a:solidFill>
          <a:ln w="5080">
            <a:solidFill>
              <a:srgbClr val="DCE2E4"/>
            </a:solidFill>
            <a:prstDash val="solid"/>
          </a:ln>
        </p:spPr>
      </p:sp>
      <p:sp>
        <p:nvSpPr>
          <p:cNvPr id="67" name="Shape 64"/>
          <p:cNvSpPr/>
          <p:nvPr/>
        </p:nvSpPr>
        <p:spPr>
          <a:xfrm>
            <a:off x="1618488" y="4343400"/>
            <a:ext cx="320040" cy="320040"/>
          </a:xfrm>
          <a:prstGeom prst="rect">
            <a:avLst/>
          </a:prstGeom>
          <a:solidFill>
            <a:srgbClr val="F7F9F9"/>
          </a:solidFill>
          <a:ln w="5080">
            <a:solidFill>
              <a:srgbClr val="DCE2E4"/>
            </a:solidFill>
            <a:prstDash val="solid"/>
          </a:ln>
        </p:spPr>
      </p:sp>
      <p:sp>
        <p:nvSpPr>
          <p:cNvPr id="68" name="Shape 65"/>
          <p:cNvSpPr/>
          <p:nvPr/>
        </p:nvSpPr>
        <p:spPr>
          <a:xfrm>
            <a:off x="1938528" y="4343400"/>
            <a:ext cx="320040" cy="320040"/>
          </a:xfrm>
          <a:prstGeom prst="rect">
            <a:avLst/>
          </a:prstGeom>
          <a:solidFill>
            <a:srgbClr val="E8ECEE"/>
          </a:solidFill>
          <a:ln w="5080">
            <a:solidFill>
              <a:srgbClr val="DCE2E4"/>
            </a:solidFill>
            <a:prstDash val="solid"/>
          </a:ln>
        </p:spPr>
      </p:sp>
      <p:sp>
        <p:nvSpPr>
          <p:cNvPr id="69" name="Shape 66"/>
          <p:cNvSpPr/>
          <p:nvPr/>
        </p:nvSpPr>
        <p:spPr>
          <a:xfrm>
            <a:off x="2258568" y="4343400"/>
            <a:ext cx="320040" cy="320040"/>
          </a:xfrm>
          <a:prstGeom prst="rect">
            <a:avLst/>
          </a:prstGeom>
          <a:solidFill>
            <a:srgbClr val="F7F9F9"/>
          </a:solidFill>
          <a:ln w="5080">
            <a:solidFill>
              <a:srgbClr val="DCE2E4"/>
            </a:solidFill>
            <a:prstDash val="solid"/>
          </a:ln>
        </p:spPr>
      </p:sp>
      <p:sp>
        <p:nvSpPr>
          <p:cNvPr id="70" name="Shape 67"/>
          <p:cNvSpPr/>
          <p:nvPr/>
        </p:nvSpPr>
        <p:spPr>
          <a:xfrm>
            <a:off x="2578608" y="4343400"/>
            <a:ext cx="320040" cy="320040"/>
          </a:xfrm>
          <a:prstGeom prst="rect">
            <a:avLst/>
          </a:prstGeom>
          <a:solidFill>
            <a:srgbClr val="E8ECEE"/>
          </a:solidFill>
          <a:ln w="5080">
            <a:solidFill>
              <a:srgbClr val="DCE2E4"/>
            </a:solidFill>
            <a:prstDash val="solid"/>
          </a:ln>
        </p:spPr>
      </p:sp>
      <p:sp>
        <p:nvSpPr>
          <p:cNvPr id="71" name="Shape 68"/>
          <p:cNvSpPr/>
          <p:nvPr/>
        </p:nvSpPr>
        <p:spPr>
          <a:xfrm>
            <a:off x="2898648" y="4343400"/>
            <a:ext cx="320040" cy="320040"/>
          </a:xfrm>
          <a:prstGeom prst="rect">
            <a:avLst/>
          </a:prstGeom>
          <a:solidFill>
            <a:srgbClr val="F7F9F9"/>
          </a:solidFill>
          <a:ln w="5080">
            <a:solidFill>
              <a:srgbClr val="DCE2E4"/>
            </a:solidFill>
            <a:prstDash val="solid"/>
          </a:ln>
        </p:spPr>
      </p:sp>
      <p:sp>
        <p:nvSpPr>
          <p:cNvPr id="72" name="Shape 69"/>
          <p:cNvSpPr/>
          <p:nvPr/>
        </p:nvSpPr>
        <p:spPr>
          <a:xfrm>
            <a:off x="3218688" y="4343400"/>
            <a:ext cx="320040" cy="320040"/>
          </a:xfrm>
          <a:prstGeom prst="rect">
            <a:avLst/>
          </a:prstGeom>
          <a:solidFill>
            <a:srgbClr val="E8ECEE"/>
          </a:solidFill>
          <a:ln w="5080">
            <a:solidFill>
              <a:srgbClr val="DCE2E4"/>
            </a:solidFill>
            <a:prstDash val="solid"/>
          </a:ln>
        </p:spPr>
      </p:sp>
      <p:sp>
        <p:nvSpPr>
          <p:cNvPr id="73" name="Shape 70"/>
          <p:cNvSpPr/>
          <p:nvPr/>
        </p:nvSpPr>
        <p:spPr>
          <a:xfrm>
            <a:off x="1028700" y="2153412"/>
            <a:ext cx="219456" cy="219456"/>
          </a:xfrm>
          <a:prstGeom prst="ellipse">
            <a:avLst/>
          </a:prstGeom>
          <a:solidFill>
            <a:srgbClr val="31424E"/>
          </a:solidFill>
          <a:ln/>
        </p:spPr>
      </p:sp>
      <p:sp>
        <p:nvSpPr>
          <p:cNvPr id="74" name="Shape 71"/>
          <p:cNvSpPr/>
          <p:nvPr/>
        </p:nvSpPr>
        <p:spPr>
          <a:xfrm>
            <a:off x="1348740" y="4073652"/>
            <a:ext cx="219456" cy="219456"/>
          </a:xfrm>
          <a:prstGeom prst="ellipse">
            <a:avLst/>
          </a:prstGeom>
          <a:solidFill>
            <a:srgbClr val="31424E"/>
          </a:solidFill>
          <a:ln/>
        </p:spPr>
      </p:sp>
      <p:sp>
        <p:nvSpPr>
          <p:cNvPr id="75" name="Shape 72"/>
          <p:cNvSpPr/>
          <p:nvPr/>
        </p:nvSpPr>
        <p:spPr>
          <a:xfrm>
            <a:off x="1668780" y="3113532"/>
            <a:ext cx="219456" cy="219456"/>
          </a:xfrm>
          <a:prstGeom prst="ellipse">
            <a:avLst/>
          </a:prstGeom>
          <a:solidFill>
            <a:srgbClr val="31424E"/>
          </a:solidFill>
          <a:ln/>
        </p:spPr>
      </p:sp>
      <p:sp>
        <p:nvSpPr>
          <p:cNvPr id="76" name="Shape 73"/>
          <p:cNvSpPr/>
          <p:nvPr/>
        </p:nvSpPr>
        <p:spPr>
          <a:xfrm>
            <a:off x="1988820" y="3753612"/>
            <a:ext cx="219456" cy="219456"/>
          </a:xfrm>
          <a:prstGeom prst="ellipse">
            <a:avLst/>
          </a:prstGeom>
          <a:solidFill>
            <a:srgbClr val="31424E"/>
          </a:solidFill>
          <a:ln/>
        </p:spPr>
      </p:sp>
      <p:sp>
        <p:nvSpPr>
          <p:cNvPr id="77" name="Shape 74"/>
          <p:cNvSpPr/>
          <p:nvPr/>
        </p:nvSpPr>
        <p:spPr>
          <a:xfrm>
            <a:off x="2308860" y="4393692"/>
            <a:ext cx="219456" cy="219456"/>
          </a:xfrm>
          <a:prstGeom prst="ellipse">
            <a:avLst/>
          </a:prstGeom>
          <a:solidFill>
            <a:srgbClr val="31424E"/>
          </a:solidFill>
          <a:ln/>
        </p:spPr>
      </p:sp>
      <p:sp>
        <p:nvSpPr>
          <p:cNvPr id="78" name="Shape 75"/>
          <p:cNvSpPr/>
          <p:nvPr/>
        </p:nvSpPr>
        <p:spPr>
          <a:xfrm>
            <a:off x="2628900" y="2473452"/>
            <a:ext cx="219456" cy="219456"/>
          </a:xfrm>
          <a:prstGeom prst="ellipse">
            <a:avLst/>
          </a:prstGeom>
          <a:solidFill>
            <a:srgbClr val="31424E"/>
          </a:solidFill>
          <a:ln/>
        </p:spPr>
      </p:sp>
      <p:sp>
        <p:nvSpPr>
          <p:cNvPr id="79" name="Shape 76"/>
          <p:cNvSpPr/>
          <p:nvPr/>
        </p:nvSpPr>
        <p:spPr>
          <a:xfrm>
            <a:off x="2948940" y="3433572"/>
            <a:ext cx="219456" cy="219456"/>
          </a:xfrm>
          <a:prstGeom prst="ellipse">
            <a:avLst/>
          </a:prstGeom>
          <a:solidFill>
            <a:srgbClr val="31424E"/>
          </a:solidFill>
          <a:ln/>
        </p:spPr>
      </p:sp>
      <p:sp>
        <p:nvSpPr>
          <p:cNvPr id="80" name="Shape 77"/>
          <p:cNvSpPr/>
          <p:nvPr/>
        </p:nvSpPr>
        <p:spPr>
          <a:xfrm>
            <a:off x="3268980" y="4073652"/>
            <a:ext cx="219456" cy="219456"/>
          </a:xfrm>
          <a:prstGeom prst="ellipse">
            <a:avLst/>
          </a:prstGeom>
          <a:solidFill>
            <a:srgbClr val="31424E"/>
          </a:solidFill>
          <a:ln/>
        </p:spPr>
      </p:sp>
      <p:sp>
        <p:nvSpPr>
          <p:cNvPr id="81" name="Text 78"/>
          <p:cNvSpPr/>
          <p:nvPr/>
        </p:nvSpPr>
        <p:spPr>
          <a:xfrm>
            <a:off x="758952" y="4828032"/>
            <a:ext cx="3017520" cy="658368"/>
          </a:xfrm>
          <a:prstGeom prst="rect">
            <a:avLst/>
          </a:prstGeom>
          <a:noFill/>
          <a:ln/>
        </p:spPr>
        <p:txBody>
          <a:bodyPr wrap="square" lIns="0" tIns="0" rIns="0" bIns="0" rtlCol="0" anchor="t"/>
          <a:lstStyle/>
          <a:p>
            <a:pPr indent="0" marL="0">
              <a:lnSpc>
                <a:spcPct val="112000"/>
              </a:lnSpc>
              <a:buNone/>
            </a:pPr>
            <a:r>
              <a:rPr lang="en-US" sz="1150" dirty="0">
                <a:solidFill>
                  <a:srgbClr val="6E7A83"/>
                </a:solidFill>
                <a:latin typeface="Calibri" pitchFamily="34" charset="0"/>
                <a:ea typeface="Calibri" pitchFamily="34" charset="-122"/>
                <a:cs typeface="Calibri" pitchFamily="34" charset="-120"/>
              </a:rPr>
              <a:t>A complete assignment to all 8 variables - typically violating several constraints. Pick a conflicted queen, say Q8.</a:t>
            </a:r>
            <a:endParaRPr lang="en-US" sz="1150" dirty="0"/>
          </a:p>
        </p:txBody>
      </p:sp>
      <p:sp>
        <p:nvSpPr>
          <p:cNvPr id="82" name="Shape 79"/>
          <p:cNvSpPr/>
          <p:nvPr/>
        </p:nvSpPr>
        <p:spPr>
          <a:xfrm>
            <a:off x="4297680" y="1417320"/>
            <a:ext cx="3520440" cy="4160520"/>
          </a:xfrm>
          <a:prstGeom prst="roundRect">
            <a:avLst>
              <a:gd name="adj" fmla="val 1558"/>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83" name="Text 80"/>
          <p:cNvSpPr/>
          <p:nvPr/>
        </p:nvSpPr>
        <p:spPr>
          <a:xfrm>
            <a:off x="4553712" y="1627632"/>
            <a:ext cx="3017520" cy="301752"/>
          </a:xfrm>
          <a:prstGeom prst="rect">
            <a:avLst/>
          </a:prstGeom>
          <a:noFill/>
          <a:ln/>
        </p:spPr>
        <p:txBody>
          <a:bodyPr wrap="square" lIns="0" tIns="0" rIns="0" bIns="0" rtlCol="0" anchor="ctr"/>
          <a:lstStyle/>
          <a:p>
            <a:pPr indent="0" marL="0">
              <a:buNone/>
            </a:pPr>
            <a:r>
              <a:rPr lang="en-US" sz="1600" b="1" dirty="0">
                <a:solidFill>
                  <a:srgbClr val="50808E"/>
                </a:solidFill>
                <a:latin typeface="Calibri" pitchFamily="34" charset="0"/>
                <a:ea typeface="Calibri" pitchFamily="34" charset="-122"/>
                <a:cs typeface="Calibri" pitchFamily="34" charset="-120"/>
              </a:rPr>
              <a:t>Step 1</a:t>
            </a:r>
            <a:endParaRPr lang="en-US" sz="1600" dirty="0"/>
          </a:p>
        </p:txBody>
      </p:sp>
      <p:sp>
        <p:nvSpPr>
          <p:cNvPr id="84" name="Shape 81"/>
          <p:cNvSpPr/>
          <p:nvPr/>
        </p:nvSpPr>
        <p:spPr>
          <a:xfrm>
            <a:off x="4773168" y="2103120"/>
            <a:ext cx="320040" cy="320040"/>
          </a:xfrm>
          <a:prstGeom prst="rect">
            <a:avLst/>
          </a:prstGeom>
          <a:solidFill>
            <a:srgbClr val="E8ECEE"/>
          </a:solidFill>
          <a:ln w="5080">
            <a:solidFill>
              <a:srgbClr val="DCE2E4"/>
            </a:solidFill>
            <a:prstDash val="solid"/>
          </a:ln>
        </p:spPr>
      </p:sp>
      <p:sp>
        <p:nvSpPr>
          <p:cNvPr id="85" name="Shape 82"/>
          <p:cNvSpPr/>
          <p:nvPr/>
        </p:nvSpPr>
        <p:spPr>
          <a:xfrm>
            <a:off x="5093208" y="2103120"/>
            <a:ext cx="320040" cy="320040"/>
          </a:xfrm>
          <a:prstGeom prst="rect">
            <a:avLst/>
          </a:prstGeom>
          <a:solidFill>
            <a:srgbClr val="F7F9F9"/>
          </a:solidFill>
          <a:ln w="5080">
            <a:solidFill>
              <a:srgbClr val="DCE2E4"/>
            </a:solidFill>
            <a:prstDash val="solid"/>
          </a:ln>
        </p:spPr>
      </p:sp>
      <p:sp>
        <p:nvSpPr>
          <p:cNvPr id="86" name="Shape 83"/>
          <p:cNvSpPr/>
          <p:nvPr/>
        </p:nvSpPr>
        <p:spPr>
          <a:xfrm>
            <a:off x="5413248" y="2103120"/>
            <a:ext cx="320040" cy="320040"/>
          </a:xfrm>
          <a:prstGeom prst="rect">
            <a:avLst/>
          </a:prstGeom>
          <a:solidFill>
            <a:srgbClr val="E8ECEE"/>
          </a:solidFill>
          <a:ln w="5080">
            <a:solidFill>
              <a:srgbClr val="DCE2E4"/>
            </a:solidFill>
            <a:prstDash val="solid"/>
          </a:ln>
        </p:spPr>
      </p:sp>
      <p:sp>
        <p:nvSpPr>
          <p:cNvPr id="87" name="Shape 84"/>
          <p:cNvSpPr/>
          <p:nvPr/>
        </p:nvSpPr>
        <p:spPr>
          <a:xfrm>
            <a:off x="5733288" y="2103120"/>
            <a:ext cx="320040" cy="320040"/>
          </a:xfrm>
          <a:prstGeom prst="rect">
            <a:avLst/>
          </a:prstGeom>
          <a:solidFill>
            <a:srgbClr val="F7F9F9"/>
          </a:solidFill>
          <a:ln w="5080">
            <a:solidFill>
              <a:srgbClr val="DCE2E4"/>
            </a:solidFill>
            <a:prstDash val="solid"/>
          </a:ln>
        </p:spPr>
      </p:sp>
      <p:sp>
        <p:nvSpPr>
          <p:cNvPr id="88" name="Shape 85"/>
          <p:cNvSpPr/>
          <p:nvPr/>
        </p:nvSpPr>
        <p:spPr>
          <a:xfrm>
            <a:off x="6053328" y="2103120"/>
            <a:ext cx="320040" cy="320040"/>
          </a:xfrm>
          <a:prstGeom prst="rect">
            <a:avLst/>
          </a:prstGeom>
          <a:solidFill>
            <a:srgbClr val="E8ECEE"/>
          </a:solidFill>
          <a:ln w="5080">
            <a:solidFill>
              <a:srgbClr val="DCE2E4"/>
            </a:solidFill>
            <a:prstDash val="solid"/>
          </a:ln>
        </p:spPr>
      </p:sp>
      <p:sp>
        <p:nvSpPr>
          <p:cNvPr id="89" name="Shape 86"/>
          <p:cNvSpPr/>
          <p:nvPr/>
        </p:nvSpPr>
        <p:spPr>
          <a:xfrm>
            <a:off x="6373368" y="2103120"/>
            <a:ext cx="320040" cy="320040"/>
          </a:xfrm>
          <a:prstGeom prst="rect">
            <a:avLst/>
          </a:prstGeom>
          <a:solidFill>
            <a:srgbClr val="F7F9F9"/>
          </a:solidFill>
          <a:ln w="5080">
            <a:solidFill>
              <a:srgbClr val="DCE2E4"/>
            </a:solidFill>
            <a:prstDash val="solid"/>
          </a:ln>
        </p:spPr>
      </p:sp>
      <p:sp>
        <p:nvSpPr>
          <p:cNvPr id="90" name="Shape 87"/>
          <p:cNvSpPr/>
          <p:nvPr/>
        </p:nvSpPr>
        <p:spPr>
          <a:xfrm>
            <a:off x="6693408" y="2103120"/>
            <a:ext cx="320040" cy="320040"/>
          </a:xfrm>
          <a:prstGeom prst="rect">
            <a:avLst/>
          </a:prstGeom>
          <a:solidFill>
            <a:srgbClr val="E8ECEE"/>
          </a:solidFill>
          <a:ln w="5080">
            <a:solidFill>
              <a:srgbClr val="DCE2E4"/>
            </a:solidFill>
            <a:prstDash val="solid"/>
          </a:ln>
        </p:spPr>
      </p:sp>
      <p:sp>
        <p:nvSpPr>
          <p:cNvPr id="91" name="Shape 88"/>
          <p:cNvSpPr/>
          <p:nvPr/>
        </p:nvSpPr>
        <p:spPr>
          <a:xfrm>
            <a:off x="7013448" y="2103120"/>
            <a:ext cx="320040" cy="320040"/>
          </a:xfrm>
          <a:prstGeom prst="rect">
            <a:avLst/>
          </a:prstGeom>
          <a:solidFill>
            <a:srgbClr val="F7F9F9"/>
          </a:solidFill>
          <a:ln w="5080">
            <a:solidFill>
              <a:srgbClr val="DCE2E4"/>
            </a:solidFill>
            <a:prstDash val="solid"/>
          </a:ln>
        </p:spPr>
      </p:sp>
      <p:sp>
        <p:nvSpPr>
          <p:cNvPr id="92" name="Shape 89"/>
          <p:cNvSpPr/>
          <p:nvPr/>
        </p:nvSpPr>
        <p:spPr>
          <a:xfrm>
            <a:off x="4773168" y="2423160"/>
            <a:ext cx="320040" cy="320040"/>
          </a:xfrm>
          <a:prstGeom prst="rect">
            <a:avLst/>
          </a:prstGeom>
          <a:solidFill>
            <a:srgbClr val="F7F9F9"/>
          </a:solidFill>
          <a:ln w="5080">
            <a:solidFill>
              <a:srgbClr val="DCE2E4"/>
            </a:solidFill>
            <a:prstDash val="solid"/>
          </a:ln>
        </p:spPr>
      </p:sp>
      <p:sp>
        <p:nvSpPr>
          <p:cNvPr id="93" name="Shape 90"/>
          <p:cNvSpPr/>
          <p:nvPr/>
        </p:nvSpPr>
        <p:spPr>
          <a:xfrm>
            <a:off x="5093208" y="2423160"/>
            <a:ext cx="320040" cy="320040"/>
          </a:xfrm>
          <a:prstGeom prst="rect">
            <a:avLst/>
          </a:prstGeom>
          <a:solidFill>
            <a:srgbClr val="E8ECEE"/>
          </a:solidFill>
          <a:ln w="5080">
            <a:solidFill>
              <a:srgbClr val="DCE2E4"/>
            </a:solidFill>
            <a:prstDash val="solid"/>
          </a:ln>
        </p:spPr>
      </p:sp>
      <p:sp>
        <p:nvSpPr>
          <p:cNvPr id="94" name="Shape 91"/>
          <p:cNvSpPr/>
          <p:nvPr/>
        </p:nvSpPr>
        <p:spPr>
          <a:xfrm>
            <a:off x="5413248" y="2423160"/>
            <a:ext cx="320040" cy="320040"/>
          </a:xfrm>
          <a:prstGeom prst="rect">
            <a:avLst/>
          </a:prstGeom>
          <a:solidFill>
            <a:srgbClr val="F7F9F9"/>
          </a:solidFill>
          <a:ln w="5080">
            <a:solidFill>
              <a:srgbClr val="DCE2E4"/>
            </a:solidFill>
            <a:prstDash val="solid"/>
          </a:ln>
        </p:spPr>
      </p:sp>
      <p:sp>
        <p:nvSpPr>
          <p:cNvPr id="95" name="Shape 92"/>
          <p:cNvSpPr/>
          <p:nvPr/>
        </p:nvSpPr>
        <p:spPr>
          <a:xfrm>
            <a:off x="5733288" y="2423160"/>
            <a:ext cx="320040" cy="320040"/>
          </a:xfrm>
          <a:prstGeom prst="rect">
            <a:avLst/>
          </a:prstGeom>
          <a:solidFill>
            <a:srgbClr val="E8ECEE"/>
          </a:solidFill>
          <a:ln w="5080">
            <a:solidFill>
              <a:srgbClr val="DCE2E4"/>
            </a:solidFill>
            <a:prstDash val="solid"/>
          </a:ln>
        </p:spPr>
      </p:sp>
      <p:sp>
        <p:nvSpPr>
          <p:cNvPr id="96" name="Shape 93"/>
          <p:cNvSpPr/>
          <p:nvPr/>
        </p:nvSpPr>
        <p:spPr>
          <a:xfrm>
            <a:off x="6053328" y="2423160"/>
            <a:ext cx="320040" cy="320040"/>
          </a:xfrm>
          <a:prstGeom prst="rect">
            <a:avLst/>
          </a:prstGeom>
          <a:solidFill>
            <a:srgbClr val="F7F9F9"/>
          </a:solidFill>
          <a:ln w="5080">
            <a:solidFill>
              <a:srgbClr val="DCE2E4"/>
            </a:solidFill>
            <a:prstDash val="solid"/>
          </a:ln>
        </p:spPr>
      </p:sp>
      <p:sp>
        <p:nvSpPr>
          <p:cNvPr id="97" name="Shape 94"/>
          <p:cNvSpPr/>
          <p:nvPr/>
        </p:nvSpPr>
        <p:spPr>
          <a:xfrm>
            <a:off x="6373368" y="2423160"/>
            <a:ext cx="320040" cy="320040"/>
          </a:xfrm>
          <a:prstGeom prst="rect">
            <a:avLst/>
          </a:prstGeom>
          <a:solidFill>
            <a:srgbClr val="E8ECEE"/>
          </a:solidFill>
          <a:ln w="5080">
            <a:solidFill>
              <a:srgbClr val="DCE2E4"/>
            </a:solidFill>
            <a:prstDash val="solid"/>
          </a:ln>
        </p:spPr>
      </p:sp>
      <p:sp>
        <p:nvSpPr>
          <p:cNvPr id="98" name="Shape 95"/>
          <p:cNvSpPr/>
          <p:nvPr/>
        </p:nvSpPr>
        <p:spPr>
          <a:xfrm>
            <a:off x="6693408" y="2423160"/>
            <a:ext cx="320040" cy="320040"/>
          </a:xfrm>
          <a:prstGeom prst="rect">
            <a:avLst/>
          </a:prstGeom>
          <a:solidFill>
            <a:srgbClr val="F7F9F9"/>
          </a:solidFill>
          <a:ln w="5080">
            <a:solidFill>
              <a:srgbClr val="DCE2E4"/>
            </a:solidFill>
            <a:prstDash val="solid"/>
          </a:ln>
        </p:spPr>
      </p:sp>
      <p:sp>
        <p:nvSpPr>
          <p:cNvPr id="99" name="Shape 96"/>
          <p:cNvSpPr/>
          <p:nvPr/>
        </p:nvSpPr>
        <p:spPr>
          <a:xfrm>
            <a:off x="7013448" y="2423160"/>
            <a:ext cx="320040" cy="320040"/>
          </a:xfrm>
          <a:prstGeom prst="rect">
            <a:avLst/>
          </a:prstGeom>
          <a:solidFill>
            <a:srgbClr val="E8ECEE"/>
          </a:solidFill>
          <a:ln w="5080">
            <a:solidFill>
              <a:srgbClr val="DCE2E4"/>
            </a:solidFill>
            <a:prstDash val="solid"/>
          </a:ln>
        </p:spPr>
      </p:sp>
      <p:sp>
        <p:nvSpPr>
          <p:cNvPr id="100" name="Shape 97"/>
          <p:cNvSpPr/>
          <p:nvPr/>
        </p:nvSpPr>
        <p:spPr>
          <a:xfrm>
            <a:off x="4773168" y="2743200"/>
            <a:ext cx="320040" cy="320040"/>
          </a:xfrm>
          <a:prstGeom prst="rect">
            <a:avLst/>
          </a:prstGeom>
          <a:solidFill>
            <a:srgbClr val="E8ECEE"/>
          </a:solidFill>
          <a:ln w="5080">
            <a:solidFill>
              <a:srgbClr val="DCE2E4"/>
            </a:solidFill>
            <a:prstDash val="solid"/>
          </a:ln>
        </p:spPr>
      </p:sp>
      <p:sp>
        <p:nvSpPr>
          <p:cNvPr id="101" name="Shape 98"/>
          <p:cNvSpPr/>
          <p:nvPr/>
        </p:nvSpPr>
        <p:spPr>
          <a:xfrm>
            <a:off x="5093208" y="2743200"/>
            <a:ext cx="320040" cy="320040"/>
          </a:xfrm>
          <a:prstGeom prst="rect">
            <a:avLst/>
          </a:prstGeom>
          <a:solidFill>
            <a:srgbClr val="F7F9F9"/>
          </a:solidFill>
          <a:ln w="5080">
            <a:solidFill>
              <a:srgbClr val="DCE2E4"/>
            </a:solidFill>
            <a:prstDash val="solid"/>
          </a:ln>
        </p:spPr>
      </p:sp>
      <p:sp>
        <p:nvSpPr>
          <p:cNvPr id="102" name="Shape 99"/>
          <p:cNvSpPr/>
          <p:nvPr/>
        </p:nvSpPr>
        <p:spPr>
          <a:xfrm>
            <a:off x="5413248" y="2743200"/>
            <a:ext cx="320040" cy="320040"/>
          </a:xfrm>
          <a:prstGeom prst="rect">
            <a:avLst/>
          </a:prstGeom>
          <a:solidFill>
            <a:srgbClr val="E8ECEE"/>
          </a:solidFill>
          <a:ln w="5080">
            <a:solidFill>
              <a:srgbClr val="DCE2E4"/>
            </a:solidFill>
            <a:prstDash val="solid"/>
          </a:ln>
        </p:spPr>
      </p:sp>
      <p:sp>
        <p:nvSpPr>
          <p:cNvPr id="103" name="Shape 100"/>
          <p:cNvSpPr/>
          <p:nvPr/>
        </p:nvSpPr>
        <p:spPr>
          <a:xfrm>
            <a:off x="5733288" y="2743200"/>
            <a:ext cx="320040" cy="320040"/>
          </a:xfrm>
          <a:prstGeom prst="rect">
            <a:avLst/>
          </a:prstGeom>
          <a:solidFill>
            <a:srgbClr val="F7F9F9"/>
          </a:solidFill>
          <a:ln w="5080">
            <a:solidFill>
              <a:srgbClr val="DCE2E4"/>
            </a:solidFill>
            <a:prstDash val="solid"/>
          </a:ln>
        </p:spPr>
      </p:sp>
      <p:sp>
        <p:nvSpPr>
          <p:cNvPr id="104" name="Shape 101"/>
          <p:cNvSpPr/>
          <p:nvPr/>
        </p:nvSpPr>
        <p:spPr>
          <a:xfrm>
            <a:off x="6053328" y="2743200"/>
            <a:ext cx="320040" cy="320040"/>
          </a:xfrm>
          <a:prstGeom prst="rect">
            <a:avLst/>
          </a:prstGeom>
          <a:solidFill>
            <a:srgbClr val="E8ECEE"/>
          </a:solidFill>
          <a:ln w="5080">
            <a:solidFill>
              <a:srgbClr val="DCE2E4"/>
            </a:solidFill>
            <a:prstDash val="solid"/>
          </a:ln>
        </p:spPr>
      </p:sp>
      <p:sp>
        <p:nvSpPr>
          <p:cNvPr id="105" name="Shape 102"/>
          <p:cNvSpPr/>
          <p:nvPr/>
        </p:nvSpPr>
        <p:spPr>
          <a:xfrm>
            <a:off x="6373368" y="2743200"/>
            <a:ext cx="320040" cy="320040"/>
          </a:xfrm>
          <a:prstGeom prst="rect">
            <a:avLst/>
          </a:prstGeom>
          <a:solidFill>
            <a:srgbClr val="F7F9F9"/>
          </a:solidFill>
          <a:ln w="5080">
            <a:solidFill>
              <a:srgbClr val="DCE2E4"/>
            </a:solidFill>
            <a:prstDash val="solid"/>
          </a:ln>
        </p:spPr>
      </p:sp>
      <p:sp>
        <p:nvSpPr>
          <p:cNvPr id="106" name="Shape 103"/>
          <p:cNvSpPr/>
          <p:nvPr/>
        </p:nvSpPr>
        <p:spPr>
          <a:xfrm>
            <a:off x="6693408" y="2743200"/>
            <a:ext cx="320040" cy="320040"/>
          </a:xfrm>
          <a:prstGeom prst="rect">
            <a:avLst/>
          </a:prstGeom>
          <a:solidFill>
            <a:srgbClr val="E8ECEE"/>
          </a:solidFill>
          <a:ln w="5080">
            <a:solidFill>
              <a:srgbClr val="DCE2E4"/>
            </a:solidFill>
            <a:prstDash val="solid"/>
          </a:ln>
        </p:spPr>
      </p:sp>
      <p:sp>
        <p:nvSpPr>
          <p:cNvPr id="107" name="Shape 104"/>
          <p:cNvSpPr/>
          <p:nvPr/>
        </p:nvSpPr>
        <p:spPr>
          <a:xfrm>
            <a:off x="7013448" y="2743200"/>
            <a:ext cx="320040" cy="320040"/>
          </a:xfrm>
          <a:prstGeom prst="rect">
            <a:avLst/>
          </a:prstGeom>
          <a:solidFill>
            <a:srgbClr val="F7F9F9"/>
          </a:solidFill>
          <a:ln w="5080">
            <a:solidFill>
              <a:srgbClr val="DCE2E4"/>
            </a:solidFill>
            <a:prstDash val="solid"/>
          </a:ln>
        </p:spPr>
      </p:sp>
      <p:sp>
        <p:nvSpPr>
          <p:cNvPr id="108" name="Shape 105"/>
          <p:cNvSpPr/>
          <p:nvPr/>
        </p:nvSpPr>
        <p:spPr>
          <a:xfrm>
            <a:off x="4773168" y="3063240"/>
            <a:ext cx="320040" cy="320040"/>
          </a:xfrm>
          <a:prstGeom prst="rect">
            <a:avLst/>
          </a:prstGeom>
          <a:solidFill>
            <a:srgbClr val="F7F9F9"/>
          </a:solidFill>
          <a:ln w="5080">
            <a:solidFill>
              <a:srgbClr val="DCE2E4"/>
            </a:solidFill>
            <a:prstDash val="solid"/>
          </a:ln>
        </p:spPr>
      </p:sp>
      <p:sp>
        <p:nvSpPr>
          <p:cNvPr id="109" name="Shape 106"/>
          <p:cNvSpPr/>
          <p:nvPr/>
        </p:nvSpPr>
        <p:spPr>
          <a:xfrm>
            <a:off x="5093208" y="3063240"/>
            <a:ext cx="320040" cy="320040"/>
          </a:xfrm>
          <a:prstGeom prst="rect">
            <a:avLst/>
          </a:prstGeom>
          <a:solidFill>
            <a:srgbClr val="E8ECEE"/>
          </a:solidFill>
          <a:ln w="5080">
            <a:solidFill>
              <a:srgbClr val="DCE2E4"/>
            </a:solidFill>
            <a:prstDash val="solid"/>
          </a:ln>
        </p:spPr>
      </p:sp>
      <p:sp>
        <p:nvSpPr>
          <p:cNvPr id="110" name="Shape 107"/>
          <p:cNvSpPr/>
          <p:nvPr/>
        </p:nvSpPr>
        <p:spPr>
          <a:xfrm>
            <a:off x="5413248" y="3063240"/>
            <a:ext cx="320040" cy="320040"/>
          </a:xfrm>
          <a:prstGeom prst="rect">
            <a:avLst/>
          </a:prstGeom>
          <a:solidFill>
            <a:srgbClr val="F7F9F9"/>
          </a:solidFill>
          <a:ln w="5080">
            <a:solidFill>
              <a:srgbClr val="DCE2E4"/>
            </a:solidFill>
            <a:prstDash val="solid"/>
          </a:ln>
        </p:spPr>
      </p:sp>
      <p:sp>
        <p:nvSpPr>
          <p:cNvPr id="111" name="Shape 108"/>
          <p:cNvSpPr/>
          <p:nvPr/>
        </p:nvSpPr>
        <p:spPr>
          <a:xfrm>
            <a:off x="5733288" y="3063240"/>
            <a:ext cx="320040" cy="320040"/>
          </a:xfrm>
          <a:prstGeom prst="rect">
            <a:avLst/>
          </a:prstGeom>
          <a:solidFill>
            <a:srgbClr val="E8ECEE"/>
          </a:solidFill>
          <a:ln w="5080">
            <a:solidFill>
              <a:srgbClr val="DCE2E4"/>
            </a:solidFill>
            <a:prstDash val="solid"/>
          </a:ln>
        </p:spPr>
      </p:sp>
      <p:sp>
        <p:nvSpPr>
          <p:cNvPr id="112" name="Shape 109"/>
          <p:cNvSpPr/>
          <p:nvPr/>
        </p:nvSpPr>
        <p:spPr>
          <a:xfrm>
            <a:off x="6053328" y="3063240"/>
            <a:ext cx="320040" cy="320040"/>
          </a:xfrm>
          <a:prstGeom prst="rect">
            <a:avLst/>
          </a:prstGeom>
          <a:solidFill>
            <a:srgbClr val="F7F9F9"/>
          </a:solidFill>
          <a:ln w="5080">
            <a:solidFill>
              <a:srgbClr val="DCE2E4"/>
            </a:solidFill>
            <a:prstDash val="solid"/>
          </a:ln>
        </p:spPr>
      </p:sp>
      <p:sp>
        <p:nvSpPr>
          <p:cNvPr id="113" name="Shape 110"/>
          <p:cNvSpPr/>
          <p:nvPr/>
        </p:nvSpPr>
        <p:spPr>
          <a:xfrm>
            <a:off x="6373368" y="3063240"/>
            <a:ext cx="320040" cy="320040"/>
          </a:xfrm>
          <a:prstGeom prst="rect">
            <a:avLst/>
          </a:prstGeom>
          <a:solidFill>
            <a:srgbClr val="E8ECEE"/>
          </a:solidFill>
          <a:ln w="5080">
            <a:solidFill>
              <a:srgbClr val="DCE2E4"/>
            </a:solidFill>
            <a:prstDash val="solid"/>
          </a:ln>
        </p:spPr>
      </p:sp>
      <p:sp>
        <p:nvSpPr>
          <p:cNvPr id="114" name="Shape 111"/>
          <p:cNvSpPr/>
          <p:nvPr/>
        </p:nvSpPr>
        <p:spPr>
          <a:xfrm>
            <a:off x="6693408" y="3063240"/>
            <a:ext cx="320040" cy="320040"/>
          </a:xfrm>
          <a:prstGeom prst="rect">
            <a:avLst/>
          </a:prstGeom>
          <a:solidFill>
            <a:srgbClr val="F7F9F9"/>
          </a:solidFill>
          <a:ln w="5080">
            <a:solidFill>
              <a:srgbClr val="DCE2E4"/>
            </a:solidFill>
            <a:prstDash val="solid"/>
          </a:ln>
        </p:spPr>
      </p:sp>
      <p:sp>
        <p:nvSpPr>
          <p:cNvPr id="115" name="Shape 112"/>
          <p:cNvSpPr/>
          <p:nvPr/>
        </p:nvSpPr>
        <p:spPr>
          <a:xfrm>
            <a:off x="7013448" y="3063240"/>
            <a:ext cx="320040" cy="320040"/>
          </a:xfrm>
          <a:prstGeom prst="rect">
            <a:avLst/>
          </a:prstGeom>
          <a:solidFill>
            <a:srgbClr val="E8ECEE"/>
          </a:solidFill>
          <a:ln w="5080">
            <a:solidFill>
              <a:srgbClr val="DCE2E4"/>
            </a:solidFill>
            <a:prstDash val="solid"/>
          </a:ln>
        </p:spPr>
      </p:sp>
      <p:sp>
        <p:nvSpPr>
          <p:cNvPr id="116" name="Shape 113"/>
          <p:cNvSpPr/>
          <p:nvPr/>
        </p:nvSpPr>
        <p:spPr>
          <a:xfrm>
            <a:off x="4773168" y="3383280"/>
            <a:ext cx="320040" cy="320040"/>
          </a:xfrm>
          <a:prstGeom prst="rect">
            <a:avLst/>
          </a:prstGeom>
          <a:solidFill>
            <a:srgbClr val="E8ECEE"/>
          </a:solidFill>
          <a:ln w="5080">
            <a:solidFill>
              <a:srgbClr val="DCE2E4"/>
            </a:solidFill>
            <a:prstDash val="solid"/>
          </a:ln>
        </p:spPr>
      </p:sp>
      <p:sp>
        <p:nvSpPr>
          <p:cNvPr id="117" name="Shape 114"/>
          <p:cNvSpPr/>
          <p:nvPr/>
        </p:nvSpPr>
        <p:spPr>
          <a:xfrm>
            <a:off x="5093208" y="3383280"/>
            <a:ext cx="320040" cy="320040"/>
          </a:xfrm>
          <a:prstGeom prst="rect">
            <a:avLst/>
          </a:prstGeom>
          <a:solidFill>
            <a:srgbClr val="F7F9F9"/>
          </a:solidFill>
          <a:ln w="5080">
            <a:solidFill>
              <a:srgbClr val="DCE2E4"/>
            </a:solidFill>
            <a:prstDash val="solid"/>
          </a:ln>
        </p:spPr>
      </p:sp>
      <p:sp>
        <p:nvSpPr>
          <p:cNvPr id="118" name="Shape 115"/>
          <p:cNvSpPr/>
          <p:nvPr/>
        </p:nvSpPr>
        <p:spPr>
          <a:xfrm>
            <a:off x="5413248" y="3383280"/>
            <a:ext cx="320040" cy="320040"/>
          </a:xfrm>
          <a:prstGeom prst="rect">
            <a:avLst/>
          </a:prstGeom>
          <a:solidFill>
            <a:srgbClr val="E8ECEE"/>
          </a:solidFill>
          <a:ln w="5080">
            <a:solidFill>
              <a:srgbClr val="DCE2E4"/>
            </a:solidFill>
            <a:prstDash val="solid"/>
          </a:ln>
        </p:spPr>
      </p:sp>
      <p:sp>
        <p:nvSpPr>
          <p:cNvPr id="119" name="Shape 116"/>
          <p:cNvSpPr/>
          <p:nvPr/>
        </p:nvSpPr>
        <p:spPr>
          <a:xfrm>
            <a:off x="5733288" y="3383280"/>
            <a:ext cx="320040" cy="320040"/>
          </a:xfrm>
          <a:prstGeom prst="rect">
            <a:avLst/>
          </a:prstGeom>
          <a:solidFill>
            <a:srgbClr val="F7F9F9"/>
          </a:solidFill>
          <a:ln w="5080">
            <a:solidFill>
              <a:srgbClr val="DCE2E4"/>
            </a:solidFill>
            <a:prstDash val="solid"/>
          </a:ln>
        </p:spPr>
      </p:sp>
      <p:sp>
        <p:nvSpPr>
          <p:cNvPr id="120" name="Shape 117"/>
          <p:cNvSpPr/>
          <p:nvPr/>
        </p:nvSpPr>
        <p:spPr>
          <a:xfrm>
            <a:off x="6053328" y="3383280"/>
            <a:ext cx="320040" cy="320040"/>
          </a:xfrm>
          <a:prstGeom prst="rect">
            <a:avLst/>
          </a:prstGeom>
          <a:solidFill>
            <a:srgbClr val="E8ECEE"/>
          </a:solidFill>
          <a:ln w="5080">
            <a:solidFill>
              <a:srgbClr val="DCE2E4"/>
            </a:solidFill>
            <a:prstDash val="solid"/>
          </a:ln>
        </p:spPr>
      </p:sp>
      <p:sp>
        <p:nvSpPr>
          <p:cNvPr id="121" name="Shape 118"/>
          <p:cNvSpPr/>
          <p:nvPr/>
        </p:nvSpPr>
        <p:spPr>
          <a:xfrm>
            <a:off x="6373368" y="3383280"/>
            <a:ext cx="320040" cy="320040"/>
          </a:xfrm>
          <a:prstGeom prst="rect">
            <a:avLst/>
          </a:prstGeom>
          <a:solidFill>
            <a:srgbClr val="F7F9F9"/>
          </a:solidFill>
          <a:ln w="5080">
            <a:solidFill>
              <a:srgbClr val="DCE2E4"/>
            </a:solidFill>
            <a:prstDash val="solid"/>
          </a:ln>
        </p:spPr>
      </p:sp>
      <p:sp>
        <p:nvSpPr>
          <p:cNvPr id="122" name="Shape 119"/>
          <p:cNvSpPr/>
          <p:nvPr/>
        </p:nvSpPr>
        <p:spPr>
          <a:xfrm>
            <a:off x="6693408" y="3383280"/>
            <a:ext cx="320040" cy="320040"/>
          </a:xfrm>
          <a:prstGeom prst="rect">
            <a:avLst/>
          </a:prstGeom>
          <a:solidFill>
            <a:srgbClr val="E8ECEE"/>
          </a:solidFill>
          <a:ln w="5080">
            <a:solidFill>
              <a:srgbClr val="DCE2E4"/>
            </a:solidFill>
            <a:prstDash val="solid"/>
          </a:ln>
        </p:spPr>
      </p:sp>
      <p:sp>
        <p:nvSpPr>
          <p:cNvPr id="123" name="Shape 120"/>
          <p:cNvSpPr/>
          <p:nvPr/>
        </p:nvSpPr>
        <p:spPr>
          <a:xfrm>
            <a:off x="7013448" y="3383280"/>
            <a:ext cx="320040" cy="320040"/>
          </a:xfrm>
          <a:prstGeom prst="rect">
            <a:avLst/>
          </a:prstGeom>
          <a:solidFill>
            <a:srgbClr val="F7F9F9"/>
          </a:solidFill>
          <a:ln w="5080">
            <a:solidFill>
              <a:srgbClr val="DCE2E4"/>
            </a:solidFill>
            <a:prstDash val="solid"/>
          </a:ln>
        </p:spPr>
      </p:sp>
      <p:sp>
        <p:nvSpPr>
          <p:cNvPr id="124" name="Shape 121"/>
          <p:cNvSpPr/>
          <p:nvPr/>
        </p:nvSpPr>
        <p:spPr>
          <a:xfrm>
            <a:off x="4773168" y="3703320"/>
            <a:ext cx="320040" cy="320040"/>
          </a:xfrm>
          <a:prstGeom prst="rect">
            <a:avLst/>
          </a:prstGeom>
          <a:solidFill>
            <a:srgbClr val="F7F9F9"/>
          </a:solidFill>
          <a:ln w="5080">
            <a:solidFill>
              <a:srgbClr val="DCE2E4"/>
            </a:solidFill>
            <a:prstDash val="solid"/>
          </a:ln>
        </p:spPr>
      </p:sp>
      <p:sp>
        <p:nvSpPr>
          <p:cNvPr id="125" name="Shape 122"/>
          <p:cNvSpPr/>
          <p:nvPr/>
        </p:nvSpPr>
        <p:spPr>
          <a:xfrm>
            <a:off x="5093208" y="3703320"/>
            <a:ext cx="320040" cy="320040"/>
          </a:xfrm>
          <a:prstGeom prst="rect">
            <a:avLst/>
          </a:prstGeom>
          <a:solidFill>
            <a:srgbClr val="E8ECEE"/>
          </a:solidFill>
          <a:ln w="5080">
            <a:solidFill>
              <a:srgbClr val="DCE2E4"/>
            </a:solidFill>
            <a:prstDash val="solid"/>
          </a:ln>
        </p:spPr>
      </p:sp>
      <p:sp>
        <p:nvSpPr>
          <p:cNvPr id="126" name="Shape 123"/>
          <p:cNvSpPr/>
          <p:nvPr/>
        </p:nvSpPr>
        <p:spPr>
          <a:xfrm>
            <a:off x="5413248" y="3703320"/>
            <a:ext cx="320040" cy="320040"/>
          </a:xfrm>
          <a:prstGeom prst="rect">
            <a:avLst/>
          </a:prstGeom>
          <a:solidFill>
            <a:srgbClr val="F7F9F9"/>
          </a:solidFill>
          <a:ln w="5080">
            <a:solidFill>
              <a:srgbClr val="DCE2E4"/>
            </a:solidFill>
            <a:prstDash val="solid"/>
          </a:ln>
        </p:spPr>
      </p:sp>
      <p:sp>
        <p:nvSpPr>
          <p:cNvPr id="127" name="Shape 124"/>
          <p:cNvSpPr/>
          <p:nvPr/>
        </p:nvSpPr>
        <p:spPr>
          <a:xfrm>
            <a:off x="5733288" y="3703320"/>
            <a:ext cx="320040" cy="320040"/>
          </a:xfrm>
          <a:prstGeom prst="rect">
            <a:avLst/>
          </a:prstGeom>
          <a:solidFill>
            <a:srgbClr val="E8ECEE"/>
          </a:solidFill>
          <a:ln w="5080">
            <a:solidFill>
              <a:srgbClr val="DCE2E4"/>
            </a:solidFill>
            <a:prstDash val="solid"/>
          </a:ln>
        </p:spPr>
      </p:sp>
      <p:sp>
        <p:nvSpPr>
          <p:cNvPr id="128" name="Shape 125"/>
          <p:cNvSpPr/>
          <p:nvPr/>
        </p:nvSpPr>
        <p:spPr>
          <a:xfrm>
            <a:off x="6053328" y="3703320"/>
            <a:ext cx="320040" cy="320040"/>
          </a:xfrm>
          <a:prstGeom prst="rect">
            <a:avLst/>
          </a:prstGeom>
          <a:solidFill>
            <a:srgbClr val="F7F9F9"/>
          </a:solidFill>
          <a:ln w="5080">
            <a:solidFill>
              <a:srgbClr val="DCE2E4"/>
            </a:solidFill>
            <a:prstDash val="solid"/>
          </a:ln>
        </p:spPr>
      </p:sp>
      <p:sp>
        <p:nvSpPr>
          <p:cNvPr id="129" name="Shape 126"/>
          <p:cNvSpPr/>
          <p:nvPr/>
        </p:nvSpPr>
        <p:spPr>
          <a:xfrm>
            <a:off x="6373368" y="3703320"/>
            <a:ext cx="320040" cy="320040"/>
          </a:xfrm>
          <a:prstGeom prst="rect">
            <a:avLst/>
          </a:prstGeom>
          <a:solidFill>
            <a:srgbClr val="E8ECEE"/>
          </a:solidFill>
          <a:ln w="5080">
            <a:solidFill>
              <a:srgbClr val="DCE2E4"/>
            </a:solidFill>
            <a:prstDash val="solid"/>
          </a:ln>
        </p:spPr>
      </p:sp>
      <p:sp>
        <p:nvSpPr>
          <p:cNvPr id="130" name="Shape 127"/>
          <p:cNvSpPr/>
          <p:nvPr/>
        </p:nvSpPr>
        <p:spPr>
          <a:xfrm>
            <a:off x="6693408" y="3703320"/>
            <a:ext cx="320040" cy="320040"/>
          </a:xfrm>
          <a:prstGeom prst="rect">
            <a:avLst/>
          </a:prstGeom>
          <a:solidFill>
            <a:srgbClr val="F7F9F9"/>
          </a:solidFill>
          <a:ln w="5080">
            <a:solidFill>
              <a:srgbClr val="DCE2E4"/>
            </a:solidFill>
            <a:prstDash val="solid"/>
          </a:ln>
        </p:spPr>
      </p:sp>
      <p:sp>
        <p:nvSpPr>
          <p:cNvPr id="131" name="Shape 128"/>
          <p:cNvSpPr/>
          <p:nvPr/>
        </p:nvSpPr>
        <p:spPr>
          <a:xfrm>
            <a:off x="7013448" y="3703320"/>
            <a:ext cx="320040" cy="320040"/>
          </a:xfrm>
          <a:prstGeom prst="rect">
            <a:avLst/>
          </a:prstGeom>
          <a:solidFill>
            <a:srgbClr val="E8ECEE"/>
          </a:solidFill>
          <a:ln w="5080">
            <a:solidFill>
              <a:srgbClr val="DCE2E4"/>
            </a:solidFill>
            <a:prstDash val="solid"/>
          </a:ln>
        </p:spPr>
      </p:sp>
      <p:sp>
        <p:nvSpPr>
          <p:cNvPr id="132" name="Shape 129"/>
          <p:cNvSpPr/>
          <p:nvPr/>
        </p:nvSpPr>
        <p:spPr>
          <a:xfrm>
            <a:off x="4773168" y="4023360"/>
            <a:ext cx="320040" cy="320040"/>
          </a:xfrm>
          <a:prstGeom prst="rect">
            <a:avLst/>
          </a:prstGeom>
          <a:solidFill>
            <a:srgbClr val="E8ECEE"/>
          </a:solidFill>
          <a:ln w="5080">
            <a:solidFill>
              <a:srgbClr val="DCE2E4"/>
            </a:solidFill>
            <a:prstDash val="solid"/>
          </a:ln>
        </p:spPr>
      </p:sp>
      <p:sp>
        <p:nvSpPr>
          <p:cNvPr id="133" name="Shape 130"/>
          <p:cNvSpPr/>
          <p:nvPr/>
        </p:nvSpPr>
        <p:spPr>
          <a:xfrm>
            <a:off x="5093208" y="4023360"/>
            <a:ext cx="320040" cy="320040"/>
          </a:xfrm>
          <a:prstGeom prst="rect">
            <a:avLst/>
          </a:prstGeom>
          <a:solidFill>
            <a:srgbClr val="F7F9F9"/>
          </a:solidFill>
          <a:ln w="5080">
            <a:solidFill>
              <a:srgbClr val="DCE2E4"/>
            </a:solidFill>
            <a:prstDash val="solid"/>
          </a:ln>
        </p:spPr>
      </p:sp>
      <p:sp>
        <p:nvSpPr>
          <p:cNvPr id="134" name="Shape 131"/>
          <p:cNvSpPr/>
          <p:nvPr/>
        </p:nvSpPr>
        <p:spPr>
          <a:xfrm>
            <a:off x="5413248" y="4023360"/>
            <a:ext cx="320040" cy="320040"/>
          </a:xfrm>
          <a:prstGeom prst="rect">
            <a:avLst/>
          </a:prstGeom>
          <a:solidFill>
            <a:srgbClr val="E8ECEE"/>
          </a:solidFill>
          <a:ln w="5080">
            <a:solidFill>
              <a:srgbClr val="DCE2E4"/>
            </a:solidFill>
            <a:prstDash val="solid"/>
          </a:ln>
        </p:spPr>
      </p:sp>
      <p:sp>
        <p:nvSpPr>
          <p:cNvPr id="135" name="Shape 132"/>
          <p:cNvSpPr/>
          <p:nvPr/>
        </p:nvSpPr>
        <p:spPr>
          <a:xfrm>
            <a:off x="5733288" y="4023360"/>
            <a:ext cx="320040" cy="320040"/>
          </a:xfrm>
          <a:prstGeom prst="rect">
            <a:avLst/>
          </a:prstGeom>
          <a:solidFill>
            <a:srgbClr val="F7F9F9"/>
          </a:solidFill>
          <a:ln w="5080">
            <a:solidFill>
              <a:srgbClr val="DCE2E4"/>
            </a:solidFill>
            <a:prstDash val="solid"/>
          </a:ln>
        </p:spPr>
      </p:sp>
      <p:sp>
        <p:nvSpPr>
          <p:cNvPr id="136" name="Shape 133"/>
          <p:cNvSpPr/>
          <p:nvPr/>
        </p:nvSpPr>
        <p:spPr>
          <a:xfrm>
            <a:off x="6053328" y="4023360"/>
            <a:ext cx="320040" cy="320040"/>
          </a:xfrm>
          <a:prstGeom prst="rect">
            <a:avLst/>
          </a:prstGeom>
          <a:solidFill>
            <a:srgbClr val="E8ECEE"/>
          </a:solidFill>
          <a:ln w="5080">
            <a:solidFill>
              <a:srgbClr val="DCE2E4"/>
            </a:solidFill>
            <a:prstDash val="solid"/>
          </a:ln>
        </p:spPr>
      </p:sp>
      <p:sp>
        <p:nvSpPr>
          <p:cNvPr id="137" name="Shape 134"/>
          <p:cNvSpPr/>
          <p:nvPr/>
        </p:nvSpPr>
        <p:spPr>
          <a:xfrm>
            <a:off x="6373368" y="4023360"/>
            <a:ext cx="320040" cy="320040"/>
          </a:xfrm>
          <a:prstGeom prst="rect">
            <a:avLst/>
          </a:prstGeom>
          <a:solidFill>
            <a:srgbClr val="F7F9F9"/>
          </a:solidFill>
          <a:ln w="5080">
            <a:solidFill>
              <a:srgbClr val="DCE2E4"/>
            </a:solidFill>
            <a:prstDash val="solid"/>
          </a:ln>
        </p:spPr>
      </p:sp>
      <p:sp>
        <p:nvSpPr>
          <p:cNvPr id="138" name="Shape 135"/>
          <p:cNvSpPr/>
          <p:nvPr/>
        </p:nvSpPr>
        <p:spPr>
          <a:xfrm>
            <a:off x="6693408" y="4023360"/>
            <a:ext cx="320040" cy="320040"/>
          </a:xfrm>
          <a:prstGeom prst="rect">
            <a:avLst/>
          </a:prstGeom>
          <a:solidFill>
            <a:srgbClr val="E8ECEE"/>
          </a:solidFill>
          <a:ln w="5080">
            <a:solidFill>
              <a:srgbClr val="DCE2E4"/>
            </a:solidFill>
            <a:prstDash val="solid"/>
          </a:ln>
        </p:spPr>
      </p:sp>
      <p:sp>
        <p:nvSpPr>
          <p:cNvPr id="139" name="Shape 136"/>
          <p:cNvSpPr/>
          <p:nvPr/>
        </p:nvSpPr>
        <p:spPr>
          <a:xfrm>
            <a:off x="7013448" y="4023360"/>
            <a:ext cx="320040" cy="320040"/>
          </a:xfrm>
          <a:prstGeom prst="rect">
            <a:avLst/>
          </a:prstGeom>
          <a:solidFill>
            <a:srgbClr val="F7F9F9"/>
          </a:solidFill>
          <a:ln w="5080">
            <a:solidFill>
              <a:srgbClr val="DCE2E4"/>
            </a:solidFill>
            <a:prstDash val="solid"/>
          </a:ln>
        </p:spPr>
      </p:sp>
      <p:sp>
        <p:nvSpPr>
          <p:cNvPr id="140" name="Shape 137"/>
          <p:cNvSpPr/>
          <p:nvPr/>
        </p:nvSpPr>
        <p:spPr>
          <a:xfrm>
            <a:off x="4773168" y="4343400"/>
            <a:ext cx="320040" cy="320040"/>
          </a:xfrm>
          <a:prstGeom prst="rect">
            <a:avLst/>
          </a:prstGeom>
          <a:solidFill>
            <a:srgbClr val="F7F9F9"/>
          </a:solidFill>
          <a:ln w="5080">
            <a:solidFill>
              <a:srgbClr val="DCE2E4"/>
            </a:solidFill>
            <a:prstDash val="solid"/>
          </a:ln>
        </p:spPr>
      </p:sp>
      <p:sp>
        <p:nvSpPr>
          <p:cNvPr id="141" name="Shape 138"/>
          <p:cNvSpPr/>
          <p:nvPr/>
        </p:nvSpPr>
        <p:spPr>
          <a:xfrm>
            <a:off x="5093208" y="4343400"/>
            <a:ext cx="320040" cy="320040"/>
          </a:xfrm>
          <a:prstGeom prst="rect">
            <a:avLst/>
          </a:prstGeom>
          <a:solidFill>
            <a:srgbClr val="E8ECEE"/>
          </a:solidFill>
          <a:ln w="5080">
            <a:solidFill>
              <a:srgbClr val="DCE2E4"/>
            </a:solidFill>
            <a:prstDash val="solid"/>
          </a:ln>
        </p:spPr>
      </p:sp>
      <p:sp>
        <p:nvSpPr>
          <p:cNvPr id="142" name="Shape 139"/>
          <p:cNvSpPr/>
          <p:nvPr/>
        </p:nvSpPr>
        <p:spPr>
          <a:xfrm>
            <a:off x="5413248" y="4343400"/>
            <a:ext cx="320040" cy="320040"/>
          </a:xfrm>
          <a:prstGeom prst="rect">
            <a:avLst/>
          </a:prstGeom>
          <a:solidFill>
            <a:srgbClr val="F7F9F9"/>
          </a:solidFill>
          <a:ln w="5080">
            <a:solidFill>
              <a:srgbClr val="DCE2E4"/>
            </a:solidFill>
            <a:prstDash val="solid"/>
          </a:ln>
        </p:spPr>
      </p:sp>
      <p:sp>
        <p:nvSpPr>
          <p:cNvPr id="143" name="Shape 140"/>
          <p:cNvSpPr/>
          <p:nvPr/>
        </p:nvSpPr>
        <p:spPr>
          <a:xfrm>
            <a:off x="5733288" y="4343400"/>
            <a:ext cx="320040" cy="320040"/>
          </a:xfrm>
          <a:prstGeom prst="rect">
            <a:avLst/>
          </a:prstGeom>
          <a:solidFill>
            <a:srgbClr val="E8ECEE"/>
          </a:solidFill>
          <a:ln w="5080">
            <a:solidFill>
              <a:srgbClr val="DCE2E4"/>
            </a:solidFill>
            <a:prstDash val="solid"/>
          </a:ln>
        </p:spPr>
      </p:sp>
      <p:sp>
        <p:nvSpPr>
          <p:cNvPr id="144" name="Shape 141"/>
          <p:cNvSpPr/>
          <p:nvPr/>
        </p:nvSpPr>
        <p:spPr>
          <a:xfrm>
            <a:off x="6053328" y="4343400"/>
            <a:ext cx="320040" cy="320040"/>
          </a:xfrm>
          <a:prstGeom prst="rect">
            <a:avLst/>
          </a:prstGeom>
          <a:solidFill>
            <a:srgbClr val="F7F9F9"/>
          </a:solidFill>
          <a:ln w="5080">
            <a:solidFill>
              <a:srgbClr val="DCE2E4"/>
            </a:solidFill>
            <a:prstDash val="solid"/>
          </a:ln>
        </p:spPr>
      </p:sp>
      <p:sp>
        <p:nvSpPr>
          <p:cNvPr id="145" name="Shape 142"/>
          <p:cNvSpPr/>
          <p:nvPr/>
        </p:nvSpPr>
        <p:spPr>
          <a:xfrm>
            <a:off x="6373368" y="4343400"/>
            <a:ext cx="320040" cy="320040"/>
          </a:xfrm>
          <a:prstGeom prst="rect">
            <a:avLst/>
          </a:prstGeom>
          <a:solidFill>
            <a:srgbClr val="E8ECEE"/>
          </a:solidFill>
          <a:ln w="5080">
            <a:solidFill>
              <a:srgbClr val="DCE2E4"/>
            </a:solidFill>
            <a:prstDash val="solid"/>
          </a:ln>
        </p:spPr>
      </p:sp>
      <p:sp>
        <p:nvSpPr>
          <p:cNvPr id="146" name="Shape 143"/>
          <p:cNvSpPr/>
          <p:nvPr/>
        </p:nvSpPr>
        <p:spPr>
          <a:xfrm>
            <a:off x="6693408" y="4343400"/>
            <a:ext cx="320040" cy="320040"/>
          </a:xfrm>
          <a:prstGeom prst="rect">
            <a:avLst/>
          </a:prstGeom>
          <a:solidFill>
            <a:srgbClr val="F7F9F9"/>
          </a:solidFill>
          <a:ln w="5080">
            <a:solidFill>
              <a:srgbClr val="DCE2E4"/>
            </a:solidFill>
            <a:prstDash val="solid"/>
          </a:ln>
        </p:spPr>
      </p:sp>
      <p:sp>
        <p:nvSpPr>
          <p:cNvPr id="147" name="Shape 144"/>
          <p:cNvSpPr/>
          <p:nvPr/>
        </p:nvSpPr>
        <p:spPr>
          <a:xfrm>
            <a:off x="7013448" y="4343400"/>
            <a:ext cx="320040" cy="320040"/>
          </a:xfrm>
          <a:prstGeom prst="rect">
            <a:avLst/>
          </a:prstGeom>
          <a:solidFill>
            <a:srgbClr val="E8ECEE"/>
          </a:solidFill>
          <a:ln w="5080">
            <a:solidFill>
              <a:srgbClr val="DCE2E4"/>
            </a:solidFill>
            <a:prstDash val="solid"/>
          </a:ln>
        </p:spPr>
      </p:sp>
      <p:sp>
        <p:nvSpPr>
          <p:cNvPr id="148" name="Shape 145"/>
          <p:cNvSpPr/>
          <p:nvPr/>
        </p:nvSpPr>
        <p:spPr>
          <a:xfrm>
            <a:off x="4823460" y="2153412"/>
            <a:ext cx="219456" cy="219456"/>
          </a:xfrm>
          <a:prstGeom prst="ellipse">
            <a:avLst/>
          </a:prstGeom>
          <a:solidFill>
            <a:srgbClr val="31424E"/>
          </a:solidFill>
          <a:ln/>
        </p:spPr>
      </p:sp>
      <p:sp>
        <p:nvSpPr>
          <p:cNvPr id="149" name="Shape 146"/>
          <p:cNvSpPr/>
          <p:nvPr/>
        </p:nvSpPr>
        <p:spPr>
          <a:xfrm>
            <a:off x="5143500" y="4073652"/>
            <a:ext cx="219456" cy="219456"/>
          </a:xfrm>
          <a:prstGeom prst="ellipse">
            <a:avLst/>
          </a:prstGeom>
          <a:solidFill>
            <a:srgbClr val="31424E"/>
          </a:solidFill>
          <a:ln/>
        </p:spPr>
      </p:sp>
      <p:sp>
        <p:nvSpPr>
          <p:cNvPr id="150" name="Shape 147"/>
          <p:cNvSpPr/>
          <p:nvPr/>
        </p:nvSpPr>
        <p:spPr>
          <a:xfrm>
            <a:off x="5463540" y="3113532"/>
            <a:ext cx="219456" cy="219456"/>
          </a:xfrm>
          <a:prstGeom prst="ellipse">
            <a:avLst/>
          </a:prstGeom>
          <a:solidFill>
            <a:srgbClr val="31424E"/>
          </a:solidFill>
          <a:ln/>
        </p:spPr>
      </p:sp>
      <p:sp>
        <p:nvSpPr>
          <p:cNvPr id="151" name="Shape 148"/>
          <p:cNvSpPr/>
          <p:nvPr/>
        </p:nvSpPr>
        <p:spPr>
          <a:xfrm>
            <a:off x="5783580" y="3753612"/>
            <a:ext cx="219456" cy="219456"/>
          </a:xfrm>
          <a:prstGeom prst="ellipse">
            <a:avLst/>
          </a:prstGeom>
          <a:solidFill>
            <a:srgbClr val="31424E"/>
          </a:solidFill>
          <a:ln/>
        </p:spPr>
      </p:sp>
      <p:sp>
        <p:nvSpPr>
          <p:cNvPr id="152" name="Shape 149"/>
          <p:cNvSpPr/>
          <p:nvPr/>
        </p:nvSpPr>
        <p:spPr>
          <a:xfrm>
            <a:off x="6103620" y="4393692"/>
            <a:ext cx="219456" cy="219456"/>
          </a:xfrm>
          <a:prstGeom prst="ellipse">
            <a:avLst/>
          </a:prstGeom>
          <a:solidFill>
            <a:srgbClr val="31424E"/>
          </a:solidFill>
          <a:ln/>
        </p:spPr>
      </p:sp>
      <p:sp>
        <p:nvSpPr>
          <p:cNvPr id="153" name="Shape 150"/>
          <p:cNvSpPr/>
          <p:nvPr/>
        </p:nvSpPr>
        <p:spPr>
          <a:xfrm>
            <a:off x="6423660" y="2473452"/>
            <a:ext cx="219456" cy="219456"/>
          </a:xfrm>
          <a:prstGeom prst="ellipse">
            <a:avLst/>
          </a:prstGeom>
          <a:solidFill>
            <a:srgbClr val="31424E"/>
          </a:solidFill>
          <a:ln/>
        </p:spPr>
      </p:sp>
      <p:sp>
        <p:nvSpPr>
          <p:cNvPr id="154" name="Shape 151"/>
          <p:cNvSpPr/>
          <p:nvPr/>
        </p:nvSpPr>
        <p:spPr>
          <a:xfrm>
            <a:off x="6743700" y="3433572"/>
            <a:ext cx="219456" cy="219456"/>
          </a:xfrm>
          <a:prstGeom prst="ellipse">
            <a:avLst/>
          </a:prstGeom>
          <a:solidFill>
            <a:srgbClr val="31424E"/>
          </a:solidFill>
          <a:ln/>
        </p:spPr>
      </p:sp>
      <p:sp>
        <p:nvSpPr>
          <p:cNvPr id="155" name="Shape 152"/>
          <p:cNvSpPr/>
          <p:nvPr/>
        </p:nvSpPr>
        <p:spPr>
          <a:xfrm>
            <a:off x="7063740" y="2793492"/>
            <a:ext cx="219456" cy="219456"/>
          </a:xfrm>
          <a:prstGeom prst="ellipse">
            <a:avLst/>
          </a:prstGeom>
          <a:solidFill>
            <a:srgbClr val="B85042"/>
          </a:solidFill>
          <a:ln/>
        </p:spPr>
      </p:sp>
      <p:sp>
        <p:nvSpPr>
          <p:cNvPr id="156" name="Text 153"/>
          <p:cNvSpPr/>
          <p:nvPr/>
        </p:nvSpPr>
        <p:spPr>
          <a:xfrm>
            <a:off x="4553712" y="4828032"/>
            <a:ext cx="3017520" cy="658368"/>
          </a:xfrm>
          <a:prstGeom prst="rect">
            <a:avLst/>
          </a:prstGeom>
          <a:noFill/>
          <a:ln/>
        </p:spPr>
        <p:txBody>
          <a:bodyPr wrap="square" lIns="0" tIns="0" rIns="0" bIns="0" rtlCol="0" anchor="t"/>
          <a:lstStyle/>
          <a:p>
            <a:pPr indent="0" marL="0">
              <a:lnSpc>
                <a:spcPct val="112000"/>
              </a:lnSpc>
              <a:buNone/>
            </a:pPr>
            <a:r>
              <a:rPr lang="en-US" sz="1150" dirty="0">
                <a:solidFill>
                  <a:srgbClr val="6E7A83"/>
                </a:solidFill>
                <a:latin typeface="Calibri" pitchFamily="34" charset="0"/>
                <a:ea typeface="Calibri" pitchFamily="34" charset="-122"/>
                <a:cs typeface="Calibri" pitchFamily="34" charset="-120"/>
              </a:rPr>
              <a:t>Two rows for Q8 violate only one constraint each. Choose Q8 = 3, moving the queen to row 3 of column 8.</a:t>
            </a:r>
            <a:endParaRPr lang="en-US" sz="1150" dirty="0"/>
          </a:p>
        </p:txBody>
      </p:sp>
      <p:sp>
        <p:nvSpPr>
          <p:cNvPr id="157" name="Shape 154"/>
          <p:cNvSpPr/>
          <p:nvPr/>
        </p:nvSpPr>
        <p:spPr>
          <a:xfrm>
            <a:off x="8092440" y="1417320"/>
            <a:ext cx="3520440" cy="4160520"/>
          </a:xfrm>
          <a:prstGeom prst="roundRect">
            <a:avLst>
              <a:gd name="adj" fmla="val 1558"/>
            </a:avLst>
          </a:prstGeom>
          <a:solidFill>
            <a:srgbClr val="F7EEEA"/>
          </a:solidFill>
          <a:ln w="9525">
            <a:solidFill>
              <a:srgbClr val="F7EEEA"/>
            </a:solidFill>
            <a:prstDash val="solid"/>
          </a:ln>
          <a:effectLst>
            <a:outerShdw sx="100000" sy="100000" kx="0" ky="0" algn="bl" rotWithShape="0" blurRad="101600" dist="19050" dir="5400000">
              <a:srgbClr val="9AA6AD">
                <a:alpha val="28000"/>
              </a:srgbClr>
            </a:outerShdw>
          </a:effectLst>
        </p:spPr>
      </p:sp>
      <p:sp>
        <p:nvSpPr>
          <p:cNvPr id="158" name="Text 155"/>
          <p:cNvSpPr/>
          <p:nvPr/>
        </p:nvSpPr>
        <p:spPr>
          <a:xfrm>
            <a:off x="8348472" y="1627632"/>
            <a:ext cx="3017520" cy="301752"/>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Step 2</a:t>
            </a:r>
            <a:endParaRPr lang="en-US" sz="1600" dirty="0"/>
          </a:p>
        </p:txBody>
      </p:sp>
      <p:sp>
        <p:nvSpPr>
          <p:cNvPr id="159" name="Shape 156"/>
          <p:cNvSpPr/>
          <p:nvPr/>
        </p:nvSpPr>
        <p:spPr>
          <a:xfrm>
            <a:off x="8567928" y="2103120"/>
            <a:ext cx="320040" cy="320040"/>
          </a:xfrm>
          <a:prstGeom prst="rect">
            <a:avLst/>
          </a:prstGeom>
          <a:solidFill>
            <a:srgbClr val="E8ECEE"/>
          </a:solidFill>
          <a:ln w="5080">
            <a:solidFill>
              <a:srgbClr val="DCE2E4"/>
            </a:solidFill>
            <a:prstDash val="solid"/>
          </a:ln>
        </p:spPr>
      </p:sp>
      <p:sp>
        <p:nvSpPr>
          <p:cNvPr id="160" name="Shape 157"/>
          <p:cNvSpPr/>
          <p:nvPr/>
        </p:nvSpPr>
        <p:spPr>
          <a:xfrm>
            <a:off x="8887968" y="2103120"/>
            <a:ext cx="320040" cy="320040"/>
          </a:xfrm>
          <a:prstGeom prst="rect">
            <a:avLst/>
          </a:prstGeom>
          <a:solidFill>
            <a:srgbClr val="F7F9F9"/>
          </a:solidFill>
          <a:ln w="5080">
            <a:solidFill>
              <a:srgbClr val="DCE2E4"/>
            </a:solidFill>
            <a:prstDash val="solid"/>
          </a:ln>
        </p:spPr>
      </p:sp>
      <p:sp>
        <p:nvSpPr>
          <p:cNvPr id="161" name="Shape 158"/>
          <p:cNvSpPr/>
          <p:nvPr/>
        </p:nvSpPr>
        <p:spPr>
          <a:xfrm>
            <a:off x="9208008" y="2103120"/>
            <a:ext cx="320040" cy="320040"/>
          </a:xfrm>
          <a:prstGeom prst="rect">
            <a:avLst/>
          </a:prstGeom>
          <a:solidFill>
            <a:srgbClr val="E8ECEE"/>
          </a:solidFill>
          <a:ln w="5080">
            <a:solidFill>
              <a:srgbClr val="DCE2E4"/>
            </a:solidFill>
            <a:prstDash val="solid"/>
          </a:ln>
        </p:spPr>
      </p:sp>
      <p:sp>
        <p:nvSpPr>
          <p:cNvPr id="162" name="Shape 159"/>
          <p:cNvSpPr/>
          <p:nvPr/>
        </p:nvSpPr>
        <p:spPr>
          <a:xfrm>
            <a:off x="9528048" y="2103120"/>
            <a:ext cx="320040" cy="320040"/>
          </a:xfrm>
          <a:prstGeom prst="rect">
            <a:avLst/>
          </a:prstGeom>
          <a:solidFill>
            <a:srgbClr val="F7F9F9"/>
          </a:solidFill>
          <a:ln w="5080">
            <a:solidFill>
              <a:srgbClr val="DCE2E4"/>
            </a:solidFill>
            <a:prstDash val="solid"/>
          </a:ln>
        </p:spPr>
      </p:sp>
      <p:sp>
        <p:nvSpPr>
          <p:cNvPr id="163" name="Shape 160"/>
          <p:cNvSpPr/>
          <p:nvPr/>
        </p:nvSpPr>
        <p:spPr>
          <a:xfrm>
            <a:off x="9848088" y="2103120"/>
            <a:ext cx="320040" cy="320040"/>
          </a:xfrm>
          <a:prstGeom prst="rect">
            <a:avLst/>
          </a:prstGeom>
          <a:solidFill>
            <a:srgbClr val="E8ECEE"/>
          </a:solidFill>
          <a:ln w="5080">
            <a:solidFill>
              <a:srgbClr val="DCE2E4"/>
            </a:solidFill>
            <a:prstDash val="solid"/>
          </a:ln>
        </p:spPr>
      </p:sp>
      <p:sp>
        <p:nvSpPr>
          <p:cNvPr id="164" name="Shape 161"/>
          <p:cNvSpPr/>
          <p:nvPr/>
        </p:nvSpPr>
        <p:spPr>
          <a:xfrm>
            <a:off x="10168128" y="2103120"/>
            <a:ext cx="320040" cy="320040"/>
          </a:xfrm>
          <a:prstGeom prst="rect">
            <a:avLst/>
          </a:prstGeom>
          <a:solidFill>
            <a:srgbClr val="F7F9F9"/>
          </a:solidFill>
          <a:ln w="5080">
            <a:solidFill>
              <a:srgbClr val="DCE2E4"/>
            </a:solidFill>
            <a:prstDash val="solid"/>
          </a:ln>
        </p:spPr>
      </p:sp>
      <p:sp>
        <p:nvSpPr>
          <p:cNvPr id="165" name="Shape 162"/>
          <p:cNvSpPr/>
          <p:nvPr/>
        </p:nvSpPr>
        <p:spPr>
          <a:xfrm>
            <a:off x="10488168" y="2103120"/>
            <a:ext cx="320040" cy="320040"/>
          </a:xfrm>
          <a:prstGeom prst="rect">
            <a:avLst/>
          </a:prstGeom>
          <a:solidFill>
            <a:srgbClr val="E8ECEE"/>
          </a:solidFill>
          <a:ln w="5080">
            <a:solidFill>
              <a:srgbClr val="DCE2E4"/>
            </a:solidFill>
            <a:prstDash val="solid"/>
          </a:ln>
        </p:spPr>
      </p:sp>
      <p:sp>
        <p:nvSpPr>
          <p:cNvPr id="166" name="Shape 163"/>
          <p:cNvSpPr/>
          <p:nvPr/>
        </p:nvSpPr>
        <p:spPr>
          <a:xfrm>
            <a:off x="10808208" y="2103120"/>
            <a:ext cx="320040" cy="320040"/>
          </a:xfrm>
          <a:prstGeom prst="rect">
            <a:avLst/>
          </a:prstGeom>
          <a:solidFill>
            <a:srgbClr val="F7F9F9"/>
          </a:solidFill>
          <a:ln w="5080">
            <a:solidFill>
              <a:srgbClr val="DCE2E4"/>
            </a:solidFill>
            <a:prstDash val="solid"/>
          </a:ln>
        </p:spPr>
      </p:sp>
      <p:sp>
        <p:nvSpPr>
          <p:cNvPr id="167" name="Shape 164"/>
          <p:cNvSpPr/>
          <p:nvPr/>
        </p:nvSpPr>
        <p:spPr>
          <a:xfrm>
            <a:off x="8567928" y="2423160"/>
            <a:ext cx="320040" cy="320040"/>
          </a:xfrm>
          <a:prstGeom prst="rect">
            <a:avLst/>
          </a:prstGeom>
          <a:solidFill>
            <a:srgbClr val="F7F9F9"/>
          </a:solidFill>
          <a:ln w="5080">
            <a:solidFill>
              <a:srgbClr val="DCE2E4"/>
            </a:solidFill>
            <a:prstDash val="solid"/>
          </a:ln>
        </p:spPr>
      </p:sp>
      <p:sp>
        <p:nvSpPr>
          <p:cNvPr id="168" name="Shape 165"/>
          <p:cNvSpPr/>
          <p:nvPr/>
        </p:nvSpPr>
        <p:spPr>
          <a:xfrm>
            <a:off x="8887968" y="2423160"/>
            <a:ext cx="320040" cy="320040"/>
          </a:xfrm>
          <a:prstGeom prst="rect">
            <a:avLst/>
          </a:prstGeom>
          <a:solidFill>
            <a:srgbClr val="E8ECEE"/>
          </a:solidFill>
          <a:ln w="5080">
            <a:solidFill>
              <a:srgbClr val="DCE2E4"/>
            </a:solidFill>
            <a:prstDash val="solid"/>
          </a:ln>
        </p:spPr>
      </p:sp>
      <p:sp>
        <p:nvSpPr>
          <p:cNvPr id="169" name="Shape 166"/>
          <p:cNvSpPr/>
          <p:nvPr/>
        </p:nvSpPr>
        <p:spPr>
          <a:xfrm>
            <a:off x="9208008" y="2423160"/>
            <a:ext cx="320040" cy="320040"/>
          </a:xfrm>
          <a:prstGeom prst="rect">
            <a:avLst/>
          </a:prstGeom>
          <a:solidFill>
            <a:srgbClr val="F7F9F9"/>
          </a:solidFill>
          <a:ln w="5080">
            <a:solidFill>
              <a:srgbClr val="DCE2E4"/>
            </a:solidFill>
            <a:prstDash val="solid"/>
          </a:ln>
        </p:spPr>
      </p:sp>
      <p:sp>
        <p:nvSpPr>
          <p:cNvPr id="170" name="Shape 167"/>
          <p:cNvSpPr/>
          <p:nvPr/>
        </p:nvSpPr>
        <p:spPr>
          <a:xfrm>
            <a:off x="9528048" y="2423160"/>
            <a:ext cx="320040" cy="320040"/>
          </a:xfrm>
          <a:prstGeom prst="rect">
            <a:avLst/>
          </a:prstGeom>
          <a:solidFill>
            <a:srgbClr val="E8ECEE"/>
          </a:solidFill>
          <a:ln w="5080">
            <a:solidFill>
              <a:srgbClr val="DCE2E4"/>
            </a:solidFill>
            <a:prstDash val="solid"/>
          </a:ln>
        </p:spPr>
      </p:sp>
      <p:sp>
        <p:nvSpPr>
          <p:cNvPr id="171" name="Shape 168"/>
          <p:cNvSpPr/>
          <p:nvPr/>
        </p:nvSpPr>
        <p:spPr>
          <a:xfrm>
            <a:off x="9848088" y="2423160"/>
            <a:ext cx="320040" cy="320040"/>
          </a:xfrm>
          <a:prstGeom prst="rect">
            <a:avLst/>
          </a:prstGeom>
          <a:solidFill>
            <a:srgbClr val="F7F9F9"/>
          </a:solidFill>
          <a:ln w="5080">
            <a:solidFill>
              <a:srgbClr val="DCE2E4"/>
            </a:solidFill>
            <a:prstDash val="solid"/>
          </a:ln>
        </p:spPr>
      </p:sp>
      <p:sp>
        <p:nvSpPr>
          <p:cNvPr id="172" name="Shape 169"/>
          <p:cNvSpPr/>
          <p:nvPr/>
        </p:nvSpPr>
        <p:spPr>
          <a:xfrm>
            <a:off x="10168128" y="2423160"/>
            <a:ext cx="320040" cy="320040"/>
          </a:xfrm>
          <a:prstGeom prst="rect">
            <a:avLst/>
          </a:prstGeom>
          <a:solidFill>
            <a:srgbClr val="E8ECEE"/>
          </a:solidFill>
          <a:ln w="5080">
            <a:solidFill>
              <a:srgbClr val="DCE2E4"/>
            </a:solidFill>
            <a:prstDash val="solid"/>
          </a:ln>
        </p:spPr>
      </p:sp>
      <p:sp>
        <p:nvSpPr>
          <p:cNvPr id="173" name="Shape 170"/>
          <p:cNvSpPr/>
          <p:nvPr/>
        </p:nvSpPr>
        <p:spPr>
          <a:xfrm>
            <a:off x="10488168" y="2423160"/>
            <a:ext cx="320040" cy="320040"/>
          </a:xfrm>
          <a:prstGeom prst="rect">
            <a:avLst/>
          </a:prstGeom>
          <a:solidFill>
            <a:srgbClr val="F7F9F9"/>
          </a:solidFill>
          <a:ln w="5080">
            <a:solidFill>
              <a:srgbClr val="DCE2E4"/>
            </a:solidFill>
            <a:prstDash val="solid"/>
          </a:ln>
        </p:spPr>
      </p:sp>
      <p:sp>
        <p:nvSpPr>
          <p:cNvPr id="174" name="Shape 171"/>
          <p:cNvSpPr/>
          <p:nvPr/>
        </p:nvSpPr>
        <p:spPr>
          <a:xfrm>
            <a:off x="10808208" y="2423160"/>
            <a:ext cx="320040" cy="320040"/>
          </a:xfrm>
          <a:prstGeom prst="rect">
            <a:avLst/>
          </a:prstGeom>
          <a:solidFill>
            <a:srgbClr val="E8ECEE"/>
          </a:solidFill>
          <a:ln w="5080">
            <a:solidFill>
              <a:srgbClr val="DCE2E4"/>
            </a:solidFill>
            <a:prstDash val="solid"/>
          </a:ln>
        </p:spPr>
      </p:sp>
      <p:sp>
        <p:nvSpPr>
          <p:cNvPr id="175" name="Shape 172"/>
          <p:cNvSpPr/>
          <p:nvPr/>
        </p:nvSpPr>
        <p:spPr>
          <a:xfrm>
            <a:off x="8567928" y="2743200"/>
            <a:ext cx="320040" cy="320040"/>
          </a:xfrm>
          <a:prstGeom prst="rect">
            <a:avLst/>
          </a:prstGeom>
          <a:solidFill>
            <a:srgbClr val="E8ECEE"/>
          </a:solidFill>
          <a:ln w="5080">
            <a:solidFill>
              <a:srgbClr val="DCE2E4"/>
            </a:solidFill>
            <a:prstDash val="solid"/>
          </a:ln>
        </p:spPr>
      </p:sp>
      <p:sp>
        <p:nvSpPr>
          <p:cNvPr id="176" name="Shape 173"/>
          <p:cNvSpPr/>
          <p:nvPr/>
        </p:nvSpPr>
        <p:spPr>
          <a:xfrm>
            <a:off x="8887968" y="2743200"/>
            <a:ext cx="320040" cy="320040"/>
          </a:xfrm>
          <a:prstGeom prst="rect">
            <a:avLst/>
          </a:prstGeom>
          <a:solidFill>
            <a:srgbClr val="F7F9F9"/>
          </a:solidFill>
          <a:ln w="5080">
            <a:solidFill>
              <a:srgbClr val="DCE2E4"/>
            </a:solidFill>
            <a:prstDash val="solid"/>
          </a:ln>
        </p:spPr>
      </p:sp>
      <p:sp>
        <p:nvSpPr>
          <p:cNvPr id="177" name="Shape 174"/>
          <p:cNvSpPr/>
          <p:nvPr/>
        </p:nvSpPr>
        <p:spPr>
          <a:xfrm>
            <a:off x="9208008" y="2743200"/>
            <a:ext cx="320040" cy="320040"/>
          </a:xfrm>
          <a:prstGeom prst="rect">
            <a:avLst/>
          </a:prstGeom>
          <a:solidFill>
            <a:srgbClr val="E8ECEE"/>
          </a:solidFill>
          <a:ln w="5080">
            <a:solidFill>
              <a:srgbClr val="DCE2E4"/>
            </a:solidFill>
            <a:prstDash val="solid"/>
          </a:ln>
        </p:spPr>
      </p:sp>
      <p:sp>
        <p:nvSpPr>
          <p:cNvPr id="178" name="Shape 175"/>
          <p:cNvSpPr/>
          <p:nvPr/>
        </p:nvSpPr>
        <p:spPr>
          <a:xfrm>
            <a:off x="9528048" y="2743200"/>
            <a:ext cx="320040" cy="320040"/>
          </a:xfrm>
          <a:prstGeom prst="rect">
            <a:avLst/>
          </a:prstGeom>
          <a:solidFill>
            <a:srgbClr val="F7F9F9"/>
          </a:solidFill>
          <a:ln w="5080">
            <a:solidFill>
              <a:srgbClr val="DCE2E4"/>
            </a:solidFill>
            <a:prstDash val="solid"/>
          </a:ln>
        </p:spPr>
      </p:sp>
      <p:sp>
        <p:nvSpPr>
          <p:cNvPr id="179" name="Shape 176"/>
          <p:cNvSpPr/>
          <p:nvPr/>
        </p:nvSpPr>
        <p:spPr>
          <a:xfrm>
            <a:off x="9848088" y="2743200"/>
            <a:ext cx="320040" cy="320040"/>
          </a:xfrm>
          <a:prstGeom prst="rect">
            <a:avLst/>
          </a:prstGeom>
          <a:solidFill>
            <a:srgbClr val="E8ECEE"/>
          </a:solidFill>
          <a:ln w="5080">
            <a:solidFill>
              <a:srgbClr val="DCE2E4"/>
            </a:solidFill>
            <a:prstDash val="solid"/>
          </a:ln>
        </p:spPr>
      </p:sp>
      <p:sp>
        <p:nvSpPr>
          <p:cNvPr id="180" name="Shape 177"/>
          <p:cNvSpPr/>
          <p:nvPr/>
        </p:nvSpPr>
        <p:spPr>
          <a:xfrm>
            <a:off x="10168128" y="2743200"/>
            <a:ext cx="320040" cy="320040"/>
          </a:xfrm>
          <a:prstGeom prst="rect">
            <a:avLst/>
          </a:prstGeom>
          <a:solidFill>
            <a:srgbClr val="F7F9F9"/>
          </a:solidFill>
          <a:ln w="5080">
            <a:solidFill>
              <a:srgbClr val="DCE2E4"/>
            </a:solidFill>
            <a:prstDash val="solid"/>
          </a:ln>
        </p:spPr>
      </p:sp>
      <p:sp>
        <p:nvSpPr>
          <p:cNvPr id="181" name="Shape 178"/>
          <p:cNvSpPr/>
          <p:nvPr/>
        </p:nvSpPr>
        <p:spPr>
          <a:xfrm>
            <a:off x="10488168" y="2743200"/>
            <a:ext cx="320040" cy="320040"/>
          </a:xfrm>
          <a:prstGeom prst="rect">
            <a:avLst/>
          </a:prstGeom>
          <a:solidFill>
            <a:srgbClr val="E8ECEE"/>
          </a:solidFill>
          <a:ln w="5080">
            <a:solidFill>
              <a:srgbClr val="DCE2E4"/>
            </a:solidFill>
            <a:prstDash val="solid"/>
          </a:ln>
        </p:spPr>
      </p:sp>
      <p:sp>
        <p:nvSpPr>
          <p:cNvPr id="182" name="Shape 179"/>
          <p:cNvSpPr/>
          <p:nvPr/>
        </p:nvSpPr>
        <p:spPr>
          <a:xfrm>
            <a:off x="10808208" y="2743200"/>
            <a:ext cx="320040" cy="320040"/>
          </a:xfrm>
          <a:prstGeom prst="rect">
            <a:avLst/>
          </a:prstGeom>
          <a:solidFill>
            <a:srgbClr val="F7F9F9"/>
          </a:solidFill>
          <a:ln w="5080">
            <a:solidFill>
              <a:srgbClr val="DCE2E4"/>
            </a:solidFill>
            <a:prstDash val="solid"/>
          </a:ln>
        </p:spPr>
      </p:sp>
      <p:sp>
        <p:nvSpPr>
          <p:cNvPr id="183" name="Shape 180"/>
          <p:cNvSpPr/>
          <p:nvPr/>
        </p:nvSpPr>
        <p:spPr>
          <a:xfrm>
            <a:off x="8567928" y="3063240"/>
            <a:ext cx="320040" cy="320040"/>
          </a:xfrm>
          <a:prstGeom prst="rect">
            <a:avLst/>
          </a:prstGeom>
          <a:solidFill>
            <a:srgbClr val="F7F9F9"/>
          </a:solidFill>
          <a:ln w="5080">
            <a:solidFill>
              <a:srgbClr val="DCE2E4"/>
            </a:solidFill>
            <a:prstDash val="solid"/>
          </a:ln>
        </p:spPr>
      </p:sp>
      <p:sp>
        <p:nvSpPr>
          <p:cNvPr id="184" name="Shape 181"/>
          <p:cNvSpPr/>
          <p:nvPr/>
        </p:nvSpPr>
        <p:spPr>
          <a:xfrm>
            <a:off x="8887968" y="3063240"/>
            <a:ext cx="320040" cy="320040"/>
          </a:xfrm>
          <a:prstGeom prst="rect">
            <a:avLst/>
          </a:prstGeom>
          <a:solidFill>
            <a:srgbClr val="E8ECEE"/>
          </a:solidFill>
          <a:ln w="5080">
            <a:solidFill>
              <a:srgbClr val="DCE2E4"/>
            </a:solidFill>
            <a:prstDash val="solid"/>
          </a:ln>
        </p:spPr>
      </p:sp>
      <p:sp>
        <p:nvSpPr>
          <p:cNvPr id="185" name="Shape 182"/>
          <p:cNvSpPr/>
          <p:nvPr/>
        </p:nvSpPr>
        <p:spPr>
          <a:xfrm>
            <a:off x="9208008" y="3063240"/>
            <a:ext cx="320040" cy="320040"/>
          </a:xfrm>
          <a:prstGeom prst="rect">
            <a:avLst/>
          </a:prstGeom>
          <a:solidFill>
            <a:srgbClr val="F7F9F9"/>
          </a:solidFill>
          <a:ln w="5080">
            <a:solidFill>
              <a:srgbClr val="DCE2E4"/>
            </a:solidFill>
            <a:prstDash val="solid"/>
          </a:ln>
        </p:spPr>
      </p:sp>
      <p:sp>
        <p:nvSpPr>
          <p:cNvPr id="186" name="Shape 183"/>
          <p:cNvSpPr/>
          <p:nvPr/>
        </p:nvSpPr>
        <p:spPr>
          <a:xfrm>
            <a:off x="9528048" y="3063240"/>
            <a:ext cx="320040" cy="320040"/>
          </a:xfrm>
          <a:prstGeom prst="rect">
            <a:avLst/>
          </a:prstGeom>
          <a:solidFill>
            <a:srgbClr val="E8ECEE"/>
          </a:solidFill>
          <a:ln w="5080">
            <a:solidFill>
              <a:srgbClr val="DCE2E4"/>
            </a:solidFill>
            <a:prstDash val="solid"/>
          </a:ln>
        </p:spPr>
      </p:sp>
      <p:sp>
        <p:nvSpPr>
          <p:cNvPr id="187" name="Shape 184"/>
          <p:cNvSpPr/>
          <p:nvPr/>
        </p:nvSpPr>
        <p:spPr>
          <a:xfrm>
            <a:off x="9848088" y="3063240"/>
            <a:ext cx="320040" cy="320040"/>
          </a:xfrm>
          <a:prstGeom prst="rect">
            <a:avLst/>
          </a:prstGeom>
          <a:solidFill>
            <a:srgbClr val="F7F9F9"/>
          </a:solidFill>
          <a:ln w="5080">
            <a:solidFill>
              <a:srgbClr val="DCE2E4"/>
            </a:solidFill>
            <a:prstDash val="solid"/>
          </a:ln>
        </p:spPr>
      </p:sp>
      <p:sp>
        <p:nvSpPr>
          <p:cNvPr id="188" name="Shape 185"/>
          <p:cNvSpPr/>
          <p:nvPr/>
        </p:nvSpPr>
        <p:spPr>
          <a:xfrm>
            <a:off x="10168128" y="3063240"/>
            <a:ext cx="320040" cy="320040"/>
          </a:xfrm>
          <a:prstGeom prst="rect">
            <a:avLst/>
          </a:prstGeom>
          <a:solidFill>
            <a:srgbClr val="E8ECEE"/>
          </a:solidFill>
          <a:ln w="5080">
            <a:solidFill>
              <a:srgbClr val="DCE2E4"/>
            </a:solidFill>
            <a:prstDash val="solid"/>
          </a:ln>
        </p:spPr>
      </p:sp>
      <p:sp>
        <p:nvSpPr>
          <p:cNvPr id="189" name="Shape 186"/>
          <p:cNvSpPr/>
          <p:nvPr/>
        </p:nvSpPr>
        <p:spPr>
          <a:xfrm>
            <a:off x="10488168" y="3063240"/>
            <a:ext cx="320040" cy="320040"/>
          </a:xfrm>
          <a:prstGeom prst="rect">
            <a:avLst/>
          </a:prstGeom>
          <a:solidFill>
            <a:srgbClr val="F7F9F9"/>
          </a:solidFill>
          <a:ln w="5080">
            <a:solidFill>
              <a:srgbClr val="DCE2E4"/>
            </a:solidFill>
            <a:prstDash val="solid"/>
          </a:ln>
        </p:spPr>
      </p:sp>
      <p:sp>
        <p:nvSpPr>
          <p:cNvPr id="190" name="Shape 187"/>
          <p:cNvSpPr/>
          <p:nvPr/>
        </p:nvSpPr>
        <p:spPr>
          <a:xfrm>
            <a:off x="10808208" y="3063240"/>
            <a:ext cx="320040" cy="320040"/>
          </a:xfrm>
          <a:prstGeom prst="rect">
            <a:avLst/>
          </a:prstGeom>
          <a:solidFill>
            <a:srgbClr val="E8ECEE"/>
          </a:solidFill>
          <a:ln w="5080">
            <a:solidFill>
              <a:srgbClr val="DCE2E4"/>
            </a:solidFill>
            <a:prstDash val="solid"/>
          </a:ln>
        </p:spPr>
      </p:sp>
      <p:sp>
        <p:nvSpPr>
          <p:cNvPr id="191" name="Shape 188"/>
          <p:cNvSpPr/>
          <p:nvPr/>
        </p:nvSpPr>
        <p:spPr>
          <a:xfrm>
            <a:off x="8567928" y="3383280"/>
            <a:ext cx="320040" cy="320040"/>
          </a:xfrm>
          <a:prstGeom prst="rect">
            <a:avLst/>
          </a:prstGeom>
          <a:solidFill>
            <a:srgbClr val="E8ECEE"/>
          </a:solidFill>
          <a:ln w="5080">
            <a:solidFill>
              <a:srgbClr val="DCE2E4"/>
            </a:solidFill>
            <a:prstDash val="solid"/>
          </a:ln>
        </p:spPr>
      </p:sp>
      <p:sp>
        <p:nvSpPr>
          <p:cNvPr id="192" name="Shape 189"/>
          <p:cNvSpPr/>
          <p:nvPr/>
        </p:nvSpPr>
        <p:spPr>
          <a:xfrm>
            <a:off x="8887968" y="3383280"/>
            <a:ext cx="320040" cy="320040"/>
          </a:xfrm>
          <a:prstGeom prst="rect">
            <a:avLst/>
          </a:prstGeom>
          <a:solidFill>
            <a:srgbClr val="F7F9F9"/>
          </a:solidFill>
          <a:ln w="5080">
            <a:solidFill>
              <a:srgbClr val="DCE2E4"/>
            </a:solidFill>
            <a:prstDash val="solid"/>
          </a:ln>
        </p:spPr>
      </p:sp>
      <p:sp>
        <p:nvSpPr>
          <p:cNvPr id="193" name="Shape 190"/>
          <p:cNvSpPr/>
          <p:nvPr/>
        </p:nvSpPr>
        <p:spPr>
          <a:xfrm>
            <a:off x="9208008" y="3383280"/>
            <a:ext cx="320040" cy="320040"/>
          </a:xfrm>
          <a:prstGeom prst="rect">
            <a:avLst/>
          </a:prstGeom>
          <a:solidFill>
            <a:srgbClr val="E8ECEE"/>
          </a:solidFill>
          <a:ln w="5080">
            <a:solidFill>
              <a:srgbClr val="DCE2E4"/>
            </a:solidFill>
            <a:prstDash val="solid"/>
          </a:ln>
        </p:spPr>
      </p:sp>
      <p:sp>
        <p:nvSpPr>
          <p:cNvPr id="194" name="Shape 191"/>
          <p:cNvSpPr/>
          <p:nvPr/>
        </p:nvSpPr>
        <p:spPr>
          <a:xfrm>
            <a:off x="9528048" y="3383280"/>
            <a:ext cx="320040" cy="320040"/>
          </a:xfrm>
          <a:prstGeom prst="rect">
            <a:avLst/>
          </a:prstGeom>
          <a:solidFill>
            <a:srgbClr val="F7F9F9"/>
          </a:solidFill>
          <a:ln w="5080">
            <a:solidFill>
              <a:srgbClr val="DCE2E4"/>
            </a:solidFill>
            <a:prstDash val="solid"/>
          </a:ln>
        </p:spPr>
      </p:sp>
      <p:sp>
        <p:nvSpPr>
          <p:cNvPr id="195" name="Shape 192"/>
          <p:cNvSpPr/>
          <p:nvPr/>
        </p:nvSpPr>
        <p:spPr>
          <a:xfrm>
            <a:off x="9848088" y="3383280"/>
            <a:ext cx="320040" cy="320040"/>
          </a:xfrm>
          <a:prstGeom prst="rect">
            <a:avLst/>
          </a:prstGeom>
          <a:solidFill>
            <a:srgbClr val="E8ECEE"/>
          </a:solidFill>
          <a:ln w="5080">
            <a:solidFill>
              <a:srgbClr val="DCE2E4"/>
            </a:solidFill>
            <a:prstDash val="solid"/>
          </a:ln>
        </p:spPr>
      </p:sp>
      <p:sp>
        <p:nvSpPr>
          <p:cNvPr id="196" name="Shape 193"/>
          <p:cNvSpPr/>
          <p:nvPr/>
        </p:nvSpPr>
        <p:spPr>
          <a:xfrm>
            <a:off x="10168128" y="3383280"/>
            <a:ext cx="320040" cy="320040"/>
          </a:xfrm>
          <a:prstGeom prst="rect">
            <a:avLst/>
          </a:prstGeom>
          <a:solidFill>
            <a:srgbClr val="F7F9F9"/>
          </a:solidFill>
          <a:ln w="5080">
            <a:solidFill>
              <a:srgbClr val="DCE2E4"/>
            </a:solidFill>
            <a:prstDash val="solid"/>
          </a:ln>
        </p:spPr>
      </p:sp>
      <p:sp>
        <p:nvSpPr>
          <p:cNvPr id="197" name="Shape 194"/>
          <p:cNvSpPr/>
          <p:nvPr/>
        </p:nvSpPr>
        <p:spPr>
          <a:xfrm>
            <a:off x="10488168" y="3383280"/>
            <a:ext cx="320040" cy="320040"/>
          </a:xfrm>
          <a:prstGeom prst="rect">
            <a:avLst/>
          </a:prstGeom>
          <a:solidFill>
            <a:srgbClr val="E8ECEE"/>
          </a:solidFill>
          <a:ln w="5080">
            <a:solidFill>
              <a:srgbClr val="DCE2E4"/>
            </a:solidFill>
            <a:prstDash val="solid"/>
          </a:ln>
        </p:spPr>
      </p:sp>
      <p:sp>
        <p:nvSpPr>
          <p:cNvPr id="198" name="Shape 195"/>
          <p:cNvSpPr/>
          <p:nvPr/>
        </p:nvSpPr>
        <p:spPr>
          <a:xfrm>
            <a:off x="10808208" y="3383280"/>
            <a:ext cx="320040" cy="320040"/>
          </a:xfrm>
          <a:prstGeom prst="rect">
            <a:avLst/>
          </a:prstGeom>
          <a:solidFill>
            <a:srgbClr val="F7F9F9"/>
          </a:solidFill>
          <a:ln w="5080">
            <a:solidFill>
              <a:srgbClr val="DCE2E4"/>
            </a:solidFill>
            <a:prstDash val="solid"/>
          </a:ln>
        </p:spPr>
      </p:sp>
      <p:sp>
        <p:nvSpPr>
          <p:cNvPr id="199" name="Shape 196"/>
          <p:cNvSpPr/>
          <p:nvPr/>
        </p:nvSpPr>
        <p:spPr>
          <a:xfrm>
            <a:off x="8567928" y="3703320"/>
            <a:ext cx="320040" cy="320040"/>
          </a:xfrm>
          <a:prstGeom prst="rect">
            <a:avLst/>
          </a:prstGeom>
          <a:solidFill>
            <a:srgbClr val="F7F9F9"/>
          </a:solidFill>
          <a:ln w="5080">
            <a:solidFill>
              <a:srgbClr val="DCE2E4"/>
            </a:solidFill>
            <a:prstDash val="solid"/>
          </a:ln>
        </p:spPr>
      </p:sp>
      <p:sp>
        <p:nvSpPr>
          <p:cNvPr id="200" name="Shape 197"/>
          <p:cNvSpPr/>
          <p:nvPr/>
        </p:nvSpPr>
        <p:spPr>
          <a:xfrm>
            <a:off x="8887968" y="3703320"/>
            <a:ext cx="320040" cy="320040"/>
          </a:xfrm>
          <a:prstGeom prst="rect">
            <a:avLst/>
          </a:prstGeom>
          <a:solidFill>
            <a:srgbClr val="E8ECEE"/>
          </a:solidFill>
          <a:ln w="5080">
            <a:solidFill>
              <a:srgbClr val="DCE2E4"/>
            </a:solidFill>
            <a:prstDash val="solid"/>
          </a:ln>
        </p:spPr>
      </p:sp>
      <p:sp>
        <p:nvSpPr>
          <p:cNvPr id="201" name="Shape 198"/>
          <p:cNvSpPr/>
          <p:nvPr/>
        </p:nvSpPr>
        <p:spPr>
          <a:xfrm>
            <a:off x="9208008" y="3703320"/>
            <a:ext cx="320040" cy="320040"/>
          </a:xfrm>
          <a:prstGeom prst="rect">
            <a:avLst/>
          </a:prstGeom>
          <a:solidFill>
            <a:srgbClr val="F7F9F9"/>
          </a:solidFill>
          <a:ln w="5080">
            <a:solidFill>
              <a:srgbClr val="DCE2E4"/>
            </a:solidFill>
            <a:prstDash val="solid"/>
          </a:ln>
        </p:spPr>
      </p:sp>
      <p:sp>
        <p:nvSpPr>
          <p:cNvPr id="202" name="Shape 199"/>
          <p:cNvSpPr/>
          <p:nvPr/>
        </p:nvSpPr>
        <p:spPr>
          <a:xfrm>
            <a:off x="9528048" y="3703320"/>
            <a:ext cx="320040" cy="320040"/>
          </a:xfrm>
          <a:prstGeom prst="rect">
            <a:avLst/>
          </a:prstGeom>
          <a:solidFill>
            <a:srgbClr val="E8ECEE"/>
          </a:solidFill>
          <a:ln w="5080">
            <a:solidFill>
              <a:srgbClr val="DCE2E4"/>
            </a:solidFill>
            <a:prstDash val="solid"/>
          </a:ln>
        </p:spPr>
      </p:sp>
      <p:sp>
        <p:nvSpPr>
          <p:cNvPr id="203" name="Shape 200"/>
          <p:cNvSpPr/>
          <p:nvPr/>
        </p:nvSpPr>
        <p:spPr>
          <a:xfrm>
            <a:off x="9848088" y="3703320"/>
            <a:ext cx="320040" cy="320040"/>
          </a:xfrm>
          <a:prstGeom prst="rect">
            <a:avLst/>
          </a:prstGeom>
          <a:solidFill>
            <a:srgbClr val="F7F9F9"/>
          </a:solidFill>
          <a:ln w="5080">
            <a:solidFill>
              <a:srgbClr val="DCE2E4"/>
            </a:solidFill>
            <a:prstDash val="solid"/>
          </a:ln>
        </p:spPr>
      </p:sp>
      <p:sp>
        <p:nvSpPr>
          <p:cNvPr id="204" name="Shape 201"/>
          <p:cNvSpPr/>
          <p:nvPr/>
        </p:nvSpPr>
        <p:spPr>
          <a:xfrm>
            <a:off x="10168128" y="3703320"/>
            <a:ext cx="320040" cy="320040"/>
          </a:xfrm>
          <a:prstGeom prst="rect">
            <a:avLst/>
          </a:prstGeom>
          <a:solidFill>
            <a:srgbClr val="E8ECEE"/>
          </a:solidFill>
          <a:ln w="5080">
            <a:solidFill>
              <a:srgbClr val="DCE2E4"/>
            </a:solidFill>
            <a:prstDash val="solid"/>
          </a:ln>
        </p:spPr>
      </p:sp>
      <p:sp>
        <p:nvSpPr>
          <p:cNvPr id="205" name="Shape 202"/>
          <p:cNvSpPr/>
          <p:nvPr/>
        </p:nvSpPr>
        <p:spPr>
          <a:xfrm>
            <a:off x="10488168" y="3703320"/>
            <a:ext cx="320040" cy="320040"/>
          </a:xfrm>
          <a:prstGeom prst="rect">
            <a:avLst/>
          </a:prstGeom>
          <a:solidFill>
            <a:srgbClr val="F7F9F9"/>
          </a:solidFill>
          <a:ln w="5080">
            <a:solidFill>
              <a:srgbClr val="DCE2E4"/>
            </a:solidFill>
            <a:prstDash val="solid"/>
          </a:ln>
        </p:spPr>
      </p:sp>
      <p:sp>
        <p:nvSpPr>
          <p:cNvPr id="206" name="Shape 203"/>
          <p:cNvSpPr/>
          <p:nvPr/>
        </p:nvSpPr>
        <p:spPr>
          <a:xfrm>
            <a:off x="10808208" y="3703320"/>
            <a:ext cx="320040" cy="320040"/>
          </a:xfrm>
          <a:prstGeom prst="rect">
            <a:avLst/>
          </a:prstGeom>
          <a:solidFill>
            <a:srgbClr val="E8ECEE"/>
          </a:solidFill>
          <a:ln w="5080">
            <a:solidFill>
              <a:srgbClr val="DCE2E4"/>
            </a:solidFill>
            <a:prstDash val="solid"/>
          </a:ln>
        </p:spPr>
      </p:sp>
      <p:sp>
        <p:nvSpPr>
          <p:cNvPr id="207" name="Shape 204"/>
          <p:cNvSpPr/>
          <p:nvPr/>
        </p:nvSpPr>
        <p:spPr>
          <a:xfrm>
            <a:off x="8567928" y="4023360"/>
            <a:ext cx="320040" cy="320040"/>
          </a:xfrm>
          <a:prstGeom prst="rect">
            <a:avLst/>
          </a:prstGeom>
          <a:solidFill>
            <a:srgbClr val="E8ECEE"/>
          </a:solidFill>
          <a:ln w="5080">
            <a:solidFill>
              <a:srgbClr val="DCE2E4"/>
            </a:solidFill>
            <a:prstDash val="solid"/>
          </a:ln>
        </p:spPr>
      </p:sp>
      <p:sp>
        <p:nvSpPr>
          <p:cNvPr id="208" name="Shape 205"/>
          <p:cNvSpPr/>
          <p:nvPr/>
        </p:nvSpPr>
        <p:spPr>
          <a:xfrm>
            <a:off x="8887968" y="4023360"/>
            <a:ext cx="320040" cy="320040"/>
          </a:xfrm>
          <a:prstGeom prst="rect">
            <a:avLst/>
          </a:prstGeom>
          <a:solidFill>
            <a:srgbClr val="F7F9F9"/>
          </a:solidFill>
          <a:ln w="5080">
            <a:solidFill>
              <a:srgbClr val="DCE2E4"/>
            </a:solidFill>
            <a:prstDash val="solid"/>
          </a:ln>
        </p:spPr>
      </p:sp>
      <p:sp>
        <p:nvSpPr>
          <p:cNvPr id="209" name="Shape 206"/>
          <p:cNvSpPr/>
          <p:nvPr/>
        </p:nvSpPr>
        <p:spPr>
          <a:xfrm>
            <a:off x="9208008" y="4023360"/>
            <a:ext cx="320040" cy="320040"/>
          </a:xfrm>
          <a:prstGeom prst="rect">
            <a:avLst/>
          </a:prstGeom>
          <a:solidFill>
            <a:srgbClr val="E8ECEE"/>
          </a:solidFill>
          <a:ln w="5080">
            <a:solidFill>
              <a:srgbClr val="DCE2E4"/>
            </a:solidFill>
            <a:prstDash val="solid"/>
          </a:ln>
        </p:spPr>
      </p:sp>
      <p:sp>
        <p:nvSpPr>
          <p:cNvPr id="210" name="Shape 207"/>
          <p:cNvSpPr/>
          <p:nvPr/>
        </p:nvSpPr>
        <p:spPr>
          <a:xfrm>
            <a:off x="9528048" y="4023360"/>
            <a:ext cx="320040" cy="320040"/>
          </a:xfrm>
          <a:prstGeom prst="rect">
            <a:avLst/>
          </a:prstGeom>
          <a:solidFill>
            <a:srgbClr val="F7F9F9"/>
          </a:solidFill>
          <a:ln w="5080">
            <a:solidFill>
              <a:srgbClr val="DCE2E4"/>
            </a:solidFill>
            <a:prstDash val="solid"/>
          </a:ln>
        </p:spPr>
      </p:sp>
      <p:sp>
        <p:nvSpPr>
          <p:cNvPr id="211" name="Shape 208"/>
          <p:cNvSpPr/>
          <p:nvPr/>
        </p:nvSpPr>
        <p:spPr>
          <a:xfrm>
            <a:off x="9848088" y="4023360"/>
            <a:ext cx="320040" cy="320040"/>
          </a:xfrm>
          <a:prstGeom prst="rect">
            <a:avLst/>
          </a:prstGeom>
          <a:solidFill>
            <a:srgbClr val="E8ECEE"/>
          </a:solidFill>
          <a:ln w="5080">
            <a:solidFill>
              <a:srgbClr val="DCE2E4"/>
            </a:solidFill>
            <a:prstDash val="solid"/>
          </a:ln>
        </p:spPr>
      </p:sp>
      <p:sp>
        <p:nvSpPr>
          <p:cNvPr id="212" name="Shape 209"/>
          <p:cNvSpPr/>
          <p:nvPr/>
        </p:nvSpPr>
        <p:spPr>
          <a:xfrm>
            <a:off x="10168128" y="4023360"/>
            <a:ext cx="320040" cy="320040"/>
          </a:xfrm>
          <a:prstGeom prst="rect">
            <a:avLst/>
          </a:prstGeom>
          <a:solidFill>
            <a:srgbClr val="F7F9F9"/>
          </a:solidFill>
          <a:ln w="5080">
            <a:solidFill>
              <a:srgbClr val="DCE2E4"/>
            </a:solidFill>
            <a:prstDash val="solid"/>
          </a:ln>
        </p:spPr>
      </p:sp>
      <p:sp>
        <p:nvSpPr>
          <p:cNvPr id="213" name="Shape 210"/>
          <p:cNvSpPr/>
          <p:nvPr/>
        </p:nvSpPr>
        <p:spPr>
          <a:xfrm>
            <a:off x="10488168" y="4023360"/>
            <a:ext cx="320040" cy="320040"/>
          </a:xfrm>
          <a:prstGeom prst="rect">
            <a:avLst/>
          </a:prstGeom>
          <a:solidFill>
            <a:srgbClr val="E8ECEE"/>
          </a:solidFill>
          <a:ln w="5080">
            <a:solidFill>
              <a:srgbClr val="DCE2E4"/>
            </a:solidFill>
            <a:prstDash val="solid"/>
          </a:ln>
        </p:spPr>
      </p:sp>
      <p:sp>
        <p:nvSpPr>
          <p:cNvPr id="214" name="Shape 211"/>
          <p:cNvSpPr/>
          <p:nvPr/>
        </p:nvSpPr>
        <p:spPr>
          <a:xfrm>
            <a:off x="10808208" y="4023360"/>
            <a:ext cx="320040" cy="320040"/>
          </a:xfrm>
          <a:prstGeom prst="rect">
            <a:avLst/>
          </a:prstGeom>
          <a:solidFill>
            <a:srgbClr val="F7F9F9"/>
          </a:solidFill>
          <a:ln w="5080">
            <a:solidFill>
              <a:srgbClr val="DCE2E4"/>
            </a:solidFill>
            <a:prstDash val="solid"/>
          </a:ln>
        </p:spPr>
      </p:sp>
      <p:sp>
        <p:nvSpPr>
          <p:cNvPr id="215" name="Shape 212"/>
          <p:cNvSpPr/>
          <p:nvPr/>
        </p:nvSpPr>
        <p:spPr>
          <a:xfrm>
            <a:off x="8567928" y="4343400"/>
            <a:ext cx="320040" cy="320040"/>
          </a:xfrm>
          <a:prstGeom prst="rect">
            <a:avLst/>
          </a:prstGeom>
          <a:solidFill>
            <a:srgbClr val="F7F9F9"/>
          </a:solidFill>
          <a:ln w="5080">
            <a:solidFill>
              <a:srgbClr val="DCE2E4"/>
            </a:solidFill>
            <a:prstDash val="solid"/>
          </a:ln>
        </p:spPr>
      </p:sp>
      <p:sp>
        <p:nvSpPr>
          <p:cNvPr id="216" name="Shape 213"/>
          <p:cNvSpPr/>
          <p:nvPr/>
        </p:nvSpPr>
        <p:spPr>
          <a:xfrm>
            <a:off x="8887968" y="4343400"/>
            <a:ext cx="320040" cy="320040"/>
          </a:xfrm>
          <a:prstGeom prst="rect">
            <a:avLst/>
          </a:prstGeom>
          <a:solidFill>
            <a:srgbClr val="E8ECEE"/>
          </a:solidFill>
          <a:ln w="5080">
            <a:solidFill>
              <a:srgbClr val="DCE2E4"/>
            </a:solidFill>
            <a:prstDash val="solid"/>
          </a:ln>
        </p:spPr>
      </p:sp>
      <p:sp>
        <p:nvSpPr>
          <p:cNvPr id="217" name="Shape 214"/>
          <p:cNvSpPr/>
          <p:nvPr/>
        </p:nvSpPr>
        <p:spPr>
          <a:xfrm>
            <a:off x="9208008" y="4343400"/>
            <a:ext cx="320040" cy="320040"/>
          </a:xfrm>
          <a:prstGeom prst="rect">
            <a:avLst/>
          </a:prstGeom>
          <a:solidFill>
            <a:srgbClr val="F7F9F9"/>
          </a:solidFill>
          <a:ln w="5080">
            <a:solidFill>
              <a:srgbClr val="DCE2E4"/>
            </a:solidFill>
            <a:prstDash val="solid"/>
          </a:ln>
        </p:spPr>
      </p:sp>
      <p:sp>
        <p:nvSpPr>
          <p:cNvPr id="218" name="Shape 215"/>
          <p:cNvSpPr/>
          <p:nvPr/>
        </p:nvSpPr>
        <p:spPr>
          <a:xfrm>
            <a:off x="9528048" y="4343400"/>
            <a:ext cx="320040" cy="320040"/>
          </a:xfrm>
          <a:prstGeom prst="rect">
            <a:avLst/>
          </a:prstGeom>
          <a:solidFill>
            <a:srgbClr val="E8ECEE"/>
          </a:solidFill>
          <a:ln w="5080">
            <a:solidFill>
              <a:srgbClr val="DCE2E4"/>
            </a:solidFill>
            <a:prstDash val="solid"/>
          </a:ln>
        </p:spPr>
      </p:sp>
      <p:sp>
        <p:nvSpPr>
          <p:cNvPr id="219" name="Shape 216"/>
          <p:cNvSpPr/>
          <p:nvPr/>
        </p:nvSpPr>
        <p:spPr>
          <a:xfrm>
            <a:off x="9848088" y="4343400"/>
            <a:ext cx="320040" cy="320040"/>
          </a:xfrm>
          <a:prstGeom prst="rect">
            <a:avLst/>
          </a:prstGeom>
          <a:solidFill>
            <a:srgbClr val="F7F9F9"/>
          </a:solidFill>
          <a:ln w="5080">
            <a:solidFill>
              <a:srgbClr val="DCE2E4"/>
            </a:solidFill>
            <a:prstDash val="solid"/>
          </a:ln>
        </p:spPr>
      </p:sp>
      <p:sp>
        <p:nvSpPr>
          <p:cNvPr id="220" name="Shape 217"/>
          <p:cNvSpPr/>
          <p:nvPr/>
        </p:nvSpPr>
        <p:spPr>
          <a:xfrm>
            <a:off x="10168128" y="4343400"/>
            <a:ext cx="320040" cy="320040"/>
          </a:xfrm>
          <a:prstGeom prst="rect">
            <a:avLst/>
          </a:prstGeom>
          <a:solidFill>
            <a:srgbClr val="E8ECEE"/>
          </a:solidFill>
          <a:ln w="5080">
            <a:solidFill>
              <a:srgbClr val="DCE2E4"/>
            </a:solidFill>
            <a:prstDash val="solid"/>
          </a:ln>
        </p:spPr>
      </p:sp>
      <p:sp>
        <p:nvSpPr>
          <p:cNvPr id="221" name="Shape 218"/>
          <p:cNvSpPr/>
          <p:nvPr/>
        </p:nvSpPr>
        <p:spPr>
          <a:xfrm>
            <a:off x="10488168" y="4343400"/>
            <a:ext cx="320040" cy="320040"/>
          </a:xfrm>
          <a:prstGeom prst="rect">
            <a:avLst/>
          </a:prstGeom>
          <a:solidFill>
            <a:srgbClr val="F7F9F9"/>
          </a:solidFill>
          <a:ln w="5080">
            <a:solidFill>
              <a:srgbClr val="DCE2E4"/>
            </a:solidFill>
            <a:prstDash val="solid"/>
          </a:ln>
        </p:spPr>
      </p:sp>
      <p:sp>
        <p:nvSpPr>
          <p:cNvPr id="222" name="Shape 219"/>
          <p:cNvSpPr/>
          <p:nvPr/>
        </p:nvSpPr>
        <p:spPr>
          <a:xfrm>
            <a:off x="10808208" y="4343400"/>
            <a:ext cx="320040" cy="320040"/>
          </a:xfrm>
          <a:prstGeom prst="rect">
            <a:avLst/>
          </a:prstGeom>
          <a:solidFill>
            <a:srgbClr val="E8ECEE"/>
          </a:solidFill>
          <a:ln w="5080">
            <a:solidFill>
              <a:srgbClr val="DCE2E4"/>
            </a:solidFill>
            <a:prstDash val="solid"/>
          </a:ln>
        </p:spPr>
      </p:sp>
      <p:sp>
        <p:nvSpPr>
          <p:cNvPr id="223" name="Shape 220"/>
          <p:cNvSpPr/>
          <p:nvPr/>
        </p:nvSpPr>
        <p:spPr>
          <a:xfrm>
            <a:off x="8618220" y="2153412"/>
            <a:ext cx="219456" cy="219456"/>
          </a:xfrm>
          <a:prstGeom prst="ellipse">
            <a:avLst/>
          </a:prstGeom>
          <a:solidFill>
            <a:srgbClr val="31424E"/>
          </a:solidFill>
          <a:ln/>
        </p:spPr>
      </p:sp>
      <p:sp>
        <p:nvSpPr>
          <p:cNvPr id="224" name="Shape 221"/>
          <p:cNvSpPr/>
          <p:nvPr/>
        </p:nvSpPr>
        <p:spPr>
          <a:xfrm>
            <a:off x="8938260" y="4073652"/>
            <a:ext cx="219456" cy="219456"/>
          </a:xfrm>
          <a:prstGeom prst="ellipse">
            <a:avLst/>
          </a:prstGeom>
          <a:solidFill>
            <a:srgbClr val="31424E"/>
          </a:solidFill>
          <a:ln/>
        </p:spPr>
      </p:sp>
      <p:sp>
        <p:nvSpPr>
          <p:cNvPr id="225" name="Shape 222"/>
          <p:cNvSpPr/>
          <p:nvPr/>
        </p:nvSpPr>
        <p:spPr>
          <a:xfrm>
            <a:off x="9258300" y="3113532"/>
            <a:ext cx="219456" cy="219456"/>
          </a:xfrm>
          <a:prstGeom prst="ellipse">
            <a:avLst/>
          </a:prstGeom>
          <a:solidFill>
            <a:srgbClr val="31424E"/>
          </a:solidFill>
          <a:ln/>
        </p:spPr>
      </p:sp>
      <p:sp>
        <p:nvSpPr>
          <p:cNvPr id="226" name="Shape 223"/>
          <p:cNvSpPr/>
          <p:nvPr/>
        </p:nvSpPr>
        <p:spPr>
          <a:xfrm>
            <a:off x="9578340" y="3753612"/>
            <a:ext cx="219456" cy="219456"/>
          </a:xfrm>
          <a:prstGeom prst="ellipse">
            <a:avLst/>
          </a:prstGeom>
          <a:solidFill>
            <a:srgbClr val="31424E"/>
          </a:solidFill>
          <a:ln/>
        </p:spPr>
      </p:sp>
      <p:sp>
        <p:nvSpPr>
          <p:cNvPr id="227" name="Shape 224"/>
          <p:cNvSpPr/>
          <p:nvPr/>
        </p:nvSpPr>
        <p:spPr>
          <a:xfrm>
            <a:off x="9898380" y="4393692"/>
            <a:ext cx="219456" cy="219456"/>
          </a:xfrm>
          <a:prstGeom prst="ellipse">
            <a:avLst/>
          </a:prstGeom>
          <a:solidFill>
            <a:srgbClr val="31424E"/>
          </a:solidFill>
          <a:ln/>
        </p:spPr>
      </p:sp>
      <p:sp>
        <p:nvSpPr>
          <p:cNvPr id="228" name="Shape 225"/>
          <p:cNvSpPr/>
          <p:nvPr/>
        </p:nvSpPr>
        <p:spPr>
          <a:xfrm>
            <a:off x="10218420" y="4393692"/>
            <a:ext cx="219456" cy="219456"/>
          </a:xfrm>
          <a:prstGeom prst="ellipse">
            <a:avLst/>
          </a:prstGeom>
          <a:solidFill>
            <a:srgbClr val="B85042"/>
          </a:solidFill>
          <a:ln/>
        </p:spPr>
      </p:sp>
      <p:sp>
        <p:nvSpPr>
          <p:cNvPr id="229" name="Shape 226"/>
          <p:cNvSpPr/>
          <p:nvPr/>
        </p:nvSpPr>
        <p:spPr>
          <a:xfrm>
            <a:off x="10538460" y="3433572"/>
            <a:ext cx="219456" cy="219456"/>
          </a:xfrm>
          <a:prstGeom prst="ellipse">
            <a:avLst/>
          </a:prstGeom>
          <a:solidFill>
            <a:srgbClr val="31424E"/>
          </a:solidFill>
          <a:ln/>
        </p:spPr>
      </p:sp>
      <p:sp>
        <p:nvSpPr>
          <p:cNvPr id="230" name="Shape 227"/>
          <p:cNvSpPr/>
          <p:nvPr/>
        </p:nvSpPr>
        <p:spPr>
          <a:xfrm>
            <a:off x="10858500" y="2793492"/>
            <a:ext cx="219456" cy="219456"/>
          </a:xfrm>
          <a:prstGeom prst="ellipse">
            <a:avLst/>
          </a:prstGeom>
          <a:solidFill>
            <a:srgbClr val="31424E"/>
          </a:solidFill>
          <a:ln/>
        </p:spPr>
      </p:sp>
      <p:sp>
        <p:nvSpPr>
          <p:cNvPr id="231" name="Text 228"/>
          <p:cNvSpPr/>
          <p:nvPr/>
        </p:nvSpPr>
        <p:spPr>
          <a:xfrm>
            <a:off x="8348472" y="4828032"/>
            <a:ext cx="3017520" cy="658368"/>
          </a:xfrm>
          <a:prstGeom prst="rect">
            <a:avLst/>
          </a:prstGeom>
          <a:noFill/>
          <a:ln/>
        </p:spPr>
        <p:txBody>
          <a:bodyPr wrap="square" lIns="0" tIns="0" rIns="0" bIns="0" rtlCol="0" anchor="t"/>
          <a:lstStyle/>
          <a:p>
            <a:pPr indent="0" marL="0">
              <a:lnSpc>
                <a:spcPct val="112000"/>
              </a:lnSpc>
              <a:buNone/>
            </a:pPr>
            <a:r>
              <a:rPr lang="en-US" sz="1150" dirty="0">
                <a:solidFill>
                  <a:srgbClr val="6E7A83"/>
                </a:solidFill>
                <a:latin typeface="Calibri" pitchFamily="34" charset="0"/>
                <a:ea typeface="Calibri" pitchFamily="34" charset="-122"/>
                <a:cs typeface="Calibri" pitchFamily="34" charset="-120"/>
              </a:rPr>
              <a:t>Now select Q6 and move it to row 8 - which results in no conflicts at all.</a:t>
            </a:r>
            <a:endParaRPr lang="en-US" sz="1150" dirty="0"/>
          </a:p>
        </p:txBody>
      </p:sp>
      <p:sp>
        <p:nvSpPr>
          <p:cNvPr id="232" name="Text 229"/>
          <p:cNvSpPr/>
          <p:nvPr/>
        </p:nvSpPr>
        <p:spPr>
          <a:xfrm>
            <a:off x="502920" y="5806440"/>
            <a:ext cx="11155680" cy="365760"/>
          </a:xfrm>
          <a:prstGeom prst="rect">
            <a:avLst/>
          </a:prstGeom>
          <a:noFill/>
          <a:ln/>
        </p:spPr>
        <p:txBody>
          <a:bodyPr wrap="square" lIns="0" tIns="0" rIns="0" bIns="0" rtlCol="0" anchor="t"/>
          <a:lstStyle/>
          <a:p>
            <a:pPr indent="0" marL="0">
              <a:lnSpc>
                <a:spcPct val="112000"/>
              </a:lnSpc>
              <a:buNone/>
            </a:pPr>
            <a:r>
              <a:rPr lang="en-US" sz="1250" i="1" dirty="0">
                <a:solidFill>
                  <a:srgbClr val="6E7A83"/>
                </a:solidFill>
                <a:latin typeface="Calibri" pitchFamily="34" charset="0"/>
                <a:ea typeface="Calibri" pitchFamily="34" charset="-122"/>
                <a:cs typeface="Calibri" pitchFamily="34" charset="-120"/>
              </a:rPr>
              <a:t>No conflicted variables remain, so we have a solution. Each move is local: one queen, one column, chosen to minimise attacks.</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6.4</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Min-conflicts is surprisingly effective</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39</a:t>
            </a:r>
            <a:endParaRPr lang="en-US" sz="900" dirty="0"/>
          </a:p>
        </p:txBody>
      </p:sp>
      <p:sp>
        <p:nvSpPr>
          <p:cNvPr id="7" name="Shape 4"/>
          <p:cNvSpPr/>
          <p:nvPr/>
        </p:nvSpPr>
        <p:spPr>
          <a:xfrm>
            <a:off x="502920" y="1417320"/>
            <a:ext cx="3520440" cy="1828800"/>
          </a:xfrm>
          <a:prstGeom prst="roundRect">
            <a:avLst>
              <a:gd name="adj" fmla="val 3000"/>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8" name="Text 5"/>
          <p:cNvSpPr/>
          <p:nvPr/>
        </p:nvSpPr>
        <p:spPr>
          <a:xfrm>
            <a:off x="685800" y="1627632"/>
            <a:ext cx="3154680" cy="658368"/>
          </a:xfrm>
          <a:prstGeom prst="rect">
            <a:avLst/>
          </a:prstGeom>
          <a:noFill/>
          <a:ln/>
        </p:spPr>
        <p:txBody>
          <a:bodyPr wrap="square" lIns="0" tIns="0" rIns="0" bIns="0" rtlCol="0" anchor="ctr"/>
          <a:lstStyle/>
          <a:p>
            <a:pPr algn="ctr" indent="0" marL="0">
              <a:buNone/>
            </a:pPr>
            <a:r>
              <a:rPr lang="en-US" sz="3300" b="1" dirty="0">
                <a:solidFill>
                  <a:srgbClr val="B85042"/>
                </a:solidFill>
                <a:latin typeface="Cambria" pitchFamily="34" charset="0"/>
                <a:ea typeface="Cambria" pitchFamily="34" charset="-122"/>
                <a:cs typeface="Cambria" pitchFamily="34" charset="-120"/>
              </a:rPr>
              <a:t>~50</a:t>
            </a:r>
            <a:endParaRPr lang="en-US" sz="3300" dirty="0"/>
          </a:p>
        </p:txBody>
      </p:sp>
      <p:sp>
        <p:nvSpPr>
          <p:cNvPr id="9" name="Text 6"/>
          <p:cNvSpPr/>
          <p:nvPr/>
        </p:nvSpPr>
        <p:spPr>
          <a:xfrm>
            <a:off x="758952" y="2395728"/>
            <a:ext cx="3017520" cy="731520"/>
          </a:xfrm>
          <a:prstGeom prst="rect">
            <a:avLst/>
          </a:prstGeom>
          <a:noFill/>
          <a:ln/>
        </p:spPr>
        <p:txBody>
          <a:bodyPr wrap="square" lIns="0" tIns="0" rIns="0" bIns="0" rtlCol="0" anchor="t"/>
          <a:lstStyle/>
          <a:p>
            <a:pPr algn="ctr" indent="0" marL="0">
              <a:lnSpc>
                <a:spcPct val="112000"/>
              </a:lnSpc>
              <a:buNone/>
            </a:pPr>
            <a:r>
              <a:rPr lang="en-US" sz="1200" dirty="0">
                <a:solidFill>
                  <a:srgbClr val="6E7A83"/>
                </a:solidFill>
                <a:latin typeface="Calibri" pitchFamily="34" charset="0"/>
                <a:ea typeface="Calibri" pitchFamily="34" charset="-122"/>
                <a:cs typeface="Calibri" pitchFamily="34" charset="-120"/>
              </a:rPr>
              <a:t>steps to solve n-queens, roughly independent of n</a:t>
            </a:r>
            <a:endParaRPr lang="en-US" sz="1200" dirty="0"/>
          </a:p>
        </p:txBody>
      </p:sp>
      <p:sp>
        <p:nvSpPr>
          <p:cNvPr id="10" name="Shape 7"/>
          <p:cNvSpPr/>
          <p:nvPr/>
        </p:nvSpPr>
        <p:spPr>
          <a:xfrm>
            <a:off x="4297680" y="1417320"/>
            <a:ext cx="3520440" cy="1828800"/>
          </a:xfrm>
          <a:prstGeom prst="roundRect">
            <a:avLst>
              <a:gd name="adj" fmla="val 3000"/>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11" name="Text 8"/>
          <p:cNvSpPr/>
          <p:nvPr/>
        </p:nvSpPr>
        <p:spPr>
          <a:xfrm>
            <a:off x="4480560" y="1627632"/>
            <a:ext cx="3154680" cy="658368"/>
          </a:xfrm>
          <a:prstGeom prst="rect">
            <a:avLst/>
          </a:prstGeom>
          <a:noFill/>
          <a:ln/>
        </p:spPr>
        <p:txBody>
          <a:bodyPr wrap="square" lIns="0" tIns="0" rIns="0" bIns="0" rtlCol="0" anchor="ctr"/>
          <a:lstStyle/>
          <a:p>
            <a:pPr algn="ctr" indent="0" marL="0">
              <a:buNone/>
            </a:pPr>
            <a:r>
              <a:rPr lang="en-US" sz="3300" b="1" dirty="0">
                <a:solidFill>
                  <a:srgbClr val="50808E"/>
                </a:solidFill>
                <a:latin typeface="Cambria" pitchFamily="34" charset="0"/>
                <a:ea typeface="Cambria" pitchFamily="34" charset="-122"/>
                <a:cs typeface="Cambria" pitchFamily="34" charset="-120"/>
              </a:rPr>
              <a:t>1,000,000</a:t>
            </a:r>
            <a:endParaRPr lang="en-US" sz="3300" dirty="0"/>
          </a:p>
        </p:txBody>
      </p:sp>
      <p:sp>
        <p:nvSpPr>
          <p:cNvPr id="12" name="Text 9"/>
          <p:cNvSpPr/>
          <p:nvPr/>
        </p:nvSpPr>
        <p:spPr>
          <a:xfrm>
            <a:off x="4553712" y="2395728"/>
            <a:ext cx="3017520" cy="731520"/>
          </a:xfrm>
          <a:prstGeom prst="rect">
            <a:avLst/>
          </a:prstGeom>
          <a:noFill/>
          <a:ln/>
        </p:spPr>
        <p:txBody>
          <a:bodyPr wrap="square" lIns="0" tIns="0" rIns="0" bIns="0" rtlCol="0" anchor="t"/>
          <a:lstStyle/>
          <a:p>
            <a:pPr algn="ctr" indent="0" marL="0">
              <a:lnSpc>
                <a:spcPct val="112000"/>
              </a:lnSpc>
              <a:buNone/>
            </a:pPr>
            <a:r>
              <a:rPr lang="en-US" sz="1200" dirty="0">
                <a:solidFill>
                  <a:srgbClr val="6E7A83"/>
                </a:solidFill>
                <a:latin typeface="Calibri" pitchFamily="34" charset="0"/>
                <a:ea typeface="Calibri" pitchFamily="34" charset="-122"/>
                <a:cs typeface="Calibri" pitchFamily="34" charset="-120"/>
              </a:rPr>
              <a:t>queens solved in about 50 steps from a random start</a:t>
            </a:r>
            <a:endParaRPr lang="en-US" sz="1200" dirty="0"/>
          </a:p>
        </p:txBody>
      </p:sp>
      <p:sp>
        <p:nvSpPr>
          <p:cNvPr id="13" name="Shape 10"/>
          <p:cNvSpPr/>
          <p:nvPr/>
        </p:nvSpPr>
        <p:spPr>
          <a:xfrm>
            <a:off x="8092440" y="1417320"/>
            <a:ext cx="3520440" cy="1828800"/>
          </a:xfrm>
          <a:prstGeom prst="roundRect">
            <a:avLst>
              <a:gd name="adj" fmla="val 3000"/>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14" name="Text 11"/>
          <p:cNvSpPr/>
          <p:nvPr/>
        </p:nvSpPr>
        <p:spPr>
          <a:xfrm>
            <a:off x="8275320" y="1627632"/>
            <a:ext cx="3154680" cy="658368"/>
          </a:xfrm>
          <a:prstGeom prst="rect">
            <a:avLst/>
          </a:prstGeom>
          <a:noFill/>
          <a:ln/>
        </p:spPr>
        <p:txBody>
          <a:bodyPr wrap="square" lIns="0" tIns="0" rIns="0" bIns="0" rtlCol="0" anchor="ctr"/>
          <a:lstStyle/>
          <a:p>
            <a:pPr algn="ctr" indent="0" marL="0">
              <a:buNone/>
            </a:pPr>
            <a:r>
              <a:rPr lang="en-US" sz="2100" b="1" dirty="0">
                <a:solidFill>
                  <a:srgbClr val="6E8B5A"/>
                </a:solidFill>
                <a:latin typeface="Cambria" pitchFamily="34" charset="0"/>
                <a:ea typeface="Cambria" pitchFamily="34" charset="-122"/>
                <a:cs typeface="Cambria" pitchFamily="34" charset="-120"/>
              </a:rPr>
              <a:t>3 weeks to 10 min</a:t>
            </a:r>
            <a:endParaRPr lang="en-US" sz="2100" dirty="0"/>
          </a:p>
        </p:txBody>
      </p:sp>
      <p:sp>
        <p:nvSpPr>
          <p:cNvPr id="15" name="Text 12"/>
          <p:cNvSpPr/>
          <p:nvPr/>
        </p:nvSpPr>
        <p:spPr>
          <a:xfrm>
            <a:off x="8348472" y="2395728"/>
            <a:ext cx="3017520" cy="731520"/>
          </a:xfrm>
          <a:prstGeom prst="rect">
            <a:avLst/>
          </a:prstGeom>
          <a:noFill/>
          <a:ln/>
        </p:spPr>
        <p:txBody>
          <a:bodyPr wrap="square" lIns="0" tIns="0" rIns="0" bIns="0" rtlCol="0" anchor="t"/>
          <a:lstStyle/>
          <a:p>
            <a:pPr algn="ctr" indent="0" marL="0">
              <a:lnSpc>
                <a:spcPct val="112000"/>
              </a:lnSpc>
              <a:buNone/>
            </a:pPr>
            <a:r>
              <a:rPr lang="en-US" sz="1200" dirty="0">
                <a:solidFill>
                  <a:srgbClr val="6E7A83"/>
                </a:solidFill>
                <a:latin typeface="Calibri" pitchFamily="34" charset="0"/>
                <a:ea typeface="Calibri" pitchFamily="34" charset="-122"/>
                <a:cs typeface="Calibri" pitchFamily="34" charset="-120"/>
              </a:rPr>
              <a:t>Hubble Space Telescope weekly observation scheduling</a:t>
            </a:r>
            <a:endParaRPr lang="en-US" sz="1200" dirty="0"/>
          </a:p>
        </p:txBody>
      </p:sp>
      <p:sp>
        <p:nvSpPr>
          <p:cNvPr id="16" name="Text 13"/>
          <p:cNvSpPr/>
          <p:nvPr/>
        </p:nvSpPr>
        <p:spPr>
          <a:xfrm>
            <a:off x="502920" y="3520440"/>
            <a:ext cx="6766560" cy="192024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If you do not count the initial placement, run time on n-queens is roughly independent of problem size</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Where systematic methods handled n in the tens or low hundreds, min-conflicts handles essentially any size, almost instantly</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It also works on genuinely hard scheduling problems, not just toy puzzles</a:t>
            </a:r>
            <a:endParaRPr lang="en-US" sz="1350" dirty="0"/>
          </a:p>
        </p:txBody>
      </p:sp>
      <p:sp>
        <p:nvSpPr>
          <p:cNvPr id="17" name="Shape 14"/>
          <p:cNvSpPr/>
          <p:nvPr/>
        </p:nvSpPr>
        <p:spPr>
          <a:xfrm>
            <a:off x="7543800" y="3520440"/>
            <a:ext cx="4114800" cy="2331720"/>
          </a:xfrm>
          <a:prstGeom prst="roundRect">
            <a:avLst>
              <a:gd name="adj" fmla="val 2353"/>
            </a:avLst>
          </a:prstGeom>
          <a:solidFill>
            <a:srgbClr val="F7EEEA"/>
          </a:solidFill>
          <a:ln w="9525">
            <a:solidFill>
              <a:srgbClr val="F7EEEA"/>
            </a:solidFill>
            <a:prstDash val="solid"/>
          </a:ln>
        </p:spPr>
      </p:sp>
      <p:sp>
        <p:nvSpPr>
          <p:cNvPr id="18" name="Text 15"/>
          <p:cNvSpPr/>
          <p:nvPr/>
        </p:nvSpPr>
        <p:spPr>
          <a:xfrm>
            <a:off x="7818120" y="3703320"/>
            <a:ext cx="3657600" cy="301752"/>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Do not over-generalise</a:t>
            </a:r>
            <a:endParaRPr lang="en-US" sz="1500" dirty="0"/>
          </a:p>
        </p:txBody>
      </p:sp>
      <p:sp>
        <p:nvSpPr>
          <p:cNvPr id="19" name="Text 16"/>
          <p:cNvSpPr/>
          <p:nvPr/>
        </p:nvSpPr>
        <p:spPr>
          <a:xfrm>
            <a:off x="7818120" y="4114800"/>
            <a:ext cx="3657600" cy="160020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N-queens is relatively under-constrained, which is part of why min-conflicts looks so easy on it. The technique has no guarantees whatsoever - it is simply very fast, very often, in practice.</a:t>
            </a:r>
            <a:endParaRPr lang="en-US" sz="12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6.4</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Plateaus, constraint weighting, and online repair</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40</a:t>
            </a:r>
            <a:endParaRPr lang="en-US" sz="900" dirty="0"/>
          </a:p>
        </p:txBody>
      </p:sp>
      <p:sp>
        <p:nvSpPr>
          <p:cNvPr id="7" name="Shape 4"/>
          <p:cNvSpPr/>
          <p:nvPr/>
        </p:nvSpPr>
        <p:spPr>
          <a:xfrm>
            <a:off x="502920" y="1417320"/>
            <a:ext cx="11155680" cy="1353312"/>
          </a:xfrm>
          <a:prstGeom prst="roundRect">
            <a:avLst>
              <a:gd name="adj" fmla="val 4054"/>
            </a:avLst>
          </a:prstGeom>
          <a:solidFill>
            <a:srgbClr val="F1F3F4"/>
          </a:solidFill>
          <a:ln w="9525">
            <a:solidFill>
              <a:srgbClr val="F1F3F4"/>
            </a:solidFill>
            <a:prstDash val="solid"/>
          </a:ln>
        </p:spPr>
      </p:sp>
      <p:sp>
        <p:nvSpPr>
          <p:cNvPr id="8" name="Shape 5"/>
          <p:cNvSpPr/>
          <p:nvPr/>
        </p:nvSpPr>
        <p:spPr>
          <a:xfrm>
            <a:off x="777240" y="1673352"/>
            <a:ext cx="457200" cy="457200"/>
          </a:xfrm>
          <a:prstGeom prst="ellipse">
            <a:avLst/>
          </a:prstGeom>
          <a:solidFill>
            <a:srgbClr val="50808E"/>
          </a:solidFill>
          <a:ln/>
        </p:spPr>
      </p:sp>
      <p:sp>
        <p:nvSpPr>
          <p:cNvPr id="9" name="Text 6"/>
          <p:cNvSpPr/>
          <p:nvPr/>
        </p:nvSpPr>
        <p:spPr>
          <a:xfrm>
            <a:off x="777240" y="16733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p:nvPr/>
        </p:nvSpPr>
        <p:spPr>
          <a:xfrm>
            <a:off x="1463040" y="1581912"/>
            <a:ext cx="4572000" cy="301752"/>
          </a:xfrm>
          <a:prstGeom prst="rect">
            <a:avLst/>
          </a:prstGeom>
          <a:noFill/>
          <a:ln/>
        </p:spPr>
        <p:txBody>
          <a:bodyPr wrap="square" lIns="0" tIns="0" rIns="0" bIns="0" rtlCol="0" anchor="ctr"/>
          <a:lstStyle/>
          <a:p>
            <a:pPr indent="0" marL="0">
              <a:buNone/>
            </a:pPr>
            <a:r>
              <a:rPr lang="en-US" sz="1600" b="1" dirty="0">
                <a:solidFill>
                  <a:srgbClr val="50808E"/>
                </a:solidFill>
                <a:latin typeface="Calibri" pitchFamily="34" charset="0"/>
                <a:ea typeface="Calibri" pitchFamily="34" charset="-122"/>
                <a:cs typeface="Calibri" pitchFamily="34" charset="-120"/>
              </a:rPr>
              <a:t>Plateaus</a:t>
            </a:r>
            <a:endParaRPr lang="en-US" sz="1600" dirty="0"/>
          </a:p>
        </p:txBody>
      </p:sp>
      <p:sp>
        <p:nvSpPr>
          <p:cNvPr id="11" name="Text 8"/>
          <p:cNvSpPr/>
          <p:nvPr/>
        </p:nvSpPr>
        <p:spPr>
          <a:xfrm>
            <a:off x="1463040" y="1965960"/>
            <a:ext cx="9784080" cy="713232"/>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The landscape of a CSP under min-conflicts is usually a series of plateaus - vast regions where many states have the same conflict count. Plain hill climbing stalls; random sideways moves and tabu lists keep it moving.</a:t>
            </a:r>
            <a:endParaRPr lang="en-US" sz="1250" dirty="0"/>
          </a:p>
        </p:txBody>
      </p:sp>
      <p:sp>
        <p:nvSpPr>
          <p:cNvPr id="12" name="Shape 9"/>
          <p:cNvSpPr/>
          <p:nvPr/>
        </p:nvSpPr>
        <p:spPr>
          <a:xfrm>
            <a:off x="502920" y="2953512"/>
            <a:ext cx="11155680" cy="1353312"/>
          </a:xfrm>
          <a:prstGeom prst="roundRect">
            <a:avLst>
              <a:gd name="adj" fmla="val 4054"/>
            </a:avLst>
          </a:prstGeom>
          <a:solidFill>
            <a:srgbClr val="F7EEEA"/>
          </a:solidFill>
          <a:ln w="9525">
            <a:solidFill>
              <a:srgbClr val="F7EEEA"/>
            </a:solidFill>
            <a:prstDash val="solid"/>
          </a:ln>
        </p:spPr>
      </p:sp>
      <p:sp>
        <p:nvSpPr>
          <p:cNvPr id="13" name="Shape 10"/>
          <p:cNvSpPr/>
          <p:nvPr/>
        </p:nvSpPr>
        <p:spPr>
          <a:xfrm>
            <a:off x="777240" y="3209544"/>
            <a:ext cx="457200" cy="457200"/>
          </a:xfrm>
          <a:prstGeom prst="ellipse">
            <a:avLst/>
          </a:prstGeom>
          <a:solidFill>
            <a:srgbClr val="B85042"/>
          </a:solidFill>
          <a:ln/>
        </p:spPr>
      </p:sp>
      <p:sp>
        <p:nvSpPr>
          <p:cNvPr id="14" name="Text 11"/>
          <p:cNvSpPr/>
          <p:nvPr/>
        </p:nvSpPr>
        <p:spPr>
          <a:xfrm>
            <a:off x="777240" y="320954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p:nvPr/>
        </p:nvSpPr>
        <p:spPr>
          <a:xfrm>
            <a:off x="1463040" y="3118104"/>
            <a:ext cx="4572000" cy="301752"/>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Constraint weighting</a:t>
            </a:r>
            <a:endParaRPr lang="en-US" sz="1600" dirty="0"/>
          </a:p>
        </p:txBody>
      </p:sp>
      <p:sp>
        <p:nvSpPr>
          <p:cNvPr id="16" name="Text 13"/>
          <p:cNvSpPr/>
          <p:nvPr/>
        </p:nvSpPr>
        <p:spPr>
          <a:xfrm>
            <a:off x="1463040" y="3502152"/>
            <a:ext cx="9784080" cy="713232"/>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Give each constraint a numeric weight, initially 1. At each step, choose the variable and value that most reduce the total weight of violated constraints, then increment the weight of every constraint still violated by the current assignment. This concentrates the search on the constraints that are actually hard, and adds topography to a plateau.</a:t>
            </a:r>
            <a:endParaRPr lang="en-US" sz="1250" dirty="0"/>
          </a:p>
        </p:txBody>
      </p:sp>
      <p:sp>
        <p:nvSpPr>
          <p:cNvPr id="17" name="Shape 14"/>
          <p:cNvSpPr/>
          <p:nvPr/>
        </p:nvSpPr>
        <p:spPr>
          <a:xfrm>
            <a:off x="502920" y="4489704"/>
            <a:ext cx="11155680" cy="1353312"/>
          </a:xfrm>
          <a:prstGeom prst="roundRect">
            <a:avLst>
              <a:gd name="adj" fmla="val 4054"/>
            </a:avLst>
          </a:prstGeom>
          <a:solidFill>
            <a:srgbClr val="F1F3F4"/>
          </a:solidFill>
          <a:ln w="9525">
            <a:solidFill>
              <a:srgbClr val="F1F3F4"/>
            </a:solidFill>
            <a:prstDash val="solid"/>
          </a:ln>
        </p:spPr>
      </p:sp>
      <p:sp>
        <p:nvSpPr>
          <p:cNvPr id="18" name="Shape 15"/>
          <p:cNvSpPr/>
          <p:nvPr/>
        </p:nvSpPr>
        <p:spPr>
          <a:xfrm>
            <a:off x="777240" y="4745736"/>
            <a:ext cx="457200" cy="457200"/>
          </a:xfrm>
          <a:prstGeom prst="ellipse">
            <a:avLst/>
          </a:prstGeom>
          <a:solidFill>
            <a:srgbClr val="6E8B5A"/>
          </a:solidFill>
          <a:ln/>
        </p:spPr>
      </p:sp>
      <p:sp>
        <p:nvSpPr>
          <p:cNvPr id="19" name="Text 16"/>
          <p:cNvSpPr/>
          <p:nvPr/>
        </p:nvSpPr>
        <p:spPr>
          <a:xfrm>
            <a:off x="777240" y="47457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p:nvPr/>
        </p:nvSpPr>
        <p:spPr>
          <a:xfrm>
            <a:off x="1463040" y="4654296"/>
            <a:ext cx="4572000" cy="301752"/>
          </a:xfrm>
          <a:prstGeom prst="rect">
            <a:avLst/>
          </a:prstGeom>
          <a:noFill/>
          <a:ln/>
        </p:spPr>
        <p:txBody>
          <a:bodyPr wrap="square" lIns="0" tIns="0" rIns="0" bIns="0" rtlCol="0" anchor="ctr"/>
          <a:lstStyle/>
          <a:p>
            <a:pPr indent="0" marL="0">
              <a:buNone/>
            </a:pPr>
            <a:r>
              <a:rPr lang="en-US" sz="1600" b="1" dirty="0">
                <a:solidFill>
                  <a:srgbClr val="6E8B5A"/>
                </a:solidFill>
                <a:latin typeface="Calibri" pitchFamily="34" charset="0"/>
                <a:ea typeface="Calibri" pitchFamily="34" charset="-122"/>
                <a:cs typeface="Calibri" pitchFamily="34" charset="-120"/>
              </a:rPr>
              <a:t>Online repair</a:t>
            </a:r>
            <a:endParaRPr lang="en-US" sz="1600" dirty="0"/>
          </a:p>
        </p:txBody>
      </p:sp>
      <p:sp>
        <p:nvSpPr>
          <p:cNvPr id="21" name="Text 18"/>
          <p:cNvSpPr/>
          <p:nvPr/>
        </p:nvSpPr>
        <p:spPr>
          <a:xfrm>
            <a:off x="1463040" y="5038344"/>
            <a:ext cx="9784080" cy="713232"/>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When the problem changes, do not start over. An airline schedule with thousands of flights can be perturbed by a single grounded plane; min-conflicts repairs it with a minimum number of changes, starting from the old schedule. A backtracking search would rebuild the whole solution from scratch.</a:t>
            </a:r>
            <a:endParaRPr lang="en-US" sz="1250" dirty="0"/>
          </a:p>
        </p:txBody>
      </p:sp>
      <p:sp>
        <p:nvSpPr>
          <p:cNvPr id="22" name="Text 19"/>
          <p:cNvSpPr/>
          <p:nvPr/>
        </p:nvSpPr>
        <p:spPr>
          <a:xfrm>
            <a:off x="502920" y="5943600"/>
            <a:ext cx="11155680" cy="320040"/>
          </a:xfrm>
          <a:prstGeom prst="rect">
            <a:avLst/>
          </a:prstGeom>
          <a:noFill/>
          <a:ln/>
        </p:spPr>
        <p:txBody>
          <a:bodyPr wrap="square" lIns="0" tIns="0" rIns="0" bIns="0" rtlCol="0" anchor="t"/>
          <a:lstStyle/>
          <a:p>
            <a:pPr indent="0" marL="0">
              <a:lnSpc>
                <a:spcPct val="112000"/>
              </a:lnSpc>
              <a:buNone/>
            </a:pPr>
            <a:r>
              <a:rPr lang="en-US" sz="1250" i="1" dirty="0">
                <a:solidFill>
                  <a:srgbClr val="6E7A83"/>
                </a:solidFill>
                <a:latin typeface="Calibri" pitchFamily="34" charset="0"/>
                <a:ea typeface="Calibri" pitchFamily="34" charset="-122"/>
                <a:cs typeface="Calibri" pitchFamily="34" charset="-120"/>
              </a:rPr>
              <a:t>Every local search technique from Section 4.1 is a candidate here: random restarts, simulated annealing, tabu search, genetic algorithms.</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EMPIRICAL NOTE</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The critical ratio: where the hard problems live</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41</a:t>
            </a:r>
            <a:endParaRPr lang="en-US" sz="900" dirty="0"/>
          </a:p>
        </p:txBody>
      </p:sp>
      <p:sp>
        <p:nvSpPr>
          <p:cNvPr id="7" name="Text 4"/>
          <p:cNvSpPr/>
          <p:nvPr/>
        </p:nvSpPr>
        <p:spPr>
          <a:xfrm>
            <a:off x="502920" y="1371600"/>
            <a:ext cx="11155680" cy="411480"/>
          </a:xfrm>
          <a:prstGeom prst="rect">
            <a:avLst/>
          </a:prstGeom>
          <a:noFill/>
          <a:ln/>
        </p:spPr>
        <p:txBody>
          <a:bodyPr wrap="square" lIns="0" tIns="0" rIns="0" bIns="0" rtlCol="0" anchor="t"/>
          <a:lstStyle/>
          <a:p>
            <a:pPr indent="0" marL="0">
              <a:lnSpc>
                <a:spcPct val="112000"/>
              </a:lnSpc>
              <a:buNone/>
            </a:pPr>
            <a:r>
              <a:rPr lang="en-US" sz="1450" b="1" dirty="0">
                <a:solidFill>
                  <a:srgbClr val="22303A"/>
                </a:solidFill>
                <a:latin typeface="Calibri" pitchFamily="34" charset="0"/>
                <a:ea typeface="Calibri" pitchFamily="34" charset="-122"/>
                <a:cs typeface="Calibri" pitchFamily="34" charset="-120"/>
              </a:rPr>
              <a:t>Take the ratio of the number of constraints to the number of variables. Difficulty is not monotonic in it.</a:t>
            </a:r>
            <a:endParaRPr lang="en-US" sz="1450" dirty="0"/>
          </a:p>
        </p:txBody>
      </p:sp>
      <p:sp>
        <p:nvSpPr>
          <p:cNvPr id="8" name="Shape 5"/>
          <p:cNvSpPr/>
          <p:nvPr/>
        </p:nvSpPr>
        <p:spPr>
          <a:xfrm>
            <a:off x="502920" y="1965960"/>
            <a:ext cx="3520440" cy="2468880"/>
          </a:xfrm>
          <a:prstGeom prst="roundRect">
            <a:avLst>
              <a:gd name="adj" fmla="val 2222"/>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9" name="Text 6"/>
          <p:cNvSpPr/>
          <p:nvPr/>
        </p:nvSpPr>
        <p:spPr>
          <a:xfrm>
            <a:off x="758952" y="2176272"/>
            <a:ext cx="3017520" cy="301752"/>
          </a:xfrm>
          <a:prstGeom prst="rect">
            <a:avLst/>
          </a:prstGeom>
          <a:noFill/>
          <a:ln/>
        </p:spPr>
        <p:txBody>
          <a:bodyPr wrap="square" lIns="0" tIns="0" rIns="0" bIns="0" rtlCol="0" anchor="ctr"/>
          <a:lstStyle/>
          <a:p>
            <a:pPr indent="0" marL="0">
              <a:buNone/>
            </a:pPr>
            <a:r>
              <a:rPr lang="en-US" sz="1500" b="1" dirty="0">
                <a:solidFill>
                  <a:srgbClr val="22303A"/>
                </a:solidFill>
                <a:latin typeface="Calibri" pitchFamily="34" charset="0"/>
                <a:ea typeface="Calibri" pitchFamily="34" charset="-122"/>
                <a:cs typeface="Calibri" pitchFamily="34" charset="-120"/>
              </a:rPr>
              <a:t>Few constraints</a:t>
            </a:r>
            <a:endParaRPr lang="en-US" sz="1500" dirty="0"/>
          </a:p>
        </p:txBody>
      </p:sp>
      <p:sp>
        <p:nvSpPr>
          <p:cNvPr id="10" name="Shape 7"/>
          <p:cNvSpPr/>
          <p:nvPr/>
        </p:nvSpPr>
        <p:spPr>
          <a:xfrm>
            <a:off x="758952" y="2542032"/>
            <a:ext cx="841248" cy="274320"/>
          </a:xfrm>
          <a:prstGeom prst="roundRect">
            <a:avLst>
              <a:gd name="adj" fmla="val 16667"/>
            </a:avLst>
          </a:prstGeom>
          <a:solidFill>
            <a:srgbClr val="6E8B5A"/>
          </a:solidFill>
          <a:ln/>
        </p:spPr>
      </p:sp>
      <p:sp>
        <p:nvSpPr>
          <p:cNvPr id="11" name="Text 8"/>
          <p:cNvSpPr/>
          <p:nvPr/>
        </p:nvSpPr>
        <p:spPr>
          <a:xfrm>
            <a:off x="758952" y="2542032"/>
            <a:ext cx="8412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Easy</a:t>
            </a:r>
            <a:endParaRPr lang="en-US" sz="1100" dirty="0"/>
          </a:p>
        </p:txBody>
      </p:sp>
      <p:sp>
        <p:nvSpPr>
          <p:cNvPr id="12" name="Text 9"/>
          <p:cNvSpPr/>
          <p:nvPr/>
        </p:nvSpPr>
        <p:spPr>
          <a:xfrm>
            <a:off x="758952" y="2971800"/>
            <a:ext cx="3017520" cy="1325880"/>
          </a:xfrm>
          <a:prstGeom prst="rect">
            <a:avLst/>
          </a:prstGeom>
          <a:noFill/>
          <a:ln/>
        </p:spPr>
        <p:txBody>
          <a:bodyPr wrap="square" lIns="0" tIns="0" rIns="0" bIns="0" rtlCol="0" anchor="t"/>
          <a:lstStyle/>
          <a:p>
            <a:pPr indent="0" marL="0">
              <a:lnSpc>
                <a:spcPct val="112000"/>
              </a:lnSpc>
              <a:buNone/>
            </a:pPr>
            <a:r>
              <a:rPr lang="en-US" sz="1200" dirty="0">
                <a:solidFill>
                  <a:srgbClr val="2B3138"/>
                </a:solidFill>
                <a:latin typeface="Calibri" pitchFamily="34" charset="0"/>
                <a:ea typeface="Calibri" pitchFamily="34" charset="-122"/>
                <a:cs typeface="Calibri" pitchFamily="34" charset="-120"/>
              </a:rPr>
              <a:t>Lots of freedom. Almost any method finds a solution instantly.</a:t>
            </a:r>
            <a:endParaRPr lang="en-US" sz="1200" dirty="0"/>
          </a:p>
        </p:txBody>
      </p:sp>
      <p:sp>
        <p:nvSpPr>
          <p:cNvPr id="13" name="Shape 10"/>
          <p:cNvSpPr/>
          <p:nvPr/>
        </p:nvSpPr>
        <p:spPr>
          <a:xfrm>
            <a:off x="4297680" y="1965960"/>
            <a:ext cx="3520440" cy="2468880"/>
          </a:xfrm>
          <a:prstGeom prst="roundRect">
            <a:avLst>
              <a:gd name="adj" fmla="val 2222"/>
            </a:avLst>
          </a:prstGeom>
          <a:solidFill>
            <a:srgbClr val="F7EEEA"/>
          </a:solidFill>
          <a:ln w="9525">
            <a:solidFill>
              <a:srgbClr val="F7EEEA"/>
            </a:solidFill>
            <a:prstDash val="solid"/>
          </a:ln>
          <a:effectLst>
            <a:outerShdw sx="100000" sy="100000" kx="0" ky="0" algn="bl" rotWithShape="0" blurRad="101600" dist="19050" dir="5400000">
              <a:srgbClr val="9AA6AD">
                <a:alpha val="28000"/>
              </a:srgbClr>
            </a:outerShdw>
          </a:effectLst>
        </p:spPr>
      </p:sp>
      <p:sp>
        <p:nvSpPr>
          <p:cNvPr id="14" name="Text 11"/>
          <p:cNvSpPr/>
          <p:nvPr/>
        </p:nvSpPr>
        <p:spPr>
          <a:xfrm>
            <a:off x="4553712" y="2176272"/>
            <a:ext cx="3017520" cy="301752"/>
          </a:xfrm>
          <a:prstGeom prst="rect">
            <a:avLst/>
          </a:prstGeom>
          <a:noFill/>
          <a:ln/>
        </p:spPr>
        <p:txBody>
          <a:bodyPr wrap="square" lIns="0" tIns="0" rIns="0" bIns="0" rtlCol="0" anchor="ctr"/>
          <a:lstStyle/>
          <a:p>
            <a:pPr indent="0" marL="0">
              <a:buNone/>
            </a:pPr>
            <a:r>
              <a:rPr lang="en-US" sz="1500" b="1" dirty="0">
                <a:solidFill>
                  <a:srgbClr val="22303A"/>
                </a:solidFill>
                <a:latin typeface="Calibri" pitchFamily="34" charset="0"/>
                <a:ea typeface="Calibri" pitchFamily="34" charset="-122"/>
                <a:cs typeface="Calibri" pitchFamily="34" charset="-120"/>
              </a:rPr>
              <a:t>The critical ratio</a:t>
            </a:r>
            <a:endParaRPr lang="en-US" sz="1500" dirty="0"/>
          </a:p>
        </p:txBody>
      </p:sp>
      <p:sp>
        <p:nvSpPr>
          <p:cNvPr id="15" name="Shape 12"/>
          <p:cNvSpPr/>
          <p:nvPr/>
        </p:nvSpPr>
        <p:spPr>
          <a:xfrm>
            <a:off x="4553712" y="2542032"/>
            <a:ext cx="841248" cy="274320"/>
          </a:xfrm>
          <a:prstGeom prst="roundRect">
            <a:avLst>
              <a:gd name="adj" fmla="val 16667"/>
            </a:avLst>
          </a:prstGeom>
          <a:solidFill>
            <a:srgbClr val="B85042"/>
          </a:solidFill>
          <a:ln/>
        </p:spPr>
      </p:sp>
      <p:sp>
        <p:nvSpPr>
          <p:cNvPr id="16" name="Text 13"/>
          <p:cNvSpPr/>
          <p:nvPr/>
        </p:nvSpPr>
        <p:spPr>
          <a:xfrm>
            <a:off x="4553712" y="2542032"/>
            <a:ext cx="8412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Hard</a:t>
            </a:r>
            <a:endParaRPr lang="en-US" sz="1100" dirty="0"/>
          </a:p>
        </p:txBody>
      </p:sp>
      <p:sp>
        <p:nvSpPr>
          <p:cNvPr id="17" name="Text 14"/>
          <p:cNvSpPr/>
          <p:nvPr/>
        </p:nvSpPr>
        <p:spPr>
          <a:xfrm>
            <a:off x="4553712" y="2971800"/>
            <a:ext cx="3017520" cy="1325880"/>
          </a:xfrm>
          <a:prstGeom prst="rect">
            <a:avLst/>
          </a:prstGeom>
          <a:noFill/>
          <a:ln/>
        </p:spPr>
        <p:txBody>
          <a:bodyPr wrap="square" lIns="0" tIns="0" rIns="0" bIns="0" rtlCol="0" anchor="t"/>
          <a:lstStyle/>
          <a:p>
            <a:pPr indent="0" marL="0">
              <a:lnSpc>
                <a:spcPct val="112000"/>
              </a:lnSpc>
              <a:buNone/>
            </a:pPr>
            <a:r>
              <a:rPr lang="en-US" sz="1200" dirty="0">
                <a:solidFill>
                  <a:srgbClr val="2B3138"/>
                </a:solidFill>
                <a:latin typeface="Calibri" pitchFamily="34" charset="0"/>
                <a:ea typeface="Calibri" pitchFamily="34" charset="-122"/>
                <a:cs typeface="Calibri" pitchFamily="34" charset="-120"/>
              </a:rPr>
              <a:t>Just enough constraints to make the problem genuinely hard to solve and hard to tell whether you are on the right track. Iterative methods spike badly here.</a:t>
            </a:r>
            <a:endParaRPr lang="en-US" sz="1200" dirty="0"/>
          </a:p>
        </p:txBody>
      </p:sp>
      <p:sp>
        <p:nvSpPr>
          <p:cNvPr id="18" name="Shape 15"/>
          <p:cNvSpPr/>
          <p:nvPr/>
        </p:nvSpPr>
        <p:spPr>
          <a:xfrm>
            <a:off x="8092440" y="1965960"/>
            <a:ext cx="3520440" cy="2468880"/>
          </a:xfrm>
          <a:prstGeom prst="roundRect">
            <a:avLst>
              <a:gd name="adj" fmla="val 2222"/>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19" name="Text 16"/>
          <p:cNvSpPr/>
          <p:nvPr/>
        </p:nvSpPr>
        <p:spPr>
          <a:xfrm>
            <a:off x="8348472" y="2176272"/>
            <a:ext cx="3017520" cy="301752"/>
          </a:xfrm>
          <a:prstGeom prst="rect">
            <a:avLst/>
          </a:prstGeom>
          <a:noFill/>
          <a:ln/>
        </p:spPr>
        <p:txBody>
          <a:bodyPr wrap="square" lIns="0" tIns="0" rIns="0" bIns="0" rtlCol="0" anchor="ctr"/>
          <a:lstStyle/>
          <a:p>
            <a:pPr indent="0" marL="0">
              <a:buNone/>
            </a:pPr>
            <a:r>
              <a:rPr lang="en-US" sz="1500" b="1" dirty="0">
                <a:solidFill>
                  <a:srgbClr val="22303A"/>
                </a:solidFill>
                <a:latin typeface="Calibri" pitchFamily="34" charset="0"/>
                <a:ea typeface="Calibri" pitchFamily="34" charset="-122"/>
                <a:cs typeface="Calibri" pitchFamily="34" charset="-120"/>
              </a:rPr>
              <a:t>Many constraints</a:t>
            </a:r>
            <a:endParaRPr lang="en-US" sz="1500" dirty="0"/>
          </a:p>
        </p:txBody>
      </p:sp>
      <p:sp>
        <p:nvSpPr>
          <p:cNvPr id="20" name="Shape 17"/>
          <p:cNvSpPr/>
          <p:nvPr/>
        </p:nvSpPr>
        <p:spPr>
          <a:xfrm>
            <a:off x="8348472" y="2542032"/>
            <a:ext cx="841248" cy="274320"/>
          </a:xfrm>
          <a:prstGeom prst="roundRect">
            <a:avLst>
              <a:gd name="adj" fmla="val 16667"/>
            </a:avLst>
          </a:prstGeom>
          <a:solidFill>
            <a:srgbClr val="50808E"/>
          </a:solidFill>
          <a:ln/>
        </p:spPr>
      </p:sp>
      <p:sp>
        <p:nvSpPr>
          <p:cNvPr id="21" name="Text 18"/>
          <p:cNvSpPr/>
          <p:nvPr/>
        </p:nvSpPr>
        <p:spPr>
          <a:xfrm>
            <a:off x="8348472" y="2542032"/>
            <a:ext cx="841248"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Easy</a:t>
            </a:r>
            <a:endParaRPr lang="en-US" sz="1100" dirty="0"/>
          </a:p>
        </p:txBody>
      </p:sp>
      <p:sp>
        <p:nvSpPr>
          <p:cNvPr id="22" name="Text 19"/>
          <p:cNvSpPr/>
          <p:nvPr/>
        </p:nvSpPr>
        <p:spPr>
          <a:xfrm>
            <a:off x="8348472" y="2971800"/>
            <a:ext cx="3017520" cy="1325880"/>
          </a:xfrm>
          <a:prstGeom prst="rect">
            <a:avLst/>
          </a:prstGeom>
          <a:noFill/>
          <a:ln/>
        </p:spPr>
        <p:txBody>
          <a:bodyPr wrap="square" lIns="0" tIns="0" rIns="0" bIns="0" rtlCol="0" anchor="t"/>
          <a:lstStyle/>
          <a:p>
            <a:pPr indent="0" marL="0">
              <a:lnSpc>
                <a:spcPct val="112000"/>
              </a:lnSpc>
              <a:buNone/>
            </a:pPr>
            <a:r>
              <a:rPr lang="en-US" sz="1200" dirty="0">
                <a:solidFill>
                  <a:srgbClr val="2B3138"/>
                </a:solidFill>
                <a:latin typeface="Calibri" pitchFamily="34" charset="0"/>
                <a:ea typeface="Calibri" pitchFamily="34" charset="-122"/>
                <a:cs typeface="Calibri" pitchFamily="34" charset="-120"/>
              </a:rPr>
              <a:t>Little wiggle room, so consequences chase down quickly and a solution - if one exists - is found fast.</a:t>
            </a:r>
            <a:endParaRPr lang="en-US" sz="1200" dirty="0"/>
          </a:p>
        </p:txBody>
      </p:sp>
      <p:sp>
        <p:nvSpPr>
          <p:cNvPr id="23" name="Shape 20"/>
          <p:cNvSpPr/>
          <p:nvPr/>
        </p:nvSpPr>
        <p:spPr>
          <a:xfrm>
            <a:off x="685800" y="4800600"/>
            <a:ext cx="10789920" cy="0"/>
          </a:xfrm>
          <a:prstGeom prst="line">
            <a:avLst/>
          </a:prstGeom>
          <a:noFill/>
          <a:ln w="25400">
            <a:solidFill>
              <a:srgbClr val="C6CFD4"/>
            </a:solidFill>
            <a:prstDash val="solid"/>
            <a:tailEnd type="triangle"/>
          </a:ln>
        </p:spPr>
      </p:sp>
      <p:sp>
        <p:nvSpPr>
          <p:cNvPr id="24" name="Text 21"/>
          <p:cNvSpPr/>
          <p:nvPr/>
        </p:nvSpPr>
        <p:spPr>
          <a:xfrm>
            <a:off x="9966960" y="4892040"/>
            <a:ext cx="1737360" cy="274320"/>
          </a:xfrm>
          <a:prstGeom prst="rect">
            <a:avLst/>
          </a:prstGeom>
          <a:noFill/>
          <a:ln/>
        </p:spPr>
        <p:txBody>
          <a:bodyPr wrap="square" lIns="0" tIns="0" rIns="0" bIns="0" rtlCol="0" anchor="ctr"/>
          <a:lstStyle/>
          <a:p>
            <a:pPr algn="r" indent="0" marL="0">
              <a:buNone/>
            </a:pPr>
            <a:r>
              <a:rPr lang="en-US" sz="1050" i="1" dirty="0">
                <a:solidFill>
                  <a:srgbClr val="6E7A83"/>
                </a:solidFill>
                <a:latin typeface="Calibri" pitchFamily="34" charset="0"/>
                <a:ea typeface="Calibri" pitchFamily="34" charset="-122"/>
                <a:cs typeface="Calibri" pitchFamily="34" charset="-120"/>
              </a:rPr>
              <a:t>constraints per variable</a:t>
            </a:r>
            <a:endParaRPr lang="en-US" sz="1050" dirty="0"/>
          </a:p>
        </p:txBody>
      </p:sp>
      <p:sp>
        <p:nvSpPr>
          <p:cNvPr id="25" name="Shape 22"/>
          <p:cNvSpPr/>
          <p:nvPr/>
        </p:nvSpPr>
        <p:spPr>
          <a:xfrm>
            <a:off x="502920" y="5257800"/>
            <a:ext cx="11155680" cy="685800"/>
          </a:xfrm>
          <a:prstGeom prst="roundRect">
            <a:avLst>
              <a:gd name="adj" fmla="val 8000"/>
            </a:avLst>
          </a:prstGeom>
          <a:solidFill>
            <a:srgbClr val="F7EEEA"/>
          </a:solidFill>
          <a:ln w="9525">
            <a:solidFill>
              <a:srgbClr val="F7EEEA"/>
            </a:solidFill>
            <a:prstDash val="solid"/>
          </a:ln>
        </p:spPr>
      </p:sp>
      <p:sp>
        <p:nvSpPr>
          <p:cNvPr id="26" name="Text 23"/>
          <p:cNvSpPr/>
          <p:nvPr/>
        </p:nvSpPr>
        <p:spPr>
          <a:xfrm>
            <a:off x="731520" y="5276088"/>
            <a:ext cx="10698480" cy="649224"/>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The bad news: many problems people actually want to solve sit in that hard middle zone, not at the comfortable extremes.</a:t>
            </a:r>
            <a:endParaRPr lang="en-US" sz="14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2303A"/>
        </a:solidFill>
      </p:bgPr>
    </p:bg>
    <p:spTree>
      <p:nvGrpSpPr>
        <p:cNvPr id="1" name=""/>
        <p:cNvGrpSpPr/>
        <p:nvPr/>
      </p:nvGrpSpPr>
      <p:grpSpPr>
        <a:xfrm>
          <a:off x="0" y="0"/>
          <a:ext cx="0" cy="0"/>
          <a:chOff x="0" y="0"/>
          <a:chExt cx="0" cy="0"/>
        </a:xfrm>
      </p:grpSpPr>
      <p:sp>
        <p:nvSpPr>
          <p:cNvPr id="2" name="Shape 0"/>
          <p:cNvSpPr/>
          <p:nvPr/>
        </p:nvSpPr>
        <p:spPr>
          <a:xfrm>
            <a:off x="822960" y="1874520"/>
            <a:ext cx="1234440" cy="1234440"/>
          </a:xfrm>
          <a:prstGeom prst="ellipse">
            <a:avLst/>
          </a:prstGeom>
          <a:solidFill>
            <a:srgbClr val="B85042"/>
          </a:solidFill>
          <a:ln/>
        </p:spPr>
      </p:sp>
      <p:sp>
        <p:nvSpPr>
          <p:cNvPr id="3" name="Text 1"/>
          <p:cNvSpPr/>
          <p:nvPr/>
        </p:nvSpPr>
        <p:spPr>
          <a:xfrm>
            <a:off x="822960" y="1874520"/>
            <a:ext cx="1234440" cy="12344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4" name="Text 2"/>
          <p:cNvSpPr/>
          <p:nvPr/>
        </p:nvSpPr>
        <p:spPr>
          <a:xfrm>
            <a:off x="2423160" y="1874520"/>
            <a:ext cx="877824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Structure of Problems</a:t>
            </a:r>
            <a:endParaRPr lang="en-US" sz="3800" dirty="0"/>
          </a:p>
        </p:txBody>
      </p:sp>
      <p:sp>
        <p:nvSpPr>
          <p:cNvPr id="5" name="Text 3"/>
          <p:cNvSpPr/>
          <p:nvPr/>
        </p:nvSpPr>
        <p:spPr>
          <a:xfrm>
            <a:off x="2468880" y="2761488"/>
            <a:ext cx="8686800" cy="411480"/>
          </a:xfrm>
          <a:prstGeom prst="rect">
            <a:avLst/>
          </a:prstGeom>
          <a:noFill/>
          <a:ln/>
        </p:spPr>
        <p:txBody>
          <a:bodyPr wrap="square" lIns="0" tIns="0" rIns="0" bIns="0" rtlCol="0" anchor="ctr"/>
          <a:lstStyle/>
          <a:p>
            <a:pPr indent="0" marL="0">
              <a:buNone/>
            </a:pPr>
            <a:r>
              <a:rPr lang="en-US" sz="1500" i="1" dirty="0">
                <a:solidFill>
                  <a:srgbClr val="A9BFCB"/>
                </a:solidFill>
                <a:latin typeface="Calibri" pitchFamily="34" charset="0"/>
                <a:ea typeface="Calibri" pitchFamily="34" charset="-122"/>
                <a:cs typeface="Calibri" pitchFamily="34" charset="-120"/>
              </a:rPr>
              <a:t>AIMA 6.5 - exploiting the constraint graph</a:t>
            </a:r>
            <a:endParaRPr lang="en-US" sz="1500" dirty="0"/>
          </a:p>
        </p:txBody>
      </p:sp>
      <p:sp>
        <p:nvSpPr>
          <p:cNvPr id="6" name="Text 4"/>
          <p:cNvSpPr/>
          <p:nvPr/>
        </p:nvSpPr>
        <p:spPr>
          <a:xfrm>
            <a:off x="2487168" y="3429000"/>
            <a:ext cx="8595360" cy="1737360"/>
          </a:xfrm>
          <a:prstGeom prst="rect">
            <a:avLst/>
          </a:prstGeom>
          <a:noFill/>
          <a:ln/>
        </p:spPr>
        <p:txBody>
          <a:bodyPr wrap="square" lIns="0" tIns="0" rIns="0" bIns="0" rtlCol="0" anchor="ctr"/>
          <a:lstStyle/>
          <a:p>
            <a:pPr marL="342900" indent="-342900">
              <a:spcAft>
                <a:spcPts val="600"/>
              </a:spcAft>
              <a:buSzPct val="100000"/>
              <a:buChar char="•"/>
            </a:pPr>
            <a:r>
              <a:rPr lang="en-US" sz="1400" dirty="0">
                <a:solidFill>
                  <a:srgbClr val="CFDDE4"/>
                </a:solidFill>
                <a:latin typeface="Calibri" pitchFamily="34" charset="0"/>
                <a:ea typeface="Calibri" pitchFamily="34" charset="-122"/>
                <a:cs typeface="Calibri" pitchFamily="34" charset="-120"/>
              </a:rPr>
              <a:t>Independent subproblems</a:t>
            </a:r>
            <a:endParaRPr lang="en-US" sz="1400" dirty="0"/>
          </a:p>
          <a:p>
            <a:pPr marL="342900" indent="-342900">
              <a:spcAft>
                <a:spcPts val="600"/>
              </a:spcAft>
              <a:buSzPct val="100000"/>
              <a:buChar char="•"/>
            </a:pPr>
            <a:r>
              <a:rPr lang="en-US" sz="1400" dirty="0">
                <a:solidFill>
                  <a:srgbClr val="CFDDE4"/>
                </a:solidFill>
                <a:latin typeface="Calibri" pitchFamily="34" charset="0"/>
                <a:ea typeface="Calibri" pitchFamily="34" charset="-122"/>
                <a:cs typeface="Calibri" pitchFamily="34" charset="-120"/>
              </a:rPr>
              <a:t>Tree-structured CSPs solve in linear time</a:t>
            </a:r>
            <a:endParaRPr lang="en-US" sz="1400" dirty="0"/>
          </a:p>
          <a:p>
            <a:pPr marL="342900" indent="-342900">
              <a:spcAft>
                <a:spcPts val="600"/>
              </a:spcAft>
              <a:buSzPct val="100000"/>
              <a:buChar char="•"/>
            </a:pPr>
            <a:r>
              <a:rPr lang="en-US" sz="1400" dirty="0">
                <a:solidFill>
                  <a:srgbClr val="CFDDE4"/>
                </a:solidFill>
                <a:latin typeface="Calibri" pitchFamily="34" charset="0"/>
                <a:ea typeface="Calibri" pitchFamily="34" charset="-122"/>
                <a:cs typeface="Calibri" pitchFamily="34" charset="-120"/>
              </a:rPr>
              <a:t>Cutset conditioning and tree decomposition</a:t>
            </a:r>
            <a:endParaRPr lang="en-US" sz="1400" dirty="0"/>
          </a:p>
          <a:p>
            <a:pPr marL="342900" indent="-342900">
              <a:spcAft>
                <a:spcPts val="600"/>
              </a:spcAft>
              <a:buSzPct val="100000"/>
              <a:buChar char="•"/>
            </a:pPr>
            <a:r>
              <a:rPr lang="en-US" sz="1400" dirty="0">
                <a:solidFill>
                  <a:srgbClr val="CFDDE4"/>
                </a:solidFill>
                <a:latin typeface="Calibri" pitchFamily="34" charset="0"/>
                <a:ea typeface="Calibri" pitchFamily="34" charset="-122"/>
                <a:cs typeface="Calibri" pitchFamily="34" charset="-120"/>
              </a:rPr>
              <a:t>Value symmetry</a:t>
            </a:r>
            <a:endParaRPr lang="en-US" sz="1400" dirty="0"/>
          </a:p>
        </p:txBody>
      </p:sp>
      <p:sp>
        <p:nvSpPr>
          <p:cNvPr id="8" name="Text 5"/>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8FA2AD"/>
                </a:solidFill>
                <a:latin typeface="Calibri" pitchFamily="34" charset="0"/>
                <a:ea typeface="Calibri" pitchFamily="34" charset="-122"/>
                <a:cs typeface="Calibri" pitchFamily="34" charset="-120"/>
              </a:rPr>
              <a:t>COMP 469 - Artificial Intelligence</a:t>
            </a:r>
            <a:endParaRPr lang="en-US" sz="900" dirty="0"/>
          </a:p>
        </p:txBody>
      </p:sp>
      <p:sp>
        <p:nvSpPr>
          <p:cNvPr id="9" name="Text 6"/>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8FA2AD"/>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6.5</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Independent subproblems</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43</a:t>
            </a:r>
            <a:endParaRPr lang="en-US" sz="900" dirty="0"/>
          </a:p>
        </p:txBody>
      </p:sp>
      <p:sp>
        <p:nvSpPr>
          <p:cNvPr id="7" name="Text 4"/>
          <p:cNvSpPr/>
          <p:nvPr/>
        </p:nvSpPr>
        <p:spPr>
          <a:xfrm>
            <a:off x="502920" y="1371600"/>
            <a:ext cx="6309360" cy="192024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Find the connected components of the constraint graph - ordinary graph reachability</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Each component is a separate CSP. Solve them independently and take the union of the solutions</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Tasmania in the Australia map is exactly this: an island with no constraints to the mainland</a:t>
            </a:r>
            <a:endParaRPr lang="en-US" sz="1400" dirty="0"/>
          </a:p>
        </p:txBody>
      </p:sp>
      <p:sp>
        <p:nvSpPr>
          <p:cNvPr id="8" name="Shape 5"/>
          <p:cNvSpPr/>
          <p:nvPr/>
        </p:nvSpPr>
        <p:spPr>
          <a:xfrm>
            <a:off x="502920" y="3474720"/>
            <a:ext cx="6309360" cy="2377440"/>
          </a:xfrm>
          <a:prstGeom prst="roundRect">
            <a:avLst>
              <a:gd name="adj" fmla="val 2308"/>
            </a:avLst>
          </a:prstGeom>
          <a:solidFill>
            <a:srgbClr val="F1F3F4"/>
          </a:solidFill>
          <a:ln w="9525">
            <a:solidFill>
              <a:srgbClr val="F1F3F4"/>
            </a:solidFill>
            <a:prstDash val="solid"/>
          </a:ln>
        </p:spPr>
      </p:sp>
      <p:sp>
        <p:nvSpPr>
          <p:cNvPr id="9" name="Text 6"/>
          <p:cNvSpPr/>
          <p:nvPr/>
        </p:nvSpPr>
        <p:spPr>
          <a:xfrm>
            <a:off x="777240" y="3657600"/>
            <a:ext cx="5760720" cy="301752"/>
          </a:xfrm>
          <a:prstGeom prst="rect">
            <a:avLst/>
          </a:prstGeom>
          <a:noFill/>
          <a:ln/>
        </p:spPr>
        <p:txBody>
          <a:bodyPr wrap="square" lIns="0" tIns="0" rIns="0" bIns="0" rtlCol="0" anchor="ctr"/>
          <a:lstStyle/>
          <a:p>
            <a:pPr indent="0" marL="0">
              <a:buNone/>
            </a:pPr>
            <a:r>
              <a:rPr lang="en-US" sz="1600" b="1" dirty="0">
                <a:solidFill>
                  <a:srgbClr val="50808E"/>
                </a:solidFill>
                <a:latin typeface="Calibri" pitchFamily="34" charset="0"/>
                <a:ea typeface="Calibri" pitchFamily="34" charset="-122"/>
                <a:cs typeface="Calibri" pitchFamily="34" charset="-120"/>
              </a:rPr>
              <a:t>Why it matters, concretely</a:t>
            </a:r>
            <a:endParaRPr lang="en-US" sz="1600" dirty="0"/>
          </a:p>
        </p:txBody>
      </p:sp>
      <p:sp>
        <p:nvSpPr>
          <p:cNvPr id="10" name="Text 7"/>
          <p:cNvSpPr/>
          <p:nvPr/>
        </p:nvSpPr>
        <p:spPr>
          <a:xfrm>
            <a:off x="777240" y="4069080"/>
            <a:ext cx="5760720" cy="164592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One CSP with n variables and domain size d costs up to d^n. Split into n/c independent pieces of size c and the cost becomes (n/c) times d^c.</a:t>
            </a:r>
            <a:endParaRPr lang="en-US" sz="1250" dirty="0"/>
          </a:p>
          <a:p>
            <a:pPr indent="0" marL="0">
              <a:lnSpc>
                <a:spcPct val="112000"/>
              </a:lnSpc>
              <a:buNone/>
            </a:pPr>
            <a:endParaRPr lang="en-US" sz="1250" dirty="0"/>
          </a:p>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For n = 80, d = 2, c = 20: the difference between roughly four billion years and well under a second, at ten million assignments per second.</a:t>
            </a:r>
            <a:endParaRPr lang="en-US" sz="1250" dirty="0"/>
          </a:p>
        </p:txBody>
      </p:sp>
      <p:sp>
        <p:nvSpPr>
          <p:cNvPr id="11" name="Shape 8"/>
          <p:cNvSpPr/>
          <p:nvPr/>
        </p:nvSpPr>
        <p:spPr>
          <a:xfrm flipV="1">
            <a:off x="8037576" y="2048256"/>
            <a:ext cx="927202" cy="630936"/>
          </a:xfrm>
          <a:prstGeom prst="line">
            <a:avLst/>
          </a:prstGeom>
          <a:noFill/>
          <a:ln w="17780">
            <a:solidFill>
              <a:srgbClr val="AEB9BF"/>
            </a:solidFill>
            <a:prstDash val="solid"/>
          </a:ln>
        </p:spPr>
      </p:sp>
      <p:sp>
        <p:nvSpPr>
          <p:cNvPr id="12" name="Shape 9"/>
          <p:cNvSpPr/>
          <p:nvPr/>
        </p:nvSpPr>
        <p:spPr>
          <a:xfrm>
            <a:off x="8037576" y="2679192"/>
            <a:ext cx="1069848" cy="521208"/>
          </a:xfrm>
          <a:prstGeom prst="line">
            <a:avLst/>
          </a:prstGeom>
          <a:noFill/>
          <a:ln w="17780">
            <a:solidFill>
              <a:srgbClr val="AEB9BF"/>
            </a:solidFill>
            <a:prstDash val="solid"/>
          </a:ln>
        </p:spPr>
      </p:sp>
      <p:sp>
        <p:nvSpPr>
          <p:cNvPr id="13" name="Shape 10"/>
          <p:cNvSpPr/>
          <p:nvPr/>
        </p:nvSpPr>
        <p:spPr>
          <a:xfrm>
            <a:off x="8964778" y="2048256"/>
            <a:ext cx="142646" cy="1152144"/>
          </a:xfrm>
          <a:prstGeom prst="line">
            <a:avLst/>
          </a:prstGeom>
          <a:noFill/>
          <a:ln w="17780">
            <a:solidFill>
              <a:srgbClr val="AEB9BF"/>
            </a:solidFill>
            <a:prstDash val="solid"/>
          </a:ln>
        </p:spPr>
      </p:sp>
      <p:sp>
        <p:nvSpPr>
          <p:cNvPr id="14" name="Shape 11"/>
          <p:cNvSpPr/>
          <p:nvPr/>
        </p:nvSpPr>
        <p:spPr>
          <a:xfrm>
            <a:off x="8964778" y="2048256"/>
            <a:ext cx="1212494" cy="109728"/>
          </a:xfrm>
          <a:prstGeom prst="line">
            <a:avLst/>
          </a:prstGeom>
          <a:noFill/>
          <a:ln w="17780">
            <a:solidFill>
              <a:srgbClr val="AEB9BF"/>
            </a:solidFill>
            <a:prstDash val="solid"/>
          </a:ln>
        </p:spPr>
      </p:sp>
      <p:sp>
        <p:nvSpPr>
          <p:cNvPr id="15" name="Shape 12"/>
          <p:cNvSpPr/>
          <p:nvPr/>
        </p:nvSpPr>
        <p:spPr>
          <a:xfrm flipV="1">
            <a:off x="9107424" y="2157984"/>
            <a:ext cx="1069848" cy="1042416"/>
          </a:xfrm>
          <a:prstGeom prst="line">
            <a:avLst/>
          </a:prstGeom>
          <a:noFill/>
          <a:ln w="17780">
            <a:solidFill>
              <a:srgbClr val="AEB9BF"/>
            </a:solidFill>
            <a:prstDash val="solid"/>
          </a:ln>
        </p:spPr>
      </p:sp>
      <p:sp>
        <p:nvSpPr>
          <p:cNvPr id="16" name="Shape 13"/>
          <p:cNvSpPr/>
          <p:nvPr/>
        </p:nvSpPr>
        <p:spPr>
          <a:xfrm>
            <a:off x="9107424" y="3200400"/>
            <a:ext cx="1212494" cy="0"/>
          </a:xfrm>
          <a:prstGeom prst="line">
            <a:avLst/>
          </a:prstGeom>
          <a:noFill/>
          <a:ln w="17780">
            <a:solidFill>
              <a:srgbClr val="AEB9BF"/>
            </a:solidFill>
            <a:prstDash val="solid"/>
          </a:ln>
        </p:spPr>
      </p:sp>
      <p:sp>
        <p:nvSpPr>
          <p:cNvPr id="17" name="Shape 14"/>
          <p:cNvSpPr/>
          <p:nvPr/>
        </p:nvSpPr>
        <p:spPr>
          <a:xfrm>
            <a:off x="9107424" y="3200400"/>
            <a:ext cx="713232" cy="768096"/>
          </a:xfrm>
          <a:prstGeom prst="line">
            <a:avLst/>
          </a:prstGeom>
          <a:noFill/>
          <a:ln w="17780">
            <a:solidFill>
              <a:srgbClr val="AEB9BF"/>
            </a:solidFill>
            <a:prstDash val="solid"/>
          </a:ln>
        </p:spPr>
      </p:sp>
      <p:sp>
        <p:nvSpPr>
          <p:cNvPr id="18" name="Shape 15"/>
          <p:cNvSpPr/>
          <p:nvPr/>
        </p:nvSpPr>
        <p:spPr>
          <a:xfrm>
            <a:off x="10177272" y="2157984"/>
            <a:ext cx="142646" cy="1042416"/>
          </a:xfrm>
          <a:prstGeom prst="line">
            <a:avLst/>
          </a:prstGeom>
          <a:noFill/>
          <a:ln w="17780">
            <a:solidFill>
              <a:srgbClr val="AEB9BF"/>
            </a:solidFill>
            <a:prstDash val="solid"/>
          </a:ln>
        </p:spPr>
      </p:sp>
      <p:sp>
        <p:nvSpPr>
          <p:cNvPr id="19" name="Shape 16"/>
          <p:cNvSpPr/>
          <p:nvPr/>
        </p:nvSpPr>
        <p:spPr>
          <a:xfrm flipH="1">
            <a:off x="9820656" y="3200400"/>
            <a:ext cx="499262" cy="768096"/>
          </a:xfrm>
          <a:prstGeom prst="line">
            <a:avLst/>
          </a:prstGeom>
          <a:noFill/>
          <a:ln w="17780">
            <a:solidFill>
              <a:srgbClr val="AEB9BF"/>
            </a:solidFill>
            <a:prstDash val="solid"/>
          </a:ln>
        </p:spPr>
      </p:sp>
      <p:sp>
        <p:nvSpPr>
          <p:cNvPr id="20" name="Shape 17"/>
          <p:cNvSpPr/>
          <p:nvPr/>
        </p:nvSpPr>
        <p:spPr>
          <a:xfrm>
            <a:off x="7886700" y="2528316"/>
            <a:ext cx="301752" cy="301752"/>
          </a:xfrm>
          <a:prstGeom prst="ellipse">
            <a:avLst/>
          </a:prstGeom>
          <a:solidFill>
            <a:srgbClr val="E4E9EB"/>
          </a:solidFill>
          <a:ln w="12700">
            <a:solidFill>
              <a:srgbClr val="9FAAB1"/>
            </a:solidFill>
            <a:prstDash val="solid"/>
          </a:ln>
        </p:spPr>
      </p:sp>
      <p:sp>
        <p:nvSpPr>
          <p:cNvPr id="21" name="Text 18"/>
          <p:cNvSpPr/>
          <p:nvPr/>
        </p:nvSpPr>
        <p:spPr>
          <a:xfrm>
            <a:off x="7653528" y="2532888"/>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WA</a:t>
            </a:r>
            <a:endParaRPr lang="en-US" sz="1050" dirty="0"/>
          </a:p>
        </p:txBody>
      </p:sp>
      <p:sp>
        <p:nvSpPr>
          <p:cNvPr id="22" name="Shape 19"/>
          <p:cNvSpPr/>
          <p:nvPr/>
        </p:nvSpPr>
        <p:spPr>
          <a:xfrm>
            <a:off x="8813902" y="1897380"/>
            <a:ext cx="301752" cy="301752"/>
          </a:xfrm>
          <a:prstGeom prst="ellipse">
            <a:avLst/>
          </a:prstGeom>
          <a:solidFill>
            <a:srgbClr val="E4E9EB"/>
          </a:solidFill>
          <a:ln w="12700">
            <a:solidFill>
              <a:srgbClr val="9FAAB1"/>
            </a:solidFill>
            <a:prstDash val="solid"/>
          </a:ln>
        </p:spPr>
      </p:sp>
      <p:sp>
        <p:nvSpPr>
          <p:cNvPr id="23" name="Text 20"/>
          <p:cNvSpPr/>
          <p:nvPr/>
        </p:nvSpPr>
        <p:spPr>
          <a:xfrm>
            <a:off x="8580730" y="1901952"/>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NT</a:t>
            </a:r>
            <a:endParaRPr lang="en-US" sz="1050" dirty="0"/>
          </a:p>
        </p:txBody>
      </p:sp>
      <p:sp>
        <p:nvSpPr>
          <p:cNvPr id="24" name="Shape 21"/>
          <p:cNvSpPr/>
          <p:nvPr/>
        </p:nvSpPr>
        <p:spPr>
          <a:xfrm>
            <a:off x="10026396" y="2007108"/>
            <a:ext cx="301752" cy="301752"/>
          </a:xfrm>
          <a:prstGeom prst="ellipse">
            <a:avLst/>
          </a:prstGeom>
          <a:solidFill>
            <a:srgbClr val="E4E9EB"/>
          </a:solidFill>
          <a:ln w="12700">
            <a:solidFill>
              <a:srgbClr val="9FAAB1"/>
            </a:solidFill>
            <a:prstDash val="solid"/>
          </a:ln>
        </p:spPr>
      </p:sp>
      <p:sp>
        <p:nvSpPr>
          <p:cNvPr id="25" name="Text 22"/>
          <p:cNvSpPr/>
          <p:nvPr/>
        </p:nvSpPr>
        <p:spPr>
          <a:xfrm>
            <a:off x="9793224" y="2011680"/>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Q</a:t>
            </a:r>
            <a:endParaRPr lang="en-US" sz="1050" dirty="0"/>
          </a:p>
        </p:txBody>
      </p:sp>
      <p:sp>
        <p:nvSpPr>
          <p:cNvPr id="26" name="Shape 23"/>
          <p:cNvSpPr/>
          <p:nvPr/>
        </p:nvSpPr>
        <p:spPr>
          <a:xfrm>
            <a:off x="8956548" y="3049524"/>
            <a:ext cx="301752" cy="301752"/>
          </a:xfrm>
          <a:prstGeom prst="ellipse">
            <a:avLst/>
          </a:prstGeom>
          <a:solidFill>
            <a:srgbClr val="E4E9EB"/>
          </a:solidFill>
          <a:ln w="12700">
            <a:solidFill>
              <a:srgbClr val="9FAAB1"/>
            </a:solidFill>
            <a:prstDash val="solid"/>
          </a:ln>
        </p:spPr>
      </p:sp>
      <p:sp>
        <p:nvSpPr>
          <p:cNvPr id="27" name="Text 24"/>
          <p:cNvSpPr/>
          <p:nvPr/>
        </p:nvSpPr>
        <p:spPr>
          <a:xfrm>
            <a:off x="8723376" y="3054096"/>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SA</a:t>
            </a:r>
            <a:endParaRPr lang="en-US" sz="1050" dirty="0"/>
          </a:p>
        </p:txBody>
      </p:sp>
      <p:sp>
        <p:nvSpPr>
          <p:cNvPr id="28" name="Shape 25"/>
          <p:cNvSpPr/>
          <p:nvPr/>
        </p:nvSpPr>
        <p:spPr>
          <a:xfrm>
            <a:off x="10169042" y="3049524"/>
            <a:ext cx="301752" cy="301752"/>
          </a:xfrm>
          <a:prstGeom prst="ellipse">
            <a:avLst/>
          </a:prstGeom>
          <a:solidFill>
            <a:srgbClr val="E4E9EB"/>
          </a:solidFill>
          <a:ln w="12700">
            <a:solidFill>
              <a:srgbClr val="9FAAB1"/>
            </a:solidFill>
            <a:prstDash val="solid"/>
          </a:ln>
        </p:spPr>
      </p:sp>
      <p:sp>
        <p:nvSpPr>
          <p:cNvPr id="29" name="Text 26"/>
          <p:cNvSpPr/>
          <p:nvPr/>
        </p:nvSpPr>
        <p:spPr>
          <a:xfrm>
            <a:off x="9935870" y="3054096"/>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NSW</a:t>
            </a:r>
            <a:endParaRPr lang="en-US" sz="1050" dirty="0"/>
          </a:p>
        </p:txBody>
      </p:sp>
      <p:sp>
        <p:nvSpPr>
          <p:cNvPr id="30" name="Shape 27"/>
          <p:cNvSpPr/>
          <p:nvPr/>
        </p:nvSpPr>
        <p:spPr>
          <a:xfrm>
            <a:off x="9669780" y="3817620"/>
            <a:ext cx="301752" cy="301752"/>
          </a:xfrm>
          <a:prstGeom prst="ellipse">
            <a:avLst/>
          </a:prstGeom>
          <a:solidFill>
            <a:srgbClr val="E4E9EB"/>
          </a:solidFill>
          <a:ln w="12700">
            <a:solidFill>
              <a:srgbClr val="9FAAB1"/>
            </a:solidFill>
            <a:prstDash val="solid"/>
          </a:ln>
        </p:spPr>
      </p:sp>
      <p:sp>
        <p:nvSpPr>
          <p:cNvPr id="31" name="Text 28"/>
          <p:cNvSpPr/>
          <p:nvPr/>
        </p:nvSpPr>
        <p:spPr>
          <a:xfrm>
            <a:off x="9436608" y="3822192"/>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V</a:t>
            </a:r>
            <a:endParaRPr lang="en-US" sz="1050" dirty="0"/>
          </a:p>
        </p:txBody>
      </p:sp>
      <p:sp>
        <p:nvSpPr>
          <p:cNvPr id="32" name="Shape 29"/>
          <p:cNvSpPr/>
          <p:nvPr/>
        </p:nvSpPr>
        <p:spPr>
          <a:xfrm>
            <a:off x="10596982" y="4146804"/>
            <a:ext cx="301752" cy="301752"/>
          </a:xfrm>
          <a:prstGeom prst="ellipse">
            <a:avLst/>
          </a:prstGeom>
          <a:solidFill>
            <a:srgbClr val="C8922F"/>
          </a:solidFill>
          <a:ln w="12700">
            <a:solidFill>
              <a:srgbClr val="C8922F"/>
            </a:solidFill>
            <a:prstDash val="solid"/>
          </a:ln>
        </p:spPr>
      </p:sp>
      <p:sp>
        <p:nvSpPr>
          <p:cNvPr id="33" name="Text 30"/>
          <p:cNvSpPr/>
          <p:nvPr/>
        </p:nvSpPr>
        <p:spPr>
          <a:xfrm>
            <a:off x="10363810" y="4151376"/>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a:t>
            </a:r>
            <a:endParaRPr lang="en-US" sz="1050" dirty="0"/>
          </a:p>
        </p:txBody>
      </p:sp>
      <p:sp>
        <p:nvSpPr>
          <p:cNvPr id="34" name="Text 31"/>
          <p:cNvSpPr/>
          <p:nvPr/>
        </p:nvSpPr>
        <p:spPr>
          <a:xfrm>
            <a:off x="7223760" y="4617720"/>
            <a:ext cx="4434840" cy="320040"/>
          </a:xfrm>
          <a:prstGeom prst="rect">
            <a:avLst/>
          </a:prstGeom>
          <a:noFill/>
          <a:ln/>
        </p:spPr>
        <p:txBody>
          <a:bodyPr wrap="square" lIns="0" tIns="0" rIns="0" bIns="0" rtlCol="0" anchor="ctr"/>
          <a:lstStyle/>
          <a:p>
            <a:pPr algn="ctr" indent="0" marL="0">
              <a:buNone/>
            </a:pPr>
            <a:r>
              <a:rPr lang="en-US" sz="1150" i="1" dirty="0">
                <a:solidFill>
                  <a:srgbClr val="6E7A83"/>
                </a:solidFill>
                <a:latin typeface="Calibri" pitchFamily="34" charset="0"/>
                <a:ea typeface="Calibri" pitchFamily="34" charset="-122"/>
                <a:cs typeface="Calibri" pitchFamily="34" charset="-120"/>
              </a:rPr>
              <a:t>two components: the mainland, and Tasmania</a:t>
            </a:r>
            <a:endParaRPr lang="en-US" sz="1150" dirty="0"/>
          </a:p>
        </p:txBody>
      </p:sp>
      <p:sp>
        <p:nvSpPr>
          <p:cNvPr id="35" name="Shape 32"/>
          <p:cNvSpPr/>
          <p:nvPr/>
        </p:nvSpPr>
        <p:spPr>
          <a:xfrm>
            <a:off x="7223760" y="5120640"/>
            <a:ext cx="4434840" cy="731520"/>
          </a:xfrm>
          <a:prstGeom prst="roundRect">
            <a:avLst>
              <a:gd name="adj" fmla="val 7500"/>
            </a:avLst>
          </a:prstGeom>
          <a:solidFill>
            <a:srgbClr val="F7EEEA"/>
          </a:solidFill>
          <a:ln w="9525">
            <a:solidFill>
              <a:srgbClr val="F7EEEA"/>
            </a:solidFill>
            <a:prstDash val="solid"/>
          </a:ln>
        </p:spPr>
      </p:sp>
      <p:sp>
        <p:nvSpPr>
          <p:cNvPr id="36" name="Text 33"/>
          <p:cNvSpPr/>
          <p:nvPr/>
        </p:nvSpPr>
        <p:spPr>
          <a:xfrm>
            <a:off x="7452360" y="5138928"/>
            <a:ext cx="3977640" cy="694944"/>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Delicious, but rare. Useful mainly as a mental model.</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6.5</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Tree-structured CSPs solve in linear time</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44</a:t>
            </a:r>
            <a:endParaRPr lang="en-US" sz="900" dirty="0"/>
          </a:p>
        </p:txBody>
      </p:sp>
      <p:sp>
        <p:nvSpPr>
          <p:cNvPr id="7" name="Shape 4"/>
          <p:cNvSpPr/>
          <p:nvPr/>
        </p:nvSpPr>
        <p:spPr>
          <a:xfrm>
            <a:off x="502920" y="1371600"/>
            <a:ext cx="11155680" cy="914400"/>
          </a:xfrm>
          <a:prstGeom prst="roundRect">
            <a:avLst>
              <a:gd name="adj" fmla="val 6000"/>
            </a:avLst>
          </a:prstGeom>
          <a:solidFill>
            <a:srgbClr val="F7EEEA"/>
          </a:solidFill>
          <a:ln w="9525">
            <a:solidFill>
              <a:srgbClr val="F7EEEA"/>
            </a:solidFill>
            <a:prstDash val="solid"/>
          </a:ln>
        </p:spPr>
      </p:sp>
      <p:sp>
        <p:nvSpPr>
          <p:cNvPr id="8" name="Text 5"/>
          <p:cNvSpPr/>
          <p:nvPr/>
        </p:nvSpPr>
        <p:spPr>
          <a:xfrm>
            <a:off x="822960" y="1572768"/>
            <a:ext cx="10515600" cy="566928"/>
          </a:xfrm>
          <a:prstGeom prst="rect">
            <a:avLst/>
          </a:prstGeom>
          <a:noFill/>
          <a:ln/>
        </p:spPr>
        <p:txBody>
          <a:bodyPr wrap="square" lIns="0" tIns="0" rIns="0" bIns="0" rtlCol="0" anchor="t"/>
          <a:lstStyle/>
          <a:p>
            <a:pPr indent="0" marL="0">
              <a:lnSpc>
                <a:spcPct val="112000"/>
              </a:lnSpc>
              <a:buNone/>
            </a:pPr>
            <a:r>
              <a:rPr lang="en-US" sz="1500" b="1" dirty="0">
                <a:solidFill>
                  <a:srgbClr val="B85042"/>
                </a:solidFill>
                <a:latin typeface="Calibri" pitchFamily="34" charset="0"/>
                <a:ea typeface="Calibri" pitchFamily="34" charset="-122"/>
                <a:cs typeface="Calibri" pitchFamily="34" charset="-120"/>
              </a:rPr>
              <a:t>Theorem: if the constraint graph has no loops, the CSP can be solved in O(n d²) time - linear in the number of variables, quadratic in domain size. No exponential blow-up at all.</a:t>
            </a:r>
            <a:endParaRPr lang="en-US" sz="1500" dirty="0"/>
          </a:p>
        </p:txBody>
      </p:sp>
      <p:sp>
        <p:nvSpPr>
          <p:cNvPr id="9" name="Shape 6"/>
          <p:cNvSpPr/>
          <p:nvPr/>
        </p:nvSpPr>
        <p:spPr>
          <a:xfrm flipH="1">
            <a:off x="1280160" y="2743200"/>
            <a:ext cx="1097280" cy="1005840"/>
          </a:xfrm>
          <a:prstGeom prst="line">
            <a:avLst/>
          </a:prstGeom>
          <a:noFill/>
          <a:ln w="20320">
            <a:solidFill>
              <a:srgbClr val="AEB9BF"/>
            </a:solidFill>
            <a:prstDash val="solid"/>
          </a:ln>
        </p:spPr>
      </p:sp>
      <p:sp>
        <p:nvSpPr>
          <p:cNvPr id="10" name="Shape 7"/>
          <p:cNvSpPr/>
          <p:nvPr/>
        </p:nvSpPr>
        <p:spPr>
          <a:xfrm>
            <a:off x="2377440" y="2743200"/>
            <a:ext cx="1097280" cy="1005840"/>
          </a:xfrm>
          <a:prstGeom prst="line">
            <a:avLst/>
          </a:prstGeom>
          <a:noFill/>
          <a:ln w="20320">
            <a:solidFill>
              <a:srgbClr val="AEB9BF"/>
            </a:solidFill>
            <a:prstDash val="solid"/>
          </a:ln>
        </p:spPr>
      </p:sp>
      <p:sp>
        <p:nvSpPr>
          <p:cNvPr id="11" name="Shape 8"/>
          <p:cNvSpPr/>
          <p:nvPr/>
        </p:nvSpPr>
        <p:spPr>
          <a:xfrm flipH="1">
            <a:off x="685800" y="3749040"/>
            <a:ext cx="594360" cy="1051560"/>
          </a:xfrm>
          <a:prstGeom prst="line">
            <a:avLst/>
          </a:prstGeom>
          <a:noFill/>
          <a:ln w="20320">
            <a:solidFill>
              <a:srgbClr val="AEB9BF"/>
            </a:solidFill>
            <a:prstDash val="solid"/>
          </a:ln>
        </p:spPr>
      </p:sp>
      <p:sp>
        <p:nvSpPr>
          <p:cNvPr id="12" name="Shape 9"/>
          <p:cNvSpPr/>
          <p:nvPr/>
        </p:nvSpPr>
        <p:spPr>
          <a:xfrm>
            <a:off x="1280160" y="3749040"/>
            <a:ext cx="594360" cy="1051560"/>
          </a:xfrm>
          <a:prstGeom prst="line">
            <a:avLst/>
          </a:prstGeom>
          <a:noFill/>
          <a:ln w="20320">
            <a:solidFill>
              <a:srgbClr val="AEB9BF"/>
            </a:solidFill>
            <a:prstDash val="solid"/>
          </a:ln>
        </p:spPr>
      </p:sp>
      <p:sp>
        <p:nvSpPr>
          <p:cNvPr id="13" name="Shape 10"/>
          <p:cNvSpPr/>
          <p:nvPr/>
        </p:nvSpPr>
        <p:spPr>
          <a:xfrm>
            <a:off x="3474720" y="3749040"/>
            <a:ext cx="594360" cy="1051560"/>
          </a:xfrm>
          <a:prstGeom prst="line">
            <a:avLst/>
          </a:prstGeom>
          <a:noFill/>
          <a:ln w="20320">
            <a:solidFill>
              <a:srgbClr val="AEB9BF"/>
            </a:solidFill>
            <a:prstDash val="solid"/>
          </a:ln>
        </p:spPr>
      </p:sp>
      <p:sp>
        <p:nvSpPr>
          <p:cNvPr id="14" name="Shape 11"/>
          <p:cNvSpPr/>
          <p:nvPr/>
        </p:nvSpPr>
        <p:spPr>
          <a:xfrm>
            <a:off x="2203704" y="2569464"/>
            <a:ext cx="347472" cy="347472"/>
          </a:xfrm>
          <a:prstGeom prst="ellipse">
            <a:avLst/>
          </a:prstGeom>
          <a:solidFill>
            <a:srgbClr val="B85042"/>
          </a:solidFill>
          <a:ln/>
        </p:spPr>
      </p:sp>
      <p:sp>
        <p:nvSpPr>
          <p:cNvPr id="15" name="Text 12"/>
          <p:cNvSpPr/>
          <p:nvPr/>
        </p:nvSpPr>
        <p:spPr>
          <a:xfrm>
            <a:off x="2203704" y="256946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16" name="Shape 13"/>
          <p:cNvSpPr/>
          <p:nvPr/>
        </p:nvSpPr>
        <p:spPr>
          <a:xfrm>
            <a:off x="1106424" y="3575304"/>
            <a:ext cx="347472" cy="347472"/>
          </a:xfrm>
          <a:prstGeom prst="ellipse">
            <a:avLst/>
          </a:prstGeom>
          <a:solidFill>
            <a:srgbClr val="50808E"/>
          </a:solidFill>
          <a:ln/>
        </p:spPr>
      </p:sp>
      <p:sp>
        <p:nvSpPr>
          <p:cNvPr id="17" name="Text 14"/>
          <p:cNvSpPr/>
          <p:nvPr/>
        </p:nvSpPr>
        <p:spPr>
          <a:xfrm>
            <a:off x="1106424" y="35753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18" name="Shape 15"/>
          <p:cNvSpPr/>
          <p:nvPr/>
        </p:nvSpPr>
        <p:spPr>
          <a:xfrm>
            <a:off x="3300984" y="3575304"/>
            <a:ext cx="347472" cy="347472"/>
          </a:xfrm>
          <a:prstGeom prst="ellipse">
            <a:avLst/>
          </a:prstGeom>
          <a:solidFill>
            <a:srgbClr val="50808E"/>
          </a:solidFill>
          <a:ln/>
        </p:spPr>
      </p:sp>
      <p:sp>
        <p:nvSpPr>
          <p:cNvPr id="19" name="Text 16"/>
          <p:cNvSpPr/>
          <p:nvPr/>
        </p:nvSpPr>
        <p:spPr>
          <a:xfrm>
            <a:off x="3300984" y="35753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0" name="Shape 17"/>
          <p:cNvSpPr/>
          <p:nvPr/>
        </p:nvSpPr>
        <p:spPr>
          <a:xfrm>
            <a:off x="512064" y="4626864"/>
            <a:ext cx="347472" cy="347472"/>
          </a:xfrm>
          <a:prstGeom prst="ellipse">
            <a:avLst/>
          </a:prstGeom>
          <a:solidFill>
            <a:srgbClr val="50808E"/>
          </a:solidFill>
          <a:ln/>
        </p:spPr>
      </p:sp>
      <p:sp>
        <p:nvSpPr>
          <p:cNvPr id="21" name="Text 18"/>
          <p:cNvSpPr/>
          <p:nvPr/>
        </p:nvSpPr>
        <p:spPr>
          <a:xfrm>
            <a:off x="512064" y="462686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
            </a:r>
            <a:endParaRPr lang="en-US" sz="1100" dirty="0"/>
          </a:p>
        </p:txBody>
      </p:sp>
      <p:sp>
        <p:nvSpPr>
          <p:cNvPr id="22" name="Shape 19"/>
          <p:cNvSpPr/>
          <p:nvPr/>
        </p:nvSpPr>
        <p:spPr>
          <a:xfrm>
            <a:off x="1700784" y="4626864"/>
            <a:ext cx="347472" cy="347472"/>
          </a:xfrm>
          <a:prstGeom prst="ellipse">
            <a:avLst/>
          </a:prstGeom>
          <a:solidFill>
            <a:srgbClr val="50808E"/>
          </a:solidFill>
          <a:ln/>
        </p:spPr>
      </p:sp>
      <p:sp>
        <p:nvSpPr>
          <p:cNvPr id="23" name="Text 20"/>
          <p:cNvSpPr/>
          <p:nvPr/>
        </p:nvSpPr>
        <p:spPr>
          <a:xfrm>
            <a:off x="1700784" y="462686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a:t>
            </a:r>
            <a:endParaRPr lang="en-US" sz="1100" dirty="0"/>
          </a:p>
        </p:txBody>
      </p:sp>
      <p:sp>
        <p:nvSpPr>
          <p:cNvPr id="24" name="Shape 21"/>
          <p:cNvSpPr/>
          <p:nvPr/>
        </p:nvSpPr>
        <p:spPr>
          <a:xfrm>
            <a:off x="3895344" y="4626864"/>
            <a:ext cx="347472" cy="347472"/>
          </a:xfrm>
          <a:prstGeom prst="ellipse">
            <a:avLst/>
          </a:prstGeom>
          <a:solidFill>
            <a:srgbClr val="50808E"/>
          </a:solidFill>
          <a:ln/>
        </p:spPr>
      </p:sp>
      <p:sp>
        <p:nvSpPr>
          <p:cNvPr id="25" name="Text 22"/>
          <p:cNvSpPr/>
          <p:nvPr/>
        </p:nvSpPr>
        <p:spPr>
          <a:xfrm>
            <a:off x="3895344" y="462686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a:t>
            </a:r>
            <a:endParaRPr lang="en-US" sz="1100" dirty="0"/>
          </a:p>
        </p:txBody>
      </p:sp>
      <p:sp>
        <p:nvSpPr>
          <p:cNvPr id="26" name="Text 23"/>
          <p:cNvSpPr/>
          <p:nvPr/>
        </p:nvSpPr>
        <p:spPr>
          <a:xfrm>
            <a:off x="2606040" y="2578608"/>
            <a:ext cx="914400" cy="274320"/>
          </a:xfrm>
          <a:prstGeom prst="rect">
            <a:avLst/>
          </a:prstGeom>
          <a:noFill/>
          <a:ln/>
        </p:spPr>
        <p:txBody>
          <a:bodyPr wrap="square" lIns="0" tIns="0" rIns="0" bIns="0" rtlCol="0" anchor="ctr"/>
          <a:lstStyle/>
          <a:p>
            <a:pPr indent="0" marL="0">
              <a:buNone/>
            </a:pPr>
            <a:r>
              <a:rPr lang="en-US" sz="1100" b="1" dirty="0">
                <a:solidFill>
                  <a:srgbClr val="B85042"/>
                </a:solidFill>
                <a:latin typeface="Calibri" pitchFamily="34" charset="0"/>
                <a:ea typeface="Calibri" pitchFamily="34" charset="-122"/>
                <a:cs typeface="Calibri" pitchFamily="34" charset="-120"/>
              </a:rPr>
              <a:t>root</a:t>
            </a:r>
            <a:endParaRPr lang="en-US" sz="1100" dirty="0"/>
          </a:p>
        </p:txBody>
      </p:sp>
      <p:sp>
        <p:nvSpPr>
          <p:cNvPr id="27" name="Text 24"/>
          <p:cNvSpPr/>
          <p:nvPr/>
        </p:nvSpPr>
        <p:spPr>
          <a:xfrm>
            <a:off x="502920" y="5349240"/>
            <a:ext cx="4754880" cy="457200"/>
          </a:xfrm>
          <a:prstGeom prst="rect">
            <a:avLst/>
          </a:prstGeom>
          <a:noFill/>
          <a:ln/>
        </p:spPr>
        <p:txBody>
          <a:bodyPr wrap="square" lIns="0" tIns="0" rIns="0" bIns="0" rtlCol="0" anchor="t"/>
          <a:lstStyle/>
          <a:p>
            <a:pPr algn="ctr" indent="0" marL="0">
              <a:lnSpc>
                <a:spcPct val="112000"/>
              </a:lnSpc>
              <a:buNone/>
            </a:pPr>
            <a:r>
              <a:rPr lang="en-US" sz="1200" i="1" dirty="0">
                <a:solidFill>
                  <a:srgbClr val="6E7A83"/>
                </a:solidFill>
                <a:latin typeface="Calibri" pitchFamily="34" charset="0"/>
                <a:ea typeface="Calibri" pitchFamily="34" charset="-122"/>
                <a:cs typeface="Calibri" pitchFamily="34" charset="-120"/>
              </a:rPr>
              <a:t>Any two variables connected by exactly one path.</a:t>
            </a:r>
            <a:endParaRPr lang="en-US" sz="1200" dirty="0"/>
          </a:p>
        </p:txBody>
      </p:sp>
      <p:sp>
        <p:nvSpPr>
          <p:cNvPr id="28" name="Text 25"/>
          <p:cNvSpPr/>
          <p:nvPr/>
        </p:nvSpPr>
        <p:spPr>
          <a:xfrm>
            <a:off x="5577840" y="2514600"/>
            <a:ext cx="6080760" cy="292608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Not an exotic case - many real problems are tree-shaped or close to it</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Compare with the general case: up to d^n</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Pick any variable as the root; the choice does not matter</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That induces a topological ordering in which every variable appears after its parent</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Any tree with n nodes has exactly n-1 edges, so directional arc consistency takes O(n) revisions, each costing up to d²</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6.5</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TREE-CSP-SOLVER: two passes, no backtracking</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45</a:t>
            </a:r>
            <a:endParaRPr lang="en-US" sz="900" dirty="0"/>
          </a:p>
        </p:txBody>
      </p:sp>
      <p:sp>
        <p:nvSpPr>
          <p:cNvPr id="7" name="Shape 4"/>
          <p:cNvSpPr/>
          <p:nvPr/>
        </p:nvSpPr>
        <p:spPr>
          <a:xfrm>
            <a:off x="502920" y="1371600"/>
            <a:ext cx="5532120" cy="2148840"/>
          </a:xfrm>
          <a:prstGeom prst="roundRect">
            <a:avLst>
              <a:gd name="adj" fmla="val 2553"/>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8" name="Shape 5"/>
          <p:cNvSpPr/>
          <p:nvPr/>
        </p:nvSpPr>
        <p:spPr>
          <a:xfrm>
            <a:off x="777240" y="1600200"/>
            <a:ext cx="402336" cy="402336"/>
          </a:xfrm>
          <a:prstGeom prst="ellipse">
            <a:avLst/>
          </a:prstGeom>
          <a:solidFill>
            <a:srgbClr val="50808E"/>
          </a:solidFill>
          <a:ln/>
        </p:spPr>
      </p:sp>
      <p:sp>
        <p:nvSpPr>
          <p:cNvPr id="9" name="Text 6"/>
          <p:cNvSpPr/>
          <p:nvPr/>
        </p:nvSpPr>
        <p:spPr>
          <a:xfrm>
            <a:off x="777240" y="16002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p:nvPr/>
        </p:nvSpPr>
        <p:spPr>
          <a:xfrm>
            <a:off x="1325880" y="1627632"/>
            <a:ext cx="4480560" cy="301752"/>
          </a:xfrm>
          <a:prstGeom prst="rect">
            <a:avLst/>
          </a:prstGeom>
          <a:noFill/>
          <a:ln/>
        </p:spPr>
        <p:txBody>
          <a:bodyPr wrap="square" lIns="0" tIns="0" rIns="0" bIns="0" rtlCol="0" anchor="ctr"/>
          <a:lstStyle/>
          <a:p>
            <a:pPr indent="0" marL="0">
              <a:buNone/>
            </a:pPr>
            <a:r>
              <a:rPr lang="en-US" sz="1600" b="1" dirty="0">
                <a:solidFill>
                  <a:srgbClr val="50808E"/>
                </a:solidFill>
                <a:latin typeface="Calibri" pitchFamily="34" charset="0"/>
                <a:ea typeface="Calibri" pitchFamily="34" charset="-122"/>
                <a:cs typeface="Calibri" pitchFamily="34" charset="-120"/>
              </a:rPr>
              <a:t>Backward pass</a:t>
            </a:r>
            <a:endParaRPr lang="en-US" sz="1600" dirty="0"/>
          </a:p>
        </p:txBody>
      </p:sp>
      <p:sp>
        <p:nvSpPr>
          <p:cNvPr id="11" name="Text 8"/>
          <p:cNvSpPr/>
          <p:nvPr/>
        </p:nvSpPr>
        <p:spPr>
          <a:xfrm>
            <a:off x="822960" y="2148840"/>
            <a:ext cx="4937760" cy="128016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Walk the ordering in reverse, from the leaves toward the root. For each node, enforce the consistency of the single arc pointing into it from its parent, deleting inconsistent values from the parent's domain. Because it is a tree, each node has exactly one such arc.</a:t>
            </a:r>
            <a:endParaRPr lang="en-US" sz="1250" dirty="0"/>
          </a:p>
        </p:txBody>
      </p:sp>
      <p:sp>
        <p:nvSpPr>
          <p:cNvPr id="12" name="Shape 9"/>
          <p:cNvSpPr/>
          <p:nvPr/>
        </p:nvSpPr>
        <p:spPr>
          <a:xfrm>
            <a:off x="6309360" y="1371600"/>
            <a:ext cx="5349240" cy="2148840"/>
          </a:xfrm>
          <a:prstGeom prst="roundRect">
            <a:avLst>
              <a:gd name="adj" fmla="val 2553"/>
            </a:avLst>
          </a:prstGeom>
          <a:solidFill>
            <a:srgbClr val="F7EEEA"/>
          </a:solidFill>
          <a:ln w="9525">
            <a:solidFill>
              <a:srgbClr val="F7EEEA"/>
            </a:solidFill>
            <a:prstDash val="solid"/>
          </a:ln>
          <a:effectLst>
            <a:outerShdw sx="100000" sy="100000" kx="0" ky="0" algn="bl" rotWithShape="0" blurRad="101600" dist="19050" dir="5400000">
              <a:srgbClr val="9AA6AD">
                <a:alpha val="28000"/>
              </a:srgbClr>
            </a:outerShdw>
          </a:effectLst>
        </p:spPr>
      </p:sp>
      <p:sp>
        <p:nvSpPr>
          <p:cNvPr id="13" name="Shape 10"/>
          <p:cNvSpPr/>
          <p:nvPr/>
        </p:nvSpPr>
        <p:spPr>
          <a:xfrm>
            <a:off x="6583680" y="1600200"/>
            <a:ext cx="402336" cy="402336"/>
          </a:xfrm>
          <a:prstGeom prst="ellipse">
            <a:avLst/>
          </a:prstGeom>
          <a:solidFill>
            <a:srgbClr val="B85042"/>
          </a:solidFill>
          <a:ln/>
        </p:spPr>
      </p:sp>
      <p:sp>
        <p:nvSpPr>
          <p:cNvPr id="14" name="Text 11"/>
          <p:cNvSpPr/>
          <p:nvPr/>
        </p:nvSpPr>
        <p:spPr>
          <a:xfrm>
            <a:off x="6583680" y="160020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7132320" y="1627632"/>
            <a:ext cx="4297680" cy="301752"/>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Forward pass</a:t>
            </a:r>
            <a:endParaRPr lang="en-US" sz="1600" dirty="0"/>
          </a:p>
        </p:txBody>
      </p:sp>
      <p:sp>
        <p:nvSpPr>
          <p:cNvPr id="16" name="Text 13"/>
          <p:cNvSpPr/>
          <p:nvPr/>
        </p:nvSpPr>
        <p:spPr>
          <a:xfrm>
            <a:off x="6629400" y="2148840"/>
            <a:ext cx="4754880" cy="128016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Assign the root any remaining value. Then march down the ordering: because the backward pass already made every parent-to-child arc consistent, whatever the parent got is guaranteed a legal extension at the child. Backtracking never occurs.</a:t>
            </a:r>
            <a:endParaRPr lang="en-US" sz="1250" dirty="0"/>
          </a:p>
        </p:txBody>
      </p:sp>
      <p:sp>
        <p:nvSpPr>
          <p:cNvPr id="17" name="Shape 14"/>
          <p:cNvSpPr/>
          <p:nvPr/>
        </p:nvSpPr>
        <p:spPr>
          <a:xfrm>
            <a:off x="502920" y="3749040"/>
            <a:ext cx="6949440" cy="2103120"/>
          </a:xfrm>
          <a:prstGeom prst="roundRect">
            <a:avLst>
              <a:gd name="adj" fmla="val 2609"/>
            </a:avLst>
          </a:prstGeom>
          <a:solidFill>
            <a:srgbClr val="EDF0F1"/>
          </a:solidFill>
          <a:ln w="9525">
            <a:solidFill>
              <a:srgbClr val="EDF0F1"/>
            </a:solidFill>
            <a:prstDash val="solid"/>
          </a:ln>
        </p:spPr>
      </p:sp>
      <p:sp>
        <p:nvSpPr>
          <p:cNvPr id="18" name="Text 15"/>
          <p:cNvSpPr/>
          <p:nvPr/>
        </p:nvSpPr>
        <p:spPr>
          <a:xfrm>
            <a:off x="704088" y="3895344"/>
            <a:ext cx="6547104" cy="1810512"/>
          </a:xfrm>
          <a:prstGeom prst="rect">
            <a:avLst/>
          </a:prstGeom>
          <a:noFill/>
          <a:ln/>
        </p:spPr>
        <p:txBody>
          <a:bodyPr wrap="square" lIns="0" tIns="0" rIns="0" bIns="0" rtlCol="0" anchor="t"/>
          <a:lstStyle/>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function TREE-CSP-SOLVER(csp) returns solution or failure</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n &lt;- number of variables in X</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assignment &lt;- an empty assignment</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root &lt;- any variable in X</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X &lt;- TOPOLOGICALSORT(X, root)</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for j = n down to 2 do</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MAKE-ARC-CONSISTENT(PARENT(Xj), Xj)</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if it cannot be made consistent then return failure</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for j = 1 to n do</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assignment[Xj] &lt;- any consistent value from Dj</a:t>
            </a:r>
            <a:endParaRPr lang="en-US" sz="1000" dirty="0"/>
          </a:p>
          <a:p>
            <a:pPr indent="0" marL="0">
              <a:lnSpc>
                <a:spcPct val="114000"/>
              </a:lnSpc>
              <a:buNone/>
            </a:pPr>
            <a:r>
              <a:rPr lang="en-US" sz="1000" dirty="0">
                <a:solidFill>
                  <a:srgbClr val="1F2A31"/>
                </a:solidFill>
                <a:latin typeface="Courier New" pitchFamily="34" charset="0"/>
                <a:ea typeface="Courier New" pitchFamily="34" charset="-122"/>
                <a:cs typeface="Courier New" pitchFamily="34" charset="-120"/>
              </a:rPr>
              <a:t>    return assignment</a:t>
            </a:r>
            <a:endParaRPr lang="en-US" sz="1000" dirty="0"/>
          </a:p>
        </p:txBody>
      </p:sp>
      <p:sp>
        <p:nvSpPr>
          <p:cNvPr id="19" name="Shape 16"/>
          <p:cNvSpPr/>
          <p:nvPr/>
        </p:nvSpPr>
        <p:spPr>
          <a:xfrm>
            <a:off x="7726680" y="3749040"/>
            <a:ext cx="3931920" cy="2103120"/>
          </a:xfrm>
          <a:prstGeom prst="roundRect">
            <a:avLst>
              <a:gd name="adj" fmla="val 2609"/>
            </a:avLst>
          </a:prstGeom>
          <a:solidFill>
            <a:srgbClr val="F1F3F4"/>
          </a:solidFill>
          <a:ln w="9525">
            <a:solidFill>
              <a:srgbClr val="F1F3F4"/>
            </a:solidFill>
            <a:prstDash val="solid"/>
          </a:ln>
        </p:spPr>
      </p:sp>
      <p:sp>
        <p:nvSpPr>
          <p:cNvPr id="20" name="Text 17"/>
          <p:cNvSpPr/>
          <p:nvPr/>
        </p:nvSpPr>
        <p:spPr>
          <a:xfrm>
            <a:off x="8001000" y="3931920"/>
            <a:ext cx="3474720" cy="301752"/>
          </a:xfrm>
          <a:prstGeom prst="rect">
            <a:avLst/>
          </a:prstGeom>
          <a:noFill/>
          <a:ln/>
        </p:spPr>
        <p:txBody>
          <a:bodyPr wrap="square" lIns="0" tIns="0" rIns="0" bIns="0" rtlCol="0" anchor="ctr"/>
          <a:lstStyle/>
          <a:p>
            <a:pPr indent="0" marL="0">
              <a:buNone/>
            </a:pPr>
            <a:r>
              <a:rPr lang="en-US" sz="1500" b="1" dirty="0">
                <a:solidFill>
                  <a:srgbClr val="50808E"/>
                </a:solidFill>
                <a:latin typeface="Calibri" pitchFamily="34" charset="0"/>
                <a:ea typeface="Calibri" pitchFamily="34" charset="-122"/>
                <a:cs typeface="Calibri" pitchFamily="34" charset="-120"/>
              </a:rPr>
              <a:t>The bound</a:t>
            </a:r>
            <a:endParaRPr lang="en-US" sz="1500" dirty="0"/>
          </a:p>
        </p:txBody>
      </p:sp>
      <p:sp>
        <p:nvSpPr>
          <p:cNvPr id="21" name="Text 18"/>
          <p:cNvSpPr/>
          <p:nvPr/>
        </p:nvSpPr>
        <p:spPr>
          <a:xfrm>
            <a:off x="8001000" y="4315968"/>
            <a:ext cx="3474720" cy="502920"/>
          </a:xfrm>
          <a:prstGeom prst="rect">
            <a:avLst/>
          </a:prstGeom>
          <a:noFill/>
          <a:ln/>
        </p:spPr>
        <p:txBody>
          <a:bodyPr wrap="square" lIns="0" tIns="0" rIns="0" bIns="0" rtlCol="0" anchor="ctr"/>
          <a:lstStyle/>
          <a:p>
            <a:pPr indent="0" marL="0">
              <a:buNone/>
            </a:pPr>
            <a:r>
              <a:rPr lang="en-US" sz="2800" b="1" dirty="0">
                <a:solidFill>
                  <a:srgbClr val="B85042"/>
                </a:solidFill>
                <a:latin typeface="Cambria" pitchFamily="34" charset="0"/>
                <a:ea typeface="Cambria" pitchFamily="34" charset="-122"/>
                <a:cs typeface="Cambria" pitchFamily="34" charset="-120"/>
              </a:rPr>
              <a:t>O(n d²)</a:t>
            </a:r>
            <a:endParaRPr lang="en-US" sz="2800" dirty="0"/>
          </a:p>
        </p:txBody>
      </p:sp>
      <p:sp>
        <p:nvSpPr>
          <p:cNvPr id="22" name="Text 19"/>
          <p:cNvSpPr/>
          <p:nvPr/>
        </p:nvSpPr>
        <p:spPr>
          <a:xfrm>
            <a:off x="8001000" y="4892040"/>
            <a:ext cx="3474720" cy="868680"/>
          </a:xfrm>
          <a:prstGeom prst="rect">
            <a:avLst/>
          </a:prstGeom>
          <a:noFill/>
          <a:ln/>
        </p:spPr>
        <p:txBody>
          <a:bodyPr wrap="square" lIns="0" tIns="0" rIns="0" bIns="0" rtlCol="0" anchor="t"/>
          <a:lstStyle/>
          <a:p>
            <a:pPr indent="0" marL="0">
              <a:lnSpc>
                <a:spcPct val="112000"/>
              </a:lnSpc>
              <a:buNone/>
            </a:pPr>
            <a:r>
              <a:rPr lang="en-US" sz="1200" dirty="0">
                <a:solidFill>
                  <a:srgbClr val="2B3138"/>
                </a:solidFill>
                <a:latin typeface="Calibri" pitchFamily="34" charset="0"/>
                <a:ea typeface="Calibri" pitchFamily="34" charset="-122"/>
                <a:cs typeface="Calibri" pitchFamily="34" charset="-120"/>
              </a:rPr>
              <a:t>n-1 arcs, each visited a constant number of times across both passes; d² to check one arc's tail values against its head values.</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6.5 - THE SUBTLE POINT</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Why the proof needs the tree property</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46</a:t>
            </a:r>
            <a:endParaRPr lang="en-US" sz="900" dirty="0"/>
          </a:p>
        </p:txBody>
      </p:sp>
      <p:sp>
        <p:nvSpPr>
          <p:cNvPr id="7" name="Shape 4"/>
          <p:cNvSpPr/>
          <p:nvPr/>
        </p:nvSpPr>
        <p:spPr>
          <a:xfrm>
            <a:off x="502920" y="1371600"/>
            <a:ext cx="5532120" cy="2148840"/>
          </a:xfrm>
          <a:prstGeom prst="roundRect">
            <a:avLst>
              <a:gd name="adj" fmla="val 2553"/>
            </a:avLst>
          </a:prstGeom>
          <a:solidFill>
            <a:srgbClr val="F1F3F4"/>
          </a:solidFill>
          <a:ln w="9525">
            <a:solidFill>
              <a:srgbClr val="F1F3F4"/>
            </a:solidFill>
            <a:prstDash val="solid"/>
          </a:ln>
        </p:spPr>
      </p:sp>
      <p:sp>
        <p:nvSpPr>
          <p:cNvPr id="8" name="Text 5"/>
          <p:cNvSpPr/>
          <p:nvPr/>
        </p:nvSpPr>
        <p:spPr>
          <a:xfrm>
            <a:off x="777240" y="1554480"/>
            <a:ext cx="5029200" cy="301752"/>
          </a:xfrm>
          <a:prstGeom prst="rect">
            <a:avLst/>
          </a:prstGeom>
          <a:noFill/>
          <a:ln/>
        </p:spPr>
        <p:txBody>
          <a:bodyPr wrap="square" lIns="0" tIns="0" rIns="0" bIns="0" rtlCol="0" anchor="ctr"/>
          <a:lstStyle/>
          <a:p>
            <a:pPr indent="0" marL="0">
              <a:buNone/>
            </a:pPr>
            <a:r>
              <a:rPr lang="en-US" sz="1600" b="1" dirty="0">
                <a:solidFill>
                  <a:srgbClr val="50808E"/>
                </a:solidFill>
                <a:latin typeface="Calibri" pitchFamily="34" charset="0"/>
                <a:ea typeface="Calibri" pitchFamily="34" charset="-122"/>
                <a:cs typeface="Calibri" pitchFamily="34" charset="-120"/>
              </a:rPr>
              <a:t>In a tree: one parent</a:t>
            </a:r>
            <a:endParaRPr lang="en-US" sz="1600" dirty="0"/>
          </a:p>
        </p:txBody>
      </p:sp>
      <p:sp>
        <p:nvSpPr>
          <p:cNvPr id="9" name="Text 6"/>
          <p:cNvSpPr/>
          <p:nvPr/>
        </p:nvSpPr>
        <p:spPr>
          <a:xfrm>
            <a:off x="777240" y="1965960"/>
            <a:ext cx="4983480" cy="141732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The backward pass only ever deletes from a tail further from the root, so it never disturbs a domain already finalised as a head. Assign the parent, and the consistent parent-to-child arc guarantees something at the child works.</a:t>
            </a:r>
            <a:endParaRPr lang="en-US" sz="1250" dirty="0"/>
          </a:p>
        </p:txBody>
      </p:sp>
      <p:sp>
        <p:nvSpPr>
          <p:cNvPr id="10" name="Shape 7"/>
          <p:cNvSpPr/>
          <p:nvPr/>
        </p:nvSpPr>
        <p:spPr>
          <a:xfrm>
            <a:off x="6309360" y="1371600"/>
            <a:ext cx="5349240" cy="2148840"/>
          </a:xfrm>
          <a:prstGeom prst="roundRect">
            <a:avLst>
              <a:gd name="adj" fmla="val 2553"/>
            </a:avLst>
          </a:prstGeom>
          <a:solidFill>
            <a:srgbClr val="F7EEEA"/>
          </a:solidFill>
          <a:ln w="9525">
            <a:solidFill>
              <a:srgbClr val="F7EEEA"/>
            </a:solidFill>
            <a:prstDash val="solid"/>
          </a:ln>
        </p:spPr>
      </p:sp>
      <p:sp>
        <p:nvSpPr>
          <p:cNvPr id="11" name="Text 8"/>
          <p:cNvSpPr/>
          <p:nvPr/>
        </p:nvSpPr>
        <p:spPr>
          <a:xfrm>
            <a:off x="6583680" y="1554480"/>
            <a:ext cx="4846320" cy="301752"/>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With two parents: no guarantee</a:t>
            </a:r>
            <a:endParaRPr lang="en-US" sz="1600" dirty="0"/>
          </a:p>
        </p:txBody>
      </p:sp>
      <p:sp>
        <p:nvSpPr>
          <p:cNvPr id="12" name="Text 9"/>
          <p:cNvSpPr/>
          <p:nvPr/>
        </p:nvSpPr>
        <p:spPr>
          <a:xfrm>
            <a:off x="6583680" y="1965960"/>
            <a:ext cx="4846320" cy="141732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Consistency of each parent arc individually guarantees a legal extension for that parent alone. Nothing forces the two parents' legal extensions to coincide on the same value at the shared child.</a:t>
            </a:r>
            <a:endParaRPr lang="en-US" sz="1250" dirty="0"/>
          </a:p>
        </p:txBody>
      </p:sp>
      <p:sp>
        <p:nvSpPr>
          <p:cNvPr id="13" name="Shape 10"/>
          <p:cNvSpPr/>
          <p:nvPr/>
        </p:nvSpPr>
        <p:spPr>
          <a:xfrm>
            <a:off x="2011680" y="4160520"/>
            <a:ext cx="0" cy="1097280"/>
          </a:xfrm>
          <a:prstGeom prst="line">
            <a:avLst/>
          </a:prstGeom>
          <a:noFill/>
          <a:ln w="25400">
            <a:solidFill>
              <a:srgbClr val="50808E"/>
            </a:solidFill>
            <a:prstDash val="solid"/>
          </a:ln>
        </p:spPr>
      </p:sp>
      <p:sp>
        <p:nvSpPr>
          <p:cNvPr id="14" name="Shape 11"/>
          <p:cNvSpPr/>
          <p:nvPr/>
        </p:nvSpPr>
        <p:spPr>
          <a:xfrm>
            <a:off x="1810512" y="3959352"/>
            <a:ext cx="402336" cy="402336"/>
          </a:xfrm>
          <a:prstGeom prst="ellipse">
            <a:avLst/>
          </a:prstGeom>
          <a:solidFill>
            <a:srgbClr val="50808E"/>
          </a:solidFill>
          <a:ln/>
        </p:spPr>
      </p:sp>
      <p:sp>
        <p:nvSpPr>
          <p:cNvPr id="15" name="Text 12"/>
          <p:cNvSpPr/>
          <p:nvPr/>
        </p:nvSpPr>
        <p:spPr>
          <a:xfrm>
            <a:off x="1810512" y="395935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t>
            </a:r>
            <a:endParaRPr lang="en-US" sz="1200" dirty="0"/>
          </a:p>
        </p:txBody>
      </p:sp>
      <p:sp>
        <p:nvSpPr>
          <p:cNvPr id="16" name="Shape 13"/>
          <p:cNvSpPr/>
          <p:nvPr/>
        </p:nvSpPr>
        <p:spPr>
          <a:xfrm>
            <a:off x="1810512" y="5056632"/>
            <a:ext cx="402336" cy="402336"/>
          </a:xfrm>
          <a:prstGeom prst="ellipse">
            <a:avLst/>
          </a:prstGeom>
          <a:solidFill>
            <a:srgbClr val="50808E"/>
          </a:solidFill>
          <a:ln/>
        </p:spPr>
      </p:sp>
      <p:sp>
        <p:nvSpPr>
          <p:cNvPr id="17" name="Text 14"/>
          <p:cNvSpPr/>
          <p:nvPr/>
        </p:nvSpPr>
        <p:spPr>
          <a:xfrm>
            <a:off x="1810512" y="505663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8" name="Text 15"/>
          <p:cNvSpPr/>
          <p:nvPr/>
        </p:nvSpPr>
        <p:spPr>
          <a:xfrm>
            <a:off x="1280160" y="5532120"/>
            <a:ext cx="1463040" cy="274320"/>
          </a:xfrm>
          <a:prstGeom prst="rect">
            <a:avLst/>
          </a:prstGeom>
          <a:noFill/>
          <a:ln/>
        </p:spPr>
        <p:txBody>
          <a:bodyPr wrap="square" lIns="0" tIns="0" rIns="0" bIns="0" rtlCol="0" anchor="ctr"/>
          <a:lstStyle/>
          <a:p>
            <a:pPr algn="ctr" indent="0" marL="0">
              <a:buNone/>
            </a:pPr>
            <a:r>
              <a:rPr lang="en-US" sz="1150" b="1" dirty="0">
                <a:solidFill>
                  <a:srgbClr val="50808E"/>
                </a:solidFill>
                <a:latin typeface="Calibri" pitchFamily="34" charset="0"/>
                <a:ea typeface="Calibri" pitchFamily="34" charset="-122"/>
                <a:cs typeface="Calibri" pitchFamily="34" charset="-120"/>
              </a:rPr>
              <a:t>safe</a:t>
            </a:r>
            <a:endParaRPr lang="en-US" sz="1150" dirty="0"/>
          </a:p>
        </p:txBody>
      </p:sp>
      <p:sp>
        <p:nvSpPr>
          <p:cNvPr id="19" name="Shape 16"/>
          <p:cNvSpPr/>
          <p:nvPr/>
        </p:nvSpPr>
        <p:spPr>
          <a:xfrm>
            <a:off x="7223760" y="4160520"/>
            <a:ext cx="731520" cy="1097280"/>
          </a:xfrm>
          <a:prstGeom prst="line">
            <a:avLst/>
          </a:prstGeom>
          <a:noFill/>
          <a:ln w="25400">
            <a:solidFill>
              <a:srgbClr val="B85042"/>
            </a:solidFill>
            <a:prstDash val="solid"/>
          </a:ln>
        </p:spPr>
      </p:sp>
      <p:sp>
        <p:nvSpPr>
          <p:cNvPr id="20" name="Shape 17"/>
          <p:cNvSpPr/>
          <p:nvPr/>
        </p:nvSpPr>
        <p:spPr>
          <a:xfrm flipH="1">
            <a:off x="7955280" y="4160520"/>
            <a:ext cx="731520" cy="1097280"/>
          </a:xfrm>
          <a:prstGeom prst="line">
            <a:avLst/>
          </a:prstGeom>
          <a:noFill/>
          <a:ln w="25400">
            <a:solidFill>
              <a:srgbClr val="B85042"/>
            </a:solidFill>
            <a:prstDash val="solid"/>
          </a:ln>
        </p:spPr>
      </p:sp>
      <p:sp>
        <p:nvSpPr>
          <p:cNvPr id="21" name="Shape 18"/>
          <p:cNvSpPr/>
          <p:nvPr/>
        </p:nvSpPr>
        <p:spPr>
          <a:xfrm>
            <a:off x="7022592" y="3959352"/>
            <a:ext cx="402336" cy="402336"/>
          </a:xfrm>
          <a:prstGeom prst="ellipse">
            <a:avLst/>
          </a:prstGeom>
          <a:solidFill>
            <a:srgbClr val="B85042"/>
          </a:solidFill>
          <a:ln/>
        </p:spPr>
      </p:sp>
      <p:sp>
        <p:nvSpPr>
          <p:cNvPr id="22" name="Text 19"/>
          <p:cNvSpPr/>
          <p:nvPr/>
        </p:nvSpPr>
        <p:spPr>
          <a:xfrm>
            <a:off x="6949440" y="3959352"/>
            <a:ext cx="548640"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P1</a:t>
            </a:r>
            <a:endParaRPr lang="en-US" sz="1050" dirty="0"/>
          </a:p>
        </p:txBody>
      </p:sp>
      <p:sp>
        <p:nvSpPr>
          <p:cNvPr id="23" name="Shape 20"/>
          <p:cNvSpPr/>
          <p:nvPr/>
        </p:nvSpPr>
        <p:spPr>
          <a:xfrm>
            <a:off x="8485632" y="3959352"/>
            <a:ext cx="402336" cy="402336"/>
          </a:xfrm>
          <a:prstGeom prst="ellipse">
            <a:avLst/>
          </a:prstGeom>
          <a:solidFill>
            <a:srgbClr val="B85042"/>
          </a:solidFill>
          <a:ln/>
        </p:spPr>
      </p:sp>
      <p:sp>
        <p:nvSpPr>
          <p:cNvPr id="24" name="Text 21"/>
          <p:cNvSpPr/>
          <p:nvPr/>
        </p:nvSpPr>
        <p:spPr>
          <a:xfrm>
            <a:off x="8412480" y="3959352"/>
            <a:ext cx="548640"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P2</a:t>
            </a:r>
            <a:endParaRPr lang="en-US" sz="1050" dirty="0"/>
          </a:p>
        </p:txBody>
      </p:sp>
      <p:sp>
        <p:nvSpPr>
          <p:cNvPr id="25" name="Shape 22"/>
          <p:cNvSpPr/>
          <p:nvPr/>
        </p:nvSpPr>
        <p:spPr>
          <a:xfrm>
            <a:off x="7754112" y="5056632"/>
            <a:ext cx="402336" cy="402336"/>
          </a:xfrm>
          <a:prstGeom prst="ellipse">
            <a:avLst/>
          </a:prstGeom>
          <a:solidFill>
            <a:srgbClr val="B85042"/>
          </a:solidFill>
          <a:ln/>
        </p:spPr>
      </p:sp>
      <p:sp>
        <p:nvSpPr>
          <p:cNvPr id="26" name="Text 23"/>
          <p:cNvSpPr/>
          <p:nvPr/>
        </p:nvSpPr>
        <p:spPr>
          <a:xfrm>
            <a:off x="7680960" y="5056632"/>
            <a:ext cx="548640" cy="40233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t>
            </a:r>
            <a:endParaRPr lang="en-US" sz="1050" dirty="0"/>
          </a:p>
        </p:txBody>
      </p:sp>
      <p:sp>
        <p:nvSpPr>
          <p:cNvPr id="27" name="Text 24"/>
          <p:cNvSpPr/>
          <p:nvPr/>
        </p:nvSpPr>
        <p:spPr>
          <a:xfrm>
            <a:off x="7040880" y="5532120"/>
            <a:ext cx="1828800" cy="274320"/>
          </a:xfrm>
          <a:prstGeom prst="rect">
            <a:avLst/>
          </a:prstGeom>
          <a:noFill/>
          <a:ln/>
        </p:spPr>
        <p:txBody>
          <a:bodyPr wrap="square" lIns="0" tIns="0" rIns="0" bIns="0" rtlCol="0" anchor="ctr"/>
          <a:lstStyle/>
          <a:p>
            <a:pPr algn="ctr" indent="0" marL="0">
              <a:buNone/>
            </a:pPr>
            <a:r>
              <a:rPr lang="en-US" sz="1150" b="1" dirty="0">
                <a:solidFill>
                  <a:srgbClr val="B85042"/>
                </a:solidFill>
                <a:latin typeface="Calibri" pitchFamily="34" charset="0"/>
                <a:ea typeface="Calibri" pitchFamily="34" charset="-122"/>
                <a:cs typeface="Calibri" pitchFamily="34" charset="-120"/>
              </a:rPr>
              <a:t>needs 3-consistency</a:t>
            </a:r>
            <a:endParaRPr lang="en-US" sz="1150" dirty="0"/>
          </a:p>
        </p:txBody>
      </p:sp>
      <p:sp>
        <p:nvSpPr>
          <p:cNvPr id="28" name="Shape 25"/>
          <p:cNvSpPr/>
          <p:nvPr/>
        </p:nvSpPr>
        <p:spPr>
          <a:xfrm>
            <a:off x="502920" y="3703320"/>
            <a:ext cx="11155680" cy="320040"/>
          </a:xfrm>
          <a:prstGeom prst="roundRect">
            <a:avLst>
              <a:gd name="adj" fmla="val 17143"/>
            </a:avLst>
          </a:prstGeom>
          <a:solidFill>
            <a:srgbClr val="F1F3F4"/>
          </a:solidFill>
          <a:ln w="9525">
            <a:solidFill>
              <a:srgbClr val="F1F3F4"/>
            </a:solidFill>
            <a:prstDash val="solid"/>
          </a:ln>
        </p:spPr>
      </p:sp>
      <p:sp>
        <p:nvSpPr>
          <p:cNvPr id="29" name="Text 26"/>
          <p:cNvSpPr/>
          <p:nvPr/>
        </p:nvSpPr>
        <p:spPr>
          <a:xfrm>
            <a:off x="731520" y="3721608"/>
            <a:ext cx="10698480" cy="283464"/>
          </a:xfrm>
          <a:prstGeom prst="rect">
            <a:avLst/>
          </a:prstGeom>
          <a:noFill/>
          <a:ln/>
        </p:spPr>
        <p:txBody>
          <a:bodyPr wrap="square" lIns="0" tIns="0" rIns="0" bIns="0" rtlCol="0" anchor="ctr"/>
          <a:lstStyle/>
          <a:p>
            <a:pPr indent="0" marL="0">
              <a:buNone/>
            </a:pPr>
            <a:endParaRPr lang="en-US" sz="1400" dirty="0"/>
          </a:p>
        </p:txBody>
      </p:sp>
      <p:sp>
        <p:nvSpPr>
          <p:cNvPr id="30" name="Text 27"/>
          <p:cNvSpPr/>
          <p:nvPr/>
        </p:nvSpPr>
        <p:spPr>
          <a:xfrm>
            <a:off x="822960" y="3694176"/>
            <a:ext cx="10515600" cy="338328"/>
          </a:xfrm>
          <a:prstGeom prst="rect">
            <a:avLst/>
          </a:prstGeom>
          <a:noFill/>
          <a:ln/>
        </p:spPr>
        <p:txBody>
          <a:bodyPr wrap="square" lIns="0" tIns="0" rIns="0" bIns="0" rtlCol="0" anchor="ctr"/>
          <a:lstStyle/>
          <a:p>
            <a:pPr indent="0" marL="0">
              <a:buNone/>
            </a:pPr>
            <a:r>
              <a:rPr lang="en-US" sz="1350" b="1" dirty="0">
                <a:solidFill>
                  <a:srgbClr val="22303A"/>
                </a:solidFill>
                <a:latin typeface="Calibri" pitchFamily="34" charset="0"/>
                <a:ea typeface="Calibri" pitchFamily="34" charset="-122"/>
                <a:cs typeface="Calibri" pitchFamily="34" charset="-120"/>
              </a:rPr>
              <a:t>This is exactly why the technique is tree-specific - and why the next two ideas are both about manufacturing a tree.</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6.5.1</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Cutset conditioning: remove nodes until it is a tree</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47</a:t>
            </a:r>
            <a:endParaRPr lang="en-US" sz="900" dirty="0"/>
          </a:p>
        </p:txBody>
      </p:sp>
      <p:sp>
        <p:nvSpPr>
          <p:cNvPr id="7" name="Text 4"/>
          <p:cNvSpPr/>
          <p:nvPr/>
        </p:nvSpPr>
        <p:spPr>
          <a:xfrm>
            <a:off x="502920" y="1371600"/>
            <a:ext cx="6309360" cy="228600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Conditioning means instantiating a variable and propagating the consequences to its neighbours' domains</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Choose a subset S of variables such that removing them leaves a tree. S is a cycle cutset</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For each assignment to S that satisfies all constraints on S: prune values inconsistent with it, then solve the remaining tree</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In Australia, S = {SA} is enough - without South Australia the constraint graph is a tree</a:t>
            </a:r>
            <a:endParaRPr lang="en-US" sz="1350" dirty="0"/>
          </a:p>
        </p:txBody>
      </p:sp>
      <p:sp>
        <p:nvSpPr>
          <p:cNvPr id="8" name="Shape 5"/>
          <p:cNvSpPr/>
          <p:nvPr/>
        </p:nvSpPr>
        <p:spPr>
          <a:xfrm flipV="1">
            <a:off x="8037576" y="1869948"/>
            <a:ext cx="927202" cy="525780"/>
          </a:xfrm>
          <a:prstGeom prst="line">
            <a:avLst/>
          </a:prstGeom>
          <a:noFill/>
          <a:ln w="17780">
            <a:solidFill>
              <a:srgbClr val="AEB9BF"/>
            </a:solidFill>
            <a:prstDash val="solid"/>
          </a:ln>
        </p:spPr>
      </p:sp>
      <p:sp>
        <p:nvSpPr>
          <p:cNvPr id="9" name="Shape 6"/>
          <p:cNvSpPr/>
          <p:nvPr/>
        </p:nvSpPr>
        <p:spPr>
          <a:xfrm>
            <a:off x="8037576" y="2395728"/>
            <a:ext cx="1069848" cy="434340"/>
          </a:xfrm>
          <a:prstGeom prst="line">
            <a:avLst/>
          </a:prstGeom>
          <a:noFill/>
          <a:ln w="17780">
            <a:solidFill>
              <a:srgbClr val="AEB9BF"/>
            </a:solidFill>
            <a:prstDash val="solid"/>
          </a:ln>
        </p:spPr>
      </p:sp>
      <p:sp>
        <p:nvSpPr>
          <p:cNvPr id="10" name="Shape 7"/>
          <p:cNvSpPr/>
          <p:nvPr/>
        </p:nvSpPr>
        <p:spPr>
          <a:xfrm>
            <a:off x="8964778" y="1869948"/>
            <a:ext cx="142646" cy="960120"/>
          </a:xfrm>
          <a:prstGeom prst="line">
            <a:avLst/>
          </a:prstGeom>
          <a:noFill/>
          <a:ln w="17780">
            <a:solidFill>
              <a:srgbClr val="AEB9BF"/>
            </a:solidFill>
            <a:prstDash val="solid"/>
          </a:ln>
        </p:spPr>
      </p:sp>
      <p:sp>
        <p:nvSpPr>
          <p:cNvPr id="11" name="Shape 8"/>
          <p:cNvSpPr/>
          <p:nvPr/>
        </p:nvSpPr>
        <p:spPr>
          <a:xfrm>
            <a:off x="8964778" y="1869948"/>
            <a:ext cx="1212494" cy="91440"/>
          </a:xfrm>
          <a:prstGeom prst="line">
            <a:avLst/>
          </a:prstGeom>
          <a:noFill/>
          <a:ln w="17780">
            <a:solidFill>
              <a:srgbClr val="AEB9BF"/>
            </a:solidFill>
            <a:prstDash val="solid"/>
          </a:ln>
        </p:spPr>
      </p:sp>
      <p:sp>
        <p:nvSpPr>
          <p:cNvPr id="12" name="Shape 9"/>
          <p:cNvSpPr/>
          <p:nvPr/>
        </p:nvSpPr>
        <p:spPr>
          <a:xfrm flipV="1">
            <a:off x="9107424" y="1961388"/>
            <a:ext cx="1069848" cy="868680"/>
          </a:xfrm>
          <a:prstGeom prst="line">
            <a:avLst/>
          </a:prstGeom>
          <a:noFill/>
          <a:ln w="17780">
            <a:solidFill>
              <a:srgbClr val="AEB9BF"/>
            </a:solidFill>
            <a:prstDash val="solid"/>
          </a:ln>
        </p:spPr>
      </p:sp>
      <p:sp>
        <p:nvSpPr>
          <p:cNvPr id="13" name="Shape 10"/>
          <p:cNvSpPr/>
          <p:nvPr/>
        </p:nvSpPr>
        <p:spPr>
          <a:xfrm>
            <a:off x="9107424" y="2830068"/>
            <a:ext cx="1212494" cy="0"/>
          </a:xfrm>
          <a:prstGeom prst="line">
            <a:avLst/>
          </a:prstGeom>
          <a:noFill/>
          <a:ln w="17780">
            <a:solidFill>
              <a:srgbClr val="AEB9BF"/>
            </a:solidFill>
            <a:prstDash val="solid"/>
          </a:ln>
        </p:spPr>
      </p:sp>
      <p:sp>
        <p:nvSpPr>
          <p:cNvPr id="14" name="Shape 11"/>
          <p:cNvSpPr/>
          <p:nvPr/>
        </p:nvSpPr>
        <p:spPr>
          <a:xfrm>
            <a:off x="9107424" y="2830068"/>
            <a:ext cx="713232" cy="640080"/>
          </a:xfrm>
          <a:prstGeom prst="line">
            <a:avLst/>
          </a:prstGeom>
          <a:noFill/>
          <a:ln w="17780">
            <a:solidFill>
              <a:srgbClr val="AEB9BF"/>
            </a:solidFill>
            <a:prstDash val="solid"/>
          </a:ln>
        </p:spPr>
      </p:sp>
      <p:sp>
        <p:nvSpPr>
          <p:cNvPr id="15" name="Shape 12"/>
          <p:cNvSpPr/>
          <p:nvPr/>
        </p:nvSpPr>
        <p:spPr>
          <a:xfrm>
            <a:off x="10177272" y="1961388"/>
            <a:ext cx="142646" cy="868680"/>
          </a:xfrm>
          <a:prstGeom prst="line">
            <a:avLst/>
          </a:prstGeom>
          <a:noFill/>
          <a:ln w="17780">
            <a:solidFill>
              <a:srgbClr val="AEB9BF"/>
            </a:solidFill>
            <a:prstDash val="solid"/>
          </a:ln>
        </p:spPr>
      </p:sp>
      <p:sp>
        <p:nvSpPr>
          <p:cNvPr id="16" name="Shape 13"/>
          <p:cNvSpPr/>
          <p:nvPr/>
        </p:nvSpPr>
        <p:spPr>
          <a:xfrm flipH="1">
            <a:off x="9820656" y="2830068"/>
            <a:ext cx="499262" cy="640080"/>
          </a:xfrm>
          <a:prstGeom prst="line">
            <a:avLst/>
          </a:prstGeom>
          <a:noFill/>
          <a:ln w="17780">
            <a:solidFill>
              <a:srgbClr val="AEB9BF"/>
            </a:solidFill>
            <a:prstDash val="solid"/>
          </a:ln>
        </p:spPr>
      </p:sp>
      <p:sp>
        <p:nvSpPr>
          <p:cNvPr id="17" name="Shape 14"/>
          <p:cNvSpPr/>
          <p:nvPr/>
        </p:nvSpPr>
        <p:spPr>
          <a:xfrm>
            <a:off x="7891272" y="2249424"/>
            <a:ext cx="292608" cy="292608"/>
          </a:xfrm>
          <a:prstGeom prst="ellipse">
            <a:avLst/>
          </a:prstGeom>
          <a:solidFill>
            <a:srgbClr val="E4E9EB"/>
          </a:solidFill>
          <a:ln w="12700">
            <a:solidFill>
              <a:srgbClr val="9FAAB1"/>
            </a:solidFill>
            <a:prstDash val="solid"/>
          </a:ln>
        </p:spPr>
      </p:sp>
      <p:sp>
        <p:nvSpPr>
          <p:cNvPr id="18" name="Text 15"/>
          <p:cNvSpPr/>
          <p:nvPr/>
        </p:nvSpPr>
        <p:spPr>
          <a:xfrm>
            <a:off x="7653528" y="2249424"/>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WA</a:t>
            </a:r>
            <a:endParaRPr lang="en-US" sz="1050" dirty="0"/>
          </a:p>
        </p:txBody>
      </p:sp>
      <p:sp>
        <p:nvSpPr>
          <p:cNvPr id="19" name="Shape 16"/>
          <p:cNvSpPr/>
          <p:nvPr/>
        </p:nvSpPr>
        <p:spPr>
          <a:xfrm>
            <a:off x="8818474" y="1723644"/>
            <a:ext cx="292608" cy="292608"/>
          </a:xfrm>
          <a:prstGeom prst="ellipse">
            <a:avLst/>
          </a:prstGeom>
          <a:solidFill>
            <a:srgbClr val="E4E9EB"/>
          </a:solidFill>
          <a:ln w="12700">
            <a:solidFill>
              <a:srgbClr val="9FAAB1"/>
            </a:solidFill>
            <a:prstDash val="solid"/>
          </a:ln>
        </p:spPr>
      </p:sp>
      <p:sp>
        <p:nvSpPr>
          <p:cNvPr id="20" name="Text 17"/>
          <p:cNvSpPr/>
          <p:nvPr/>
        </p:nvSpPr>
        <p:spPr>
          <a:xfrm>
            <a:off x="8580730" y="1723644"/>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NT</a:t>
            </a:r>
            <a:endParaRPr lang="en-US" sz="1050" dirty="0"/>
          </a:p>
        </p:txBody>
      </p:sp>
      <p:sp>
        <p:nvSpPr>
          <p:cNvPr id="21" name="Shape 18"/>
          <p:cNvSpPr/>
          <p:nvPr/>
        </p:nvSpPr>
        <p:spPr>
          <a:xfrm>
            <a:off x="10030968" y="1815084"/>
            <a:ext cx="292608" cy="292608"/>
          </a:xfrm>
          <a:prstGeom prst="ellipse">
            <a:avLst/>
          </a:prstGeom>
          <a:solidFill>
            <a:srgbClr val="E4E9EB"/>
          </a:solidFill>
          <a:ln w="12700">
            <a:solidFill>
              <a:srgbClr val="9FAAB1"/>
            </a:solidFill>
            <a:prstDash val="solid"/>
          </a:ln>
        </p:spPr>
      </p:sp>
      <p:sp>
        <p:nvSpPr>
          <p:cNvPr id="22" name="Text 19"/>
          <p:cNvSpPr/>
          <p:nvPr/>
        </p:nvSpPr>
        <p:spPr>
          <a:xfrm>
            <a:off x="9793224" y="1815084"/>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Q</a:t>
            </a:r>
            <a:endParaRPr lang="en-US" sz="1050" dirty="0"/>
          </a:p>
        </p:txBody>
      </p:sp>
      <p:sp>
        <p:nvSpPr>
          <p:cNvPr id="23" name="Shape 20"/>
          <p:cNvSpPr/>
          <p:nvPr/>
        </p:nvSpPr>
        <p:spPr>
          <a:xfrm>
            <a:off x="8961120" y="2683764"/>
            <a:ext cx="292608" cy="292608"/>
          </a:xfrm>
          <a:prstGeom prst="ellipse">
            <a:avLst/>
          </a:prstGeom>
          <a:solidFill>
            <a:srgbClr val="B85042"/>
          </a:solidFill>
          <a:ln w="12700">
            <a:solidFill>
              <a:srgbClr val="B85042"/>
            </a:solidFill>
            <a:prstDash val="solid"/>
          </a:ln>
        </p:spPr>
      </p:sp>
      <p:sp>
        <p:nvSpPr>
          <p:cNvPr id="24" name="Text 21"/>
          <p:cNvSpPr/>
          <p:nvPr/>
        </p:nvSpPr>
        <p:spPr>
          <a:xfrm>
            <a:off x="8723376" y="2683764"/>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a:t>
            </a:r>
            <a:endParaRPr lang="en-US" sz="1050" dirty="0"/>
          </a:p>
        </p:txBody>
      </p:sp>
      <p:sp>
        <p:nvSpPr>
          <p:cNvPr id="25" name="Shape 22"/>
          <p:cNvSpPr/>
          <p:nvPr/>
        </p:nvSpPr>
        <p:spPr>
          <a:xfrm>
            <a:off x="10173614" y="2683764"/>
            <a:ext cx="292608" cy="292608"/>
          </a:xfrm>
          <a:prstGeom prst="ellipse">
            <a:avLst/>
          </a:prstGeom>
          <a:solidFill>
            <a:srgbClr val="E4E9EB"/>
          </a:solidFill>
          <a:ln w="12700">
            <a:solidFill>
              <a:srgbClr val="9FAAB1"/>
            </a:solidFill>
            <a:prstDash val="solid"/>
          </a:ln>
        </p:spPr>
      </p:sp>
      <p:sp>
        <p:nvSpPr>
          <p:cNvPr id="26" name="Text 23"/>
          <p:cNvSpPr/>
          <p:nvPr/>
        </p:nvSpPr>
        <p:spPr>
          <a:xfrm>
            <a:off x="9935870" y="2683764"/>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NSW</a:t>
            </a:r>
            <a:endParaRPr lang="en-US" sz="1050" dirty="0"/>
          </a:p>
        </p:txBody>
      </p:sp>
      <p:sp>
        <p:nvSpPr>
          <p:cNvPr id="27" name="Shape 24"/>
          <p:cNvSpPr/>
          <p:nvPr/>
        </p:nvSpPr>
        <p:spPr>
          <a:xfrm>
            <a:off x="9674352" y="3323844"/>
            <a:ext cx="292608" cy="292608"/>
          </a:xfrm>
          <a:prstGeom prst="ellipse">
            <a:avLst/>
          </a:prstGeom>
          <a:solidFill>
            <a:srgbClr val="E4E9EB"/>
          </a:solidFill>
          <a:ln w="12700">
            <a:solidFill>
              <a:srgbClr val="9FAAB1"/>
            </a:solidFill>
            <a:prstDash val="solid"/>
          </a:ln>
        </p:spPr>
      </p:sp>
      <p:sp>
        <p:nvSpPr>
          <p:cNvPr id="28" name="Text 25"/>
          <p:cNvSpPr/>
          <p:nvPr/>
        </p:nvSpPr>
        <p:spPr>
          <a:xfrm>
            <a:off x="9436608" y="3323844"/>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V</a:t>
            </a:r>
            <a:endParaRPr lang="en-US" sz="1050" dirty="0"/>
          </a:p>
        </p:txBody>
      </p:sp>
      <p:sp>
        <p:nvSpPr>
          <p:cNvPr id="29" name="Shape 26"/>
          <p:cNvSpPr/>
          <p:nvPr/>
        </p:nvSpPr>
        <p:spPr>
          <a:xfrm>
            <a:off x="10601554" y="3598164"/>
            <a:ext cx="292608" cy="292608"/>
          </a:xfrm>
          <a:prstGeom prst="ellipse">
            <a:avLst/>
          </a:prstGeom>
          <a:solidFill>
            <a:srgbClr val="E4E9EB"/>
          </a:solidFill>
          <a:ln w="12700">
            <a:solidFill>
              <a:srgbClr val="9FAAB1"/>
            </a:solidFill>
            <a:prstDash val="solid"/>
          </a:ln>
        </p:spPr>
      </p:sp>
      <p:sp>
        <p:nvSpPr>
          <p:cNvPr id="30" name="Text 27"/>
          <p:cNvSpPr/>
          <p:nvPr/>
        </p:nvSpPr>
        <p:spPr>
          <a:xfrm>
            <a:off x="10363810" y="3598164"/>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T</a:t>
            </a:r>
            <a:endParaRPr lang="en-US" sz="1050" dirty="0"/>
          </a:p>
        </p:txBody>
      </p:sp>
      <p:sp>
        <p:nvSpPr>
          <p:cNvPr id="31" name="Text 28"/>
          <p:cNvSpPr/>
          <p:nvPr/>
        </p:nvSpPr>
        <p:spPr>
          <a:xfrm>
            <a:off x="7315200" y="3950208"/>
            <a:ext cx="4343400" cy="256032"/>
          </a:xfrm>
          <a:prstGeom prst="rect">
            <a:avLst/>
          </a:prstGeom>
          <a:noFill/>
          <a:ln/>
        </p:spPr>
        <p:txBody>
          <a:bodyPr wrap="square" lIns="0" tIns="0" rIns="0" bIns="0" rtlCol="0" anchor="ctr"/>
          <a:lstStyle/>
          <a:p>
            <a:pPr algn="ctr" indent="0" marL="0">
              <a:buNone/>
            </a:pPr>
            <a:r>
              <a:rPr lang="en-US" sz="1100" b="1" dirty="0">
                <a:solidFill>
                  <a:srgbClr val="B85042"/>
                </a:solidFill>
                <a:latin typeface="Calibri" pitchFamily="34" charset="0"/>
                <a:ea typeface="Calibri" pitchFamily="34" charset="-122"/>
                <a:cs typeface="Calibri" pitchFamily="34" charset="-120"/>
              </a:rPr>
              <a:t>remove SA</a:t>
            </a:r>
            <a:endParaRPr lang="en-US" sz="1100" dirty="0"/>
          </a:p>
        </p:txBody>
      </p:sp>
      <p:sp>
        <p:nvSpPr>
          <p:cNvPr id="32" name="Shape 29"/>
          <p:cNvSpPr/>
          <p:nvPr/>
        </p:nvSpPr>
        <p:spPr>
          <a:xfrm flipV="1">
            <a:off x="8037576" y="4561027"/>
            <a:ext cx="927202" cy="336499"/>
          </a:xfrm>
          <a:prstGeom prst="line">
            <a:avLst/>
          </a:prstGeom>
          <a:noFill/>
          <a:ln w="17780">
            <a:solidFill>
              <a:srgbClr val="AEB9BF"/>
            </a:solidFill>
            <a:prstDash val="solid"/>
          </a:ln>
        </p:spPr>
      </p:sp>
      <p:sp>
        <p:nvSpPr>
          <p:cNvPr id="33" name="Shape 30"/>
          <p:cNvSpPr/>
          <p:nvPr/>
        </p:nvSpPr>
        <p:spPr>
          <a:xfrm>
            <a:off x="8964778" y="4561027"/>
            <a:ext cx="1212494" cy="58522"/>
          </a:xfrm>
          <a:prstGeom prst="line">
            <a:avLst/>
          </a:prstGeom>
          <a:noFill/>
          <a:ln w="17780">
            <a:solidFill>
              <a:srgbClr val="AEB9BF"/>
            </a:solidFill>
            <a:prstDash val="solid"/>
          </a:ln>
        </p:spPr>
      </p:sp>
      <p:sp>
        <p:nvSpPr>
          <p:cNvPr id="34" name="Shape 31"/>
          <p:cNvSpPr/>
          <p:nvPr/>
        </p:nvSpPr>
        <p:spPr>
          <a:xfrm>
            <a:off x="10177272" y="4619549"/>
            <a:ext cx="142646" cy="555955"/>
          </a:xfrm>
          <a:prstGeom prst="line">
            <a:avLst/>
          </a:prstGeom>
          <a:noFill/>
          <a:ln w="17780">
            <a:solidFill>
              <a:srgbClr val="AEB9BF"/>
            </a:solidFill>
            <a:prstDash val="solid"/>
          </a:ln>
        </p:spPr>
      </p:sp>
      <p:sp>
        <p:nvSpPr>
          <p:cNvPr id="35" name="Shape 32"/>
          <p:cNvSpPr/>
          <p:nvPr/>
        </p:nvSpPr>
        <p:spPr>
          <a:xfrm flipH="1">
            <a:off x="9820656" y="5175504"/>
            <a:ext cx="499262" cy="409651"/>
          </a:xfrm>
          <a:prstGeom prst="line">
            <a:avLst/>
          </a:prstGeom>
          <a:noFill/>
          <a:ln w="17780">
            <a:solidFill>
              <a:srgbClr val="AEB9BF"/>
            </a:solidFill>
            <a:prstDash val="solid"/>
          </a:ln>
        </p:spPr>
      </p:sp>
      <p:sp>
        <p:nvSpPr>
          <p:cNvPr id="36" name="Shape 33"/>
          <p:cNvSpPr/>
          <p:nvPr/>
        </p:nvSpPr>
        <p:spPr>
          <a:xfrm>
            <a:off x="7909560" y="4769510"/>
            <a:ext cx="256032" cy="256032"/>
          </a:xfrm>
          <a:prstGeom prst="ellipse">
            <a:avLst/>
          </a:prstGeom>
          <a:solidFill>
            <a:srgbClr val="E4E9EB"/>
          </a:solidFill>
          <a:ln w="12700">
            <a:solidFill>
              <a:srgbClr val="9FAAB1"/>
            </a:solidFill>
            <a:prstDash val="solid"/>
          </a:ln>
        </p:spPr>
      </p:sp>
      <p:sp>
        <p:nvSpPr>
          <p:cNvPr id="37" name="Text 34"/>
          <p:cNvSpPr/>
          <p:nvPr/>
        </p:nvSpPr>
        <p:spPr>
          <a:xfrm>
            <a:off x="7653528" y="4751222"/>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WA</a:t>
            </a:r>
            <a:endParaRPr lang="en-US" sz="1050" dirty="0"/>
          </a:p>
        </p:txBody>
      </p:sp>
      <p:sp>
        <p:nvSpPr>
          <p:cNvPr id="38" name="Shape 35"/>
          <p:cNvSpPr/>
          <p:nvPr/>
        </p:nvSpPr>
        <p:spPr>
          <a:xfrm>
            <a:off x="8836762" y="4433011"/>
            <a:ext cx="256032" cy="256032"/>
          </a:xfrm>
          <a:prstGeom prst="ellipse">
            <a:avLst/>
          </a:prstGeom>
          <a:solidFill>
            <a:srgbClr val="E4E9EB"/>
          </a:solidFill>
          <a:ln w="12700">
            <a:solidFill>
              <a:srgbClr val="9FAAB1"/>
            </a:solidFill>
            <a:prstDash val="solid"/>
          </a:ln>
        </p:spPr>
      </p:sp>
      <p:sp>
        <p:nvSpPr>
          <p:cNvPr id="39" name="Text 36"/>
          <p:cNvSpPr/>
          <p:nvPr/>
        </p:nvSpPr>
        <p:spPr>
          <a:xfrm>
            <a:off x="8580730" y="4414723"/>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NT</a:t>
            </a:r>
            <a:endParaRPr lang="en-US" sz="1050" dirty="0"/>
          </a:p>
        </p:txBody>
      </p:sp>
      <p:sp>
        <p:nvSpPr>
          <p:cNvPr id="40" name="Shape 37"/>
          <p:cNvSpPr/>
          <p:nvPr/>
        </p:nvSpPr>
        <p:spPr>
          <a:xfrm>
            <a:off x="10049256" y="4491533"/>
            <a:ext cx="256032" cy="256032"/>
          </a:xfrm>
          <a:prstGeom prst="ellipse">
            <a:avLst/>
          </a:prstGeom>
          <a:solidFill>
            <a:srgbClr val="E4E9EB"/>
          </a:solidFill>
          <a:ln w="12700">
            <a:solidFill>
              <a:srgbClr val="9FAAB1"/>
            </a:solidFill>
            <a:prstDash val="solid"/>
          </a:ln>
        </p:spPr>
      </p:sp>
      <p:sp>
        <p:nvSpPr>
          <p:cNvPr id="41" name="Text 38"/>
          <p:cNvSpPr/>
          <p:nvPr/>
        </p:nvSpPr>
        <p:spPr>
          <a:xfrm>
            <a:off x="9793224" y="4473245"/>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Q</a:t>
            </a:r>
            <a:endParaRPr lang="en-US" sz="1050" dirty="0"/>
          </a:p>
        </p:txBody>
      </p:sp>
      <p:sp>
        <p:nvSpPr>
          <p:cNvPr id="42" name="Shape 39"/>
          <p:cNvSpPr/>
          <p:nvPr/>
        </p:nvSpPr>
        <p:spPr>
          <a:xfrm>
            <a:off x="10191902" y="5047488"/>
            <a:ext cx="256032" cy="256032"/>
          </a:xfrm>
          <a:prstGeom prst="ellipse">
            <a:avLst/>
          </a:prstGeom>
          <a:solidFill>
            <a:srgbClr val="E4E9EB"/>
          </a:solidFill>
          <a:ln w="12700">
            <a:solidFill>
              <a:srgbClr val="9FAAB1"/>
            </a:solidFill>
            <a:prstDash val="solid"/>
          </a:ln>
        </p:spPr>
      </p:sp>
      <p:sp>
        <p:nvSpPr>
          <p:cNvPr id="43" name="Text 40"/>
          <p:cNvSpPr/>
          <p:nvPr/>
        </p:nvSpPr>
        <p:spPr>
          <a:xfrm>
            <a:off x="9935870" y="5029200"/>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NSW</a:t>
            </a:r>
            <a:endParaRPr lang="en-US" sz="1050" dirty="0"/>
          </a:p>
        </p:txBody>
      </p:sp>
      <p:sp>
        <p:nvSpPr>
          <p:cNvPr id="44" name="Shape 41"/>
          <p:cNvSpPr/>
          <p:nvPr/>
        </p:nvSpPr>
        <p:spPr>
          <a:xfrm>
            <a:off x="9692640" y="5457139"/>
            <a:ext cx="256032" cy="256032"/>
          </a:xfrm>
          <a:prstGeom prst="ellipse">
            <a:avLst/>
          </a:prstGeom>
          <a:solidFill>
            <a:srgbClr val="E4E9EB"/>
          </a:solidFill>
          <a:ln w="12700">
            <a:solidFill>
              <a:srgbClr val="9FAAB1"/>
            </a:solidFill>
            <a:prstDash val="solid"/>
          </a:ln>
        </p:spPr>
      </p:sp>
      <p:sp>
        <p:nvSpPr>
          <p:cNvPr id="45" name="Text 42"/>
          <p:cNvSpPr/>
          <p:nvPr/>
        </p:nvSpPr>
        <p:spPr>
          <a:xfrm>
            <a:off x="9436608" y="5438851"/>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V</a:t>
            </a:r>
            <a:endParaRPr lang="en-US" sz="1050" dirty="0"/>
          </a:p>
        </p:txBody>
      </p:sp>
      <p:sp>
        <p:nvSpPr>
          <p:cNvPr id="46" name="Shape 43"/>
          <p:cNvSpPr/>
          <p:nvPr/>
        </p:nvSpPr>
        <p:spPr>
          <a:xfrm>
            <a:off x="10619842" y="5632704"/>
            <a:ext cx="256032" cy="256032"/>
          </a:xfrm>
          <a:prstGeom prst="ellipse">
            <a:avLst/>
          </a:prstGeom>
          <a:solidFill>
            <a:srgbClr val="E4E9EB"/>
          </a:solidFill>
          <a:ln w="12700">
            <a:solidFill>
              <a:srgbClr val="9FAAB1"/>
            </a:solidFill>
            <a:prstDash val="solid"/>
          </a:ln>
        </p:spPr>
      </p:sp>
      <p:sp>
        <p:nvSpPr>
          <p:cNvPr id="47" name="Text 44"/>
          <p:cNvSpPr/>
          <p:nvPr/>
        </p:nvSpPr>
        <p:spPr>
          <a:xfrm>
            <a:off x="10363810" y="5614416"/>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T</a:t>
            </a:r>
            <a:endParaRPr lang="en-US" sz="1050" dirty="0"/>
          </a:p>
        </p:txBody>
      </p:sp>
      <p:sp>
        <p:nvSpPr>
          <p:cNvPr id="48" name="Text 45"/>
          <p:cNvSpPr/>
          <p:nvPr/>
        </p:nvSpPr>
        <p:spPr>
          <a:xfrm>
            <a:off x="7315200" y="5897880"/>
            <a:ext cx="4343400" cy="274320"/>
          </a:xfrm>
          <a:prstGeom prst="rect">
            <a:avLst/>
          </a:prstGeom>
          <a:noFill/>
          <a:ln/>
        </p:spPr>
        <p:txBody>
          <a:bodyPr wrap="square" lIns="0" tIns="0" rIns="0" bIns="0" rtlCol="0" anchor="ctr"/>
          <a:lstStyle/>
          <a:p>
            <a:pPr algn="ctr" indent="0" marL="0">
              <a:buNone/>
            </a:pPr>
            <a:r>
              <a:rPr lang="en-US" sz="1100" i="1" dirty="0">
                <a:solidFill>
                  <a:srgbClr val="6E7A83"/>
                </a:solidFill>
                <a:latin typeface="Calibri" pitchFamily="34" charset="0"/>
                <a:ea typeface="Calibri" pitchFamily="34" charset="-122"/>
                <a:cs typeface="Calibri" pitchFamily="34" charset="-120"/>
              </a:rPr>
              <a:t>what remains is a tree</a:t>
            </a:r>
            <a:endParaRPr lang="en-US" sz="1100" dirty="0"/>
          </a:p>
        </p:txBody>
      </p:sp>
      <p:sp>
        <p:nvSpPr>
          <p:cNvPr id="49" name="Shape 46"/>
          <p:cNvSpPr/>
          <p:nvPr/>
        </p:nvSpPr>
        <p:spPr>
          <a:xfrm>
            <a:off x="502920" y="3886200"/>
            <a:ext cx="6309360" cy="1051560"/>
          </a:xfrm>
          <a:prstGeom prst="roundRect">
            <a:avLst>
              <a:gd name="adj" fmla="val 5217"/>
            </a:avLst>
          </a:prstGeom>
          <a:solidFill>
            <a:srgbClr val="F7EEEA"/>
          </a:solidFill>
          <a:ln w="9525">
            <a:solidFill>
              <a:srgbClr val="F7EEEA"/>
            </a:solidFill>
            <a:prstDash val="solid"/>
          </a:ln>
        </p:spPr>
      </p:sp>
      <p:sp>
        <p:nvSpPr>
          <p:cNvPr id="50" name="Text 47"/>
          <p:cNvSpPr/>
          <p:nvPr/>
        </p:nvSpPr>
        <p:spPr>
          <a:xfrm>
            <a:off x="777240" y="4041648"/>
            <a:ext cx="5760720" cy="411480"/>
          </a:xfrm>
          <a:prstGeom prst="rect">
            <a:avLst/>
          </a:prstGeom>
          <a:noFill/>
          <a:ln/>
        </p:spPr>
        <p:txBody>
          <a:bodyPr wrap="square" lIns="0" tIns="0" rIns="0" bIns="0" rtlCol="0" anchor="ctr"/>
          <a:lstStyle/>
          <a:p>
            <a:pPr indent="0" marL="0">
              <a:buNone/>
            </a:pPr>
            <a:r>
              <a:rPr lang="en-US" sz="2200" b="1" dirty="0">
                <a:solidFill>
                  <a:srgbClr val="B85042"/>
                </a:solidFill>
                <a:latin typeface="Cambria" pitchFamily="34" charset="0"/>
                <a:ea typeface="Cambria" pitchFamily="34" charset="-122"/>
                <a:cs typeface="Cambria" pitchFamily="34" charset="-120"/>
              </a:rPr>
              <a:t>O(dᶜ · (n - c) d²)</a:t>
            </a:r>
            <a:endParaRPr lang="en-US" sz="2200" dirty="0"/>
          </a:p>
        </p:txBody>
      </p:sp>
      <p:sp>
        <p:nvSpPr>
          <p:cNvPr id="51" name="Text 48"/>
          <p:cNvSpPr/>
          <p:nvPr/>
        </p:nvSpPr>
        <p:spPr>
          <a:xfrm>
            <a:off x="777240" y="4498848"/>
            <a:ext cx="5760720" cy="365760"/>
          </a:xfrm>
          <a:prstGeom prst="rect">
            <a:avLst/>
          </a:prstGeom>
          <a:noFill/>
          <a:ln/>
        </p:spPr>
        <p:txBody>
          <a:bodyPr wrap="square" lIns="0" tIns="0" rIns="0" bIns="0" rtlCol="0" anchor="t"/>
          <a:lstStyle/>
          <a:p>
            <a:pPr indent="0" marL="0">
              <a:lnSpc>
                <a:spcPct val="112000"/>
              </a:lnSpc>
              <a:buNone/>
            </a:pPr>
            <a:r>
              <a:rPr lang="en-US" sz="1200" dirty="0">
                <a:solidFill>
                  <a:srgbClr val="2B3138"/>
                </a:solidFill>
                <a:latin typeface="Calibri" pitchFamily="34" charset="0"/>
                <a:ea typeface="Calibri" pitchFamily="34" charset="-122"/>
                <a:cs typeface="Calibri" pitchFamily="34" charset="-120"/>
              </a:rPr>
              <a:t>dᶜ combinations for the cutset, each followed by a tree solve of size n - c.</a:t>
            </a:r>
            <a:endParaRPr lang="en-US" sz="1200" dirty="0"/>
          </a:p>
        </p:txBody>
      </p:sp>
      <p:sp>
        <p:nvSpPr>
          <p:cNvPr id="52" name="Shape 49"/>
          <p:cNvSpPr/>
          <p:nvPr/>
        </p:nvSpPr>
        <p:spPr>
          <a:xfrm>
            <a:off x="502920" y="5074920"/>
            <a:ext cx="6309360" cy="868680"/>
          </a:xfrm>
          <a:prstGeom prst="roundRect">
            <a:avLst>
              <a:gd name="adj" fmla="val 6316"/>
            </a:avLst>
          </a:prstGeom>
          <a:solidFill>
            <a:srgbClr val="F1F3F4"/>
          </a:solidFill>
          <a:ln w="9525">
            <a:solidFill>
              <a:srgbClr val="F1F3F4"/>
            </a:solidFill>
            <a:prstDash val="solid"/>
          </a:ln>
        </p:spPr>
      </p:sp>
      <p:sp>
        <p:nvSpPr>
          <p:cNvPr id="53" name="Text 50"/>
          <p:cNvSpPr/>
          <p:nvPr/>
        </p:nvSpPr>
        <p:spPr>
          <a:xfrm>
            <a:off x="777240" y="5230368"/>
            <a:ext cx="5806440" cy="594360"/>
          </a:xfrm>
          <a:prstGeom prst="rect">
            <a:avLst/>
          </a:prstGeom>
          <a:noFill/>
          <a:ln/>
        </p:spPr>
        <p:txBody>
          <a:bodyPr wrap="square" lIns="0" tIns="0" rIns="0" bIns="0" rtlCol="0" anchor="t"/>
          <a:lstStyle/>
          <a:p>
            <a:pPr indent="0" marL="0">
              <a:lnSpc>
                <a:spcPct val="112000"/>
              </a:lnSpc>
              <a:buNone/>
            </a:pPr>
            <a:r>
              <a:rPr lang="en-US" sz="1200" dirty="0">
                <a:solidFill>
                  <a:srgbClr val="2B3138"/>
                </a:solidFill>
                <a:latin typeface="Calibri" pitchFamily="34" charset="0"/>
                <a:ea typeface="Calibri" pitchFamily="34" charset="-122"/>
                <a:cs typeface="Calibri" pitchFamily="34" charset="-120"/>
              </a:rPr>
              <a:t>Finding the smallest cutset is itself NP-hard - but if the graph is nearly a tree, c is small and the saving is enormous. And check whether you need to cut anything at all before assuming you do.</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6.5.2</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Tree decomposition: collapse nodes into mega-variables</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48</a:t>
            </a:r>
            <a:endParaRPr lang="en-US" sz="900" dirty="0"/>
          </a:p>
        </p:txBody>
      </p:sp>
      <p:sp>
        <p:nvSpPr>
          <p:cNvPr id="7" name="Text 4"/>
          <p:cNvSpPr/>
          <p:nvPr/>
        </p:nvSpPr>
        <p:spPr>
          <a:xfrm>
            <a:off x="502920" y="1325880"/>
            <a:ext cx="11155680" cy="411480"/>
          </a:xfrm>
          <a:prstGeom prst="rect">
            <a:avLst/>
          </a:prstGeom>
          <a:noFill/>
          <a:ln/>
        </p:spPr>
        <p:txBody>
          <a:bodyPr wrap="square" lIns="0" tIns="0" rIns="0" bIns="0" rtlCol="0" anchor="t"/>
          <a:lstStyle/>
          <a:p>
            <a:pPr indent="0" marL="0">
              <a:lnSpc>
                <a:spcPct val="112000"/>
              </a:lnSpc>
              <a:buNone/>
            </a:pPr>
            <a:r>
              <a:rPr lang="en-US" sz="1400" b="1" dirty="0">
                <a:solidFill>
                  <a:srgbClr val="22303A"/>
                </a:solidFill>
                <a:latin typeface="Calibri" pitchFamily="34" charset="0"/>
                <a:ea typeface="Calibri" pitchFamily="34" charset="-122"/>
                <a:cs typeface="Calibri" pitchFamily="34" charset="-120"/>
              </a:rPr>
              <a:t>Transform the graph into a tree whose nodes are sets of the original variables. Three conditions must hold:</a:t>
            </a:r>
            <a:endParaRPr lang="en-US" sz="1400" dirty="0"/>
          </a:p>
        </p:txBody>
      </p:sp>
      <p:sp>
        <p:nvSpPr>
          <p:cNvPr id="8" name="Shape 5"/>
          <p:cNvSpPr/>
          <p:nvPr/>
        </p:nvSpPr>
        <p:spPr>
          <a:xfrm>
            <a:off x="502920" y="1874520"/>
            <a:ext cx="3520440" cy="1554480"/>
          </a:xfrm>
          <a:prstGeom prst="roundRect">
            <a:avLst>
              <a:gd name="adj" fmla="val 3529"/>
            </a:avLst>
          </a:prstGeom>
          <a:solidFill>
            <a:srgbClr val="F1F3F4"/>
          </a:solidFill>
          <a:ln w="9525">
            <a:solidFill>
              <a:srgbClr val="F1F3F4"/>
            </a:solidFill>
            <a:prstDash val="solid"/>
          </a:ln>
        </p:spPr>
      </p:sp>
      <p:sp>
        <p:nvSpPr>
          <p:cNvPr id="9" name="Text 6"/>
          <p:cNvSpPr/>
          <p:nvPr/>
        </p:nvSpPr>
        <p:spPr>
          <a:xfrm>
            <a:off x="731520" y="2048256"/>
            <a:ext cx="3063240" cy="301752"/>
          </a:xfrm>
          <a:prstGeom prst="rect">
            <a:avLst/>
          </a:prstGeom>
          <a:noFill/>
          <a:ln/>
        </p:spPr>
        <p:txBody>
          <a:bodyPr wrap="square" lIns="0" tIns="0" rIns="0" bIns="0" rtlCol="0" anchor="ctr"/>
          <a:lstStyle/>
          <a:p>
            <a:pPr indent="0" marL="0">
              <a:buNone/>
            </a:pPr>
            <a:r>
              <a:rPr lang="en-US" sz="1400" b="1" dirty="0">
                <a:solidFill>
                  <a:srgbClr val="50808E"/>
                </a:solidFill>
                <a:latin typeface="Calibri" pitchFamily="34" charset="0"/>
                <a:ea typeface="Calibri" pitchFamily="34" charset="-122"/>
                <a:cs typeface="Calibri" pitchFamily="34" charset="-120"/>
              </a:rPr>
              <a:t>Coverage</a:t>
            </a:r>
            <a:endParaRPr lang="en-US" sz="1400" dirty="0"/>
          </a:p>
        </p:txBody>
      </p:sp>
      <p:sp>
        <p:nvSpPr>
          <p:cNvPr id="10" name="Text 7"/>
          <p:cNvSpPr/>
          <p:nvPr/>
        </p:nvSpPr>
        <p:spPr>
          <a:xfrm>
            <a:off x="731520" y="2423160"/>
            <a:ext cx="3063240" cy="868680"/>
          </a:xfrm>
          <a:prstGeom prst="rect">
            <a:avLst/>
          </a:prstGeom>
          <a:noFill/>
          <a:ln/>
        </p:spPr>
        <p:txBody>
          <a:bodyPr wrap="square" lIns="0" tIns="0" rIns="0" bIns="0" rtlCol="0" anchor="t"/>
          <a:lstStyle/>
          <a:p>
            <a:pPr indent="0" marL="0">
              <a:lnSpc>
                <a:spcPct val="112000"/>
              </a:lnSpc>
              <a:buNone/>
            </a:pPr>
            <a:r>
              <a:rPr lang="en-US" sz="1150" dirty="0">
                <a:solidFill>
                  <a:srgbClr val="2B3138"/>
                </a:solidFill>
                <a:latin typeface="Calibri" pitchFamily="34" charset="0"/>
                <a:ea typeface="Calibri" pitchFamily="34" charset="-122"/>
                <a:cs typeface="Calibri" pitchFamily="34" charset="-120"/>
              </a:rPr>
              <a:t>Every original variable appears in at least one tree node.</a:t>
            </a:r>
            <a:endParaRPr lang="en-US" sz="1150" dirty="0"/>
          </a:p>
        </p:txBody>
      </p:sp>
      <p:sp>
        <p:nvSpPr>
          <p:cNvPr id="11" name="Shape 8"/>
          <p:cNvSpPr/>
          <p:nvPr/>
        </p:nvSpPr>
        <p:spPr>
          <a:xfrm>
            <a:off x="4297680" y="1874520"/>
            <a:ext cx="3520440" cy="1554480"/>
          </a:xfrm>
          <a:prstGeom prst="roundRect">
            <a:avLst>
              <a:gd name="adj" fmla="val 3529"/>
            </a:avLst>
          </a:prstGeom>
          <a:solidFill>
            <a:srgbClr val="F1F3F4"/>
          </a:solidFill>
          <a:ln w="9525">
            <a:solidFill>
              <a:srgbClr val="F1F3F4"/>
            </a:solidFill>
            <a:prstDash val="solid"/>
          </a:ln>
        </p:spPr>
      </p:sp>
      <p:sp>
        <p:nvSpPr>
          <p:cNvPr id="12" name="Text 9"/>
          <p:cNvSpPr/>
          <p:nvPr/>
        </p:nvSpPr>
        <p:spPr>
          <a:xfrm>
            <a:off x="4526280" y="2048256"/>
            <a:ext cx="3063240" cy="301752"/>
          </a:xfrm>
          <a:prstGeom prst="rect">
            <a:avLst/>
          </a:prstGeom>
          <a:noFill/>
          <a:ln/>
        </p:spPr>
        <p:txBody>
          <a:bodyPr wrap="square" lIns="0" tIns="0" rIns="0" bIns="0" rtlCol="0" anchor="ctr"/>
          <a:lstStyle/>
          <a:p>
            <a:pPr indent="0" marL="0">
              <a:buNone/>
            </a:pPr>
            <a:r>
              <a:rPr lang="en-US" sz="1400" b="1" dirty="0">
                <a:solidFill>
                  <a:srgbClr val="50808E"/>
                </a:solidFill>
                <a:latin typeface="Calibri" pitchFamily="34" charset="0"/>
                <a:ea typeface="Calibri" pitchFamily="34" charset="-122"/>
                <a:cs typeface="Calibri" pitchFamily="34" charset="-120"/>
              </a:rPr>
              <a:t>Constraint capture</a:t>
            </a:r>
            <a:endParaRPr lang="en-US" sz="1400" dirty="0"/>
          </a:p>
        </p:txBody>
      </p:sp>
      <p:sp>
        <p:nvSpPr>
          <p:cNvPr id="13" name="Text 10"/>
          <p:cNvSpPr/>
          <p:nvPr/>
        </p:nvSpPr>
        <p:spPr>
          <a:xfrm>
            <a:off x="4526280" y="2423160"/>
            <a:ext cx="3063240" cy="868680"/>
          </a:xfrm>
          <a:prstGeom prst="rect">
            <a:avLst/>
          </a:prstGeom>
          <a:noFill/>
          <a:ln/>
        </p:spPr>
        <p:txBody>
          <a:bodyPr wrap="square" lIns="0" tIns="0" rIns="0" bIns="0" rtlCol="0" anchor="t"/>
          <a:lstStyle/>
          <a:p>
            <a:pPr indent="0" marL="0">
              <a:lnSpc>
                <a:spcPct val="112000"/>
              </a:lnSpc>
              <a:buNone/>
            </a:pPr>
            <a:r>
              <a:rPr lang="en-US" sz="1150" dirty="0">
                <a:solidFill>
                  <a:srgbClr val="2B3138"/>
                </a:solidFill>
                <a:latin typeface="Calibri" pitchFamily="34" charset="0"/>
                <a:ea typeface="Calibri" pitchFamily="34" charset="-122"/>
                <a:cs typeface="Calibri" pitchFamily="34" charset="-120"/>
              </a:rPr>
              <a:t>If two variables share a constraint, they must appear together - along with that constraint - in at least one tree node.</a:t>
            </a:r>
            <a:endParaRPr lang="en-US" sz="1150" dirty="0"/>
          </a:p>
        </p:txBody>
      </p:sp>
      <p:sp>
        <p:nvSpPr>
          <p:cNvPr id="14" name="Shape 11"/>
          <p:cNvSpPr/>
          <p:nvPr/>
        </p:nvSpPr>
        <p:spPr>
          <a:xfrm>
            <a:off x="8092440" y="1874520"/>
            <a:ext cx="3520440" cy="1554480"/>
          </a:xfrm>
          <a:prstGeom prst="roundRect">
            <a:avLst>
              <a:gd name="adj" fmla="val 3529"/>
            </a:avLst>
          </a:prstGeom>
          <a:solidFill>
            <a:srgbClr val="F7EEEA"/>
          </a:solidFill>
          <a:ln w="9525">
            <a:solidFill>
              <a:srgbClr val="F7EEEA"/>
            </a:solidFill>
            <a:prstDash val="solid"/>
          </a:ln>
        </p:spPr>
      </p:sp>
      <p:sp>
        <p:nvSpPr>
          <p:cNvPr id="15" name="Text 12"/>
          <p:cNvSpPr/>
          <p:nvPr/>
        </p:nvSpPr>
        <p:spPr>
          <a:xfrm>
            <a:off x="8321040" y="2048256"/>
            <a:ext cx="3063240" cy="301752"/>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Running intersection</a:t>
            </a:r>
            <a:endParaRPr lang="en-US" sz="1400" dirty="0"/>
          </a:p>
        </p:txBody>
      </p:sp>
      <p:sp>
        <p:nvSpPr>
          <p:cNvPr id="16" name="Text 13"/>
          <p:cNvSpPr/>
          <p:nvPr/>
        </p:nvSpPr>
        <p:spPr>
          <a:xfrm>
            <a:off x="8321040" y="2423160"/>
            <a:ext cx="3063240" cy="868680"/>
          </a:xfrm>
          <a:prstGeom prst="rect">
            <a:avLst/>
          </a:prstGeom>
          <a:noFill/>
          <a:ln/>
        </p:spPr>
        <p:txBody>
          <a:bodyPr wrap="square" lIns="0" tIns="0" rIns="0" bIns="0" rtlCol="0" anchor="t"/>
          <a:lstStyle/>
          <a:p>
            <a:pPr indent="0" marL="0">
              <a:lnSpc>
                <a:spcPct val="112000"/>
              </a:lnSpc>
              <a:buNone/>
            </a:pPr>
            <a:r>
              <a:rPr lang="en-US" sz="1150" dirty="0">
                <a:solidFill>
                  <a:srgbClr val="2B3138"/>
                </a:solidFill>
                <a:latin typeface="Calibri" pitchFamily="34" charset="0"/>
                <a:ea typeface="Calibri" pitchFamily="34" charset="-122"/>
                <a:cs typeface="Calibri" pitchFamily="34" charset="-120"/>
              </a:rPr>
              <a:t>If a variable appears in two nodes, it must appear in every node on the path between them. It cannot disappear and reappear.</a:t>
            </a:r>
            <a:endParaRPr lang="en-US" sz="1150" dirty="0"/>
          </a:p>
        </p:txBody>
      </p:sp>
      <p:sp>
        <p:nvSpPr>
          <p:cNvPr id="17" name="Shape 14"/>
          <p:cNvSpPr/>
          <p:nvPr/>
        </p:nvSpPr>
        <p:spPr>
          <a:xfrm>
            <a:off x="502920" y="3657600"/>
            <a:ext cx="6766560" cy="2194560"/>
          </a:xfrm>
          <a:prstGeom prst="roundRect">
            <a:avLst>
              <a:gd name="adj" fmla="val 2500"/>
            </a:avLst>
          </a:prstGeom>
          <a:solidFill>
            <a:srgbClr val="F1F3F4"/>
          </a:solidFill>
          <a:ln w="9525">
            <a:solidFill>
              <a:srgbClr val="F1F3F4"/>
            </a:solidFill>
            <a:prstDash val="solid"/>
          </a:ln>
        </p:spPr>
      </p:sp>
      <p:sp>
        <p:nvSpPr>
          <p:cNvPr id="18" name="Text 15"/>
          <p:cNvSpPr/>
          <p:nvPr/>
        </p:nvSpPr>
        <p:spPr>
          <a:xfrm>
            <a:off x="777240" y="3840480"/>
            <a:ext cx="6217920" cy="301752"/>
          </a:xfrm>
          <a:prstGeom prst="rect">
            <a:avLst/>
          </a:prstGeom>
          <a:noFill/>
          <a:ln/>
        </p:spPr>
        <p:txBody>
          <a:bodyPr wrap="square" lIns="0" tIns="0" rIns="0" bIns="0" rtlCol="0" anchor="ctr"/>
          <a:lstStyle/>
          <a:p>
            <a:pPr indent="0" marL="0">
              <a:buNone/>
            </a:pPr>
            <a:r>
              <a:rPr lang="en-US" sz="1500" b="1" dirty="0">
                <a:solidFill>
                  <a:srgbClr val="22303A"/>
                </a:solidFill>
                <a:latin typeface="Calibri" pitchFamily="34" charset="0"/>
                <a:ea typeface="Calibri" pitchFamily="34" charset="-122"/>
                <a:cs typeface="Calibri" pitchFamily="34" charset="-120"/>
              </a:rPr>
              <a:t>The mega-variable, concretely</a:t>
            </a:r>
            <a:endParaRPr lang="en-US" sz="1500" dirty="0"/>
          </a:p>
        </p:txBody>
      </p:sp>
      <p:sp>
        <p:nvSpPr>
          <p:cNvPr id="19" name="Text 16"/>
          <p:cNvSpPr/>
          <p:nvPr/>
        </p:nvSpPr>
        <p:spPr>
          <a:xfrm>
            <a:off x="777240" y="4233672"/>
            <a:ext cx="6217920" cy="146304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The node {WA, NT, SA} becomes a single variable, call it SANTWA, whose values are three-tuples of colours. (red, green, blue) is legal; (red, red, blue) is not, because it violates SA ≠ NT. The neighbouring node SANTQ must then agree with it on every variable they share - so the tree edges carry equality constraints.</a:t>
            </a:r>
            <a:endParaRPr lang="en-US" sz="1250" dirty="0"/>
          </a:p>
        </p:txBody>
      </p:sp>
      <p:sp>
        <p:nvSpPr>
          <p:cNvPr id="20" name="Shape 17"/>
          <p:cNvSpPr/>
          <p:nvPr/>
        </p:nvSpPr>
        <p:spPr>
          <a:xfrm>
            <a:off x="7589520" y="3657600"/>
            <a:ext cx="4069080" cy="2194560"/>
          </a:xfrm>
          <a:prstGeom prst="roundRect">
            <a:avLst>
              <a:gd name="adj" fmla="val 2500"/>
            </a:avLst>
          </a:prstGeom>
          <a:solidFill>
            <a:srgbClr val="F7EEEA"/>
          </a:solidFill>
          <a:ln w="9525">
            <a:solidFill>
              <a:srgbClr val="F7EEEA"/>
            </a:solidFill>
            <a:prstDash val="solid"/>
          </a:ln>
        </p:spPr>
      </p:sp>
      <p:sp>
        <p:nvSpPr>
          <p:cNvPr id="21" name="Text 18"/>
          <p:cNvSpPr/>
          <p:nvPr/>
        </p:nvSpPr>
        <p:spPr>
          <a:xfrm>
            <a:off x="7863840" y="3840480"/>
            <a:ext cx="3566160" cy="301752"/>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The catch is the domain size</a:t>
            </a:r>
            <a:endParaRPr lang="en-US" sz="1500" dirty="0"/>
          </a:p>
        </p:txBody>
      </p:sp>
      <p:sp>
        <p:nvSpPr>
          <p:cNvPr id="22" name="Text 19"/>
          <p:cNvSpPr/>
          <p:nvPr/>
        </p:nvSpPr>
        <p:spPr>
          <a:xfrm>
            <a:off x="7863840" y="4233672"/>
            <a:ext cx="3566160" cy="146304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Solve it with TREE-CSP-SOLVER in O(n d²) - but d is now the number of tuples in the largest node. With 100 Boolean variables and 10 per node, d = 2¹⁰ and it runs in seconds. One node with 30 variables and it takes centuries.</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6.5.2</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Tree width, and which reduction to prefer</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49</a:t>
            </a:r>
            <a:endParaRPr lang="en-US" sz="900" dirty="0"/>
          </a:p>
        </p:txBody>
      </p:sp>
      <p:sp>
        <p:nvSpPr>
          <p:cNvPr id="7" name="Shape 4"/>
          <p:cNvSpPr/>
          <p:nvPr/>
        </p:nvSpPr>
        <p:spPr>
          <a:xfrm>
            <a:off x="502920" y="1371600"/>
            <a:ext cx="11155680" cy="1051560"/>
          </a:xfrm>
          <a:prstGeom prst="roundRect">
            <a:avLst>
              <a:gd name="adj" fmla="val 5217"/>
            </a:avLst>
          </a:prstGeom>
          <a:solidFill>
            <a:srgbClr val="F1F3F4"/>
          </a:solidFill>
          <a:ln w="9525">
            <a:solidFill>
              <a:srgbClr val="F1F3F4"/>
            </a:solidFill>
            <a:prstDash val="solid"/>
          </a:ln>
        </p:spPr>
      </p:sp>
      <p:sp>
        <p:nvSpPr>
          <p:cNvPr id="8" name="Text 5"/>
          <p:cNvSpPr/>
          <p:nvPr/>
        </p:nvSpPr>
        <p:spPr>
          <a:xfrm>
            <a:off x="822960" y="1572768"/>
            <a:ext cx="10515600" cy="685800"/>
          </a:xfrm>
          <a:prstGeom prst="rect">
            <a:avLst/>
          </a:prstGeom>
          <a:noFill/>
          <a:ln/>
        </p:spPr>
        <p:txBody>
          <a:bodyPr wrap="square" lIns="0" tIns="0" rIns="0" bIns="0" rtlCol="0" anchor="t"/>
          <a:lstStyle/>
          <a:p>
            <a:pPr indent="0" marL="0">
              <a:lnSpc>
                <a:spcPct val="112000"/>
              </a:lnSpc>
              <a:buNone/>
            </a:pPr>
            <a:r>
              <a:rPr lang="en-US" sz="1400" b="1" dirty="0">
                <a:solidFill>
                  <a:srgbClr val="22303A"/>
                </a:solidFill>
                <a:latin typeface="Calibri" pitchFamily="34" charset="0"/>
                <a:ea typeface="Calibri" pitchFamily="34" charset="-122"/>
                <a:cs typeface="Calibri" pitchFamily="34" charset="-120"/>
              </a:rPr>
              <a:t>The tree width of a decomposition is one less than the size of its largest node; the tree width of a graph is the minimum over all its decompositions. A CSP with bounded tree width is solvable in O(n dʷ⁺¹) time - that is, in polynomial time.</a:t>
            </a:r>
            <a:endParaRPr lang="en-US" sz="1400" dirty="0"/>
          </a:p>
        </p:txBody>
      </p:sp>
      <p:sp>
        <p:nvSpPr>
          <p:cNvPr id="9" name="Shape 6"/>
          <p:cNvSpPr/>
          <p:nvPr/>
        </p:nvSpPr>
        <p:spPr>
          <a:xfrm>
            <a:off x="502920" y="2651760"/>
            <a:ext cx="5440680" cy="2286000"/>
          </a:xfrm>
          <a:prstGeom prst="roundRect">
            <a:avLst>
              <a:gd name="adj" fmla="val 2400"/>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10" name="Text 7"/>
          <p:cNvSpPr/>
          <p:nvPr/>
        </p:nvSpPr>
        <p:spPr>
          <a:xfrm>
            <a:off x="777240" y="2834640"/>
            <a:ext cx="4937760" cy="301752"/>
          </a:xfrm>
          <a:prstGeom prst="rect">
            <a:avLst/>
          </a:prstGeom>
          <a:noFill/>
          <a:ln/>
        </p:spPr>
        <p:txBody>
          <a:bodyPr wrap="square" lIns="0" tIns="0" rIns="0" bIns="0" rtlCol="0" anchor="ctr"/>
          <a:lstStyle/>
          <a:p>
            <a:pPr indent="0" marL="0">
              <a:buNone/>
            </a:pPr>
            <a:r>
              <a:rPr lang="en-US" sz="1600" b="1" dirty="0">
                <a:solidFill>
                  <a:srgbClr val="50808E"/>
                </a:solidFill>
                <a:latin typeface="Calibri" pitchFamily="34" charset="0"/>
                <a:ea typeface="Calibri" pitchFamily="34" charset="-122"/>
                <a:cs typeface="Calibri" pitchFamily="34" charset="-120"/>
              </a:rPr>
              <a:t>Cutset conditioning</a:t>
            </a:r>
            <a:endParaRPr lang="en-US" sz="1600" dirty="0"/>
          </a:p>
        </p:txBody>
      </p:sp>
      <p:sp>
        <p:nvSpPr>
          <p:cNvPr id="11" name="Text 8"/>
          <p:cNvSpPr/>
          <p:nvPr/>
        </p:nvSpPr>
        <p:spPr>
          <a:xfrm>
            <a:off x="777240" y="3218688"/>
            <a:ext cx="4937760" cy="384048"/>
          </a:xfrm>
          <a:prstGeom prst="rect">
            <a:avLst/>
          </a:prstGeom>
          <a:noFill/>
          <a:ln/>
        </p:spPr>
        <p:txBody>
          <a:bodyPr wrap="square" lIns="0" tIns="0" rIns="0" bIns="0" rtlCol="0" anchor="ctr"/>
          <a:lstStyle/>
          <a:p>
            <a:pPr indent="0" marL="0">
              <a:buNone/>
            </a:pPr>
            <a:r>
              <a:rPr lang="en-US" sz="1900" b="1" dirty="0">
                <a:solidFill>
                  <a:srgbClr val="50808E"/>
                </a:solidFill>
                <a:latin typeface="Cambria" pitchFamily="34" charset="0"/>
                <a:ea typeface="Cambria" pitchFamily="34" charset="-122"/>
                <a:cs typeface="Cambria" pitchFamily="34" charset="-120"/>
              </a:rPr>
              <a:t>O(dᶜ · (n - c) d²)</a:t>
            </a:r>
            <a:endParaRPr lang="en-US" sz="1900" dirty="0"/>
          </a:p>
        </p:txBody>
      </p:sp>
      <p:sp>
        <p:nvSpPr>
          <p:cNvPr id="12" name="Text 9"/>
          <p:cNvSpPr/>
          <p:nvPr/>
        </p:nvSpPr>
        <p:spPr>
          <a:xfrm>
            <a:off x="777240" y="3703320"/>
            <a:ext cx="4937760" cy="109728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50" dirty="0">
                <a:solidFill>
                  <a:srgbClr val="2B3138"/>
                </a:solidFill>
                <a:latin typeface="Calibri" pitchFamily="34" charset="0"/>
                <a:ea typeface="Calibri" pitchFamily="34" charset="-122"/>
                <a:cs typeface="Calibri" pitchFamily="34" charset="-120"/>
              </a:rPr>
              <a:t>Needs only O(n) memory</a:t>
            </a:r>
            <a:endParaRPr lang="en-US" sz="1250" dirty="0"/>
          </a:p>
          <a:p>
            <a:pPr marL="342900" indent="-342900">
              <a:lnSpc>
                <a:spcPct val="106000"/>
              </a:lnSpc>
              <a:spcAft>
                <a:spcPts val="700"/>
              </a:spcAft>
              <a:buSzPct val="100000"/>
              <a:buChar char="•"/>
            </a:pPr>
            <a:r>
              <a:rPr lang="en-US" sz="1250" dirty="0">
                <a:solidFill>
                  <a:srgbClr val="2B3138"/>
                </a:solidFill>
                <a:latin typeface="Calibri" pitchFamily="34" charset="0"/>
                <a:ea typeface="Calibri" pitchFamily="34" charset="-122"/>
                <a:cs typeface="Calibri" pitchFamily="34" charset="-120"/>
              </a:rPr>
              <a:t>Easy to implement on top of an existing solver</a:t>
            </a:r>
            <a:endParaRPr lang="en-US" sz="1250" dirty="0"/>
          </a:p>
        </p:txBody>
      </p:sp>
      <p:sp>
        <p:nvSpPr>
          <p:cNvPr id="13" name="Shape 10"/>
          <p:cNvSpPr/>
          <p:nvPr/>
        </p:nvSpPr>
        <p:spPr>
          <a:xfrm>
            <a:off x="6217920" y="2651760"/>
            <a:ext cx="5440680" cy="2286000"/>
          </a:xfrm>
          <a:prstGeom prst="roundRect">
            <a:avLst>
              <a:gd name="adj" fmla="val 2400"/>
            </a:avLst>
          </a:prstGeom>
          <a:solidFill>
            <a:srgbClr val="F7EEEA"/>
          </a:solidFill>
          <a:ln w="9525">
            <a:solidFill>
              <a:srgbClr val="F7EEEA"/>
            </a:solidFill>
            <a:prstDash val="solid"/>
          </a:ln>
          <a:effectLst>
            <a:outerShdw sx="100000" sy="100000" kx="0" ky="0" algn="bl" rotWithShape="0" blurRad="101600" dist="19050" dir="5400000">
              <a:srgbClr val="9AA6AD">
                <a:alpha val="28000"/>
              </a:srgbClr>
            </a:outerShdw>
          </a:effectLst>
        </p:spPr>
      </p:sp>
      <p:sp>
        <p:nvSpPr>
          <p:cNvPr id="14" name="Text 11"/>
          <p:cNvSpPr/>
          <p:nvPr/>
        </p:nvSpPr>
        <p:spPr>
          <a:xfrm>
            <a:off x="6492240" y="2834640"/>
            <a:ext cx="4937760" cy="301752"/>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Tree decomposition</a:t>
            </a:r>
            <a:endParaRPr lang="en-US" sz="1600" dirty="0"/>
          </a:p>
        </p:txBody>
      </p:sp>
      <p:sp>
        <p:nvSpPr>
          <p:cNvPr id="15" name="Text 12"/>
          <p:cNvSpPr/>
          <p:nvPr/>
        </p:nvSpPr>
        <p:spPr>
          <a:xfrm>
            <a:off x="6492240" y="3218688"/>
            <a:ext cx="4937760" cy="384048"/>
          </a:xfrm>
          <a:prstGeom prst="rect">
            <a:avLst/>
          </a:prstGeom>
          <a:noFill/>
          <a:ln/>
        </p:spPr>
        <p:txBody>
          <a:bodyPr wrap="square" lIns="0" tIns="0" rIns="0" bIns="0" rtlCol="0" anchor="ctr"/>
          <a:lstStyle/>
          <a:p>
            <a:pPr indent="0" marL="0">
              <a:buNone/>
            </a:pPr>
            <a:r>
              <a:rPr lang="en-US" sz="1900" b="1" dirty="0">
                <a:solidFill>
                  <a:srgbClr val="B85042"/>
                </a:solidFill>
                <a:latin typeface="Cambria" pitchFamily="34" charset="0"/>
                <a:ea typeface="Cambria" pitchFamily="34" charset="-122"/>
                <a:cs typeface="Cambria" pitchFamily="34" charset="-120"/>
              </a:rPr>
              <a:t>O(n dʷ⁺¹)</a:t>
            </a:r>
            <a:endParaRPr lang="en-US" sz="1900" dirty="0"/>
          </a:p>
        </p:txBody>
      </p:sp>
      <p:sp>
        <p:nvSpPr>
          <p:cNvPr id="16" name="Text 13"/>
          <p:cNvSpPr/>
          <p:nvPr/>
        </p:nvSpPr>
        <p:spPr>
          <a:xfrm>
            <a:off x="6492240" y="3703320"/>
            <a:ext cx="4937760" cy="109728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50" dirty="0">
                <a:solidFill>
                  <a:srgbClr val="2B3138"/>
                </a:solidFill>
                <a:latin typeface="Calibri" pitchFamily="34" charset="0"/>
                <a:ea typeface="Calibri" pitchFamily="34" charset="-122"/>
                <a:cs typeface="Calibri" pitchFamily="34" charset="-120"/>
              </a:rPr>
              <a:t>Usually the better time bound</a:t>
            </a:r>
            <a:endParaRPr lang="en-US" sz="1250" dirty="0"/>
          </a:p>
          <a:p>
            <a:pPr marL="342900" indent="-342900">
              <a:lnSpc>
                <a:spcPct val="106000"/>
              </a:lnSpc>
              <a:spcAft>
                <a:spcPts val="700"/>
              </a:spcAft>
              <a:buSzPct val="100000"/>
              <a:buChar char="•"/>
            </a:pPr>
            <a:r>
              <a:rPr lang="en-US" sz="1250" dirty="0">
                <a:solidFill>
                  <a:srgbClr val="2B3138"/>
                </a:solidFill>
                <a:latin typeface="Calibri" pitchFamily="34" charset="0"/>
                <a:ea typeface="Calibri" pitchFamily="34" charset="-122"/>
                <a:cs typeface="Calibri" pitchFamily="34" charset="-120"/>
              </a:rPr>
              <a:t>Must store the tuple domains, so memory can be large</a:t>
            </a:r>
            <a:endParaRPr lang="en-US" sz="1250" dirty="0"/>
          </a:p>
        </p:txBody>
      </p:sp>
      <p:sp>
        <p:nvSpPr>
          <p:cNvPr id="17" name="Shape 14"/>
          <p:cNvSpPr/>
          <p:nvPr/>
        </p:nvSpPr>
        <p:spPr>
          <a:xfrm>
            <a:off x="502920" y="5120640"/>
            <a:ext cx="11155680" cy="822960"/>
          </a:xfrm>
          <a:prstGeom prst="roundRect">
            <a:avLst>
              <a:gd name="adj" fmla="val 6667"/>
            </a:avLst>
          </a:prstGeom>
          <a:solidFill>
            <a:srgbClr val="F7EEEA"/>
          </a:solidFill>
          <a:ln w="9525">
            <a:solidFill>
              <a:srgbClr val="F7EEEA"/>
            </a:solidFill>
            <a:prstDash val="solid"/>
          </a:ln>
        </p:spPr>
      </p:sp>
      <p:sp>
        <p:nvSpPr>
          <p:cNvPr id="18" name="Text 15"/>
          <p:cNvSpPr/>
          <p:nvPr/>
        </p:nvSpPr>
        <p:spPr>
          <a:xfrm>
            <a:off x="731520" y="5138928"/>
            <a:ext cx="10698480" cy="786384"/>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Whenever a cycle cutset of size c exists, there is also a tree width w &lt; c + 1, sometimes far smaller. Time favours decomposition; memory favours the cutset. Finding the minimal-width decomposition is NP-hard, but good heuristics exist.</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6.5.3</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Value symmetry: stop solving the same problem six times</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50</a:t>
            </a:r>
            <a:endParaRPr lang="en-US" sz="900" dirty="0"/>
          </a:p>
        </p:txBody>
      </p:sp>
      <p:sp>
        <p:nvSpPr>
          <p:cNvPr id="7" name="Text 4"/>
          <p:cNvSpPr/>
          <p:nvPr/>
        </p:nvSpPr>
        <p:spPr>
          <a:xfrm>
            <a:off x="502920" y="1371600"/>
            <a:ext cx="6400800" cy="214884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Take the Australia map with three colours. Every solution has 3! = 6 relabellings that are also solutions</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The solver may explore all six, learning nothing new after the first</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Add a symmetry-breaking constraint - for example NT &lt; SA &lt; WA, requiring the three values in alphabetical order</a:t>
            </a:r>
            <a:endParaRPr lang="en-US" sz="1400" dirty="0"/>
          </a:p>
          <a:p>
            <a:pPr marL="342900" indent="-342900">
              <a:lnSpc>
                <a:spcPct val="106000"/>
              </a:lnSpc>
              <a:spcAft>
                <a:spcPts val="700"/>
              </a:spcAft>
              <a:buSzPct val="100000"/>
              <a:buChar char="•"/>
            </a:pPr>
            <a:r>
              <a:rPr lang="en-US" sz="1400" dirty="0">
                <a:solidFill>
                  <a:srgbClr val="2B3138"/>
                </a:solidFill>
                <a:latin typeface="Calibri" pitchFamily="34" charset="0"/>
                <a:ea typeface="Calibri" pitchFamily="34" charset="-122"/>
                <a:cs typeface="Calibri" pitchFamily="34" charset="-120"/>
              </a:rPr>
              <a:t>That admits exactly one of the six: NT = blue, SA = green, WA = red</a:t>
            </a:r>
            <a:endParaRPr lang="en-US" sz="1400" dirty="0"/>
          </a:p>
        </p:txBody>
      </p:sp>
      <p:sp>
        <p:nvSpPr>
          <p:cNvPr id="8" name="Shape 5"/>
          <p:cNvSpPr/>
          <p:nvPr/>
        </p:nvSpPr>
        <p:spPr>
          <a:xfrm>
            <a:off x="502920" y="3749040"/>
            <a:ext cx="6400800" cy="2103120"/>
          </a:xfrm>
          <a:prstGeom prst="roundRect">
            <a:avLst>
              <a:gd name="adj" fmla="val 2609"/>
            </a:avLst>
          </a:prstGeom>
          <a:solidFill>
            <a:srgbClr val="F7EEEA"/>
          </a:solidFill>
          <a:ln w="9525">
            <a:solidFill>
              <a:srgbClr val="F7EEEA"/>
            </a:solidFill>
            <a:prstDash val="solid"/>
          </a:ln>
        </p:spPr>
      </p:sp>
      <p:sp>
        <p:nvSpPr>
          <p:cNvPr id="9" name="Text 6"/>
          <p:cNvSpPr/>
          <p:nvPr/>
        </p:nvSpPr>
        <p:spPr>
          <a:xfrm>
            <a:off x="777240" y="3931920"/>
            <a:ext cx="5852160" cy="301752"/>
          </a:xfrm>
          <a:prstGeom prst="rect">
            <a:avLst/>
          </a:prstGeom>
          <a:noFill/>
          <a:ln/>
        </p:spPr>
        <p:txBody>
          <a:bodyPr wrap="square" lIns="0" tIns="0" rIns="0" bIns="0" rtlCol="0" anchor="ctr"/>
          <a:lstStyle/>
          <a:p>
            <a:pPr indent="0" marL="0">
              <a:buNone/>
            </a:pPr>
            <a:r>
              <a:rPr lang="en-US" sz="1500" b="1" dirty="0">
                <a:solidFill>
                  <a:srgbClr val="B85042"/>
                </a:solidFill>
                <a:latin typeface="Calibri" pitchFamily="34" charset="0"/>
                <a:ea typeface="Calibri" pitchFamily="34" charset="-122"/>
                <a:cs typeface="Calibri" pitchFamily="34" charset="-120"/>
              </a:rPr>
              <a:t>The general picture</a:t>
            </a:r>
            <a:endParaRPr lang="en-US" sz="1500" dirty="0"/>
          </a:p>
        </p:txBody>
      </p:sp>
      <p:sp>
        <p:nvSpPr>
          <p:cNvPr id="10" name="Text 7"/>
          <p:cNvSpPr/>
          <p:nvPr/>
        </p:nvSpPr>
        <p:spPr>
          <a:xfrm>
            <a:off x="777240" y="4343400"/>
            <a:ext cx="5852160" cy="1325880"/>
          </a:xfrm>
          <a:prstGeom prst="rect">
            <a:avLst/>
          </a:prstGeom>
          <a:noFill/>
          <a:ln/>
        </p:spPr>
        <p:txBody>
          <a:bodyPr wrap="square" lIns="0" tIns="0" rIns="0" bIns="0" rtlCol="0" anchor="t"/>
          <a:lstStyle/>
          <a:p>
            <a:pPr indent="0" marL="0">
              <a:lnSpc>
                <a:spcPct val="112000"/>
              </a:lnSpc>
              <a:buNone/>
            </a:pPr>
            <a:r>
              <a:rPr lang="en-US" sz="1250" dirty="0">
                <a:solidFill>
                  <a:srgbClr val="2B3138"/>
                </a:solidFill>
                <a:latin typeface="Calibri" pitchFamily="34" charset="0"/>
                <a:ea typeface="Calibri" pitchFamily="34" charset="-122"/>
                <a:cs typeface="Calibri" pitchFamily="34" charset="-120"/>
              </a:rPr>
              <a:t>The search space shrinks by a factor of d!. For map colouring the breaking constraint was easy to find; in general, eliminating all symmetry is NP-hard. But breaking value symmetry has proved important and effective across a wide range of problems.</a:t>
            </a:r>
            <a:endParaRPr lang="en-US" sz="1250" dirty="0"/>
          </a:p>
        </p:txBody>
      </p:sp>
      <p:sp>
        <p:nvSpPr>
          <p:cNvPr id="11" name="Shape 8"/>
          <p:cNvSpPr/>
          <p:nvPr/>
        </p:nvSpPr>
        <p:spPr>
          <a:xfrm flipV="1">
            <a:off x="8037576" y="2036369"/>
            <a:ext cx="927202" cy="609905"/>
          </a:xfrm>
          <a:prstGeom prst="line">
            <a:avLst/>
          </a:prstGeom>
          <a:noFill/>
          <a:ln w="17780">
            <a:solidFill>
              <a:srgbClr val="AEB9BF"/>
            </a:solidFill>
            <a:prstDash val="solid"/>
          </a:ln>
        </p:spPr>
      </p:sp>
      <p:sp>
        <p:nvSpPr>
          <p:cNvPr id="12" name="Shape 9"/>
          <p:cNvSpPr/>
          <p:nvPr/>
        </p:nvSpPr>
        <p:spPr>
          <a:xfrm>
            <a:off x="8037576" y="2646274"/>
            <a:ext cx="1069848" cy="503834"/>
          </a:xfrm>
          <a:prstGeom prst="line">
            <a:avLst/>
          </a:prstGeom>
          <a:noFill/>
          <a:ln w="17780">
            <a:solidFill>
              <a:srgbClr val="AEB9BF"/>
            </a:solidFill>
            <a:prstDash val="solid"/>
          </a:ln>
        </p:spPr>
      </p:sp>
      <p:sp>
        <p:nvSpPr>
          <p:cNvPr id="13" name="Shape 10"/>
          <p:cNvSpPr/>
          <p:nvPr/>
        </p:nvSpPr>
        <p:spPr>
          <a:xfrm>
            <a:off x="8964778" y="2036369"/>
            <a:ext cx="142646" cy="1113739"/>
          </a:xfrm>
          <a:prstGeom prst="line">
            <a:avLst/>
          </a:prstGeom>
          <a:noFill/>
          <a:ln w="17780">
            <a:solidFill>
              <a:srgbClr val="AEB9BF"/>
            </a:solidFill>
            <a:prstDash val="solid"/>
          </a:ln>
        </p:spPr>
      </p:sp>
      <p:sp>
        <p:nvSpPr>
          <p:cNvPr id="14" name="Shape 11"/>
          <p:cNvSpPr/>
          <p:nvPr/>
        </p:nvSpPr>
        <p:spPr>
          <a:xfrm>
            <a:off x="8964778" y="2036369"/>
            <a:ext cx="1212494" cy="106070"/>
          </a:xfrm>
          <a:prstGeom prst="line">
            <a:avLst/>
          </a:prstGeom>
          <a:noFill/>
          <a:ln w="17780">
            <a:solidFill>
              <a:srgbClr val="AEB9BF"/>
            </a:solidFill>
            <a:prstDash val="solid"/>
          </a:ln>
        </p:spPr>
      </p:sp>
      <p:sp>
        <p:nvSpPr>
          <p:cNvPr id="15" name="Shape 12"/>
          <p:cNvSpPr/>
          <p:nvPr/>
        </p:nvSpPr>
        <p:spPr>
          <a:xfrm flipV="1">
            <a:off x="9107424" y="2142439"/>
            <a:ext cx="1069848" cy="1007669"/>
          </a:xfrm>
          <a:prstGeom prst="line">
            <a:avLst/>
          </a:prstGeom>
          <a:noFill/>
          <a:ln w="17780">
            <a:solidFill>
              <a:srgbClr val="AEB9BF"/>
            </a:solidFill>
            <a:prstDash val="solid"/>
          </a:ln>
        </p:spPr>
      </p:sp>
      <p:sp>
        <p:nvSpPr>
          <p:cNvPr id="16" name="Shape 13"/>
          <p:cNvSpPr/>
          <p:nvPr/>
        </p:nvSpPr>
        <p:spPr>
          <a:xfrm>
            <a:off x="9107424" y="3150108"/>
            <a:ext cx="1212494" cy="0"/>
          </a:xfrm>
          <a:prstGeom prst="line">
            <a:avLst/>
          </a:prstGeom>
          <a:noFill/>
          <a:ln w="17780">
            <a:solidFill>
              <a:srgbClr val="AEB9BF"/>
            </a:solidFill>
            <a:prstDash val="solid"/>
          </a:ln>
        </p:spPr>
      </p:sp>
      <p:sp>
        <p:nvSpPr>
          <p:cNvPr id="17" name="Shape 14"/>
          <p:cNvSpPr/>
          <p:nvPr/>
        </p:nvSpPr>
        <p:spPr>
          <a:xfrm>
            <a:off x="9107424" y="3150108"/>
            <a:ext cx="713232" cy="742493"/>
          </a:xfrm>
          <a:prstGeom prst="line">
            <a:avLst/>
          </a:prstGeom>
          <a:noFill/>
          <a:ln w="17780">
            <a:solidFill>
              <a:srgbClr val="AEB9BF"/>
            </a:solidFill>
            <a:prstDash val="solid"/>
          </a:ln>
        </p:spPr>
      </p:sp>
      <p:sp>
        <p:nvSpPr>
          <p:cNvPr id="18" name="Shape 15"/>
          <p:cNvSpPr/>
          <p:nvPr/>
        </p:nvSpPr>
        <p:spPr>
          <a:xfrm>
            <a:off x="10177272" y="2142439"/>
            <a:ext cx="142646" cy="1007669"/>
          </a:xfrm>
          <a:prstGeom prst="line">
            <a:avLst/>
          </a:prstGeom>
          <a:noFill/>
          <a:ln w="17780">
            <a:solidFill>
              <a:srgbClr val="AEB9BF"/>
            </a:solidFill>
            <a:prstDash val="solid"/>
          </a:ln>
        </p:spPr>
      </p:sp>
      <p:sp>
        <p:nvSpPr>
          <p:cNvPr id="19" name="Shape 16"/>
          <p:cNvSpPr/>
          <p:nvPr/>
        </p:nvSpPr>
        <p:spPr>
          <a:xfrm flipH="1">
            <a:off x="9820656" y="3150108"/>
            <a:ext cx="499262" cy="742493"/>
          </a:xfrm>
          <a:prstGeom prst="line">
            <a:avLst/>
          </a:prstGeom>
          <a:noFill/>
          <a:ln w="17780">
            <a:solidFill>
              <a:srgbClr val="AEB9BF"/>
            </a:solidFill>
            <a:prstDash val="solid"/>
          </a:ln>
        </p:spPr>
      </p:sp>
      <p:sp>
        <p:nvSpPr>
          <p:cNvPr id="20" name="Shape 17"/>
          <p:cNvSpPr/>
          <p:nvPr/>
        </p:nvSpPr>
        <p:spPr>
          <a:xfrm>
            <a:off x="7886700" y="2495398"/>
            <a:ext cx="301752" cy="301752"/>
          </a:xfrm>
          <a:prstGeom prst="ellipse">
            <a:avLst/>
          </a:prstGeom>
          <a:solidFill>
            <a:srgbClr val="B85042"/>
          </a:solidFill>
          <a:ln w="12700">
            <a:solidFill>
              <a:srgbClr val="B85042"/>
            </a:solidFill>
            <a:prstDash val="solid"/>
          </a:ln>
        </p:spPr>
      </p:sp>
      <p:sp>
        <p:nvSpPr>
          <p:cNvPr id="21" name="Text 18"/>
          <p:cNvSpPr/>
          <p:nvPr/>
        </p:nvSpPr>
        <p:spPr>
          <a:xfrm>
            <a:off x="7653528" y="2499970"/>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WA</a:t>
            </a:r>
            <a:endParaRPr lang="en-US" sz="1050" dirty="0"/>
          </a:p>
        </p:txBody>
      </p:sp>
      <p:sp>
        <p:nvSpPr>
          <p:cNvPr id="22" name="Shape 19"/>
          <p:cNvSpPr/>
          <p:nvPr/>
        </p:nvSpPr>
        <p:spPr>
          <a:xfrm>
            <a:off x="8813902" y="1885493"/>
            <a:ext cx="301752" cy="301752"/>
          </a:xfrm>
          <a:prstGeom prst="ellipse">
            <a:avLst/>
          </a:prstGeom>
          <a:solidFill>
            <a:srgbClr val="50808E"/>
          </a:solidFill>
          <a:ln w="12700">
            <a:solidFill>
              <a:srgbClr val="50808E"/>
            </a:solidFill>
            <a:prstDash val="solid"/>
          </a:ln>
        </p:spPr>
      </p:sp>
      <p:sp>
        <p:nvSpPr>
          <p:cNvPr id="23" name="Text 20"/>
          <p:cNvSpPr/>
          <p:nvPr/>
        </p:nvSpPr>
        <p:spPr>
          <a:xfrm>
            <a:off x="8580730" y="1890065"/>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NT</a:t>
            </a:r>
            <a:endParaRPr lang="en-US" sz="1050" dirty="0"/>
          </a:p>
        </p:txBody>
      </p:sp>
      <p:sp>
        <p:nvSpPr>
          <p:cNvPr id="24" name="Shape 21"/>
          <p:cNvSpPr/>
          <p:nvPr/>
        </p:nvSpPr>
        <p:spPr>
          <a:xfrm>
            <a:off x="10026396" y="1991563"/>
            <a:ext cx="301752" cy="301752"/>
          </a:xfrm>
          <a:prstGeom prst="ellipse">
            <a:avLst/>
          </a:prstGeom>
          <a:solidFill>
            <a:srgbClr val="E4E9EB"/>
          </a:solidFill>
          <a:ln w="12700">
            <a:solidFill>
              <a:srgbClr val="9FAAB1"/>
            </a:solidFill>
            <a:prstDash val="solid"/>
          </a:ln>
        </p:spPr>
      </p:sp>
      <p:sp>
        <p:nvSpPr>
          <p:cNvPr id="25" name="Text 22"/>
          <p:cNvSpPr/>
          <p:nvPr/>
        </p:nvSpPr>
        <p:spPr>
          <a:xfrm>
            <a:off x="9793224" y="1996135"/>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Q</a:t>
            </a:r>
            <a:endParaRPr lang="en-US" sz="1050" dirty="0"/>
          </a:p>
        </p:txBody>
      </p:sp>
      <p:sp>
        <p:nvSpPr>
          <p:cNvPr id="26" name="Shape 23"/>
          <p:cNvSpPr/>
          <p:nvPr/>
        </p:nvSpPr>
        <p:spPr>
          <a:xfrm>
            <a:off x="8956548" y="2999232"/>
            <a:ext cx="301752" cy="301752"/>
          </a:xfrm>
          <a:prstGeom prst="ellipse">
            <a:avLst/>
          </a:prstGeom>
          <a:solidFill>
            <a:srgbClr val="6E8B5A"/>
          </a:solidFill>
          <a:ln w="12700">
            <a:solidFill>
              <a:srgbClr val="6E8B5A"/>
            </a:solidFill>
            <a:prstDash val="solid"/>
          </a:ln>
        </p:spPr>
      </p:sp>
      <p:sp>
        <p:nvSpPr>
          <p:cNvPr id="27" name="Text 24"/>
          <p:cNvSpPr/>
          <p:nvPr/>
        </p:nvSpPr>
        <p:spPr>
          <a:xfrm>
            <a:off x="8723376" y="3003804"/>
            <a:ext cx="76809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SA</a:t>
            </a:r>
            <a:endParaRPr lang="en-US" sz="1050" dirty="0"/>
          </a:p>
        </p:txBody>
      </p:sp>
      <p:sp>
        <p:nvSpPr>
          <p:cNvPr id="28" name="Shape 25"/>
          <p:cNvSpPr/>
          <p:nvPr/>
        </p:nvSpPr>
        <p:spPr>
          <a:xfrm>
            <a:off x="10169042" y="2999232"/>
            <a:ext cx="301752" cy="301752"/>
          </a:xfrm>
          <a:prstGeom prst="ellipse">
            <a:avLst/>
          </a:prstGeom>
          <a:solidFill>
            <a:srgbClr val="E4E9EB"/>
          </a:solidFill>
          <a:ln w="12700">
            <a:solidFill>
              <a:srgbClr val="9FAAB1"/>
            </a:solidFill>
            <a:prstDash val="solid"/>
          </a:ln>
        </p:spPr>
      </p:sp>
      <p:sp>
        <p:nvSpPr>
          <p:cNvPr id="29" name="Text 26"/>
          <p:cNvSpPr/>
          <p:nvPr/>
        </p:nvSpPr>
        <p:spPr>
          <a:xfrm>
            <a:off x="9935870" y="3003804"/>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NSW</a:t>
            </a:r>
            <a:endParaRPr lang="en-US" sz="1050" dirty="0"/>
          </a:p>
        </p:txBody>
      </p:sp>
      <p:sp>
        <p:nvSpPr>
          <p:cNvPr id="30" name="Shape 27"/>
          <p:cNvSpPr/>
          <p:nvPr/>
        </p:nvSpPr>
        <p:spPr>
          <a:xfrm>
            <a:off x="9669780" y="3741725"/>
            <a:ext cx="301752" cy="301752"/>
          </a:xfrm>
          <a:prstGeom prst="ellipse">
            <a:avLst/>
          </a:prstGeom>
          <a:solidFill>
            <a:srgbClr val="E4E9EB"/>
          </a:solidFill>
          <a:ln w="12700">
            <a:solidFill>
              <a:srgbClr val="9FAAB1"/>
            </a:solidFill>
            <a:prstDash val="solid"/>
          </a:ln>
        </p:spPr>
      </p:sp>
      <p:sp>
        <p:nvSpPr>
          <p:cNvPr id="31" name="Text 28"/>
          <p:cNvSpPr/>
          <p:nvPr/>
        </p:nvSpPr>
        <p:spPr>
          <a:xfrm>
            <a:off x="9436608" y="3746297"/>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V</a:t>
            </a:r>
            <a:endParaRPr lang="en-US" sz="1050" dirty="0"/>
          </a:p>
        </p:txBody>
      </p:sp>
      <p:sp>
        <p:nvSpPr>
          <p:cNvPr id="32" name="Shape 29"/>
          <p:cNvSpPr/>
          <p:nvPr/>
        </p:nvSpPr>
        <p:spPr>
          <a:xfrm>
            <a:off x="10596982" y="4059936"/>
            <a:ext cx="301752" cy="301752"/>
          </a:xfrm>
          <a:prstGeom prst="ellipse">
            <a:avLst/>
          </a:prstGeom>
          <a:solidFill>
            <a:srgbClr val="E4E9EB"/>
          </a:solidFill>
          <a:ln w="12700">
            <a:solidFill>
              <a:srgbClr val="9FAAB1"/>
            </a:solidFill>
            <a:prstDash val="solid"/>
          </a:ln>
        </p:spPr>
      </p:sp>
      <p:sp>
        <p:nvSpPr>
          <p:cNvPr id="33" name="Text 30"/>
          <p:cNvSpPr/>
          <p:nvPr/>
        </p:nvSpPr>
        <p:spPr>
          <a:xfrm>
            <a:off x="10363810" y="4064508"/>
            <a:ext cx="768096" cy="292608"/>
          </a:xfrm>
          <a:prstGeom prst="rect">
            <a:avLst/>
          </a:prstGeom>
          <a:noFill/>
          <a:ln/>
        </p:spPr>
        <p:txBody>
          <a:bodyPr wrap="square" lIns="0" tIns="0" rIns="0" bIns="0" rtlCol="0" anchor="ctr"/>
          <a:lstStyle/>
          <a:p>
            <a:pPr algn="ctr" indent="0" marL="0">
              <a:buNone/>
            </a:pPr>
            <a:r>
              <a:rPr lang="en-US" sz="1050" b="1" dirty="0">
                <a:solidFill>
                  <a:srgbClr val="22303A"/>
                </a:solidFill>
                <a:latin typeface="Calibri" pitchFamily="34" charset="0"/>
                <a:ea typeface="Calibri" pitchFamily="34" charset="-122"/>
                <a:cs typeface="Calibri" pitchFamily="34" charset="-120"/>
              </a:rPr>
              <a:t>T</a:t>
            </a:r>
            <a:endParaRPr lang="en-US" sz="1050" dirty="0"/>
          </a:p>
        </p:txBody>
      </p:sp>
      <p:sp>
        <p:nvSpPr>
          <p:cNvPr id="34" name="Text 31"/>
          <p:cNvSpPr/>
          <p:nvPr/>
        </p:nvSpPr>
        <p:spPr>
          <a:xfrm>
            <a:off x="7223760" y="4572000"/>
            <a:ext cx="4434840" cy="320040"/>
          </a:xfrm>
          <a:prstGeom prst="rect">
            <a:avLst/>
          </a:prstGeom>
          <a:noFill/>
          <a:ln/>
        </p:spPr>
        <p:txBody>
          <a:bodyPr wrap="square" lIns="0" tIns="0" rIns="0" bIns="0" rtlCol="0" anchor="ctr"/>
          <a:lstStyle/>
          <a:p>
            <a:pPr algn="ctr" indent="0" marL="0">
              <a:buNone/>
            </a:pPr>
            <a:r>
              <a:rPr lang="en-US" sz="1150" i="1" dirty="0">
                <a:solidFill>
                  <a:srgbClr val="6E7A83"/>
                </a:solidFill>
                <a:latin typeface="Calibri" pitchFamily="34" charset="0"/>
                <a:ea typeface="Calibri" pitchFamily="34" charset="-122"/>
                <a:cs typeface="Calibri" pitchFamily="34" charset="-120"/>
              </a:rPr>
              <a:t>one canonical solution instead of six</a:t>
            </a:r>
            <a:endParaRPr lang="en-US" sz="1150" dirty="0"/>
          </a:p>
        </p:txBody>
      </p:sp>
      <p:sp>
        <p:nvSpPr>
          <p:cNvPr id="35" name="Shape 32"/>
          <p:cNvSpPr/>
          <p:nvPr/>
        </p:nvSpPr>
        <p:spPr>
          <a:xfrm>
            <a:off x="7223760" y="5074920"/>
            <a:ext cx="4434840" cy="777240"/>
          </a:xfrm>
          <a:prstGeom prst="roundRect">
            <a:avLst>
              <a:gd name="adj" fmla="val 7059"/>
            </a:avLst>
          </a:prstGeom>
          <a:solidFill>
            <a:srgbClr val="F1F3F4"/>
          </a:solidFill>
          <a:ln w="9525">
            <a:solidFill>
              <a:srgbClr val="F1F3F4"/>
            </a:solidFill>
            <a:prstDash val="solid"/>
          </a:ln>
        </p:spPr>
      </p:sp>
      <p:sp>
        <p:nvSpPr>
          <p:cNvPr id="36" name="Text 33"/>
          <p:cNvSpPr/>
          <p:nvPr/>
        </p:nvSpPr>
        <p:spPr>
          <a:xfrm>
            <a:off x="7452360" y="5093208"/>
            <a:ext cx="3977640" cy="740664"/>
          </a:xfrm>
          <a:prstGeom prst="rect">
            <a:avLst/>
          </a:prstGeom>
          <a:noFill/>
          <a:ln/>
        </p:spPr>
        <p:txBody>
          <a:bodyPr wrap="square" lIns="0" tIns="0" rIns="0" bIns="0" rtlCol="0" anchor="ctr"/>
          <a:lstStyle/>
          <a:p>
            <a:pPr indent="0" marL="0">
              <a:buNone/>
            </a:pPr>
            <a:r>
              <a:rPr lang="en-US" sz="1400" b="1" dirty="0">
                <a:solidFill>
                  <a:srgbClr val="22303A"/>
                </a:solidFill>
                <a:latin typeface="Calibri" pitchFamily="34" charset="0"/>
                <a:ea typeface="Calibri" pitchFamily="34" charset="-122"/>
                <a:cs typeface="Calibri" pitchFamily="34" charset="-120"/>
              </a:rPr>
              <a:t>Structure lives in the values too, not only in the graph.</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SUMMARY</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The whole toolkit, on one slide</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51</a:t>
            </a:r>
            <a:endParaRPr lang="en-US" sz="900" dirty="0"/>
          </a:p>
        </p:txBody>
      </p:sp>
      <p:sp>
        <p:nvSpPr>
          <p:cNvPr id="7" name="Shape 4"/>
          <p:cNvSpPr/>
          <p:nvPr/>
        </p:nvSpPr>
        <p:spPr>
          <a:xfrm>
            <a:off x="502920" y="1417320"/>
            <a:ext cx="2651760" cy="4206240"/>
          </a:xfrm>
          <a:prstGeom prst="roundRect">
            <a:avLst>
              <a:gd name="adj" fmla="val 2069"/>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8" name="Shape 5"/>
          <p:cNvSpPr/>
          <p:nvPr/>
        </p:nvSpPr>
        <p:spPr>
          <a:xfrm>
            <a:off x="731520" y="1645920"/>
            <a:ext cx="384048" cy="384048"/>
          </a:xfrm>
          <a:prstGeom prst="ellipse">
            <a:avLst/>
          </a:prstGeom>
          <a:solidFill>
            <a:srgbClr val="50808E"/>
          </a:solidFill>
          <a:ln/>
        </p:spPr>
      </p:sp>
      <p:sp>
        <p:nvSpPr>
          <p:cNvPr id="9" name="Text 6"/>
          <p:cNvSpPr/>
          <p:nvPr/>
        </p:nvSpPr>
        <p:spPr>
          <a:xfrm>
            <a:off x="731520" y="16459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p:nvPr/>
        </p:nvSpPr>
        <p:spPr>
          <a:xfrm>
            <a:off x="731520" y="2148840"/>
            <a:ext cx="2194560" cy="301752"/>
          </a:xfrm>
          <a:prstGeom prst="rect">
            <a:avLst/>
          </a:prstGeom>
          <a:noFill/>
          <a:ln/>
        </p:spPr>
        <p:txBody>
          <a:bodyPr wrap="square" lIns="0" tIns="0" rIns="0" bIns="0" rtlCol="0" anchor="ctr"/>
          <a:lstStyle/>
          <a:p>
            <a:pPr indent="0" marL="0">
              <a:buNone/>
            </a:pPr>
            <a:r>
              <a:rPr lang="en-US" sz="1600" b="1" dirty="0">
                <a:solidFill>
                  <a:srgbClr val="50808E"/>
                </a:solidFill>
                <a:latin typeface="Calibri" pitchFamily="34" charset="0"/>
                <a:ea typeface="Calibri" pitchFamily="34" charset="-122"/>
                <a:cs typeface="Calibri" pitchFamily="34" charset="-120"/>
              </a:rPr>
              <a:t>Represent</a:t>
            </a:r>
            <a:endParaRPr lang="en-US" sz="1600" dirty="0"/>
          </a:p>
        </p:txBody>
      </p:sp>
      <p:sp>
        <p:nvSpPr>
          <p:cNvPr id="11" name="Text 8"/>
          <p:cNvSpPr/>
          <p:nvPr/>
        </p:nvSpPr>
        <p:spPr>
          <a:xfrm>
            <a:off x="731520" y="2578608"/>
            <a:ext cx="2240280" cy="283464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States are variable/value pairs</a:t>
            </a:r>
            <a:endParaRPr lang="en-US" sz="1150" dirty="0"/>
          </a:p>
          <a:p>
            <a:pPr marL="342900" indent="-342900">
              <a:lnSpc>
                <a:spcPct val="106000"/>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Goal test decomposes into constraints</a:t>
            </a:r>
            <a:endParaRPr lang="en-US" sz="1150" dirty="0"/>
          </a:p>
          <a:p>
            <a:pPr marL="342900" indent="-342900">
              <a:lnSpc>
                <a:spcPct val="106000"/>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Constraint graph shows where, not what</a:t>
            </a:r>
            <a:endParaRPr lang="en-US" sz="1150" dirty="0"/>
          </a:p>
        </p:txBody>
      </p:sp>
      <p:sp>
        <p:nvSpPr>
          <p:cNvPr id="12" name="Shape 9"/>
          <p:cNvSpPr/>
          <p:nvPr/>
        </p:nvSpPr>
        <p:spPr>
          <a:xfrm>
            <a:off x="3364992" y="1417320"/>
            <a:ext cx="2651760" cy="4206240"/>
          </a:xfrm>
          <a:prstGeom prst="roundRect">
            <a:avLst>
              <a:gd name="adj" fmla="val 2069"/>
            </a:avLst>
          </a:prstGeom>
          <a:solidFill>
            <a:srgbClr val="FFFFFF"/>
          </a:solidFill>
          <a:ln w="9525">
            <a:solidFill>
              <a:srgbClr val="D5DBDE"/>
            </a:solidFill>
            <a:prstDash val="solid"/>
          </a:ln>
          <a:effectLst>
            <a:outerShdw sx="100000" sy="100000" kx="0" ky="0" algn="bl" rotWithShape="0" blurRad="101600" dist="19050" dir="5400000">
              <a:srgbClr val="9AA6AD">
                <a:alpha val="28000"/>
              </a:srgbClr>
            </a:outerShdw>
          </a:effectLst>
        </p:spPr>
      </p:sp>
      <p:sp>
        <p:nvSpPr>
          <p:cNvPr id="13" name="Shape 10"/>
          <p:cNvSpPr/>
          <p:nvPr/>
        </p:nvSpPr>
        <p:spPr>
          <a:xfrm>
            <a:off x="3593592" y="1645920"/>
            <a:ext cx="384048" cy="384048"/>
          </a:xfrm>
          <a:prstGeom prst="ellipse">
            <a:avLst/>
          </a:prstGeom>
          <a:solidFill>
            <a:srgbClr val="B85042"/>
          </a:solidFill>
          <a:ln/>
        </p:spPr>
      </p:sp>
      <p:sp>
        <p:nvSpPr>
          <p:cNvPr id="14" name="Text 11"/>
          <p:cNvSpPr/>
          <p:nvPr/>
        </p:nvSpPr>
        <p:spPr>
          <a:xfrm>
            <a:off x="3593592" y="16459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3593592" y="2148840"/>
            <a:ext cx="2194560" cy="301752"/>
          </a:xfrm>
          <a:prstGeom prst="rect">
            <a:avLst/>
          </a:prstGeom>
          <a:noFill/>
          <a:ln/>
        </p:spPr>
        <p:txBody>
          <a:bodyPr wrap="square" lIns="0" tIns="0" rIns="0" bIns="0" rtlCol="0" anchor="ctr"/>
          <a:lstStyle/>
          <a:p>
            <a:pPr indent="0" marL="0">
              <a:buNone/>
            </a:pPr>
            <a:r>
              <a:rPr lang="en-US" sz="1600" b="1" dirty="0">
                <a:solidFill>
                  <a:srgbClr val="B85042"/>
                </a:solidFill>
                <a:latin typeface="Calibri" pitchFamily="34" charset="0"/>
                <a:ea typeface="Calibri" pitchFamily="34" charset="-122"/>
                <a:cs typeface="Calibri" pitchFamily="34" charset="-120"/>
              </a:rPr>
              <a:t>Infer</a:t>
            </a:r>
            <a:endParaRPr lang="en-US" sz="1600" dirty="0"/>
          </a:p>
        </p:txBody>
      </p:sp>
      <p:sp>
        <p:nvSpPr>
          <p:cNvPr id="16" name="Text 13"/>
          <p:cNvSpPr/>
          <p:nvPr/>
        </p:nvSpPr>
        <p:spPr>
          <a:xfrm>
            <a:off x="3593592" y="2578608"/>
            <a:ext cx="2240280" cy="283464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Node, arc, path, k-consistency</a:t>
            </a:r>
            <a:endParaRPr lang="en-US" sz="1150" dirty="0"/>
          </a:p>
          <a:p>
            <a:pPr marL="342900" indent="-342900">
              <a:lnSpc>
                <a:spcPct val="106000"/>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AC-3 in O(c d³)</a:t>
            </a:r>
            <a:endParaRPr lang="en-US" sz="1150" dirty="0"/>
          </a:p>
          <a:p>
            <a:pPr marL="342900" indent="-342900">
              <a:lnSpc>
                <a:spcPct val="106000"/>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Global constraints: Alldiff, Atmost, bounds</a:t>
            </a:r>
            <a:endParaRPr lang="en-US" sz="1150" dirty="0"/>
          </a:p>
        </p:txBody>
      </p:sp>
      <p:sp>
        <p:nvSpPr>
          <p:cNvPr id="17" name="Shape 14"/>
          <p:cNvSpPr/>
          <p:nvPr/>
        </p:nvSpPr>
        <p:spPr>
          <a:xfrm>
            <a:off x="6227064" y="1417320"/>
            <a:ext cx="2651760" cy="4206240"/>
          </a:xfrm>
          <a:prstGeom prst="roundRect">
            <a:avLst>
              <a:gd name="adj" fmla="val 2069"/>
            </a:avLst>
          </a:prstGeom>
          <a:solidFill>
            <a:srgbClr val="F1F3F4"/>
          </a:solidFill>
          <a:ln w="9525">
            <a:solidFill>
              <a:srgbClr val="F1F3F4"/>
            </a:solidFill>
            <a:prstDash val="solid"/>
          </a:ln>
          <a:effectLst>
            <a:outerShdw sx="100000" sy="100000" kx="0" ky="0" algn="bl" rotWithShape="0" blurRad="101600" dist="19050" dir="5400000">
              <a:srgbClr val="9AA6AD">
                <a:alpha val="28000"/>
              </a:srgbClr>
            </a:outerShdw>
          </a:effectLst>
        </p:spPr>
      </p:sp>
      <p:sp>
        <p:nvSpPr>
          <p:cNvPr id="18" name="Shape 15"/>
          <p:cNvSpPr/>
          <p:nvPr/>
        </p:nvSpPr>
        <p:spPr>
          <a:xfrm>
            <a:off x="6455664" y="1645920"/>
            <a:ext cx="384048" cy="384048"/>
          </a:xfrm>
          <a:prstGeom prst="ellipse">
            <a:avLst/>
          </a:prstGeom>
          <a:solidFill>
            <a:srgbClr val="6E8B5A"/>
          </a:solidFill>
          <a:ln/>
        </p:spPr>
      </p:sp>
      <p:sp>
        <p:nvSpPr>
          <p:cNvPr id="19" name="Text 16"/>
          <p:cNvSpPr/>
          <p:nvPr/>
        </p:nvSpPr>
        <p:spPr>
          <a:xfrm>
            <a:off x="6455664" y="16459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7"/>
          <p:cNvSpPr/>
          <p:nvPr/>
        </p:nvSpPr>
        <p:spPr>
          <a:xfrm>
            <a:off x="6455664" y="2148840"/>
            <a:ext cx="2194560" cy="301752"/>
          </a:xfrm>
          <a:prstGeom prst="rect">
            <a:avLst/>
          </a:prstGeom>
          <a:noFill/>
          <a:ln/>
        </p:spPr>
        <p:txBody>
          <a:bodyPr wrap="square" lIns="0" tIns="0" rIns="0" bIns="0" rtlCol="0" anchor="ctr"/>
          <a:lstStyle/>
          <a:p>
            <a:pPr indent="0" marL="0">
              <a:buNone/>
            </a:pPr>
            <a:r>
              <a:rPr lang="en-US" sz="1600" b="1" dirty="0">
                <a:solidFill>
                  <a:srgbClr val="6E8B5A"/>
                </a:solidFill>
                <a:latin typeface="Calibri" pitchFamily="34" charset="0"/>
                <a:ea typeface="Calibri" pitchFamily="34" charset="-122"/>
                <a:cs typeface="Calibri" pitchFamily="34" charset="-120"/>
              </a:rPr>
              <a:t>Search better</a:t>
            </a:r>
            <a:endParaRPr lang="en-US" sz="1600" dirty="0"/>
          </a:p>
        </p:txBody>
      </p:sp>
      <p:sp>
        <p:nvSpPr>
          <p:cNvPr id="21" name="Text 18"/>
          <p:cNvSpPr/>
          <p:nvPr/>
        </p:nvSpPr>
        <p:spPr>
          <a:xfrm>
            <a:off x="6455664" y="2578608"/>
            <a:ext cx="2240280" cy="283464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MRV and degree for variables</a:t>
            </a:r>
            <a:endParaRPr lang="en-US" sz="1150" dirty="0"/>
          </a:p>
          <a:p>
            <a:pPr marL="342900" indent="-342900">
              <a:lnSpc>
                <a:spcPct val="106000"/>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Least-constraining-value for values</a:t>
            </a:r>
            <a:endParaRPr lang="en-US" sz="1150" dirty="0"/>
          </a:p>
          <a:p>
            <a:pPr marL="342900" indent="-342900">
              <a:lnSpc>
                <a:spcPct val="106000"/>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Forward checking, then MAC</a:t>
            </a:r>
            <a:endParaRPr lang="en-US" sz="1150" dirty="0"/>
          </a:p>
          <a:p>
            <a:pPr marL="342900" indent="-342900">
              <a:lnSpc>
                <a:spcPct val="106000"/>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Backjumping and no-goods</a:t>
            </a:r>
            <a:endParaRPr lang="en-US" sz="1150" dirty="0"/>
          </a:p>
        </p:txBody>
      </p:sp>
      <p:sp>
        <p:nvSpPr>
          <p:cNvPr id="22" name="Shape 19"/>
          <p:cNvSpPr/>
          <p:nvPr/>
        </p:nvSpPr>
        <p:spPr>
          <a:xfrm>
            <a:off x="9089136" y="1417320"/>
            <a:ext cx="2651760" cy="4206240"/>
          </a:xfrm>
          <a:prstGeom prst="roundRect">
            <a:avLst>
              <a:gd name="adj" fmla="val 2069"/>
            </a:avLst>
          </a:prstGeom>
          <a:solidFill>
            <a:srgbClr val="FFFFFF"/>
          </a:solidFill>
          <a:ln w="9525">
            <a:solidFill>
              <a:srgbClr val="D5DBDE"/>
            </a:solidFill>
            <a:prstDash val="solid"/>
          </a:ln>
          <a:effectLst>
            <a:outerShdw sx="100000" sy="100000" kx="0" ky="0" algn="bl" rotWithShape="0" blurRad="101600" dist="19050" dir="5400000">
              <a:srgbClr val="9AA6AD">
                <a:alpha val="28000"/>
              </a:srgbClr>
            </a:outerShdw>
          </a:effectLst>
        </p:spPr>
      </p:sp>
      <p:sp>
        <p:nvSpPr>
          <p:cNvPr id="23" name="Shape 20"/>
          <p:cNvSpPr/>
          <p:nvPr/>
        </p:nvSpPr>
        <p:spPr>
          <a:xfrm>
            <a:off x="9317736" y="1645920"/>
            <a:ext cx="384048" cy="384048"/>
          </a:xfrm>
          <a:prstGeom prst="ellipse">
            <a:avLst/>
          </a:prstGeom>
          <a:solidFill>
            <a:srgbClr val="C8922F"/>
          </a:solidFill>
          <a:ln/>
        </p:spPr>
      </p:sp>
      <p:sp>
        <p:nvSpPr>
          <p:cNvPr id="24" name="Text 21"/>
          <p:cNvSpPr/>
          <p:nvPr/>
        </p:nvSpPr>
        <p:spPr>
          <a:xfrm>
            <a:off x="9317736" y="16459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2"/>
          <p:cNvSpPr/>
          <p:nvPr/>
        </p:nvSpPr>
        <p:spPr>
          <a:xfrm>
            <a:off x="9317736" y="2148840"/>
            <a:ext cx="2194560" cy="301752"/>
          </a:xfrm>
          <a:prstGeom prst="rect">
            <a:avLst/>
          </a:prstGeom>
          <a:noFill/>
          <a:ln/>
        </p:spPr>
        <p:txBody>
          <a:bodyPr wrap="square" lIns="0" tIns="0" rIns="0" bIns="0" rtlCol="0" anchor="ctr"/>
          <a:lstStyle/>
          <a:p>
            <a:pPr indent="0" marL="0">
              <a:buNone/>
            </a:pPr>
            <a:r>
              <a:rPr lang="en-US" sz="1600" b="1" dirty="0">
                <a:solidFill>
                  <a:srgbClr val="C8922F"/>
                </a:solidFill>
                <a:latin typeface="Calibri" pitchFamily="34" charset="0"/>
                <a:ea typeface="Calibri" pitchFamily="34" charset="-122"/>
                <a:cs typeface="Calibri" pitchFamily="34" charset="-120"/>
              </a:rPr>
              <a:t>Exploit structure</a:t>
            </a:r>
            <a:endParaRPr lang="en-US" sz="1600" dirty="0"/>
          </a:p>
        </p:txBody>
      </p:sp>
      <p:sp>
        <p:nvSpPr>
          <p:cNvPr id="26" name="Text 23"/>
          <p:cNvSpPr/>
          <p:nvPr/>
        </p:nvSpPr>
        <p:spPr>
          <a:xfrm>
            <a:off x="9317736" y="2578608"/>
            <a:ext cx="2240280" cy="283464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Independent components</a:t>
            </a:r>
            <a:endParaRPr lang="en-US" sz="1150" dirty="0"/>
          </a:p>
          <a:p>
            <a:pPr marL="342900" indent="-342900">
              <a:lnSpc>
                <a:spcPct val="106000"/>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Trees in O(n d²)</a:t>
            </a:r>
            <a:endParaRPr lang="en-US" sz="1150" dirty="0"/>
          </a:p>
          <a:p>
            <a:pPr marL="342900" indent="-342900">
              <a:lnSpc>
                <a:spcPct val="106000"/>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Cutset conditioning, tree decomposition</a:t>
            </a:r>
            <a:endParaRPr lang="en-US" sz="1150" dirty="0"/>
          </a:p>
          <a:p>
            <a:pPr marL="342900" indent="-342900">
              <a:lnSpc>
                <a:spcPct val="106000"/>
              </a:lnSpc>
              <a:spcAft>
                <a:spcPts val="700"/>
              </a:spcAft>
              <a:buSzPct val="100000"/>
              <a:buChar char="•"/>
            </a:pPr>
            <a:r>
              <a:rPr lang="en-US" sz="1150" dirty="0">
                <a:solidFill>
                  <a:srgbClr val="2B3138"/>
                </a:solidFill>
                <a:latin typeface="Calibri" pitchFamily="34" charset="0"/>
                <a:ea typeface="Calibri" pitchFamily="34" charset="-122"/>
                <a:cs typeface="Calibri" pitchFamily="34" charset="-120"/>
              </a:rPr>
              <a:t>Value symmetry breaking</a:t>
            </a:r>
            <a:endParaRPr lang="en-US" sz="1150" dirty="0"/>
          </a:p>
        </p:txBody>
      </p:sp>
      <p:sp>
        <p:nvSpPr>
          <p:cNvPr id="27" name="Shape 24"/>
          <p:cNvSpPr/>
          <p:nvPr/>
        </p:nvSpPr>
        <p:spPr>
          <a:xfrm>
            <a:off x="502920" y="5760720"/>
            <a:ext cx="11155680" cy="548640"/>
          </a:xfrm>
          <a:prstGeom prst="roundRect">
            <a:avLst>
              <a:gd name="adj" fmla="val 10000"/>
            </a:avLst>
          </a:prstGeom>
          <a:solidFill>
            <a:srgbClr val="F7EEEA"/>
          </a:solidFill>
          <a:ln w="9525">
            <a:solidFill>
              <a:srgbClr val="F7EEEA"/>
            </a:solidFill>
            <a:prstDash val="solid"/>
          </a:ln>
        </p:spPr>
      </p:sp>
      <p:sp>
        <p:nvSpPr>
          <p:cNvPr id="28" name="Text 25"/>
          <p:cNvSpPr/>
          <p:nvPr/>
        </p:nvSpPr>
        <p:spPr>
          <a:xfrm>
            <a:off x="731520" y="5779008"/>
            <a:ext cx="10698480" cy="512064"/>
          </a:xfrm>
          <a:prstGeom prst="rect">
            <a:avLst/>
          </a:prstGeom>
          <a:noFill/>
          <a:ln/>
        </p:spPr>
        <p:txBody>
          <a:bodyPr wrap="square" lIns="0" tIns="0" rIns="0" bIns="0" rtlCol="0" anchor="ctr"/>
          <a:lstStyle/>
          <a:p>
            <a:pPr indent="0" marL="0">
              <a:buNone/>
            </a:pPr>
            <a:r>
              <a:rPr lang="en-US" sz="1400" b="1" dirty="0">
                <a:solidFill>
                  <a:srgbClr val="B85042"/>
                </a:solidFill>
                <a:latin typeface="Calibri" pitchFamily="34" charset="0"/>
                <a:ea typeface="Calibri" pitchFamily="34" charset="-122"/>
                <a:cs typeface="Calibri" pitchFamily="34" charset="-120"/>
              </a:rPr>
              <a:t>And min-conflicts: fast, practically effective, and entirely without guarantees.</a:t>
            </a:r>
            <a:endParaRPr lang="en-US" sz="1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29184"/>
            <a:ext cx="10515600" cy="237744"/>
          </a:xfrm>
          <a:prstGeom prst="rect">
            <a:avLst/>
          </a:prstGeom>
          <a:noFill/>
          <a:ln/>
        </p:spPr>
        <p:txBody>
          <a:bodyPr wrap="square" lIns="0" tIns="0" rIns="0" bIns="0" rtlCol="0" anchor="ctr"/>
          <a:lstStyle/>
          <a:p>
            <a:pPr indent="0" marL="0">
              <a:buNone/>
            </a:pPr>
            <a:r>
              <a:rPr lang="en-US" sz="1100" b="1" spc="140" kern="0" dirty="0">
                <a:solidFill>
                  <a:srgbClr val="B85042"/>
                </a:solidFill>
                <a:latin typeface="Calibri" pitchFamily="34" charset="0"/>
                <a:ea typeface="Calibri" pitchFamily="34" charset="-122"/>
                <a:cs typeface="Calibri" pitchFamily="34" charset="-120"/>
              </a:rPr>
              <a:t>CLOSING</a:t>
            </a:r>
            <a:endParaRPr lang="en-US" sz="1100" dirty="0"/>
          </a:p>
        </p:txBody>
      </p:sp>
      <p:sp>
        <p:nvSpPr>
          <p:cNvPr id="3" name="Text 1"/>
          <p:cNvSpPr/>
          <p:nvPr/>
        </p:nvSpPr>
        <p:spPr>
          <a:xfrm>
            <a:off x="502920" y="585216"/>
            <a:ext cx="11155680" cy="658368"/>
          </a:xfrm>
          <a:prstGeom prst="rect">
            <a:avLst/>
          </a:prstGeom>
          <a:noFill/>
          <a:ln/>
        </p:spPr>
        <p:txBody>
          <a:bodyPr wrap="square" lIns="0" tIns="0" rIns="0" bIns="0" rtlCol="0" anchor="ctr"/>
          <a:lstStyle/>
          <a:p>
            <a:pPr indent="0" marL="0">
              <a:buNone/>
            </a:pPr>
            <a:r>
              <a:rPr lang="en-US" sz="3000" b="1" dirty="0">
                <a:solidFill>
                  <a:srgbClr val="22303A"/>
                </a:solidFill>
                <a:latin typeface="Cambria" pitchFamily="34" charset="0"/>
                <a:ea typeface="Cambria" pitchFamily="34" charset="-122"/>
                <a:cs typeface="Cambria" pitchFamily="34" charset="-120"/>
              </a:rPr>
              <a:t>What to take away</a:t>
            </a:r>
            <a:endParaRPr lang="en-US" sz="3000" dirty="0"/>
          </a:p>
        </p:txBody>
      </p:sp>
      <p:sp>
        <p:nvSpPr>
          <p:cNvPr id="5" name="Text 2"/>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6E7A83"/>
                </a:solidFill>
                <a:latin typeface="Calibri" pitchFamily="34" charset="0"/>
                <a:ea typeface="Calibri" pitchFamily="34" charset="-122"/>
                <a:cs typeface="Calibri" pitchFamily="34" charset="-120"/>
              </a:rPr>
              <a:t>COMP 469 - Artificial Intelligence</a:t>
            </a:r>
            <a:endParaRPr lang="en-US" sz="900" dirty="0"/>
          </a:p>
        </p:txBody>
      </p:sp>
      <p:sp>
        <p:nvSpPr>
          <p:cNvPr id="6" name="Text 3"/>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6E7A83"/>
                </a:solidFill>
                <a:latin typeface="Calibri" pitchFamily="34" charset="0"/>
                <a:ea typeface="Calibri" pitchFamily="34" charset="-122"/>
                <a:cs typeface="Calibri" pitchFamily="34" charset="-120"/>
              </a:rPr>
              <a:t>52</a:t>
            </a:r>
            <a:endParaRPr lang="en-US" sz="900" dirty="0"/>
          </a:p>
        </p:txBody>
      </p:sp>
      <p:sp>
        <p:nvSpPr>
          <p:cNvPr id="7" name="Text 4"/>
          <p:cNvSpPr/>
          <p:nvPr/>
        </p:nvSpPr>
        <p:spPr>
          <a:xfrm>
            <a:off x="502920" y="1371600"/>
            <a:ext cx="5943600" cy="301752"/>
          </a:xfrm>
          <a:prstGeom prst="rect">
            <a:avLst/>
          </a:prstGeom>
          <a:noFill/>
          <a:ln/>
        </p:spPr>
        <p:txBody>
          <a:bodyPr wrap="square" lIns="0" tIns="0" rIns="0" bIns="0" rtlCol="0" anchor="ctr"/>
          <a:lstStyle/>
          <a:p>
            <a:pPr indent="0" marL="0">
              <a:buNone/>
            </a:pPr>
            <a:r>
              <a:rPr lang="en-US" sz="1700" b="1" dirty="0">
                <a:solidFill>
                  <a:srgbClr val="B85042"/>
                </a:solidFill>
                <a:latin typeface="Calibri" pitchFamily="34" charset="0"/>
                <a:ea typeface="Calibri" pitchFamily="34" charset="-122"/>
                <a:cs typeface="Calibri" pitchFamily="34" charset="-120"/>
              </a:rPr>
              <a:t>You should be able to do</a:t>
            </a:r>
            <a:endParaRPr lang="en-US" sz="1700" dirty="0"/>
          </a:p>
        </p:txBody>
      </p:sp>
      <p:sp>
        <p:nvSpPr>
          <p:cNvPr id="8" name="Text 5"/>
          <p:cNvSpPr/>
          <p:nvPr/>
        </p:nvSpPr>
        <p:spPr>
          <a:xfrm>
            <a:off x="502920" y="1810512"/>
            <a:ext cx="5943600" cy="274320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Trace AC-3 by hand and say which values leave which domains, in order</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Apply MRV, degree, and LCV to a partially assigned graph and justify each pick</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Say precisely what forward checking misses that MAC catches</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Identify a cycle cutset and state the resulting run-time bound</a:t>
            </a:r>
            <a:endParaRPr lang="en-US" sz="1350" dirty="0"/>
          </a:p>
        </p:txBody>
      </p:sp>
      <p:sp>
        <p:nvSpPr>
          <p:cNvPr id="9" name="Text 6"/>
          <p:cNvSpPr/>
          <p:nvPr/>
        </p:nvSpPr>
        <p:spPr>
          <a:xfrm>
            <a:off x="6766560" y="1371600"/>
            <a:ext cx="4892040" cy="301752"/>
          </a:xfrm>
          <a:prstGeom prst="rect">
            <a:avLst/>
          </a:prstGeom>
          <a:noFill/>
          <a:ln/>
        </p:spPr>
        <p:txBody>
          <a:bodyPr wrap="square" lIns="0" tIns="0" rIns="0" bIns="0" rtlCol="0" anchor="ctr"/>
          <a:lstStyle/>
          <a:p>
            <a:pPr indent="0" marL="0">
              <a:buNone/>
            </a:pPr>
            <a:r>
              <a:rPr lang="en-US" sz="1700" b="1" dirty="0">
                <a:solidFill>
                  <a:srgbClr val="50808E"/>
                </a:solidFill>
                <a:latin typeface="Calibri" pitchFamily="34" charset="0"/>
                <a:ea typeface="Calibri" pitchFamily="34" charset="-122"/>
                <a:cs typeface="Calibri" pitchFamily="34" charset="-120"/>
              </a:rPr>
              <a:t>And to explain why</a:t>
            </a:r>
            <a:endParaRPr lang="en-US" sz="1700" dirty="0"/>
          </a:p>
        </p:txBody>
      </p:sp>
      <p:sp>
        <p:nvSpPr>
          <p:cNvPr id="10" name="Text 7"/>
          <p:cNvSpPr/>
          <p:nvPr/>
        </p:nvSpPr>
        <p:spPr>
          <a:xfrm>
            <a:off x="6766560" y="1810512"/>
            <a:ext cx="4892040" cy="274320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Filtering is sound but not complete - empty proves failure, non-empty proves nothing</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Variables are chosen fail-first, values fail-last, and the asymmetry has a reason</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The tree algorithm needs a single parent, not merely arc consistency</a:t>
            </a:r>
            <a:endParaRPr lang="en-US" sz="1350" dirty="0"/>
          </a:p>
          <a:p>
            <a:pPr marL="342900" indent="-342900">
              <a:lnSpc>
                <a:spcPct val="106000"/>
              </a:lnSpc>
              <a:spcAft>
                <a:spcPts val="700"/>
              </a:spcAft>
              <a:buSzPct val="100000"/>
              <a:buChar char="•"/>
            </a:pPr>
            <a:r>
              <a:rPr lang="en-US" sz="1350" dirty="0">
                <a:solidFill>
                  <a:srgbClr val="2B3138"/>
                </a:solidFill>
                <a:latin typeface="Calibri" pitchFamily="34" charset="0"/>
                <a:ea typeface="Calibri" pitchFamily="34" charset="-122"/>
                <a:cs typeface="Calibri" pitchFamily="34" charset="-120"/>
              </a:rPr>
              <a:t>Nothing here defeats NP-hardness; it all buys speed on structured instances</a:t>
            </a:r>
            <a:endParaRPr lang="en-US" sz="1350" dirty="0"/>
          </a:p>
        </p:txBody>
      </p:sp>
      <p:sp>
        <p:nvSpPr>
          <p:cNvPr id="11" name="Shape 8"/>
          <p:cNvSpPr/>
          <p:nvPr/>
        </p:nvSpPr>
        <p:spPr>
          <a:xfrm>
            <a:off x="502920" y="4709160"/>
            <a:ext cx="11155680" cy="1188720"/>
          </a:xfrm>
          <a:prstGeom prst="roundRect">
            <a:avLst>
              <a:gd name="adj" fmla="val 4615"/>
            </a:avLst>
          </a:prstGeom>
          <a:solidFill>
            <a:srgbClr val="F1F3F4"/>
          </a:solidFill>
          <a:ln w="9525">
            <a:solidFill>
              <a:srgbClr val="F1F3F4"/>
            </a:solidFill>
            <a:prstDash val="solid"/>
          </a:ln>
        </p:spPr>
      </p:sp>
      <p:sp>
        <p:nvSpPr>
          <p:cNvPr id="12" name="Text 9"/>
          <p:cNvSpPr/>
          <p:nvPr/>
        </p:nvSpPr>
        <p:spPr>
          <a:xfrm>
            <a:off x="822960" y="4956048"/>
            <a:ext cx="10515600" cy="777240"/>
          </a:xfrm>
          <a:prstGeom prst="rect">
            <a:avLst/>
          </a:prstGeom>
          <a:noFill/>
          <a:ln/>
        </p:spPr>
        <p:txBody>
          <a:bodyPr wrap="square" lIns="0" tIns="0" rIns="0" bIns="0" rtlCol="0" anchor="t"/>
          <a:lstStyle/>
          <a:p>
            <a:pPr indent="0" marL="0">
              <a:lnSpc>
                <a:spcPct val="112000"/>
              </a:lnSpc>
              <a:buNone/>
            </a:pPr>
            <a:r>
              <a:rPr lang="en-US" sz="1350" i="1" dirty="0">
                <a:solidFill>
                  <a:srgbClr val="2B3138"/>
                </a:solidFill>
                <a:latin typeface="Calibri" pitchFamily="34" charset="0"/>
                <a:ea typeface="Calibri" pitchFamily="34" charset="-122"/>
                <a:cs typeface="Calibri" pitchFamily="34" charset="-120"/>
              </a:rPr>
              <a:t>One forward reference worth holding on to: the tree property that makes CSPs tractable reappears almost unchanged for probabilistic inference. Tree-structured Bayes nets are efficient for exactly the reason TREE-CSP-SOLVER never backtracks.</a:t>
            </a:r>
            <a:endParaRPr lang="en-US" sz="13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22303A"/>
        </a:solidFill>
      </p:bgPr>
    </p:bg>
    <p:spTree>
      <p:nvGrpSpPr>
        <p:cNvPr id="1" name=""/>
        <p:cNvGrpSpPr/>
        <p:nvPr/>
      </p:nvGrpSpPr>
      <p:grpSpPr>
        <a:xfrm>
          <a:off x="0" y="0"/>
          <a:ext cx="0" cy="0"/>
          <a:chOff x="0" y="0"/>
          <a:chExt cx="0" cy="0"/>
        </a:xfrm>
      </p:grpSpPr>
      <p:sp>
        <p:nvSpPr>
          <p:cNvPr id="2" name="Text 0"/>
          <p:cNvSpPr/>
          <p:nvPr/>
        </p:nvSpPr>
        <p:spPr>
          <a:xfrm>
            <a:off x="777240" y="1234440"/>
            <a:ext cx="10607040" cy="292608"/>
          </a:xfrm>
          <a:prstGeom prst="rect">
            <a:avLst/>
          </a:prstGeom>
          <a:noFill/>
          <a:ln/>
        </p:spPr>
        <p:txBody>
          <a:bodyPr wrap="square" lIns="0" tIns="0" rIns="0" bIns="0" rtlCol="0" anchor="ctr"/>
          <a:lstStyle/>
          <a:p>
            <a:pPr indent="0" marL="0">
              <a:buNone/>
            </a:pPr>
            <a:r>
              <a:rPr lang="en-US" sz="1200" b="1" spc="200" kern="0" dirty="0">
                <a:solidFill>
                  <a:srgbClr val="C8922F"/>
                </a:solidFill>
                <a:latin typeface="Calibri" pitchFamily="34" charset="0"/>
                <a:ea typeface="Calibri" pitchFamily="34" charset="-122"/>
                <a:cs typeface="Calibri" pitchFamily="34" charset="-120"/>
              </a:rPr>
              <a:t>NEXT SESSION</a:t>
            </a:r>
            <a:endParaRPr lang="en-US" sz="1200" dirty="0"/>
          </a:p>
        </p:txBody>
      </p:sp>
      <p:sp>
        <p:nvSpPr>
          <p:cNvPr id="3" name="Text 1"/>
          <p:cNvSpPr/>
          <p:nvPr/>
        </p:nvSpPr>
        <p:spPr>
          <a:xfrm>
            <a:off x="777240" y="1645920"/>
            <a:ext cx="1060704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Adversarial Search</a:t>
            </a:r>
            <a:endParaRPr lang="en-US" sz="4000" dirty="0"/>
          </a:p>
        </p:txBody>
      </p:sp>
      <p:sp>
        <p:nvSpPr>
          <p:cNvPr id="4" name="Text 2"/>
          <p:cNvSpPr/>
          <p:nvPr/>
        </p:nvSpPr>
        <p:spPr>
          <a:xfrm>
            <a:off x="777240" y="2514600"/>
            <a:ext cx="8686800" cy="411480"/>
          </a:xfrm>
          <a:prstGeom prst="rect">
            <a:avLst/>
          </a:prstGeom>
          <a:noFill/>
          <a:ln/>
        </p:spPr>
        <p:txBody>
          <a:bodyPr wrap="square" lIns="0" tIns="0" rIns="0" bIns="0" rtlCol="0" anchor="ctr"/>
          <a:lstStyle/>
          <a:p>
            <a:pPr indent="0" marL="0">
              <a:buNone/>
            </a:pPr>
            <a:r>
              <a:rPr lang="en-US" sz="1600" i="1" dirty="0">
                <a:solidFill>
                  <a:srgbClr val="A9BFCB"/>
                </a:solidFill>
                <a:latin typeface="Calibri" pitchFamily="34" charset="0"/>
                <a:ea typeface="Calibri" pitchFamily="34" charset="-122"/>
                <a:cs typeface="Calibri" pitchFamily="34" charset="-120"/>
              </a:rPr>
              <a:t>Planning when you are not the only one acting - and the other agent is working against you.</a:t>
            </a:r>
            <a:endParaRPr lang="en-US" sz="1600" dirty="0"/>
          </a:p>
        </p:txBody>
      </p:sp>
      <p:sp>
        <p:nvSpPr>
          <p:cNvPr id="5" name="Shape 3"/>
          <p:cNvSpPr/>
          <p:nvPr/>
        </p:nvSpPr>
        <p:spPr>
          <a:xfrm>
            <a:off x="822960" y="3200400"/>
            <a:ext cx="2194560" cy="0"/>
          </a:xfrm>
          <a:prstGeom prst="line">
            <a:avLst/>
          </a:prstGeom>
          <a:noFill/>
          <a:ln w="38100">
            <a:solidFill>
              <a:srgbClr val="B85042"/>
            </a:solidFill>
            <a:prstDash val="solid"/>
          </a:ln>
        </p:spPr>
      </p:sp>
      <p:sp>
        <p:nvSpPr>
          <p:cNvPr id="6" name="Shape 4"/>
          <p:cNvSpPr/>
          <p:nvPr/>
        </p:nvSpPr>
        <p:spPr>
          <a:xfrm>
            <a:off x="822960" y="3520440"/>
            <a:ext cx="5120640" cy="2148840"/>
          </a:xfrm>
          <a:prstGeom prst="roundRect">
            <a:avLst>
              <a:gd name="adj" fmla="val 2128"/>
            </a:avLst>
          </a:prstGeom>
          <a:solidFill>
            <a:srgbClr val="31424E"/>
          </a:solidFill>
          <a:ln w="12700">
            <a:solidFill>
              <a:srgbClr val="31424E"/>
            </a:solidFill>
            <a:prstDash val="solid"/>
          </a:ln>
        </p:spPr>
      </p:sp>
      <p:sp>
        <p:nvSpPr>
          <p:cNvPr id="7" name="Text 5"/>
          <p:cNvSpPr/>
          <p:nvPr/>
        </p:nvSpPr>
        <p:spPr>
          <a:xfrm>
            <a:off x="1097280" y="3703320"/>
            <a:ext cx="4572000" cy="320040"/>
          </a:xfrm>
          <a:prstGeom prst="rect">
            <a:avLst/>
          </a:prstGeom>
          <a:noFill/>
          <a:ln/>
        </p:spPr>
        <p:txBody>
          <a:bodyPr wrap="square" lIns="0" tIns="0" rIns="0" bIns="0" rtlCol="0" anchor="ctr"/>
          <a:lstStyle/>
          <a:p>
            <a:pPr indent="0" marL="0">
              <a:buNone/>
            </a:pPr>
            <a:r>
              <a:rPr lang="en-US" sz="1500" b="1" dirty="0">
                <a:solidFill>
                  <a:srgbClr val="C8922F"/>
                </a:solidFill>
                <a:latin typeface="Calibri" pitchFamily="34" charset="0"/>
                <a:ea typeface="Calibri" pitchFamily="34" charset="-122"/>
                <a:cs typeface="Calibri" pitchFamily="34" charset="-120"/>
              </a:rPr>
              <a:t>Read before class</a:t>
            </a:r>
            <a:endParaRPr lang="en-US" sz="1500" dirty="0"/>
          </a:p>
        </p:txBody>
      </p:sp>
      <p:sp>
        <p:nvSpPr>
          <p:cNvPr id="8" name="Text 6"/>
          <p:cNvSpPr/>
          <p:nvPr/>
        </p:nvSpPr>
        <p:spPr>
          <a:xfrm>
            <a:off x="1097280" y="4096512"/>
            <a:ext cx="4572000" cy="14173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CFDDE4"/>
                </a:solidFill>
                <a:latin typeface="Calibri" pitchFamily="34" charset="0"/>
                <a:ea typeface="Calibri" pitchFamily="34" charset="-122"/>
                <a:cs typeface="Calibri" pitchFamily="34" charset="-120"/>
              </a:rPr>
              <a:t>AIMA 4e, Sections 6.2 - 6.5 in full</a:t>
            </a:r>
            <a:endParaRPr lang="en-US" sz="1250" dirty="0"/>
          </a:p>
          <a:p>
            <a:pPr marL="342900" indent="-342900">
              <a:spcAft>
                <a:spcPts val="600"/>
              </a:spcAft>
              <a:buSzPct val="100000"/>
              <a:buChar char="•"/>
            </a:pPr>
            <a:r>
              <a:rPr lang="en-US" sz="1250" dirty="0">
                <a:solidFill>
                  <a:srgbClr val="CFDDE4"/>
                </a:solidFill>
                <a:latin typeface="Calibri" pitchFamily="34" charset="0"/>
                <a:ea typeface="Calibri" pitchFamily="34" charset="-122"/>
                <a:cs typeface="Calibri" pitchFamily="34" charset="-120"/>
              </a:rPr>
              <a:t>Figures 6.3, 6.5, 6.9, 6.12 and 6.13</a:t>
            </a:r>
            <a:endParaRPr lang="en-US" sz="1250" dirty="0"/>
          </a:p>
          <a:p>
            <a:pPr marL="342900" indent="-342900">
              <a:spcAft>
                <a:spcPts val="600"/>
              </a:spcAft>
              <a:buSzPct val="100000"/>
              <a:buChar char="•"/>
            </a:pPr>
            <a:r>
              <a:rPr lang="en-US" sz="1250" dirty="0">
                <a:solidFill>
                  <a:srgbClr val="CFDDE4"/>
                </a:solidFill>
                <a:latin typeface="Calibri" pitchFamily="34" charset="0"/>
                <a:ea typeface="Calibri" pitchFamily="34" charset="-122"/>
                <a:cs typeface="Calibri" pitchFamily="34" charset="-120"/>
              </a:rPr>
              <a:t>Then start Chapter 5.1 - 5.3</a:t>
            </a:r>
            <a:endParaRPr lang="en-US" sz="1250" dirty="0"/>
          </a:p>
        </p:txBody>
      </p:sp>
      <p:sp>
        <p:nvSpPr>
          <p:cNvPr id="9" name="Shape 7"/>
          <p:cNvSpPr/>
          <p:nvPr/>
        </p:nvSpPr>
        <p:spPr>
          <a:xfrm>
            <a:off x="6355080" y="3520440"/>
            <a:ext cx="5120640" cy="2148840"/>
          </a:xfrm>
          <a:prstGeom prst="roundRect">
            <a:avLst>
              <a:gd name="adj" fmla="val 2128"/>
            </a:avLst>
          </a:prstGeom>
          <a:solidFill>
            <a:srgbClr val="31424E"/>
          </a:solidFill>
          <a:ln w="12700">
            <a:solidFill>
              <a:srgbClr val="31424E"/>
            </a:solidFill>
            <a:prstDash val="solid"/>
          </a:ln>
        </p:spPr>
      </p:sp>
      <p:sp>
        <p:nvSpPr>
          <p:cNvPr id="10" name="Text 8"/>
          <p:cNvSpPr/>
          <p:nvPr/>
        </p:nvSpPr>
        <p:spPr>
          <a:xfrm>
            <a:off x="6629400" y="3703320"/>
            <a:ext cx="4572000" cy="320040"/>
          </a:xfrm>
          <a:prstGeom prst="rect">
            <a:avLst/>
          </a:prstGeom>
          <a:noFill/>
          <a:ln/>
        </p:spPr>
        <p:txBody>
          <a:bodyPr wrap="square" lIns="0" tIns="0" rIns="0" bIns="0" rtlCol="0" anchor="ctr"/>
          <a:lstStyle/>
          <a:p>
            <a:pPr indent="0" marL="0">
              <a:buNone/>
            </a:pPr>
            <a:r>
              <a:rPr lang="en-US" sz="1500" b="1" dirty="0">
                <a:solidFill>
                  <a:srgbClr val="C8922F"/>
                </a:solidFill>
                <a:latin typeface="Calibri" pitchFamily="34" charset="0"/>
                <a:ea typeface="Calibri" pitchFamily="34" charset="-122"/>
                <a:cs typeface="Calibri" pitchFamily="34" charset="-120"/>
              </a:rPr>
              <a:t>Practice</a:t>
            </a:r>
            <a:endParaRPr lang="en-US" sz="1500" dirty="0"/>
          </a:p>
        </p:txBody>
      </p:sp>
      <p:sp>
        <p:nvSpPr>
          <p:cNvPr id="11" name="Text 9"/>
          <p:cNvSpPr/>
          <p:nvPr/>
        </p:nvSpPr>
        <p:spPr>
          <a:xfrm>
            <a:off x="6629400" y="4096512"/>
            <a:ext cx="4572000" cy="141732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CFDDE4"/>
                </a:solidFill>
                <a:latin typeface="Calibri" pitchFamily="34" charset="0"/>
                <a:ea typeface="Calibri" pitchFamily="34" charset="-122"/>
                <a:cs typeface="Calibri" pitchFamily="34" charset="-120"/>
              </a:rPr>
              <a:t>Trace AC-3 on the two-colour Australia map</a:t>
            </a:r>
            <a:endParaRPr lang="en-US" sz="1250" dirty="0"/>
          </a:p>
          <a:p>
            <a:pPr marL="342900" indent="-342900">
              <a:spcAft>
                <a:spcPts val="600"/>
              </a:spcAft>
              <a:buSzPct val="100000"/>
              <a:buChar char="•"/>
            </a:pPr>
            <a:r>
              <a:rPr lang="en-US" sz="1250" dirty="0">
                <a:solidFill>
                  <a:srgbClr val="CFDDE4"/>
                </a:solidFill>
                <a:latin typeface="Calibri" pitchFamily="34" charset="0"/>
                <a:ea typeface="Calibri" pitchFamily="34" charset="-122"/>
                <a:cs typeface="Calibri" pitchFamily="34" charset="-120"/>
              </a:rPr>
              <a:t>Encode a Sudoku unit as Alldiff and expand it to binary constraints</a:t>
            </a:r>
            <a:endParaRPr lang="en-US" sz="1250" dirty="0"/>
          </a:p>
          <a:p>
            <a:pPr marL="342900" indent="-342900">
              <a:spcAft>
                <a:spcPts val="600"/>
              </a:spcAft>
              <a:buSzPct val="100000"/>
              <a:buChar char="•"/>
            </a:pPr>
            <a:r>
              <a:rPr lang="en-US" sz="1250" dirty="0">
                <a:solidFill>
                  <a:srgbClr val="CFDDE4"/>
                </a:solidFill>
                <a:latin typeface="Calibri" pitchFamily="34" charset="0"/>
                <a:ea typeface="Calibri" pitchFamily="34" charset="-122"/>
                <a:cs typeface="Calibri" pitchFamily="34" charset="-120"/>
              </a:rPr>
              <a:t>Find a cycle cutset for the Figure 6.12 graph</a:t>
            </a:r>
            <a:endParaRPr lang="en-US" sz="1250" dirty="0"/>
          </a:p>
        </p:txBody>
      </p:sp>
      <p:sp>
        <p:nvSpPr>
          <p:cNvPr id="13" name="Text 10"/>
          <p:cNvSpPr/>
          <p:nvPr/>
        </p:nvSpPr>
        <p:spPr>
          <a:xfrm>
            <a:off x="502920" y="6355080"/>
            <a:ext cx="7315200" cy="274320"/>
          </a:xfrm>
          <a:prstGeom prst="rect">
            <a:avLst/>
          </a:prstGeom>
          <a:noFill/>
          <a:ln/>
        </p:spPr>
        <p:txBody>
          <a:bodyPr wrap="square" lIns="0" tIns="0" rIns="0" bIns="0" rtlCol="0" anchor="ctr"/>
          <a:lstStyle/>
          <a:p>
            <a:pPr algn="l" indent="0" marL="0">
              <a:buNone/>
            </a:pPr>
            <a:r>
              <a:rPr lang="en-US" sz="900" dirty="0">
                <a:solidFill>
                  <a:srgbClr val="8FA2AD"/>
                </a:solidFill>
                <a:latin typeface="Calibri" pitchFamily="34" charset="0"/>
                <a:ea typeface="Calibri" pitchFamily="34" charset="-122"/>
                <a:cs typeface="Calibri" pitchFamily="34" charset="-120"/>
              </a:rPr>
              <a:t>COMP 469 - Artificial Intelligence</a:t>
            </a:r>
            <a:endParaRPr lang="en-US" sz="900" dirty="0"/>
          </a:p>
        </p:txBody>
      </p:sp>
      <p:sp>
        <p:nvSpPr>
          <p:cNvPr id="14" name="Text 11"/>
          <p:cNvSpPr/>
          <p:nvPr/>
        </p:nvSpPr>
        <p:spPr>
          <a:xfrm>
            <a:off x="10972800" y="6355080"/>
            <a:ext cx="713232" cy="274320"/>
          </a:xfrm>
          <a:prstGeom prst="rect">
            <a:avLst/>
          </a:prstGeom>
          <a:noFill/>
          <a:ln/>
        </p:spPr>
        <p:txBody>
          <a:bodyPr wrap="square" lIns="0" tIns="0" rIns="0" bIns="0" rtlCol="0" anchor="ctr"/>
          <a:lstStyle/>
          <a:p>
            <a:pPr algn="r" indent="0" marL="0">
              <a:buNone/>
            </a:pPr>
            <a:r>
              <a:rPr lang="en-US" sz="900" dirty="0">
                <a:solidFill>
                  <a:srgbClr val="8FA2AD"/>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CSU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 Constraint Satisfaction Problems, Part 2</dc:title>
  <dc:subject>PptxGenJS Presentation</dc:subject>
  <dc:creator>Juan Rios</dc:creator>
  <cp:lastModifiedBy>Juan Rios</cp:lastModifiedBy>
  <cp:revision>1</cp:revision>
  <dcterms:created xsi:type="dcterms:W3CDTF">2026-08-07T07:51:51Z</dcterms:created>
  <dcterms:modified xsi:type="dcterms:W3CDTF">2026-08-07T07:51:51Z</dcterms:modified>
</cp:coreProperties>
</file>