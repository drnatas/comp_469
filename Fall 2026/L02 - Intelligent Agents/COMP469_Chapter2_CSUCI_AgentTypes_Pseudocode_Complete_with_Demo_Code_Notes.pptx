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5.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80" r:id="rId29"/>
    <p:sldId id="281" r:id="rId30"/>
    <p:sldId id="282" r:id="rId31"/>
    <p:sldId id="283" r:id="rId32"/>
    <p:sldId id="284" r:id="rId33"/>
    <p:sldId id="285" r:id="rId34"/>
    <p:sldId id="286" r:id="rId35"/>
    <p:sldId id="287" r:id="rId36"/>
    <p:sldId id="288" r:id="rId37"/>
    <p:sldId id="291" r:id="rId28"/>
    <p:sldId id="289" r:id="rId38"/>
    <p:sldId id="290" r:id="rId3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3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0"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DA590CE-234F-42EB-B5E8-28E4986DD0E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sldImg"/>
          </p:nvPr>
        </p:nvSpPr>
        <p:spPr>
          <a:xfrm>
            <a:off x="685800" y="1143000"/>
            <a:ext cx="5485680" cy="3085560"/>
          </a:xfrm>
          <a:prstGeom prst="rect">
            <a:avLst/>
          </a:prstGeom>
          <a:ln w="0">
            <a:noFill/>
          </a:ln>
        </p:spPr>
      </p:sp>
      <p:sp>
        <p:nvSpPr>
          <p:cNvPr id="71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2 minutes</a:t>
            </a:r>
          </a:p>
          <a:p>
            <a:r>
              <a:t>Chapter alignment: Chapter introduction and Section 2.1</a:t>
            </a:r>
          </a:p>
          <a:p/>
          <a:p>
            <a:r>
              <a:t>[Read-Aloud Script]</a:t>
            </a:r>
          </a:p>
          <a:p/>
          <a:p>
            <a:r>
              <a:t>Welcome back to COMP 469. Chapter 1 gave us several ways to define artificial intelligence and ended by emphasizing the rational-agent approach. Chapter 2 now turns that broad idea into an engineering framework. Instead of asking only whether a machine appears intelligent, we ask what the machine perceives, what actions it can take, what environment it operates in, and what counts as successful behavior.</a:t>
            </a:r>
          </a:p>
          <a:p/>
          <a:p>
            <a:r>
              <a:t>The three words on this slide—sense, decide, and act—summarize the central loop. The agent receives information from the environment, chooses an action, changes the environment through that action, and then receives a new percept. Intelligent behavior is therefore not a single calculation. It is an ongoing interaction between an agent and the world around it.</a:t>
            </a:r>
          </a:p>
          <a:p/>
          <a:p>
            <a:r>
              <a:t>Throughout the lecture, we will use Pac-Man, the two-square vacuum world, and an automated taxi as examples. These examples vary in complexity, but they all let us ask the same design question: given what the agent has perceived so far, what should it do next? By the end of the lecture, you should be able to define an agent formally, specify a task using PEAS, classify an environment, and distinguish the major agent program designs in the chapter.</a:t>
            </a:r>
          </a:p>
          <a:p/>
          <a:p>
            <a:r>
              <a:t>[Instructor Cue]</a:t>
            </a:r>
          </a:p>
          <a:p>
            <a:r>
              <a:t>Opening cue: tell students that the lecture is organized as a design workflow, not as a list of unrelated agent definitions.</a:t>
            </a:r>
          </a:p>
          <a:p/>
          <a:p>
            <a:r>
              <a:t>[Transition]</a:t>
            </a:r>
          </a:p>
          <a:p>
            <a:r>
              <a:t>We will begin with a quick capability question that reveals why the environment matters so much.</a:t>
            </a:r>
          </a:p>
          <a:p/>
          <a:p>
            <a:r>
              <a:t>[Sources]</a:t>
            </a:r>
          </a:p>
          <a:p>
            <a:r>
              <a:t>- AIMA 4e, Chapter 2 introduction and Section 2.1.</a:t>
            </a:r>
          </a:p>
        </p:txBody>
      </p:sp>
      <p:sp>
        <p:nvSpPr>
          <p:cNvPr id="712"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6719928-A057-43F9-8081-3E7EAF94DB39}"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PlaceHolder 1"/>
          <p:cNvSpPr>
            <a:spLocks noGrp="1"/>
          </p:cNvSpPr>
          <p:nvPr>
            <p:ph type="sldImg"/>
          </p:nvPr>
        </p:nvSpPr>
        <p:spPr>
          <a:xfrm>
            <a:off x="685800" y="1143000"/>
            <a:ext cx="5485680" cy="3085560"/>
          </a:xfrm>
          <a:prstGeom prst="rect">
            <a:avLst/>
          </a:prstGeom>
          <a:ln w="0">
            <a:noFill/>
          </a:ln>
        </p:spPr>
      </p:sp>
      <p:sp>
        <p:nvSpPr>
          <p:cNvPr id="71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4 minutes</a:t>
            </a:r>
          </a:p>
          <a:p>
            <a:r>
              <a:t>Chapter alignment: Motivating task environments</a:t>
            </a:r>
          </a:p>
          <a:p/>
          <a:p>
            <a:r>
              <a:t>[Read-Aloud Script]</a:t>
            </a:r>
          </a:p>
          <a:p/>
          <a:p>
            <a:r>
              <a:t>Before we define an agent formally, consider the tasks on this slide. Some AI systems perform extremely well in formal environments such as chess or Go. Those games are difficult, but their rules are explicit, the legal actions are limited, and the state can be represented precisely. Other tasks that look ordinary to people—such as unloading any dishwasher in any home—are difficult because the physical environment varies, objects may be hidden, sensors are noisy, and the system must manipulate unfamiliar items safely.</a:t>
            </a:r>
          </a:p>
          <a:p/>
          <a:p>
            <a:r>
              <a:t>The important question is not simply, ‘Can AI do this?’ A better set of questions is: What information does the system receive? What actions are available? Does the environment change while the system is deciding? Are other agents present? What errors are acceptable? How will success be measured? A task can become easier or harder depending on how we answer those questions.</a:t>
            </a:r>
          </a:p>
          <a:p/>
          <a:p>
            <a:r>
              <a:t>For example, buying groceries on a website is primarily a software interaction with structured pages, product records, and digital payment systems. Buying groceries in a physical store requires vision, navigation, object manipulation, social interaction, and adaptation to unexpected conditions. The high-level goal sounds similar, but the task environments are very different.</a:t>
            </a:r>
          </a:p>
          <a:p/>
          <a:p>
            <a:r>
              <a:t>Use this slide as a warm-up poll. The purpose is not to settle every capability claim. The purpose is to notice that intelligence must be evaluated relative to a specified task environment. That observation leads directly to the agent framework used throughout Chapter 2.</a:t>
            </a:r>
          </a:p>
          <a:p/>
          <a:p>
            <a:r>
              <a:t>[Instructor Cue]</a:t>
            </a:r>
          </a:p>
          <a:p>
            <a:r>
              <a:t>Ask for two volunteers: one task that seems easy for AI and one that seems difficult. For each answer, ask what property of the environment explains the difference.</a:t>
            </a:r>
          </a:p>
          <a:p/>
          <a:p>
            <a:r>
              <a:t>[Transition]</a:t>
            </a:r>
          </a:p>
          <a:p>
            <a:r>
              <a:t>To evaluate these systems consistently, the course adopts the rational-agent perspective.</a:t>
            </a:r>
          </a:p>
          <a:p/>
          <a:p>
            <a:r>
              <a:t>[Sources]</a:t>
            </a:r>
          </a:p>
          <a:p>
            <a:r>
              <a:t>- AIMA 4e, Chapter 2 introduction; lecture deck warm-up framing.</a:t>
            </a:r>
          </a:p>
        </p:txBody>
      </p:sp>
      <p:sp>
        <p:nvSpPr>
          <p:cNvPr id="715"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0042843-3413-446B-B250-E582DBC8A636}"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sldImg"/>
          </p:nvPr>
        </p:nvSpPr>
        <p:spPr>
          <a:xfrm>
            <a:off x="685800" y="1143000"/>
            <a:ext cx="5485680" cy="3085560"/>
          </a:xfrm>
          <a:prstGeom prst="rect">
            <a:avLst/>
          </a:prstGeom>
          <a:ln w="0">
            <a:noFill/>
          </a:ln>
        </p:spPr>
      </p:sp>
      <p:sp>
        <p:nvSpPr>
          <p:cNvPr id="71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3 minutes</a:t>
            </a:r>
          </a:p>
          <a:p>
            <a:r>
              <a:t>Chapter alignment: Bridge from Chapter 1 to Chapter 2</a:t>
            </a:r>
          </a:p>
          <a:p/>
          <a:p>
            <a:r>
              <a:t>[Read-Aloud Script]</a:t>
            </a:r>
          </a:p>
          <a:p/>
          <a:p>
            <a:r>
              <a:t>Chapter 1 organized definitions of AI around two dimensions: human versus rational, and thinking versus acting. This course focuses on acting rationally. That does not mean that human thought, human behavior, or formal reasoning are unimportant. It means that our primary engineering standard is whether the system selects actions that are expected to achieve its objective.</a:t>
            </a:r>
          </a:p>
          <a:p/>
          <a:p>
            <a:r>
              <a:t>A system that acts like a person may reproduce human strengths, but it may also reproduce human mistakes, bias, inconsistency, or fatigue. A system that reasons correctly may still fail to act in time, may lack necessary information, or may be operating in an uncertain environment where formal deduction alone does not identify the best action. Rational action is broader than either imitation or logic.</a:t>
            </a:r>
          </a:p>
          <a:p/>
          <a:p>
            <a:r>
              <a:t>The phrase ‘act rationally’ must always be interpreted relative to a performance measure, available evidence, built-in knowledge, and available actions. Chapter 2 will make each of those elements explicit. The result is a framework that can be applied to a vacuum cleaner, a software assistant, a robot, an automated taxi, or a game-playing program.</a:t>
            </a:r>
          </a:p>
          <a:p/>
          <a:p>
            <a:r>
              <a:t>[Instructor Cue]</a:t>
            </a:r>
          </a:p>
          <a:p>
            <a:r>
              <a:t>Emphasize that rational does not mean morally perfect or all-knowing; the chapter gives it a technical meaning tied to expected performance.</a:t>
            </a:r>
          </a:p>
          <a:p/>
          <a:p>
            <a:r>
              <a:t>[Transition]</a:t>
            </a:r>
          </a:p>
          <a:p>
            <a:r>
              <a:t>The roadmap shows how we move from this perspective to concrete agent designs.</a:t>
            </a:r>
          </a:p>
          <a:p/>
          <a:p>
            <a:r>
              <a:t>[Sources]</a:t>
            </a:r>
          </a:p>
          <a:p>
            <a:r>
              <a:t>- AIMA 4e, Chapters 1 and 2.</a:t>
            </a:r>
          </a:p>
        </p:txBody>
      </p:sp>
      <p:sp>
        <p:nvSpPr>
          <p:cNvPr id="718"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64E6956-B24E-426C-9121-ADDEBC0152B6}"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Img"/>
          </p:nvPr>
        </p:nvSpPr>
        <p:spPr>
          <a:xfrm>
            <a:off x="685800" y="1143000"/>
            <a:ext cx="5485680" cy="3085560"/>
          </a:xfrm>
          <a:prstGeom prst="rect">
            <a:avLst/>
          </a:prstGeom>
          <a:ln w="0">
            <a:noFill/>
          </a:ln>
        </p:spPr>
      </p:sp>
      <p:sp>
        <p:nvSpPr>
          <p:cNvPr id="72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2 minutes</a:t>
            </a:r>
          </a:p>
          <a:p>
            <a:r>
              <a:t>Chapter alignment: Lecture roadmap</a:t>
            </a:r>
          </a:p>
          <a:p/>
          <a:p>
            <a:r>
              <a:t>[Read-Aloud Script]</a:t>
            </a:r>
          </a:p>
          <a:p/>
          <a:p>
            <a:r>
              <a:t>This chapter is a design framework rather than a single algorithm. We begin with the agent loop: percepts come in and actions go out. We then define rationality so that we have a standard for judging behavior. Next, we specify the task with PEAS—performance measure, environment, actuators, and sensors.</a:t>
            </a:r>
          </a:p>
          <a:p/>
          <a:p>
            <a:r>
              <a:t>After the task is specified, we classify the environment. Is it fully or partially observable? Is it deterministic or uncertain? Is it static or changing? Those properties determine what kind of agent program is appropriate. We then examine the major designs, starting with a table-driven baseline and progressing through simple reflex, model-based reflex, goal-based, utility-based, and learning agents.</a:t>
            </a:r>
          </a:p>
          <a:p/>
          <a:p>
            <a:r>
              <a:t>The final topic is representation: how the agent stores information about the world. Keep this workflow in mind throughout the lecture: define the interaction, define success, characterize the environment, and then choose the agent design.</a:t>
            </a:r>
          </a:p>
          <a:p/>
          <a:p>
            <a:r>
              <a:t>[Instructor Cue]</a:t>
            </a:r>
          </a:p>
          <a:p>
            <a:r>
              <a:t>Tell students that the roadmap is also a checklist they can use on exams and projects.</a:t>
            </a:r>
          </a:p>
          <a:p/>
          <a:p>
            <a:r>
              <a:t>[Transition]</a:t>
            </a:r>
          </a:p>
          <a:p>
            <a:r>
              <a:t>We will now define the perceive-act loop formally.</a:t>
            </a:r>
          </a:p>
          <a:p/>
          <a:p>
            <a:r>
              <a:t>[Sources]</a:t>
            </a:r>
          </a:p>
          <a:p>
            <a:r>
              <a:t>- AIMA 4e, Chapter 2 structure.</a:t>
            </a:r>
          </a:p>
        </p:txBody>
      </p:sp>
      <p:sp>
        <p:nvSpPr>
          <p:cNvPr id="721"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26B87D0-DA40-45A6-A00B-125D6322ECDB}"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PlaceHolder 1"/>
          <p:cNvSpPr>
            <a:spLocks noGrp="1"/>
          </p:cNvSpPr>
          <p:nvPr>
            <p:ph type="sldImg"/>
          </p:nvPr>
        </p:nvSpPr>
        <p:spPr>
          <a:xfrm>
            <a:off x="685800" y="1143000"/>
            <a:ext cx="5485680" cy="3085560"/>
          </a:xfrm>
          <a:prstGeom prst="rect">
            <a:avLst/>
          </a:prstGeom>
          <a:ln w="0">
            <a:noFill/>
          </a:ln>
        </p:spPr>
      </p:sp>
      <p:sp>
        <p:nvSpPr>
          <p:cNvPr id="72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4 minutes</a:t>
            </a:r>
          </a:p>
          <a:p>
            <a:r>
              <a:t>Chapter alignment: Section 2.1</a:t>
            </a:r>
          </a:p>
          <a:p/>
          <a:p>
            <a:r>
              <a:t>[Read-Aloud Script]</a:t>
            </a:r>
          </a:p>
          <a:p/>
          <a:p>
            <a:r>
              <a:t>An agent is anything that can be viewed as perceiving its environment through sensors and acting upon that environment through actuators. This definition is deliberately broad. A human agent uses eyes, ears, and other organs as sensors, and uses hands, legs, and the vocal tract as actuators. A robotic agent may use cameras, lidar, infrared range finders, and tactile sensors, with motors and joints as actuators. A software agent may receive files, network packets, keyboard input, or API responses and may act by writing files, sending messages, displaying information, or generating sound.</a:t>
            </a:r>
          </a:p>
          <a:p/>
          <a:p>
            <a:r>
              <a:t>The environment is the part of the world that matters for the design. It is not automatically the entire universe. For an email-filtering agent, the relevant environment may include incoming messages, user preferences, organizational policies, and attacker behavior. For Pac-Man, it includes the maze, pellets, ghosts, power pellets, and scoring rules.</a:t>
            </a:r>
          </a:p>
          <a:p/>
          <a:p>
            <a:r>
              <a:t>The arrows in the diagram are important. Percepts travel from the environment to the agent through sensors. Actions travel from the agent back to the environment through actuators. Once an action changes the environment, the next percept may be different. The agent therefore operates in a feedback loop.</a:t>
            </a:r>
          </a:p>
          <a:p/>
          <a:p>
            <a:r>
              <a:t>This definition is a tool for analysis. We could describe a calculator as an agent, but that description may not add much. The agent framework becomes especially useful when the system has meaningful choices, significant computational resources, and a task environment that requires nontrivial decision making.</a:t>
            </a:r>
          </a:p>
          <a:p/>
          <a:p>
            <a:r>
              <a:t>[Instructor Cue]</a:t>
            </a:r>
          </a:p>
          <a:p>
            <a:r>
              <a:t>Ask: for a campus chatbot, what are the sensors and actuators? Accept inputs such as user text, authentication context, knowledge-base results, responses, escalation, and ticket creation.</a:t>
            </a:r>
          </a:p>
          <a:p/>
          <a:p>
            <a:r>
              <a:t>[Transition]</a:t>
            </a:r>
          </a:p>
          <a:p>
            <a:r>
              <a:t>To describe the agent’s behavior precisely, we need the terms percept, percept sequence, agent function, and agent program.</a:t>
            </a:r>
          </a:p>
          <a:p/>
          <a:p>
            <a:r>
              <a:t>[Sources]</a:t>
            </a:r>
          </a:p>
          <a:p>
            <a:r>
              <a:t>- AIMA 4e, Section 2.1 and Figure 2.1.</a:t>
            </a:r>
          </a:p>
        </p:txBody>
      </p:sp>
      <p:sp>
        <p:nvSpPr>
          <p:cNvPr id="724"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1ED191C-5293-4812-919B-F7E37BBCDB56}"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sldImg"/>
          </p:nvPr>
        </p:nvSpPr>
        <p:spPr>
          <a:xfrm>
            <a:off x="685800" y="1143000"/>
            <a:ext cx="5485680" cy="3085560"/>
          </a:xfrm>
          <a:prstGeom prst="rect">
            <a:avLst/>
          </a:prstGeom>
          <a:ln w="0">
            <a:noFill/>
          </a:ln>
        </p:spPr>
      </p:sp>
      <p:sp>
        <p:nvSpPr>
          <p:cNvPr id="72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4 minutes</a:t>
            </a:r>
          </a:p>
          <a:p>
            <a:r>
              <a:t>Chapter alignment: Section 2.1</a:t>
            </a:r>
          </a:p>
          <a:p/>
          <a:p>
            <a:r>
              <a:t>[Read-Aloud Script]</a:t>
            </a:r>
          </a:p>
          <a:p/>
          <a:p>
            <a:r>
              <a:t>A percept is the content currently received by the agent’s sensors. In Pac-Man, a percept might include the current position, nearby walls, visible ghosts, remaining pellets, and legal moves. A percept sequence is the complete history of everything the agent has perceived so far.</a:t>
            </a:r>
          </a:p>
          <a:p/>
          <a:p>
            <a:r>
              <a:t>The distinction matters because the best action may depend on history. A single camera frame may not reveal whether a car’s lights have just turned on, but two consecutive frames can. A current Pac-Man screen may not reveal how long a power-pellet effect has been active unless the agent remembers when the pellet was eaten.</a:t>
            </a:r>
          </a:p>
          <a:p/>
          <a:p>
            <a:r>
              <a:t>The agent function is an abstract mathematical mapping from percept sequences to actions. It describes what the agent would do for every possible history of percepts. The agent program is the concrete implementation that runs on a physical or computational architecture. A useful teaching phrase is: the function is the behavior we want; the program is the mechanism that computes it.</a:t>
            </a:r>
          </a:p>
          <a:p/>
          <a:p>
            <a:r>
              <a:t>An agent program normally receives the current percept as input. If the agent function depends on the entire percept sequence, the program must store relevant history in memory. This is why internal state becomes central when we move from simple reflex agents to model-based agents.</a:t>
            </a:r>
          </a:p>
          <a:p/>
          <a:p>
            <a:r>
              <a:t>Chapter 2’s central engineering problem is not merely to define a rational mapping in principle. It is to produce rational behavior from a program that is compact enough to store, efficient enough to run, and capable of operating in the actual environment.</a:t>
            </a:r>
          </a:p>
          <a:p/>
          <a:p>
            <a:r>
              <a:t>[Instructor Cue]</a:t>
            </a:r>
          </a:p>
          <a:p>
            <a:r>
              <a:t>Pause and ask students to explain the difference between an agent function and an agent program in one sentence.</a:t>
            </a:r>
          </a:p>
          <a:p/>
          <a:p>
            <a:r>
              <a:t>[Transition]</a:t>
            </a:r>
          </a:p>
          <a:p>
            <a:r>
              <a:t>Now that behavior can be described, we need a standard for deciding whether the behavior is good.</a:t>
            </a:r>
          </a:p>
          <a:p/>
          <a:p>
            <a:r>
              <a:t>[Sources]</a:t>
            </a:r>
          </a:p>
          <a:p>
            <a:r>
              <a:t>- AIMA 4e, Section 2.1.</a:t>
            </a:r>
          </a:p>
        </p:txBody>
      </p:sp>
      <p:sp>
        <p:nvSpPr>
          <p:cNvPr id="727"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48558AA-9C41-4A70-AA6D-4CFF5914DA0D}"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PlaceHolder 1"/>
          <p:cNvSpPr>
            <a:spLocks noGrp="1"/>
          </p:cNvSpPr>
          <p:nvPr>
            <p:ph type="sldImg"/>
          </p:nvPr>
        </p:nvSpPr>
        <p:spPr>
          <a:xfrm>
            <a:off x="685800" y="1143000"/>
            <a:ext cx="5485680" cy="3085560"/>
          </a:xfrm>
          <a:prstGeom prst="rect">
            <a:avLst/>
          </a:prstGeom>
          <a:ln w="0">
            <a:noFill/>
          </a:ln>
        </p:spPr>
      </p:sp>
      <p:sp>
        <p:nvSpPr>
          <p:cNvPr id="72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5 minutes</a:t>
            </a:r>
          </a:p>
          <a:p>
            <a:r>
              <a:t>Chapter alignment: Sections 2.2.1 and 2.2.2</a:t>
            </a:r>
          </a:p>
          <a:p/>
          <a:p>
            <a:r>
              <a:t>[Read-Aloud Script]</a:t>
            </a:r>
          </a:p>
          <a:p/>
          <a:p>
            <a:r>
              <a:t>A rational agent is one that does the right thing, but Chapter 2 gives that phrase a technical meaning. The agent’s behavior is evaluated by a performance measure. The performance measure scores the consequences produced in the environment, not the internal elegance of the program.</a:t>
            </a:r>
          </a:p>
          <a:p/>
          <a:p>
            <a:r>
              <a:t>What is rational at a particular moment depends on four things. First is the performance measure that defines success. Second is the agent’s prior knowledge of the environment. Third is the set of actions available to the agent. Fourth is the percept sequence observed so far. Change any one of these and the rational action may change.</a:t>
            </a:r>
          </a:p>
          <a:p/>
          <a:p>
            <a:r>
              <a:t>The formal idea is that, for each possible percept sequence, the agent should choose the action expected to maximize the performance measure, given the evidence in that percept sequence and the built-in knowledge it has. The word expected is essential. The agent chooses under uncertainty and cannot be judged as if it had access to facts it never perceived.</a:t>
            </a:r>
          </a:p>
          <a:p/>
          <a:p>
            <a:r>
              <a:t>Consider the two-square vacuum agent. The rule ‘if dirty, suck; otherwise move to the other square’ can be rational if the layout is known, the dirt does not reappear, movement has no cost, the available actions are limited, and the agent correctly perceives location and dirt status. The same rule becomes irrational if movement is penalized, if the environment is larger, if dirt reappears, or if the agent cannot perceive its location.</a:t>
            </a:r>
          </a:p>
          <a:p/>
          <a:p>
            <a:r>
              <a:t>Rationality is therefore not an isolated property of a piece of code. It is a relationship among the agent, its evidence, its capabilities, its objective, and its environment.</a:t>
            </a:r>
          </a:p>
          <a:p/>
          <a:p>
            <a:r>
              <a:t>[Instructor Cue]</a:t>
            </a:r>
          </a:p>
          <a:p>
            <a:r>
              <a:t>Ask: could the same program be rational in one environment and irrational in another? Require students to name the assumption that changed.</a:t>
            </a:r>
          </a:p>
          <a:p/>
          <a:p>
            <a:r>
              <a:t>[Transition]</a:t>
            </a:r>
          </a:p>
          <a:p>
            <a:r>
              <a:t>Because rational agents optimize what we specify, the design of the performance measure is critical.</a:t>
            </a:r>
          </a:p>
          <a:p/>
          <a:p>
            <a:r>
              <a:t>[Sources]</a:t>
            </a:r>
          </a:p>
          <a:p>
            <a:r>
              <a:t>- AIMA 4e, Sections 2.2.1 and 2.2.2.</a:t>
            </a:r>
          </a:p>
        </p:txBody>
      </p:sp>
      <p:sp>
        <p:nvSpPr>
          <p:cNvPr id="730"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A9169B5-7C4C-44A2-9E40-48BC7FAE1B58}"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PlaceHolder 1"/>
          <p:cNvSpPr>
            <a:spLocks noGrp="1"/>
          </p:cNvSpPr>
          <p:nvPr>
            <p:ph type="sldImg"/>
          </p:nvPr>
        </p:nvSpPr>
        <p:spPr>
          <a:xfrm>
            <a:off x="685800" y="1143000"/>
            <a:ext cx="5485680" cy="3085560"/>
          </a:xfrm>
          <a:prstGeom prst="rect">
            <a:avLst/>
          </a:prstGeom>
          <a:ln w="0">
            <a:noFill/>
          </a:ln>
        </p:spPr>
      </p:sp>
      <p:sp>
        <p:nvSpPr>
          <p:cNvPr id="73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4 minutes</a:t>
            </a:r>
          </a:p>
          <a:p>
            <a:r>
              <a:t>Chapter alignment: Section 2.2.1</a:t>
            </a:r>
          </a:p>
          <a:p/>
          <a:p>
            <a:r>
              <a:t>[Read-Aloud Script]</a:t>
            </a:r>
          </a:p>
          <a:p/>
          <a:p>
            <a:r>
              <a:t>A performance measure should reward the state of the environment that we actually want, not a convenient proxy for effort. The vacuum example makes this clear. If we reward the amount of dirt cleaned, a perfectly rational optimizer could clean the dirt, dump it back onto the floor, and clean it again. The measured activity increases, but the real objective is not achieved.</a:t>
            </a:r>
          </a:p>
          <a:p/>
          <a:p>
            <a:r>
              <a:t>A better measure rewards clean squares over time. We might also include penalties for electricity use, noise, damage, or unnecessary movement. The exact measure depends on what the designer and users value. The important principle is to specify the desired outcome rather than prescribing a visible behavior that can be manipulated.</a:t>
            </a:r>
          </a:p>
          <a:p/>
          <a:p>
            <a:r>
              <a:t>This is the same basic problem discussed in Chapter 1 through the King Midas and value-alignment examples. A capable system can optimize an objective faithfully while producing an outcome that people did not intend. Greater capability does not repair a badly specified objective; it may make the consequences more severe.</a:t>
            </a:r>
          </a:p>
          <a:p/>
          <a:p>
            <a:r>
              <a:t>Performance measures can also involve genuine tradeoffs. A taxi should be safe, legal, fast, comfortable, fuel-efficient, and profitable. Those goals can conflict. Chapter 2 assumes that a usable measure can often be specified, but it also acknowledges that the measure may be incomplete, uncertain, or different for different users.</a:t>
            </a:r>
          </a:p>
          <a:p/>
          <a:p>
            <a:r>
              <a:t>[Instructor Cue]</a:t>
            </a:r>
          </a:p>
          <a:p>
            <a:r>
              <a:t>Ask students to propose a bad performance measure for a campus chatbot, then improve it. Examples: number of responses versus accurate, helpful resolutions with appropriate escalation.</a:t>
            </a:r>
          </a:p>
          <a:p/>
          <a:p>
            <a:r>
              <a:t>[Transition]</a:t>
            </a:r>
          </a:p>
          <a:p>
            <a:r>
              <a:t>A well-designed objective is necessary, but rationality still does not require perfect knowledge of the future.</a:t>
            </a:r>
          </a:p>
          <a:p/>
          <a:p>
            <a:r>
              <a:t>[Sources]</a:t>
            </a:r>
          </a:p>
          <a:p>
            <a:r>
              <a:t>- AIMA 4e, Section 2.2.1; Chapter 1 value-alignment discussion.</a:t>
            </a:r>
          </a:p>
        </p:txBody>
      </p:sp>
      <p:sp>
        <p:nvSpPr>
          <p:cNvPr id="733"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A935865-7D07-4799-B888-30DA448DB8F9}"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 name="PlaceHolder 1"/>
          <p:cNvSpPr>
            <a:spLocks noGrp="1"/>
          </p:cNvSpPr>
          <p:nvPr>
            <p:ph type="sldImg"/>
          </p:nvPr>
        </p:nvSpPr>
        <p:spPr>
          <a:xfrm>
            <a:off x="685800" y="1143000"/>
            <a:ext cx="5485680" cy="3085560"/>
          </a:xfrm>
          <a:prstGeom prst="rect">
            <a:avLst/>
          </a:prstGeom>
          <a:ln w="0">
            <a:noFill/>
          </a:ln>
        </p:spPr>
      </p:sp>
      <p:sp>
        <p:nvSpPr>
          <p:cNvPr id="73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5 minutes</a:t>
            </a:r>
          </a:p>
          <a:p>
            <a:r>
              <a:t>Chapter alignment: Section 2.2.3</a:t>
            </a:r>
          </a:p>
          <a:p/>
          <a:p>
            <a:r>
              <a:t>[Read-Aloud Script]</a:t>
            </a:r>
          </a:p>
          <a:p/>
          <a:p>
            <a:r>
              <a:t>Omniscience means knowing the actual outcome of every action before acting. Rationality does not require omniscience, because omniscience is impossible in realistic environments. A rational agent maximizes expected performance using the evidence available at the time; a perfect agent would maximize the outcome that is actually best after all uncertainty has been resolved.</a:t>
            </a:r>
          </a:p>
          <a:p/>
          <a:p>
            <a:r>
              <a:t>The chapter’s street-crossing example illustrates the difference. A person looks, sees no traffic, and begins to cross. An unforeseeable event then causes an accident. The bad outcome does not prove that the original decision was irrational. The decision must be judged from the information available when it was made.</a:t>
            </a:r>
          </a:p>
          <a:p/>
          <a:p>
            <a:r>
              <a:t>Rationality can also require information-gathering actions. Looking both ways before crossing does not directly move the agent toward the other side, but it improves the percept sequence and therefore supports a better later decision. Exploration in an unknown environment serves the same purpose.</a:t>
            </a:r>
          </a:p>
          <a:p/>
          <a:p>
            <a:r>
              <a:t>A rational agent should learn from experience. An agent that relies completely on assumptions supplied by its designer lacks autonomy. The chapter’s dung beetle and sphex wasp examples show rigid behavior that continues even after environmental assumptions have been violated. An autonomous artificial agent should use percepts and learning to compensate for incomplete or incorrect prior knowledge.</a:t>
            </a:r>
          </a:p>
          <a:p/>
          <a:p>
            <a:r>
              <a:t>Complete autonomy is not required at the beginning. Designers normally supply initial knowledge, just as biological systems begin with useful reflexes. The goal is that experience gradually makes the agent less dependent on those initial assumptions.</a:t>
            </a:r>
          </a:p>
          <a:p/>
          <a:p>
            <a:r>
              <a:t>[Instructor Cue]</a:t>
            </a:r>
          </a:p>
          <a:p>
            <a:r>
              <a:t>Distinguish three terms aloud: omniscience knows the outcome; perfection achieves the actual best outcome; rationality chooses the best expected action from available evidence.</a:t>
            </a:r>
          </a:p>
          <a:p/>
          <a:p>
            <a:r>
              <a:t>[Transition]</a:t>
            </a:r>
          </a:p>
          <a:p>
            <a:r>
              <a:t>To design such an agent, we must first specify the task environment completely enough to know what success and available interaction mean.</a:t>
            </a:r>
          </a:p>
          <a:p/>
          <a:p>
            <a:r>
              <a:t>[Sources]</a:t>
            </a:r>
          </a:p>
          <a:p>
            <a:r>
              <a:t>- AIMA 4e, Section 2.2.3.</a:t>
            </a:r>
          </a:p>
        </p:txBody>
      </p:sp>
      <p:sp>
        <p:nvSpPr>
          <p:cNvPr id="736"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6E3EF4D-A3BF-4A80-8978-2A2C3DD9E562}"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 name="PlaceHolder 1"/>
          <p:cNvSpPr>
            <a:spLocks noGrp="1"/>
          </p:cNvSpPr>
          <p:nvPr>
            <p:ph type="sldImg"/>
          </p:nvPr>
        </p:nvSpPr>
        <p:spPr>
          <a:xfrm>
            <a:off x="685800" y="1143000"/>
            <a:ext cx="5485680" cy="3085560"/>
          </a:xfrm>
          <a:prstGeom prst="rect">
            <a:avLst/>
          </a:prstGeom>
          <a:ln w="0">
            <a:noFill/>
          </a:ln>
        </p:spPr>
      </p:sp>
      <p:sp>
        <p:nvSpPr>
          <p:cNvPr id="73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6 minutes</a:t>
            </a:r>
          </a:p>
          <a:p>
            <a:r>
              <a:t>Chapter alignment: Section 2.3.1</a:t>
            </a:r>
          </a:p>
          <a:p/>
          <a:p>
            <a:r>
              <a:t>[Read-Aloud Script]</a:t>
            </a:r>
          </a:p>
          <a:p/>
          <a:p>
            <a:r>
              <a:t>PEAS stands for Performance measure, Environment, Actuators, and Sensors. It is the chapter’s basic checklist for specifying a task environment. Before choosing an algorithm, model, or programming language, the designer should define these four elements as fully as possible.</a:t>
            </a:r>
          </a:p>
          <a:p/>
          <a:p>
            <a:r>
              <a:t>For an automated taxi, the performance measure may include reaching the correct destination, safety, compliance with traffic laws, passenger comfort, trip time, fuel use, vehicle wear, cost, and profit. These criteria can conflict, so the designer must decide how tradeoffs will be handled.</a:t>
            </a:r>
          </a:p>
          <a:p/>
          <a:p>
            <a:r>
              <a:t>The environment includes rural roads, city streets, freeways, traffic, pedestrians, animals, road work, police vehicles, weather, potholes, passengers, and other conditions that affect driving. Restricting the environment makes the problem easier. A system designed only for a mapped, controlled route faces a different task from one expected to drive in any country and in any weather.</a:t>
            </a:r>
          </a:p>
          <a:p/>
          <a:p>
            <a:r>
              <a:t>The actuators include steering, acceleration, braking, turn signals, displays, speech, and possibly communication with other vehicles. The sensors include cameras, lidar, radar or ultrasound, GPS, speedometer, accelerometer, engine and fuel sensors, and passenger input through voice or a touchscreen.</a:t>
            </a:r>
          </a:p>
          <a:p/>
          <a:p>
            <a:r>
              <a:t>Notice that PEAS is not an implementation diagram. It does not yet tell us whether to use search, machine learning, rules, or probability. It tells us what problem those techniques must solve. If PEAS is vague, the system requirements and the evaluation criteria will also be vague.</a:t>
            </a:r>
          </a:p>
          <a:p/>
          <a:p>
            <a:r>
              <a:t>[Instructor Cue]</a:t>
            </a:r>
          </a:p>
          <a:p>
            <a:r>
              <a:t>Have students say the four letters together. Then ask which PEAS category contains GPS, brakes, traffic, and passenger comfort.</a:t>
            </a:r>
          </a:p>
          <a:p/>
          <a:p>
            <a:r>
              <a:t>[Transition]</a:t>
            </a:r>
          </a:p>
          <a:p>
            <a:r>
              <a:t>The next slide shows that the same PEAS structure applies to very different physical and software agents.</a:t>
            </a:r>
          </a:p>
          <a:p/>
          <a:p>
            <a:r>
              <a:t>[Sources]</a:t>
            </a:r>
          </a:p>
          <a:p>
            <a:r>
              <a:t>- AIMA 4e, Section 2.3.1 and Figure 2.4.</a:t>
            </a:r>
          </a:p>
        </p:txBody>
      </p:sp>
      <p:sp>
        <p:nvSpPr>
          <p:cNvPr id="739"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645C664-F270-475D-94EF-4B4109738886}"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PlaceHolder 1"/>
          <p:cNvSpPr>
            <a:spLocks noGrp="1"/>
          </p:cNvSpPr>
          <p:nvPr>
            <p:ph type="sldImg"/>
          </p:nvPr>
        </p:nvSpPr>
        <p:spPr>
          <a:xfrm>
            <a:off x="685800" y="1143000"/>
            <a:ext cx="5485680" cy="3085560"/>
          </a:xfrm>
          <a:prstGeom prst="rect">
            <a:avLst/>
          </a:prstGeom>
          <a:ln w="0">
            <a:noFill/>
          </a:ln>
        </p:spPr>
      </p:sp>
      <p:sp>
        <p:nvSpPr>
          <p:cNvPr id="74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6 minutes</a:t>
            </a:r>
          </a:p>
          <a:p>
            <a:r>
              <a:t>Chapter alignment: Section 2.3.1 and Figure 2.5</a:t>
            </a:r>
          </a:p>
          <a:p/>
          <a:p>
            <a:r>
              <a:t>[Read-Aloud Script]</a:t>
            </a:r>
          </a:p>
          <a:p/>
          <a:p>
            <a:r>
              <a:t>This table applies PEAS to five different systems. The purpose is not to memorize every cell. The purpose is to see that an agent is defined by a complete interaction task, not merely by its algorithm.</a:t>
            </a:r>
          </a:p>
          <a:p/>
          <a:p>
            <a:r>
              <a:t>For a medical diagnosis system, success means a healthy patient at reduced cost. The environment includes the patient, hospital, and staff. The system acts by asking questions, recommending tests, presenting diagnoses, or suggesting treatments. Its sensors are the entered symptoms and findings.</a:t>
            </a:r>
          </a:p>
          <a:p/>
          <a:p>
            <a:r>
              <a:t>A satellite image analysis system receives high-resolution digital imagery and acts by producing a categorization of objects or terrain. A part-picking robot senses with cameras, tactile sensors, and joint-angle sensors, then acts through a jointed arm and hand. A refinery controller receives temperature, pressure, flow, and chemical measurements and controls valves, pumps, heaters, stirrers, and displays. An interactive English tutor receives keyboard or voice input and acts through exercises, feedback, displays, and speech.</a:t>
            </a:r>
          </a:p>
          <a:p/>
          <a:p>
            <a:r>
              <a:t>Physical and virtual environments can both be complex. A software agent may interact with millions of users and billions of objects. The fact that an environment is digital does not automatically make it simple, fully observable, or deterministic.</a:t>
            </a:r>
          </a:p>
          <a:p/>
          <a:p>
            <a:r>
              <a:t>When you design your own agent, use PEAS to expose missing assumptions. If the performance measure says only ‘be helpful,’ it is not yet measurable. If the sensors do not provide information needed for the requested action, the task may be impossible as specified. If the actuators cannot change the environment in the required way, the architecture is incomplete.</a:t>
            </a:r>
          </a:p>
          <a:p/>
          <a:p>
            <a:r>
              <a:t>[Instructor Cue]</a:t>
            </a:r>
          </a:p>
          <a:p>
            <a:r>
              <a:t>Point to one row and ask students to identify a sensor-actuator pair. Then ask how changing the performance measure could change the agent’s behavior.</a:t>
            </a:r>
          </a:p>
          <a:p/>
          <a:p>
            <a:r>
              <a:t>[Transition]</a:t>
            </a:r>
          </a:p>
          <a:p>
            <a:r>
              <a:t>Once the task is specified, the next step is to classify the environment along dimensions that determine the difficulty of agent design.</a:t>
            </a:r>
          </a:p>
          <a:p/>
          <a:p>
            <a:r>
              <a:t>[Sources]</a:t>
            </a:r>
          </a:p>
          <a:p>
            <a:r>
              <a:t>- AIMA 4e, Section 2.3.1 and Figure 2.5.</a:t>
            </a:r>
          </a:p>
        </p:txBody>
      </p:sp>
      <p:sp>
        <p:nvSpPr>
          <p:cNvPr id="742"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716B489-4161-46C4-A9DB-826956CB000C}"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sldImg"/>
          </p:nvPr>
        </p:nvSpPr>
        <p:spPr>
          <a:xfrm>
            <a:off x="685800" y="1143000"/>
            <a:ext cx="5485680" cy="3085560"/>
          </a:xfrm>
          <a:prstGeom prst="rect">
            <a:avLst/>
          </a:prstGeom>
          <a:ln w="0">
            <a:noFill/>
          </a:ln>
        </p:spPr>
      </p:sp>
      <p:sp>
        <p:nvSpPr>
          <p:cNvPr id="74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9 minutes</a:t>
            </a:r>
          </a:p>
          <a:p>
            <a:r>
              <a:t>Chapter alignment: Section 2.3.2</a:t>
            </a:r>
          </a:p>
          <a:p/>
          <a:p>
            <a:r>
              <a:t>[Read-Aloud Script]</a:t>
            </a:r>
          </a:p>
          <a:p/>
          <a:p>
            <a:r>
              <a:t>Task environments vary along several dimensions. These dimensions matter because they determine what information the agent needs and which agent designs are likely to work.</a:t>
            </a:r>
          </a:p>
          <a:p/>
          <a:p>
            <a:r>
              <a:t>First is fully observable versus partially observable. An environment is fully observable when the sensors provide all aspects of state that are relevant to selecting an action. Partial observability can result from missing information, occlusion, or noisy sensors. Observability is relative to the performance measure: the agent does not need every fact in the universe, only the facts relevant to the decision.</a:t>
            </a:r>
          </a:p>
          <a:p/>
          <a:p>
            <a:r>
              <a:t>Second is single-agent versus multiagent. A crossword puzzle is usually single-agent. Chess is competitive multiagent because the opponent is selecting actions to improve a performance measure that conflicts with ours. Taxi driving is partly cooperative because drivers share an interest in avoiding collisions, and partly competitive because resources such as parking spaces are limited.</a:t>
            </a:r>
          </a:p>
          <a:p/>
          <a:p>
            <a:r>
              <a:t>Third is deterministic versus nondeterministic. In a deterministic environment, the current state and action determine the next state. In a nondeterministic environment, more than one outcome is possible. The chapter uses stochastic for models that assign explicit probabilities to outcomes. Real driving must be treated as uncertain because other drivers, mechanical failures, and unobserved conditions cannot be predicted exactly.</a:t>
            </a:r>
          </a:p>
          <a:p/>
          <a:p>
            <a:r>
              <a:t>Fourth is episodic versus sequential. In an episodic task, each decision is independent of previous decisions. Classifying separate images is often episodic. In a sequential task, current actions affect future states and future choices. Chess, driving, and Pac-Man are sequential.</a:t>
            </a:r>
          </a:p>
          <a:p/>
          <a:p>
            <a:r>
              <a:t>Fifth is static versus dynamic. A static environment does not change while the agent deliberates. A dynamic environment does. A timed chess game is semidynamic: the board may not change during thought, but the performance score changes as the clock runs.</a:t>
            </a:r>
          </a:p>
          <a:p/>
          <a:p>
            <a:r>
              <a:t>Sixth is discrete versus continuous. Chess uses discrete states and actions. Driving has continuous positions, velocities, time, and steering angles, even though digital sensors sample those quantities.</a:t>
            </a:r>
          </a:p>
          <a:p/>
          <a:p>
            <a:r>
              <a:t>Seventh is known versus unknown. This is about whether the agent knows the rules or transition behavior. It is different from observability. Solitaire can be known but partially observable: the rules are known, but hidden cards are not visible. A new video game can be fully observable but initially unknown: the screen shows the complete state, but the player does not yet know what each control does.</a:t>
            </a:r>
          </a:p>
          <a:p/>
          <a:p>
            <a:r>
              <a:t>The hardest general case is partially observable, multiagent, nondeterministic, sequential, dynamic, continuous, and unknown. Real tasks often combine several of these properties, and the classifications are not always absolute. The purpose is to guide design, not to force every task into a perfectly clean category.</a:t>
            </a:r>
          </a:p>
          <a:p/>
          <a:p>
            <a:r>
              <a:t>[Instructor Cue]</a:t>
            </a:r>
          </a:p>
          <a:p>
            <a:r>
              <a:t>Rapid check: classify chess, medical diagnosis, and taxi driving on two dimensions each. Correct explanations matter more than a memorized label.</a:t>
            </a:r>
          </a:p>
          <a:p/>
          <a:p>
            <a:r>
              <a:t>[Transition]</a:t>
            </a:r>
          </a:p>
          <a:p>
            <a:r>
              <a:t>Pac-Man gives us a compact environment in which many of these properties are visible at once.</a:t>
            </a:r>
          </a:p>
          <a:p/>
          <a:p>
            <a:r>
              <a:t>[Sources]</a:t>
            </a:r>
          </a:p>
          <a:p>
            <a:r>
              <a:t>- AIMA 4e, Section 2.3.2 and Figure 2.6.</a:t>
            </a:r>
          </a:p>
        </p:txBody>
      </p:sp>
      <p:sp>
        <p:nvSpPr>
          <p:cNvPr id="745"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229B992-905A-45B4-AF88-7A6CBF01AF1D}"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PlaceHolder 1"/>
          <p:cNvSpPr>
            <a:spLocks noGrp="1"/>
          </p:cNvSpPr>
          <p:nvPr>
            <p:ph type="sldImg"/>
          </p:nvPr>
        </p:nvSpPr>
        <p:spPr>
          <a:xfrm>
            <a:off x="685800" y="1143000"/>
            <a:ext cx="5485680" cy="3085560"/>
          </a:xfrm>
          <a:prstGeom prst="rect">
            <a:avLst/>
          </a:prstGeom>
          <a:ln w="0">
            <a:noFill/>
          </a:ln>
        </p:spPr>
      </p:sp>
      <p:sp>
        <p:nvSpPr>
          <p:cNvPr id="74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4 minutes</a:t>
            </a:r>
          </a:p>
          <a:p>
            <a:r>
              <a:t>Chapter alignment: Running example across Sections 2.1-2.4</a:t>
            </a:r>
          </a:p>
          <a:p/>
          <a:p>
            <a:r>
              <a:t>[Read-Aloud Script]</a:t>
            </a:r>
          </a:p>
          <a:p/>
          <a:p>
            <a:r>
              <a:t>Pac-Man is useful because the agent, environment, percepts, actions, and performance measure are easy to see. The agent is Pac-Man. The environment includes the maze, walls, pellets, power pellets, ghosts, score, and timing rules.</a:t>
            </a:r>
          </a:p>
          <a:p/>
          <a:p>
            <a:r>
              <a:t>The percepts depend on what the program is allowed to observe. They may include Pac-Man’s position, legal moves, remaining pellets, ghost positions, and power-mode status. The actions are movement commands: left, right, up, down, and sometimes stop.</a:t>
            </a:r>
          </a:p>
          <a:p/>
          <a:p>
            <a:r>
              <a:t>The performance measure might reward score, pellet completion, survival, speed, or a combination. A high score alone may not be enough if the agent repeatedly takes reckless risks. A survival-only measure may produce an agent that hides and never completes the task. The measure determines what rational behavior means.</a:t>
            </a:r>
          </a:p>
          <a:p/>
          <a:p>
            <a:r>
              <a:t>The task is sequential because each movement changes future options. It is dynamic because ghosts move while play continues. It is multiagent if ghost behavior is modeled as goal-directed. It is discrete at the grid level. A simplified implementation may be fully observable, while a richer version can include hidden timers or uncertain ghost behavior.</a:t>
            </a:r>
          </a:p>
          <a:p/>
          <a:p>
            <a:r>
              <a:t>When we run the autonomous Pac-Man code later, we will use this vocabulary to identify the agent program and ask whether it is reflex, model-based, goal-based, utility-based, or a combination.</a:t>
            </a:r>
          </a:p>
          <a:p/>
          <a:p>
            <a:r>
              <a:t>[Instructor Cue]</a:t>
            </a:r>
          </a:p>
          <a:p>
            <a:r>
              <a:t>Point to the maze and ask students to name one percept, one action, and one performance criterion.</a:t>
            </a:r>
          </a:p>
          <a:p/>
          <a:p>
            <a:r>
              <a:t>[Transition]</a:t>
            </a:r>
          </a:p>
          <a:p>
            <a:r>
              <a:t>We now move inside the agent and examine the relationship among architecture, program, and behavior.</a:t>
            </a:r>
          </a:p>
          <a:p/>
          <a:p>
            <a:r>
              <a:t>[Sources]</a:t>
            </a:r>
          </a:p>
          <a:p>
            <a:r>
              <a:t>- AIMA 4e, Sections 2.1-2.4; lecture deck Pac-Man example.</a:t>
            </a:r>
          </a:p>
        </p:txBody>
      </p:sp>
      <p:sp>
        <p:nvSpPr>
          <p:cNvPr id="748"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CD73B18-4896-49A5-A64D-DA0C101BCEDD}"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PlaceHolder 1"/>
          <p:cNvSpPr>
            <a:spLocks noGrp="1"/>
          </p:cNvSpPr>
          <p:nvPr>
            <p:ph type="sldImg"/>
          </p:nvPr>
        </p:nvSpPr>
        <p:spPr>
          <a:xfrm>
            <a:off x="685800" y="1143000"/>
            <a:ext cx="5485680" cy="3085560"/>
          </a:xfrm>
          <a:prstGeom prst="rect">
            <a:avLst/>
          </a:prstGeom>
          <a:ln w="0">
            <a:noFill/>
          </a:ln>
        </p:spPr>
      </p:sp>
      <p:sp>
        <p:nvSpPr>
          <p:cNvPr id="75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4 minutes</a:t>
            </a:r>
          </a:p>
          <a:p>
            <a:r>
              <a:t>Chapter alignment: Sections 2.4 and 2.4.1</a:t>
            </a:r>
          </a:p>
          <a:p/>
          <a:p>
            <a:r>
              <a:t>[Read-Aloud Script]</a:t>
            </a:r>
          </a:p>
          <a:p/>
          <a:p>
            <a:r>
              <a:t>Chapter 2 summarizes an artificial agent with the equation: agent equals architecture plus program. The architecture is the physical or computational platform. It provides sensors, processors, memory, communication interfaces, and actuators. The agent program receives percepts from that architecture and returns actions for the architecture to execute.</a:t>
            </a:r>
          </a:p>
          <a:p/>
          <a:p>
            <a:r>
              <a:t>The program must be appropriate for the architecture. A program that selects the action ‘walk forward’ is useless on a machine with no means of locomotion. A program that expects lidar data cannot operate correctly if the architecture provides only a keyboard.</a:t>
            </a:r>
          </a:p>
          <a:p/>
          <a:p>
            <a:r>
              <a:t>The agent function remains the abstract mapping from percept sequence to action. The program is one implementation of that mapping. Different programs and architectures can sometimes implement similar behavior, but practical limits such as memory, processing time, sensor quality, and actuator precision affect what can actually be achieved.</a:t>
            </a:r>
          </a:p>
          <a:p/>
          <a:p>
            <a:r>
              <a:t>One conceptually simple implementation is a lookup table containing the correct action for every percept sequence. The next slides use the table-driven agent to show why a complete mapping may be clear in theory but impossible to implement in realistic environments.</a:t>
            </a:r>
          </a:p>
          <a:p/>
          <a:p>
            <a:r>
              <a:t>[Instructor Cue]</a:t>
            </a:r>
          </a:p>
          <a:p>
            <a:r>
              <a:t>Repeat the equation aloud and ask students which side contains the software and which side contains the platform.</a:t>
            </a:r>
          </a:p>
          <a:p/>
          <a:p>
            <a:r>
              <a:t>[Transition]</a:t>
            </a:r>
          </a:p>
          <a:p>
            <a:r>
              <a:t>The table-driven agent is our conceptual baseline for implementing an agent function.</a:t>
            </a:r>
          </a:p>
          <a:p/>
          <a:p>
            <a:r>
              <a:t>[Sources]</a:t>
            </a:r>
          </a:p>
          <a:p>
            <a:r>
              <a:t>- AIMA 4e, Sections 2.4 and 2.4.1.</a:t>
            </a:r>
          </a:p>
        </p:txBody>
      </p:sp>
      <p:sp>
        <p:nvSpPr>
          <p:cNvPr id="751"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599C101-9449-48BF-9D04-FC6BA89B4E82}"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type="sldImg"/>
          </p:nvPr>
        </p:nvSpPr>
        <p:spPr>
          <a:xfrm>
            <a:off x="685800" y="1143000"/>
            <a:ext cx="5485680" cy="3085560"/>
          </a:xfrm>
          <a:prstGeom prst="rect">
            <a:avLst/>
          </a:prstGeom>
          <a:ln w="0">
            <a:noFill/>
          </a:ln>
        </p:spPr>
      </p:sp>
      <p:sp>
        <p:nvSpPr>
          <p:cNvPr id="75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5 minutes</a:t>
            </a:r>
          </a:p>
          <a:p>
            <a:r>
              <a:t>Chapter alignment: Section 2.4.1 and Figure 2.7</a:t>
            </a:r>
          </a:p>
          <a:p/>
          <a:p>
            <a:r>
              <a:t>[Read-Aloud Script]</a:t>
            </a:r>
          </a:p>
          <a:p/>
          <a:p>
            <a:r>
              <a:t>This is the table-driven agent. It is important because it represents the agent function explicitly, even though it is not a practical design for realistic systems.</a:t>
            </a:r>
          </a:p>
          <a:p/>
          <a:p>
            <a:r>
              <a:t>Read the pseudocode from top to bottom. The function receives the current percept and returns an action. It has two persistent variables. The first is percepts, a sequence that begins empty and retains the complete percept history. The second is table, a fully specified mapping indexed by percept sequences.</a:t>
            </a:r>
          </a:p>
          <a:p/>
          <a:p>
            <a:r>
              <a:t>Each time the function is called, it appends the new percept to the stored sequence. It then performs a lookup using the entire percept history and returns the action stored in the table. If the table contains the correct action for every possible history, the program implements the desired agent function.</a:t>
            </a:r>
          </a:p>
          <a:p/>
          <a:p>
            <a:r>
              <a:t>The design has no need to interpret the percept, reason about goals, estimate state, or generalize from similar situations. All of that work has already been performed by whoever created the table. The program simply remembers and looks up.</a:t>
            </a:r>
          </a:p>
          <a:p/>
          <a:p>
            <a:r>
              <a:t>This makes the table-driven agent useful as a conceptual reference. It demonstrates the difference between an agent function and an agent program. It also makes the scalability problem visible: as the number of possible percepts and the length of the percept history increase, the number of table entries grows explosively.</a:t>
            </a:r>
          </a:p>
          <a:p/>
          <a:p>
            <a:r>
              <a:t>[Instructor Cue]</a:t>
            </a:r>
          </a:p>
          <a:p>
            <a:r>
              <a:t>Trace the pseudocode with a two-percept example. Ask what happens when a third percept arrives: the sequence becomes a new table index.</a:t>
            </a:r>
          </a:p>
          <a:p/>
          <a:p>
            <a:r>
              <a:t>[Transition]</a:t>
            </a:r>
          </a:p>
          <a:p>
            <a:r>
              <a:t>The next slide explains why this correct-in-principle design fails as an engineering solution.</a:t>
            </a:r>
          </a:p>
          <a:p/>
          <a:p>
            <a:r>
              <a:t>[Sources]</a:t>
            </a:r>
          </a:p>
          <a:p>
            <a:r>
              <a:t>- AIMA 4e, Section 2.4.1 and Figure 2.7.</a:t>
            </a:r>
          </a:p>
        </p:txBody>
      </p:sp>
      <p:sp>
        <p:nvSpPr>
          <p:cNvPr id="754"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14F9D8D-ECB7-4293-91EF-E1B35D57537B}"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sldImg"/>
          </p:nvPr>
        </p:nvSpPr>
        <p:spPr>
          <a:xfrm>
            <a:off x="685800" y="1143000"/>
            <a:ext cx="5485680" cy="3085560"/>
          </a:xfrm>
          <a:prstGeom prst="rect">
            <a:avLst/>
          </a:prstGeom>
          <a:ln w="0">
            <a:noFill/>
          </a:ln>
        </p:spPr>
      </p:sp>
      <p:sp>
        <p:nvSpPr>
          <p:cNvPr id="75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4 minutes</a:t>
            </a:r>
          </a:p>
          <a:p>
            <a:r>
              <a:t>Chapter alignment: Section 2.4.1</a:t>
            </a:r>
          </a:p>
          <a:p/>
          <a:p>
            <a:r>
              <a:t>[Read-Aloud Script]</a:t>
            </a:r>
          </a:p>
          <a:p/>
          <a:p>
            <a:r>
              <a:t>The lookup table grows across every possible percept sequence, not merely every current percept. If an agent can receive many different percepts over a long lifetime, the number of possible histories becomes enormous.</a:t>
            </a:r>
          </a:p>
          <a:p/>
          <a:p>
            <a:r>
              <a:t>This creates three separate failures. First is the space problem: no realistic machine can store every entry. Second is the design problem: no human designer can specify the correct action for every history. Third is the learning problem: no agent can experience enough cases to learn every table entry independently.</a:t>
            </a:r>
          </a:p>
          <a:p/>
          <a:p>
            <a:r>
              <a:t>The chapter gives extreme examples from automated driving and chess to show that even tightly defined tasks produce tables far larger than any practical storage system. The precise numbers are less important than the growth pattern. A table treats every percept history as a separate case and receives no benefit from structure, similarity, rules, models, goals, or learned generalization.</a:t>
            </a:r>
          </a:p>
          <a:p/>
          <a:p>
            <a:r>
              <a:t>The table-driven agent still teaches an important lesson. The desired agent function may exist, and a table could represent it in theory, but AI must find compact programs that produce rational behavior without enumerating every possible history. The rest of the agent designs are attempts to exploit structure in the task.</a:t>
            </a:r>
          </a:p>
          <a:p/>
          <a:p>
            <a:r>
              <a:t>[Instructor Cue]</a:t>
            </a:r>
          </a:p>
          <a:p>
            <a:r>
              <a:t>Ask students which of the three problems—storage, design, or learning—would appear first in Pac-Man. All three are acceptable with justification.</a:t>
            </a:r>
          </a:p>
          <a:p/>
          <a:p>
            <a:r>
              <a:t>[Transition]</a:t>
            </a:r>
          </a:p>
          <a:p>
            <a:r>
              <a:t>The simplest compact alternative is a reflex agent that uses condition-action rules.</a:t>
            </a:r>
          </a:p>
          <a:p/>
          <a:p>
            <a:r>
              <a:t>[Sources]</a:t>
            </a:r>
          </a:p>
          <a:p>
            <a:r>
              <a:t>- AIMA 4e, Section 2.4.1.</a:t>
            </a:r>
          </a:p>
        </p:txBody>
      </p:sp>
      <p:sp>
        <p:nvSpPr>
          <p:cNvPr id="757"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6ECFDF-8B4A-470F-AFBC-7E1E77DE5AF4}"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type="sldImg"/>
          </p:nvPr>
        </p:nvSpPr>
        <p:spPr>
          <a:xfrm>
            <a:off x="685800" y="1143000"/>
            <a:ext cx="5485680" cy="3085560"/>
          </a:xfrm>
          <a:prstGeom prst="rect">
            <a:avLst/>
          </a:prstGeom>
          <a:ln w="0">
            <a:noFill/>
          </a:ln>
        </p:spPr>
      </p:sp>
      <p:sp>
        <p:nvSpPr>
          <p:cNvPr id="75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5 minutes</a:t>
            </a:r>
          </a:p>
          <a:p>
            <a:r>
              <a:t>Chapter alignment: Section 2.4.2 and Figure 2.8</a:t>
            </a:r>
          </a:p>
          <a:p/>
          <a:p>
            <a:r>
              <a:t>[Read-Aloud Script]</a:t>
            </a:r>
          </a:p>
          <a:p/>
          <a:p>
            <a:r>
              <a:t>A simple reflex agent selects an action from the current percept and ignores the rest of the percept history. The vacuum pseudocode shows the idea in its smallest useful form.</a:t>
            </a:r>
          </a:p>
          <a:p/>
          <a:p>
            <a:r>
              <a:t>The input contains location and status. If status is Dirty, the agent returns Suck. Otherwise, if the location is A, it returns Right. If the location is B, it returns Left. The program does not store previous percepts, remember previous actions, represent a goal, or compare utilities.</a:t>
            </a:r>
          </a:p>
          <a:p/>
          <a:p>
            <a:r>
              <a:t>This small program can implement rational behavior under a specific set of assumptions: two locations, correct location and dirt sensors, reliable actions, no cost for movement, and dirt that does not reappear. Its compactness comes from using regularities in the environment. The action for a dirty square is the same regardless of history, so the program does not need a separate entry for every percept sequence.</a:t>
            </a:r>
          </a:p>
          <a:p/>
          <a:p>
            <a:r>
              <a:t>Simple reflex behavior also appears in complex systems. A driving rule might say: if the car in front is braking, initiate braking. The condition-action connection can be implemented with traditional code, a Boolean circuit, or a learned classifier. What makes the agent reflex is not the programming language; it is that action selection depends on the current interpreted percept rather than explicit reasoning about future consequences.</a:t>
            </a:r>
          </a:p>
          <a:p/>
          <a:p>
            <a:r>
              <a:t>The strength is speed and compactness. The weakness is that the current percept may not contain enough information to identify the true state of the world.</a:t>
            </a:r>
          </a:p>
          <a:p/>
          <a:p>
            <a:r>
              <a:t>[Instructor Cue]</a:t>
            </a:r>
          </a:p>
          <a:p>
            <a:r>
              <a:t>Read the three branches of the pseudocode aloud. Then ask what information the program would need if the vacuum world had four rooms instead of two.</a:t>
            </a:r>
          </a:p>
          <a:p/>
          <a:p>
            <a:r>
              <a:t>[Transition]</a:t>
            </a:r>
          </a:p>
          <a:p>
            <a:r>
              <a:t>A general simple reflex architecture separates percept interpretation from rule matching.</a:t>
            </a:r>
          </a:p>
          <a:p/>
          <a:p>
            <a:r>
              <a:t>[Sources]</a:t>
            </a:r>
          </a:p>
          <a:p>
            <a:r>
              <a:t>- AIMA 4e, Section 2.4.2 and Figure 2.8.</a:t>
            </a:r>
          </a:p>
        </p:txBody>
      </p:sp>
      <p:sp>
        <p:nvSpPr>
          <p:cNvPr id="760"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7BE5C9D-381C-4ABC-9EA3-8002D404B585}"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PlaceHolder 1"/>
          <p:cNvSpPr>
            <a:spLocks noGrp="1"/>
          </p:cNvSpPr>
          <p:nvPr>
            <p:ph type="sldImg"/>
          </p:nvPr>
        </p:nvSpPr>
        <p:spPr>
          <a:xfrm>
            <a:off x="685800" y="1143000"/>
            <a:ext cx="5485680" cy="3085560"/>
          </a:xfrm>
          <a:prstGeom prst="rect">
            <a:avLst/>
          </a:prstGeom>
          <a:ln w="0">
            <a:noFill/>
          </a:ln>
        </p:spPr>
      </p:sp>
      <p:sp>
        <p:nvSpPr>
          <p:cNvPr id="76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5 minutes</a:t>
            </a:r>
          </a:p>
          <a:p>
            <a:r>
              <a:t>Chapter alignment: Section 2.4.2 and Figures 2.9-2.10</a:t>
            </a:r>
          </a:p>
          <a:p/>
          <a:p>
            <a:r>
              <a:t>[Read-Aloud Script]</a:t>
            </a:r>
          </a:p>
          <a:p/>
          <a:p>
            <a:r>
              <a:t>This slide generalizes the vacuum program. The agent receives a percept, interprets it as a description of the current state, matches that state against condition-action rules, and returns the action associated with the first matching rule.</a:t>
            </a:r>
          </a:p>
          <a:p/>
          <a:p>
            <a:r>
              <a:t>In the pseudocode, rules are persistent. INTERPRET-INPUT converts raw sensor data into a useful state description. For a driving agent, raw pixels might be interpreted as the condition ‘car in front is braking.’ RULE-MATCH finds a rule whose condition is satisfied. The program then selects rule dot ACTION and returns it.</a:t>
            </a:r>
          </a:p>
          <a:p/>
          <a:p>
            <a:r>
              <a:t>The diagram separates two questions: what is the world like now, and what action should I do now? A simple reflex agent answers the second question with a condition-action rule. It does not explicitly ask what will happen after the action or whether the action advances a long-term goal.</a:t>
            </a:r>
          </a:p>
          <a:p/>
          <a:p>
            <a:r>
              <a:t>The chapter notes that ‘rules’ and ‘matching’ are conceptual descriptions. An implementation could use if-statements, logic gates, decision trees, or neural components. The architecture is still simple reflex if the chosen action is based only on the current percept-derived state.</a:t>
            </a:r>
          </a:p>
          <a:p/>
          <a:p>
            <a:r>
              <a:t>This design works best when the environment is fully observable and the correct action can be determined from the current state. When relevant information is hidden or must be inferred from history, the same current percept can require different actions.</a:t>
            </a:r>
          </a:p>
          <a:p/>
          <a:p>
            <a:r>
              <a:t>[Instructor Cue]</a:t>
            </a:r>
          </a:p>
          <a:p>
            <a:r>
              <a:t>Point to INTERPRET-INPUT and explain that perception and action selection are separate components, even when both operate within one program.</a:t>
            </a:r>
          </a:p>
          <a:p/>
          <a:p>
            <a:r>
              <a:t>[Transition]</a:t>
            </a:r>
          </a:p>
          <a:p>
            <a:r>
              <a:t>Partial observability exposes the central limitation of simple reflex behavior.</a:t>
            </a:r>
          </a:p>
          <a:p/>
          <a:p>
            <a:r>
              <a:t>[Sources]</a:t>
            </a:r>
          </a:p>
          <a:p>
            <a:r>
              <a:t>- AIMA 4e, Section 2.4.2 and Figures 2.9-2.10.</a:t>
            </a:r>
          </a:p>
        </p:txBody>
      </p:sp>
      <p:sp>
        <p:nvSpPr>
          <p:cNvPr id="763"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790E100-47ED-4AFC-B210-BDC316DEC96E}"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 name="PlaceHolder 1"/>
          <p:cNvSpPr>
            <a:spLocks noGrp="1"/>
          </p:cNvSpPr>
          <p:nvPr>
            <p:ph type="sldImg"/>
          </p:nvPr>
        </p:nvSpPr>
        <p:spPr>
          <a:xfrm>
            <a:off x="685800" y="1143000"/>
            <a:ext cx="5485680" cy="3085560"/>
          </a:xfrm>
          <a:prstGeom prst="rect">
            <a:avLst/>
          </a:prstGeom>
          <a:ln w="0">
            <a:noFill/>
          </a:ln>
        </p:spPr>
      </p:sp>
      <p:sp>
        <p:nvSpPr>
          <p:cNvPr id="76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4 minutes</a:t>
            </a:r>
          </a:p>
          <a:p>
            <a:r>
              <a:t>Chapter alignment: Section 2.4.2</a:t>
            </a:r>
          </a:p>
          <a:p/>
          <a:p>
            <a:r>
              <a:t>[Read-Aloud Script]</a:t>
            </a:r>
          </a:p>
          <a:p/>
          <a:p>
            <a:r>
              <a:t>Suppose the vacuum agent loses its location sensor and can perceive only Clean or Dirty. The response to Dirty is still clear: Suck. The response to Clean is now ambiguous. If the agent always moves Left, it can fail forever when it starts in A. If it always moves Right, it can fail forever when it starts in B.</a:t>
            </a:r>
          </a:p>
          <a:p/>
          <a:p>
            <a:r>
              <a:t>The problem is not a missing condition-action rule. The problem is that the current percept does not identify the relevant state. The same percept, Clean, can occur in different situations that require different actions.</a:t>
            </a:r>
          </a:p>
          <a:p/>
          <a:p>
            <a:r>
              <a:t>Randomization can sometimes escape a loop. The vacuum might randomly choose Left or Right when it sees Clean. In this tiny environment, that may eventually reach the other square. The chapter treats randomization as a useful trick, not a general replacement for knowledge. In many tasks, random action would be inefficient or unsafe.</a:t>
            </a:r>
          </a:p>
          <a:p/>
          <a:p>
            <a:r>
              <a:t>Pac-Man can have the same issue. If the current screen does not reveal how much frightened time remains, a reflex rule may chase a ghost when the power effect is about to end. The agent needs some representation of history or hidden state.</a:t>
            </a:r>
          </a:p>
          <a:p/>
          <a:p>
            <a:r>
              <a:t>The more general solution is to maintain internal state—a best estimate of the parts of the world that are not directly visible now. That leads to the model-based reflex agent.</a:t>
            </a:r>
          </a:p>
          <a:p/>
          <a:p>
            <a:r>
              <a:t>[Instructor Cue]</a:t>
            </a:r>
          </a:p>
          <a:p>
            <a:r>
              <a:t>Ask: what single piece of memory would fix the two-square vacuum example? Accept the last known location or a belief about location.</a:t>
            </a:r>
          </a:p>
          <a:p/>
          <a:p>
            <a:r>
              <a:t>[Transition]</a:t>
            </a:r>
          </a:p>
          <a:p>
            <a:r>
              <a:t>Model-based agents use internal state plus models of the world and sensors.</a:t>
            </a:r>
          </a:p>
          <a:p/>
          <a:p>
            <a:r>
              <a:t>[Sources]</a:t>
            </a:r>
          </a:p>
          <a:p>
            <a:r>
              <a:t>- AIMA 4e, Section 2.4.2.</a:t>
            </a:r>
          </a:p>
        </p:txBody>
      </p:sp>
      <p:sp>
        <p:nvSpPr>
          <p:cNvPr id="766"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7736766-AB47-492E-B291-78087A16D1B4}"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 name="PlaceHolder 1"/>
          <p:cNvSpPr>
            <a:spLocks noGrp="1"/>
          </p:cNvSpPr>
          <p:nvPr>
            <p:ph type="sldImg"/>
          </p:nvPr>
        </p:nvSpPr>
        <p:spPr>
          <a:xfrm>
            <a:off x="685800" y="1143000"/>
            <a:ext cx="5485680" cy="3085560"/>
          </a:xfrm>
          <a:prstGeom prst="rect">
            <a:avLst/>
          </a:prstGeom>
          <a:ln w="0">
            <a:noFill/>
          </a:ln>
        </p:spPr>
      </p:sp>
      <p:sp>
        <p:nvSpPr>
          <p:cNvPr id="76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6 minutes</a:t>
            </a:r>
          </a:p>
          <a:p>
            <a:r>
              <a:t>Chapter alignment: Section 2.4.3 and Figure 2.11</a:t>
            </a:r>
          </a:p>
          <a:p/>
          <a:p>
            <a:r>
              <a:t>[Read-Aloud Script]</a:t>
            </a:r>
          </a:p>
          <a:p/>
          <a:p>
            <a:r>
              <a:t>A model-based reflex agent maintains an internal state that represents its best estimate of what the world is like now. This internal state depends on the percept history, even though the program receives one current percept at a time.</a:t>
            </a:r>
          </a:p>
          <a:p/>
          <a:p>
            <a:r>
              <a:t>Updating internal state requires two kinds of knowledge. The transition model describes how the world changes over time and how the agent’s actions affect it. If a car turns the steering wheel, the model predicts how the vehicle’s direction changes. If ghosts move after Pac-Man acts, the model predicts possible new ghost positions.</a:t>
            </a:r>
          </a:p>
          <a:p/>
          <a:p>
            <a:r>
              <a:t>The sensor model describes how states of the world generate percepts. Brake lights in the world create illuminated regions in a camera image. A wet camera lens creates patterns that partially obscure the road. The agent uses the sensor model to interpret what a percept suggests about the underlying state.</a:t>
            </a:r>
          </a:p>
          <a:p/>
          <a:p>
            <a:r>
              <a:t>The diagram combines the previous internal state, the last action, the transition model, the current percept, and the sensor model to produce an updated state estimate. Condition-action rules can then select an action from that estimated state.</a:t>
            </a:r>
          </a:p>
          <a:p/>
          <a:p>
            <a:r>
              <a:t>This agent is still called reflex because the final action is selected by rules rather than explicit goal search or utility comparison. The important improvement is memory and state estimation. In a partially observable environment, the internal state may be uncertain or contain several possibilities. It is a best guess, not guaranteed ground truth.</a:t>
            </a:r>
          </a:p>
          <a:p/>
          <a:p>
            <a:r>
              <a:t>[Instructor Cue]</a:t>
            </a:r>
          </a:p>
          <a:p>
            <a:r>
              <a:t>Use the driving example: a car temporarily disappears behind a truck. The internal state preserves an estimate of where the car may still be.</a:t>
            </a:r>
          </a:p>
          <a:p/>
          <a:p>
            <a:r>
              <a:t>[Transition]</a:t>
            </a:r>
          </a:p>
          <a:p>
            <a:r>
              <a:t>The pseudocode shows exactly where state, action history, and models enter the decision loop.</a:t>
            </a:r>
          </a:p>
          <a:p/>
          <a:p>
            <a:r>
              <a:t>[Sources]</a:t>
            </a:r>
          </a:p>
          <a:p>
            <a:r>
              <a:t>- AIMA 4e, Section 2.4.3 and Figure 2.11.</a:t>
            </a:r>
          </a:p>
        </p:txBody>
      </p:sp>
      <p:sp>
        <p:nvSpPr>
          <p:cNvPr id="769"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1EBB1C7-CD63-45C6-B6B1-0E96F4AC0611}"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PlaceHolder 1"/>
          <p:cNvSpPr>
            <a:spLocks noGrp="1"/>
          </p:cNvSpPr>
          <p:nvPr>
            <p:ph type="sldImg"/>
          </p:nvPr>
        </p:nvSpPr>
        <p:spPr>
          <a:xfrm>
            <a:off x="685800" y="1143000"/>
            <a:ext cx="5485680" cy="3085560"/>
          </a:xfrm>
          <a:prstGeom prst="rect">
            <a:avLst/>
          </a:prstGeom>
          <a:ln w="0">
            <a:noFill/>
          </a:ln>
        </p:spPr>
      </p:sp>
      <p:sp>
        <p:nvSpPr>
          <p:cNvPr id="77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6 minutes</a:t>
            </a:r>
          </a:p>
          <a:p>
            <a:r>
              <a:t>Chapter alignment: Section 2.4.3 and Figure 2.12</a:t>
            </a:r>
          </a:p>
          <a:p/>
          <a:p>
            <a:r>
              <a:t>[Read-Aloud Script]</a:t>
            </a:r>
          </a:p>
          <a:p/>
          <a:p>
            <a:r>
              <a:t>The model-based pseudocode adds persistent variables that the simple reflex agent did not have. These include state, the agent’s current conception of the world; transition model, which explains how the world changes; sensor model, which explains how states produce percepts; rules, which connect estimated states to actions; and action, the previous action taken.</a:t>
            </a:r>
          </a:p>
          <a:p/>
          <a:p>
            <a:r>
              <a:t>The key line is UPDATE-STATE. It combines the old state, the previous action, the new percept, the transition model, and the sensor model. The result is a new internal state description.</a:t>
            </a:r>
          </a:p>
          <a:p/>
          <a:p>
            <a:r>
              <a:t>The program then uses RULE-MATCH on that updated state, selects the rule’s action, stores the action for use during the next update, and returns it to the actuators. The previous action matters because state change depends partly on what the agent itself just did.</a:t>
            </a:r>
          </a:p>
          <a:p/>
          <a:p>
            <a:r>
              <a:t>Notice what the program does not contain. It does not yet contain an explicit goal test or utility function. It estimates the current state and reacts according to rules. That is the difference between model-based reflex behavior and the goal-based and utility-based designs that follow.</a:t>
            </a:r>
          </a:p>
          <a:p/>
          <a:p>
            <a:r>
              <a:t>In a real implementation, UPDATE-STATE may be simple or extremely sophisticated. It could update a few Boolean variables, track object positions, maintain probabilities over possible states, or process a learned world model. The pseudocode describes the functional role rather than requiring one specific technology.</a:t>
            </a:r>
          </a:p>
          <a:p/>
          <a:p>
            <a:r>
              <a:t>[Instructor Cue]</a:t>
            </a:r>
          </a:p>
          <a:p>
            <a:r>
              <a:t>Walk through one iteration: old state, last action, new percept, updated state, matched rule, new action. Ask students which variable creates memory.</a:t>
            </a:r>
          </a:p>
          <a:p/>
          <a:p>
            <a:r>
              <a:t>[Transition]</a:t>
            </a:r>
          </a:p>
          <a:p>
            <a:r>
              <a:t>Internal state tells the agent where it believes it is; a goal tells the agent where it wants to go.</a:t>
            </a:r>
          </a:p>
          <a:p/>
          <a:p>
            <a:r>
              <a:t>[Sources]</a:t>
            </a:r>
          </a:p>
          <a:p>
            <a:r>
              <a:t>- AIMA 4e, Section 2.4.3 and Figure 2.12.</a:t>
            </a:r>
          </a:p>
        </p:txBody>
      </p:sp>
      <p:sp>
        <p:nvSpPr>
          <p:cNvPr id="772"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68228F-5B30-4211-B03F-F43D6B8D37DE}"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3" name="PlaceHolder 1"/>
          <p:cNvSpPr>
            <a:spLocks noGrp="1"/>
          </p:cNvSpPr>
          <p:nvPr>
            <p:ph type="sldImg"/>
          </p:nvPr>
        </p:nvSpPr>
        <p:spPr>
          <a:xfrm>
            <a:off x="685800" y="1143000"/>
            <a:ext cx="5485680" cy="3085560"/>
          </a:xfrm>
          <a:prstGeom prst="rect">
            <a:avLst/>
          </a:prstGeom>
          <a:ln w="0">
            <a:noFill/>
          </a:ln>
        </p:spPr>
      </p:sp>
      <p:sp>
        <p:nvSpPr>
          <p:cNvPr id="77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6 minutes</a:t>
            </a:r>
          </a:p>
          <a:p>
            <a:r>
              <a:t>Chapter alignment: Section 2.4.4 and Figure 2.13</a:t>
            </a:r>
          </a:p>
          <a:p/>
          <a:p>
            <a:r>
              <a:t>[Read-Aloud Script]</a:t>
            </a:r>
          </a:p>
          <a:p/>
          <a:p>
            <a:r>
              <a:t>Knowing the current state is not always enough to choose an action. At an intersection, a taxi may be able to turn left, turn right, or continue straight. The correct choice depends on the destination. A goal-based agent therefore combines a state description with goal information.</a:t>
            </a:r>
          </a:p>
          <a:p/>
          <a:p>
            <a:r>
              <a:t>The agent uses a model to predict what the world will be like after possible actions. It then asks whether those predicted states lead to the goal. When one action immediately achieves the goal, selection is simple. When the goal requires a long sequence of actions, the agent must consider alternative futures.</a:t>
            </a:r>
          </a:p>
          <a:p/>
          <a:p>
            <a:r>
              <a:t>Search and planning are the AI subfields that find action sequences leading to goals. That is why this slide is the conceptual bridge from Chapter 2 to Chapters 3 through 5. Chapter 2 defines the goal-based architecture; the next chapters develop algorithms for searching through possible action sequences.</a:t>
            </a:r>
          </a:p>
          <a:p/>
          <a:p>
            <a:r>
              <a:t>Goal-based decision making differs from a condition-action rule because it represents the reason for the action. A reflex agent brakes when brake lights appear because a rule fires. A goal-based agent brakes because the predicted consequence of not braking conflicts with the goal of avoiding a collision.</a:t>
            </a:r>
          </a:p>
          <a:p/>
          <a:p>
            <a:r>
              <a:t>Goal-based agents are more flexible. Change the destination and the same model can support a new route. A reflex agent may require a new set of rules for each destination. The cost of flexibility is computation: predicting and comparing future action sequences can be expensive.</a:t>
            </a:r>
          </a:p>
          <a:p/>
          <a:p>
            <a:r>
              <a:t>[Instructor Cue]</a:t>
            </a:r>
          </a:p>
          <a:p>
            <a:r>
              <a:t>Ask students to name a Pac-Man goal that requires more than one move. Then ask what state information is needed to search for it.</a:t>
            </a:r>
          </a:p>
          <a:p/>
          <a:p>
            <a:r>
              <a:t>[Transition]</a:t>
            </a:r>
          </a:p>
          <a:p>
            <a:r>
              <a:t>The planning video makes the difference between reaction and look-ahead behavior visible.</a:t>
            </a:r>
          </a:p>
          <a:p/>
          <a:p>
            <a:r>
              <a:t>[Sources]</a:t>
            </a:r>
          </a:p>
          <a:p>
            <a:r>
              <a:t>- AIMA 4e, Section 2.4.4 and Figure 2.13.</a:t>
            </a:r>
          </a:p>
        </p:txBody>
      </p:sp>
      <p:sp>
        <p:nvSpPr>
          <p:cNvPr id="775"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795A100-E9D7-4EBF-854F-F21D102EF63D}"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type="sldImg"/>
          </p:nvPr>
        </p:nvSpPr>
        <p:spPr>
          <a:xfrm>
            <a:off x="685800" y="1143000"/>
            <a:ext cx="5485680" cy="3085560"/>
          </a:xfrm>
          <a:prstGeom prst="rect">
            <a:avLst/>
          </a:prstGeom>
          <a:ln w="0">
            <a:noFill/>
          </a:ln>
        </p:spPr>
      </p:sp>
      <p:sp>
        <p:nvSpPr>
          <p:cNvPr id="77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7 minutes</a:t>
            </a:r>
          </a:p>
          <a:p>
            <a:r>
              <a:t>Chapter alignment: Goal-based agents and transition to search</a:t>
            </a:r>
          </a:p>
          <a:p/>
          <a:p>
            <a:r>
              <a:t>[Read-Aloud Script]</a:t>
            </a:r>
          </a:p>
          <a:p/>
          <a:p>
            <a:r>
              <a:t>This slide is the bridge between Chapter 2 agent design and the next unit on search. The reflex agent chooses from the current percept, and possibly memory, but it does not explicitly evaluate future consequences. It asks, in effect, what rule applies now?</a:t>
            </a:r>
          </a:p>
          <a:p/>
          <a:p>
            <a:r>
              <a:t>A planning agent asks a different question: what if I take this action, and then what happens after that? To answer that question, the agent needs a model of how the world evolves, a model of what its actions do, and a goal test for recognizing whether a predicted future is acceptable.</a:t>
            </a:r>
          </a:p>
          <a:p/>
          <a:p>
            <a:r>
              <a:t>The Pac-Man examples make this distinction visible. A reflex Pac-Man may move toward an adjacent pellet because a rule fires. A planning Pac-Man can temporarily move away from a pellet if that helps it reach a better future state. Replanning means the agent looks ahead, acts, observes the new state, and plans again. That differs from computing one complete path and following it forever.</a:t>
            </a:r>
          </a:p>
          <a:p/>
          <a:p>
            <a:r>
              <a:t>The slide also introduces two planning distinctions. Optimal planning concerns whether the agent finds the best solution according to cost or quality. Complete planning concerns whether the agent is guaranteed to find some solution if one exists. Planning versus replanning asks whether the agent commits to one long action sequence or repeatedly revises the plan as percepts change.</a:t>
            </a:r>
          </a:p>
          <a:p/>
          <a:p>
            <a:r>
              <a:t>For this chapter, keep the boundary clear: Chapter 2 explains why a goal-based agent needs to consider future consequences. Chapter 3 explains the search algorithms that implement that look-ahead in detail.</a:t>
            </a:r>
          </a:p>
          <a:p/>
          <a:p>
            <a:r>
              <a:t>[Instructor Cue]</a:t>
            </a:r>
          </a:p>
          <a:p>
            <a:r>
              <a:t>If using the video, play approximately 1:19-10:05. Ask students to identify where the agent stops reacting only to the current percept and begins evaluating future states.</a:t>
            </a:r>
          </a:p>
          <a:p/>
          <a:p>
            <a:r>
              <a:t>[Transition]</a:t>
            </a:r>
          </a:p>
          <a:p>
            <a:r>
              <a:t>Goals tell the agent what counts as success, but they do not rank multiple successful outcomes. Utility provides that ranking.</a:t>
            </a:r>
          </a:p>
          <a:p/>
          <a:p>
            <a:r>
              <a:t>[Sources]</a:t>
            </a:r>
          </a:p>
          <a:p>
            <a:r>
              <a:t>- Planning video transcript, approximately 1:19-10:05.</a:t>
            </a:r>
          </a:p>
          <a:p>
            <a:r>
              <a:t>- AIMA Chapter 2, Section 2.4.4.</a:t>
            </a:r>
          </a:p>
        </p:txBody>
      </p:sp>
      <p:sp>
        <p:nvSpPr>
          <p:cNvPr id="778"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39C483F-75E7-4280-AED3-60E2D20A3039}"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Suggested time: 10 minutes</a:t>
            </a:r>
          </a:p>
          <a:p>
            <a:r>
              <a:t>Chapter alignment: Live demonstration files; Section 2.4 agent program designs</a:t>
            </a:r>
          </a:p>
          <a:p/>
          <a:p>
            <a:r>
              <a:t>[Read-Aloud Script]</a:t>
            </a:r>
          </a:p>
          <a:p/>
          <a:p>
            <a:r>
              <a:t>This slide identifies the code we will use for the live demonstration. The shared file, pacman_chapter2_engine.py, represents the environment and architecture. It handles the maze, graphics, sensors, actuators, ghosts, scoring, and performance feedback. We are not studying that file first because it is support code for the classroom display.</a:t>
            </a:r>
          </a:p>
          <a:p/>
          <a:p>
            <a:r>
              <a:t>The important instructional point is that the environment remains fixed while the agent program changes. Each numbered file contains one Chapter 2 agent program. Project the section marked CHAPTER 2 AGENT PROGRAM STARTS HERE, then run the file so students can connect the code to the visible behavior.</a:t>
            </a:r>
          </a:p>
          <a:p/>
          <a:p>
            <a:r>
              <a:t>Start with 01_simple_reflex_agent_ch2.py. Point out that the decision method receives only the current percept and applies ordered condition-action rules. It has no memory, model, goal, utility function, or learning component.</a:t>
            </a:r>
          </a:p>
          <a:p/>
          <a:p>
            <a:r>
              <a:t>Then use 02_model_based_reflex_agent_ch2.py. Show the InternalState structure and the transition_model, sensor_model, update_state, and choose_action methods. This agent still fires reflex rules, but those rules operate on an updated internal state instead of the current percept alone.</a:t>
            </a:r>
          </a:p>
          <a:p/>
          <a:p>
            <a:r>
              <a:t>Next use 03_goal_based_agent_ch2.py. Show formulate_goal, make_plan, and choose_action. The agent selects a desired future state, creates an action sequence, and executes the first step. Treat the path-planning helper as a black box for now; the search algorithm itself belongs to Chapter 3.</a:t>
            </a:r>
          </a:p>
          <a:p/>
          <a:p>
            <a:r>
              <a:t>Then use 04_utility_based_agent_ch2.py. Show expected_utility and choose_action. This agent does not commit to a single stored plan. It evaluates legal actions by expected desirability, including food reward, movement cost, and ghost risk, then chooses the action with maximum expected utility.</a:t>
            </a:r>
          </a:p>
          <a:p/>
          <a:p>
            <a:r>
              <a:t>Finally use 05_learning_agent_ch2.py. Show the four Chapter 2 learning-agent components: performance_element, learning_element, critic, and problem_generator. The performance element chooses actions; the critic supplies feedback; the learning element modifies future preferences; and the problem generator encourages exploration.</a:t>
            </a:r>
          </a:p>
          <a:p/>
          <a:p>
            <a:r>
              <a:t>The teaching sequence is one through five. After each run, ask the same question: what information did this agent use that the previous one did not? That comparison keeps the demonstration anchored in Chapter 2 rather than turning it into a programming exercise.</a:t>
            </a:r>
          </a:p>
          <a:p/>
          <a:p>
            <a:r>
              <a:t>[Instructor Cue]</a:t>
            </a:r>
          </a:p>
          <a:p>
            <a:r>
              <a:t>Run the files in order. Keep the engine file closed unless students ask about sensors or actuators. The code section to project is the agent class in each numbered file.</a:t>
            </a:r>
          </a:p>
          <a:p/>
          <a:p>
            <a:r>
              <a:t>[Transition]</a:t>
            </a:r>
          </a:p>
          <a:p>
            <a:r>
              <a:t>After the code demonstration, we will return to the planning video boundary and separate Chapter 2 concepts from Chapter 3 algorithms.</a:t>
            </a:r>
          </a:p>
          <a:p/>
          <a:p>
            <a:r>
              <a:t>[Sources]</a:t>
            </a:r>
          </a:p>
          <a:p>
            <a:r>
              <a:t>- Uploaded files: pacman_chapter2_engine.py and 01-05 *_agent_ch2.py.</a:t>
            </a:r>
          </a:p>
          <a:p>
            <a:r>
              <a:t>- AIMA Chapter 2, Sections 2.4.1-2.4.6.</a:t>
            </a:r>
          </a:p>
        </p:txBody>
      </p:sp>
      <p:sp>
        <p:nvSpPr>
          <p:cNvPr id="4" name="Slide Number Placeholder 3"/>
          <p:cNvSpPr>
            <a:spLocks noGrp="1"/>
          </p:cNvSpPr>
          <p:nvPr>
            <p:ph type="sldNum" idx="3"/>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2" name="PlaceHolder 1"/>
          <p:cNvSpPr>
            <a:spLocks noGrp="1"/>
          </p:cNvSpPr>
          <p:nvPr>
            <p:ph type="sldImg"/>
          </p:nvPr>
        </p:nvSpPr>
        <p:spPr>
          <a:xfrm>
            <a:off x="685800" y="1143000"/>
            <a:ext cx="5485680" cy="3085560"/>
          </a:xfrm>
          <a:prstGeom prst="rect">
            <a:avLst/>
          </a:prstGeom>
          <a:ln w="0">
            <a:noFill/>
          </a:ln>
        </p:spPr>
      </p:sp>
      <p:sp>
        <p:nvSpPr>
          <p:cNvPr id="78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6 minutes</a:t>
            </a:r>
          </a:p>
          <a:p>
            <a:r>
              <a:t>Chapter alignment: Section 2.4.5 and Figure 2.14</a:t>
            </a:r>
          </a:p>
          <a:p/>
          <a:p>
            <a:r>
              <a:t>[Read-Aloud Script]</a:t>
            </a:r>
          </a:p>
          <a:p/>
          <a:p>
            <a:r>
              <a:t>A goal usually gives a binary distinction: the destination is reached or it is not. In most environments, that is not enough to produce high-quality behavior. Many routes may reach the same destination, but they differ in safety, speed, cost, comfort, reliability, and energy use.</a:t>
            </a:r>
          </a:p>
          <a:p/>
          <a:p>
            <a:r>
              <a:t>A utility function assigns a degree of desirability to outcomes. The agent predicts possible future states, evaluates how desirable those states are, and chooses an action that leads to the best expected result.</a:t>
            </a:r>
          </a:p>
          <a:p/>
          <a:p>
            <a:r>
              <a:t>The chapter describes the utility function as an internalization of the performance measure. The performance measure is the external standard used to evaluate the agent. The utility function is the agent’s internal representation of how desirable outcomes are. When the two agree, maximizing utility supports rational behavior according to the external standard.</a:t>
            </a:r>
          </a:p>
          <a:p/>
          <a:p>
            <a:r>
              <a:t>Utility is especially useful in two situations. First, goals may conflict. A taxi may need to trade speed against safety or comfort against cost. Second, outcomes may be uncertain. No action may guarantee success, so the agent must weigh both the value and probability of each possible outcome.</a:t>
            </a:r>
          </a:p>
          <a:p/>
          <a:p>
            <a:r>
              <a:t>A utility-based agent is not automatically simple. It still needs perception, state estimation, a model of possible outcomes, and an algorithm for comparing choices. The utility function makes the decision criterion explicit; it does not remove the computational difficulty.</a:t>
            </a:r>
          </a:p>
          <a:p/>
          <a:p>
            <a:r>
              <a:t>[Instructor Cue]</a:t>
            </a:r>
          </a:p>
          <a:p>
            <a:r>
              <a:t>Use two routes to the same destination: one fast but risky, one slower but safer. Ask why a goal test cannot choose between them.</a:t>
            </a:r>
          </a:p>
          <a:p/>
          <a:p>
            <a:r>
              <a:t>[Transition]</a:t>
            </a:r>
          </a:p>
          <a:p>
            <a:r>
              <a:t>The next slide focuses on the two main reasons utility is more expressive than goals: tradeoffs and uncertainty.</a:t>
            </a:r>
          </a:p>
          <a:p/>
          <a:p>
            <a:r>
              <a:t>[Sources]</a:t>
            </a:r>
          </a:p>
          <a:p>
            <a:r>
              <a:t>- AIMA 4e, Section 2.4.5 and Figure 2.14.</a:t>
            </a:r>
          </a:p>
        </p:txBody>
      </p:sp>
      <p:sp>
        <p:nvSpPr>
          <p:cNvPr id="784"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CE0B40F-514E-40A9-B48D-9677C2F01018}"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5" name="PlaceHolder 1"/>
          <p:cNvSpPr>
            <a:spLocks noGrp="1"/>
          </p:cNvSpPr>
          <p:nvPr>
            <p:ph type="sldImg"/>
          </p:nvPr>
        </p:nvSpPr>
        <p:spPr>
          <a:xfrm>
            <a:off x="685800" y="1143000"/>
            <a:ext cx="5485680" cy="3085560"/>
          </a:xfrm>
          <a:prstGeom prst="rect">
            <a:avLst/>
          </a:prstGeom>
          <a:ln w="0">
            <a:noFill/>
          </a:ln>
        </p:spPr>
      </p:sp>
      <p:sp>
        <p:nvSpPr>
          <p:cNvPr id="78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5 minutes</a:t>
            </a:r>
          </a:p>
          <a:p>
            <a:r>
              <a:t>Chapter alignment: Section 2.4.5</a:t>
            </a:r>
          </a:p>
          <a:p/>
          <a:p>
            <a:r>
              <a:t>[Read-Aloud Script]</a:t>
            </a:r>
          </a:p>
          <a:p/>
          <a:p>
            <a:r>
              <a:t>Utility provides a common scale for comparing outcomes that satisfy different goals to different degrees. When speed and safety conflict, a utility function specifies how much one is worth relative to the other. When several outcomes are possible, expected utility combines each outcome’s value with its probability.</a:t>
            </a:r>
          </a:p>
          <a:p/>
          <a:p>
            <a:r>
              <a:t>Expected utility does not mean that the agent always receives the outcome with the highest utility. It means the agent chooses the action with the best probability-weighted average according to its model. A rational decision can still produce an unfortunate result because uncertainty remains.</a:t>
            </a:r>
          </a:p>
          <a:p/>
          <a:p>
            <a:r>
              <a:t>In Pac-Man, an agent might compare an action that safely reaches one pellet with an action that could reach a power pellet and several ghosts but carries a greater risk of being caught. A utility function can assign values to score, survival, completion, and risk. The selected action depends on those values and the estimated probabilities.</a:t>
            </a:r>
          </a:p>
          <a:p/>
          <a:p>
            <a:r>
              <a:t>The major caution is alignment. If the internal utility function does not match the external performance measure, the agent may optimize the wrong objective. Utility-based behavior is powerful because it is general; that same generality makes correct objective specification essential.</a:t>
            </a:r>
          </a:p>
          <a:p/>
          <a:p>
            <a:r>
              <a:t>The chapter also notes that perfect rationality is usually computationally unattainable. Even when a utility function is correct, the agent may not have enough time or processing power to evaluate every possible action sequence. Practical agents approximate the best decision under resource limits.</a:t>
            </a:r>
          </a:p>
          <a:p/>
          <a:p>
            <a:r>
              <a:t>[Instructor Cue]</a:t>
            </a:r>
          </a:p>
          <a:p>
            <a:r>
              <a:t>Ask whether maximizing score alone is a sufficient Pac-Man utility. Encourage students to identify survival and task completion as additional terms.</a:t>
            </a:r>
          </a:p>
          <a:p/>
          <a:p>
            <a:r>
              <a:t>[Transition]</a:t>
            </a:r>
          </a:p>
          <a:p>
            <a:r>
              <a:t>So far, every design assumes that the agent’s rules, models, goals, or utility already exist. Learning explains how those components can improve.</a:t>
            </a:r>
          </a:p>
          <a:p/>
          <a:p>
            <a:r>
              <a:t>[Sources]</a:t>
            </a:r>
          </a:p>
          <a:p>
            <a:r>
              <a:t>- AIMA 4e, Section 2.4.5.</a:t>
            </a:r>
          </a:p>
        </p:txBody>
      </p:sp>
      <p:sp>
        <p:nvSpPr>
          <p:cNvPr id="787"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56878AE-1CC7-4263-8CFA-3A1744BA5A06}"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 name="PlaceHolder 1"/>
          <p:cNvSpPr>
            <a:spLocks noGrp="1"/>
          </p:cNvSpPr>
          <p:nvPr>
            <p:ph type="sldImg"/>
          </p:nvPr>
        </p:nvSpPr>
        <p:spPr>
          <a:xfrm>
            <a:off x="685800" y="1143000"/>
            <a:ext cx="5485680" cy="3085560"/>
          </a:xfrm>
          <a:prstGeom prst="rect">
            <a:avLst/>
          </a:prstGeom>
          <a:ln w="0">
            <a:noFill/>
          </a:ln>
        </p:spPr>
      </p:sp>
      <p:sp>
        <p:nvSpPr>
          <p:cNvPr id="78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7 minutes</a:t>
            </a:r>
          </a:p>
          <a:p>
            <a:r>
              <a:t>Chapter alignment: Section 2.4.6 and Figure 2.15</a:t>
            </a:r>
          </a:p>
          <a:p/>
          <a:p>
            <a:r>
              <a:t>[Read-Aloud Script]</a:t>
            </a:r>
          </a:p>
          <a:p/>
          <a:p>
            <a:r>
              <a:t>Any of the agent types we have discussed can be built as a learning agent. Learning is not a separate alternative that replaces reflex, model-based, goal-based, or utility-based design. It is a way for the components of those agents to improve through experience.</a:t>
            </a:r>
          </a:p>
          <a:p/>
          <a:p>
            <a:r>
              <a:t>The chapter divides a learning agent into four conceptual components. The performance element selects external actions. It is the part we previously treated as the entire agent. The learning element modifies the performance element so that future behavior improves.</a:t>
            </a:r>
          </a:p>
          <a:p/>
          <a:p>
            <a:r>
              <a:t>The critic evaluates how well the agent is doing relative to a fixed performance standard. Percepts alone do not automatically tell the agent whether an outcome is good. A chess program may perceive checkmate, but the critic and performance standard identify that result as success or failure.</a:t>
            </a:r>
          </a:p>
          <a:p/>
          <a:p>
            <a:r>
              <a:t>The problem generator suggests exploratory actions that may produce informative experience. If the performance element always chooses the best-known action, the agent may never discover a better alternative. Exploration can reduce short-term performance while improving long-term knowledge.</a:t>
            </a:r>
          </a:p>
          <a:p/>
          <a:p>
            <a:r>
              <a:t>Turing argued that programming every intelligent behavior by hand would be too slow and that learning machines should instead be taught. The same motivation applies here. Learning allows the agent to operate in unknown environments, correct inaccurate prior assumptions, and become more competent than its initial programming alone would allow.</a:t>
            </a:r>
          </a:p>
          <a:p/>
          <a:p>
            <a:r>
              <a:t>[Instructor Cue]</a:t>
            </a:r>
          </a:p>
          <a:p>
            <a:r>
              <a:t>Point to each box in Figure 2.15 and have students repeat the role: performance acts, critic evaluates, learning improves, problem generator explores.</a:t>
            </a:r>
          </a:p>
          <a:p/>
          <a:p>
            <a:r>
              <a:t>[Transition]</a:t>
            </a:r>
          </a:p>
          <a:p>
            <a:r>
              <a:t>The next slide asks exactly which internal components a learning process can modify.</a:t>
            </a:r>
          </a:p>
          <a:p/>
          <a:p>
            <a:r>
              <a:t>[Sources]</a:t>
            </a:r>
          </a:p>
          <a:p>
            <a:r>
              <a:t>- AIMA 4e, Section 2.4.6 and Figure 2.15.</a:t>
            </a:r>
          </a:p>
        </p:txBody>
      </p:sp>
      <p:sp>
        <p:nvSpPr>
          <p:cNvPr id="790"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F1DF4C6-9B3E-43DD-AD17-449D58528FC3}"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1" name="PlaceHolder 1"/>
          <p:cNvSpPr>
            <a:spLocks noGrp="1"/>
          </p:cNvSpPr>
          <p:nvPr>
            <p:ph type="sldImg"/>
          </p:nvPr>
        </p:nvSpPr>
        <p:spPr>
          <a:xfrm>
            <a:off x="685800" y="1143000"/>
            <a:ext cx="5485680" cy="3085560"/>
          </a:xfrm>
          <a:prstGeom prst="rect">
            <a:avLst/>
          </a:prstGeom>
          <a:ln w="0">
            <a:noFill/>
          </a:ln>
        </p:spPr>
      </p:sp>
      <p:sp>
        <p:nvSpPr>
          <p:cNvPr id="79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6 minutes</a:t>
            </a:r>
          </a:p>
          <a:p>
            <a:r>
              <a:t>Chapter alignment: Section 2.4.6</a:t>
            </a:r>
          </a:p>
          <a:p/>
          <a:p>
            <a:r>
              <a:t>[Read-Aloud Script]</a:t>
            </a:r>
          </a:p>
          <a:p/>
          <a:p>
            <a:r>
              <a:t>The design of the learning element depends on the performance element. Before asking how an agent will learn, we should ask what mechanism will select actions after learning has occurred. Learning can then improve the components used by that mechanism.</a:t>
            </a:r>
          </a:p>
          <a:p/>
          <a:p>
            <a:r>
              <a:t>The agent can learn a transition model by observing how states change after actions. An automated taxi can learn how braking pressure affects deceleration on wet pavement. The agent can improve a sensor model by learning how conditions such as glare, rain, or occlusion affect observations.</a:t>
            </a:r>
          </a:p>
          <a:p/>
          <a:p>
            <a:r>
              <a:t>It can learn condition-action rules, a policy, a utility function, or parameters used by the performance element. Feedback from the critic identifies which changes improve performance. The performance standard should remain fixed conceptually; otherwise, the agent could improve its apparent score by changing the standard rather than improving its behavior.</a:t>
            </a:r>
          </a:p>
          <a:p/>
          <a:p>
            <a:r>
              <a:t>The problem generator supports exploration. It identifies uncertain or poorly understood parts of the model and proposes actions that produce useful evidence. This is similar to an experiment: the immediate action may not be valuable for the task, but the information gained can improve future decisions.</a:t>
            </a:r>
          </a:p>
          <a:p/>
          <a:p>
            <a:r>
              <a:t>The unifying idea is modification. Learning brings the agent’s internal components into closer agreement with available feedback and with the actual environment. A system may learn one component while other components remain hand-designed.</a:t>
            </a:r>
          </a:p>
          <a:p/>
          <a:p>
            <a:r>
              <a:t>[Instructor Cue]</a:t>
            </a:r>
          </a:p>
          <a:p>
            <a:r>
              <a:t>Use the taxi-tip example: if rough driving produces fewer tips, the critic must connect that feedback to the performance standard before the agent can learn a smoother policy.</a:t>
            </a:r>
          </a:p>
          <a:p/>
          <a:p>
            <a:r>
              <a:t>[Transition]</a:t>
            </a:r>
          </a:p>
          <a:p>
            <a:r>
              <a:t>Learning and reasoning both depend on how the agent represents states, attributes, objects, and relationships.</a:t>
            </a:r>
          </a:p>
          <a:p/>
          <a:p>
            <a:r>
              <a:t>[Sources]</a:t>
            </a:r>
          </a:p>
          <a:p>
            <a:r>
              <a:t>- AIMA 4e, Section 2.4.6.</a:t>
            </a:r>
          </a:p>
        </p:txBody>
      </p:sp>
      <p:sp>
        <p:nvSpPr>
          <p:cNvPr id="793"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2621E7F-FBEE-40DE-8962-F2B921BC9138}"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4" name="PlaceHolder 1"/>
          <p:cNvSpPr>
            <a:spLocks noGrp="1"/>
          </p:cNvSpPr>
          <p:nvPr>
            <p:ph type="sldImg"/>
          </p:nvPr>
        </p:nvSpPr>
        <p:spPr>
          <a:xfrm>
            <a:off x="685800" y="1143000"/>
            <a:ext cx="5485680" cy="3085560"/>
          </a:xfrm>
          <a:prstGeom prst="rect">
            <a:avLst/>
          </a:prstGeom>
          <a:ln w="0">
            <a:noFill/>
          </a:ln>
        </p:spPr>
      </p:sp>
      <p:sp>
        <p:nvSpPr>
          <p:cNvPr id="79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7 minutes</a:t>
            </a:r>
          </a:p>
          <a:p>
            <a:r>
              <a:t>Chapter alignment: Section 2.4.7 and Figure 2.16</a:t>
            </a:r>
          </a:p>
          <a:p/>
          <a:p>
            <a:r>
              <a:t>[Read-Aloud Script]</a:t>
            </a:r>
          </a:p>
          <a:p/>
          <a:p>
            <a:r>
              <a:t>Chapter 2 closes by comparing three levels of representation: atomic, factored, and structured. These are not agent types. They describe how agent components represent states and relationships in the environment.</a:t>
            </a:r>
          </a:p>
          <a:p/>
          <a:p>
            <a:r>
              <a:t>In an atomic representation, each state is an indivisible label. A route-planning state might be represented only by the current city. The system can distinguish Arad from Bucharest, but the state itself has no internal attributes. Search, game-playing, hidden Markov models, and Markov decision processes often use atomic states.</a:t>
            </a:r>
          </a:p>
          <a:p/>
          <a:p>
            <a:r>
              <a:t>In a factored representation, a state is a collection of variables and values. A driving state might include location, fuel level, speed, weather, warning lights, and available money for tolls. Two states can share some attributes while differing in others. Constraint satisfaction, propositional logic, planning, Bayesian networks, and many machine-learning methods use factored representations.</a:t>
            </a:r>
          </a:p>
          <a:p/>
          <a:p>
            <a:r>
              <a:t>In a structured representation, the system represents objects and relationships explicitly. Instead of one giant variable describing a truck, cow, road, and driveway situation, the representation contains separate objects and relations among them. First-order logic, relational databases, and much of natural-language understanding rely on structured representations.</a:t>
            </a:r>
          </a:p>
          <a:p/>
          <a:p>
            <a:r>
              <a:t>More expressive representations can describe complex situations more naturally and concisely, but reasoning and learning usually become more difficult. The design goal is not maximum expressiveness; it is enough expressive power for the task while remaining computationally manageable. The chapter also notes that concepts can be stored locally or distributed across many memory locations, an idea that becomes important later in neural representations.</a:t>
            </a:r>
          </a:p>
          <a:p/>
          <a:p>
            <a:r>
              <a:t>[Instructor Cue]</a:t>
            </a:r>
          </a:p>
          <a:p>
            <a:r>
              <a:t>Ask students to represent the same Pac-Man state atomically, then factored. A structured version can represent Pac-Man, ghosts, pellets, and spatial relationships as objects and relations.</a:t>
            </a:r>
          </a:p>
          <a:p/>
          <a:p>
            <a:r>
              <a:t>[Transition]</a:t>
            </a:r>
          </a:p>
          <a:p>
            <a:r>
              <a:t>We can now compare all of the agent program designs in one view.</a:t>
            </a:r>
          </a:p>
          <a:p/>
          <a:p>
            <a:r>
              <a:t>[Sources]</a:t>
            </a:r>
          </a:p>
          <a:p>
            <a:r>
              <a:t>- AIMA 4e, Section 2.4.7 and Figure 2.16.</a:t>
            </a:r>
          </a:p>
        </p:txBody>
      </p:sp>
      <p:sp>
        <p:nvSpPr>
          <p:cNvPr id="796"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D9EF36C-E84D-4D78-B59B-DA75EC2A55F7}"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7" name="PlaceHolder 1"/>
          <p:cNvSpPr>
            <a:spLocks noGrp="1"/>
          </p:cNvSpPr>
          <p:nvPr>
            <p:ph type="sldImg"/>
          </p:nvPr>
        </p:nvSpPr>
        <p:spPr>
          <a:xfrm>
            <a:off x="685800" y="1143000"/>
            <a:ext cx="5485680" cy="3085560"/>
          </a:xfrm>
          <a:prstGeom prst="rect">
            <a:avLst/>
          </a:prstGeom>
          <a:ln w="0">
            <a:noFill/>
          </a:ln>
        </p:spPr>
      </p:sp>
      <p:sp>
        <p:nvSpPr>
          <p:cNvPr id="79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5 minutes</a:t>
            </a:r>
          </a:p>
          <a:p>
            <a:r>
              <a:t>Chapter alignment: Synthesis of Sections 2.4.1-2.4.6</a:t>
            </a:r>
          </a:p>
          <a:p/>
          <a:p>
            <a:r>
              <a:t>[Read-Aloud Script]</a:t>
            </a:r>
          </a:p>
          <a:p/>
          <a:p>
            <a:r>
              <a:t>This slide is a checkpoint covering every agent design presented in the lecture. The table-driven agent stores the percept history and looks up an action. It represents the complete agent function explicitly but does not scale.</a:t>
            </a:r>
          </a:p>
          <a:p/>
          <a:p>
            <a:r>
              <a:t>The simple reflex agent maps the current percept-derived state directly to an action using condition-action rules. It is compact and fast but depends on sufficient observability.</a:t>
            </a:r>
          </a:p>
          <a:p/>
          <a:p>
            <a:r>
              <a:t>The model-based reflex agent maintains internal state using a transition model and sensor model, then applies rules to the estimated current state. It is designed for partial observability.</a:t>
            </a:r>
          </a:p>
          <a:p/>
          <a:p>
            <a:r>
              <a:t>The goal-based agent adds a goal and predicts future states to find an action sequence that reaches that goal. Search and planning provide the mechanisms for this look-ahead behavior.</a:t>
            </a:r>
          </a:p>
          <a:p/>
          <a:p>
            <a:r>
              <a:t>The utility-based agent ranks outcomes and chooses the action with the highest expected utility. It supports tradeoffs and uncertainty when a binary goal is not enough.</a:t>
            </a:r>
          </a:p>
          <a:p/>
          <a:p>
            <a:r>
              <a:t>The learning agent improves components through feedback and exploration. Learning can be added to any of the other designs. A model-based utility agent can learn its transition model; a reflex agent can learn rules; a goal-based agent can learn better search guidance.</a:t>
            </a:r>
          </a:p>
          <a:p/>
          <a:p>
            <a:r>
              <a:t>These are design patterns, not rigid boxes. Real systems commonly combine them. The most useful classification is the one that explains what information the system represents and how it selects actions.</a:t>
            </a:r>
          </a:p>
          <a:p/>
          <a:p>
            <a:r>
              <a:t>[Instructor Cue]</a:t>
            </a:r>
          </a:p>
          <a:p>
            <a:r>
              <a:t>Ask students to compare adjacent rows: what new information is added when moving from simple reflex to model-based, from model-based to goal-based, and from goal-based to utility-based?</a:t>
            </a:r>
          </a:p>
          <a:p/>
          <a:p>
            <a:r>
              <a:t>[Transition]</a:t>
            </a:r>
          </a:p>
          <a:p>
            <a:r>
              <a:t>The environment properties tell us which of these design capabilities are necessary.</a:t>
            </a:r>
          </a:p>
          <a:p/>
          <a:p>
            <a:r>
              <a:t>[Sources]</a:t>
            </a:r>
          </a:p>
          <a:p>
            <a:r>
              <a:t>- AIMA 4e, Sections 2.4.1-2.4.6.</a:t>
            </a:r>
          </a:p>
        </p:txBody>
      </p:sp>
      <p:sp>
        <p:nvSpPr>
          <p:cNvPr id="799"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A60B6BB-C753-4356-870F-982071B015FE}"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0" name="PlaceHolder 1"/>
          <p:cNvSpPr>
            <a:spLocks noGrp="1"/>
          </p:cNvSpPr>
          <p:nvPr>
            <p:ph type="sldImg"/>
          </p:nvPr>
        </p:nvSpPr>
        <p:spPr>
          <a:xfrm>
            <a:off x="685800" y="1143000"/>
            <a:ext cx="5485680" cy="3085560"/>
          </a:xfrm>
          <a:prstGeom prst="rect">
            <a:avLst/>
          </a:prstGeom>
          <a:ln w="0">
            <a:noFill/>
          </a:ln>
        </p:spPr>
      </p:sp>
      <p:sp>
        <p:nvSpPr>
          <p:cNvPr id="80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6 minutes</a:t>
            </a:r>
          </a:p>
          <a:p>
            <a:r>
              <a:t>Chapter alignment: Synthesis of Sections 2.3 and 2.4</a:t>
            </a:r>
          </a:p>
          <a:p/>
          <a:p>
            <a:r>
              <a:t>[Read-Aloud Script]</a:t>
            </a:r>
          </a:p>
          <a:p/>
          <a:p>
            <a:r>
              <a:t>The practical design rule is to let the task environment drive the agent architecture. In a fully observable, simple environment, a simple reflex agent may be sufficient. There is no benefit in building a complex planner when a reliable current-state rule produces the correct action.</a:t>
            </a:r>
          </a:p>
          <a:p/>
          <a:p>
            <a:r>
              <a:t>Partial observability creates a need for memory and state estimation, which points toward a model-based agent. A long-term objective that requires a sequence of actions creates a need for goals, prediction, search, or planning.</a:t>
            </a:r>
          </a:p>
          <a:p/>
          <a:p>
            <a:r>
              <a:t>When several successful outcomes differ in quality, or when outcomes are uncertain, utility provides a way to compare them. When the rules, models, environment, or performance measure are unknown or changing, learning becomes necessary.</a:t>
            </a:r>
          </a:p>
          <a:p/>
          <a:p>
            <a:r>
              <a:t>These choices are cumulative rather than exclusive. A self-driving system may be model-based because it tracks hidden state, goal-based because it navigates to a destination, utility-based because it balances safety and travel time, and learning-based because it improves perception and prediction from data. It may also contain simple reflex safety rules for immediate braking.</a:t>
            </a:r>
          </a:p>
          <a:p/>
          <a:p>
            <a:r>
              <a:t>A disciplined design process therefore follows four steps. First, define the agent and environment. Second, specify PEAS. Third, classify the environment. Fourth, select the least complex agent design that can represent the required information and make adequate decisions.</a:t>
            </a:r>
          </a:p>
          <a:p/>
          <a:p>
            <a:r>
              <a:t>[Instructor Cue]</a:t>
            </a:r>
          </a:p>
          <a:p>
            <a:r>
              <a:t>Give one environment description and ask the class to select a design. Example: a thermostat is fully observable enough, single-agent, simple, and dynamic; a reflex or control policy may be sufficient.</a:t>
            </a:r>
          </a:p>
          <a:p/>
          <a:p>
            <a:r>
              <a:t>[Transition]</a:t>
            </a:r>
          </a:p>
          <a:p>
            <a:r>
              <a:t>The PEAS activity lets students apply this workflow before proposing an algorithm.</a:t>
            </a:r>
          </a:p>
          <a:p/>
          <a:p>
            <a:r>
              <a:t>[Sources]</a:t>
            </a:r>
          </a:p>
          <a:p>
            <a:r>
              <a:t>- AIMA 4e, Sections 2.3 and 2.4.</a:t>
            </a:r>
          </a:p>
        </p:txBody>
      </p:sp>
      <p:sp>
        <p:nvSpPr>
          <p:cNvPr id="802" name="PlaceHolder 3"/>
          <p:cNvSpPr>
            <a:spLocks noGrp="1"/>
          </p:cNvSpPr>
          <p:nvPr>
            <p:ph type="sldNum" idx="3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F26DC38-AC4A-47A5-BC96-9ECC5386D888}"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3" name="PlaceHolder 1"/>
          <p:cNvSpPr>
            <a:spLocks noGrp="1"/>
          </p:cNvSpPr>
          <p:nvPr>
            <p:ph type="sldImg"/>
          </p:nvPr>
        </p:nvSpPr>
        <p:spPr>
          <a:xfrm>
            <a:off x="685800" y="1143000"/>
            <a:ext cx="5485680" cy="3085560"/>
          </a:xfrm>
          <a:prstGeom prst="rect">
            <a:avLst/>
          </a:prstGeom>
          <a:ln w="0">
            <a:noFill/>
          </a:ln>
        </p:spPr>
      </p:sp>
      <p:sp>
        <p:nvSpPr>
          <p:cNvPr id="80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12 minutes</a:t>
            </a:r>
          </a:p>
          <a:p>
            <a:r>
              <a:t>Chapter alignment: Applied Section 2.3.1</a:t>
            </a:r>
          </a:p>
          <a:p/>
          <a:p>
            <a:r>
              <a:t>[Read-Aloud Script]</a:t>
            </a:r>
          </a:p>
          <a:p/>
          <a:p>
            <a:r>
              <a:t>We are going to pause the lecture and specify a task before discussing an implementation. Each group will choose one system: autonomous Pac-Man, a campus chatbot, an email phishing triage agent, or a robotic delivery cart.</a:t>
            </a:r>
          </a:p>
          <a:p/>
          <a:p>
            <a:r>
              <a:t>Your group must write at least two concrete items for each PEAS category. For Performance, avoid vague words such as ‘good’ or ‘smart.’ State what successful behavior means and identify at least one failure or cost. For Environment, identify the entities and conditions the agent must handle. For Actuators, list the outputs or actions that can change the environment. For Sensors, list the information the agent can actually receive.</a:t>
            </a:r>
          </a:p>
          <a:p/>
          <a:p>
            <a:r>
              <a:t>After PEAS, classify the environment on at least three dimensions and recommend an agent design. Be prepared to explain why the design matches the environment. You have approximately eight minutes, followed by short reports.</a:t>
            </a:r>
          </a:p>
          <a:p/>
          <a:p>
            <a:r>
              <a:t>As you work, remember that an algorithm cannot compensate for missing task specification. If the performance measure is unclear, there is no objective definition of rational behavior. If the sensors cannot provide relevant information, the agent may need memory, a model, exploration, or a redesigned architecture.</a:t>
            </a:r>
          </a:p>
          <a:p/>
          <a:p>
            <a:r>
              <a:t>When groups report, listen for mismatches. A chatbot that can only display text cannot directly reset an account unless an actuator or integration provides that capability. A phishing triage system cannot inspect attachment behavior if the sensors provide only the subject line. A delivery cart expected to operate in rain needs sensors and environmental assumptions that support that requirement.</a:t>
            </a:r>
          </a:p>
          <a:p/>
          <a:p>
            <a:r>
              <a:t>[Instructor Cue]</a:t>
            </a:r>
          </a:p>
          <a:p>
            <a:r>
              <a:t>Activity flow: 1 minute setup, 8 minutes group work, 3 minutes reports. Instructor answer prompts: Pac-Man—score/survival, maze, moves, game state; chatbot—accuracy/resolution, users/systems, response/escalation, prompts/context; phishing—detection/false positives, mail environment, label/quarantine/alert, headers/body/links/attachments; cart—safe timely delivery, campus paths/people/weather, motors/brakes/signals, camera/lidar/GPS.</a:t>
            </a:r>
          </a:p>
          <a:p/>
          <a:p>
            <a:r>
              <a:t>[Transition]</a:t>
            </a:r>
          </a:p>
          <a:p>
            <a:r>
              <a:t>We will now apply the same vocabulary to the autonomous Pac-Man program used in the class demonstration.</a:t>
            </a:r>
          </a:p>
          <a:p/>
          <a:p>
            <a:r>
              <a:t>[Sources]</a:t>
            </a:r>
          </a:p>
          <a:p>
            <a:r>
              <a:t>- AIMA 4e, Section 2.3.1; lecture deck activity.</a:t>
            </a:r>
          </a:p>
        </p:txBody>
      </p:sp>
      <p:sp>
        <p:nvSpPr>
          <p:cNvPr id="805" name="PlaceHolder 3"/>
          <p:cNvSpPr>
            <a:spLocks noGrp="1"/>
          </p:cNvSpPr>
          <p:nvPr>
            <p:ph type="sldNum" idx="3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83E3E5F-0F37-4B37-8AA7-F9280C547175}"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6" name="PlaceHolder 1"/>
          <p:cNvSpPr>
            <a:spLocks noGrp="1"/>
          </p:cNvSpPr>
          <p:nvPr>
            <p:ph type="sldImg"/>
          </p:nvPr>
        </p:nvSpPr>
        <p:spPr>
          <a:xfrm>
            <a:off x="685800" y="1143000"/>
            <a:ext cx="5485680" cy="3085560"/>
          </a:xfrm>
          <a:prstGeom prst="rect">
            <a:avLst/>
          </a:prstGeom>
          <a:ln w="0">
            <a:noFill/>
          </a:ln>
        </p:spPr>
      </p:sp>
      <p:sp>
        <p:nvSpPr>
          <p:cNvPr id="80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10 minutes</a:t>
            </a:r>
          </a:p>
          <a:p>
            <a:r>
              <a:t>Chapter alignment: Applied Sections 2.1-2.4.6</a:t>
            </a:r>
          </a:p>
          <a:p/>
          <a:p>
            <a:r>
              <a:t>[Read-Aloud Script]</a:t>
            </a:r>
          </a:p>
          <a:p/>
          <a:p>
            <a:r>
              <a:t>As the game runs, do not evaluate it only by whether Pac-Man wins. Identify the agent design. The environment is the maze with walls, pellets, power pellets, ghosts, and scoring rules. The percept supplied to the program includes position, legal moves, remaining pellets, power-pellet state, and ghost information.</a:t>
            </a:r>
          </a:p>
          <a:p/>
          <a:p>
            <a:r>
              <a:t>The actuators are the movement actions returned by the program. Each action changes the state and produces a new percept. The performance measure includes score, survival, and completion. If the program chooses the action with the highest calculated value, it has a utility-based component. If it searches paths to pellets, it has a goal-based component. If it tracks timers or ghost release state, it has a model-based component.</a:t>
            </a:r>
          </a:p>
          <a:p/>
          <a:p>
            <a:r>
              <a:t>Watch for the power pellet. A normal pellet changes the score only. A power pellet changes the environment by placing ghosts into a frightened state for a limited time. If the agent tracks the remaining duration, that information becomes internal state. During frightened mode, the utility of approaching a ghost changes from strongly negative to positive.</a:t>
            </a:r>
          </a:p>
          <a:p/>
          <a:p>
            <a:r>
              <a:t>Ask whether the agent is rational. The answer depends on the performance measure and the information available. A locally reasonable move can still lead to a poor later outcome if the agent has a short planning horizon. A system can therefore be rational relative to a limited model while remaining less capable than a more complete planner.</a:t>
            </a:r>
          </a:p>
          <a:p/>
          <a:p>
            <a:r>
              <a:t>This demonstration illustrates why the textbook categories can overlap in real code. The program does not need to fit one pure box. The categories help us identify which information is explicit and which decision mechanism is being used.</a:t>
            </a:r>
          </a:p>
          <a:p/>
          <a:p>
            <a:r>
              <a:t>After this vocabulary mapping, the next slide identifies the live code files. The point of the live demo is not to teach Pygame. The point is to show that the visual environment can remain fixed while the agent program changes. That separation reinforces the Chapter 2 formula: agent equals architecture plus program.</a:t>
            </a:r>
          </a:p>
          <a:p/>
          <a:p>
            <a:r>
              <a:t>[Instructor Cue]</a:t>
            </a:r>
          </a:p>
          <a:p>
            <a:r>
              <a:t>Pause the program at least twice. Ask students to predict the selected action and justify it using percepts, goal, utility, or internal state. Restart once to show that changing ghost behavior can change outcomes.</a:t>
            </a:r>
          </a:p>
          <a:p/>
          <a:p>
            <a:r>
              <a:t>[Transition]</a:t>
            </a:r>
          </a:p>
          <a:p>
            <a:r>
              <a:t>Next, we will connect the live Pac-Man behavior to the specific Python agent files that implement the Chapter 2 agent designs.</a:t>
            </a:r>
          </a:p>
          <a:p/>
          <a:p>
            <a:r>
              <a:t>[Sources]</a:t>
            </a:r>
          </a:p>
          <a:p>
            <a:r>
              <a:t>- AIMA 4e, Sections 2.1-2.4.6; autonomous Pac-Man classroom code.</a:t>
            </a:r>
          </a:p>
        </p:txBody>
      </p:sp>
      <p:sp>
        <p:nvSpPr>
          <p:cNvPr id="808" name="PlaceHolder 3"/>
          <p:cNvSpPr>
            <a:spLocks noGrp="1"/>
          </p:cNvSpPr>
          <p:nvPr>
            <p:ph type="sldNum" idx="3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65FBB11-8270-4F63-876D-B274AE50ED4C}"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PlaceHolder 1"/>
          <p:cNvSpPr>
            <a:spLocks noGrp="1"/>
          </p:cNvSpPr>
          <p:nvPr>
            <p:ph type="sldImg"/>
          </p:nvPr>
        </p:nvSpPr>
        <p:spPr>
          <a:xfrm>
            <a:off x="685800" y="1143000"/>
            <a:ext cx="5485680" cy="3085560"/>
          </a:xfrm>
          <a:prstGeom prst="rect">
            <a:avLst/>
          </a:prstGeom>
          <a:ln w="0">
            <a:noFill/>
          </a:ln>
        </p:spPr>
      </p:sp>
      <p:sp>
        <p:nvSpPr>
          <p:cNvPr id="81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2 minutes</a:t>
            </a:r>
          </a:p>
          <a:p>
            <a:r>
              <a:t>Chapter alignment: Chapter boundary and course sequencing</a:t>
            </a:r>
          </a:p>
          <a:p/>
          <a:p>
            <a:r>
              <a:t>[Read-Aloud Script]</a:t>
            </a:r>
          </a:p>
          <a:p/>
          <a:p>
            <a:r>
              <a:t>This slide establishes the boundary between the current chapter and the next unit. The first portion of the planning video belongs here because it compares reflex agents with agents that predict future consequences. The Pac-Man demonstrations show why local condition-action rules can fail and why a goal-based agent may need to plan or replan.</a:t>
            </a:r>
          </a:p>
          <a:p/>
          <a:p>
            <a:r>
              <a:t>After approximately eleven minutes, the lecture begins formal search problem formulation: state spaces, start states, successor functions, goal tests, search trees, depth-first search, breadth-first search, and uniform-cost search. Those topics belong to Chapter 3.</a:t>
            </a:r>
          </a:p>
          <a:p/>
          <a:p>
            <a:r>
              <a:t>The conceptual sequence is simple. Chapter 2 explains what a goal-based agent needs: a state, a model of action consequences, and a goal. Chapter 3 explains how search can compute an action sequence that reaches that goal. Keeping the boundary clear prevents the agent architecture and the search algorithm from being treated as the same concept.</a:t>
            </a:r>
          </a:p>
          <a:p/>
          <a:p>
            <a:r>
              <a:t>[Instructor Cue]</a:t>
            </a:r>
          </a:p>
          <a:p>
            <a:r>
              <a:t>Instructor pacing note: play the early segment during this lecture and save the full search material for the next deck.</a:t>
            </a:r>
          </a:p>
          <a:p/>
          <a:p>
            <a:r>
              <a:t>[Transition]</a:t>
            </a:r>
          </a:p>
          <a:p>
            <a:r>
              <a:t>We will close by compressing the chapter into a small set of design rules.</a:t>
            </a:r>
          </a:p>
          <a:p/>
          <a:p>
            <a:r>
              <a:t>[Sources]</a:t>
            </a:r>
          </a:p>
          <a:p>
            <a:r>
              <a:t>- Planning video transcript, approximately 1:19 onward.</a:t>
            </a:r>
          </a:p>
          <a:p>
            <a:r>
              <a:t>- AIMA 4e, Section 2.4.4.</a:t>
            </a:r>
          </a:p>
        </p:txBody>
      </p:sp>
      <p:sp>
        <p:nvSpPr>
          <p:cNvPr id="811" name="PlaceHolder 3"/>
          <p:cNvSpPr>
            <a:spLocks noGrp="1"/>
          </p:cNvSpPr>
          <p:nvPr>
            <p:ph type="sldNum" idx="3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398F21B-2056-46B7-8462-4475BB47141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2" name="PlaceHolder 1"/>
          <p:cNvSpPr>
            <a:spLocks noGrp="1"/>
          </p:cNvSpPr>
          <p:nvPr>
            <p:ph type="sldImg"/>
          </p:nvPr>
        </p:nvSpPr>
        <p:spPr>
          <a:xfrm>
            <a:off x="685800" y="1143000"/>
            <a:ext cx="5485680" cy="3085560"/>
          </a:xfrm>
          <a:prstGeom prst="rect">
            <a:avLst/>
          </a:prstGeom>
          <a:ln w="0">
            <a:noFill/>
          </a:ln>
        </p:spPr>
      </p:sp>
      <p:sp>
        <p:nvSpPr>
          <p:cNvPr id="81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r>
              <a:t>Suggested time: 4 minutes</a:t>
            </a:r>
          </a:p>
          <a:p>
            <a:r>
              <a:t>Chapter alignment: Chapter summary</a:t>
            </a:r>
          </a:p>
          <a:p/>
          <a:p>
            <a:r>
              <a:t>[Read-Aloud Script]</a:t>
            </a:r>
          </a:p>
          <a:p/>
          <a:p>
            <a:r>
              <a:t>Chapter 2 presents AI as the science and engineering of agent design. An agent perceives an environment through sensors and acts through actuators. The agent function maps percept sequences to actions, while the agent program implements that mapping on an architecture.</a:t>
            </a:r>
          </a:p>
          <a:p/>
          <a:p>
            <a:r>
              <a:t>A rational agent chooses the action expected to maximize its performance measure, given its prior knowledge, available actions, and percept sequence. Rationality is not omniscience or hindsight perfection. Information gathering, learning, and autonomy can all be rational because they improve later decisions.</a:t>
            </a:r>
          </a:p>
          <a:p/>
          <a:p>
            <a:r>
              <a:t>PEAS specifies the task through Performance measure, Environment, Actuators, and Sensors. Environment dimensions—observability, number of agents, determinism, episodic or sequential structure, static or dynamic behavior, discrete or continuous state, and known or unknown rules—guide the design.</a:t>
            </a:r>
          </a:p>
          <a:p/>
          <a:p>
            <a:r>
              <a:t>The table-driven agent is a conceptual baseline but does not scale. Simple reflex agents use current-percept rules. Model-based reflex agents maintain internal state. Goal-based agents predict futures that achieve goals. Utility-based agents compare outcomes and uncertainty. Learning agents improve components through feedback and exploration.</a:t>
            </a:r>
          </a:p>
          <a:p/>
          <a:p>
            <a:r>
              <a:t>Finally, internal representations can be atomic, factored, or structured. More expressive representations describe richer worlds but usually require more complex reasoning.</a:t>
            </a:r>
          </a:p>
          <a:p/>
          <a:p>
            <a:r>
              <a:t>The complete workflow is: define the agent, specify the task, classify the environment, and choose the design. The next unit begins with goal-based agents and develops search algorithms for finding action sequences.</a:t>
            </a:r>
          </a:p>
          <a:p/>
          <a:p>
            <a:r>
              <a:t>[Instructor Cue]</a:t>
            </a:r>
          </a:p>
          <a:p>
            <a:r>
              <a:t>Closing retrieval check: ask students to define PEAS, name the six agent designs covered in the deck, and explain one environment property that forces a more capable agent design.</a:t>
            </a:r>
          </a:p>
          <a:p/>
          <a:p>
            <a:r>
              <a:t>[Sources]</a:t>
            </a:r>
          </a:p>
          <a:p>
            <a:r>
              <a:t>- AIMA 4e, Chapter 2 summary.</a:t>
            </a:r>
          </a:p>
        </p:txBody>
      </p:sp>
      <p:sp>
        <p:nvSpPr>
          <p:cNvPr id="814" name="PlaceHolder 3"/>
          <p:cNvSpPr>
            <a:spLocks noGrp="1"/>
          </p:cNvSpPr>
          <p:nvPr>
            <p:ph type="sldNum" idx="3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71328DC-1983-4CBC-A3A7-D7253ADC750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708480"/>
            <a:ext cx="10971720" cy="274680"/>
          </a:xfrm>
          <a:prstGeom prst="rect">
            <a:avLst/>
          </a:prstGeom>
          <a:noFill/>
          <a:ln w="0">
            <a:noFill/>
          </a:ln>
        </p:spPr>
        <p:txBody>
          <a:bodyPr lIns="0" tIns="0" rIns="0" bIns="0" anchor="ctr">
            <a:spAutoFit/>
          </a:bodyPr>
          <a:lstStyle>
            <a:lvl1pPr indent="0" algn="l">
              <a:buNone/>
              <a:tabLst>
                <a:tab pos="0" algn="l"/>
              </a:tabLst>
              <a:defRPr lang="en-US" sz="1800" b="0" u="none" strike="noStrike">
                <a:solidFill>
                  <a:schemeClr val="dk1"/>
                </a:solidFill>
                <a:effectLst/>
                <a:uFillTx/>
                <a:latin typeface="Aptos"/>
              </a:defRPr>
            </a:lvl1pPr>
          </a:lstStyle>
          <a:p>
            <a:pPr indent="0" algn="l">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Aptos"/>
              </a:defRPr>
            </a:lvl1pPr>
          </a:lstStyle>
          <a:p>
            <a:pPr indent="0" algn="l">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4"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708480"/>
            <a:ext cx="109717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2"/>
    <p:sldLayoutId id="2147483653" r:id="rId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3" name="Shape 0"/>
          <p:cNvSpPr/>
          <p:nvPr/>
        </p:nvSpPr>
        <p:spPr>
          <a:xfrm>
            <a:off x="0" y="0"/>
            <a:ext cx="12191040" cy="6857280"/>
          </a:xfrm>
          <a:prstGeom prst="rect">
            <a:avLst/>
          </a:prstGeom>
          <a:solidFill>
            <a:srgbClr val="F2F6FA"/>
          </a:solidFill>
          <a:ln w="12700">
            <a:solidFill>
              <a:srgbClr val="F2F6F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 name="Shape 1"/>
          <p:cNvSpPr/>
          <p:nvPr/>
        </p:nvSpPr>
        <p:spPr>
          <a:xfrm>
            <a:off x="0" y="0"/>
            <a:ext cx="12191040" cy="105084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 name="Shape 2"/>
          <p:cNvSpPr/>
          <p:nvPr/>
        </p:nvSpPr>
        <p:spPr>
          <a:xfrm>
            <a:off x="0" y="1051560"/>
            <a:ext cx="12191040" cy="81720"/>
          </a:xfrm>
          <a:prstGeom prst="rect">
            <a:avLst/>
          </a:prstGeom>
          <a:solidFill>
            <a:srgbClr val="F5A21B"/>
          </a:solidFill>
          <a:ln w="12700">
            <a:solidFill>
              <a:srgbClr val="F5A21B"/>
            </a:solidFill>
            <a:round/>
          </a:ln>
        </p:spPr>
        <p:style>
          <a:lnRef idx="0"/>
          <a:fillRef idx="0"/>
          <a:effectRef idx="0"/>
          <a:fontRef idx="minor"/>
        </p:style>
        <p:txBody>
          <a:bodyPr lIns="90000" tIns="37440" rIns="90000" bIns="37440" anchor="t">
            <a:noAutofit/>
          </a:bodyPr>
          <a:p>
            <a:endParaRPr lang="en-US" sz="1800" b="0" u="none" strike="noStrike">
              <a:solidFill>
                <a:srgbClr val="000000"/>
              </a:solidFill>
              <a:effectLst/>
              <a:uFillTx/>
              <a:latin typeface="Arial"/>
            </a:endParaRPr>
          </a:p>
        </p:txBody>
      </p:sp>
      <p:sp>
        <p:nvSpPr>
          <p:cNvPr id="16" name="Text 3"/>
          <p:cNvSpPr/>
          <p:nvPr/>
        </p:nvSpPr>
        <p:spPr>
          <a:xfrm>
            <a:off x="685800" y="311040"/>
            <a:ext cx="201096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FFFFFF"/>
                </a:solidFill>
                <a:effectLst/>
                <a:uFillTx/>
                <a:latin typeface="Aptos"/>
              </a:rPr>
              <a:t>COMP 469</a:t>
            </a:r>
            <a:endParaRPr lang="en-US" sz="2000" b="0" u="none" strike="noStrike">
              <a:solidFill>
                <a:srgbClr val="000000"/>
              </a:solidFill>
              <a:effectLst/>
              <a:uFillTx/>
              <a:latin typeface="Arial"/>
            </a:endParaRPr>
          </a:p>
        </p:txBody>
      </p:sp>
      <p:sp>
        <p:nvSpPr>
          <p:cNvPr id="17" name="Text 4"/>
          <p:cNvSpPr/>
          <p:nvPr/>
        </p:nvSpPr>
        <p:spPr>
          <a:xfrm>
            <a:off x="685800" y="1828800"/>
            <a:ext cx="98748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0B1F3A"/>
                </a:solidFill>
                <a:effectLst/>
                <a:uFillTx/>
                <a:latin typeface="Aptos Display"/>
                <a:ea typeface="Aptos Display"/>
              </a:rPr>
              <a:t>Chapter 2: Intelligent Agents</a:t>
            </a:r>
            <a:endParaRPr lang="en-US" sz="3600" b="0" u="none" strike="noStrike">
              <a:solidFill>
                <a:srgbClr val="000000"/>
              </a:solidFill>
              <a:effectLst/>
              <a:uFillTx/>
              <a:latin typeface="Arial"/>
            </a:endParaRPr>
          </a:p>
        </p:txBody>
      </p:sp>
      <p:sp>
        <p:nvSpPr>
          <p:cNvPr id="18" name="Text 5"/>
          <p:cNvSpPr/>
          <p:nvPr/>
        </p:nvSpPr>
        <p:spPr>
          <a:xfrm>
            <a:off x="713160" y="2541960"/>
            <a:ext cx="749736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5E7088"/>
                </a:solidFill>
                <a:effectLst/>
                <a:uFillTx/>
                <a:latin typeface="Aptos"/>
              </a:rPr>
              <a:t>CSU Channel Islands · Department of Computer Science</a:t>
            </a:r>
            <a:endParaRPr lang="en-US" sz="1500" b="0" u="none" strike="noStrike">
              <a:solidFill>
                <a:srgbClr val="000000"/>
              </a:solidFill>
              <a:effectLst/>
              <a:uFillTx/>
              <a:latin typeface="Arial"/>
            </a:endParaRPr>
          </a:p>
        </p:txBody>
      </p:sp>
      <p:sp>
        <p:nvSpPr>
          <p:cNvPr id="19" name="Shape 6"/>
          <p:cNvSpPr/>
          <p:nvPr/>
        </p:nvSpPr>
        <p:spPr>
          <a:xfrm>
            <a:off x="960120" y="3886200"/>
            <a:ext cx="1553760" cy="1553760"/>
          </a:xfrm>
          <a:prstGeom prst="ellipse">
            <a:avLst/>
          </a:prstGeom>
          <a:solidFill>
            <a:srgbClr val="2B6CB0"/>
          </a:solidFill>
          <a:ln w="12700">
            <a:solidFill>
              <a:srgbClr val="2B6CB0"/>
            </a:solidFill>
            <a:round/>
          </a:ln>
          <a:effectLst>
            <a:outerShdw algn="bl" blurRad="25560" dir="2700000" dist="12218" kx="0" ky="0" rotWithShape="0" sx="100000" sy="100000">
              <a:srgbClr val="000000">
                <a:alpha val="16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 name="Text 7"/>
          <p:cNvSpPr/>
          <p:nvPr/>
        </p:nvSpPr>
        <p:spPr>
          <a:xfrm>
            <a:off x="960120" y="4370760"/>
            <a:ext cx="1553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Sense</a:t>
            </a:r>
            <a:endParaRPr lang="en-US" sz="1800" b="0" u="none" strike="noStrike">
              <a:solidFill>
                <a:srgbClr val="000000"/>
              </a:solidFill>
              <a:effectLst/>
              <a:uFillTx/>
              <a:latin typeface="Arial"/>
            </a:endParaRPr>
          </a:p>
        </p:txBody>
      </p:sp>
      <p:sp>
        <p:nvSpPr>
          <p:cNvPr id="21" name="Shape 8"/>
          <p:cNvSpPr/>
          <p:nvPr/>
        </p:nvSpPr>
        <p:spPr>
          <a:xfrm>
            <a:off x="2834640" y="4370760"/>
            <a:ext cx="1233720" cy="593640"/>
          </a:xfrm>
          <a:prstGeom prst="chevron">
            <a:avLst>
              <a:gd name="adj" fmla="val 50000"/>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 name="Shape 9"/>
          <p:cNvSpPr/>
          <p:nvPr/>
        </p:nvSpPr>
        <p:spPr>
          <a:xfrm>
            <a:off x="4343400" y="3886200"/>
            <a:ext cx="1553760" cy="1553760"/>
          </a:xfrm>
          <a:prstGeom prst="ellipse">
            <a:avLst/>
          </a:prstGeom>
          <a:solidFill>
            <a:srgbClr val="048A97"/>
          </a:solidFill>
          <a:ln w="12700">
            <a:solidFill>
              <a:srgbClr val="048A97"/>
            </a:solidFill>
            <a:round/>
          </a:ln>
          <a:effectLst>
            <a:outerShdw algn="bl" blurRad="25560" dir="2700000" dist="12218" kx="0" ky="0" rotWithShape="0" sx="100000" sy="100000">
              <a:srgbClr val="000000">
                <a:alpha val="16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 name="Text 10"/>
          <p:cNvSpPr/>
          <p:nvPr/>
        </p:nvSpPr>
        <p:spPr>
          <a:xfrm>
            <a:off x="4343400" y="4370760"/>
            <a:ext cx="1553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Decide</a:t>
            </a:r>
            <a:endParaRPr lang="en-US" sz="1800" b="0" u="none" strike="noStrike">
              <a:solidFill>
                <a:srgbClr val="000000"/>
              </a:solidFill>
              <a:effectLst/>
              <a:uFillTx/>
              <a:latin typeface="Arial"/>
            </a:endParaRPr>
          </a:p>
        </p:txBody>
      </p:sp>
      <p:sp>
        <p:nvSpPr>
          <p:cNvPr id="24" name="Shape 11"/>
          <p:cNvSpPr/>
          <p:nvPr/>
        </p:nvSpPr>
        <p:spPr>
          <a:xfrm>
            <a:off x="6217920" y="4370760"/>
            <a:ext cx="1233720" cy="593640"/>
          </a:xfrm>
          <a:prstGeom prst="chevron">
            <a:avLst>
              <a:gd name="adj" fmla="val 50000"/>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 name="Shape 12"/>
          <p:cNvSpPr/>
          <p:nvPr/>
        </p:nvSpPr>
        <p:spPr>
          <a:xfrm>
            <a:off x="7818120" y="3886200"/>
            <a:ext cx="1553760" cy="1553760"/>
          </a:xfrm>
          <a:prstGeom prst="ellipse">
            <a:avLst/>
          </a:prstGeom>
          <a:solidFill>
            <a:srgbClr val="1B7A45"/>
          </a:solidFill>
          <a:ln w="12700">
            <a:solidFill>
              <a:srgbClr val="1B7A45"/>
            </a:solidFill>
            <a:round/>
          </a:ln>
          <a:effectLst>
            <a:outerShdw algn="bl" blurRad="25560" dir="2700000" dist="12218" kx="0" ky="0" rotWithShape="0" sx="100000" sy="100000">
              <a:srgbClr val="000000">
                <a:alpha val="16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 name="Text 13"/>
          <p:cNvSpPr/>
          <p:nvPr/>
        </p:nvSpPr>
        <p:spPr>
          <a:xfrm>
            <a:off x="7818120" y="4370760"/>
            <a:ext cx="1553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Act</a:t>
            </a:r>
            <a:endParaRPr lang="en-US" sz="1800" b="0" u="none" strike="noStrike">
              <a:solidFill>
                <a:srgbClr val="000000"/>
              </a:solidFill>
              <a:effectLst/>
              <a:uFillTx/>
              <a:latin typeface="Arial"/>
            </a:endParaRPr>
          </a:p>
        </p:txBody>
      </p:sp>
      <p:sp>
        <p:nvSpPr>
          <p:cNvPr id="27" name="Text 14"/>
          <p:cNvSpPr/>
          <p:nvPr/>
        </p:nvSpPr>
        <p:spPr>
          <a:xfrm>
            <a:off x="713160" y="5916240"/>
            <a:ext cx="10880640" cy="310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Core question: how should an agent choose actions in an environment?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28"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0"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What Can AI Do?</a:t>
            </a:r>
            <a:endParaRPr lang="en-US" sz="2300" b="0" u="none" strike="noStrike">
              <a:solidFill>
                <a:srgbClr val="000000"/>
              </a:solidFill>
              <a:effectLst/>
              <a:uFillTx/>
              <a:latin typeface="Arial"/>
            </a:endParaRPr>
          </a:p>
        </p:txBody>
      </p:sp>
      <p:sp>
        <p:nvSpPr>
          <p:cNvPr id="31"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Warm-up</a:t>
            </a:r>
            <a:endParaRPr lang="en-US" sz="1200" b="0" u="none" strike="noStrike">
              <a:solidFill>
                <a:srgbClr val="000000"/>
              </a:solidFill>
              <a:effectLst/>
              <a:uFillTx/>
              <a:latin typeface="Arial"/>
            </a:endParaRPr>
          </a:p>
        </p:txBody>
      </p:sp>
      <p:sp>
        <p:nvSpPr>
          <p:cNvPr id="32"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3"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2</a:t>
            </a:r>
          </a:p>
        </p:txBody>
      </p:sp>
      <p:sp>
        <p:nvSpPr>
          <p:cNvPr id="34" name="Shape 6"/>
          <p:cNvSpPr/>
          <p:nvPr/>
        </p:nvSpPr>
        <p:spPr>
          <a:xfrm>
            <a:off x="658440" y="1234440"/>
            <a:ext cx="3016800" cy="1965240"/>
          </a:xfrm>
          <a:prstGeom prst="roundRect">
            <a:avLst>
              <a:gd name="adj" fmla="val 2791"/>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 name="Text 7"/>
          <p:cNvSpPr/>
          <p:nvPr/>
        </p:nvSpPr>
        <p:spPr>
          <a:xfrm>
            <a:off x="822960" y="1380600"/>
            <a:ext cx="26877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6CB0"/>
                </a:solidFill>
                <a:effectLst/>
                <a:uFillTx/>
                <a:latin typeface="Aptos"/>
              </a:rPr>
              <a:t>Reliable in formal worlds</a:t>
            </a:r>
            <a:endParaRPr lang="en-US" sz="1500" b="0" u="none" strike="noStrike">
              <a:solidFill>
                <a:srgbClr val="000000"/>
              </a:solidFill>
              <a:effectLst/>
              <a:uFillTx/>
              <a:latin typeface="Arial"/>
            </a:endParaRPr>
          </a:p>
        </p:txBody>
      </p:sp>
      <p:sp>
        <p:nvSpPr>
          <p:cNvPr id="36" name="Text 8"/>
          <p:cNvSpPr/>
          <p:nvPr/>
        </p:nvSpPr>
        <p:spPr>
          <a:xfrm>
            <a:off x="822960" y="1710000"/>
            <a:ext cx="2687760" cy="137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Win at chess or Go</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Translate speech</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Classify images</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Answer structured questions</a:t>
            </a:r>
            <a:endParaRPr lang="en-US" sz="1250" b="0" u="none" strike="noStrike">
              <a:solidFill>
                <a:srgbClr val="000000"/>
              </a:solidFill>
              <a:effectLst/>
              <a:uFillTx/>
              <a:latin typeface="Arial"/>
            </a:endParaRPr>
          </a:p>
        </p:txBody>
      </p:sp>
      <p:sp>
        <p:nvSpPr>
          <p:cNvPr id="37" name="Shape 9"/>
          <p:cNvSpPr/>
          <p:nvPr/>
        </p:nvSpPr>
        <p:spPr>
          <a:xfrm>
            <a:off x="3886200" y="1234440"/>
            <a:ext cx="3794040" cy="1965240"/>
          </a:xfrm>
          <a:prstGeom prst="roundRect">
            <a:avLst>
              <a:gd name="adj" fmla="val 2791"/>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 name="Text 10"/>
          <p:cNvSpPr/>
          <p:nvPr/>
        </p:nvSpPr>
        <p:spPr>
          <a:xfrm>
            <a:off x="4050720" y="1380600"/>
            <a:ext cx="34650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A32020"/>
                </a:solidFill>
                <a:effectLst/>
                <a:uFillTx/>
                <a:latin typeface="Aptos"/>
              </a:rPr>
              <a:t>Harder in open worlds</a:t>
            </a:r>
            <a:endParaRPr lang="en-US" sz="1500" b="0" u="none" strike="noStrike">
              <a:solidFill>
                <a:srgbClr val="000000"/>
              </a:solidFill>
              <a:effectLst/>
              <a:uFillTx/>
              <a:latin typeface="Arial"/>
            </a:endParaRPr>
          </a:p>
        </p:txBody>
      </p:sp>
      <p:sp>
        <p:nvSpPr>
          <p:cNvPr id="39" name="Text 11"/>
          <p:cNvSpPr/>
          <p:nvPr/>
        </p:nvSpPr>
        <p:spPr>
          <a:xfrm>
            <a:off x="4050720" y="1710000"/>
            <a:ext cx="3465000" cy="137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Drive safely in all conditions</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Unload any dishwasher in any home</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Buy groceries in a physical store</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Act with incomplete information</a:t>
            </a:r>
            <a:endParaRPr lang="en-US" sz="1250" b="0" u="none" strike="noStrike">
              <a:solidFill>
                <a:srgbClr val="000000"/>
              </a:solidFill>
              <a:effectLst/>
              <a:uFillTx/>
              <a:latin typeface="Arial"/>
            </a:endParaRPr>
          </a:p>
        </p:txBody>
      </p:sp>
      <p:sp>
        <p:nvSpPr>
          <p:cNvPr id="40" name="Shape 12"/>
          <p:cNvSpPr/>
          <p:nvPr/>
        </p:nvSpPr>
        <p:spPr>
          <a:xfrm>
            <a:off x="7900560" y="1234440"/>
            <a:ext cx="3565440" cy="1965240"/>
          </a:xfrm>
          <a:prstGeom prst="roundRect">
            <a:avLst>
              <a:gd name="adj" fmla="val 2791"/>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 name="Text 13"/>
          <p:cNvSpPr/>
          <p:nvPr/>
        </p:nvSpPr>
        <p:spPr>
          <a:xfrm>
            <a:off x="8065080" y="1380600"/>
            <a:ext cx="32364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B7A45"/>
                </a:solidFill>
                <a:effectLst/>
                <a:uFillTx/>
                <a:latin typeface="Aptos"/>
              </a:rPr>
              <a:t>Teaching move</a:t>
            </a:r>
            <a:endParaRPr lang="en-US" sz="1500" b="0" u="none" strike="noStrike">
              <a:solidFill>
                <a:srgbClr val="000000"/>
              </a:solidFill>
              <a:effectLst/>
              <a:uFillTx/>
              <a:latin typeface="Arial"/>
            </a:endParaRPr>
          </a:p>
        </p:txBody>
      </p:sp>
      <p:sp>
        <p:nvSpPr>
          <p:cNvPr id="42" name="Text 14"/>
          <p:cNvSpPr/>
          <p:nvPr/>
        </p:nvSpPr>
        <p:spPr>
          <a:xfrm>
            <a:off x="8065080" y="1710000"/>
            <a:ext cx="3236400" cy="137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Do not ask only whether AI “can” do something. Ask what the environment is, what the agent can perceive, what actions are available, and how success is measured.</a:t>
            </a:r>
            <a:endParaRPr lang="en-US" sz="1250" b="0" u="none" strike="noStrike">
              <a:solidFill>
                <a:srgbClr val="000000"/>
              </a:solidFill>
              <a:effectLst/>
              <a:uFillTx/>
              <a:latin typeface="Arial"/>
            </a:endParaRPr>
          </a:p>
        </p:txBody>
      </p:sp>
      <p:sp>
        <p:nvSpPr>
          <p:cNvPr id="43" name="Shape 15"/>
          <p:cNvSpPr/>
          <p:nvPr/>
        </p:nvSpPr>
        <p:spPr>
          <a:xfrm>
            <a:off x="1005840" y="4297680"/>
            <a:ext cx="10241280" cy="360"/>
          </a:xfrm>
          <a:prstGeom prst="line">
            <a:avLst/>
          </a:prstGeom>
          <a:ln w="25400">
            <a:solidFill>
              <a:srgbClr val="CBD5E1"/>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4" name="Text 16"/>
          <p:cNvSpPr/>
          <p:nvPr/>
        </p:nvSpPr>
        <p:spPr>
          <a:xfrm>
            <a:off x="1005840" y="4526280"/>
            <a:ext cx="102405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300" b="1" u="none" strike="noStrike">
                <a:solidFill>
                  <a:srgbClr val="0B2B5C"/>
                </a:solidFill>
                <a:effectLst/>
                <a:uFillTx/>
                <a:latin typeface="Aptos"/>
              </a:rPr>
              <a:t>Task difficulty depends on environment structure.</a:t>
            </a:r>
            <a:endParaRPr lang="en-US" sz="2300" b="0" u="none" strike="noStrike">
              <a:solidFill>
                <a:srgbClr val="000000"/>
              </a:solidFill>
              <a:effectLst/>
              <a:uFillTx/>
              <a:latin typeface="Arial"/>
            </a:endParaRPr>
          </a:p>
        </p:txBody>
      </p:sp>
      <p:sp>
        <p:nvSpPr>
          <p:cNvPr id="45" name="Text 17"/>
          <p:cNvSpPr/>
          <p:nvPr/>
        </p:nvSpPr>
        <p:spPr>
          <a:xfrm>
            <a:off x="1005840" y="5010840"/>
            <a:ext cx="1024056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5E7088"/>
                </a:solidFill>
                <a:effectLst/>
                <a:uFillTx/>
                <a:latin typeface="Aptos"/>
              </a:rPr>
              <a:t>Use this as a quick poll before formal definitions.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6"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8"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A Rational-Agent Perspective</a:t>
            </a:r>
            <a:endParaRPr lang="en-US" sz="2300" b="0" u="none" strike="noStrike">
              <a:solidFill>
                <a:srgbClr val="000000"/>
              </a:solidFill>
              <a:effectLst/>
              <a:uFillTx/>
              <a:latin typeface="Arial"/>
            </a:endParaRPr>
          </a:p>
        </p:txBody>
      </p:sp>
      <p:sp>
        <p:nvSpPr>
          <p:cNvPr id="49"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Framing</a:t>
            </a:r>
            <a:endParaRPr lang="en-US" sz="1200" b="0" u="none" strike="noStrike">
              <a:solidFill>
                <a:srgbClr val="000000"/>
              </a:solidFill>
              <a:effectLst/>
              <a:uFillTx/>
              <a:latin typeface="Arial"/>
            </a:endParaRPr>
          </a:p>
        </p:txBody>
      </p:sp>
      <p:sp>
        <p:nvSpPr>
          <p:cNvPr id="50"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1"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3</a:t>
            </a:r>
          </a:p>
        </p:txBody>
      </p:sp>
      <p:sp>
        <p:nvSpPr>
          <p:cNvPr id="52" name="Text 6"/>
          <p:cNvSpPr/>
          <p:nvPr/>
        </p:nvSpPr>
        <p:spPr>
          <a:xfrm>
            <a:off x="777240" y="1234440"/>
            <a:ext cx="5942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u="none" strike="noStrike">
                <a:solidFill>
                  <a:srgbClr val="0B1F3A"/>
                </a:solidFill>
                <a:effectLst/>
                <a:uFillTx/>
                <a:latin typeface="Aptos"/>
              </a:rPr>
              <a:t>Should we make machines that...</a:t>
            </a:r>
            <a:endParaRPr lang="en-US" sz="2100" b="0" u="none" strike="noStrike">
              <a:solidFill>
                <a:srgbClr val="000000"/>
              </a:solidFill>
              <a:effectLst/>
              <a:uFillTx/>
              <a:latin typeface="Arial"/>
            </a:endParaRPr>
          </a:p>
        </p:txBody>
      </p:sp>
      <p:sp>
        <p:nvSpPr>
          <p:cNvPr id="53" name="Shape 7"/>
          <p:cNvSpPr/>
          <p:nvPr/>
        </p:nvSpPr>
        <p:spPr>
          <a:xfrm>
            <a:off x="960120" y="1874520"/>
            <a:ext cx="4434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 name="Text 8"/>
          <p:cNvSpPr/>
          <p:nvPr/>
        </p:nvSpPr>
        <p:spPr>
          <a:xfrm>
            <a:off x="1124640" y="2020680"/>
            <a:ext cx="4105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6DA3D9"/>
                </a:solidFill>
                <a:effectLst/>
                <a:uFillTx/>
                <a:latin typeface="Aptos"/>
              </a:rPr>
              <a:t>Think like people</a:t>
            </a:r>
            <a:endParaRPr lang="en-US" sz="1900" b="0" u="none" strike="noStrike">
              <a:solidFill>
                <a:srgbClr val="000000"/>
              </a:solidFill>
              <a:effectLst/>
              <a:uFillTx/>
              <a:latin typeface="Arial"/>
            </a:endParaRPr>
          </a:p>
        </p:txBody>
      </p:sp>
      <p:sp>
        <p:nvSpPr>
          <p:cNvPr id="55" name="Text 9"/>
          <p:cNvSpPr/>
          <p:nvPr/>
        </p:nvSpPr>
        <p:spPr>
          <a:xfrm>
            <a:off x="1124640" y="2350080"/>
            <a:ext cx="4105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400" b="0" u="none" strike="noStrike">
                <a:solidFill>
                  <a:srgbClr val="0B1F3A"/>
                </a:solidFill>
                <a:effectLst/>
                <a:uFillTx/>
                <a:latin typeface="Aptos"/>
              </a:rPr>
              <a:t>human thought process</a:t>
            </a:r>
            <a:endParaRPr lang="en-US" sz="1400" b="0" u="none" strike="noStrike">
              <a:solidFill>
                <a:srgbClr val="000000"/>
              </a:solidFill>
              <a:effectLst/>
              <a:uFillTx/>
              <a:latin typeface="Arial"/>
            </a:endParaRPr>
          </a:p>
        </p:txBody>
      </p:sp>
      <p:sp>
        <p:nvSpPr>
          <p:cNvPr id="56" name="Shape 10"/>
          <p:cNvSpPr/>
          <p:nvPr/>
        </p:nvSpPr>
        <p:spPr>
          <a:xfrm>
            <a:off x="6400800" y="1874520"/>
            <a:ext cx="4434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 name="Text 11"/>
          <p:cNvSpPr/>
          <p:nvPr/>
        </p:nvSpPr>
        <p:spPr>
          <a:xfrm>
            <a:off x="6565320" y="2020680"/>
            <a:ext cx="4105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048A97"/>
                </a:solidFill>
                <a:effectLst/>
                <a:uFillTx/>
                <a:latin typeface="Aptos"/>
              </a:rPr>
              <a:t>Think rationally</a:t>
            </a:r>
            <a:endParaRPr lang="en-US" sz="1900" b="0" u="none" strike="noStrike">
              <a:solidFill>
                <a:srgbClr val="000000"/>
              </a:solidFill>
              <a:effectLst/>
              <a:uFillTx/>
              <a:latin typeface="Arial"/>
            </a:endParaRPr>
          </a:p>
        </p:txBody>
      </p:sp>
      <p:sp>
        <p:nvSpPr>
          <p:cNvPr id="58" name="Text 12"/>
          <p:cNvSpPr/>
          <p:nvPr/>
        </p:nvSpPr>
        <p:spPr>
          <a:xfrm>
            <a:off x="6565320" y="2350080"/>
            <a:ext cx="4105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400" b="0" u="none" strike="noStrike">
                <a:solidFill>
                  <a:srgbClr val="0B1F3A"/>
                </a:solidFill>
                <a:effectLst/>
                <a:uFillTx/>
                <a:latin typeface="Aptos"/>
              </a:rPr>
              <a:t>formal reasoning</a:t>
            </a:r>
            <a:endParaRPr lang="en-US" sz="1400" b="0" u="none" strike="noStrike">
              <a:solidFill>
                <a:srgbClr val="000000"/>
              </a:solidFill>
              <a:effectLst/>
              <a:uFillTx/>
              <a:latin typeface="Arial"/>
            </a:endParaRPr>
          </a:p>
        </p:txBody>
      </p:sp>
      <p:sp>
        <p:nvSpPr>
          <p:cNvPr id="59" name="Shape 13"/>
          <p:cNvSpPr/>
          <p:nvPr/>
        </p:nvSpPr>
        <p:spPr>
          <a:xfrm>
            <a:off x="960120" y="3840480"/>
            <a:ext cx="4434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 name="Text 14"/>
          <p:cNvSpPr/>
          <p:nvPr/>
        </p:nvSpPr>
        <p:spPr>
          <a:xfrm>
            <a:off x="1124640" y="3986640"/>
            <a:ext cx="4105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5B35B1"/>
                </a:solidFill>
                <a:effectLst/>
                <a:uFillTx/>
                <a:latin typeface="Aptos"/>
              </a:rPr>
              <a:t>Act like people</a:t>
            </a:r>
            <a:endParaRPr lang="en-US" sz="1900" b="0" u="none" strike="noStrike">
              <a:solidFill>
                <a:srgbClr val="000000"/>
              </a:solidFill>
              <a:effectLst/>
              <a:uFillTx/>
              <a:latin typeface="Arial"/>
            </a:endParaRPr>
          </a:p>
        </p:txBody>
      </p:sp>
      <p:sp>
        <p:nvSpPr>
          <p:cNvPr id="61" name="Text 15"/>
          <p:cNvSpPr/>
          <p:nvPr/>
        </p:nvSpPr>
        <p:spPr>
          <a:xfrm>
            <a:off x="1124640" y="4316040"/>
            <a:ext cx="4105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400" b="0" u="none" strike="noStrike">
                <a:solidFill>
                  <a:srgbClr val="0B1F3A"/>
                </a:solidFill>
                <a:effectLst/>
                <a:uFillTx/>
                <a:latin typeface="Aptos"/>
              </a:rPr>
              <a:t>human-like behavior</a:t>
            </a:r>
            <a:endParaRPr lang="en-US" sz="1400" b="0" u="none" strike="noStrike">
              <a:solidFill>
                <a:srgbClr val="000000"/>
              </a:solidFill>
              <a:effectLst/>
              <a:uFillTx/>
              <a:latin typeface="Arial"/>
            </a:endParaRPr>
          </a:p>
        </p:txBody>
      </p:sp>
      <p:sp>
        <p:nvSpPr>
          <p:cNvPr id="62" name="Shape 16"/>
          <p:cNvSpPr/>
          <p:nvPr/>
        </p:nvSpPr>
        <p:spPr>
          <a:xfrm>
            <a:off x="6400800" y="3840480"/>
            <a:ext cx="4434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 name="Text 17"/>
          <p:cNvSpPr/>
          <p:nvPr/>
        </p:nvSpPr>
        <p:spPr>
          <a:xfrm>
            <a:off x="6565320" y="3986640"/>
            <a:ext cx="4105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B7A45"/>
                </a:solidFill>
                <a:effectLst/>
                <a:uFillTx/>
                <a:latin typeface="Aptos"/>
              </a:rPr>
              <a:t>Act rationally</a:t>
            </a:r>
            <a:endParaRPr lang="en-US" sz="1900" b="0" u="none" strike="noStrike">
              <a:solidFill>
                <a:srgbClr val="000000"/>
              </a:solidFill>
              <a:effectLst/>
              <a:uFillTx/>
              <a:latin typeface="Arial"/>
            </a:endParaRPr>
          </a:p>
        </p:txBody>
      </p:sp>
      <p:sp>
        <p:nvSpPr>
          <p:cNvPr id="64" name="Text 18"/>
          <p:cNvSpPr/>
          <p:nvPr/>
        </p:nvSpPr>
        <p:spPr>
          <a:xfrm>
            <a:off x="6565320" y="4316040"/>
            <a:ext cx="4105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400" b="0" u="none" strike="noStrike">
                <a:solidFill>
                  <a:srgbClr val="0B1F3A"/>
                </a:solidFill>
                <a:effectLst/>
                <a:uFillTx/>
                <a:latin typeface="Aptos"/>
              </a:rPr>
              <a:t>choose effective actions</a:t>
            </a:r>
            <a:endParaRPr lang="en-US" sz="1400" b="0" u="none" strike="noStrike">
              <a:solidFill>
                <a:srgbClr val="000000"/>
              </a:solidFill>
              <a:effectLst/>
              <a:uFillTx/>
              <a:latin typeface="Arial"/>
            </a:endParaRPr>
          </a:p>
        </p:txBody>
      </p:sp>
      <p:sp>
        <p:nvSpPr>
          <p:cNvPr id="65" name="Shape 19"/>
          <p:cNvSpPr/>
          <p:nvPr/>
        </p:nvSpPr>
        <p:spPr>
          <a:xfrm>
            <a:off x="6236280" y="3730680"/>
            <a:ext cx="4735800" cy="1443960"/>
          </a:xfrm>
          <a:prstGeom prst="roundRect">
            <a:avLst>
              <a:gd name="adj" fmla="val 4430"/>
            </a:avLst>
          </a:prstGeom>
          <a:noFill/>
          <a:ln w="38100">
            <a:solidFill>
              <a:srgbClr val="F5A21B"/>
            </a:solidFill>
            <a:round/>
          </a:ln>
        </p:spPr>
        <p:style>
          <a:lnRef idx="0"/>
          <a:fillRef idx="0"/>
          <a:effectRef idx="0"/>
          <a:fontRef idx="minor"/>
        </p:style>
        <p:txBody>
          <a:bodyPr lIns="90000" tIns="45000" rIns="90000" bIns="45000" anchor="t">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66"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68"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2.0 Roadmap: From Agent Loop to Agent Design</a:t>
            </a:r>
            <a:endParaRPr lang="en-US" sz="2300" b="0" u="none" strike="noStrike">
              <a:solidFill>
                <a:srgbClr val="000000"/>
              </a:solidFill>
              <a:effectLst/>
              <a:uFillTx/>
              <a:latin typeface="Arial"/>
            </a:endParaRPr>
          </a:p>
        </p:txBody>
      </p:sp>
      <p:sp>
        <p:nvSpPr>
          <p:cNvPr id="69"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Roadmap</a:t>
            </a:r>
            <a:endParaRPr lang="en-US" sz="1200" b="0" u="none" strike="noStrike">
              <a:solidFill>
                <a:srgbClr val="000000"/>
              </a:solidFill>
              <a:effectLst/>
              <a:uFillTx/>
              <a:latin typeface="Arial"/>
            </a:endParaRPr>
          </a:p>
        </p:txBody>
      </p:sp>
      <p:sp>
        <p:nvSpPr>
          <p:cNvPr id="70"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1"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4</a:t>
            </a:r>
          </a:p>
        </p:txBody>
      </p:sp>
      <p:sp>
        <p:nvSpPr>
          <p:cNvPr id="72" name="Shape 6"/>
          <p:cNvSpPr/>
          <p:nvPr/>
        </p:nvSpPr>
        <p:spPr>
          <a:xfrm>
            <a:off x="502920" y="123444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 name="Text 7"/>
          <p:cNvSpPr/>
          <p:nvPr/>
        </p:nvSpPr>
        <p:spPr>
          <a:xfrm>
            <a:off x="667440" y="138060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2B6CB0"/>
                </a:solidFill>
                <a:effectLst/>
                <a:uFillTx/>
                <a:latin typeface="Aptos"/>
              </a:rPr>
              <a:t>Agent loop</a:t>
            </a:r>
            <a:endParaRPr lang="en-US" sz="1800" b="0" u="none" strike="noStrike">
              <a:solidFill>
                <a:srgbClr val="000000"/>
              </a:solidFill>
              <a:effectLst/>
              <a:uFillTx/>
              <a:latin typeface="Arial"/>
            </a:endParaRPr>
          </a:p>
        </p:txBody>
      </p:sp>
      <p:sp>
        <p:nvSpPr>
          <p:cNvPr id="74" name="Text 8"/>
          <p:cNvSpPr/>
          <p:nvPr/>
        </p:nvSpPr>
        <p:spPr>
          <a:xfrm>
            <a:off x="667440" y="171000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percepts -&gt; action</a:t>
            </a:r>
            <a:endParaRPr lang="en-US" sz="1300" b="0" u="none" strike="noStrike">
              <a:solidFill>
                <a:srgbClr val="000000"/>
              </a:solidFill>
              <a:effectLst/>
              <a:uFillTx/>
              <a:latin typeface="Arial"/>
            </a:endParaRPr>
          </a:p>
        </p:txBody>
      </p:sp>
      <p:sp>
        <p:nvSpPr>
          <p:cNvPr id="75" name="Shape 9"/>
          <p:cNvSpPr/>
          <p:nvPr/>
        </p:nvSpPr>
        <p:spPr>
          <a:xfrm>
            <a:off x="4297680" y="123444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 name="Text 10"/>
          <p:cNvSpPr/>
          <p:nvPr/>
        </p:nvSpPr>
        <p:spPr>
          <a:xfrm>
            <a:off x="4462200" y="138060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48A97"/>
                </a:solidFill>
                <a:effectLst/>
                <a:uFillTx/>
                <a:latin typeface="Aptos"/>
              </a:rPr>
              <a:t>Rationality</a:t>
            </a:r>
            <a:endParaRPr lang="en-US" sz="1800" b="0" u="none" strike="noStrike">
              <a:solidFill>
                <a:srgbClr val="000000"/>
              </a:solidFill>
              <a:effectLst/>
              <a:uFillTx/>
              <a:latin typeface="Arial"/>
            </a:endParaRPr>
          </a:p>
        </p:txBody>
      </p:sp>
      <p:sp>
        <p:nvSpPr>
          <p:cNvPr id="77" name="Text 11"/>
          <p:cNvSpPr/>
          <p:nvPr/>
        </p:nvSpPr>
        <p:spPr>
          <a:xfrm>
            <a:off x="4462200" y="171000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expected performance</a:t>
            </a:r>
            <a:endParaRPr lang="en-US" sz="1300" b="0" u="none" strike="noStrike">
              <a:solidFill>
                <a:srgbClr val="000000"/>
              </a:solidFill>
              <a:effectLst/>
              <a:uFillTx/>
              <a:latin typeface="Arial"/>
            </a:endParaRPr>
          </a:p>
        </p:txBody>
      </p:sp>
      <p:sp>
        <p:nvSpPr>
          <p:cNvPr id="78" name="Shape 12"/>
          <p:cNvSpPr/>
          <p:nvPr/>
        </p:nvSpPr>
        <p:spPr>
          <a:xfrm>
            <a:off x="8092440" y="123444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 name="Text 13"/>
          <p:cNvSpPr/>
          <p:nvPr/>
        </p:nvSpPr>
        <p:spPr>
          <a:xfrm>
            <a:off x="8256960" y="138060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5A21B"/>
                </a:solidFill>
                <a:effectLst/>
                <a:uFillTx/>
                <a:latin typeface="Aptos"/>
              </a:rPr>
              <a:t>PEAS</a:t>
            </a:r>
            <a:endParaRPr lang="en-US" sz="1800" b="0" u="none" strike="noStrike">
              <a:solidFill>
                <a:srgbClr val="000000"/>
              </a:solidFill>
              <a:effectLst/>
              <a:uFillTx/>
              <a:latin typeface="Arial"/>
            </a:endParaRPr>
          </a:p>
        </p:txBody>
      </p:sp>
      <p:sp>
        <p:nvSpPr>
          <p:cNvPr id="80" name="Text 14"/>
          <p:cNvSpPr/>
          <p:nvPr/>
        </p:nvSpPr>
        <p:spPr>
          <a:xfrm>
            <a:off x="8256960" y="171000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task specification</a:t>
            </a:r>
            <a:endParaRPr lang="en-US" sz="1300" b="0" u="none" strike="noStrike">
              <a:solidFill>
                <a:srgbClr val="000000"/>
              </a:solidFill>
              <a:effectLst/>
              <a:uFillTx/>
              <a:latin typeface="Arial"/>
            </a:endParaRPr>
          </a:p>
        </p:txBody>
      </p:sp>
      <p:sp>
        <p:nvSpPr>
          <p:cNvPr id="81" name="Shape 15"/>
          <p:cNvSpPr/>
          <p:nvPr/>
        </p:nvSpPr>
        <p:spPr>
          <a:xfrm>
            <a:off x="502920" y="278892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 name="Text 16"/>
          <p:cNvSpPr/>
          <p:nvPr/>
        </p:nvSpPr>
        <p:spPr>
          <a:xfrm>
            <a:off x="667440" y="293508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A32020"/>
                </a:solidFill>
                <a:effectLst/>
                <a:uFillTx/>
                <a:latin typeface="Aptos"/>
              </a:rPr>
              <a:t>Environment</a:t>
            </a:r>
            <a:endParaRPr lang="en-US" sz="1800" b="0" u="none" strike="noStrike">
              <a:solidFill>
                <a:srgbClr val="000000"/>
              </a:solidFill>
              <a:effectLst/>
              <a:uFillTx/>
              <a:latin typeface="Arial"/>
            </a:endParaRPr>
          </a:p>
        </p:txBody>
      </p:sp>
      <p:sp>
        <p:nvSpPr>
          <p:cNvPr id="83" name="Text 17"/>
          <p:cNvSpPr/>
          <p:nvPr/>
        </p:nvSpPr>
        <p:spPr>
          <a:xfrm>
            <a:off x="667440" y="326448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makes it hard</a:t>
            </a:r>
            <a:endParaRPr lang="en-US" sz="1300" b="0" u="none" strike="noStrike">
              <a:solidFill>
                <a:srgbClr val="000000"/>
              </a:solidFill>
              <a:effectLst/>
              <a:uFillTx/>
              <a:latin typeface="Arial"/>
            </a:endParaRPr>
          </a:p>
        </p:txBody>
      </p:sp>
      <p:sp>
        <p:nvSpPr>
          <p:cNvPr id="84" name="Shape 18"/>
          <p:cNvSpPr/>
          <p:nvPr/>
        </p:nvSpPr>
        <p:spPr>
          <a:xfrm>
            <a:off x="4297680" y="278892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 name="Text 19"/>
          <p:cNvSpPr/>
          <p:nvPr/>
        </p:nvSpPr>
        <p:spPr>
          <a:xfrm>
            <a:off x="4462200" y="293508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5B35B1"/>
                </a:solidFill>
                <a:effectLst/>
                <a:uFillTx/>
                <a:latin typeface="Aptos"/>
              </a:rPr>
              <a:t>Agent types</a:t>
            </a:r>
            <a:endParaRPr lang="en-US" sz="1800" b="0" u="none" strike="noStrike">
              <a:solidFill>
                <a:srgbClr val="000000"/>
              </a:solidFill>
              <a:effectLst/>
              <a:uFillTx/>
              <a:latin typeface="Arial"/>
            </a:endParaRPr>
          </a:p>
        </p:txBody>
      </p:sp>
      <p:sp>
        <p:nvSpPr>
          <p:cNvPr id="86" name="Text 20"/>
          <p:cNvSpPr/>
          <p:nvPr/>
        </p:nvSpPr>
        <p:spPr>
          <a:xfrm>
            <a:off x="4462200" y="326448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table-driven -&gt; learning</a:t>
            </a:r>
            <a:endParaRPr lang="en-US" sz="1300" b="0" u="none" strike="noStrike">
              <a:solidFill>
                <a:srgbClr val="000000"/>
              </a:solidFill>
              <a:effectLst/>
              <a:uFillTx/>
              <a:latin typeface="Arial"/>
            </a:endParaRPr>
          </a:p>
        </p:txBody>
      </p:sp>
      <p:sp>
        <p:nvSpPr>
          <p:cNvPr id="87" name="Shape 21"/>
          <p:cNvSpPr/>
          <p:nvPr/>
        </p:nvSpPr>
        <p:spPr>
          <a:xfrm>
            <a:off x="8092440" y="2788920"/>
            <a:ext cx="338256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 name="Text 22"/>
          <p:cNvSpPr/>
          <p:nvPr/>
        </p:nvSpPr>
        <p:spPr>
          <a:xfrm>
            <a:off x="8256960" y="293508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B7A45"/>
                </a:solidFill>
                <a:effectLst/>
                <a:uFillTx/>
                <a:latin typeface="Aptos"/>
              </a:rPr>
              <a:t>Representation</a:t>
            </a:r>
            <a:endParaRPr lang="en-US" sz="1800" b="0" u="none" strike="noStrike">
              <a:solidFill>
                <a:srgbClr val="000000"/>
              </a:solidFill>
              <a:effectLst/>
              <a:uFillTx/>
              <a:latin typeface="Arial"/>
            </a:endParaRPr>
          </a:p>
        </p:txBody>
      </p:sp>
      <p:sp>
        <p:nvSpPr>
          <p:cNvPr id="89" name="Text 23"/>
          <p:cNvSpPr/>
          <p:nvPr/>
        </p:nvSpPr>
        <p:spPr>
          <a:xfrm>
            <a:off x="8256960" y="3264480"/>
            <a:ext cx="305352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how the world is encoded</a:t>
            </a:r>
            <a:endParaRPr lang="en-US" sz="1300" b="0" u="none" strike="noStrike">
              <a:solidFill>
                <a:srgbClr val="000000"/>
              </a:solidFill>
              <a:effectLst/>
              <a:uFillTx/>
              <a:latin typeface="Arial"/>
            </a:endParaRPr>
          </a:p>
        </p:txBody>
      </p:sp>
      <p:sp>
        <p:nvSpPr>
          <p:cNvPr id="90" name="Text 24"/>
          <p:cNvSpPr/>
          <p:nvPr/>
        </p:nvSpPr>
        <p:spPr>
          <a:xfrm>
            <a:off x="685800" y="4892040"/>
            <a:ext cx="1088064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Teaching flow: intuition -&gt; formal model -&gt; environment classification -&gt; agent architecture -&gt; demo.</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91"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93"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2.1 Agents and Environments: The Perceive-Act Loop</a:t>
            </a:r>
            <a:endParaRPr lang="en-US" sz="2300" b="0" u="none" strike="noStrike">
              <a:solidFill>
                <a:srgbClr val="000000"/>
              </a:solidFill>
              <a:effectLst/>
              <a:uFillTx/>
              <a:latin typeface="Arial"/>
            </a:endParaRPr>
          </a:p>
        </p:txBody>
      </p:sp>
      <p:sp>
        <p:nvSpPr>
          <p:cNvPr id="94"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95"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6"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5</a:t>
            </a:r>
          </a:p>
        </p:txBody>
      </p:sp>
      <p:sp>
        <p:nvSpPr>
          <p:cNvPr id="97" name="Text 9"/>
          <p:cNvSpPr/>
          <p:nvPr/>
        </p:nvSpPr>
        <p:spPr>
          <a:xfrm>
            <a:off x="1883160" y="2715840"/>
            <a:ext cx="607680" cy="227880"/>
          </a:xfrm>
          <a:prstGeom prst="rect">
            <a:avLst/>
          </a:prstGeom>
          <a:noFill/>
          <a:ln w="0">
            <a:noFill/>
          </a:ln>
        </p:spPr>
        <p:style>
          <a:lnRef idx="0"/>
          <a:fillRef idx="0"/>
          <a:effectRef idx="0"/>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98" name="Text 18"/>
          <p:cNvSpPr/>
          <p:nvPr/>
        </p:nvSpPr>
        <p:spPr>
          <a:xfrm>
            <a:off x="7818120" y="1371600"/>
            <a:ext cx="34740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0B2B5C"/>
                </a:solidFill>
                <a:effectLst/>
                <a:uFillTx/>
                <a:latin typeface="Aptos"/>
              </a:rPr>
              <a:t>Examples</a:t>
            </a:r>
            <a:endParaRPr lang="en-US" sz="2000" b="0" u="none" strike="noStrike">
              <a:solidFill>
                <a:srgbClr val="000000"/>
              </a:solidFill>
              <a:effectLst/>
              <a:uFillTx/>
              <a:latin typeface="Arial"/>
            </a:endParaRPr>
          </a:p>
        </p:txBody>
      </p:sp>
      <p:sp>
        <p:nvSpPr>
          <p:cNvPr id="99" name="Text 19"/>
          <p:cNvSpPr/>
          <p:nvPr/>
        </p:nvSpPr>
        <p:spPr>
          <a:xfrm>
            <a:off x="7818120" y="1874520"/>
            <a:ext cx="3748320" cy="1233720"/>
          </a:xfrm>
          <a:prstGeom prst="rect">
            <a:avLst/>
          </a:prstGeom>
          <a:noFill/>
          <a:ln w="0">
            <a:noFill/>
          </a:ln>
        </p:spPr>
        <p:style>
          <a:lnRef idx="0"/>
          <a:fillRef idx="0"/>
          <a:effectRef idx="0"/>
          <a:fontRef idx="minor"/>
        </p:style>
        <p:txBody>
          <a:bodyPr lIns="720" tIns="720" rIns="720" bIns="720" anchor="ctr">
            <a:normAutofit fontScale="70000" lnSpcReduction="19999"/>
          </a:bodyPr>
          <a:p>
            <a:pPr defTabSz="914400">
              <a:lnSpc>
                <a:spcPct val="100000"/>
              </a:lnSpc>
            </a:pPr>
            <a:r>
              <a:rPr lang="en-US" sz="2100" b="0" u="none" strike="noStrike">
                <a:solidFill>
                  <a:srgbClr val="0B1F3A"/>
                </a:solidFill>
                <a:effectLst/>
                <a:uFillTx/>
                <a:latin typeface="Aptos"/>
                <a:ea typeface="Aptos"/>
              </a:rPr>
              <a:t>Human: eyes/ears -&gt; hands/voice</a:t>
            </a:r>
            <a:endParaRPr lang="en-US" sz="2100" b="0" u="none" strike="noStrike">
              <a:solidFill>
                <a:srgbClr val="000000"/>
              </a:solidFill>
              <a:effectLst/>
              <a:uFillTx/>
              <a:latin typeface="Arial"/>
            </a:endParaRPr>
          </a:p>
          <a:p>
            <a:pPr defTabSz="914400">
              <a:lnSpc>
                <a:spcPct val="100000"/>
              </a:lnSpc>
            </a:pPr>
            <a:endParaRPr lang="en-US" sz="2100" b="0" u="none" strike="noStrike">
              <a:solidFill>
                <a:srgbClr val="000000"/>
              </a:solidFill>
              <a:effectLst/>
              <a:uFillTx/>
              <a:latin typeface="Arial"/>
            </a:endParaRPr>
          </a:p>
          <a:p>
            <a:pPr defTabSz="914400">
              <a:lnSpc>
                <a:spcPct val="100000"/>
              </a:lnSpc>
            </a:pPr>
            <a:r>
              <a:rPr lang="en-US" sz="2100" b="0" u="none" strike="noStrike">
                <a:solidFill>
                  <a:srgbClr val="0B1F3A"/>
                </a:solidFill>
                <a:effectLst/>
                <a:uFillTx/>
                <a:latin typeface="Aptos"/>
                <a:ea typeface="Aptos"/>
              </a:rPr>
              <a:t>Robot: camera/lidar -&gt; motors</a:t>
            </a:r>
            <a:endParaRPr lang="en-US" sz="2100" b="0" u="none" strike="noStrike">
              <a:solidFill>
                <a:srgbClr val="000000"/>
              </a:solidFill>
              <a:effectLst/>
              <a:uFillTx/>
              <a:latin typeface="Arial"/>
            </a:endParaRPr>
          </a:p>
          <a:p>
            <a:pPr defTabSz="914400">
              <a:lnSpc>
                <a:spcPct val="100000"/>
              </a:lnSpc>
            </a:pPr>
            <a:endParaRPr lang="en-US" sz="2100" b="0" u="none" strike="noStrike">
              <a:solidFill>
                <a:srgbClr val="000000"/>
              </a:solidFill>
              <a:effectLst/>
              <a:uFillTx/>
              <a:latin typeface="Arial"/>
            </a:endParaRPr>
          </a:p>
          <a:p>
            <a:pPr defTabSz="914400">
              <a:lnSpc>
                <a:spcPct val="100000"/>
              </a:lnSpc>
            </a:pPr>
            <a:r>
              <a:rPr lang="en-US" sz="2100" b="0" u="none" strike="noStrike">
                <a:solidFill>
                  <a:srgbClr val="0B1F3A"/>
                </a:solidFill>
                <a:effectLst/>
                <a:uFillTx/>
                <a:latin typeface="Aptos"/>
                <a:ea typeface="Aptos"/>
              </a:rPr>
              <a:t>Software: packets/input -&gt; files/network</a:t>
            </a:r>
            <a:endParaRPr lang="en-US" sz="2100" b="0" u="none" strike="noStrike">
              <a:solidFill>
                <a:srgbClr val="000000"/>
              </a:solidFill>
              <a:effectLst/>
              <a:uFillTx/>
              <a:latin typeface="Arial"/>
            </a:endParaRPr>
          </a:p>
        </p:txBody>
      </p:sp>
      <p:pic>
        <p:nvPicPr>
          <p:cNvPr id="100" name="Image 0" descr="/mnt/data/ch2_docx_unzipped/word/media/image1.png"/>
          <p:cNvPicPr/>
          <p:nvPr/>
        </p:nvPicPr>
        <p:blipFill>
          <a:blip r:embed="rId1"/>
          <a:stretch/>
        </p:blipFill>
        <p:spPr>
          <a:xfrm>
            <a:off x="970560" y="1143000"/>
            <a:ext cx="5887080" cy="4240080"/>
          </a:xfrm>
          <a:prstGeom prst="rect">
            <a:avLst/>
          </a:prstGeom>
          <a:noFill/>
          <a:ln w="0">
            <a:noFill/>
          </a:ln>
        </p:spPr>
      </p:pic>
      <p:sp>
        <p:nvSpPr>
          <p:cNvPr id="101" name="Text 20"/>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02"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3"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04"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2.1 From Percepts to Agent Functions</a:t>
            </a:r>
            <a:endParaRPr lang="en-US" sz="2300" b="0" u="none" strike="noStrike">
              <a:solidFill>
                <a:srgbClr val="000000"/>
              </a:solidFill>
              <a:effectLst/>
              <a:uFillTx/>
              <a:latin typeface="Arial"/>
            </a:endParaRPr>
          </a:p>
        </p:txBody>
      </p:sp>
      <p:sp>
        <p:nvSpPr>
          <p:cNvPr id="105"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106"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7"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6</a:t>
            </a:r>
          </a:p>
        </p:txBody>
      </p:sp>
      <p:sp>
        <p:nvSpPr>
          <p:cNvPr id="108" name="Shape 6"/>
          <p:cNvSpPr/>
          <p:nvPr/>
        </p:nvSpPr>
        <p:spPr>
          <a:xfrm>
            <a:off x="658440" y="1143000"/>
            <a:ext cx="2559600" cy="1233720"/>
          </a:xfrm>
          <a:prstGeom prst="roundRect">
            <a:avLst>
              <a:gd name="adj" fmla="val 4444"/>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9" name="Text 7"/>
          <p:cNvSpPr/>
          <p:nvPr/>
        </p:nvSpPr>
        <p:spPr>
          <a:xfrm>
            <a:off x="822960" y="128916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6CB0"/>
                </a:solidFill>
                <a:effectLst/>
                <a:uFillTx/>
                <a:latin typeface="Aptos"/>
              </a:rPr>
              <a:t>Percept</a:t>
            </a:r>
            <a:endParaRPr lang="en-US" sz="1500" b="0" u="none" strike="noStrike">
              <a:solidFill>
                <a:srgbClr val="000000"/>
              </a:solidFill>
              <a:effectLst/>
              <a:uFillTx/>
              <a:latin typeface="Arial"/>
            </a:endParaRPr>
          </a:p>
        </p:txBody>
      </p:sp>
      <p:sp>
        <p:nvSpPr>
          <p:cNvPr id="110" name="Text 8"/>
          <p:cNvSpPr/>
          <p:nvPr/>
        </p:nvSpPr>
        <p:spPr>
          <a:xfrm>
            <a:off x="822960" y="1618560"/>
            <a:ext cx="223056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Current sensor content.</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Example: current Pac-Man tile, nearby wall, visible ghost.</a:t>
            </a:r>
            <a:endParaRPr lang="en-US" sz="1250" b="0" u="none" strike="noStrike">
              <a:solidFill>
                <a:srgbClr val="000000"/>
              </a:solidFill>
              <a:effectLst/>
              <a:uFillTx/>
              <a:latin typeface="Arial"/>
            </a:endParaRPr>
          </a:p>
        </p:txBody>
      </p:sp>
      <p:sp>
        <p:nvSpPr>
          <p:cNvPr id="111" name="Shape 9"/>
          <p:cNvSpPr/>
          <p:nvPr/>
        </p:nvSpPr>
        <p:spPr>
          <a:xfrm>
            <a:off x="3456360" y="1143000"/>
            <a:ext cx="2559600" cy="1233720"/>
          </a:xfrm>
          <a:prstGeom prst="roundRect">
            <a:avLst>
              <a:gd name="adj" fmla="val 4444"/>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 name="Text 10"/>
          <p:cNvSpPr/>
          <p:nvPr/>
        </p:nvSpPr>
        <p:spPr>
          <a:xfrm>
            <a:off x="3620880" y="128916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48A97"/>
                </a:solidFill>
                <a:effectLst/>
                <a:uFillTx/>
                <a:latin typeface="Aptos"/>
              </a:rPr>
              <a:t>Percept sequence</a:t>
            </a:r>
            <a:endParaRPr lang="en-US" sz="1500" b="0" u="none" strike="noStrike">
              <a:solidFill>
                <a:srgbClr val="000000"/>
              </a:solidFill>
              <a:effectLst/>
              <a:uFillTx/>
              <a:latin typeface="Arial"/>
            </a:endParaRPr>
          </a:p>
        </p:txBody>
      </p:sp>
      <p:sp>
        <p:nvSpPr>
          <p:cNvPr id="113" name="Text 11"/>
          <p:cNvSpPr/>
          <p:nvPr/>
        </p:nvSpPr>
        <p:spPr>
          <a:xfrm>
            <a:off x="3620880" y="1618560"/>
            <a:ext cx="223056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Complete history of everything the agent has perceived.</a:t>
            </a:r>
            <a:endParaRPr lang="en-US" sz="1250" b="0" u="none" strike="noStrike">
              <a:solidFill>
                <a:srgbClr val="000000"/>
              </a:solidFill>
              <a:effectLst/>
              <a:uFillTx/>
              <a:latin typeface="Arial"/>
            </a:endParaRPr>
          </a:p>
        </p:txBody>
      </p:sp>
      <p:sp>
        <p:nvSpPr>
          <p:cNvPr id="114" name="Shape 12"/>
          <p:cNvSpPr/>
          <p:nvPr/>
        </p:nvSpPr>
        <p:spPr>
          <a:xfrm>
            <a:off x="6263640" y="1143000"/>
            <a:ext cx="2559600" cy="1233720"/>
          </a:xfrm>
          <a:prstGeom prst="roundRect">
            <a:avLst>
              <a:gd name="adj" fmla="val 4444"/>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 name="Text 13"/>
          <p:cNvSpPr/>
          <p:nvPr/>
        </p:nvSpPr>
        <p:spPr>
          <a:xfrm>
            <a:off x="6428160" y="128916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B35B1"/>
                </a:solidFill>
                <a:effectLst/>
                <a:uFillTx/>
                <a:latin typeface="Aptos"/>
              </a:rPr>
              <a:t>Agent function</a:t>
            </a:r>
            <a:endParaRPr lang="en-US" sz="1500" b="0" u="none" strike="noStrike">
              <a:solidFill>
                <a:srgbClr val="000000"/>
              </a:solidFill>
              <a:effectLst/>
              <a:uFillTx/>
              <a:latin typeface="Arial"/>
            </a:endParaRPr>
          </a:p>
        </p:txBody>
      </p:sp>
      <p:sp>
        <p:nvSpPr>
          <p:cNvPr id="116" name="Text 14"/>
          <p:cNvSpPr/>
          <p:nvPr/>
        </p:nvSpPr>
        <p:spPr>
          <a:xfrm>
            <a:off x="6428160" y="1618560"/>
            <a:ext cx="223056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Abstract mapping:</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percept sequence -&gt; action</a:t>
            </a:r>
            <a:endParaRPr lang="en-US" sz="1250" b="0" u="none" strike="noStrike">
              <a:solidFill>
                <a:srgbClr val="000000"/>
              </a:solidFill>
              <a:effectLst/>
              <a:uFillTx/>
              <a:latin typeface="Arial"/>
            </a:endParaRPr>
          </a:p>
        </p:txBody>
      </p:sp>
      <p:sp>
        <p:nvSpPr>
          <p:cNvPr id="117" name="Shape 15"/>
          <p:cNvSpPr/>
          <p:nvPr/>
        </p:nvSpPr>
        <p:spPr>
          <a:xfrm>
            <a:off x="9070920" y="1143000"/>
            <a:ext cx="2559600" cy="1233720"/>
          </a:xfrm>
          <a:prstGeom prst="roundRect">
            <a:avLst>
              <a:gd name="adj" fmla="val 4444"/>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8" name="Text 16"/>
          <p:cNvSpPr/>
          <p:nvPr/>
        </p:nvSpPr>
        <p:spPr>
          <a:xfrm>
            <a:off x="9235440" y="128916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B7A45"/>
                </a:solidFill>
                <a:effectLst/>
                <a:uFillTx/>
                <a:latin typeface="Aptos"/>
              </a:rPr>
              <a:t>Agent program</a:t>
            </a:r>
            <a:endParaRPr lang="en-US" sz="1500" b="0" u="none" strike="noStrike">
              <a:solidFill>
                <a:srgbClr val="000000"/>
              </a:solidFill>
              <a:effectLst/>
              <a:uFillTx/>
              <a:latin typeface="Arial"/>
            </a:endParaRPr>
          </a:p>
        </p:txBody>
      </p:sp>
      <p:sp>
        <p:nvSpPr>
          <p:cNvPr id="119" name="Text 17"/>
          <p:cNvSpPr/>
          <p:nvPr/>
        </p:nvSpPr>
        <p:spPr>
          <a:xfrm>
            <a:off x="9235440" y="1618560"/>
            <a:ext cx="223056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Concrete implementation running on an architecture.</a:t>
            </a:r>
            <a:endParaRPr lang="en-US" sz="1250" b="0" u="none" strike="noStrike">
              <a:solidFill>
                <a:srgbClr val="000000"/>
              </a:solidFill>
              <a:effectLst/>
              <a:uFillTx/>
              <a:latin typeface="Arial"/>
            </a:endParaRPr>
          </a:p>
        </p:txBody>
      </p:sp>
      <p:sp>
        <p:nvSpPr>
          <p:cNvPr id="120" name="Shape 18"/>
          <p:cNvSpPr/>
          <p:nvPr/>
        </p:nvSpPr>
        <p:spPr>
          <a:xfrm>
            <a:off x="1920240" y="3246120"/>
            <a:ext cx="8046720" cy="360"/>
          </a:xfrm>
          <a:prstGeom prst="line">
            <a:avLst/>
          </a:prstGeom>
          <a:ln w="25400">
            <a:solidFill>
              <a:srgbClr val="F5A21B"/>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21" name="Text 19"/>
          <p:cNvSpPr/>
          <p:nvPr/>
        </p:nvSpPr>
        <p:spPr>
          <a:xfrm>
            <a:off x="2148840" y="2834640"/>
            <a:ext cx="21024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B1F3A"/>
                </a:solidFill>
                <a:effectLst/>
                <a:uFillTx/>
                <a:latin typeface="Aptos"/>
              </a:rPr>
              <a:t>percept sequence</a:t>
            </a:r>
            <a:endParaRPr lang="en-US" sz="1400" b="0" u="none" strike="noStrike">
              <a:solidFill>
                <a:srgbClr val="000000"/>
              </a:solidFill>
              <a:effectLst/>
              <a:uFillTx/>
              <a:latin typeface="Arial"/>
            </a:endParaRPr>
          </a:p>
        </p:txBody>
      </p:sp>
      <p:sp>
        <p:nvSpPr>
          <p:cNvPr id="122" name="Text 20"/>
          <p:cNvSpPr/>
          <p:nvPr/>
        </p:nvSpPr>
        <p:spPr>
          <a:xfrm>
            <a:off x="8046720" y="2834640"/>
            <a:ext cx="12794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B1F3A"/>
                </a:solidFill>
                <a:effectLst/>
                <a:uFillTx/>
                <a:latin typeface="Aptos"/>
              </a:rPr>
              <a:t>action</a:t>
            </a:r>
            <a:endParaRPr lang="en-US" sz="1400" b="0" u="none" strike="noStrike">
              <a:solidFill>
                <a:srgbClr val="000000"/>
              </a:solidFill>
              <a:effectLst/>
              <a:uFillTx/>
              <a:latin typeface="Arial"/>
            </a:endParaRPr>
          </a:p>
        </p:txBody>
      </p:sp>
      <p:sp>
        <p:nvSpPr>
          <p:cNvPr id="123" name="Text 21"/>
          <p:cNvSpPr/>
          <p:nvPr/>
        </p:nvSpPr>
        <p:spPr>
          <a:xfrm>
            <a:off x="1051560" y="3977640"/>
            <a:ext cx="28339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0B2B5C"/>
                </a:solidFill>
                <a:effectLst/>
                <a:uFillTx/>
                <a:latin typeface="Aptos"/>
              </a:rPr>
              <a:t>Do not confuse these two:</a:t>
            </a:r>
            <a:endParaRPr lang="en-US" sz="1900" b="0" u="none" strike="noStrike">
              <a:solidFill>
                <a:srgbClr val="000000"/>
              </a:solidFill>
              <a:effectLst/>
              <a:uFillTx/>
              <a:latin typeface="Arial"/>
            </a:endParaRPr>
          </a:p>
        </p:txBody>
      </p:sp>
      <p:sp>
        <p:nvSpPr>
          <p:cNvPr id="124" name="Text 22"/>
          <p:cNvSpPr/>
          <p:nvPr/>
        </p:nvSpPr>
        <p:spPr>
          <a:xfrm>
            <a:off x="1051560" y="4443840"/>
            <a:ext cx="9966240" cy="712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0B1F3A"/>
                </a:solidFill>
                <a:effectLst/>
                <a:uFillTx/>
                <a:latin typeface="Aptos"/>
              </a:rPr>
              <a:t>Agent function = external mathematical description of behavior</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0B1F3A"/>
                </a:solidFill>
                <a:effectLst/>
                <a:uFillTx/>
                <a:latin typeface="Aptos"/>
              </a:rPr>
              <a:t>Agent program = internal code that receives current percept and returns an action</a:t>
            </a:r>
            <a:endParaRPr lang="en-US" sz="1700" b="0" u="none" strike="noStrike">
              <a:solidFill>
                <a:srgbClr val="000000"/>
              </a:solidFill>
              <a:effectLst/>
              <a:uFillTx/>
              <a:latin typeface="Arial"/>
            </a:endParaRPr>
          </a:p>
        </p:txBody>
      </p:sp>
      <p:sp>
        <p:nvSpPr>
          <p:cNvPr id="125" name="Text 23"/>
          <p:cNvSpPr/>
          <p:nvPr/>
        </p:nvSpPr>
        <p:spPr>
          <a:xfrm>
            <a:off x="1051560" y="5669280"/>
            <a:ext cx="996624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Chapter 2 problem: produce rational behavior from a compact program, not a vast lookup table.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26"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7"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28"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2.2 Good Behavior: Rationality Is Expected Performance</a:t>
            </a:r>
            <a:endParaRPr lang="en-US" sz="2300" b="0" u="none" strike="noStrike">
              <a:solidFill>
                <a:srgbClr val="000000"/>
              </a:solidFill>
              <a:effectLst/>
              <a:uFillTx/>
              <a:latin typeface="Arial"/>
            </a:endParaRPr>
          </a:p>
        </p:txBody>
      </p:sp>
      <p:sp>
        <p:nvSpPr>
          <p:cNvPr id="129"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30"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31"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7</a:t>
            </a:r>
          </a:p>
        </p:txBody>
      </p:sp>
      <p:sp>
        <p:nvSpPr>
          <p:cNvPr id="132" name="Text 6"/>
          <p:cNvSpPr/>
          <p:nvPr/>
        </p:nvSpPr>
        <p:spPr>
          <a:xfrm>
            <a:off x="777240" y="1143000"/>
            <a:ext cx="1069776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100" b="1" u="none" strike="noStrike">
                <a:solidFill>
                  <a:srgbClr val="0B2B5C"/>
                </a:solidFill>
                <a:effectLst/>
                <a:uFillTx/>
                <a:latin typeface="Aptos"/>
              </a:rPr>
              <a:t>A rational agent selects the action expected to maximize its performance measure.</a:t>
            </a:r>
            <a:endParaRPr lang="en-US" sz="2100" b="0" u="none" strike="noStrike">
              <a:solidFill>
                <a:srgbClr val="000000"/>
              </a:solidFill>
              <a:effectLst/>
              <a:uFillTx/>
              <a:latin typeface="Arial"/>
            </a:endParaRPr>
          </a:p>
        </p:txBody>
      </p:sp>
      <p:sp>
        <p:nvSpPr>
          <p:cNvPr id="133" name="Shape 7"/>
          <p:cNvSpPr/>
          <p:nvPr/>
        </p:nvSpPr>
        <p:spPr>
          <a:xfrm>
            <a:off x="914400" y="1965960"/>
            <a:ext cx="475416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4" name="Text 8"/>
          <p:cNvSpPr/>
          <p:nvPr/>
        </p:nvSpPr>
        <p:spPr>
          <a:xfrm>
            <a:off x="1078920" y="211212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6CB0"/>
                </a:solidFill>
                <a:effectLst/>
                <a:uFillTx/>
                <a:latin typeface="Aptos"/>
              </a:rPr>
              <a:t>Performance measure</a:t>
            </a:r>
            <a:endParaRPr lang="en-US" sz="1700" b="0" u="none" strike="noStrike">
              <a:solidFill>
                <a:srgbClr val="000000"/>
              </a:solidFill>
              <a:effectLst/>
              <a:uFillTx/>
              <a:latin typeface="Arial"/>
            </a:endParaRPr>
          </a:p>
        </p:txBody>
      </p:sp>
      <p:sp>
        <p:nvSpPr>
          <p:cNvPr id="135" name="Text 9"/>
          <p:cNvSpPr/>
          <p:nvPr/>
        </p:nvSpPr>
        <p:spPr>
          <a:xfrm>
            <a:off x="1078920" y="2441520"/>
            <a:ext cx="442512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counts as success?</a:t>
            </a:r>
            <a:endParaRPr lang="en-US" sz="1300" b="0" u="none" strike="noStrike">
              <a:solidFill>
                <a:srgbClr val="000000"/>
              </a:solidFill>
              <a:effectLst/>
              <a:uFillTx/>
              <a:latin typeface="Arial"/>
            </a:endParaRPr>
          </a:p>
        </p:txBody>
      </p:sp>
      <p:sp>
        <p:nvSpPr>
          <p:cNvPr id="136" name="Shape 10"/>
          <p:cNvSpPr/>
          <p:nvPr/>
        </p:nvSpPr>
        <p:spPr>
          <a:xfrm>
            <a:off x="6172200" y="1965960"/>
            <a:ext cx="475416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Text 11"/>
          <p:cNvSpPr/>
          <p:nvPr/>
        </p:nvSpPr>
        <p:spPr>
          <a:xfrm>
            <a:off x="6336720" y="211212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48A97"/>
                </a:solidFill>
                <a:effectLst/>
                <a:uFillTx/>
                <a:latin typeface="Aptos"/>
              </a:rPr>
              <a:t>Prior knowledge</a:t>
            </a:r>
            <a:endParaRPr lang="en-US" sz="1700" b="0" u="none" strike="noStrike">
              <a:solidFill>
                <a:srgbClr val="000000"/>
              </a:solidFill>
              <a:effectLst/>
              <a:uFillTx/>
              <a:latin typeface="Arial"/>
            </a:endParaRPr>
          </a:p>
        </p:txBody>
      </p:sp>
      <p:sp>
        <p:nvSpPr>
          <p:cNvPr id="138" name="Text 12"/>
          <p:cNvSpPr/>
          <p:nvPr/>
        </p:nvSpPr>
        <p:spPr>
          <a:xfrm>
            <a:off x="6336720" y="2441520"/>
            <a:ext cx="442512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does the agent already know?</a:t>
            </a:r>
            <a:endParaRPr lang="en-US" sz="1300" b="0" u="none" strike="noStrike">
              <a:solidFill>
                <a:srgbClr val="000000"/>
              </a:solidFill>
              <a:effectLst/>
              <a:uFillTx/>
              <a:latin typeface="Arial"/>
            </a:endParaRPr>
          </a:p>
        </p:txBody>
      </p:sp>
      <p:sp>
        <p:nvSpPr>
          <p:cNvPr id="139" name="Shape 13"/>
          <p:cNvSpPr/>
          <p:nvPr/>
        </p:nvSpPr>
        <p:spPr>
          <a:xfrm>
            <a:off x="914400" y="3383280"/>
            <a:ext cx="475416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0" name="Text 14"/>
          <p:cNvSpPr/>
          <p:nvPr/>
        </p:nvSpPr>
        <p:spPr>
          <a:xfrm>
            <a:off x="1078920" y="352944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5A21B"/>
                </a:solidFill>
                <a:effectLst/>
                <a:uFillTx/>
                <a:latin typeface="Aptos"/>
              </a:rPr>
              <a:t>Available actions</a:t>
            </a:r>
            <a:endParaRPr lang="en-US" sz="1700" b="0" u="none" strike="noStrike">
              <a:solidFill>
                <a:srgbClr val="000000"/>
              </a:solidFill>
              <a:effectLst/>
              <a:uFillTx/>
              <a:latin typeface="Arial"/>
            </a:endParaRPr>
          </a:p>
        </p:txBody>
      </p:sp>
      <p:sp>
        <p:nvSpPr>
          <p:cNvPr id="141" name="Text 15"/>
          <p:cNvSpPr/>
          <p:nvPr/>
        </p:nvSpPr>
        <p:spPr>
          <a:xfrm>
            <a:off x="1078920" y="3858840"/>
            <a:ext cx="442512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can the agent actually do?</a:t>
            </a:r>
            <a:endParaRPr lang="en-US" sz="1300" b="0" u="none" strike="noStrike">
              <a:solidFill>
                <a:srgbClr val="000000"/>
              </a:solidFill>
              <a:effectLst/>
              <a:uFillTx/>
              <a:latin typeface="Arial"/>
            </a:endParaRPr>
          </a:p>
        </p:txBody>
      </p:sp>
      <p:sp>
        <p:nvSpPr>
          <p:cNvPr id="142" name="Shape 16"/>
          <p:cNvSpPr/>
          <p:nvPr/>
        </p:nvSpPr>
        <p:spPr>
          <a:xfrm>
            <a:off x="6172200" y="3383280"/>
            <a:ext cx="475416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3" name="Text 17"/>
          <p:cNvSpPr/>
          <p:nvPr/>
        </p:nvSpPr>
        <p:spPr>
          <a:xfrm>
            <a:off x="6336720" y="352944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B7A45"/>
                </a:solidFill>
                <a:effectLst/>
                <a:uFillTx/>
                <a:latin typeface="Aptos"/>
              </a:rPr>
              <a:t>Percept sequence</a:t>
            </a:r>
            <a:endParaRPr lang="en-US" sz="1700" b="0" u="none" strike="noStrike">
              <a:solidFill>
                <a:srgbClr val="000000"/>
              </a:solidFill>
              <a:effectLst/>
              <a:uFillTx/>
              <a:latin typeface="Arial"/>
            </a:endParaRPr>
          </a:p>
        </p:txBody>
      </p:sp>
      <p:sp>
        <p:nvSpPr>
          <p:cNvPr id="144" name="Text 18"/>
          <p:cNvSpPr/>
          <p:nvPr/>
        </p:nvSpPr>
        <p:spPr>
          <a:xfrm>
            <a:off x="6336720" y="3858840"/>
            <a:ext cx="442512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evidence has it observed?</a:t>
            </a:r>
            <a:endParaRPr lang="en-US" sz="1300" b="0" u="none" strike="noStrike">
              <a:solidFill>
                <a:srgbClr val="000000"/>
              </a:solidFill>
              <a:effectLst/>
              <a:uFillTx/>
              <a:latin typeface="Arial"/>
            </a:endParaRPr>
          </a:p>
        </p:txBody>
      </p:sp>
      <p:sp>
        <p:nvSpPr>
          <p:cNvPr id="145" name="Text 19"/>
          <p:cNvSpPr/>
          <p:nvPr/>
        </p:nvSpPr>
        <p:spPr>
          <a:xfrm>
            <a:off x="914400" y="5166360"/>
            <a:ext cx="10332000" cy="438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0B2B5C"/>
                </a:solidFill>
                <a:effectLst/>
                <a:uFillTx/>
                <a:latin typeface="Aptos"/>
              </a:rPr>
              <a:t>Rationality is not hindsight perfection. It uses evidence available at the time.</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46"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7"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48"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2.2 Performance Measures: Be Careful What You Ask For</a:t>
            </a:r>
            <a:endParaRPr lang="en-US" sz="2300" b="0" u="none" strike="noStrike">
              <a:solidFill>
                <a:srgbClr val="000000"/>
              </a:solidFill>
              <a:effectLst/>
              <a:uFillTx/>
              <a:latin typeface="Arial"/>
            </a:endParaRPr>
          </a:p>
        </p:txBody>
      </p:sp>
      <p:sp>
        <p:nvSpPr>
          <p:cNvPr id="149"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50"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51"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8</a:t>
            </a:r>
          </a:p>
        </p:txBody>
      </p:sp>
      <p:sp>
        <p:nvSpPr>
          <p:cNvPr id="152" name="Shape 6"/>
          <p:cNvSpPr/>
          <p:nvPr/>
        </p:nvSpPr>
        <p:spPr>
          <a:xfrm>
            <a:off x="868680" y="1234440"/>
            <a:ext cx="4845600" cy="1828080"/>
          </a:xfrm>
          <a:prstGeom prst="roundRect">
            <a:avLst>
              <a:gd name="adj" fmla="val 30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 name="Text 7"/>
          <p:cNvSpPr/>
          <p:nvPr/>
        </p:nvSpPr>
        <p:spPr>
          <a:xfrm>
            <a:off x="1033200" y="1380600"/>
            <a:ext cx="4516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A32020"/>
                </a:solidFill>
                <a:effectLst/>
                <a:uFillTx/>
                <a:latin typeface="Aptos"/>
              </a:rPr>
              <a:t>Bad measure</a:t>
            </a:r>
            <a:endParaRPr lang="en-US" sz="2000" b="0" u="none" strike="noStrike">
              <a:solidFill>
                <a:srgbClr val="000000"/>
              </a:solidFill>
              <a:effectLst/>
              <a:uFillTx/>
              <a:latin typeface="Arial"/>
            </a:endParaRPr>
          </a:p>
        </p:txBody>
      </p:sp>
      <p:sp>
        <p:nvSpPr>
          <p:cNvPr id="154" name="Text 8"/>
          <p:cNvSpPr/>
          <p:nvPr/>
        </p:nvSpPr>
        <p:spPr>
          <a:xfrm>
            <a:off x="1033200" y="1710000"/>
            <a:ext cx="4516560" cy="12337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500" b="0" u="none" strike="noStrike">
                <a:solidFill>
                  <a:srgbClr val="0B1F3A"/>
                </a:solidFill>
                <a:effectLst/>
                <a:uFillTx/>
                <a:latin typeface="Aptos"/>
              </a:rPr>
              <a:t>Reward the vacuum for amount of dirt cleaned.</a:t>
            </a:r>
            <a:endParaRPr lang="en-US" sz="1500" b="0" u="none" strike="noStrike">
              <a:solidFill>
                <a:srgbClr val="000000"/>
              </a:solidFill>
              <a:effectLst/>
              <a:uFillTx/>
              <a:latin typeface="Arial"/>
            </a:endParaRPr>
          </a:p>
          <a:p>
            <a:pPr defTabSz="914400">
              <a:lnSpc>
                <a:spcPct val="100000"/>
              </a:lnSpc>
              <a:tabLst>
                <a:tab pos="0" algn="l"/>
              </a:tabLst>
            </a:pP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0B1F3A"/>
                </a:solidFill>
                <a:effectLst/>
                <a:uFillTx/>
                <a:latin typeface="Aptos"/>
              </a:rPr>
              <a:t>Failure mode: dump dirt, clean it, dump it again.</a:t>
            </a:r>
            <a:endParaRPr lang="en-US" sz="1500" b="0" u="none" strike="noStrike">
              <a:solidFill>
                <a:srgbClr val="000000"/>
              </a:solidFill>
              <a:effectLst/>
              <a:uFillTx/>
              <a:latin typeface="Arial"/>
            </a:endParaRPr>
          </a:p>
        </p:txBody>
      </p:sp>
      <p:sp>
        <p:nvSpPr>
          <p:cNvPr id="155" name="Shape 9"/>
          <p:cNvSpPr/>
          <p:nvPr/>
        </p:nvSpPr>
        <p:spPr>
          <a:xfrm>
            <a:off x="6446520" y="1234440"/>
            <a:ext cx="4845600" cy="1828080"/>
          </a:xfrm>
          <a:prstGeom prst="roundRect">
            <a:avLst>
              <a:gd name="adj" fmla="val 30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 name="Text 10"/>
          <p:cNvSpPr/>
          <p:nvPr/>
        </p:nvSpPr>
        <p:spPr>
          <a:xfrm>
            <a:off x="6611040" y="1380600"/>
            <a:ext cx="4516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B7A45"/>
                </a:solidFill>
                <a:effectLst/>
                <a:uFillTx/>
                <a:latin typeface="Aptos"/>
              </a:rPr>
              <a:t>Better measure</a:t>
            </a:r>
            <a:endParaRPr lang="en-US" sz="2000" b="0" u="none" strike="noStrike">
              <a:solidFill>
                <a:srgbClr val="000000"/>
              </a:solidFill>
              <a:effectLst/>
              <a:uFillTx/>
              <a:latin typeface="Arial"/>
            </a:endParaRPr>
          </a:p>
        </p:txBody>
      </p:sp>
      <p:sp>
        <p:nvSpPr>
          <p:cNvPr id="157" name="Text 11"/>
          <p:cNvSpPr/>
          <p:nvPr/>
        </p:nvSpPr>
        <p:spPr>
          <a:xfrm>
            <a:off x="6611040" y="1710000"/>
            <a:ext cx="4516560" cy="12337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500" b="0" u="none" strike="noStrike">
                <a:solidFill>
                  <a:srgbClr val="0B1F3A"/>
                </a:solidFill>
                <a:effectLst/>
                <a:uFillTx/>
                <a:latin typeface="Aptos"/>
              </a:rPr>
              <a:t>Reward clean squares over time.</a:t>
            </a:r>
            <a:endParaRPr lang="en-US" sz="1500" b="0" u="none" strike="noStrike">
              <a:solidFill>
                <a:srgbClr val="000000"/>
              </a:solidFill>
              <a:effectLst/>
              <a:uFillTx/>
              <a:latin typeface="Arial"/>
            </a:endParaRPr>
          </a:p>
          <a:p>
            <a:pPr defTabSz="914400">
              <a:lnSpc>
                <a:spcPct val="100000"/>
              </a:lnSpc>
              <a:tabLst>
                <a:tab pos="0" algn="l"/>
              </a:tabLst>
            </a:pP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0B1F3A"/>
                </a:solidFill>
                <a:effectLst/>
                <a:uFillTx/>
                <a:latin typeface="Aptos"/>
              </a:rPr>
              <a:t>Measure the environment outcome, not the agent’s visible effort.</a:t>
            </a:r>
            <a:endParaRPr lang="en-US" sz="1500" b="0" u="none" strike="noStrike">
              <a:solidFill>
                <a:srgbClr val="000000"/>
              </a:solidFill>
              <a:effectLst/>
              <a:uFillTx/>
              <a:latin typeface="Arial"/>
            </a:endParaRPr>
          </a:p>
        </p:txBody>
      </p:sp>
      <p:sp>
        <p:nvSpPr>
          <p:cNvPr id="158" name="Shape 12"/>
          <p:cNvSpPr/>
          <p:nvPr/>
        </p:nvSpPr>
        <p:spPr>
          <a:xfrm>
            <a:off x="5742360" y="1874520"/>
            <a:ext cx="547920" cy="547920"/>
          </a:xfrm>
          <a:prstGeom prst="chevron">
            <a:avLst>
              <a:gd name="adj" fmla="val 50000"/>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9" name="Text 13"/>
          <p:cNvSpPr/>
          <p:nvPr/>
        </p:nvSpPr>
        <p:spPr>
          <a:xfrm>
            <a:off x="868680" y="3977640"/>
            <a:ext cx="1042344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2B5C"/>
                </a:solidFill>
                <a:effectLst/>
                <a:uFillTx/>
                <a:latin typeface="Aptos"/>
              </a:rPr>
              <a:t>General lesson</a:t>
            </a:r>
            <a:endParaRPr lang="en-US" sz="2200" b="0" u="none" strike="noStrike">
              <a:solidFill>
                <a:srgbClr val="000000"/>
              </a:solidFill>
              <a:effectLst/>
              <a:uFillTx/>
              <a:latin typeface="Arial"/>
            </a:endParaRPr>
          </a:p>
        </p:txBody>
      </p:sp>
      <p:sp>
        <p:nvSpPr>
          <p:cNvPr id="160" name="Text 14"/>
          <p:cNvSpPr/>
          <p:nvPr/>
        </p:nvSpPr>
        <p:spPr>
          <a:xfrm>
            <a:off x="1143000" y="4507920"/>
            <a:ext cx="98748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1F3A"/>
                </a:solidFill>
                <a:effectLst/>
                <a:uFillTx/>
                <a:latin typeface="Aptos"/>
              </a:rPr>
              <a:t>Design performance measures according to what you actually want achieved in the environment.</a:t>
            </a:r>
            <a:endParaRPr lang="en-US" sz="2000" b="0" u="none" strike="noStrike">
              <a:solidFill>
                <a:srgbClr val="000000"/>
              </a:solidFill>
              <a:effectLst/>
              <a:uFillTx/>
              <a:latin typeface="Arial"/>
            </a:endParaRPr>
          </a:p>
        </p:txBody>
      </p:sp>
      <p:sp>
        <p:nvSpPr>
          <p:cNvPr id="161" name="Text 15"/>
          <p:cNvSpPr/>
          <p:nvPr/>
        </p:nvSpPr>
        <p:spPr>
          <a:xfrm>
            <a:off x="1143000" y="5212080"/>
            <a:ext cx="98748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u="none" strike="noStrike">
                <a:solidFill>
                  <a:srgbClr val="5E7088"/>
                </a:solidFill>
                <a:effectLst/>
                <a:uFillTx/>
                <a:latin typeface="Aptos"/>
              </a:rPr>
              <a:t>Connection to Chapter 1: wrong objectives create the King Midas / value-alignment problem.</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62"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3"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64"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2.2 Rationality Is Not Omniscience</a:t>
            </a:r>
            <a:endParaRPr lang="en-US" sz="2300" b="0" u="none" strike="noStrike">
              <a:solidFill>
                <a:srgbClr val="000000"/>
              </a:solidFill>
              <a:effectLst/>
              <a:uFillTx/>
              <a:latin typeface="Arial"/>
            </a:endParaRPr>
          </a:p>
        </p:txBody>
      </p:sp>
      <p:sp>
        <p:nvSpPr>
          <p:cNvPr id="165"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66"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67"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9</a:t>
            </a:r>
          </a:p>
        </p:txBody>
      </p:sp>
      <p:sp>
        <p:nvSpPr>
          <p:cNvPr id="168" name="Shape 6"/>
          <p:cNvSpPr/>
          <p:nvPr/>
        </p:nvSpPr>
        <p:spPr>
          <a:xfrm>
            <a:off x="731520" y="1234440"/>
            <a:ext cx="356544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9" name="Text 7"/>
          <p:cNvSpPr/>
          <p:nvPr/>
        </p:nvSpPr>
        <p:spPr>
          <a:xfrm>
            <a:off x="896040" y="1380600"/>
            <a:ext cx="32364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A32020"/>
                </a:solidFill>
                <a:effectLst/>
                <a:uFillTx/>
                <a:latin typeface="Aptos"/>
              </a:rPr>
              <a:t>Omniscience</a:t>
            </a:r>
            <a:endParaRPr lang="en-US" sz="1800" b="0" u="none" strike="noStrike">
              <a:solidFill>
                <a:srgbClr val="000000"/>
              </a:solidFill>
              <a:effectLst/>
              <a:uFillTx/>
              <a:latin typeface="Arial"/>
            </a:endParaRPr>
          </a:p>
        </p:txBody>
      </p:sp>
      <p:sp>
        <p:nvSpPr>
          <p:cNvPr id="170" name="Text 8"/>
          <p:cNvSpPr/>
          <p:nvPr/>
        </p:nvSpPr>
        <p:spPr>
          <a:xfrm>
            <a:off x="896040" y="1710000"/>
            <a:ext cx="323640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Knows the actual outcome of every action. Impossible in realistic environments.</a:t>
            </a:r>
            <a:endParaRPr lang="en-US" sz="1300" b="0" u="none" strike="noStrike">
              <a:solidFill>
                <a:srgbClr val="000000"/>
              </a:solidFill>
              <a:effectLst/>
              <a:uFillTx/>
              <a:latin typeface="Arial"/>
            </a:endParaRPr>
          </a:p>
        </p:txBody>
      </p:sp>
      <p:sp>
        <p:nvSpPr>
          <p:cNvPr id="171" name="Shape 9"/>
          <p:cNvSpPr/>
          <p:nvPr/>
        </p:nvSpPr>
        <p:spPr>
          <a:xfrm>
            <a:off x="4526280" y="1234440"/>
            <a:ext cx="356544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2" name="Text 10"/>
          <p:cNvSpPr/>
          <p:nvPr/>
        </p:nvSpPr>
        <p:spPr>
          <a:xfrm>
            <a:off x="4690800" y="1380600"/>
            <a:ext cx="32364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2B6CB0"/>
                </a:solidFill>
                <a:effectLst/>
                <a:uFillTx/>
                <a:latin typeface="Aptos"/>
              </a:rPr>
              <a:t>Rationality</a:t>
            </a:r>
            <a:endParaRPr lang="en-US" sz="1800" b="0" u="none" strike="noStrike">
              <a:solidFill>
                <a:srgbClr val="000000"/>
              </a:solidFill>
              <a:effectLst/>
              <a:uFillTx/>
              <a:latin typeface="Arial"/>
            </a:endParaRPr>
          </a:p>
        </p:txBody>
      </p:sp>
      <p:sp>
        <p:nvSpPr>
          <p:cNvPr id="173" name="Text 11"/>
          <p:cNvSpPr/>
          <p:nvPr/>
        </p:nvSpPr>
        <p:spPr>
          <a:xfrm>
            <a:off x="4690800" y="1710000"/>
            <a:ext cx="323640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Chooses the action with best expected performance from available evidence.</a:t>
            </a:r>
            <a:endParaRPr lang="en-US" sz="1300" b="0" u="none" strike="noStrike">
              <a:solidFill>
                <a:srgbClr val="000000"/>
              </a:solidFill>
              <a:effectLst/>
              <a:uFillTx/>
              <a:latin typeface="Arial"/>
            </a:endParaRPr>
          </a:p>
        </p:txBody>
      </p:sp>
      <p:sp>
        <p:nvSpPr>
          <p:cNvPr id="174" name="Shape 12"/>
          <p:cNvSpPr/>
          <p:nvPr/>
        </p:nvSpPr>
        <p:spPr>
          <a:xfrm>
            <a:off x="8321040" y="1234440"/>
            <a:ext cx="310824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5" name="Text 13"/>
          <p:cNvSpPr/>
          <p:nvPr/>
        </p:nvSpPr>
        <p:spPr>
          <a:xfrm>
            <a:off x="8485560" y="1380600"/>
            <a:ext cx="2779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B7A45"/>
                </a:solidFill>
                <a:effectLst/>
                <a:uFillTx/>
                <a:latin typeface="Aptos"/>
              </a:rPr>
              <a:t>Autonomy</a:t>
            </a:r>
            <a:endParaRPr lang="en-US" sz="1800" b="0" u="none" strike="noStrike">
              <a:solidFill>
                <a:srgbClr val="000000"/>
              </a:solidFill>
              <a:effectLst/>
              <a:uFillTx/>
              <a:latin typeface="Arial"/>
            </a:endParaRPr>
          </a:p>
        </p:txBody>
      </p:sp>
      <p:sp>
        <p:nvSpPr>
          <p:cNvPr id="176" name="Text 14"/>
          <p:cNvSpPr/>
          <p:nvPr/>
        </p:nvSpPr>
        <p:spPr>
          <a:xfrm>
            <a:off x="8485560" y="1710000"/>
            <a:ext cx="277920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Learns from percepts rather than depending only on designer assumptions.</a:t>
            </a:r>
            <a:endParaRPr lang="en-US" sz="1300" b="0" u="none" strike="noStrike">
              <a:solidFill>
                <a:srgbClr val="000000"/>
              </a:solidFill>
              <a:effectLst/>
              <a:uFillTx/>
              <a:latin typeface="Arial"/>
            </a:endParaRPr>
          </a:p>
        </p:txBody>
      </p:sp>
      <p:sp>
        <p:nvSpPr>
          <p:cNvPr id="177" name="Shape 15"/>
          <p:cNvSpPr/>
          <p:nvPr/>
        </p:nvSpPr>
        <p:spPr>
          <a:xfrm>
            <a:off x="1554480" y="3794760"/>
            <a:ext cx="1142280" cy="1142280"/>
          </a:xfrm>
          <a:prstGeom prst="ellipse">
            <a:avLst/>
          </a:prstGeom>
          <a:solidFill>
            <a:srgbClr val="2B6CB0"/>
          </a:solidFill>
          <a:ln w="12700">
            <a:solidFill>
              <a:srgbClr val="2B6CB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8" name="Text 16"/>
          <p:cNvSpPr/>
          <p:nvPr/>
        </p:nvSpPr>
        <p:spPr>
          <a:xfrm>
            <a:off x="1554480" y="4133160"/>
            <a:ext cx="11422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Look</a:t>
            </a:r>
            <a:endParaRPr lang="en-US" sz="1400" b="0" u="none" strike="noStrike">
              <a:solidFill>
                <a:srgbClr val="000000"/>
              </a:solidFill>
              <a:effectLst/>
              <a:uFillTx/>
              <a:latin typeface="Arial"/>
            </a:endParaRPr>
          </a:p>
        </p:txBody>
      </p:sp>
      <p:sp>
        <p:nvSpPr>
          <p:cNvPr id="179" name="Shape 17"/>
          <p:cNvSpPr/>
          <p:nvPr/>
        </p:nvSpPr>
        <p:spPr>
          <a:xfrm>
            <a:off x="2788920" y="4361400"/>
            <a:ext cx="1051560" cy="360"/>
          </a:xfrm>
          <a:prstGeom prst="line">
            <a:avLst/>
          </a:prstGeom>
          <a:ln w="1778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0" name="Shape 18"/>
          <p:cNvSpPr/>
          <p:nvPr/>
        </p:nvSpPr>
        <p:spPr>
          <a:xfrm>
            <a:off x="3977640" y="3794760"/>
            <a:ext cx="1142280" cy="1142280"/>
          </a:xfrm>
          <a:prstGeom prst="ellipse">
            <a:avLst/>
          </a:prstGeom>
          <a:solidFill>
            <a:srgbClr val="048A97"/>
          </a:solidFill>
          <a:ln w="12700">
            <a:solidFill>
              <a:srgbClr val="048A9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1" name="Text 19"/>
          <p:cNvSpPr/>
          <p:nvPr/>
        </p:nvSpPr>
        <p:spPr>
          <a:xfrm>
            <a:off x="3977640" y="4133160"/>
            <a:ext cx="11422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Learn</a:t>
            </a:r>
            <a:endParaRPr lang="en-US" sz="1400" b="0" u="none" strike="noStrike">
              <a:solidFill>
                <a:srgbClr val="000000"/>
              </a:solidFill>
              <a:effectLst/>
              <a:uFillTx/>
              <a:latin typeface="Arial"/>
            </a:endParaRPr>
          </a:p>
        </p:txBody>
      </p:sp>
      <p:sp>
        <p:nvSpPr>
          <p:cNvPr id="182" name="Shape 20"/>
          <p:cNvSpPr/>
          <p:nvPr/>
        </p:nvSpPr>
        <p:spPr>
          <a:xfrm>
            <a:off x="5212080" y="4361400"/>
            <a:ext cx="1051560" cy="360"/>
          </a:xfrm>
          <a:prstGeom prst="line">
            <a:avLst/>
          </a:prstGeom>
          <a:ln w="1778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3" name="Shape 21"/>
          <p:cNvSpPr/>
          <p:nvPr/>
        </p:nvSpPr>
        <p:spPr>
          <a:xfrm>
            <a:off x="6400800" y="3794760"/>
            <a:ext cx="1142280" cy="1142280"/>
          </a:xfrm>
          <a:prstGeom prst="ellipse">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4" name="Text 22"/>
          <p:cNvSpPr/>
          <p:nvPr/>
        </p:nvSpPr>
        <p:spPr>
          <a:xfrm>
            <a:off x="6400800" y="4133160"/>
            <a:ext cx="11422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Act</a:t>
            </a:r>
            <a:endParaRPr lang="en-US" sz="1400" b="0" u="none" strike="noStrike">
              <a:solidFill>
                <a:srgbClr val="000000"/>
              </a:solidFill>
              <a:effectLst/>
              <a:uFillTx/>
              <a:latin typeface="Arial"/>
            </a:endParaRPr>
          </a:p>
        </p:txBody>
      </p:sp>
      <p:sp>
        <p:nvSpPr>
          <p:cNvPr id="185" name="Shape 23"/>
          <p:cNvSpPr/>
          <p:nvPr/>
        </p:nvSpPr>
        <p:spPr>
          <a:xfrm>
            <a:off x="7635240" y="4361400"/>
            <a:ext cx="1051560" cy="360"/>
          </a:xfrm>
          <a:prstGeom prst="line">
            <a:avLst/>
          </a:prstGeom>
          <a:ln w="1778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6" name="Shape 24"/>
          <p:cNvSpPr/>
          <p:nvPr/>
        </p:nvSpPr>
        <p:spPr>
          <a:xfrm>
            <a:off x="8823960" y="3794760"/>
            <a:ext cx="1142280" cy="1142280"/>
          </a:xfrm>
          <a:prstGeom prst="ellipse">
            <a:avLst/>
          </a:prstGeom>
          <a:solidFill>
            <a:srgbClr val="1B7A45"/>
          </a:solidFill>
          <a:ln w="12700">
            <a:solidFill>
              <a:srgbClr val="1B7A4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7" name="Text 25"/>
          <p:cNvSpPr/>
          <p:nvPr/>
        </p:nvSpPr>
        <p:spPr>
          <a:xfrm>
            <a:off x="8823960" y="4133160"/>
            <a:ext cx="11422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Improve</a:t>
            </a:r>
            <a:endParaRPr lang="en-US" sz="1400" b="0" u="none" strike="noStrike">
              <a:solidFill>
                <a:srgbClr val="000000"/>
              </a:solidFill>
              <a:effectLst/>
              <a:uFillTx/>
              <a:latin typeface="Arial"/>
            </a:endParaRPr>
          </a:p>
        </p:txBody>
      </p:sp>
      <p:sp>
        <p:nvSpPr>
          <p:cNvPr id="188" name="Text 26"/>
          <p:cNvSpPr/>
          <p:nvPr/>
        </p:nvSpPr>
        <p:spPr>
          <a:xfrm>
            <a:off x="914400" y="5257800"/>
            <a:ext cx="1033200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Information gathering is rational when better percepts improve later decisions.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18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9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2.3.1 PEAS: Specify the Task Before Designing the Agent</a:t>
            </a:r>
            <a:endParaRPr lang="en-US" sz="2300" b="0" u="none" strike="noStrike">
              <a:solidFill>
                <a:srgbClr val="000000"/>
              </a:solidFill>
              <a:effectLst/>
              <a:uFillTx/>
              <a:latin typeface="Arial"/>
            </a:endParaRPr>
          </a:p>
        </p:txBody>
      </p:sp>
      <p:sp>
        <p:nvSpPr>
          <p:cNvPr id="19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2.3.1</a:t>
            </a:r>
            <a:endParaRPr lang="en-US" sz="1200" b="0" u="none" strike="noStrike">
              <a:solidFill>
                <a:srgbClr val="000000"/>
              </a:solidFill>
              <a:effectLst/>
              <a:uFillTx/>
              <a:latin typeface="Arial"/>
            </a:endParaRPr>
          </a:p>
        </p:txBody>
      </p:sp>
      <p:sp>
        <p:nvSpPr>
          <p:cNvPr id="19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94"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10</a:t>
            </a:r>
          </a:p>
        </p:txBody>
      </p:sp>
      <p:sp>
        <p:nvSpPr>
          <p:cNvPr id="195" name="Text 6"/>
          <p:cNvSpPr/>
          <p:nvPr/>
        </p:nvSpPr>
        <p:spPr>
          <a:xfrm>
            <a:off x="777240" y="1078920"/>
            <a:ext cx="10697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100" b="1" u="none" strike="noStrike">
                <a:solidFill>
                  <a:srgbClr val="0B2B5C"/>
                </a:solidFill>
                <a:effectLst/>
                <a:uFillTx/>
                <a:latin typeface="Aptos"/>
              </a:rPr>
              <a:t>PEAS = Performance measure, Environment, Actuators, Sensors</a:t>
            </a:r>
            <a:endParaRPr lang="en-US" sz="2100" b="0" u="none" strike="noStrike">
              <a:solidFill>
                <a:srgbClr val="000000"/>
              </a:solidFill>
              <a:effectLst/>
              <a:uFillTx/>
              <a:latin typeface="Arial"/>
            </a:endParaRPr>
          </a:p>
        </p:txBody>
      </p:sp>
      <p:sp>
        <p:nvSpPr>
          <p:cNvPr id="196" name="Shape 7"/>
          <p:cNvSpPr/>
          <p:nvPr/>
        </p:nvSpPr>
        <p:spPr>
          <a:xfrm>
            <a:off x="704160" y="1828800"/>
            <a:ext cx="685080" cy="685080"/>
          </a:xfrm>
          <a:prstGeom prst="ellipse">
            <a:avLst/>
          </a:prstGeom>
          <a:solidFill>
            <a:srgbClr val="2B6CB0"/>
          </a:solidFill>
          <a:ln w="12700">
            <a:solidFill>
              <a:srgbClr val="2B6CB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7" name="Text 8"/>
          <p:cNvSpPr/>
          <p:nvPr/>
        </p:nvSpPr>
        <p:spPr>
          <a:xfrm>
            <a:off x="704160" y="2002680"/>
            <a:ext cx="6850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P</a:t>
            </a:r>
            <a:endParaRPr lang="en-US" sz="1800" b="0" u="none" strike="noStrike">
              <a:solidFill>
                <a:srgbClr val="000000"/>
              </a:solidFill>
              <a:effectLst/>
              <a:uFillTx/>
              <a:latin typeface="Arial"/>
            </a:endParaRPr>
          </a:p>
        </p:txBody>
      </p:sp>
      <p:sp>
        <p:nvSpPr>
          <p:cNvPr id="198" name="Shape 9"/>
          <p:cNvSpPr/>
          <p:nvPr/>
        </p:nvSpPr>
        <p:spPr>
          <a:xfrm>
            <a:off x="658440" y="2697480"/>
            <a:ext cx="2513880" cy="1462320"/>
          </a:xfrm>
          <a:prstGeom prst="roundRect">
            <a:avLst>
              <a:gd name="adj" fmla="val 375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9" name="Text 10"/>
          <p:cNvSpPr/>
          <p:nvPr/>
        </p:nvSpPr>
        <p:spPr>
          <a:xfrm>
            <a:off x="822960" y="2843640"/>
            <a:ext cx="21848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6CB0"/>
                </a:solidFill>
                <a:effectLst/>
                <a:uFillTx/>
                <a:latin typeface="Aptos"/>
              </a:rPr>
              <a:t>Performance</a:t>
            </a:r>
            <a:endParaRPr lang="en-US" sz="1600" b="0" u="none" strike="noStrike">
              <a:solidFill>
                <a:srgbClr val="000000"/>
              </a:solidFill>
              <a:effectLst/>
              <a:uFillTx/>
              <a:latin typeface="Arial"/>
            </a:endParaRPr>
          </a:p>
        </p:txBody>
      </p:sp>
      <p:sp>
        <p:nvSpPr>
          <p:cNvPr id="200" name="Text 11"/>
          <p:cNvSpPr/>
          <p:nvPr/>
        </p:nvSpPr>
        <p:spPr>
          <a:xfrm>
            <a:off x="822960" y="3173040"/>
            <a:ext cx="2184840" cy="867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Safe, fast, legal, comfortable trip; minimize time/cost; maximize profit</a:t>
            </a:r>
            <a:endParaRPr lang="en-US" sz="1250" b="0" u="none" strike="noStrike">
              <a:solidFill>
                <a:srgbClr val="000000"/>
              </a:solidFill>
              <a:effectLst/>
              <a:uFillTx/>
              <a:latin typeface="Arial"/>
            </a:endParaRPr>
          </a:p>
        </p:txBody>
      </p:sp>
      <p:sp>
        <p:nvSpPr>
          <p:cNvPr id="201" name="Shape 12"/>
          <p:cNvSpPr/>
          <p:nvPr/>
        </p:nvSpPr>
        <p:spPr>
          <a:xfrm>
            <a:off x="3584520" y="1828800"/>
            <a:ext cx="685080" cy="685080"/>
          </a:xfrm>
          <a:prstGeom prst="ellipse">
            <a:avLst/>
          </a:prstGeom>
          <a:solidFill>
            <a:srgbClr val="048A97"/>
          </a:solidFill>
          <a:ln w="12700">
            <a:solidFill>
              <a:srgbClr val="048A9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2" name="Text 13"/>
          <p:cNvSpPr/>
          <p:nvPr/>
        </p:nvSpPr>
        <p:spPr>
          <a:xfrm>
            <a:off x="3584520" y="2002680"/>
            <a:ext cx="6850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E</a:t>
            </a:r>
            <a:endParaRPr lang="en-US" sz="1800" b="0" u="none" strike="noStrike">
              <a:solidFill>
                <a:srgbClr val="000000"/>
              </a:solidFill>
              <a:effectLst/>
              <a:uFillTx/>
              <a:latin typeface="Arial"/>
            </a:endParaRPr>
          </a:p>
        </p:txBody>
      </p:sp>
      <p:sp>
        <p:nvSpPr>
          <p:cNvPr id="203" name="Shape 14"/>
          <p:cNvSpPr/>
          <p:nvPr/>
        </p:nvSpPr>
        <p:spPr>
          <a:xfrm>
            <a:off x="3538800" y="2697480"/>
            <a:ext cx="2513880" cy="1462320"/>
          </a:xfrm>
          <a:prstGeom prst="roundRect">
            <a:avLst>
              <a:gd name="adj" fmla="val 375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4" name="Text 15"/>
          <p:cNvSpPr/>
          <p:nvPr/>
        </p:nvSpPr>
        <p:spPr>
          <a:xfrm>
            <a:off x="3703320" y="2843640"/>
            <a:ext cx="21848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48A97"/>
                </a:solidFill>
                <a:effectLst/>
                <a:uFillTx/>
                <a:latin typeface="Aptos"/>
              </a:rPr>
              <a:t>Environment</a:t>
            </a:r>
            <a:endParaRPr lang="en-US" sz="1600" b="0" u="none" strike="noStrike">
              <a:solidFill>
                <a:srgbClr val="000000"/>
              </a:solidFill>
              <a:effectLst/>
              <a:uFillTx/>
              <a:latin typeface="Arial"/>
            </a:endParaRPr>
          </a:p>
        </p:txBody>
      </p:sp>
      <p:sp>
        <p:nvSpPr>
          <p:cNvPr id="205" name="Text 16"/>
          <p:cNvSpPr/>
          <p:nvPr/>
        </p:nvSpPr>
        <p:spPr>
          <a:xfrm>
            <a:off x="3703320" y="3173040"/>
            <a:ext cx="2184840" cy="867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Roads, traffic, pedestrians, weather, passengers, police, construction</a:t>
            </a:r>
            <a:endParaRPr lang="en-US" sz="1250" b="0" u="none" strike="noStrike">
              <a:solidFill>
                <a:srgbClr val="000000"/>
              </a:solidFill>
              <a:effectLst/>
              <a:uFillTx/>
              <a:latin typeface="Arial"/>
            </a:endParaRPr>
          </a:p>
        </p:txBody>
      </p:sp>
      <p:sp>
        <p:nvSpPr>
          <p:cNvPr id="206" name="Shape 17"/>
          <p:cNvSpPr/>
          <p:nvPr/>
        </p:nvSpPr>
        <p:spPr>
          <a:xfrm>
            <a:off x="6464880" y="1828800"/>
            <a:ext cx="685080" cy="685080"/>
          </a:xfrm>
          <a:prstGeom prst="ellipse">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7" name="Text 18"/>
          <p:cNvSpPr/>
          <p:nvPr/>
        </p:nvSpPr>
        <p:spPr>
          <a:xfrm>
            <a:off x="6464880" y="2002680"/>
            <a:ext cx="6850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A</a:t>
            </a:r>
            <a:endParaRPr lang="en-US" sz="1800" b="0" u="none" strike="noStrike">
              <a:solidFill>
                <a:srgbClr val="000000"/>
              </a:solidFill>
              <a:effectLst/>
              <a:uFillTx/>
              <a:latin typeface="Arial"/>
            </a:endParaRPr>
          </a:p>
        </p:txBody>
      </p:sp>
      <p:sp>
        <p:nvSpPr>
          <p:cNvPr id="208" name="Shape 19"/>
          <p:cNvSpPr/>
          <p:nvPr/>
        </p:nvSpPr>
        <p:spPr>
          <a:xfrm>
            <a:off x="6419160" y="2697480"/>
            <a:ext cx="2513880" cy="1462320"/>
          </a:xfrm>
          <a:prstGeom prst="roundRect">
            <a:avLst>
              <a:gd name="adj" fmla="val 375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9" name="Text 20"/>
          <p:cNvSpPr/>
          <p:nvPr/>
        </p:nvSpPr>
        <p:spPr>
          <a:xfrm>
            <a:off x="6583680" y="2843640"/>
            <a:ext cx="21848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5A21B"/>
                </a:solidFill>
                <a:effectLst/>
                <a:uFillTx/>
                <a:latin typeface="Aptos"/>
              </a:rPr>
              <a:t>Actuators</a:t>
            </a:r>
            <a:endParaRPr lang="en-US" sz="1600" b="0" u="none" strike="noStrike">
              <a:solidFill>
                <a:srgbClr val="000000"/>
              </a:solidFill>
              <a:effectLst/>
              <a:uFillTx/>
              <a:latin typeface="Arial"/>
            </a:endParaRPr>
          </a:p>
        </p:txBody>
      </p:sp>
      <p:sp>
        <p:nvSpPr>
          <p:cNvPr id="210" name="Text 21"/>
          <p:cNvSpPr/>
          <p:nvPr/>
        </p:nvSpPr>
        <p:spPr>
          <a:xfrm>
            <a:off x="6583680" y="3173040"/>
            <a:ext cx="2184840" cy="867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Steering, accelerator, brake, signals, display, speech</a:t>
            </a:r>
            <a:endParaRPr lang="en-US" sz="1250" b="0" u="none" strike="noStrike">
              <a:solidFill>
                <a:srgbClr val="000000"/>
              </a:solidFill>
              <a:effectLst/>
              <a:uFillTx/>
              <a:latin typeface="Arial"/>
            </a:endParaRPr>
          </a:p>
        </p:txBody>
      </p:sp>
      <p:sp>
        <p:nvSpPr>
          <p:cNvPr id="211" name="Shape 22"/>
          <p:cNvSpPr/>
          <p:nvPr/>
        </p:nvSpPr>
        <p:spPr>
          <a:xfrm>
            <a:off x="9345240" y="1828800"/>
            <a:ext cx="685080" cy="685080"/>
          </a:xfrm>
          <a:prstGeom prst="ellipse">
            <a:avLst/>
          </a:prstGeom>
          <a:solidFill>
            <a:srgbClr val="1B7A45"/>
          </a:solidFill>
          <a:ln w="12700">
            <a:solidFill>
              <a:srgbClr val="1B7A4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2" name="Text 23"/>
          <p:cNvSpPr/>
          <p:nvPr/>
        </p:nvSpPr>
        <p:spPr>
          <a:xfrm>
            <a:off x="9345240" y="2002680"/>
            <a:ext cx="6850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Aptos"/>
              </a:rPr>
              <a:t>S</a:t>
            </a:r>
            <a:endParaRPr lang="en-US" sz="1800" b="0" u="none" strike="noStrike">
              <a:solidFill>
                <a:srgbClr val="000000"/>
              </a:solidFill>
              <a:effectLst/>
              <a:uFillTx/>
              <a:latin typeface="Arial"/>
            </a:endParaRPr>
          </a:p>
        </p:txBody>
      </p:sp>
      <p:sp>
        <p:nvSpPr>
          <p:cNvPr id="213" name="Shape 24"/>
          <p:cNvSpPr/>
          <p:nvPr/>
        </p:nvSpPr>
        <p:spPr>
          <a:xfrm>
            <a:off x="9299520" y="2697480"/>
            <a:ext cx="2513880" cy="1462320"/>
          </a:xfrm>
          <a:prstGeom prst="roundRect">
            <a:avLst>
              <a:gd name="adj" fmla="val 375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4" name="Text 25"/>
          <p:cNvSpPr/>
          <p:nvPr/>
        </p:nvSpPr>
        <p:spPr>
          <a:xfrm>
            <a:off x="9464040" y="2843640"/>
            <a:ext cx="21848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B7A45"/>
                </a:solidFill>
                <a:effectLst/>
                <a:uFillTx/>
                <a:latin typeface="Aptos"/>
              </a:rPr>
              <a:t>Sensors</a:t>
            </a:r>
            <a:endParaRPr lang="en-US" sz="1600" b="0" u="none" strike="noStrike">
              <a:solidFill>
                <a:srgbClr val="000000"/>
              </a:solidFill>
              <a:effectLst/>
              <a:uFillTx/>
              <a:latin typeface="Arial"/>
            </a:endParaRPr>
          </a:p>
        </p:txBody>
      </p:sp>
      <p:sp>
        <p:nvSpPr>
          <p:cNvPr id="215" name="Text 26"/>
          <p:cNvSpPr/>
          <p:nvPr/>
        </p:nvSpPr>
        <p:spPr>
          <a:xfrm>
            <a:off x="9464040" y="3173040"/>
            <a:ext cx="2184840" cy="867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Cameras, lidar, radar, GPS, speedometer, engine sensors, voice/touch input</a:t>
            </a:r>
            <a:endParaRPr lang="en-US" sz="1250" b="0" u="none" strike="noStrike">
              <a:solidFill>
                <a:srgbClr val="000000"/>
              </a:solidFill>
              <a:effectLst/>
              <a:uFillTx/>
              <a:latin typeface="Arial"/>
            </a:endParaRPr>
          </a:p>
        </p:txBody>
      </p:sp>
      <p:pic>
        <p:nvPicPr>
          <p:cNvPr id="216" name="Image 0" descr="/mnt/data/ch2_docx_unzipped/word/media/image3.png"/>
          <p:cNvPicPr/>
          <p:nvPr/>
        </p:nvPicPr>
        <p:blipFill>
          <a:blip r:embed="rId1"/>
          <a:stretch/>
        </p:blipFill>
        <p:spPr>
          <a:xfrm>
            <a:off x="4896360" y="4572000"/>
            <a:ext cx="2367720" cy="1142280"/>
          </a:xfrm>
          <a:prstGeom prst="rect">
            <a:avLst/>
          </a:prstGeom>
          <a:noFill/>
          <a:ln w="0">
            <a:noFill/>
          </a:ln>
        </p:spPr>
      </p:pic>
      <p:sp>
        <p:nvSpPr>
          <p:cNvPr id="217" name="Text 27"/>
          <p:cNvSpPr/>
          <p:nvPr/>
        </p:nvSpPr>
        <p:spPr>
          <a:xfrm>
            <a:off x="777240" y="5897880"/>
            <a:ext cx="10697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Design rule: specify the task environment as fully as possible first.</a:t>
            </a:r>
            <a:endParaRPr lang="en-US" sz="1800" b="0" u="none" strike="noStrike">
              <a:solidFill>
                <a:srgbClr val="000000"/>
              </a:solidFill>
              <a:effectLst/>
              <a:uFillTx/>
              <a:latin typeface="Arial"/>
            </a:endParaRPr>
          </a:p>
        </p:txBody>
      </p:sp>
      <p:sp>
        <p:nvSpPr>
          <p:cNvPr id="218" name="Text 28"/>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2.4</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21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22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2.3.1 PEAS Examples: Agent Types and Task Environments</a:t>
            </a:r>
            <a:endParaRPr lang="en-US" sz="2300" b="0" u="none" strike="noStrike">
              <a:solidFill>
                <a:srgbClr val="000000"/>
              </a:solidFill>
              <a:effectLst/>
              <a:uFillTx/>
              <a:latin typeface="Arial"/>
            </a:endParaRPr>
          </a:p>
        </p:txBody>
      </p:sp>
      <p:sp>
        <p:nvSpPr>
          <p:cNvPr id="22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2.3.1</a:t>
            </a:r>
            <a:endParaRPr lang="en-US" sz="1200" b="0" u="none" strike="noStrike">
              <a:solidFill>
                <a:srgbClr val="000000"/>
              </a:solidFill>
              <a:effectLst/>
              <a:uFillTx/>
              <a:latin typeface="Arial"/>
            </a:endParaRPr>
          </a:p>
        </p:txBody>
      </p:sp>
      <p:sp>
        <p:nvSpPr>
          <p:cNvPr id="22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24"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11</a:t>
            </a:r>
          </a:p>
        </p:txBody>
      </p:sp>
      <p:sp>
        <p:nvSpPr>
          <p:cNvPr id="225" name="Text 6"/>
          <p:cNvSpPr/>
          <p:nvPr/>
        </p:nvSpPr>
        <p:spPr>
          <a:xfrm>
            <a:off x="685800" y="1060560"/>
            <a:ext cx="1088064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50" b="1" u="none" strike="noStrike">
                <a:solidFill>
                  <a:srgbClr val="0B2B5C"/>
                </a:solidFill>
                <a:effectLst/>
                <a:uFillTx/>
                <a:latin typeface="Aptos"/>
              </a:rPr>
              <a:t>PEAS forces the designer to specify success, the world, available actions, and perceptual inputs before choosing an algorithm.</a:t>
            </a:r>
            <a:endParaRPr lang="en-US" sz="1750" b="0" u="none" strike="noStrike">
              <a:solidFill>
                <a:srgbClr val="000000"/>
              </a:solidFill>
              <a:effectLst/>
              <a:uFillTx/>
              <a:latin typeface="Arial"/>
            </a:endParaRPr>
          </a:p>
        </p:txBody>
      </p:sp>
      <p:pic>
        <p:nvPicPr>
          <p:cNvPr id="226" name="Image 0" descr="/mnt/data/ch2_docx_unzipped/word/media/image4.png"/>
          <p:cNvPicPr/>
          <p:nvPr/>
        </p:nvPicPr>
        <p:blipFill>
          <a:blip r:embed="rId1"/>
          <a:stretch/>
        </p:blipFill>
        <p:spPr>
          <a:xfrm>
            <a:off x="3657600" y="1691640"/>
            <a:ext cx="4692960" cy="4056480"/>
          </a:xfrm>
          <a:prstGeom prst="rect">
            <a:avLst/>
          </a:prstGeom>
          <a:noFill/>
          <a:ln w="0">
            <a:noFill/>
          </a:ln>
        </p:spPr>
      </p:pic>
      <p:sp>
        <p:nvSpPr>
          <p:cNvPr id="227" name="Text 7"/>
          <p:cNvSpPr/>
          <p:nvPr/>
        </p:nvSpPr>
        <p:spPr>
          <a:xfrm>
            <a:off x="822960" y="5806440"/>
            <a:ext cx="10560600" cy="310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Design checkpoint: if PEAS is vague, the agent design will be vague.</a:t>
            </a:r>
            <a:endParaRPr lang="en-US" sz="1800" b="0" u="none" strike="noStrike">
              <a:solidFill>
                <a:srgbClr val="000000"/>
              </a:solidFill>
              <a:effectLst/>
              <a:uFillTx/>
              <a:latin typeface="Arial"/>
            </a:endParaRPr>
          </a:p>
        </p:txBody>
      </p:sp>
      <p:sp>
        <p:nvSpPr>
          <p:cNvPr id="228" name="Text 8"/>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2.5</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22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23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2.3.2 Task Environment Properties</a:t>
            </a:r>
            <a:endParaRPr lang="en-US" sz="2300" b="0" u="none" strike="noStrike">
              <a:solidFill>
                <a:srgbClr val="000000"/>
              </a:solidFill>
              <a:effectLst/>
              <a:uFillTx/>
              <a:latin typeface="Arial"/>
            </a:endParaRPr>
          </a:p>
        </p:txBody>
      </p:sp>
      <p:sp>
        <p:nvSpPr>
          <p:cNvPr id="23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2.3.2</a:t>
            </a:r>
            <a:endParaRPr lang="en-US" sz="1200" b="0" u="none" strike="noStrike">
              <a:solidFill>
                <a:srgbClr val="000000"/>
              </a:solidFill>
              <a:effectLst/>
              <a:uFillTx/>
              <a:latin typeface="Arial"/>
            </a:endParaRPr>
          </a:p>
        </p:txBody>
      </p:sp>
      <p:sp>
        <p:nvSpPr>
          <p:cNvPr id="23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34"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12</a:t>
            </a:r>
          </a:p>
        </p:txBody>
      </p:sp>
      <p:sp>
        <p:nvSpPr>
          <p:cNvPr id="235" name="Shape 6"/>
          <p:cNvSpPr/>
          <p:nvPr/>
        </p:nvSpPr>
        <p:spPr>
          <a:xfrm>
            <a:off x="502920" y="118872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6" name="Text 7"/>
          <p:cNvSpPr/>
          <p:nvPr/>
        </p:nvSpPr>
        <p:spPr>
          <a:xfrm>
            <a:off x="667440" y="133488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6CB0"/>
                </a:solidFill>
                <a:effectLst/>
                <a:uFillTx/>
                <a:latin typeface="Aptos"/>
              </a:rPr>
              <a:t>Observable</a:t>
            </a:r>
            <a:endParaRPr lang="en-US" sz="1500" b="0" u="none" strike="noStrike">
              <a:solidFill>
                <a:srgbClr val="000000"/>
              </a:solidFill>
              <a:effectLst/>
              <a:uFillTx/>
              <a:latin typeface="Arial"/>
            </a:endParaRPr>
          </a:p>
        </p:txBody>
      </p:sp>
      <p:sp>
        <p:nvSpPr>
          <p:cNvPr id="237" name="Text 8"/>
          <p:cNvSpPr/>
          <p:nvPr/>
        </p:nvSpPr>
        <p:spPr>
          <a:xfrm>
            <a:off x="667440" y="166428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Fully  &lt;-&gt;  Partially</a:t>
            </a:r>
            <a:endParaRPr lang="en-US" sz="1150" b="0" u="none" strike="noStrike">
              <a:solidFill>
                <a:srgbClr val="000000"/>
              </a:solidFill>
              <a:effectLst/>
              <a:uFillTx/>
              <a:latin typeface="Arial"/>
            </a:endParaRPr>
          </a:p>
        </p:txBody>
      </p:sp>
      <p:sp>
        <p:nvSpPr>
          <p:cNvPr id="238" name="Shape 9"/>
          <p:cNvSpPr/>
          <p:nvPr/>
        </p:nvSpPr>
        <p:spPr>
          <a:xfrm>
            <a:off x="3383280" y="118872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9" name="Text 10"/>
          <p:cNvSpPr/>
          <p:nvPr/>
        </p:nvSpPr>
        <p:spPr>
          <a:xfrm>
            <a:off x="3547800" y="133488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48A97"/>
                </a:solidFill>
                <a:effectLst/>
                <a:uFillTx/>
                <a:latin typeface="Aptos"/>
              </a:rPr>
              <a:t>Agents</a:t>
            </a:r>
            <a:endParaRPr lang="en-US" sz="1500" b="0" u="none" strike="noStrike">
              <a:solidFill>
                <a:srgbClr val="000000"/>
              </a:solidFill>
              <a:effectLst/>
              <a:uFillTx/>
              <a:latin typeface="Arial"/>
            </a:endParaRPr>
          </a:p>
        </p:txBody>
      </p:sp>
      <p:sp>
        <p:nvSpPr>
          <p:cNvPr id="240" name="Text 11"/>
          <p:cNvSpPr/>
          <p:nvPr/>
        </p:nvSpPr>
        <p:spPr>
          <a:xfrm>
            <a:off x="3547800" y="166428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Single  &lt;-&gt;  Multi</a:t>
            </a:r>
            <a:endParaRPr lang="en-US" sz="1150" b="0" u="none" strike="noStrike">
              <a:solidFill>
                <a:srgbClr val="000000"/>
              </a:solidFill>
              <a:effectLst/>
              <a:uFillTx/>
              <a:latin typeface="Arial"/>
            </a:endParaRPr>
          </a:p>
        </p:txBody>
      </p:sp>
      <p:sp>
        <p:nvSpPr>
          <p:cNvPr id="241" name="Shape 12"/>
          <p:cNvSpPr/>
          <p:nvPr/>
        </p:nvSpPr>
        <p:spPr>
          <a:xfrm>
            <a:off x="6263640" y="118872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2" name="Text 13"/>
          <p:cNvSpPr/>
          <p:nvPr/>
        </p:nvSpPr>
        <p:spPr>
          <a:xfrm>
            <a:off x="6428160" y="133488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5A21B"/>
                </a:solidFill>
                <a:effectLst/>
                <a:uFillTx/>
                <a:latin typeface="Aptos"/>
              </a:rPr>
              <a:t>Transition</a:t>
            </a:r>
            <a:endParaRPr lang="en-US" sz="1500" b="0" u="none" strike="noStrike">
              <a:solidFill>
                <a:srgbClr val="000000"/>
              </a:solidFill>
              <a:effectLst/>
              <a:uFillTx/>
              <a:latin typeface="Arial"/>
            </a:endParaRPr>
          </a:p>
        </p:txBody>
      </p:sp>
      <p:sp>
        <p:nvSpPr>
          <p:cNvPr id="243" name="Text 14"/>
          <p:cNvSpPr/>
          <p:nvPr/>
        </p:nvSpPr>
        <p:spPr>
          <a:xfrm>
            <a:off x="6428160" y="166428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Deterministic  &lt;-&gt;  Nondeterministic / stochastic</a:t>
            </a:r>
            <a:endParaRPr lang="en-US" sz="1150" b="0" u="none" strike="noStrike">
              <a:solidFill>
                <a:srgbClr val="000000"/>
              </a:solidFill>
              <a:effectLst/>
              <a:uFillTx/>
              <a:latin typeface="Arial"/>
            </a:endParaRPr>
          </a:p>
        </p:txBody>
      </p:sp>
      <p:sp>
        <p:nvSpPr>
          <p:cNvPr id="244" name="Shape 15"/>
          <p:cNvSpPr/>
          <p:nvPr/>
        </p:nvSpPr>
        <p:spPr>
          <a:xfrm>
            <a:off x="9144000" y="118872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5" name="Text 16"/>
          <p:cNvSpPr/>
          <p:nvPr/>
        </p:nvSpPr>
        <p:spPr>
          <a:xfrm>
            <a:off x="9308520" y="133488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B7A45"/>
                </a:solidFill>
                <a:effectLst/>
                <a:uFillTx/>
                <a:latin typeface="Aptos"/>
              </a:rPr>
              <a:t>Episodes</a:t>
            </a:r>
            <a:endParaRPr lang="en-US" sz="1500" b="0" u="none" strike="noStrike">
              <a:solidFill>
                <a:srgbClr val="000000"/>
              </a:solidFill>
              <a:effectLst/>
              <a:uFillTx/>
              <a:latin typeface="Arial"/>
            </a:endParaRPr>
          </a:p>
        </p:txBody>
      </p:sp>
      <p:sp>
        <p:nvSpPr>
          <p:cNvPr id="246" name="Text 17"/>
          <p:cNvSpPr/>
          <p:nvPr/>
        </p:nvSpPr>
        <p:spPr>
          <a:xfrm>
            <a:off x="9308520" y="166428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Episodic  &lt;-&gt;  Sequential</a:t>
            </a:r>
            <a:endParaRPr lang="en-US" sz="1150" b="0" u="none" strike="noStrike">
              <a:solidFill>
                <a:srgbClr val="000000"/>
              </a:solidFill>
              <a:effectLst/>
              <a:uFillTx/>
              <a:latin typeface="Arial"/>
            </a:endParaRPr>
          </a:p>
        </p:txBody>
      </p:sp>
      <p:sp>
        <p:nvSpPr>
          <p:cNvPr id="247" name="Shape 18"/>
          <p:cNvSpPr/>
          <p:nvPr/>
        </p:nvSpPr>
        <p:spPr>
          <a:xfrm>
            <a:off x="502920" y="269748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8" name="Text 19"/>
          <p:cNvSpPr/>
          <p:nvPr/>
        </p:nvSpPr>
        <p:spPr>
          <a:xfrm>
            <a:off x="667440" y="284364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A32020"/>
                </a:solidFill>
                <a:effectLst/>
                <a:uFillTx/>
                <a:latin typeface="Aptos"/>
              </a:rPr>
              <a:t>Time</a:t>
            </a:r>
            <a:endParaRPr lang="en-US" sz="1500" b="0" u="none" strike="noStrike">
              <a:solidFill>
                <a:srgbClr val="000000"/>
              </a:solidFill>
              <a:effectLst/>
              <a:uFillTx/>
              <a:latin typeface="Arial"/>
            </a:endParaRPr>
          </a:p>
        </p:txBody>
      </p:sp>
      <p:sp>
        <p:nvSpPr>
          <p:cNvPr id="249" name="Text 20"/>
          <p:cNvSpPr/>
          <p:nvPr/>
        </p:nvSpPr>
        <p:spPr>
          <a:xfrm>
            <a:off x="667440" y="317304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Static  &lt;-&gt;  Dynamic / semidynamic</a:t>
            </a:r>
            <a:endParaRPr lang="en-US" sz="1150" b="0" u="none" strike="noStrike">
              <a:solidFill>
                <a:srgbClr val="000000"/>
              </a:solidFill>
              <a:effectLst/>
              <a:uFillTx/>
              <a:latin typeface="Arial"/>
            </a:endParaRPr>
          </a:p>
        </p:txBody>
      </p:sp>
      <p:sp>
        <p:nvSpPr>
          <p:cNvPr id="250" name="Shape 21"/>
          <p:cNvSpPr/>
          <p:nvPr/>
        </p:nvSpPr>
        <p:spPr>
          <a:xfrm>
            <a:off x="3383280" y="269748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1" name="Text 22"/>
          <p:cNvSpPr/>
          <p:nvPr/>
        </p:nvSpPr>
        <p:spPr>
          <a:xfrm>
            <a:off x="3547800" y="284364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B35B1"/>
                </a:solidFill>
                <a:effectLst/>
                <a:uFillTx/>
                <a:latin typeface="Aptos"/>
              </a:rPr>
              <a:t>State/action</a:t>
            </a:r>
            <a:endParaRPr lang="en-US" sz="1500" b="0" u="none" strike="noStrike">
              <a:solidFill>
                <a:srgbClr val="000000"/>
              </a:solidFill>
              <a:effectLst/>
              <a:uFillTx/>
              <a:latin typeface="Arial"/>
            </a:endParaRPr>
          </a:p>
        </p:txBody>
      </p:sp>
      <p:sp>
        <p:nvSpPr>
          <p:cNvPr id="252" name="Text 23"/>
          <p:cNvSpPr/>
          <p:nvPr/>
        </p:nvSpPr>
        <p:spPr>
          <a:xfrm>
            <a:off x="3547800" y="317304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Discrete  &lt;-&gt;  Continuous</a:t>
            </a:r>
            <a:endParaRPr lang="en-US" sz="1150" b="0" u="none" strike="noStrike">
              <a:solidFill>
                <a:srgbClr val="000000"/>
              </a:solidFill>
              <a:effectLst/>
              <a:uFillTx/>
              <a:latin typeface="Arial"/>
            </a:endParaRPr>
          </a:p>
        </p:txBody>
      </p:sp>
      <p:sp>
        <p:nvSpPr>
          <p:cNvPr id="253" name="Shape 24"/>
          <p:cNvSpPr/>
          <p:nvPr/>
        </p:nvSpPr>
        <p:spPr>
          <a:xfrm>
            <a:off x="6263640" y="2697480"/>
            <a:ext cx="2559600" cy="1023480"/>
          </a:xfrm>
          <a:prstGeom prst="roundRect">
            <a:avLst>
              <a:gd name="adj" fmla="val 5357"/>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4" name="Text 25"/>
          <p:cNvSpPr/>
          <p:nvPr/>
        </p:nvSpPr>
        <p:spPr>
          <a:xfrm>
            <a:off x="6428160" y="2843640"/>
            <a:ext cx="22305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B2B5C"/>
                </a:solidFill>
                <a:effectLst/>
                <a:uFillTx/>
                <a:latin typeface="Aptos"/>
              </a:rPr>
              <a:t>Knowledge</a:t>
            </a:r>
            <a:endParaRPr lang="en-US" sz="1500" b="0" u="none" strike="noStrike">
              <a:solidFill>
                <a:srgbClr val="000000"/>
              </a:solidFill>
              <a:effectLst/>
              <a:uFillTx/>
              <a:latin typeface="Arial"/>
            </a:endParaRPr>
          </a:p>
        </p:txBody>
      </p:sp>
      <p:sp>
        <p:nvSpPr>
          <p:cNvPr id="255" name="Text 26"/>
          <p:cNvSpPr/>
          <p:nvPr/>
        </p:nvSpPr>
        <p:spPr>
          <a:xfrm>
            <a:off x="6428160" y="3173040"/>
            <a:ext cx="2230560" cy="429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150" b="0" u="none" strike="noStrike">
                <a:solidFill>
                  <a:srgbClr val="0B1F3A"/>
                </a:solidFill>
                <a:effectLst/>
                <a:uFillTx/>
                <a:latin typeface="Aptos"/>
              </a:rPr>
              <a:t>Known  &lt;-&gt;  Unknown</a:t>
            </a:r>
            <a:endParaRPr lang="en-US" sz="1150" b="0" u="none" strike="noStrike">
              <a:solidFill>
                <a:srgbClr val="000000"/>
              </a:solidFill>
              <a:effectLst/>
              <a:uFillTx/>
              <a:latin typeface="Arial"/>
            </a:endParaRPr>
          </a:p>
        </p:txBody>
      </p:sp>
      <p:pic>
        <p:nvPicPr>
          <p:cNvPr id="256" name="Image 0" descr="/mnt/data/ch2_docx_unzipped/word/media/image5.png"/>
          <p:cNvPicPr/>
          <p:nvPr/>
        </p:nvPicPr>
        <p:blipFill>
          <a:blip r:embed="rId1"/>
          <a:stretch/>
        </p:blipFill>
        <p:spPr>
          <a:xfrm>
            <a:off x="3657600" y="3886200"/>
            <a:ext cx="3548160" cy="2057400"/>
          </a:xfrm>
          <a:prstGeom prst="rect">
            <a:avLst/>
          </a:prstGeom>
          <a:noFill/>
          <a:ln w="0">
            <a:noFill/>
          </a:ln>
        </p:spPr>
      </p:pic>
      <p:sp>
        <p:nvSpPr>
          <p:cNvPr id="257" name="Text 27"/>
          <p:cNvSpPr/>
          <p:nvPr/>
        </p:nvSpPr>
        <p:spPr>
          <a:xfrm>
            <a:off x="685800" y="5906880"/>
            <a:ext cx="108806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50" b="1" u="none" strike="noStrike">
                <a:solidFill>
                  <a:srgbClr val="0B2B5C"/>
                </a:solidFill>
                <a:effectLst/>
                <a:uFillTx/>
                <a:latin typeface="Aptos"/>
              </a:rPr>
              <a:t>Hardest case: partially observable, multiagent, nondeterministic, sequential, dynamic, continuous, unknown.</a:t>
            </a:r>
            <a:endParaRPr lang="en-US" sz="1550" b="0" u="none" strike="noStrike">
              <a:solidFill>
                <a:srgbClr val="000000"/>
              </a:solidFill>
              <a:effectLst/>
              <a:uFillTx/>
              <a:latin typeface="Arial"/>
            </a:endParaRPr>
          </a:p>
        </p:txBody>
      </p:sp>
      <p:sp>
        <p:nvSpPr>
          <p:cNvPr id="258" name="Text 28"/>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2.6</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25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26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Pac-Man as a Chapter 2 Agent</a:t>
            </a:r>
            <a:endParaRPr lang="en-US" sz="2300" b="0" u="none" strike="noStrike">
              <a:solidFill>
                <a:srgbClr val="000000"/>
              </a:solidFill>
              <a:effectLst/>
              <a:uFillTx/>
              <a:latin typeface="Arial"/>
            </a:endParaRPr>
          </a:p>
        </p:txBody>
      </p:sp>
      <p:sp>
        <p:nvSpPr>
          <p:cNvPr id="26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Example</a:t>
            </a:r>
            <a:endParaRPr lang="en-US" sz="1200" b="0" u="none" strike="noStrike">
              <a:solidFill>
                <a:srgbClr val="000000"/>
              </a:solidFill>
              <a:effectLst/>
              <a:uFillTx/>
              <a:latin typeface="Arial"/>
            </a:endParaRPr>
          </a:p>
        </p:txBody>
      </p:sp>
      <p:sp>
        <p:nvSpPr>
          <p:cNvPr id="26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64"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13</a:t>
            </a:r>
          </a:p>
        </p:txBody>
      </p:sp>
      <p:sp>
        <p:nvSpPr>
          <p:cNvPr id="265" name="Shape 6"/>
          <p:cNvSpPr/>
          <p:nvPr/>
        </p:nvSpPr>
        <p:spPr>
          <a:xfrm>
            <a:off x="685800" y="1234440"/>
            <a:ext cx="5394240" cy="2879640"/>
          </a:xfrm>
          <a:prstGeom prst="rect">
            <a:avLst/>
          </a:prstGeom>
          <a:solidFill>
            <a:srgbClr val="000000"/>
          </a:solidFill>
          <a:ln w="12700">
            <a:solidFill>
              <a:srgbClr val="00000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6" name="Shape 7"/>
          <p:cNvSpPr/>
          <p:nvPr/>
        </p:nvSpPr>
        <p:spPr>
          <a:xfrm>
            <a:off x="960120" y="1508760"/>
            <a:ext cx="4845600" cy="1965240"/>
          </a:xfrm>
          <a:prstGeom prst="rect">
            <a:avLst/>
          </a:prstGeom>
          <a:noFill/>
          <a:ln w="16510">
            <a:solidFill>
              <a:srgbClr val="0738FF"/>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7" name="Shape 8"/>
          <p:cNvSpPr/>
          <p:nvPr/>
        </p:nvSpPr>
        <p:spPr>
          <a:xfrm>
            <a:off x="114300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68" name="Shape 9"/>
          <p:cNvSpPr/>
          <p:nvPr/>
        </p:nvSpPr>
        <p:spPr>
          <a:xfrm>
            <a:off x="114300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69" name="Shape 10"/>
          <p:cNvSpPr/>
          <p:nvPr/>
        </p:nvSpPr>
        <p:spPr>
          <a:xfrm>
            <a:off x="150876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0" name="Shape 11"/>
          <p:cNvSpPr/>
          <p:nvPr/>
        </p:nvSpPr>
        <p:spPr>
          <a:xfrm>
            <a:off x="150876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1" name="Shape 12"/>
          <p:cNvSpPr/>
          <p:nvPr/>
        </p:nvSpPr>
        <p:spPr>
          <a:xfrm>
            <a:off x="187452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2" name="Shape 13"/>
          <p:cNvSpPr/>
          <p:nvPr/>
        </p:nvSpPr>
        <p:spPr>
          <a:xfrm>
            <a:off x="187452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3" name="Shape 14"/>
          <p:cNvSpPr/>
          <p:nvPr/>
        </p:nvSpPr>
        <p:spPr>
          <a:xfrm>
            <a:off x="224028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4" name="Shape 15"/>
          <p:cNvSpPr/>
          <p:nvPr/>
        </p:nvSpPr>
        <p:spPr>
          <a:xfrm>
            <a:off x="224028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5" name="Shape 16"/>
          <p:cNvSpPr/>
          <p:nvPr/>
        </p:nvSpPr>
        <p:spPr>
          <a:xfrm>
            <a:off x="260604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6" name="Shape 17"/>
          <p:cNvSpPr/>
          <p:nvPr/>
        </p:nvSpPr>
        <p:spPr>
          <a:xfrm>
            <a:off x="260604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7" name="Shape 18"/>
          <p:cNvSpPr/>
          <p:nvPr/>
        </p:nvSpPr>
        <p:spPr>
          <a:xfrm>
            <a:off x="297180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8" name="Shape 19"/>
          <p:cNvSpPr/>
          <p:nvPr/>
        </p:nvSpPr>
        <p:spPr>
          <a:xfrm>
            <a:off x="297180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79" name="Shape 20"/>
          <p:cNvSpPr/>
          <p:nvPr/>
        </p:nvSpPr>
        <p:spPr>
          <a:xfrm>
            <a:off x="333756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0" name="Shape 21"/>
          <p:cNvSpPr/>
          <p:nvPr/>
        </p:nvSpPr>
        <p:spPr>
          <a:xfrm>
            <a:off x="333756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1" name="Shape 22"/>
          <p:cNvSpPr/>
          <p:nvPr/>
        </p:nvSpPr>
        <p:spPr>
          <a:xfrm>
            <a:off x="370332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2" name="Shape 23"/>
          <p:cNvSpPr/>
          <p:nvPr/>
        </p:nvSpPr>
        <p:spPr>
          <a:xfrm>
            <a:off x="370332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3" name="Shape 24"/>
          <p:cNvSpPr/>
          <p:nvPr/>
        </p:nvSpPr>
        <p:spPr>
          <a:xfrm>
            <a:off x="406908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4" name="Shape 25"/>
          <p:cNvSpPr/>
          <p:nvPr/>
        </p:nvSpPr>
        <p:spPr>
          <a:xfrm>
            <a:off x="406908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5" name="Shape 26"/>
          <p:cNvSpPr/>
          <p:nvPr/>
        </p:nvSpPr>
        <p:spPr>
          <a:xfrm>
            <a:off x="443484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6" name="Shape 27"/>
          <p:cNvSpPr/>
          <p:nvPr/>
        </p:nvSpPr>
        <p:spPr>
          <a:xfrm>
            <a:off x="443484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7" name="Shape 28"/>
          <p:cNvSpPr/>
          <p:nvPr/>
        </p:nvSpPr>
        <p:spPr>
          <a:xfrm>
            <a:off x="480060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8" name="Shape 29"/>
          <p:cNvSpPr/>
          <p:nvPr/>
        </p:nvSpPr>
        <p:spPr>
          <a:xfrm>
            <a:off x="480060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89" name="Shape 30"/>
          <p:cNvSpPr/>
          <p:nvPr/>
        </p:nvSpPr>
        <p:spPr>
          <a:xfrm>
            <a:off x="5166360" y="182880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90" name="Shape 31"/>
          <p:cNvSpPr/>
          <p:nvPr/>
        </p:nvSpPr>
        <p:spPr>
          <a:xfrm>
            <a:off x="5166360" y="3017520"/>
            <a:ext cx="63360" cy="63360"/>
          </a:xfrm>
          <a:prstGeom prst="ellipse">
            <a:avLst/>
          </a:prstGeom>
          <a:solidFill>
            <a:srgbClr val="FFFFFF"/>
          </a:solidFill>
          <a:ln w="12700">
            <a:solidFill>
              <a:srgbClr val="FFFFFF"/>
            </a:solidFill>
            <a:round/>
          </a:ln>
        </p:spPr>
        <p:style>
          <a:lnRef idx="0"/>
          <a:fillRef idx="0"/>
          <a:effectRef idx="0"/>
          <a:fontRef idx="minor"/>
        </p:style>
        <p:txBody>
          <a:bodyPr lIns="31680" tIns="0" rIns="31680" bIns="0" anchor="t">
            <a:noAutofit/>
          </a:bodyPr>
          <a:p>
            <a:endParaRPr lang="en-US" sz="1800" b="0" u="none" strike="noStrike">
              <a:solidFill>
                <a:srgbClr val="000000"/>
              </a:solidFill>
              <a:effectLst/>
              <a:uFillTx/>
              <a:latin typeface="Arial"/>
            </a:endParaRPr>
          </a:p>
        </p:txBody>
      </p:sp>
      <p:sp>
        <p:nvSpPr>
          <p:cNvPr id="291" name="Shape 32"/>
          <p:cNvSpPr/>
          <p:nvPr/>
        </p:nvSpPr>
        <p:spPr>
          <a:xfrm>
            <a:off x="2514600" y="2423160"/>
            <a:ext cx="410760" cy="410760"/>
          </a:xfrm>
          <a:prstGeom prst="arc">
            <a:avLst>
              <a:gd name="adj1" fmla="val 16200000"/>
              <a:gd name="adj2" fmla="val 0"/>
            </a:avLst>
          </a:prstGeom>
          <a:solidFill>
            <a:srgbClr val="FFE600"/>
          </a:solidFill>
          <a:ln w="12700">
            <a:solidFill>
              <a:srgbClr val="FFE6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2" name="Shape 33"/>
          <p:cNvSpPr/>
          <p:nvPr/>
        </p:nvSpPr>
        <p:spPr>
          <a:xfrm>
            <a:off x="3840480" y="2176200"/>
            <a:ext cx="310320" cy="346680"/>
          </a:xfrm>
          <a:prstGeom prst="ellipse">
            <a:avLst/>
          </a:prstGeom>
          <a:solidFill>
            <a:srgbClr val="A32020"/>
          </a:solidFill>
          <a:ln w="12700">
            <a:solidFill>
              <a:srgbClr val="A32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3" name="Shape 34"/>
          <p:cNvSpPr/>
          <p:nvPr/>
        </p:nvSpPr>
        <p:spPr>
          <a:xfrm>
            <a:off x="4224600" y="2176200"/>
            <a:ext cx="310320" cy="346680"/>
          </a:xfrm>
          <a:prstGeom prst="ellipse">
            <a:avLst/>
          </a:prstGeom>
          <a:solidFill>
            <a:srgbClr val="2B6CB0"/>
          </a:solidFill>
          <a:ln w="12700">
            <a:solidFill>
              <a:srgbClr val="2B6CB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4" name="Text 35"/>
          <p:cNvSpPr/>
          <p:nvPr/>
        </p:nvSpPr>
        <p:spPr>
          <a:xfrm>
            <a:off x="960120" y="3703320"/>
            <a:ext cx="1828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85A"/>
                </a:solidFill>
                <a:effectLst/>
                <a:uFillTx/>
                <a:latin typeface="Georgia"/>
                <a:ea typeface="Georgia"/>
              </a:rPr>
              <a:t>SCORE: 0</a:t>
            </a:r>
            <a:endParaRPr lang="en-US" sz="1500" b="0" u="none" strike="noStrike">
              <a:solidFill>
                <a:srgbClr val="000000"/>
              </a:solidFill>
              <a:effectLst/>
              <a:uFillTx/>
              <a:latin typeface="Arial"/>
            </a:endParaRPr>
          </a:p>
        </p:txBody>
      </p:sp>
      <p:sp>
        <p:nvSpPr>
          <p:cNvPr id="295" name="Shape 36"/>
          <p:cNvSpPr/>
          <p:nvPr/>
        </p:nvSpPr>
        <p:spPr>
          <a:xfrm>
            <a:off x="6446520" y="1234440"/>
            <a:ext cx="4662720" cy="867960"/>
          </a:xfrm>
          <a:prstGeom prst="roundRect">
            <a:avLst>
              <a:gd name="adj" fmla="val 6316"/>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Text 37"/>
          <p:cNvSpPr/>
          <p:nvPr/>
        </p:nvSpPr>
        <p:spPr>
          <a:xfrm>
            <a:off x="6611040" y="1380600"/>
            <a:ext cx="43336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6CB0"/>
                </a:solidFill>
                <a:effectLst/>
                <a:uFillTx/>
                <a:latin typeface="Aptos"/>
              </a:rPr>
              <a:t>Sensors / percepts</a:t>
            </a:r>
            <a:endParaRPr lang="en-US" sz="1500" b="0" u="none" strike="noStrike">
              <a:solidFill>
                <a:srgbClr val="000000"/>
              </a:solidFill>
              <a:effectLst/>
              <a:uFillTx/>
              <a:latin typeface="Arial"/>
            </a:endParaRPr>
          </a:p>
        </p:txBody>
      </p:sp>
      <p:sp>
        <p:nvSpPr>
          <p:cNvPr id="297" name="Text 38"/>
          <p:cNvSpPr/>
          <p:nvPr/>
        </p:nvSpPr>
        <p:spPr>
          <a:xfrm>
            <a:off x="6611040" y="1710000"/>
            <a:ext cx="4333680" cy="27360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200" b="0" u="none" strike="noStrike">
                <a:solidFill>
                  <a:srgbClr val="0B1F3A"/>
                </a:solidFill>
                <a:effectLst/>
                <a:uFillTx/>
                <a:latin typeface="Aptos"/>
              </a:rPr>
              <a:t>Walls, pellets, ghost positions, legal moves, power-pellet status.</a:t>
            </a:r>
            <a:endParaRPr lang="en-US" sz="1200" b="0" u="none" strike="noStrike">
              <a:solidFill>
                <a:srgbClr val="000000"/>
              </a:solidFill>
              <a:effectLst/>
              <a:uFillTx/>
              <a:latin typeface="Arial"/>
            </a:endParaRPr>
          </a:p>
        </p:txBody>
      </p:sp>
      <p:sp>
        <p:nvSpPr>
          <p:cNvPr id="298" name="Shape 39"/>
          <p:cNvSpPr/>
          <p:nvPr/>
        </p:nvSpPr>
        <p:spPr>
          <a:xfrm>
            <a:off x="6446520" y="2267640"/>
            <a:ext cx="4662720" cy="867960"/>
          </a:xfrm>
          <a:prstGeom prst="roundRect">
            <a:avLst>
              <a:gd name="adj" fmla="val 6316"/>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9" name="Text 40"/>
          <p:cNvSpPr/>
          <p:nvPr/>
        </p:nvSpPr>
        <p:spPr>
          <a:xfrm>
            <a:off x="6611040" y="2414160"/>
            <a:ext cx="43336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48A97"/>
                </a:solidFill>
                <a:effectLst/>
                <a:uFillTx/>
                <a:latin typeface="Aptos"/>
              </a:rPr>
              <a:t>Actions / actuators</a:t>
            </a:r>
            <a:endParaRPr lang="en-US" sz="1500" b="0" u="none" strike="noStrike">
              <a:solidFill>
                <a:srgbClr val="000000"/>
              </a:solidFill>
              <a:effectLst/>
              <a:uFillTx/>
              <a:latin typeface="Arial"/>
            </a:endParaRPr>
          </a:p>
        </p:txBody>
      </p:sp>
      <p:sp>
        <p:nvSpPr>
          <p:cNvPr id="300" name="Text 41"/>
          <p:cNvSpPr/>
          <p:nvPr/>
        </p:nvSpPr>
        <p:spPr>
          <a:xfrm>
            <a:off x="6611040" y="2743200"/>
            <a:ext cx="4333680" cy="27360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200" b="0" u="none" strike="noStrike">
                <a:solidFill>
                  <a:srgbClr val="0B1F3A"/>
                </a:solidFill>
                <a:effectLst/>
                <a:uFillTx/>
                <a:latin typeface="Aptos"/>
              </a:rPr>
              <a:t>Move left, right, up, or down. Action changes the maze state.</a:t>
            </a:r>
            <a:endParaRPr lang="en-US" sz="1200" b="0" u="none" strike="noStrike">
              <a:solidFill>
                <a:srgbClr val="000000"/>
              </a:solidFill>
              <a:effectLst/>
              <a:uFillTx/>
              <a:latin typeface="Arial"/>
            </a:endParaRPr>
          </a:p>
        </p:txBody>
      </p:sp>
      <p:sp>
        <p:nvSpPr>
          <p:cNvPr id="301" name="Shape 42"/>
          <p:cNvSpPr/>
          <p:nvPr/>
        </p:nvSpPr>
        <p:spPr>
          <a:xfrm>
            <a:off x="6446520" y="3300840"/>
            <a:ext cx="4662720" cy="867960"/>
          </a:xfrm>
          <a:prstGeom prst="roundRect">
            <a:avLst>
              <a:gd name="adj" fmla="val 6316"/>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2" name="Text 43"/>
          <p:cNvSpPr/>
          <p:nvPr/>
        </p:nvSpPr>
        <p:spPr>
          <a:xfrm>
            <a:off x="6611040" y="3447360"/>
            <a:ext cx="43336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B7A45"/>
                </a:solidFill>
                <a:effectLst/>
                <a:uFillTx/>
                <a:latin typeface="Aptos"/>
              </a:rPr>
              <a:t>Performance</a:t>
            </a:r>
            <a:endParaRPr lang="en-US" sz="1500" b="0" u="none" strike="noStrike">
              <a:solidFill>
                <a:srgbClr val="000000"/>
              </a:solidFill>
              <a:effectLst/>
              <a:uFillTx/>
              <a:latin typeface="Arial"/>
            </a:endParaRPr>
          </a:p>
        </p:txBody>
      </p:sp>
      <p:sp>
        <p:nvSpPr>
          <p:cNvPr id="303" name="Text 44"/>
          <p:cNvSpPr/>
          <p:nvPr/>
        </p:nvSpPr>
        <p:spPr>
          <a:xfrm>
            <a:off x="6611040" y="3776400"/>
            <a:ext cx="4333680" cy="273600"/>
          </a:xfrm>
          <a:prstGeom prst="rect">
            <a:avLst/>
          </a:prstGeom>
          <a:noFill/>
          <a:ln w="0">
            <a:noFill/>
          </a:ln>
        </p:spPr>
        <p:style>
          <a:lnRef idx="0"/>
          <a:fillRef idx="0"/>
          <a:effectRef idx="0"/>
          <a:fontRef idx="minor"/>
        </p:style>
        <p:txBody>
          <a:bodyPr lIns="360" tIns="360" rIns="360" bIns="360" anchor="ctr">
            <a:normAutofit fontScale="85000" lnSpcReduction="9999"/>
          </a:bodyPr>
          <a:p>
            <a:pPr defTabSz="914400">
              <a:lnSpc>
                <a:spcPct val="100000"/>
              </a:lnSpc>
              <a:tabLst>
                <a:tab pos="0" algn="l"/>
              </a:tabLst>
            </a:pPr>
            <a:r>
              <a:rPr lang="en-US" sz="1200" b="0" u="none" strike="noStrike">
                <a:solidFill>
                  <a:srgbClr val="0B1F3A"/>
                </a:solidFill>
                <a:effectLst/>
                <a:uFillTx/>
                <a:latin typeface="Aptos"/>
              </a:rPr>
              <a:t>Maximize score; eat pellets; avoid ghosts; use power pellets safely.</a:t>
            </a:r>
            <a:endParaRPr lang="en-US" sz="1200" b="0" u="none" strike="noStrike">
              <a:solidFill>
                <a:srgbClr val="000000"/>
              </a:solidFill>
              <a:effectLst/>
              <a:uFillTx/>
              <a:latin typeface="Arial"/>
            </a:endParaRPr>
          </a:p>
        </p:txBody>
      </p:sp>
      <p:sp>
        <p:nvSpPr>
          <p:cNvPr id="304" name="Shape 45"/>
          <p:cNvSpPr/>
          <p:nvPr/>
        </p:nvSpPr>
        <p:spPr>
          <a:xfrm>
            <a:off x="6446520" y="4334400"/>
            <a:ext cx="4662720" cy="867960"/>
          </a:xfrm>
          <a:prstGeom prst="roundRect">
            <a:avLst>
              <a:gd name="adj" fmla="val 6316"/>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5" name="Text 46"/>
          <p:cNvSpPr/>
          <p:nvPr/>
        </p:nvSpPr>
        <p:spPr>
          <a:xfrm>
            <a:off x="6611040" y="4480560"/>
            <a:ext cx="43336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B35B1"/>
                </a:solidFill>
                <a:effectLst/>
                <a:uFillTx/>
                <a:latin typeface="Aptos"/>
              </a:rPr>
              <a:t>Environment</a:t>
            </a:r>
            <a:endParaRPr lang="en-US" sz="1500" b="0" u="none" strike="noStrike">
              <a:solidFill>
                <a:srgbClr val="000000"/>
              </a:solidFill>
              <a:effectLst/>
              <a:uFillTx/>
              <a:latin typeface="Arial"/>
            </a:endParaRPr>
          </a:p>
        </p:txBody>
      </p:sp>
      <p:sp>
        <p:nvSpPr>
          <p:cNvPr id="306" name="Text 47"/>
          <p:cNvSpPr/>
          <p:nvPr/>
        </p:nvSpPr>
        <p:spPr>
          <a:xfrm>
            <a:off x="6611040" y="4809600"/>
            <a:ext cx="4333680" cy="273600"/>
          </a:xfrm>
          <a:prstGeom prst="rect">
            <a:avLst/>
          </a:prstGeom>
          <a:noFill/>
          <a:ln w="0">
            <a:noFill/>
          </a:ln>
        </p:spPr>
        <p:style>
          <a:lnRef idx="0"/>
          <a:fillRef idx="0"/>
          <a:effectRef idx="0"/>
          <a:fontRef idx="minor"/>
        </p:style>
        <p:txBody>
          <a:bodyPr lIns="360" tIns="360" rIns="360" bIns="360" anchor="ctr">
            <a:normAutofit fontScale="85000" lnSpcReduction="19999"/>
          </a:bodyPr>
          <a:p>
            <a:pPr defTabSz="914400">
              <a:lnSpc>
                <a:spcPct val="100000"/>
              </a:lnSpc>
              <a:tabLst>
                <a:tab pos="0" algn="l"/>
              </a:tabLst>
            </a:pPr>
            <a:r>
              <a:rPr lang="en-US" sz="1200" b="0" u="none" strike="noStrike">
                <a:solidFill>
                  <a:srgbClr val="0B1F3A"/>
                </a:solidFill>
                <a:effectLst/>
                <a:uFillTx/>
                <a:latin typeface="Aptos"/>
              </a:rPr>
              <a:t>Sequential, dynamic, multiagent, discrete grid; partially observable in richer versions.</a:t>
            </a:r>
            <a:endParaRPr lang="en-US" sz="1200" b="0" u="none" strike="noStrike">
              <a:solidFill>
                <a:srgbClr val="000000"/>
              </a:solidFill>
              <a:effectLst/>
              <a:uFillTx/>
              <a:latin typeface="Arial"/>
            </a:endParaRPr>
          </a:p>
        </p:txBody>
      </p:sp>
      <p:sp>
        <p:nvSpPr>
          <p:cNvPr id="307" name="Text 48"/>
          <p:cNvSpPr/>
          <p:nvPr/>
        </p:nvSpPr>
        <p:spPr>
          <a:xfrm>
            <a:off x="777240" y="5833800"/>
            <a:ext cx="10789200" cy="291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0B2B5C"/>
                </a:solidFill>
                <a:effectLst/>
                <a:uFillTx/>
                <a:latin typeface="Aptos"/>
              </a:rPr>
              <a:t>Class demo: the autonomous Pac-Man game implements this loop in code.</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08"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9"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10"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 Agent Structure: Architecture + Program</a:t>
            </a:r>
            <a:endParaRPr lang="en-US" sz="2300" b="0" u="none" strike="noStrike">
              <a:solidFill>
                <a:srgbClr val="000000"/>
              </a:solidFill>
              <a:effectLst/>
              <a:uFillTx/>
              <a:latin typeface="Arial"/>
            </a:endParaRPr>
          </a:p>
        </p:txBody>
      </p:sp>
      <p:sp>
        <p:nvSpPr>
          <p:cNvPr id="311"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a:t>
            </a:r>
            <a:endParaRPr lang="en-US" sz="1200" b="0" u="none" strike="noStrike">
              <a:solidFill>
                <a:srgbClr val="000000"/>
              </a:solidFill>
              <a:effectLst/>
              <a:uFillTx/>
              <a:latin typeface="Arial"/>
            </a:endParaRPr>
          </a:p>
        </p:txBody>
      </p:sp>
      <p:sp>
        <p:nvSpPr>
          <p:cNvPr id="312"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13"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14</a:t>
            </a:r>
          </a:p>
        </p:txBody>
      </p:sp>
      <p:sp>
        <p:nvSpPr>
          <p:cNvPr id="314" name="Text 6"/>
          <p:cNvSpPr/>
          <p:nvPr/>
        </p:nvSpPr>
        <p:spPr>
          <a:xfrm>
            <a:off x="914400" y="1143000"/>
            <a:ext cx="1033200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800" b="1" u="none" strike="noStrike">
                <a:solidFill>
                  <a:srgbClr val="0B2B5C"/>
                </a:solidFill>
                <a:effectLst/>
                <a:uFillTx/>
                <a:latin typeface="Aptos"/>
              </a:rPr>
              <a:t>agent = architecture + program</a:t>
            </a:r>
            <a:endParaRPr lang="en-US" sz="2800" b="0" u="none" strike="noStrike">
              <a:solidFill>
                <a:srgbClr val="000000"/>
              </a:solidFill>
              <a:effectLst/>
              <a:uFillTx/>
              <a:latin typeface="Arial"/>
            </a:endParaRPr>
          </a:p>
        </p:txBody>
      </p:sp>
      <p:sp>
        <p:nvSpPr>
          <p:cNvPr id="315" name="Shape 7"/>
          <p:cNvSpPr/>
          <p:nvPr/>
        </p:nvSpPr>
        <p:spPr>
          <a:xfrm>
            <a:off x="914400" y="2057400"/>
            <a:ext cx="338256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6" name="Text 8"/>
          <p:cNvSpPr/>
          <p:nvPr/>
        </p:nvSpPr>
        <p:spPr>
          <a:xfrm>
            <a:off x="1078920" y="220356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2B6CB0"/>
                </a:solidFill>
                <a:effectLst/>
                <a:uFillTx/>
                <a:latin typeface="Aptos"/>
              </a:rPr>
              <a:t>Architecture</a:t>
            </a:r>
            <a:endParaRPr lang="en-US" sz="1800" b="0" u="none" strike="noStrike">
              <a:solidFill>
                <a:srgbClr val="000000"/>
              </a:solidFill>
              <a:effectLst/>
              <a:uFillTx/>
              <a:latin typeface="Arial"/>
            </a:endParaRPr>
          </a:p>
        </p:txBody>
      </p:sp>
      <p:sp>
        <p:nvSpPr>
          <p:cNvPr id="317" name="Text 9"/>
          <p:cNvSpPr/>
          <p:nvPr/>
        </p:nvSpPr>
        <p:spPr>
          <a:xfrm>
            <a:off x="1078920" y="2532960"/>
            <a:ext cx="305352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Physical or computational platform: sensors, processors, memory, actuators.</a:t>
            </a:r>
            <a:endParaRPr lang="en-US" sz="1300" b="0" u="none" strike="noStrike">
              <a:solidFill>
                <a:srgbClr val="000000"/>
              </a:solidFill>
              <a:effectLst/>
              <a:uFillTx/>
              <a:latin typeface="Arial"/>
            </a:endParaRPr>
          </a:p>
        </p:txBody>
      </p:sp>
      <p:sp>
        <p:nvSpPr>
          <p:cNvPr id="318" name="Shape 10"/>
          <p:cNvSpPr/>
          <p:nvPr/>
        </p:nvSpPr>
        <p:spPr>
          <a:xfrm>
            <a:off x="4434840" y="2057400"/>
            <a:ext cx="338256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9" name="Text 11"/>
          <p:cNvSpPr/>
          <p:nvPr/>
        </p:nvSpPr>
        <p:spPr>
          <a:xfrm>
            <a:off x="4599360" y="220356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48A97"/>
                </a:solidFill>
                <a:effectLst/>
                <a:uFillTx/>
                <a:latin typeface="Aptos"/>
              </a:rPr>
              <a:t>Agent program</a:t>
            </a:r>
            <a:endParaRPr lang="en-US" sz="1800" b="0" u="none" strike="noStrike">
              <a:solidFill>
                <a:srgbClr val="000000"/>
              </a:solidFill>
              <a:effectLst/>
              <a:uFillTx/>
              <a:latin typeface="Arial"/>
            </a:endParaRPr>
          </a:p>
        </p:txBody>
      </p:sp>
      <p:sp>
        <p:nvSpPr>
          <p:cNvPr id="320" name="Text 12"/>
          <p:cNvSpPr/>
          <p:nvPr/>
        </p:nvSpPr>
        <p:spPr>
          <a:xfrm>
            <a:off x="4599360" y="2532960"/>
            <a:ext cx="305352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Software that receives percepts and returns actions.</a:t>
            </a:r>
            <a:endParaRPr lang="en-US" sz="1300" b="0" u="none" strike="noStrike">
              <a:solidFill>
                <a:srgbClr val="000000"/>
              </a:solidFill>
              <a:effectLst/>
              <a:uFillTx/>
              <a:latin typeface="Arial"/>
            </a:endParaRPr>
          </a:p>
        </p:txBody>
      </p:sp>
      <p:sp>
        <p:nvSpPr>
          <p:cNvPr id="321" name="Shape 13"/>
          <p:cNvSpPr/>
          <p:nvPr/>
        </p:nvSpPr>
        <p:spPr>
          <a:xfrm>
            <a:off x="7955280" y="2057400"/>
            <a:ext cx="338256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2" name="Text 14"/>
          <p:cNvSpPr/>
          <p:nvPr/>
        </p:nvSpPr>
        <p:spPr>
          <a:xfrm>
            <a:off x="8119800" y="2203560"/>
            <a:ext cx="30535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5B35B1"/>
                </a:solidFill>
                <a:effectLst/>
                <a:uFillTx/>
                <a:latin typeface="Aptos"/>
              </a:rPr>
              <a:t>Agent function</a:t>
            </a:r>
            <a:endParaRPr lang="en-US" sz="1800" b="0" u="none" strike="noStrike">
              <a:solidFill>
                <a:srgbClr val="000000"/>
              </a:solidFill>
              <a:effectLst/>
              <a:uFillTx/>
              <a:latin typeface="Arial"/>
            </a:endParaRPr>
          </a:p>
        </p:txBody>
      </p:sp>
      <p:sp>
        <p:nvSpPr>
          <p:cNvPr id="323" name="Text 15"/>
          <p:cNvSpPr/>
          <p:nvPr/>
        </p:nvSpPr>
        <p:spPr>
          <a:xfrm>
            <a:off x="8119800" y="2532960"/>
            <a:ext cx="305352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Behavior implemented by the program: percept sequence -&gt; action.</a:t>
            </a:r>
            <a:endParaRPr lang="en-US" sz="1300" b="0" u="none" strike="noStrike">
              <a:solidFill>
                <a:srgbClr val="000000"/>
              </a:solidFill>
              <a:effectLst/>
              <a:uFillTx/>
              <a:latin typeface="Arial"/>
            </a:endParaRPr>
          </a:p>
        </p:txBody>
      </p:sp>
      <p:sp>
        <p:nvSpPr>
          <p:cNvPr id="324" name="Text 16"/>
          <p:cNvSpPr/>
          <p:nvPr/>
        </p:nvSpPr>
        <p:spPr>
          <a:xfrm>
            <a:off x="960120" y="3977640"/>
            <a:ext cx="402264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0B2B5C"/>
                </a:solidFill>
                <a:effectLst/>
                <a:uFillTx/>
                <a:latin typeface="Aptos"/>
              </a:rPr>
              <a:t>Why not use a giant lookup table?</a:t>
            </a:r>
            <a:endParaRPr lang="en-US" sz="2000" b="0" u="none" strike="noStrike">
              <a:solidFill>
                <a:srgbClr val="000000"/>
              </a:solidFill>
              <a:effectLst/>
              <a:uFillTx/>
              <a:latin typeface="Arial"/>
            </a:endParaRPr>
          </a:p>
        </p:txBody>
      </p:sp>
      <p:sp>
        <p:nvSpPr>
          <p:cNvPr id="325" name="Text 17"/>
          <p:cNvSpPr/>
          <p:nvPr/>
        </p:nvSpPr>
        <p:spPr>
          <a:xfrm>
            <a:off x="960120" y="4434840"/>
            <a:ext cx="10149120" cy="913680"/>
          </a:xfrm>
          <a:prstGeom prst="rect">
            <a:avLst/>
          </a:prstGeom>
          <a:noFill/>
          <a:ln w="0">
            <a:noFill/>
          </a:ln>
        </p:spPr>
        <p:style>
          <a:lnRef idx="0"/>
          <a:fillRef idx="0"/>
          <a:effectRef idx="0"/>
          <a:fontRef idx="minor"/>
        </p:style>
        <p:txBody>
          <a:bodyPr lIns="720" tIns="720" rIns="720" bIns="720" anchor="ctr">
            <a:normAutofit fontScale="77500" lnSpcReduction="19999"/>
          </a:bodyPr>
          <a:p>
            <a:pPr defTabSz="914400">
              <a:lnSpc>
                <a:spcPct val="100000"/>
              </a:lnSpc>
            </a:pPr>
            <a:r>
              <a:rPr lang="en-US" sz="1600" b="0" u="none" strike="noStrike">
                <a:solidFill>
                  <a:srgbClr val="0B1F3A"/>
                </a:solidFill>
                <a:effectLst/>
                <a:uFillTx/>
                <a:latin typeface="Aptos"/>
                <a:ea typeface="Aptos"/>
              </a:rPr>
              <a:t>Too many percept sequences to store.</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0B1F3A"/>
                </a:solidFill>
                <a:effectLst/>
                <a:uFillTx/>
                <a:latin typeface="Aptos"/>
                <a:ea typeface="Aptos"/>
              </a:rPr>
              <a:t>Too much work for the designer to fill in.</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0B1F3A"/>
                </a:solidFill>
                <a:effectLst/>
                <a:uFillTx/>
                <a:latin typeface="Aptos"/>
                <a:ea typeface="Aptos"/>
              </a:rPr>
              <a:t>Too much experience for the agent to learn every entry.</a:t>
            </a:r>
            <a:endParaRPr lang="en-US" sz="1600" b="0" u="none" strike="noStrike">
              <a:solidFill>
                <a:srgbClr val="000000"/>
              </a:solidFill>
              <a:effectLst/>
              <a:uFillTx/>
              <a:latin typeface="Arial"/>
            </a:endParaRPr>
          </a:p>
        </p:txBody>
      </p:sp>
      <p:sp>
        <p:nvSpPr>
          <p:cNvPr id="326" name="Text 18"/>
          <p:cNvSpPr/>
          <p:nvPr/>
        </p:nvSpPr>
        <p:spPr>
          <a:xfrm>
            <a:off x="960120" y="5715000"/>
            <a:ext cx="1014912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AI problem: produce rational behavior from a compact program, not a vast table.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27"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8"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29"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2.4.1 Table-Driven Agent</a:t>
            </a:r>
            <a:endParaRPr lang="en-US" sz="2300" b="0" u="none" strike="noStrike">
              <a:solidFill>
                <a:srgbClr val="000000"/>
              </a:solidFill>
              <a:effectLst/>
              <a:uFillTx/>
              <a:latin typeface="Arial"/>
            </a:endParaRPr>
          </a:p>
        </p:txBody>
      </p:sp>
      <p:sp>
        <p:nvSpPr>
          <p:cNvPr id="330"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331"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32"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15</a:t>
            </a:r>
          </a:p>
        </p:txBody>
      </p:sp>
      <p:sp>
        <p:nvSpPr>
          <p:cNvPr id="333" name="Text 6"/>
          <p:cNvSpPr/>
          <p:nvPr/>
        </p:nvSpPr>
        <p:spPr>
          <a:xfrm>
            <a:off x="731520" y="105156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A table-driven agent stores the entire percept sequence and indexes a table of actions.</a:t>
            </a:r>
            <a:endParaRPr lang="en-US" sz="1800" b="0" u="none" strike="noStrike">
              <a:solidFill>
                <a:srgbClr val="000000"/>
              </a:solidFill>
              <a:effectLst/>
              <a:uFillTx/>
              <a:latin typeface="Arial"/>
            </a:endParaRPr>
          </a:p>
        </p:txBody>
      </p:sp>
      <p:pic>
        <p:nvPicPr>
          <p:cNvPr id="334" name="Image 0" descr="/mnt/data/ch2_docx_unzipped/word/media/image6.png"/>
          <p:cNvPicPr/>
          <p:nvPr/>
        </p:nvPicPr>
        <p:blipFill>
          <a:blip r:embed="rId1"/>
          <a:stretch/>
        </p:blipFill>
        <p:spPr>
          <a:xfrm>
            <a:off x="228960" y="1828800"/>
            <a:ext cx="6628680" cy="2514240"/>
          </a:xfrm>
          <a:prstGeom prst="rect">
            <a:avLst/>
          </a:prstGeom>
          <a:noFill/>
          <a:ln w="0">
            <a:noFill/>
          </a:ln>
        </p:spPr>
      </p:pic>
      <p:sp>
        <p:nvSpPr>
          <p:cNvPr id="335" name="Shape 7"/>
          <p:cNvSpPr/>
          <p:nvPr/>
        </p:nvSpPr>
        <p:spPr>
          <a:xfrm>
            <a:off x="7315200" y="1691640"/>
            <a:ext cx="393120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6" name="Text 8"/>
          <p:cNvSpPr/>
          <p:nvPr/>
        </p:nvSpPr>
        <p:spPr>
          <a:xfrm>
            <a:off x="7479720" y="1837800"/>
            <a:ext cx="36021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6CB0"/>
                </a:solidFill>
                <a:effectLst/>
                <a:uFillTx/>
                <a:latin typeface="Aptos"/>
              </a:rPr>
              <a:t>What it demonstrates</a:t>
            </a:r>
            <a:endParaRPr lang="en-US" sz="1600" b="0" u="none" strike="noStrike">
              <a:solidFill>
                <a:srgbClr val="000000"/>
              </a:solidFill>
              <a:effectLst/>
              <a:uFillTx/>
              <a:latin typeface="Arial"/>
            </a:endParaRPr>
          </a:p>
        </p:txBody>
      </p:sp>
      <p:sp>
        <p:nvSpPr>
          <p:cNvPr id="337" name="Text 9"/>
          <p:cNvSpPr/>
          <p:nvPr/>
        </p:nvSpPr>
        <p:spPr>
          <a:xfrm>
            <a:off x="7479720" y="2167200"/>
            <a:ext cx="36021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The agent function can be represented explicitly as a mapping from percept history to action.</a:t>
            </a:r>
            <a:endParaRPr lang="en-US" sz="1250" b="0" u="none" strike="noStrike">
              <a:solidFill>
                <a:srgbClr val="000000"/>
              </a:solidFill>
              <a:effectLst/>
              <a:uFillTx/>
              <a:latin typeface="Arial"/>
            </a:endParaRPr>
          </a:p>
        </p:txBody>
      </p:sp>
      <p:sp>
        <p:nvSpPr>
          <p:cNvPr id="338" name="Shape 10"/>
          <p:cNvSpPr/>
          <p:nvPr/>
        </p:nvSpPr>
        <p:spPr>
          <a:xfrm>
            <a:off x="7315200" y="3063240"/>
            <a:ext cx="393120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9" name="Text 11"/>
          <p:cNvSpPr/>
          <p:nvPr/>
        </p:nvSpPr>
        <p:spPr>
          <a:xfrm>
            <a:off x="7479720" y="3209400"/>
            <a:ext cx="36021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48A97"/>
                </a:solidFill>
                <a:effectLst/>
                <a:uFillTx/>
                <a:latin typeface="Aptos"/>
              </a:rPr>
              <a:t>Why it matters</a:t>
            </a:r>
            <a:endParaRPr lang="en-US" sz="1600" b="0" u="none" strike="noStrike">
              <a:solidFill>
                <a:srgbClr val="000000"/>
              </a:solidFill>
              <a:effectLst/>
              <a:uFillTx/>
              <a:latin typeface="Arial"/>
            </a:endParaRPr>
          </a:p>
        </p:txBody>
      </p:sp>
      <p:sp>
        <p:nvSpPr>
          <p:cNvPr id="340" name="Text 12"/>
          <p:cNvSpPr/>
          <p:nvPr/>
        </p:nvSpPr>
        <p:spPr>
          <a:xfrm>
            <a:off x="7479720" y="3538800"/>
            <a:ext cx="36021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It is correct in principle if the table is filled correctly, but it is usually infeasible.</a:t>
            </a:r>
            <a:endParaRPr lang="en-US" sz="1250" b="0" u="none" strike="noStrike">
              <a:solidFill>
                <a:srgbClr val="000000"/>
              </a:solidFill>
              <a:effectLst/>
              <a:uFillTx/>
              <a:latin typeface="Arial"/>
            </a:endParaRPr>
          </a:p>
        </p:txBody>
      </p:sp>
      <p:sp>
        <p:nvSpPr>
          <p:cNvPr id="341" name="Shape 13"/>
          <p:cNvSpPr/>
          <p:nvPr/>
        </p:nvSpPr>
        <p:spPr>
          <a:xfrm>
            <a:off x="7315200" y="4434840"/>
            <a:ext cx="393120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2" name="Text 14"/>
          <p:cNvSpPr/>
          <p:nvPr/>
        </p:nvSpPr>
        <p:spPr>
          <a:xfrm>
            <a:off x="7479720" y="4581000"/>
            <a:ext cx="36021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5B35B1"/>
                </a:solidFill>
                <a:effectLst/>
                <a:uFillTx/>
                <a:latin typeface="Aptos"/>
              </a:rPr>
              <a:t>Term to know</a:t>
            </a:r>
            <a:endParaRPr lang="en-US" sz="1600" b="0" u="none" strike="noStrike">
              <a:solidFill>
                <a:srgbClr val="000000"/>
              </a:solidFill>
              <a:effectLst/>
              <a:uFillTx/>
              <a:latin typeface="Arial"/>
            </a:endParaRPr>
          </a:p>
        </p:txBody>
      </p:sp>
      <p:sp>
        <p:nvSpPr>
          <p:cNvPr id="343" name="Text 15"/>
          <p:cNvSpPr/>
          <p:nvPr/>
        </p:nvSpPr>
        <p:spPr>
          <a:xfrm>
            <a:off x="7479720" y="4910400"/>
            <a:ext cx="36021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Table-driven agent: the simplest conceptual agent program in Section 2.4.1.</a:t>
            </a:r>
            <a:endParaRPr lang="en-US" sz="1250" b="0" u="none" strike="noStrike">
              <a:solidFill>
                <a:srgbClr val="000000"/>
              </a:solidFill>
              <a:effectLst/>
              <a:uFillTx/>
              <a:latin typeface="Arial"/>
            </a:endParaRPr>
          </a:p>
        </p:txBody>
      </p:sp>
      <p:sp>
        <p:nvSpPr>
          <p:cNvPr id="344" name="Text 16"/>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2.7</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45"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6"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47"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Why Table-Driven Agents Fail in Practice</a:t>
            </a:r>
            <a:endParaRPr lang="en-US" sz="2300" b="0" u="none" strike="noStrike">
              <a:solidFill>
                <a:srgbClr val="000000"/>
              </a:solidFill>
              <a:effectLst/>
              <a:uFillTx/>
              <a:latin typeface="Arial"/>
            </a:endParaRPr>
          </a:p>
        </p:txBody>
      </p:sp>
      <p:sp>
        <p:nvSpPr>
          <p:cNvPr id="348"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349"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50"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16</a:t>
            </a:r>
          </a:p>
        </p:txBody>
      </p:sp>
      <p:sp>
        <p:nvSpPr>
          <p:cNvPr id="351" name="Text 6"/>
          <p:cNvSpPr/>
          <p:nvPr/>
        </p:nvSpPr>
        <p:spPr>
          <a:xfrm>
            <a:off x="822960" y="1143000"/>
            <a:ext cx="1051488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2B5C"/>
                </a:solidFill>
                <a:effectLst/>
                <a:uFillTx/>
                <a:latin typeface="Aptos"/>
              </a:rPr>
              <a:t>The lookup table grows with every possible percept sequence.</a:t>
            </a:r>
            <a:endParaRPr lang="en-US" sz="2200" b="0" u="none" strike="noStrike">
              <a:solidFill>
                <a:srgbClr val="000000"/>
              </a:solidFill>
              <a:effectLst/>
              <a:uFillTx/>
              <a:latin typeface="Arial"/>
            </a:endParaRPr>
          </a:p>
        </p:txBody>
      </p:sp>
      <p:sp>
        <p:nvSpPr>
          <p:cNvPr id="352" name="Shape 7"/>
          <p:cNvSpPr/>
          <p:nvPr/>
        </p:nvSpPr>
        <p:spPr>
          <a:xfrm>
            <a:off x="822960" y="2057400"/>
            <a:ext cx="333684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3" name="Text 8"/>
          <p:cNvSpPr/>
          <p:nvPr/>
        </p:nvSpPr>
        <p:spPr>
          <a:xfrm>
            <a:off x="987480" y="2203560"/>
            <a:ext cx="3007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A32020"/>
                </a:solidFill>
                <a:effectLst/>
                <a:uFillTx/>
                <a:latin typeface="Aptos"/>
              </a:rPr>
              <a:t>Space problem</a:t>
            </a:r>
            <a:endParaRPr lang="en-US" sz="1700" b="0" u="none" strike="noStrike">
              <a:solidFill>
                <a:srgbClr val="000000"/>
              </a:solidFill>
              <a:effectLst/>
              <a:uFillTx/>
              <a:latin typeface="Arial"/>
            </a:endParaRPr>
          </a:p>
        </p:txBody>
      </p:sp>
      <p:sp>
        <p:nvSpPr>
          <p:cNvPr id="354" name="Text 9"/>
          <p:cNvSpPr/>
          <p:nvPr/>
        </p:nvSpPr>
        <p:spPr>
          <a:xfrm>
            <a:off x="987480" y="2532960"/>
            <a:ext cx="300780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No physical agent can store every entry for a realistic environment.</a:t>
            </a:r>
            <a:endParaRPr lang="en-US" sz="1350" b="0" u="none" strike="noStrike">
              <a:solidFill>
                <a:srgbClr val="000000"/>
              </a:solidFill>
              <a:effectLst/>
              <a:uFillTx/>
              <a:latin typeface="Arial"/>
            </a:endParaRPr>
          </a:p>
        </p:txBody>
      </p:sp>
      <p:sp>
        <p:nvSpPr>
          <p:cNvPr id="355" name="Shape 10"/>
          <p:cNvSpPr/>
          <p:nvPr/>
        </p:nvSpPr>
        <p:spPr>
          <a:xfrm>
            <a:off x="4617720" y="2057400"/>
            <a:ext cx="333684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6" name="Text 11"/>
          <p:cNvSpPr/>
          <p:nvPr/>
        </p:nvSpPr>
        <p:spPr>
          <a:xfrm>
            <a:off x="4782240" y="2203560"/>
            <a:ext cx="3007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5A21B"/>
                </a:solidFill>
                <a:effectLst/>
                <a:uFillTx/>
                <a:latin typeface="Aptos"/>
              </a:rPr>
              <a:t>Design problem</a:t>
            </a:r>
            <a:endParaRPr lang="en-US" sz="1700" b="0" u="none" strike="noStrike">
              <a:solidFill>
                <a:srgbClr val="000000"/>
              </a:solidFill>
              <a:effectLst/>
              <a:uFillTx/>
              <a:latin typeface="Arial"/>
            </a:endParaRPr>
          </a:p>
        </p:txBody>
      </p:sp>
      <p:sp>
        <p:nvSpPr>
          <p:cNvPr id="357" name="Text 12"/>
          <p:cNvSpPr/>
          <p:nvPr/>
        </p:nvSpPr>
        <p:spPr>
          <a:xfrm>
            <a:off x="4782240" y="2532960"/>
            <a:ext cx="300780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No designer can fill in the right action for every possible sequence.</a:t>
            </a:r>
            <a:endParaRPr lang="en-US" sz="1350" b="0" u="none" strike="noStrike">
              <a:solidFill>
                <a:srgbClr val="000000"/>
              </a:solidFill>
              <a:effectLst/>
              <a:uFillTx/>
              <a:latin typeface="Arial"/>
            </a:endParaRPr>
          </a:p>
        </p:txBody>
      </p:sp>
      <p:sp>
        <p:nvSpPr>
          <p:cNvPr id="358" name="Shape 13"/>
          <p:cNvSpPr/>
          <p:nvPr/>
        </p:nvSpPr>
        <p:spPr>
          <a:xfrm>
            <a:off x="8412480" y="2057400"/>
            <a:ext cx="333684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9" name="Text 14"/>
          <p:cNvSpPr/>
          <p:nvPr/>
        </p:nvSpPr>
        <p:spPr>
          <a:xfrm>
            <a:off x="8577000" y="2203560"/>
            <a:ext cx="3007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5B35B1"/>
                </a:solidFill>
                <a:effectLst/>
                <a:uFillTx/>
                <a:latin typeface="Aptos"/>
              </a:rPr>
              <a:t>Learning problem</a:t>
            </a:r>
            <a:endParaRPr lang="en-US" sz="1700" b="0" u="none" strike="noStrike">
              <a:solidFill>
                <a:srgbClr val="000000"/>
              </a:solidFill>
              <a:effectLst/>
              <a:uFillTx/>
              <a:latin typeface="Arial"/>
            </a:endParaRPr>
          </a:p>
        </p:txBody>
      </p:sp>
      <p:sp>
        <p:nvSpPr>
          <p:cNvPr id="360" name="Text 15"/>
          <p:cNvSpPr/>
          <p:nvPr/>
        </p:nvSpPr>
        <p:spPr>
          <a:xfrm>
            <a:off x="8577000" y="2532960"/>
            <a:ext cx="300780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No agent can experience every possible percept sequence.</a:t>
            </a:r>
            <a:endParaRPr lang="en-US" sz="1350" b="0" u="none" strike="noStrike">
              <a:solidFill>
                <a:srgbClr val="000000"/>
              </a:solidFill>
              <a:effectLst/>
              <a:uFillTx/>
              <a:latin typeface="Arial"/>
            </a:endParaRPr>
          </a:p>
        </p:txBody>
      </p:sp>
      <p:sp>
        <p:nvSpPr>
          <p:cNvPr id="361" name="Shape 16"/>
          <p:cNvSpPr/>
          <p:nvPr/>
        </p:nvSpPr>
        <p:spPr>
          <a:xfrm>
            <a:off x="1005840" y="4343400"/>
            <a:ext cx="10149840" cy="360"/>
          </a:xfrm>
          <a:prstGeom prst="line">
            <a:avLst/>
          </a:prstGeom>
          <a:ln w="25400">
            <a:solidFill>
              <a:srgbClr val="CBD5E1"/>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62" name="Text 17"/>
          <p:cNvSpPr/>
          <p:nvPr/>
        </p:nvSpPr>
        <p:spPr>
          <a:xfrm>
            <a:off x="1005840" y="4681800"/>
            <a:ext cx="101491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100" b="1" u="none" strike="noStrike">
                <a:solidFill>
                  <a:srgbClr val="0B2B5C"/>
                </a:solidFill>
                <a:effectLst/>
                <a:uFillTx/>
                <a:latin typeface="Aptos"/>
              </a:rPr>
              <a:t>Key challenge for AI</a:t>
            </a:r>
            <a:endParaRPr lang="en-US" sz="2100" b="0" u="none" strike="noStrike">
              <a:solidFill>
                <a:srgbClr val="000000"/>
              </a:solidFill>
              <a:effectLst/>
              <a:uFillTx/>
              <a:latin typeface="Arial"/>
            </a:endParaRPr>
          </a:p>
        </p:txBody>
      </p:sp>
      <p:sp>
        <p:nvSpPr>
          <p:cNvPr id="363" name="Text 18"/>
          <p:cNvSpPr/>
          <p:nvPr/>
        </p:nvSpPr>
        <p:spPr>
          <a:xfrm>
            <a:off x="1005840" y="5120640"/>
            <a:ext cx="1014912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1F3A"/>
                </a:solidFill>
                <a:effectLst/>
                <a:uFillTx/>
                <a:latin typeface="Aptos"/>
              </a:rPr>
              <a:t>Write small programs that produce rational behavior without enumerating every possible history.</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64"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5"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66"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2.4.2 Simple Reflex Agents: Vacuum Pseudocode</a:t>
            </a:r>
            <a:endParaRPr lang="en-US" sz="2300" b="0" u="none" strike="noStrike">
              <a:solidFill>
                <a:srgbClr val="000000"/>
              </a:solidFill>
              <a:effectLst/>
              <a:uFillTx/>
              <a:latin typeface="Arial"/>
            </a:endParaRPr>
          </a:p>
        </p:txBody>
      </p:sp>
      <p:sp>
        <p:nvSpPr>
          <p:cNvPr id="367"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368"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69"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17</a:t>
            </a:r>
          </a:p>
        </p:txBody>
      </p:sp>
      <p:sp>
        <p:nvSpPr>
          <p:cNvPr id="370" name="Text 6"/>
          <p:cNvSpPr/>
          <p:nvPr/>
        </p:nvSpPr>
        <p:spPr>
          <a:xfrm>
            <a:off x="822960" y="1078920"/>
            <a:ext cx="1051488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Select an action from the current percept only.</a:t>
            </a:r>
            <a:endParaRPr lang="en-US" sz="2000" b="0" u="none" strike="noStrike">
              <a:solidFill>
                <a:srgbClr val="000000"/>
              </a:solidFill>
              <a:effectLst/>
              <a:uFillTx/>
              <a:latin typeface="Arial"/>
            </a:endParaRPr>
          </a:p>
        </p:txBody>
      </p:sp>
      <p:pic>
        <p:nvPicPr>
          <p:cNvPr id="371" name="Image 0" descr="/mnt/data/ch2_docx_unzipped/word/media/image7.png"/>
          <p:cNvPicPr/>
          <p:nvPr/>
        </p:nvPicPr>
        <p:blipFill>
          <a:blip r:embed="rId1"/>
          <a:stretch/>
        </p:blipFill>
        <p:spPr>
          <a:xfrm>
            <a:off x="868680" y="1645920"/>
            <a:ext cx="6582960" cy="2193840"/>
          </a:xfrm>
          <a:prstGeom prst="rect">
            <a:avLst/>
          </a:prstGeom>
          <a:noFill/>
          <a:ln w="0">
            <a:noFill/>
          </a:ln>
        </p:spPr>
      </p:pic>
      <p:sp>
        <p:nvSpPr>
          <p:cNvPr id="372" name="Shape 7"/>
          <p:cNvSpPr/>
          <p:nvPr/>
        </p:nvSpPr>
        <p:spPr>
          <a:xfrm>
            <a:off x="7589520" y="1691640"/>
            <a:ext cx="3611160" cy="1508040"/>
          </a:xfrm>
          <a:prstGeom prst="roundRect">
            <a:avLst>
              <a:gd name="adj" fmla="val 363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3" name="Text 8"/>
          <p:cNvSpPr/>
          <p:nvPr/>
        </p:nvSpPr>
        <p:spPr>
          <a:xfrm>
            <a:off x="7754040" y="1837800"/>
            <a:ext cx="3282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B7A45"/>
                </a:solidFill>
                <a:effectLst/>
                <a:uFillTx/>
                <a:latin typeface="Aptos"/>
              </a:rPr>
              <a:t>Vacuum rule</a:t>
            </a:r>
            <a:endParaRPr lang="en-US" sz="1700" b="0" u="none" strike="noStrike">
              <a:solidFill>
                <a:srgbClr val="000000"/>
              </a:solidFill>
              <a:effectLst/>
              <a:uFillTx/>
              <a:latin typeface="Arial"/>
            </a:endParaRPr>
          </a:p>
        </p:txBody>
      </p:sp>
      <p:sp>
        <p:nvSpPr>
          <p:cNvPr id="374" name="Text 9"/>
          <p:cNvSpPr/>
          <p:nvPr/>
        </p:nvSpPr>
        <p:spPr>
          <a:xfrm>
            <a:off x="7754040" y="2167200"/>
            <a:ext cx="3282120" cy="9136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if status = Dirty then Suck</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0B1F3A"/>
                </a:solidFill>
                <a:effectLst/>
                <a:uFillTx/>
                <a:latin typeface="Aptos"/>
              </a:rPr>
              <a:t>else if location = A then Right</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0B1F3A"/>
                </a:solidFill>
                <a:effectLst/>
                <a:uFillTx/>
                <a:latin typeface="Aptos"/>
              </a:rPr>
              <a:t>else if location = B then Left</a:t>
            </a:r>
            <a:endParaRPr lang="en-US" sz="1350" b="0" u="none" strike="noStrike">
              <a:solidFill>
                <a:srgbClr val="000000"/>
              </a:solidFill>
              <a:effectLst/>
              <a:uFillTx/>
              <a:latin typeface="Arial"/>
            </a:endParaRPr>
          </a:p>
        </p:txBody>
      </p:sp>
      <p:sp>
        <p:nvSpPr>
          <p:cNvPr id="375" name="Shape 10"/>
          <p:cNvSpPr/>
          <p:nvPr/>
        </p:nvSpPr>
        <p:spPr>
          <a:xfrm>
            <a:off x="7589520" y="3456360"/>
            <a:ext cx="361116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6" name="Text 11"/>
          <p:cNvSpPr/>
          <p:nvPr/>
        </p:nvSpPr>
        <p:spPr>
          <a:xfrm>
            <a:off x="7754040" y="3602880"/>
            <a:ext cx="3282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6CB0"/>
                </a:solidFill>
                <a:effectLst/>
                <a:uFillTx/>
                <a:latin typeface="Aptos"/>
              </a:rPr>
              <a:t>Why this is reflex</a:t>
            </a:r>
            <a:endParaRPr lang="en-US" sz="1700" b="0" u="none" strike="noStrike">
              <a:solidFill>
                <a:srgbClr val="000000"/>
              </a:solidFill>
              <a:effectLst/>
              <a:uFillTx/>
              <a:latin typeface="Arial"/>
            </a:endParaRPr>
          </a:p>
        </p:txBody>
      </p:sp>
      <p:sp>
        <p:nvSpPr>
          <p:cNvPr id="377" name="Text 12"/>
          <p:cNvSpPr/>
          <p:nvPr/>
        </p:nvSpPr>
        <p:spPr>
          <a:xfrm>
            <a:off x="7754040" y="3931920"/>
            <a:ext cx="328212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The action depends only on current location and dirt status, not the entire percept history.</a:t>
            </a:r>
            <a:endParaRPr lang="en-US" sz="1350" b="0" u="none" strike="noStrike">
              <a:solidFill>
                <a:srgbClr val="000000"/>
              </a:solidFill>
              <a:effectLst/>
              <a:uFillTx/>
              <a:latin typeface="Arial"/>
            </a:endParaRPr>
          </a:p>
        </p:txBody>
      </p:sp>
      <p:sp>
        <p:nvSpPr>
          <p:cNvPr id="378" name="Text 13"/>
          <p:cNvSpPr/>
          <p:nvPr/>
        </p:nvSpPr>
        <p:spPr>
          <a:xfrm>
            <a:off x="868680" y="5577840"/>
            <a:ext cx="103320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Strength: fast and compact. Weakness: brittle when the current percept is incomplete.</a:t>
            </a:r>
            <a:endParaRPr lang="en-US" sz="1800" b="0" u="none" strike="noStrike">
              <a:solidFill>
                <a:srgbClr val="000000"/>
              </a:solidFill>
              <a:effectLst/>
              <a:uFillTx/>
              <a:latin typeface="Arial"/>
            </a:endParaRPr>
          </a:p>
        </p:txBody>
      </p:sp>
      <p:sp>
        <p:nvSpPr>
          <p:cNvPr id="379" name="Text 14"/>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2.8</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80"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1"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82"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2.4.2 General Simple Reflex Agent</a:t>
            </a:r>
            <a:endParaRPr lang="en-US" sz="2300" b="0" u="none" strike="noStrike">
              <a:solidFill>
                <a:srgbClr val="000000"/>
              </a:solidFill>
              <a:effectLst/>
              <a:uFillTx/>
              <a:latin typeface="Arial"/>
            </a:endParaRPr>
          </a:p>
        </p:txBody>
      </p:sp>
      <p:sp>
        <p:nvSpPr>
          <p:cNvPr id="383"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384"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85"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18</a:t>
            </a:r>
          </a:p>
        </p:txBody>
      </p:sp>
      <p:pic>
        <p:nvPicPr>
          <p:cNvPr id="386" name="Image 0" descr="/mnt/data/ch2_docx_unzipped/word/media/image8.png"/>
          <p:cNvPicPr/>
          <p:nvPr/>
        </p:nvPicPr>
        <p:blipFill>
          <a:blip r:embed="rId1"/>
          <a:stretch/>
        </p:blipFill>
        <p:spPr>
          <a:xfrm>
            <a:off x="457200" y="1371600"/>
            <a:ext cx="5257440" cy="4138200"/>
          </a:xfrm>
          <a:prstGeom prst="rect">
            <a:avLst/>
          </a:prstGeom>
          <a:noFill/>
          <a:ln w="0">
            <a:noFill/>
          </a:ln>
        </p:spPr>
      </p:pic>
      <p:pic>
        <p:nvPicPr>
          <p:cNvPr id="387" name="Image 1" descr="/mnt/data/ch2_docx_unzipped/word/media/image9.png"/>
          <p:cNvPicPr/>
          <p:nvPr/>
        </p:nvPicPr>
        <p:blipFill>
          <a:blip r:embed="rId2"/>
          <a:stretch/>
        </p:blipFill>
        <p:spPr>
          <a:xfrm>
            <a:off x="6315480" y="1463040"/>
            <a:ext cx="5107680" cy="2376720"/>
          </a:xfrm>
          <a:prstGeom prst="rect">
            <a:avLst/>
          </a:prstGeom>
          <a:noFill/>
          <a:ln w="0">
            <a:noFill/>
          </a:ln>
        </p:spPr>
      </p:pic>
      <p:sp>
        <p:nvSpPr>
          <p:cNvPr id="388" name="Shape 6"/>
          <p:cNvSpPr/>
          <p:nvPr/>
        </p:nvSpPr>
        <p:spPr>
          <a:xfrm>
            <a:off x="6217920" y="4160520"/>
            <a:ext cx="5257080" cy="822240"/>
          </a:xfrm>
          <a:prstGeom prst="roundRect">
            <a:avLst>
              <a:gd name="adj" fmla="val 6667"/>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9" name="Text 7"/>
          <p:cNvSpPr/>
          <p:nvPr/>
        </p:nvSpPr>
        <p:spPr>
          <a:xfrm>
            <a:off x="6382440" y="4306680"/>
            <a:ext cx="49280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48A97"/>
                </a:solidFill>
                <a:effectLst/>
                <a:uFillTx/>
                <a:latin typeface="Aptos"/>
              </a:rPr>
              <a:t>General pattern</a:t>
            </a:r>
            <a:endParaRPr lang="en-US" sz="1600" b="0" u="none" strike="noStrike">
              <a:solidFill>
                <a:srgbClr val="000000"/>
              </a:solidFill>
              <a:effectLst/>
              <a:uFillTx/>
              <a:latin typeface="Arial"/>
            </a:endParaRPr>
          </a:p>
        </p:txBody>
      </p:sp>
      <p:sp>
        <p:nvSpPr>
          <p:cNvPr id="390" name="Text 8"/>
          <p:cNvSpPr/>
          <p:nvPr/>
        </p:nvSpPr>
        <p:spPr>
          <a:xfrm>
            <a:off x="6382440" y="4636080"/>
            <a:ext cx="4928040" cy="227880"/>
          </a:xfrm>
          <a:prstGeom prst="rect">
            <a:avLst/>
          </a:prstGeom>
          <a:noFill/>
          <a:ln w="0">
            <a:noFill/>
          </a:ln>
        </p:spPr>
        <p:style>
          <a:lnRef idx="0"/>
          <a:fillRef idx="0"/>
          <a:effectRef idx="0"/>
          <a:fontRef idx="minor"/>
        </p:style>
        <p:txBody>
          <a:bodyPr lIns="360" tIns="360" rIns="360" bIns="360" anchor="ctr">
            <a:normAutofit fontScale="85000" lnSpcReduction="9999"/>
          </a:bodyPr>
          <a:p>
            <a:pPr defTabSz="914400">
              <a:lnSpc>
                <a:spcPct val="100000"/>
              </a:lnSpc>
              <a:tabLst>
                <a:tab pos="0" algn="l"/>
              </a:tabLst>
            </a:pPr>
            <a:r>
              <a:rPr lang="en-US" sz="1250" b="0" u="none" strike="noStrike">
                <a:solidFill>
                  <a:srgbClr val="0B1F3A"/>
                </a:solidFill>
                <a:effectLst/>
                <a:uFillTx/>
                <a:latin typeface="Aptos"/>
              </a:rPr>
              <a:t>Interpret current percept -&gt; match condition-action rule -&gt; return rule action.</a:t>
            </a:r>
            <a:endParaRPr lang="en-US" sz="1250" b="0" u="none" strike="noStrike">
              <a:solidFill>
                <a:srgbClr val="000000"/>
              </a:solidFill>
              <a:effectLst/>
              <a:uFillTx/>
              <a:latin typeface="Arial"/>
            </a:endParaRPr>
          </a:p>
        </p:txBody>
      </p:sp>
      <p:sp>
        <p:nvSpPr>
          <p:cNvPr id="391" name="Shape 9"/>
          <p:cNvSpPr/>
          <p:nvPr/>
        </p:nvSpPr>
        <p:spPr>
          <a:xfrm>
            <a:off x="6217920" y="5212080"/>
            <a:ext cx="5257080" cy="776520"/>
          </a:xfrm>
          <a:prstGeom prst="roundRect">
            <a:avLst>
              <a:gd name="adj" fmla="val 7059"/>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2" name="Text 10"/>
          <p:cNvSpPr/>
          <p:nvPr/>
        </p:nvSpPr>
        <p:spPr>
          <a:xfrm>
            <a:off x="6382440" y="5358240"/>
            <a:ext cx="49280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A32020"/>
                </a:solidFill>
                <a:effectLst/>
                <a:uFillTx/>
                <a:latin typeface="Aptos"/>
              </a:rPr>
              <a:t>Key limitation</a:t>
            </a:r>
            <a:endParaRPr lang="en-US" sz="1600" b="0" u="none" strike="noStrike">
              <a:solidFill>
                <a:srgbClr val="000000"/>
              </a:solidFill>
              <a:effectLst/>
              <a:uFillTx/>
              <a:latin typeface="Arial"/>
            </a:endParaRPr>
          </a:p>
        </p:txBody>
      </p:sp>
      <p:sp>
        <p:nvSpPr>
          <p:cNvPr id="393" name="Text 11"/>
          <p:cNvSpPr/>
          <p:nvPr/>
        </p:nvSpPr>
        <p:spPr>
          <a:xfrm>
            <a:off x="6382440" y="5687640"/>
            <a:ext cx="4928040" cy="182160"/>
          </a:xfrm>
          <a:prstGeom prst="rect">
            <a:avLst/>
          </a:prstGeom>
          <a:noFill/>
          <a:ln w="0">
            <a:noFill/>
          </a:ln>
        </p:spPr>
        <p:style>
          <a:lnRef idx="0"/>
          <a:fillRef idx="0"/>
          <a:effectRef idx="0"/>
          <a:fontRef idx="minor"/>
        </p:style>
        <p:txBody>
          <a:bodyPr lIns="360" tIns="360" rIns="360" bIns="360" anchor="ctr">
            <a:normAutofit fontScale="77500" lnSpcReduction="19999"/>
          </a:bodyPr>
          <a:p>
            <a:pPr defTabSz="914400">
              <a:lnSpc>
                <a:spcPct val="100000"/>
              </a:lnSpc>
              <a:tabLst>
                <a:tab pos="0" algn="l"/>
              </a:tabLst>
            </a:pPr>
            <a:r>
              <a:rPr lang="en-US" sz="1250" b="0" u="none" strike="noStrike">
                <a:solidFill>
                  <a:srgbClr val="0B1F3A"/>
                </a:solidFill>
                <a:effectLst/>
                <a:uFillTx/>
                <a:latin typeface="Aptos"/>
              </a:rPr>
              <a:t>If the current percept does not reveal enough state, the rule may choose the wrong action.</a:t>
            </a:r>
            <a:endParaRPr lang="en-US" sz="1250" b="0" u="none" strike="noStrike">
              <a:solidFill>
                <a:srgbClr val="000000"/>
              </a:solidFill>
              <a:effectLst/>
              <a:uFillTx/>
              <a:latin typeface="Arial"/>
            </a:endParaRPr>
          </a:p>
        </p:txBody>
      </p:sp>
      <p:sp>
        <p:nvSpPr>
          <p:cNvPr id="394" name="Text 12"/>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Figures 2.9 and 2.10</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395"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96"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397"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When Simple Reflex Fails: Partial Observability</a:t>
            </a:r>
            <a:endParaRPr lang="en-US" sz="2300" b="0" u="none" strike="noStrike">
              <a:solidFill>
                <a:srgbClr val="000000"/>
              </a:solidFill>
              <a:effectLst/>
              <a:uFillTx/>
              <a:latin typeface="Arial"/>
            </a:endParaRPr>
          </a:p>
        </p:txBody>
      </p:sp>
      <p:sp>
        <p:nvSpPr>
          <p:cNvPr id="398"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399"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00"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19</a:t>
            </a:r>
          </a:p>
        </p:txBody>
      </p:sp>
      <p:sp>
        <p:nvSpPr>
          <p:cNvPr id="401" name="Shape 6"/>
          <p:cNvSpPr/>
          <p:nvPr/>
        </p:nvSpPr>
        <p:spPr>
          <a:xfrm>
            <a:off x="822960" y="1280160"/>
            <a:ext cx="329112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2" name="Text 7"/>
          <p:cNvSpPr/>
          <p:nvPr/>
        </p:nvSpPr>
        <p:spPr>
          <a:xfrm>
            <a:off x="987480" y="142632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A32020"/>
                </a:solidFill>
                <a:effectLst/>
                <a:uFillTx/>
                <a:latin typeface="Aptos"/>
              </a:rPr>
              <a:t>Problem</a:t>
            </a:r>
            <a:endParaRPr lang="en-US" sz="1800" b="0" u="none" strike="noStrike">
              <a:solidFill>
                <a:srgbClr val="000000"/>
              </a:solidFill>
              <a:effectLst/>
              <a:uFillTx/>
              <a:latin typeface="Arial"/>
            </a:endParaRPr>
          </a:p>
        </p:txBody>
      </p:sp>
      <p:sp>
        <p:nvSpPr>
          <p:cNvPr id="403" name="Text 8"/>
          <p:cNvSpPr/>
          <p:nvPr/>
        </p:nvSpPr>
        <p:spPr>
          <a:xfrm>
            <a:off x="987480" y="1755720"/>
            <a:ext cx="2962080" cy="54792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350" b="0" u="none" strike="noStrike">
                <a:solidFill>
                  <a:srgbClr val="0B1F3A"/>
                </a:solidFill>
                <a:effectLst/>
                <a:uFillTx/>
                <a:latin typeface="Aptos"/>
              </a:rPr>
              <a:t>The current percept does not contain enough information to choose correctly.</a:t>
            </a:r>
            <a:endParaRPr lang="en-US" sz="1350" b="0" u="none" strike="noStrike">
              <a:solidFill>
                <a:srgbClr val="000000"/>
              </a:solidFill>
              <a:effectLst/>
              <a:uFillTx/>
              <a:latin typeface="Arial"/>
            </a:endParaRPr>
          </a:p>
        </p:txBody>
      </p:sp>
      <p:sp>
        <p:nvSpPr>
          <p:cNvPr id="404" name="Shape 9"/>
          <p:cNvSpPr/>
          <p:nvPr/>
        </p:nvSpPr>
        <p:spPr>
          <a:xfrm>
            <a:off x="4434840" y="1280160"/>
            <a:ext cx="329112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5" name="Text 10"/>
          <p:cNvSpPr/>
          <p:nvPr/>
        </p:nvSpPr>
        <p:spPr>
          <a:xfrm>
            <a:off x="4599360" y="142632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5A21B"/>
                </a:solidFill>
                <a:effectLst/>
                <a:uFillTx/>
                <a:latin typeface="Aptos"/>
              </a:rPr>
              <a:t>Vacuum example</a:t>
            </a:r>
            <a:endParaRPr lang="en-US" sz="1800" b="0" u="none" strike="noStrike">
              <a:solidFill>
                <a:srgbClr val="000000"/>
              </a:solidFill>
              <a:effectLst/>
              <a:uFillTx/>
              <a:latin typeface="Arial"/>
            </a:endParaRPr>
          </a:p>
        </p:txBody>
      </p:sp>
      <p:sp>
        <p:nvSpPr>
          <p:cNvPr id="406" name="Text 11"/>
          <p:cNvSpPr/>
          <p:nvPr/>
        </p:nvSpPr>
        <p:spPr>
          <a:xfrm>
            <a:off x="4599360" y="1755720"/>
            <a:ext cx="2962080" cy="54792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350" b="0" u="none" strike="noStrike">
                <a:solidFill>
                  <a:srgbClr val="0B1F3A"/>
                </a:solidFill>
                <a:effectLst/>
                <a:uFillTx/>
                <a:latin typeface="Aptos"/>
              </a:rPr>
              <a:t>If the agent sees only Clean/Dirty but not location, moving Left or Right can loop forever.</a:t>
            </a:r>
            <a:endParaRPr lang="en-US" sz="1350" b="0" u="none" strike="noStrike">
              <a:solidFill>
                <a:srgbClr val="000000"/>
              </a:solidFill>
              <a:effectLst/>
              <a:uFillTx/>
              <a:latin typeface="Arial"/>
            </a:endParaRPr>
          </a:p>
        </p:txBody>
      </p:sp>
      <p:sp>
        <p:nvSpPr>
          <p:cNvPr id="407" name="Shape 12"/>
          <p:cNvSpPr/>
          <p:nvPr/>
        </p:nvSpPr>
        <p:spPr>
          <a:xfrm>
            <a:off x="8046720" y="1280160"/>
            <a:ext cx="329112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8" name="Text 13"/>
          <p:cNvSpPr/>
          <p:nvPr/>
        </p:nvSpPr>
        <p:spPr>
          <a:xfrm>
            <a:off x="8211240" y="142632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5B35B1"/>
                </a:solidFill>
                <a:effectLst/>
                <a:uFillTx/>
                <a:latin typeface="Aptos"/>
              </a:rPr>
              <a:t>Temporary fix</a:t>
            </a:r>
            <a:endParaRPr lang="en-US" sz="1800" b="0" u="none" strike="noStrike">
              <a:solidFill>
                <a:srgbClr val="000000"/>
              </a:solidFill>
              <a:effectLst/>
              <a:uFillTx/>
              <a:latin typeface="Arial"/>
            </a:endParaRPr>
          </a:p>
        </p:txBody>
      </p:sp>
      <p:sp>
        <p:nvSpPr>
          <p:cNvPr id="409" name="Text 14"/>
          <p:cNvSpPr/>
          <p:nvPr/>
        </p:nvSpPr>
        <p:spPr>
          <a:xfrm>
            <a:off x="8211240" y="1755720"/>
            <a:ext cx="2962080" cy="54792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350" b="0" u="none" strike="noStrike">
                <a:solidFill>
                  <a:srgbClr val="0B1F3A"/>
                </a:solidFill>
                <a:effectLst/>
                <a:uFillTx/>
                <a:latin typeface="Aptos"/>
              </a:rPr>
              <a:t>Randomization can sometimes escape loops, but it is not general intelligence.</a:t>
            </a:r>
            <a:endParaRPr lang="en-US" sz="1350" b="0" u="none" strike="noStrike">
              <a:solidFill>
                <a:srgbClr val="000000"/>
              </a:solidFill>
              <a:effectLst/>
              <a:uFillTx/>
              <a:latin typeface="Arial"/>
            </a:endParaRPr>
          </a:p>
        </p:txBody>
      </p:sp>
      <p:sp>
        <p:nvSpPr>
          <p:cNvPr id="410" name="Text 15"/>
          <p:cNvSpPr/>
          <p:nvPr/>
        </p:nvSpPr>
        <p:spPr>
          <a:xfrm>
            <a:off x="914400" y="3063240"/>
            <a:ext cx="103320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B2B5C"/>
                </a:solidFill>
                <a:effectLst/>
                <a:uFillTx/>
                <a:latin typeface="Aptos"/>
              </a:rPr>
              <a:t>Better solution: maintain internal state or use a model of the world.</a:t>
            </a:r>
            <a:endParaRPr lang="en-US" sz="2200" b="0" u="none" strike="noStrike">
              <a:solidFill>
                <a:srgbClr val="000000"/>
              </a:solidFill>
              <a:effectLst/>
              <a:uFillTx/>
              <a:latin typeface="Arial"/>
            </a:endParaRPr>
          </a:p>
        </p:txBody>
      </p:sp>
      <p:sp>
        <p:nvSpPr>
          <p:cNvPr id="411" name="Shape 16"/>
          <p:cNvSpPr/>
          <p:nvPr/>
        </p:nvSpPr>
        <p:spPr>
          <a:xfrm>
            <a:off x="1645920" y="4160520"/>
            <a:ext cx="1370880" cy="685080"/>
          </a:xfrm>
          <a:prstGeom prst="roundRect">
            <a:avLst>
              <a:gd name="adj" fmla="val 9333"/>
            </a:avLst>
          </a:prstGeom>
          <a:solidFill>
            <a:srgbClr val="2B6CB0"/>
          </a:solidFill>
          <a:ln w="12700">
            <a:solidFill>
              <a:srgbClr val="2B6CB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2" name="Text 17"/>
          <p:cNvSpPr/>
          <p:nvPr/>
        </p:nvSpPr>
        <p:spPr>
          <a:xfrm>
            <a:off x="1645920" y="4370760"/>
            <a:ext cx="1370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percept</a:t>
            </a:r>
            <a:endParaRPr lang="en-US" sz="1400" b="0" u="none" strike="noStrike">
              <a:solidFill>
                <a:srgbClr val="000000"/>
              </a:solidFill>
              <a:effectLst/>
              <a:uFillTx/>
              <a:latin typeface="Arial"/>
            </a:endParaRPr>
          </a:p>
        </p:txBody>
      </p:sp>
      <p:sp>
        <p:nvSpPr>
          <p:cNvPr id="413" name="Shape 18"/>
          <p:cNvSpPr/>
          <p:nvPr/>
        </p:nvSpPr>
        <p:spPr>
          <a:xfrm>
            <a:off x="3108960" y="4507920"/>
            <a:ext cx="731520" cy="360"/>
          </a:xfrm>
          <a:prstGeom prst="line">
            <a:avLst/>
          </a:prstGeom>
          <a:ln w="1651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14" name="Shape 19"/>
          <p:cNvSpPr/>
          <p:nvPr/>
        </p:nvSpPr>
        <p:spPr>
          <a:xfrm>
            <a:off x="3977640" y="4160520"/>
            <a:ext cx="1370880" cy="685080"/>
          </a:xfrm>
          <a:prstGeom prst="roundRect">
            <a:avLst>
              <a:gd name="adj" fmla="val 9333"/>
            </a:avLst>
          </a:prstGeom>
          <a:solidFill>
            <a:srgbClr val="048A97"/>
          </a:solidFill>
          <a:ln w="12700">
            <a:solidFill>
              <a:srgbClr val="048A9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5" name="Text 20"/>
          <p:cNvSpPr/>
          <p:nvPr/>
        </p:nvSpPr>
        <p:spPr>
          <a:xfrm>
            <a:off x="3977640" y="4370760"/>
            <a:ext cx="1370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memory</a:t>
            </a:r>
            <a:endParaRPr lang="en-US" sz="1400" b="0" u="none" strike="noStrike">
              <a:solidFill>
                <a:srgbClr val="000000"/>
              </a:solidFill>
              <a:effectLst/>
              <a:uFillTx/>
              <a:latin typeface="Arial"/>
            </a:endParaRPr>
          </a:p>
        </p:txBody>
      </p:sp>
      <p:sp>
        <p:nvSpPr>
          <p:cNvPr id="416" name="Shape 21"/>
          <p:cNvSpPr/>
          <p:nvPr/>
        </p:nvSpPr>
        <p:spPr>
          <a:xfrm>
            <a:off x="5440680" y="4507920"/>
            <a:ext cx="731520" cy="360"/>
          </a:xfrm>
          <a:prstGeom prst="line">
            <a:avLst/>
          </a:prstGeom>
          <a:ln w="1651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17" name="Shape 22"/>
          <p:cNvSpPr/>
          <p:nvPr/>
        </p:nvSpPr>
        <p:spPr>
          <a:xfrm>
            <a:off x="6309360" y="4160520"/>
            <a:ext cx="1370880" cy="685080"/>
          </a:xfrm>
          <a:prstGeom prst="roundRect">
            <a:avLst>
              <a:gd name="adj" fmla="val 9333"/>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8" name="Text 23"/>
          <p:cNvSpPr/>
          <p:nvPr/>
        </p:nvSpPr>
        <p:spPr>
          <a:xfrm>
            <a:off x="6309360" y="4370760"/>
            <a:ext cx="1370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model</a:t>
            </a:r>
            <a:endParaRPr lang="en-US" sz="1400" b="0" u="none" strike="noStrike">
              <a:solidFill>
                <a:srgbClr val="000000"/>
              </a:solidFill>
              <a:effectLst/>
              <a:uFillTx/>
              <a:latin typeface="Arial"/>
            </a:endParaRPr>
          </a:p>
        </p:txBody>
      </p:sp>
      <p:sp>
        <p:nvSpPr>
          <p:cNvPr id="419" name="Shape 24"/>
          <p:cNvSpPr/>
          <p:nvPr/>
        </p:nvSpPr>
        <p:spPr>
          <a:xfrm>
            <a:off x="7772400" y="4507920"/>
            <a:ext cx="731520" cy="360"/>
          </a:xfrm>
          <a:prstGeom prst="line">
            <a:avLst/>
          </a:prstGeom>
          <a:ln w="16510">
            <a:solidFill>
              <a:srgbClr val="66708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20" name="Shape 25"/>
          <p:cNvSpPr/>
          <p:nvPr/>
        </p:nvSpPr>
        <p:spPr>
          <a:xfrm>
            <a:off x="8641080" y="4160520"/>
            <a:ext cx="1370880" cy="685080"/>
          </a:xfrm>
          <a:prstGeom prst="roundRect">
            <a:avLst>
              <a:gd name="adj" fmla="val 9333"/>
            </a:avLst>
          </a:prstGeom>
          <a:solidFill>
            <a:srgbClr val="1B7A45"/>
          </a:solidFill>
          <a:ln w="12700">
            <a:solidFill>
              <a:srgbClr val="1B7A4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1" name="Text 26"/>
          <p:cNvSpPr/>
          <p:nvPr/>
        </p:nvSpPr>
        <p:spPr>
          <a:xfrm>
            <a:off x="8641080" y="4370760"/>
            <a:ext cx="1370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action</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22"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3"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24"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2.4.3 Model-Based Reflex Agents</a:t>
            </a:r>
            <a:endParaRPr lang="en-US" sz="2300" b="0" u="none" strike="noStrike">
              <a:solidFill>
                <a:srgbClr val="000000"/>
              </a:solidFill>
              <a:effectLst/>
              <a:uFillTx/>
              <a:latin typeface="Arial"/>
            </a:endParaRPr>
          </a:p>
        </p:txBody>
      </p:sp>
      <p:sp>
        <p:nvSpPr>
          <p:cNvPr id="425"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2.4.3</a:t>
            </a:r>
            <a:endParaRPr lang="en-US" sz="1200" b="0" u="none" strike="noStrike">
              <a:solidFill>
                <a:srgbClr val="000000"/>
              </a:solidFill>
              <a:effectLst/>
              <a:uFillTx/>
              <a:latin typeface="Arial"/>
            </a:endParaRPr>
          </a:p>
        </p:txBody>
      </p:sp>
      <p:sp>
        <p:nvSpPr>
          <p:cNvPr id="426"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27"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20</a:t>
            </a:r>
          </a:p>
        </p:txBody>
      </p:sp>
      <p:sp>
        <p:nvSpPr>
          <p:cNvPr id="428" name="Text 6"/>
          <p:cNvSpPr/>
          <p:nvPr/>
        </p:nvSpPr>
        <p:spPr>
          <a:xfrm>
            <a:off x="777240" y="107892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Maintain internal state: a best guess about what the world is like now.</a:t>
            </a:r>
            <a:endParaRPr lang="en-US" sz="2000" b="0" u="none" strike="noStrike">
              <a:solidFill>
                <a:srgbClr val="000000"/>
              </a:solidFill>
              <a:effectLst/>
              <a:uFillTx/>
              <a:latin typeface="Arial"/>
            </a:endParaRPr>
          </a:p>
        </p:txBody>
      </p:sp>
      <p:pic>
        <p:nvPicPr>
          <p:cNvPr id="429" name="Image 0" descr="/mnt/data/fig2_11_model_based_diagram.png"/>
          <p:cNvPicPr/>
          <p:nvPr/>
        </p:nvPicPr>
        <p:blipFill>
          <a:blip r:embed="rId1"/>
          <a:stretch/>
        </p:blipFill>
        <p:spPr>
          <a:xfrm>
            <a:off x="1052640" y="1600200"/>
            <a:ext cx="5346000" cy="3885480"/>
          </a:xfrm>
          <a:prstGeom prst="rect">
            <a:avLst/>
          </a:prstGeom>
          <a:noFill/>
          <a:ln w="0">
            <a:noFill/>
          </a:ln>
        </p:spPr>
      </p:pic>
      <p:sp>
        <p:nvSpPr>
          <p:cNvPr id="430" name="Shape 7"/>
          <p:cNvSpPr/>
          <p:nvPr/>
        </p:nvSpPr>
        <p:spPr>
          <a:xfrm>
            <a:off x="7086600" y="1691640"/>
            <a:ext cx="42512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1" name="Text 8"/>
          <p:cNvSpPr/>
          <p:nvPr/>
        </p:nvSpPr>
        <p:spPr>
          <a:xfrm>
            <a:off x="7251120" y="183780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48A97"/>
                </a:solidFill>
                <a:effectLst/>
                <a:uFillTx/>
                <a:latin typeface="Aptos"/>
              </a:rPr>
              <a:t>Transition model</a:t>
            </a:r>
            <a:endParaRPr lang="en-US" sz="1700" b="0" u="none" strike="noStrike">
              <a:solidFill>
                <a:srgbClr val="000000"/>
              </a:solidFill>
              <a:effectLst/>
              <a:uFillTx/>
              <a:latin typeface="Arial"/>
            </a:endParaRPr>
          </a:p>
        </p:txBody>
      </p:sp>
      <p:sp>
        <p:nvSpPr>
          <p:cNvPr id="432" name="Text 9"/>
          <p:cNvSpPr/>
          <p:nvPr/>
        </p:nvSpPr>
        <p:spPr>
          <a:xfrm>
            <a:off x="7251120" y="2167200"/>
            <a:ext cx="3922200" cy="36504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1300" b="0" u="none" strike="noStrike">
                <a:solidFill>
                  <a:srgbClr val="0B1F3A"/>
                </a:solidFill>
                <a:effectLst/>
                <a:uFillTx/>
                <a:latin typeface="Aptos"/>
              </a:rPr>
              <a:t>How the world changes over time and how actions affect it.</a:t>
            </a:r>
            <a:endParaRPr lang="en-US" sz="1300" b="0" u="none" strike="noStrike">
              <a:solidFill>
                <a:srgbClr val="000000"/>
              </a:solidFill>
              <a:effectLst/>
              <a:uFillTx/>
              <a:latin typeface="Arial"/>
            </a:endParaRPr>
          </a:p>
        </p:txBody>
      </p:sp>
      <p:sp>
        <p:nvSpPr>
          <p:cNvPr id="433" name="Shape 10"/>
          <p:cNvSpPr/>
          <p:nvPr/>
        </p:nvSpPr>
        <p:spPr>
          <a:xfrm>
            <a:off x="7086600" y="2880360"/>
            <a:ext cx="42512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4" name="Text 11"/>
          <p:cNvSpPr/>
          <p:nvPr/>
        </p:nvSpPr>
        <p:spPr>
          <a:xfrm>
            <a:off x="7251120" y="302652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6CB0"/>
                </a:solidFill>
                <a:effectLst/>
                <a:uFillTx/>
                <a:latin typeface="Aptos"/>
              </a:rPr>
              <a:t>Sensor model</a:t>
            </a:r>
            <a:endParaRPr lang="en-US" sz="1700" b="0" u="none" strike="noStrike">
              <a:solidFill>
                <a:srgbClr val="000000"/>
              </a:solidFill>
              <a:effectLst/>
              <a:uFillTx/>
              <a:latin typeface="Arial"/>
            </a:endParaRPr>
          </a:p>
        </p:txBody>
      </p:sp>
      <p:sp>
        <p:nvSpPr>
          <p:cNvPr id="435" name="Text 12"/>
          <p:cNvSpPr/>
          <p:nvPr/>
        </p:nvSpPr>
        <p:spPr>
          <a:xfrm>
            <a:off x="7251120" y="3355920"/>
            <a:ext cx="392220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How world states generate percepts.</a:t>
            </a:r>
            <a:endParaRPr lang="en-US" sz="1300" b="0" u="none" strike="noStrike">
              <a:solidFill>
                <a:srgbClr val="000000"/>
              </a:solidFill>
              <a:effectLst/>
              <a:uFillTx/>
              <a:latin typeface="Arial"/>
            </a:endParaRPr>
          </a:p>
        </p:txBody>
      </p:sp>
      <p:sp>
        <p:nvSpPr>
          <p:cNvPr id="436" name="Shape 13"/>
          <p:cNvSpPr/>
          <p:nvPr/>
        </p:nvSpPr>
        <p:spPr>
          <a:xfrm>
            <a:off x="7086600" y="4069080"/>
            <a:ext cx="42512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7" name="Text 14"/>
          <p:cNvSpPr/>
          <p:nvPr/>
        </p:nvSpPr>
        <p:spPr>
          <a:xfrm>
            <a:off x="7251120" y="421524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5B35B1"/>
                </a:solidFill>
                <a:effectLst/>
                <a:uFillTx/>
                <a:latin typeface="Aptos"/>
              </a:rPr>
              <a:t>Internal state</a:t>
            </a:r>
            <a:endParaRPr lang="en-US" sz="1700" b="0" u="none" strike="noStrike">
              <a:solidFill>
                <a:srgbClr val="000000"/>
              </a:solidFill>
              <a:effectLst/>
              <a:uFillTx/>
              <a:latin typeface="Arial"/>
            </a:endParaRPr>
          </a:p>
        </p:txBody>
      </p:sp>
      <p:sp>
        <p:nvSpPr>
          <p:cNvPr id="438" name="Text 15"/>
          <p:cNvSpPr/>
          <p:nvPr/>
        </p:nvSpPr>
        <p:spPr>
          <a:xfrm>
            <a:off x="7251120" y="4544640"/>
            <a:ext cx="3922200" cy="3650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Tracks what is not evident in the current percept.</a:t>
            </a:r>
            <a:endParaRPr lang="en-US" sz="1300" b="0" u="none" strike="noStrike">
              <a:solidFill>
                <a:srgbClr val="000000"/>
              </a:solidFill>
              <a:effectLst/>
              <a:uFillTx/>
              <a:latin typeface="Arial"/>
            </a:endParaRPr>
          </a:p>
        </p:txBody>
      </p:sp>
      <p:sp>
        <p:nvSpPr>
          <p:cNvPr id="439" name="Text 16"/>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2.11</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40"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1"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42"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2.4.3 Model-Based Reflex Agent Pseudocode</a:t>
            </a:r>
            <a:endParaRPr lang="en-US" sz="2300" b="0" u="none" strike="noStrike">
              <a:solidFill>
                <a:srgbClr val="000000"/>
              </a:solidFill>
              <a:effectLst/>
              <a:uFillTx/>
              <a:latin typeface="Arial"/>
            </a:endParaRPr>
          </a:p>
        </p:txBody>
      </p:sp>
      <p:sp>
        <p:nvSpPr>
          <p:cNvPr id="443"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2.4.3</a:t>
            </a:r>
            <a:endParaRPr lang="en-US" sz="1200" b="0" u="none" strike="noStrike">
              <a:solidFill>
                <a:srgbClr val="000000"/>
              </a:solidFill>
              <a:effectLst/>
              <a:uFillTx/>
              <a:latin typeface="Arial"/>
            </a:endParaRPr>
          </a:p>
        </p:txBody>
      </p:sp>
      <p:sp>
        <p:nvSpPr>
          <p:cNvPr id="444"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45"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21</a:t>
            </a:r>
          </a:p>
        </p:txBody>
      </p:sp>
      <p:sp>
        <p:nvSpPr>
          <p:cNvPr id="446" name="Text 6"/>
          <p:cNvSpPr/>
          <p:nvPr/>
        </p:nvSpPr>
        <p:spPr>
          <a:xfrm>
            <a:off x="731520" y="1051560"/>
            <a:ext cx="107892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50" b="1" u="none" strike="noStrike">
                <a:solidFill>
                  <a:srgbClr val="0B2B5C"/>
                </a:solidFill>
                <a:effectLst/>
                <a:uFillTx/>
                <a:latin typeface="Aptos"/>
              </a:rPr>
              <a:t>The interesting step is UPDATE-STATE: combine old state, last action, current percept, transition model, and sensor model.</a:t>
            </a:r>
            <a:endParaRPr lang="en-US" sz="1750" b="0" u="none" strike="noStrike">
              <a:solidFill>
                <a:srgbClr val="000000"/>
              </a:solidFill>
              <a:effectLst/>
              <a:uFillTx/>
              <a:latin typeface="Arial"/>
            </a:endParaRPr>
          </a:p>
        </p:txBody>
      </p:sp>
      <p:pic>
        <p:nvPicPr>
          <p:cNvPr id="447" name="Image 0" descr="/mnt/data/fig2_12_model_based_pseudocode.png"/>
          <p:cNvPicPr/>
          <p:nvPr/>
        </p:nvPicPr>
        <p:blipFill>
          <a:blip r:embed="rId1"/>
          <a:stretch/>
        </p:blipFill>
        <p:spPr>
          <a:xfrm>
            <a:off x="2664720" y="1691640"/>
            <a:ext cx="6831360" cy="3382560"/>
          </a:xfrm>
          <a:prstGeom prst="rect">
            <a:avLst/>
          </a:prstGeom>
          <a:noFill/>
          <a:ln w="0">
            <a:noFill/>
          </a:ln>
        </p:spPr>
      </p:pic>
      <p:sp>
        <p:nvSpPr>
          <p:cNvPr id="448" name="Text 7"/>
          <p:cNvSpPr/>
          <p:nvPr/>
        </p:nvSpPr>
        <p:spPr>
          <a:xfrm>
            <a:off x="914400" y="5486400"/>
            <a:ext cx="103320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Partial observability means exact state may be impossible; the agent still must decide.</a:t>
            </a:r>
            <a:endParaRPr lang="en-US" sz="1800" b="0" u="none" strike="noStrike">
              <a:solidFill>
                <a:srgbClr val="000000"/>
              </a:solidFill>
              <a:effectLst/>
              <a:uFillTx/>
              <a:latin typeface="Arial"/>
            </a:endParaRPr>
          </a:p>
        </p:txBody>
      </p:sp>
      <p:sp>
        <p:nvSpPr>
          <p:cNvPr id="449" name="Text 8"/>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2.12</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50"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1"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52"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2.4.4 Goal-Based Agents</a:t>
            </a:r>
            <a:endParaRPr lang="en-US" sz="2300" b="0" u="none" strike="noStrike">
              <a:solidFill>
                <a:srgbClr val="000000"/>
              </a:solidFill>
              <a:effectLst/>
              <a:uFillTx/>
              <a:latin typeface="Arial"/>
            </a:endParaRPr>
          </a:p>
        </p:txBody>
      </p:sp>
      <p:sp>
        <p:nvSpPr>
          <p:cNvPr id="453"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2.4.4</a:t>
            </a:r>
            <a:endParaRPr lang="en-US" sz="1200" b="0" u="none" strike="noStrike">
              <a:solidFill>
                <a:srgbClr val="000000"/>
              </a:solidFill>
              <a:effectLst/>
              <a:uFillTx/>
              <a:latin typeface="Arial"/>
            </a:endParaRPr>
          </a:p>
        </p:txBody>
      </p:sp>
      <p:sp>
        <p:nvSpPr>
          <p:cNvPr id="454"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55"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22</a:t>
            </a:r>
          </a:p>
        </p:txBody>
      </p:sp>
      <p:sp>
        <p:nvSpPr>
          <p:cNvPr id="456" name="Text 6"/>
          <p:cNvSpPr/>
          <p:nvPr/>
        </p:nvSpPr>
        <p:spPr>
          <a:xfrm>
            <a:off x="777240" y="105156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A current state is not enough; the agent also needs a goal.</a:t>
            </a:r>
            <a:endParaRPr lang="en-US" sz="2000" b="0" u="none" strike="noStrike">
              <a:solidFill>
                <a:srgbClr val="000000"/>
              </a:solidFill>
              <a:effectLst/>
              <a:uFillTx/>
              <a:latin typeface="Arial"/>
            </a:endParaRPr>
          </a:p>
        </p:txBody>
      </p:sp>
      <p:pic>
        <p:nvPicPr>
          <p:cNvPr id="457" name="Image 0" descr="/mnt/data/ch2_docx_unzipped/word/media/image11.png"/>
          <p:cNvPicPr/>
          <p:nvPr/>
        </p:nvPicPr>
        <p:blipFill>
          <a:blip r:embed="rId1"/>
          <a:stretch/>
        </p:blipFill>
        <p:spPr>
          <a:xfrm>
            <a:off x="905400" y="1600200"/>
            <a:ext cx="5366880" cy="4114080"/>
          </a:xfrm>
          <a:prstGeom prst="rect">
            <a:avLst/>
          </a:prstGeom>
          <a:noFill/>
          <a:ln w="0">
            <a:noFill/>
          </a:ln>
        </p:spPr>
      </p:pic>
      <p:sp>
        <p:nvSpPr>
          <p:cNvPr id="458" name="Shape 7"/>
          <p:cNvSpPr/>
          <p:nvPr/>
        </p:nvSpPr>
        <p:spPr>
          <a:xfrm>
            <a:off x="6812280" y="1645920"/>
            <a:ext cx="44798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9" name="Text 8"/>
          <p:cNvSpPr/>
          <p:nvPr/>
        </p:nvSpPr>
        <p:spPr>
          <a:xfrm>
            <a:off x="6976800" y="1792080"/>
            <a:ext cx="4150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48A97"/>
                </a:solidFill>
                <a:effectLst/>
                <a:uFillTx/>
                <a:latin typeface="Aptos"/>
              </a:rPr>
              <a:t>Search / planning</a:t>
            </a:r>
            <a:endParaRPr lang="en-US" sz="1700" b="0" u="none" strike="noStrike">
              <a:solidFill>
                <a:srgbClr val="000000"/>
              </a:solidFill>
              <a:effectLst/>
              <a:uFillTx/>
              <a:latin typeface="Arial"/>
            </a:endParaRPr>
          </a:p>
        </p:txBody>
      </p:sp>
      <p:sp>
        <p:nvSpPr>
          <p:cNvPr id="460" name="Text 9"/>
          <p:cNvSpPr/>
          <p:nvPr/>
        </p:nvSpPr>
        <p:spPr>
          <a:xfrm>
            <a:off x="6976800" y="2121480"/>
            <a:ext cx="4150800" cy="36504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1300" b="0" u="none" strike="noStrike">
                <a:solidFill>
                  <a:srgbClr val="0B1F3A"/>
                </a:solidFill>
                <a:effectLst/>
                <a:uFillTx/>
                <a:latin typeface="Aptos"/>
              </a:rPr>
              <a:t>Find action sequences that achieve goals. This transitions to Chapters 3-5.</a:t>
            </a:r>
            <a:endParaRPr lang="en-US" sz="1300" b="0" u="none" strike="noStrike">
              <a:solidFill>
                <a:srgbClr val="000000"/>
              </a:solidFill>
              <a:effectLst/>
              <a:uFillTx/>
              <a:latin typeface="Arial"/>
            </a:endParaRPr>
          </a:p>
        </p:txBody>
      </p:sp>
      <p:sp>
        <p:nvSpPr>
          <p:cNvPr id="461" name="Shape 10"/>
          <p:cNvSpPr/>
          <p:nvPr/>
        </p:nvSpPr>
        <p:spPr>
          <a:xfrm>
            <a:off x="6812280" y="2880360"/>
            <a:ext cx="44798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2" name="Text 11"/>
          <p:cNvSpPr/>
          <p:nvPr/>
        </p:nvSpPr>
        <p:spPr>
          <a:xfrm>
            <a:off x="6976800" y="3026520"/>
            <a:ext cx="4150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B7A45"/>
                </a:solidFill>
                <a:effectLst/>
                <a:uFillTx/>
                <a:latin typeface="Aptos"/>
              </a:rPr>
              <a:t>Flexibility</a:t>
            </a:r>
            <a:endParaRPr lang="en-US" sz="1700" b="0" u="none" strike="noStrike">
              <a:solidFill>
                <a:srgbClr val="000000"/>
              </a:solidFill>
              <a:effectLst/>
              <a:uFillTx/>
              <a:latin typeface="Arial"/>
            </a:endParaRPr>
          </a:p>
        </p:txBody>
      </p:sp>
      <p:sp>
        <p:nvSpPr>
          <p:cNvPr id="463" name="Text 12"/>
          <p:cNvSpPr/>
          <p:nvPr/>
        </p:nvSpPr>
        <p:spPr>
          <a:xfrm>
            <a:off x="6976800" y="3355920"/>
            <a:ext cx="4150800" cy="36504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1300" b="0" u="none" strike="noStrike">
                <a:solidFill>
                  <a:srgbClr val="0B1F3A"/>
                </a:solidFill>
                <a:effectLst/>
                <a:uFillTx/>
                <a:latin typeface="Aptos"/>
              </a:rPr>
              <a:t>Change the destination, and the same knowledge can support new behavior.</a:t>
            </a:r>
            <a:endParaRPr lang="en-US" sz="1300" b="0" u="none" strike="noStrike">
              <a:solidFill>
                <a:srgbClr val="000000"/>
              </a:solidFill>
              <a:effectLst/>
              <a:uFillTx/>
              <a:latin typeface="Arial"/>
            </a:endParaRPr>
          </a:p>
        </p:txBody>
      </p:sp>
      <p:sp>
        <p:nvSpPr>
          <p:cNvPr id="464" name="Shape 13"/>
          <p:cNvSpPr/>
          <p:nvPr/>
        </p:nvSpPr>
        <p:spPr>
          <a:xfrm>
            <a:off x="6812280" y="4114800"/>
            <a:ext cx="4479840" cy="959400"/>
          </a:xfrm>
          <a:prstGeom prst="roundRect">
            <a:avLst>
              <a:gd name="adj" fmla="val 571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5" name="Text 14"/>
          <p:cNvSpPr/>
          <p:nvPr/>
        </p:nvSpPr>
        <p:spPr>
          <a:xfrm>
            <a:off x="6976800" y="4260960"/>
            <a:ext cx="4150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5A21B"/>
                </a:solidFill>
                <a:effectLst/>
                <a:uFillTx/>
                <a:latin typeface="Aptos"/>
              </a:rPr>
              <a:t>Cost</a:t>
            </a:r>
            <a:endParaRPr lang="en-US" sz="1700" b="0" u="none" strike="noStrike">
              <a:solidFill>
                <a:srgbClr val="000000"/>
              </a:solidFill>
              <a:effectLst/>
              <a:uFillTx/>
              <a:latin typeface="Arial"/>
            </a:endParaRPr>
          </a:p>
        </p:txBody>
      </p:sp>
      <p:sp>
        <p:nvSpPr>
          <p:cNvPr id="466" name="Text 15"/>
          <p:cNvSpPr/>
          <p:nvPr/>
        </p:nvSpPr>
        <p:spPr>
          <a:xfrm>
            <a:off x="6976800" y="4590360"/>
            <a:ext cx="4150800" cy="36504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1300" b="0" u="none" strike="noStrike">
                <a:solidFill>
                  <a:srgbClr val="0B1F3A"/>
                </a:solidFill>
                <a:effectLst/>
                <a:uFillTx/>
                <a:latin typeface="Aptos"/>
              </a:rPr>
              <a:t>The agent may need to reason about many possible future action sequences.</a:t>
            </a:r>
            <a:endParaRPr lang="en-US" sz="1300" b="0" u="none" strike="noStrike">
              <a:solidFill>
                <a:srgbClr val="000000"/>
              </a:solidFill>
              <a:effectLst/>
              <a:uFillTx/>
              <a:latin typeface="Arial"/>
            </a:endParaRPr>
          </a:p>
        </p:txBody>
      </p:sp>
      <p:sp>
        <p:nvSpPr>
          <p:cNvPr id="467" name="Text 16"/>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2.13</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68"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9"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70"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Planning Video Bridge: Reflex vs. Planning</a:t>
            </a:r>
            <a:endParaRPr lang="en-US" sz="2300" b="0" u="none" strike="noStrike">
              <a:solidFill>
                <a:srgbClr val="000000"/>
              </a:solidFill>
              <a:effectLst/>
              <a:uFillTx/>
              <a:latin typeface="Arial"/>
            </a:endParaRPr>
          </a:p>
        </p:txBody>
      </p:sp>
      <p:sp>
        <p:nvSpPr>
          <p:cNvPr id="471"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Bridge</a:t>
            </a:r>
            <a:endParaRPr lang="en-US" sz="1200" b="0" u="none" strike="noStrike">
              <a:solidFill>
                <a:srgbClr val="000000"/>
              </a:solidFill>
              <a:effectLst/>
              <a:uFillTx/>
              <a:latin typeface="Arial"/>
            </a:endParaRPr>
          </a:p>
        </p:txBody>
      </p:sp>
      <p:sp>
        <p:nvSpPr>
          <p:cNvPr id="472"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73"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23</a:t>
            </a:r>
          </a:p>
        </p:txBody>
      </p:sp>
      <p:sp>
        <p:nvSpPr>
          <p:cNvPr id="474" name="Rounded Rectangle 473"/>
          <p:cNvSpPr/>
          <p:nvPr/>
        </p:nvSpPr>
        <p:spPr>
          <a:xfrm>
            <a:off x="777240" y="1170432"/>
            <a:ext cx="4800600" cy="1261872"/>
          </a:xfrm>
          <a:prstGeom prst="roundRect">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TextBox 474"/>
          <p:cNvSpPr txBox="1"/>
          <p:nvPr/>
        </p:nvSpPr>
        <p:spPr>
          <a:xfrm>
            <a:off x="941832" y="1298448"/>
            <a:ext cx="4471416" cy="274320"/>
          </a:xfrm>
          <a:prstGeom prst="rect">
            <a:avLst/>
          </a:prstGeom>
          <a:noFill/>
        </p:spPr>
        <p:txBody>
          <a:bodyPr wrap="none">
            <a:spAutoFit/>
          </a:bodyPr>
          <a:lstStyle/>
          <a:p>
            <a:r>
              <a:rPr b="1" sz="1700">
                <a:solidFill>
                  <a:srgbClr val="2A66B0"/>
                </a:solidFill>
              </a:rPr>
              <a:t>Reflex agent</a:t>
            </a:r>
          </a:p>
        </p:txBody>
      </p:sp>
      <p:sp>
        <p:nvSpPr>
          <p:cNvPr id="476" name="TextBox 475"/>
          <p:cNvSpPr txBox="1"/>
          <p:nvPr/>
        </p:nvSpPr>
        <p:spPr>
          <a:xfrm>
            <a:off x="941832" y="1673352"/>
            <a:ext cx="4471416" cy="667512"/>
          </a:xfrm>
          <a:prstGeom prst="rect">
            <a:avLst/>
          </a:prstGeom>
          <a:noFill/>
        </p:spPr>
        <p:txBody>
          <a:bodyPr wrap="square">
            <a:spAutoFit/>
          </a:bodyPr>
          <a:lstStyle/>
          <a:p>
            <a:r>
              <a:rPr sz="1150">
                <a:solidFill>
                  <a:srgbClr val="162237"/>
                </a:solidFill>
              </a:rPr>
              <a:t>Chooses action from current percept and maybe memory; does not consider future consequences.</a:t>
            </a:r>
          </a:p>
        </p:txBody>
      </p:sp>
      <p:sp>
        <p:nvSpPr>
          <p:cNvPr id="477" name="Rounded Rectangle 476"/>
          <p:cNvSpPr/>
          <p:nvPr/>
        </p:nvSpPr>
        <p:spPr>
          <a:xfrm>
            <a:off x="777240" y="2596896"/>
            <a:ext cx="4800600" cy="1261872"/>
          </a:xfrm>
          <a:prstGeom prst="roundRect">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TextBox 477"/>
          <p:cNvSpPr txBox="1"/>
          <p:nvPr/>
        </p:nvSpPr>
        <p:spPr>
          <a:xfrm>
            <a:off x="941832" y="2724912"/>
            <a:ext cx="4471416" cy="274320"/>
          </a:xfrm>
          <a:prstGeom prst="rect">
            <a:avLst/>
          </a:prstGeom>
          <a:noFill/>
        </p:spPr>
        <p:txBody>
          <a:bodyPr wrap="none">
            <a:spAutoFit/>
          </a:bodyPr>
          <a:lstStyle/>
          <a:p>
            <a:r>
              <a:rPr b="1" sz="1700">
                <a:solidFill>
                  <a:srgbClr val="00848C"/>
                </a:solidFill>
              </a:rPr>
              <a:t>Planning agent</a:t>
            </a:r>
          </a:p>
        </p:txBody>
      </p:sp>
      <p:sp>
        <p:nvSpPr>
          <p:cNvPr id="479" name="TextBox 478"/>
          <p:cNvSpPr txBox="1"/>
          <p:nvPr/>
        </p:nvSpPr>
        <p:spPr>
          <a:xfrm>
            <a:off x="941832" y="3099816"/>
            <a:ext cx="4471416" cy="667512"/>
          </a:xfrm>
          <a:prstGeom prst="rect">
            <a:avLst/>
          </a:prstGeom>
          <a:noFill/>
        </p:spPr>
        <p:txBody>
          <a:bodyPr wrap="square">
            <a:spAutoFit/>
          </a:bodyPr>
          <a:lstStyle/>
          <a:p>
            <a:r>
              <a:rPr sz="1150">
                <a:solidFill>
                  <a:srgbClr val="162237"/>
                </a:solidFill>
              </a:rPr>
              <a:t>Asks “what if?” and chooses actions based on predicted consequences. Must model how the world evolves and must formulate a goal test.</a:t>
            </a:r>
          </a:p>
        </p:txBody>
      </p:sp>
      <p:sp>
        <p:nvSpPr>
          <p:cNvPr id="480" name="Rounded Rectangle 479"/>
          <p:cNvSpPr/>
          <p:nvPr/>
        </p:nvSpPr>
        <p:spPr>
          <a:xfrm>
            <a:off x="777240" y="4023360"/>
            <a:ext cx="4800600" cy="1261872"/>
          </a:xfrm>
          <a:prstGeom prst="roundRect">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TextBox 480"/>
          <p:cNvSpPr txBox="1"/>
          <p:nvPr/>
        </p:nvSpPr>
        <p:spPr>
          <a:xfrm>
            <a:off x="941832" y="4151376"/>
            <a:ext cx="4471416" cy="274320"/>
          </a:xfrm>
          <a:prstGeom prst="rect">
            <a:avLst/>
          </a:prstGeom>
          <a:noFill/>
        </p:spPr>
        <p:txBody>
          <a:bodyPr wrap="none">
            <a:spAutoFit/>
          </a:bodyPr>
          <a:lstStyle/>
          <a:p>
            <a:r>
              <a:rPr b="1" sz="1700">
                <a:solidFill>
                  <a:srgbClr val="1E743E"/>
                </a:solidFill>
              </a:rPr>
              <a:t>Replanning Pac-Man</a:t>
            </a:r>
          </a:p>
        </p:txBody>
      </p:sp>
      <p:sp>
        <p:nvSpPr>
          <p:cNvPr id="482" name="TextBox 481"/>
          <p:cNvSpPr txBox="1"/>
          <p:nvPr/>
        </p:nvSpPr>
        <p:spPr>
          <a:xfrm>
            <a:off x="941832" y="4526280"/>
            <a:ext cx="4471416" cy="667512"/>
          </a:xfrm>
          <a:prstGeom prst="rect">
            <a:avLst/>
          </a:prstGeom>
          <a:noFill/>
        </p:spPr>
        <p:txBody>
          <a:bodyPr wrap="square">
            <a:spAutoFit/>
          </a:bodyPr>
          <a:lstStyle/>
          <a:p>
            <a:r>
              <a:rPr sz="1150">
                <a:solidFill>
                  <a:srgbClr val="162237"/>
                </a:solidFill>
              </a:rPr>
              <a:t>Plans a little way ahead, acts, then replans from the new state. This is different from planning once and executing forever.</a:t>
            </a:r>
          </a:p>
        </p:txBody>
      </p:sp>
      <p:pic>
        <p:nvPicPr>
          <p:cNvPr id="483" name="Picture 482" descr="image.png"/>
          <p:cNvPicPr>
            <a:picLocks noChangeAspect="1"/>
          </p:cNvPicPr>
          <p:nvPr/>
        </p:nvPicPr>
        <p:blipFill>
          <a:blip r:embed="rId1"/>
          <a:stretch>
            <a:fillRect/>
          </a:stretch>
        </p:blipFill>
        <p:spPr>
          <a:xfrm>
            <a:off x="5870448" y="1325880"/>
            <a:ext cx="5074920" cy="4160520"/>
          </a:xfrm>
          <a:prstGeom prst="rect">
            <a:avLst/>
          </a:prstGeom>
        </p:spPr>
      </p:pic>
      <p:sp>
        <p:nvSpPr>
          <p:cNvPr id="484" name="TextBox 483"/>
          <p:cNvSpPr txBox="1"/>
          <p:nvPr/>
        </p:nvSpPr>
        <p:spPr>
          <a:xfrm>
            <a:off x="6053328" y="4983480"/>
            <a:ext cx="4663440" cy="384048"/>
          </a:xfrm>
          <a:prstGeom prst="rect">
            <a:avLst/>
          </a:prstGeom>
          <a:noFill/>
        </p:spPr>
        <p:txBody>
          <a:bodyPr wrap="none">
            <a:spAutoFit/>
          </a:bodyPr>
          <a:lstStyle/>
          <a:p>
            <a:r>
              <a:rPr b="1" sz="1200">
                <a:solidFill>
                  <a:srgbClr val="B8241F"/>
                </a:solidFill>
              </a:rPr>
              <a:t>Key distinction: planning considers how the world WOULD BE, not just how it is now.</a:t>
            </a:r>
          </a:p>
        </p:txBody>
      </p:sp>
      <p:sp>
        <p:nvSpPr>
          <p:cNvPr id="485" name="Rounded Rectangle 484"/>
          <p:cNvSpPr/>
          <p:nvPr/>
        </p:nvSpPr>
        <p:spPr>
          <a:xfrm>
            <a:off x="777240" y="5532120"/>
            <a:ext cx="10716768" cy="731520"/>
          </a:xfrm>
          <a:prstGeom prst="roundRect">
            <a:avLst/>
          </a:prstGeom>
          <a:solidFill>
            <a:srgbClr val="EFF4F9"/>
          </a:solidFill>
          <a:ln w="12700">
            <a:solidFill>
              <a:srgbClr val="CE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TextBox 485"/>
          <p:cNvSpPr txBox="1"/>
          <p:nvPr/>
        </p:nvSpPr>
        <p:spPr>
          <a:xfrm>
            <a:off x="978408" y="5641848"/>
            <a:ext cx="1828800" cy="237744"/>
          </a:xfrm>
          <a:prstGeom prst="rect">
            <a:avLst/>
          </a:prstGeom>
          <a:noFill/>
        </p:spPr>
        <p:txBody>
          <a:bodyPr wrap="none">
            <a:spAutoFit/>
          </a:bodyPr>
          <a:lstStyle/>
          <a:p>
            <a:r>
              <a:rPr b="1" sz="1150">
                <a:solidFill>
                  <a:srgbClr val="0F2D5B"/>
                </a:solidFill>
              </a:rPr>
              <a:t>Planning distinctions</a:t>
            </a:r>
          </a:p>
        </p:txBody>
      </p:sp>
      <p:sp>
        <p:nvSpPr>
          <p:cNvPr id="487" name="TextBox 486"/>
          <p:cNvSpPr txBox="1"/>
          <p:nvPr/>
        </p:nvSpPr>
        <p:spPr>
          <a:xfrm>
            <a:off x="2743200" y="5641848"/>
            <a:ext cx="8522208" cy="502920"/>
          </a:xfrm>
          <a:prstGeom prst="rect">
            <a:avLst/>
          </a:prstGeom>
          <a:noFill/>
        </p:spPr>
        <p:txBody>
          <a:bodyPr wrap="square">
            <a:spAutoFit/>
          </a:bodyPr>
          <a:lstStyle/>
          <a:p>
            <a:r>
              <a:rPr b="1" sz="1100">
                <a:solidFill>
                  <a:srgbClr val="162237"/>
                </a:solidFill>
              </a:rPr>
              <a:t>Optimal vs. complete planning</a:t>
            </a:r>
            <a:r>
              <a:rPr sz="1100">
                <a:solidFill>
                  <a:srgbClr val="162237"/>
                </a:solidFill>
              </a:rPr>
              <a:t> compares best solution quality vs. guaranteed solution finding.  </a:t>
            </a:r>
            <a:r>
              <a:rPr b="1" sz="1100">
                <a:solidFill>
                  <a:srgbClr val="162237"/>
                </a:solidFill>
              </a:rPr>
              <a:t>Planning vs. replanning</a:t>
            </a:r>
            <a:r>
              <a:rPr sz="1100">
                <a:solidFill>
                  <a:srgbClr val="162237"/>
                </a:solidFill>
              </a:rPr>
              <a:t> compares one long plan vs. repeated look-ahead as the state changes.</a:t>
            </a: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492"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3"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494"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2.4.5 Utility-Based Agents</a:t>
            </a:r>
            <a:endParaRPr lang="en-US" sz="2300" b="0" u="none" strike="noStrike">
              <a:solidFill>
                <a:srgbClr val="000000"/>
              </a:solidFill>
              <a:effectLst/>
              <a:uFillTx/>
              <a:latin typeface="Arial"/>
            </a:endParaRPr>
          </a:p>
        </p:txBody>
      </p:sp>
      <p:sp>
        <p:nvSpPr>
          <p:cNvPr id="495"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2.4.5</a:t>
            </a:r>
            <a:endParaRPr lang="en-US" sz="1200" b="0" u="none" strike="noStrike">
              <a:solidFill>
                <a:srgbClr val="000000"/>
              </a:solidFill>
              <a:effectLst/>
              <a:uFillTx/>
              <a:latin typeface="Arial"/>
            </a:endParaRPr>
          </a:p>
        </p:txBody>
      </p:sp>
      <p:sp>
        <p:nvSpPr>
          <p:cNvPr id="496"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97"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24</a:t>
            </a:r>
          </a:p>
        </p:txBody>
      </p:sp>
      <p:sp>
        <p:nvSpPr>
          <p:cNvPr id="498" name="Text 6"/>
          <p:cNvSpPr/>
          <p:nvPr/>
        </p:nvSpPr>
        <p:spPr>
          <a:xfrm>
            <a:off x="777240" y="105156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Goals say whether a state is acceptable; utility ranks how good it is.</a:t>
            </a:r>
            <a:endParaRPr lang="en-US" sz="2000" b="0" u="none" strike="noStrike">
              <a:solidFill>
                <a:srgbClr val="000000"/>
              </a:solidFill>
              <a:effectLst/>
              <a:uFillTx/>
              <a:latin typeface="Arial"/>
            </a:endParaRPr>
          </a:p>
        </p:txBody>
      </p:sp>
      <p:pic>
        <p:nvPicPr>
          <p:cNvPr id="499" name="Image 0" descr="/mnt/data/ch2_docx_unzipped/word/media/image12.png"/>
          <p:cNvPicPr/>
          <p:nvPr/>
        </p:nvPicPr>
        <p:blipFill>
          <a:blip r:embed="rId1"/>
          <a:stretch/>
        </p:blipFill>
        <p:spPr>
          <a:xfrm>
            <a:off x="1205280" y="1600200"/>
            <a:ext cx="4857840" cy="4068360"/>
          </a:xfrm>
          <a:prstGeom prst="rect">
            <a:avLst/>
          </a:prstGeom>
          <a:noFill/>
          <a:ln w="0">
            <a:noFill/>
          </a:ln>
        </p:spPr>
      </p:pic>
      <p:sp>
        <p:nvSpPr>
          <p:cNvPr id="500" name="Shape 7"/>
          <p:cNvSpPr/>
          <p:nvPr/>
        </p:nvSpPr>
        <p:spPr>
          <a:xfrm>
            <a:off x="6903720" y="1645920"/>
            <a:ext cx="425124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1" name="Text 8"/>
          <p:cNvSpPr/>
          <p:nvPr/>
        </p:nvSpPr>
        <p:spPr>
          <a:xfrm>
            <a:off x="7068240" y="179208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6CB0"/>
                </a:solidFill>
                <a:effectLst/>
                <a:uFillTx/>
                <a:latin typeface="Aptos"/>
              </a:rPr>
              <a:t>Goal-based</a:t>
            </a:r>
            <a:endParaRPr lang="en-US" sz="1700" b="0" u="none" strike="noStrike">
              <a:solidFill>
                <a:srgbClr val="000000"/>
              </a:solidFill>
              <a:effectLst/>
              <a:uFillTx/>
              <a:latin typeface="Arial"/>
            </a:endParaRPr>
          </a:p>
        </p:txBody>
      </p:sp>
      <p:sp>
        <p:nvSpPr>
          <p:cNvPr id="502" name="Text 9"/>
          <p:cNvSpPr/>
          <p:nvPr/>
        </p:nvSpPr>
        <p:spPr>
          <a:xfrm>
            <a:off x="7068240" y="2121480"/>
            <a:ext cx="3922200" cy="273600"/>
          </a:xfrm>
          <a:prstGeom prst="rect">
            <a:avLst/>
          </a:prstGeom>
          <a:noFill/>
          <a:ln w="0">
            <a:noFill/>
          </a:ln>
        </p:spPr>
        <p:style>
          <a:lnRef idx="0"/>
          <a:fillRef idx="0"/>
          <a:effectRef idx="0"/>
          <a:fontRef idx="minor"/>
        </p:style>
        <p:txBody>
          <a:bodyPr lIns="360" tIns="360" rIns="360" bIns="360" anchor="ctr">
            <a:normAutofit fontScale="85000" lnSpcReduction="19999"/>
          </a:bodyPr>
          <a:p>
            <a:pPr defTabSz="914400">
              <a:lnSpc>
                <a:spcPct val="100000"/>
              </a:lnSpc>
              <a:tabLst>
                <a:tab pos="0" algn="l"/>
              </a:tabLst>
            </a:pPr>
            <a:r>
              <a:rPr lang="en-US" sz="1300" b="0" u="none" strike="noStrike">
                <a:solidFill>
                  <a:srgbClr val="0B1F3A"/>
                </a:solidFill>
                <a:effectLst/>
                <a:uFillTx/>
                <a:latin typeface="Aptos"/>
              </a:rPr>
              <a:t>Destination reached?</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0B1F3A"/>
                </a:solidFill>
                <a:effectLst/>
                <a:uFillTx/>
                <a:latin typeface="Aptos"/>
              </a:rPr>
              <a:t>Yes or no.</a:t>
            </a:r>
            <a:endParaRPr lang="en-US" sz="1300" b="0" u="none" strike="noStrike">
              <a:solidFill>
                <a:srgbClr val="000000"/>
              </a:solidFill>
              <a:effectLst/>
              <a:uFillTx/>
              <a:latin typeface="Arial"/>
            </a:endParaRPr>
          </a:p>
        </p:txBody>
      </p:sp>
      <p:sp>
        <p:nvSpPr>
          <p:cNvPr id="503" name="Shape 10"/>
          <p:cNvSpPr/>
          <p:nvPr/>
        </p:nvSpPr>
        <p:spPr>
          <a:xfrm>
            <a:off x="6903720" y="2743200"/>
            <a:ext cx="425124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4" name="Text 11"/>
          <p:cNvSpPr/>
          <p:nvPr/>
        </p:nvSpPr>
        <p:spPr>
          <a:xfrm>
            <a:off x="7068240" y="288936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B7A45"/>
                </a:solidFill>
                <a:effectLst/>
                <a:uFillTx/>
                <a:latin typeface="Aptos"/>
              </a:rPr>
              <a:t>Utility-based</a:t>
            </a:r>
            <a:endParaRPr lang="en-US" sz="1700" b="0" u="none" strike="noStrike">
              <a:solidFill>
                <a:srgbClr val="000000"/>
              </a:solidFill>
              <a:effectLst/>
              <a:uFillTx/>
              <a:latin typeface="Arial"/>
            </a:endParaRPr>
          </a:p>
        </p:txBody>
      </p:sp>
      <p:sp>
        <p:nvSpPr>
          <p:cNvPr id="505" name="Text 12"/>
          <p:cNvSpPr/>
          <p:nvPr/>
        </p:nvSpPr>
        <p:spPr>
          <a:xfrm>
            <a:off x="7068240" y="3218760"/>
            <a:ext cx="392220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How good is each outcome?</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0B1F3A"/>
                </a:solidFill>
                <a:effectLst/>
                <a:uFillTx/>
                <a:latin typeface="Aptos"/>
              </a:rPr>
              <a:t>Fast, safe, comfortable, cheap?</a:t>
            </a:r>
            <a:endParaRPr lang="en-US" sz="1300" b="0" u="none" strike="noStrike">
              <a:solidFill>
                <a:srgbClr val="000000"/>
              </a:solidFill>
              <a:effectLst/>
              <a:uFillTx/>
              <a:latin typeface="Arial"/>
            </a:endParaRPr>
          </a:p>
        </p:txBody>
      </p:sp>
      <p:sp>
        <p:nvSpPr>
          <p:cNvPr id="506" name="Shape 13"/>
          <p:cNvSpPr/>
          <p:nvPr/>
        </p:nvSpPr>
        <p:spPr>
          <a:xfrm>
            <a:off x="6903720" y="3977640"/>
            <a:ext cx="425124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7" name="Text 14"/>
          <p:cNvSpPr/>
          <p:nvPr/>
        </p:nvSpPr>
        <p:spPr>
          <a:xfrm>
            <a:off x="7068240" y="412380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5B35B1"/>
                </a:solidFill>
                <a:effectLst/>
                <a:uFillTx/>
                <a:latin typeface="Aptos"/>
              </a:rPr>
              <a:t>Expected utility</a:t>
            </a:r>
            <a:endParaRPr lang="en-US" sz="1700" b="0" u="none" strike="noStrike">
              <a:solidFill>
                <a:srgbClr val="000000"/>
              </a:solidFill>
              <a:effectLst/>
              <a:uFillTx/>
              <a:latin typeface="Arial"/>
            </a:endParaRPr>
          </a:p>
        </p:txBody>
      </p:sp>
      <p:sp>
        <p:nvSpPr>
          <p:cNvPr id="508" name="Text 15"/>
          <p:cNvSpPr/>
          <p:nvPr/>
        </p:nvSpPr>
        <p:spPr>
          <a:xfrm>
            <a:off x="7068240" y="4453200"/>
            <a:ext cx="3922200" cy="273600"/>
          </a:xfrm>
          <a:prstGeom prst="rect">
            <a:avLst/>
          </a:prstGeom>
          <a:noFill/>
          <a:ln w="0">
            <a:noFill/>
          </a:ln>
        </p:spPr>
        <p:style>
          <a:lnRef idx="0"/>
          <a:fillRef idx="0"/>
          <a:effectRef idx="0"/>
          <a:fontRef idx="minor"/>
        </p:style>
        <p:txBody>
          <a:bodyPr lIns="360" tIns="360" rIns="360" bIns="360" anchor="ctr">
            <a:normAutofit fontScale="85000" lnSpcReduction="9999"/>
          </a:bodyPr>
          <a:p>
            <a:pPr defTabSz="914400">
              <a:lnSpc>
                <a:spcPct val="100000"/>
              </a:lnSpc>
              <a:tabLst>
                <a:tab pos="0" algn="l"/>
              </a:tabLst>
            </a:pPr>
            <a:r>
              <a:rPr lang="en-US" sz="1300" b="0" u="none" strike="noStrike">
                <a:solidFill>
                  <a:srgbClr val="0B1F3A"/>
                </a:solidFill>
                <a:effectLst/>
                <a:uFillTx/>
                <a:latin typeface="Aptos"/>
              </a:rPr>
              <a:t>Weigh utility by probability when outcomes are uncertain.</a:t>
            </a:r>
            <a:endParaRPr lang="en-US" sz="1300" b="0" u="none" strike="noStrike">
              <a:solidFill>
                <a:srgbClr val="000000"/>
              </a:solidFill>
              <a:effectLst/>
              <a:uFillTx/>
              <a:latin typeface="Arial"/>
            </a:endParaRPr>
          </a:p>
        </p:txBody>
      </p:sp>
      <p:sp>
        <p:nvSpPr>
          <p:cNvPr id="509" name="Text 16"/>
          <p:cNvSpPr/>
          <p:nvPr/>
        </p:nvSpPr>
        <p:spPr>
          <a:xfrm>
            <a:off x="6903720" y="5285160"/>
            <a:ext cx="425124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0B2B5C"/>
                </a:solidFill>
                <a:effectLst/>
                <a:uFillTx/>
                <a:latin typeface="Aptos"/>
              </a:rPr>
              <a:t>Utility handles conflicts and uncertainty.</a:t>
            </a:r>
            <a:endParaRPr lang="en-US" sz="1700" b="0" u="none" strike="noStrike">
              <a:solidFill>
                <a:srgbClr val="000000"/>
              </a:solidFill>
              <a:effectLst/>
              <a:uFillTx/>
              <a:latin typeface="Arial"/>
            </a:endParaRPr>
          </a:p>
        </p:txBody>
      </p:sp>
      <p:sp>
        <p:nvSpPr>
          <p:cNvPr id="510" name="Text 17"/>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2.14</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511"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2"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513"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Utility Handles Tradeoffs and Uncertainty</a:t>
            </a:r>
            <a:endParaRPr lang="en-US" sz="2300" b="0" u="none" strike="noStrike">
              <a:solidFill>
                <a:srgbClr val="000000"/>
              </a:solidFill>
              <a:effectLst/>
              <a:uFillTx/>
              <a:latin typeface="Arial"/>
            </a:endParaRPr>
          </a:p>
        </p:txBody>
      </p:sp>
      <p:sp>
        <p:nvSpPr>
          <p:cNvPr id="514"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2.4.5</a:t>
            </a:r>
            <a:endParaRPr lang="en-US" sz="1200" b="0" u="none" strike="noStrike">
              <a:solidFill>
                <a:srgbClr val="000000"/>
              </a:solidFill>
              <a:effectLst/>
              <a:uFillTx/>
              <a:latin typeface="Arial"/>
            </a:endParaRPr>
          </a:p>
        </p:txBody>
      </p:sp>
      <p:sp>
        <p:nvSpPr>
          <p:cNvPr id="515"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16"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25</a:t>
            </a:r>
          </a:p>
        </p:txBody>
      </p:sp>
      <p:sp>
        <p:nvSpPr>
          <p:cNvPr id="517" name="Shape 6"/>
          <p:cNvSpPr/>
          <p:nvPr/>
        </p:nvSpPr>
        <p:spPr>
          <a:xfrm>
            <a:off x="868680" y="1325880"/>
            <a:ext cx="3291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8" name="Text 7"/>
          <p:cNvSpPr/>
          <p:nvPr/>
        </p:nvSpPr>
        <p:spPr>
          <a:xfrm>
            <a:off x="1033200" y="147204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A32020"/>
                </a:solidFill>
                <a:effectLst/>
                <a:uFillTx/>
                <a:latin typeface="Aptos"/>
              </a:rPr>
              <a:t>Conflicting goals</a:t>
            </a:r>
            <a:endParaRPr lang="en-US" sz="1800" b="0" u="none" strike="noStrike">
              <a:solidFill>
                <a:srgbClr val="000000"/>
              </a:solidFill>
              <a:effectLst/>
              <a:uFillTx/>
              <a:latin typeface="Arial"/>
            </a:endParaRPr>
          </a:p>
        </p:txBody>
      </p:sp>
      <p:sp>
        <p:nvSpPr>
          <p:cNvPr id="519" name="Text 8"/>
          <p:cNvSpPr/>
          <p:nvPr/>
        </p:nvSpPr>
        <p:spPr>
          <a:xfrm>
            <a:off x="1033200" y="1801440"/>
            <a:ext cx="2962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Speed and safety can conflict. Utility specifies the tradeoff.</a:t>
            </a:r>
            <a:endParaRPr lang="en-US" sz="1350" b="0" u="none" strike="noStrike">
              <a:solidFill>
                <a:srgbClr val="000000"/>
              </a:solidFill>
              <a:effectLst/>
              <a:uFillTx/>
              <a:latin typeface="Arial"/>
            </a:endParaRPr>
          </a:p>
        </p:txBody>
      </p:sp>
      <p:sp>
        <p:nvSpPr>
          <p:cNvPr id="520" name="Shape 9"/>
          <p:cNvSpPr/>
          <p:nvPr/>
        </p:nvSpPr>
        <p:spPr>
          <a:xfrm>
            <a:off x="4434840" y="1325880"/>
            <a:ext cx="3291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1" name="Text 10"/>
          <p:cNvSpPr/>
          <p:nvPr/>
        </p:nvSpPr>
        <p:spPr>
          <a:xfrm>
            <a:off x="4599360" y="147204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5A21B"/>
                </a:solidFill>
                <a:effectLst/>
                <a:uFillTx/>
                <a:latin typeface="Aptos"/>
              </a:rPr>
              <a:t>Uncertain goals</a:t>
            </a:r>
            <a:endParaRPr lang="en-US" sz="1800" b="0" u="none" strike="noStrike">
              <a:solidFill>
                <a:srgbClr val="000000"/>
              </a:solidFill>
              <a:effectLst/>
              <a:uFillTx/>
              <a:latin typeface="Arial"/>
            </a:endParaRPr>
          </a:p>
        </p:txBody>
      </p:sp>
      <p:sp>
        <p:nvSpPr>
          <p:cNvPr id="522" name="Text 11"/>
          <p:cNvSpPr/>
          <p:nvPr/>
        </p:nvSpPr>
        <p:spPr>
          <a:xfrm>
            <a:off x="4599360" y="1801440"/>
            <a:ext cx="2962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Several outcomes may be possible, none guaranteed.</a:t>
            </a:r>
            <a:endParaRPr lang="en-US" sz="1350" b="0" u="none" strike="noStrike">
              <a:solidFill>
                <a:srgbClr val="000000"/>
              </a:solidFill>
              <a:effectLst/>
              <a:uFillTx/>
              <a:latin typeface="Arial"/>
            </a:endParaRPr>
          </a:p>
        </p:txBody>
      </p:sp>
      <p:sp>
        <p:nvSpPr>
          <p:cNvPr id="523" name="Shape 12"/>
          <p:cNvSpPr/>
          <p:nvPr/>
        </p:nvSpPr>
        <p:spPr>
          <a:xfrm>
            <a:off x="8001000" y="1325880"/>
            <a:ext cx="329112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4" name="Text 13"/>
          <p:cNvSpPr/>
          <p:nvPr/>
        </p:nvSpPr>
        <p:spPr>
          <a:xfrm>
            <a:off x="8165520" y="1472040"/>
            <a:ext cx="2962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B7A45"/>
                </a:solidFill>
                <a:effectLst/>
                <a:uFillTx/>
                <a:latin typeface="Aptos"/>
              </a:rPr>
              <a:t>Expected utility</a:t>
            </a:r>
            <a:endParaRPr lang="en-US" sz="1800" b="0" u="none" strike="noStrike">
              <a:solidFill>
                <a:srgbClr val="000000"/>
              </a:solidFill>
              <a:effectLst/>
              <a:uFillTx/>
              <a:latin typeface="Arial"/>
            </a:endParaRPr>
          </a:p>
        </p:txBody>
      </p:sp>
      <p:sp>
        <p:nvSpPr>
          <p:cNvPr id="525" name="Text 14"/>
          <p:cNvSpPr/>
          <p:nvPr/>
        </p:nvSpPr>
        <p:spPr>
          <a:xfrm>
            <a:off x="8165520" y="1801440"/>
            <a:ext cx="296208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Likelihood of success is weighed against outcome importance.</a:t>
            </a:r>
            <a:endParaRPr lang="en-US" sz="1350" b="0" u="none" strike="noStrike">
              <a:solidFill>
                <a:srgbClr val="000000"/>
              </a:solidFill>
              <a:effectLst/>
              <a:uFillTx/>
              <a:latin typeface="Arial"/>
            </a:endParaRPr>
          </a:p>
        </p:txBody>
      </p:sp>
      <p:sp>
        <p:nvSpPr>
          <p:cNvPr id="526" name="Text 15"/>
          <p:cNvSpPr/>
          <p:nvPr/>
        </p:nvSpPr>
        <p:spPr>
          <a:xfrm>
            <a:off x="914400" y="3337560"/>
            <a:ext cx="1033200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0B2B5C"/>
                </a:solidFill>
                <a:effectLst/>
                <a:uFillTx/>
                <a:latin typeface="Aptos"/>
              </a:rPr>
              <a:t>Utility function = internalization of the performance measure</a:t>
            </a:r>
            <a:endParaRPr lang="en-US" sz="2400" b="0" u="none" strike="noStrike">
              <a:solidFill>
                <a:srgbClr val="000000"/>
              </a:solidFill>
              <a:effectLst/>
              <a:uFillTx/>
              <a:latin typeface="Arial"/>
            </a:endParaRPr>
          </a:p>
        </p:txBody>
      </p:sp>
      <p:sp>
        <p:nvSpPr>
          <p:cNvPr id="527" name="Text 16"/>
          <p:cNvSpPr/>
          <p:nvPr/>
        </p:nvSpPr>
        <p:spPr>
          <a:xfrm>
            <a:off x="1097280" y="4160520"/>
            <a:ext cx="996624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1F3A"/>
                </a:solidFill>
                <a:effectLst/>
                <a:uFillTx/>
                <a:latin typeface="Aptos"/>
              </a:rPr>
              <a:t>If the internal utility function and external performance measure agree, maximizing utility supports rational behavior.</a:t>
            </a:r>
            <a:endParaRPr lang="en-US" sz="1800" b="0" u="none" strike="noStrike">
              <a:solidFill>
                <a:srgbClr val="000000"/>
              </a:solidFill>
              <a:effectLst/>
              <a:uFillTx/>
              <a:latin typeface="Arial"/>
            </a:endParaRPr>
          </a:p>
        </p:txBody>
      </p:sp>
      <p:sp>
        <p:nvSpPr>
          <p:cNvPr id="528" name="Text 17"/>
          <p:cNvSpPr/>
          <p:nvPr/>
        </p:nvSpPr>
        <p:spPr>
          <a:xfrm>
            <a:off x="1097280" y="5074920"/>
            <a:ext cx="996624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A32020"/>
                </a:solidFill>
                <a:effectLst/>
                <a:uFillTx/>
                <a:latin typeface="Aptos"/>
              </a:rPr>
              <a:t>Caution: if the utility function is wrong, the agent may optimize the wrong objective.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52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53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2.4.6 Learning Agents</a:t>
            </a:r>
            <a:endParaRPr lang="en-US" sz="2300" b="0" u="none" strike="noStrike">
              <a:solidFill>
                <a:srgbClr val="000000"/>
              </a:solidFill>
              <a:effectLst/>
              <a:uFillTx/>
              <a:latin typeface="Arial"/>
            </a:endParaRPr>
          </a:p>
        </p:txBody>
      </p:sp>
      <p:sp>
        <p:nvSpPr>
          <p:cNvPr id="53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53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34"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26</a:t>
            </a:r>
          </a:p>
        </p:txBody>
      </p:sp>
      <p:sp>
        <p:nvSpPr>
          <p:cNvPr id="535" name="Text 6"/>
          <p:cNvSpPr/>
          <p:nvPr/>
        </p:nvSpPr>
        <p:spPr>
          <a:xfrm>
            <a:off x="777240" y="105156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Any agent type can be made into a learning agent.</a:t>
            </a:r>
            <a:endParaRPr lang="en-US" sz="2000" b="0" u="none" strike="noStrike">
              <a:solidFill>
                <a:srgbClr val="000000"/>
              </a:solidFill>
              <a:effectLst/>
              <a:uFillTx/>
              <a:latin typeface="Arial"/>
            </a:endParaRPr>
          </a:p>
        </p:txBody>
      </p:sp>
      <p:pic>
        <p:nvPicPr>
          <p:cNvPr id="536" name="Image 0" descr="/mnt/data/ch2_docx_unzipped/word/media/image13.png"/>
          <p:cNvPicPr/>
          <p:nvPr/>
        </p:nvPicPr>
        <p:blipFill>
          <a:blip r:embed="rId1"/>
          <a:stretch/>
        </p:blipFill>
        <p:spPr>
          <a:xfrm>
            <a:off x="1253880" y="1600200"/>
            <a:ext cx="4761000" cy="4114080"/>
          </a:xfrm>
          <a:prstGeom prst="rect">
            <a:avLst/>
          </a:prstGeom>
          <a:noFill/>
          <a:ln w="0">
            <a:noFill/>
          </a:ln>
        </p:spPr>
      </p:pic>
      <p:sp>
        <p:nvSpPr>
          <p:cNvPr id="537" name="Shape 7"/>
          <p:cNvSpPr/>
          <p:nvPr/>
        </p:nvSpPr>
        <p:spPr>
          <a:xfrm>
            <a:off x="6903720" y="1554480"/>
            <a:ext cx="4251240" cy="712440"/>
          </a:xfrm>
          <a:prstGeom prst="roundRect">
            <a:avLst>
              <a:gd name="adj" fmla="val 7692"/>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8" name="Text 8"/>
          <p:cNvSpPr/>
          <p:nvPr/>
        </p:nvSpPr>
        <p:spPr>
          <a:xfrm>
            <a:off x="7068240" y="170064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6CB0"/>
                </a:solidFill>
                <a:effectLst/>
                <a:uFillTx/>
                <a:latin typeface="Aptos"/>
              </a:rPr>
              <a:t>Performance element</a:t>
            </a:r>
            <a:endParaRPr lang="en-US" sz="1600" b="0" u="none" strike="noStrike">
              <a:solidFill>
                <a:srgbClr val="000000"/>
              </a:solidFill>
              <a:effectLst/>
              <a:uFillTx/>
              <a:latin typeface="Arial"/>
            </a:endParaRPr>
          </a:p>
        </p:txBody>
      </p:sp>
      <p:sp>
        <p:nvSpPr>
          <p:cNvPr id="539" name="Text 9"/>
          <p:cNvSpPr/>
          <p:nvPr/>
        </p:nvSpPr>
        <p:spPr>
          <a:xfrm>
            <a:off x="7068240" y="2030040"/>
            <a:ext cx="3922200" cy="118080"/>
          </a:xfrm>
          <a:prstGeom prst="rect">
            <a:avLst/>
          </a:prstGeom>
          <a:noFill/>
          <a:ln w="0">
            <a:noFill/>
          </a:ln>
        </p:spPr>
        <p:style>
          <a:lnRef idx="0"/>
          <a:fillRef idx="0"/>
          <a:effectRef idx="0"/>
          <a:fontRef idx="minor"/>
        </p:style>
        <p:txBody>
          <a:bodyPr lIns="360" tIns="360" rIns="360" bIns="360" anchor="ctr">
            <a:normAutofit fontScale="77500" lnSpcReduction="19999"/>
          </a:bodyPr>
          <a:p>
            <a:pPr defTabSz="914400">
              <a:lnSpc>
                <a:spcPct val="100000"/>
              </a:lnSpc>
              <a:tabLst>
                <a:tab pos="0" algn="l"/>
              </a:tabLst>
            </a:pPr>
            <a:r>
              <a:rPr lang="en-US" sz="1250" b="0" u="none" strike="noStrike">
                <a:solidFill>
                  <a:srgbClr val="0B1F3A"/>
                </a:solidFill>
                <a:effectLst/>
                <a:uFillTx/>
                <a:latin typeface="Aptos"/>
              </a:rPr>
              <a:t>Selects external actions.</a:t>
            </a:r>
            <a:endParaRPr lang="en-US" sz="1250" b="0" u="none" strike="noStrike">
              <a:solidFill>
                <a:srgbClr val="000000"/>
              </a:solidFill>
              <a:effectLst/>
              <a:uFillTx/>
              <a:latin typeface="Arial"/>
            </a:endParaRPr>
          </a:p>
        </p:txBody>
      </p:sp>
      <p:sp>
        <p:nvSpPr>
          <p:cNvPr id="540" name="Shape 10"/>
          <p:cNvSpPr/>
          <p:nvPr/>
        </p:nvSpPr>
        <p:spPr>
          <a:xfrm>
            <a:off x="6903720" y="2487240"/>
            <a:ext cx="4251240" cy="712440"/>
          </a:xfrm>
          <a:prstGeom prst="roundRect">
            <a:avLst>
              <a:gd name="adj" fmla="val 7692"/>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1" name="Text 11"/>
          <p:cNvSpPr/>
          <p:nvPr/>
        </p:nvSpPr>
        <p:spPr>
          <a:xfrm>
            <a:off x="7068240" y="263340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B7A45"/>
                </a:solidFill>
                <a:effectLst/>
                <a:uFillTx/>
                <a:latin typeface="Aptos"/>
              </a:rPr>
              <a:t>Learning element</a:t>
            </a:r>
            <a:endParaRPr lang="en-US" sz="1600" b="0" u="none" strike="noStrike">
              <a:solidFill>
                <a:srgbClr val="000000"/>
              </a:solidFill>
              <a:effectLst/>
              <a:uFillTx/>
              <a:latin typeface="Arial"/>
            </a:endParaRPr>
          </a:p>
        </p:txBody>
      </p:sp>
      <p:sp>
        <p:nvSpPr>
          <p:cNvPr id="542" name="Text 12"/>
          <p:cNvSpPr/>
          <p:nvPr/>
        </p:nvSpPr>
        <p:spPr>
          <a:xfrm>
            <a:off x="7068240" y="2962800"/>
            <a:ext cx="3922200" cy="118080"/>
          </a:xfrm>
          <a:prstGeom prst="rect">
            <a:avLst/>
          </a:prstGeom>
          <a:noFill/>
          <a:ln w="0">
            <a:noFill/>
          </a:ln>
        </p:spPr>
        <p:style>
          <a:lnRef idx="0"/>
          <a:fillRef idx="0"/>
          <a:effectRef idx="0"/>
          <a:fontRef idx="minor"/>
        </p:style>
        <p:txBody>
          <a:bodyPr lIns="360" tIns="360" rIns="360" bIns="360" anchor="ctr">
            <a:normAutofit fontScale="77500" lnSpcReduction="19999"/>
          </a:bodyPr>
          <a:p>
            <a:pPr defTabSz="914400">
              <a:lnSpc>
                <a:spcPct val="100000"/>
              </a:lnSpc>
              <a:tabLst>
                <a:tab pos="0" algn="l"/>
              </a:tabLst>
            </a:pPr>
            <a:r>
              <a:rPr lang="en-US" sz="1250" b="0" u="none" strike="noStrike">
                <a:solidFill>
                  <a:srgbClr val="0B1F3A"/>
                </a:solidFill>
                <a:effectLst/>
                <a:uFillTx/>
                <a:latin typeface="Aptos"/>
              </a:rPr>
              <a:t>Improves the performance element.</a:t>
            </a:r>
            <a:endParaRPr lang="en-US" sz="1250" b="0" u="none" strike="noStrike">
              <a:solidFill>
                <a:srgbClr val="000000"/>
              </a:solidFill>
              <a:effectLst/>
              <a:uFillTx/>
              <a:latin typeface="Arial"/>
            </a:endParaRPr>
          </a:p>
        </p:txBody>
      </p:sp>
      <p:sp>
        <p:nvSpPr>
          <p:cNvPr id="543" name="Shape 13"/>
          <p:cNvSpPr/>
          <p:nvPr/>
        </p:nvSpPr>
        <p:spPr>
          <a:xfrm>
            <a:off x="6903720" y="3420000"/>
            <a:ext cx="4251240" cy="712440"/>
          </a:xfrm>
          <a:prstGeom prst="roundRect">
            <a:avLst>
              <a:gd name="adj" fmla="val 7692"/>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4" name="Text 14"/>
          <p:cNvSpPr/>
          <p:nvPr/>
        </p:nvSpPr>
        <p:spPr>
          <a:xfrm>
            <a:off x="7068240" y="356616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5A21B"/>
                </a:solidFill>
                <a:effectLst/>
                <a:uFillTx/>
                <a:latin typeface="Aptos"/>
              </a:rPr>
              <a:t>Critic</a:t>
            </a:r>
            <a:endParaRPr lang="en-US" sz="1600" b="0" u="none" strike="noStrike">
              <a:solidFill>
                <a:srgbClr val="000000"/>
              </a:solidFill>
              <a:effectLst/>
              <a:uFillTx/>
              <a:latin typeface="Arial"/>
            </a:endParaRPr>
          </a:p>
        </p:txBody>
      </p:sp>
      <p:sp>
        <p:nvSpPr>
          <p:cNvPr id="545" name="Text 15"/>
          <p:cNvSpPr/>
          <p:nvPr/>
        </p:nvSpPr>
        <p:spPr>
          <a:xfrm>
            <a:off x="7068240" y="3895200"/>
            <a:ext cx="3922200" cy="118080"/>
          </a:xfrm>
          <a:prstGeom prst="rect">
            <a:avLst/>
          </a:prstGeom>
          <a:noFill/>
          <a:ln w="0">
            <a:noFill/>
          </a:ln>
        </p:spPr>
        <p:style>
          <a:lnRef idx="0"/>
          <a:fillRef idx="0"/>
          <a:effectRef idx="0"/>
          <a:fontRef idx="minor"/>
        </p:style>
        <p:txBody>
          <a:bodyPr lIns="360" tIns="360" rIns="360" bIns="360" anchor="ctr">
            <a:normAutofit fontScale="77500" lnSpcReduction="19999"/>
          </a:bodyPr>
          <a:p>
            <a:pPr defTabSz="914400">
              <a:lnSpc>
                <a:spcPct val="100000"/>
              </a:lnSpc>
              <a:tabLst>
                <a:tab pos="0" algn="l"/>
              </a:tabLst>
            </a:pPr>
            <a:r>
              <a:rPr lang="en-US" sz="1250" b="0" u="none" strike="noStrike">
                <a:solidFill>
                  <a:srgbClr val="0B1F3A"/>
                </a:solidFill>
                <a:effectLst/>
                <a:uFillTx/>
                <a:latin typeface="Aptos"/>
              </a:rPr>
              <a:t>Evaluates behavior against a fixed performance standard.</a:t>
            </a:r>
            <a:endParaRPr lang="en-US" sz="1250" b="0" u="none" strike="noStrike">
              <a:solidFill>
                <a:srgbClr val="000000"/>
              </a:solidFill>
              <a:effectLst/>
              <a:uFillTx/>
              <a:latin typeface="Arial"/>
            </a:endParaRPr>
          </a:p>
        </p:txBody>
      </p:sp>
      <p:sp>
        <p:nvSpPr>
          <p:cNvPr id="546" name="Shape 16"/>
          <p:cNvSpPr/>
          <p:nvPr/>
        </p:nvSpPr>
        <p:spPr>
          <a:xfrm>
            <a:off x="6903720" y="4352400"/>
            <a:ext cx="4251240" cy="712440"/>
          </a:xfrm>
          <a:prstGeom prst="roundRect">
            <a:avLst>
              <a:gd name="adj" fmla="val 7692"/>
            </a:avLst>
          </a:prstGeom>
          <a:solidFill>
            <a:srgbClr val="FFFFFF"/>
          </a:solidFill>
          <a:ln w="12700">
            <a:solidFill>
              <a:srgbClr val="D3DEE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7" name="Text 17"/>
          <p:cNvSpPr/>
          <p:nvPr/>
        </p:nvSpPr>
        <p:spPr>
          <a:xfrm>
            <a:off x="7068240" y="4498920"/>
            <a:ext cx="39222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5B35B1"/>
                </a:solidFill>
                <a:effectLst/>
                <a:uFillTx/>
                <a:latin typeface="Aptos"/>
              </a:rPr>
              <a:t>Problem generator</a:t>
            </a:r>
            <a:endParaRPr lang="en-US" sz="1600" b="0" u="none" strike="noStrike">
              <a:solidFill>
                <a:srgbClr val="000000"/>
              </a:solidFill>
              <a:effectLst/>
              <a:uFillTx/>
              <a:latin typeface="Arial"/>
            </a:endParaRPr>
          </a:p>
        </p:txBody>
      </p:sp>
      <p:sp>
        <p:nvSpPr>
          <p:cNvPr id="548" name="Text 18"/>
          <p:cNvSpPr/>
          <p:nvPr/>
        </p:nvSpPr>
        <p:spPr>
          <a:xfrm>
            <a:off x="7068240" y="4827960"/>
            <a:ext cx="3922200" cy="118080"/>
          </a:xfrm>
          <a:prstGeom prst="rect">
            <a:avLst/>
          </a:prstGeom>
          <a:noFill/>
          <a:ln w="0">
            <a:noFill/>
          </a:ln>
        </p:spPr>
        <p:style>
          <a:lnRef idx="0"/>
          <a:fillRef idx="0"/>
          <a:effectRef idx="0"/>
          <a:fontRef idx="minor"/>
        </p:style>
        <p:txBody>
          <a:bodyPr lIns="360" tIns="360" rIns="360" bIns="360" anchor="ctr">
            <a:normAutofit fontScale="77500" lnSpcReduction="19999"/>
          </a:bodyPr>
          <a:p>
            <a:pPr defTabSz="914400">
              <a:lnSpc>
                <a:spcPct val="100000"/>
              </a:lnSpc>
              <a:tabLst>
                <a:tab pos="0" algn="l"/>
              </a:tabLst>
            </a:pPr>
            <a:r>
              <a:rPr lang="en-US" sz="1250" b="0" u="none" strike="noStrike">
                <a:solidFill>
                  <a:srgbClr val="0B1F3A"/>
                </a:solidFill>
                <a:effectLst/>
                <a:uFillTx/>
                <a:latin typeface="Aptos"/>
              </a:rPr>
              <a:t>Suggests exploratory actions for informative experience.</a:t>
            </a:r>
            <a:endParaRPr lang="en-US" sz="1250" b="0" u="none" strike="noStrike">
              <a:solidFill>
                <a:srgbClr val="000000"/>
              </a:solidFill>
              <a:effectLst/>
              <a:uFillTx/>
              <a:latin typeface="Arial"/>
            </a:endParaRPr>
          </a:p>
        </p:txBody>
      </p:sp>
      <p:sp>
        <p:nvSpPr>
          <p:cNvPr id="549" name="Text 19"/>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2.15</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550"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1"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552"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Learning Agent Components: What Improves?</a:t>
            </a:r>
            <a:endParaRPr lang="en-US" sz="2300" b="0" u="none" strike="noStrike">
              <a:solidFill>
                <a:srgbClr val="000000"/>
              </a:solidFill>
              <a:effectLst/>
              <a:uFillTx/>
              <a:latin typeface="Arial"/>
            </a:endParaRPr>
          </a:p>
        </p:txBody>
      </p:sp>
      <p:sp>
        <p:nvSpPr>
          <p:cNvPr id="553"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554"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55"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27</a:t>
            </a:r>
          </a:p>
        </p:txBody>
      </p:sp>
      <p:sp>
        <p:nvSpPr>
          <p:cNvPr id="556" name="Shape 6"/>
          <p:cNvSpPr/>
          <p:nvPr/>
        </p:nvSpPr>
        <p:spPr>
          <a:xfrm>
            <a:off x="777240" y="1371600"/>
            <a:ext cx="319968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7" name="Text 7"/>
          <p:cNvSpPr/>
          <p:nvPr/>
        </p:nvSpPr>
        <p:spPr>
          <a:xfrm>
            <a:off x="941760" y="1517760"/>
            <a:ext cx="28706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6CB0"/>
                </a:solidFill>
                <a:effectLst/>
                <a:uFillTx/>
                <a:latin typeface="Aptos"/>
              </a:rPr>
              <a:t>Performance element</a:t>
            </a:r>
            <a:endParaRPr lang="en-US" sz="1600" b="0" u="none" strike="noStrike">
              <a:solidFill>
                <a:srgbClr val="000000"/>
              </a:solidFill>
              <a:effectLst/>
              <a:uFillTx/>
              <a:latin typeface="Arial"/>
            </a:endParaRPr>
          </a:p>
        </p:txBody>
      </p:sp>
      <p:sp>
        <p:nvSpPr>
          <p:cNvPr id="558" name="Text 8"/>
          <p:cNvSpPr/>
          <p:nvPr/>
        </p:nvSpPr>
        <p:spPr>
          <a:xfrm>
            <a:off x="941760" y="1847160"/>
            <a:ext cx="287064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action should I do now?</a:t>
            </a:r>
            <a:endParaRPr lang="en-US" sz="1300" b="0" u="none" strike="noStrike">
              <a:solidFill>
                <a:srgbClr val="000000"/>
              </a:solidFill>
              <a:effectLst/>
              <a:uFillTx/>
              <a:latin typeface="Arial"/>
            </a:endParaRPr>
          </a:p>
        </p:txBody>
      </p:sp>
      <p:sp>
        <p:nvSpPr>
          <p:cNvPr id="559" name="Shape 9"/>
          <p:cNvSpPr/>
          <p:nvPr/>
        </p:nvSpPr>
        <p:spPr>
          <a:xfrm>
            <a:off x="4480560" y="1371600"/>
            <a:ext cx="319968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0" name="Text 10"/>
          <p:cNvSpPr/>
          <p:nvPr/>
        </p:nvSpPr>
        <p:spPr>
          <a:xfrm>
            <a:off x="4645080" y="1517760"/>
            <a:ext cx="28706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48A97"/>
                </a:solidFill>
                <a:effectLst/>
                <a:uFillTx/>
                <a:latin typeface="Aptos"/>
              </a:rPr>
              <a:t>Transition model</a:t>
            </a:r>
            <a:endParaRPr lang="en-US" sz="1600" b="0" u="none" strike="noStrike">
              <a:solidFill>
                <a:srgbClr val="000000"/>
              </a:solidFill>
              <a:effectLst/>
              <a:uFillTx/>
              <a:latin typeface="Arial"/>
            </a:endParaRPr>
          </a:p>
        </p:txBody>
      </p:sp>
      <p:sp>
        <p:nvSpPr>
          <p:cNvPr id="561" name="Text 11"/>
          <p:cNvSpPr/>
          <p:nvPr/>
        </p:nvSpPr>
        <p:spPr>
          <a:xfrm>
            <a:off x="4645080" y="1847160"/>
            <a:ext cx="287064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do my actions do?</a:t>
            </a:r>
            <a:endParaRPr lang="en-US" sz="1300" b="0" u="none" strike="noStrike">
              <a:solidFill>
                <a:srgbClr val="000000"/>
              </a:solidFill>
              <a:effectLst/>
              <a:uFillTx/>
              <a:latin typeface="Arial"/>
            </a:endParaRPr>
          </a:p>
        </p:txBody>
      </p:sp>
      <p:sp>
        <p:nvSpPr>
          <p:cNvPr id="562" name="Shape 12"/>
          <p:cNvSpPr/>
          <p:nvPr/>
        </p:nvSpPr>
        <p:spPr>
          <a:xfrm>
            <a:off x="8183880" y="1371600"/>
            <a:ext cx="319968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3" name="Text 13"/>
          <p:cNvSpPr/>
          <p:nvPr/>
        </p:nvSpPr>
        <p:spPr>
          <a:xfrm>
            <a:off x="8348400" y="1517760"/>
            <a:ext cx="28706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5A21B"/>
                </a:solidFill>
                <a:effectLst/>
                <a:uFillTx/>
                <a:latin typeface="Aptos"/>
              </a:rPr>
              <a:t>Sensor model</a:t>
            </a:r>
            <a:endParaRPr lang="en-US" sz="1600" b="0" u="none" strike="noStrike">
              <a:solidFill>
                <a:srgbClr val="000000"/>
              </a:solidFill>
              <a:effectLst/>
              <a:uFillTx/>
              <a:latin typeface="Arial"/>
            </a:endParaRPr>
          </a:p>
        </p:txBody>
      </p:sp>
      <p:sp>
        <p:nvSpPr>
          <p:cNvPr id="564" name="Text 14"/>
          <p:cNvSpPr/>
          <p:nvPr/>
        </p:nvSpPr>
        <p:spPr>
          <a:xfrm>
            <a:off x="8348400" y="1847160"/>
            <a:ext cx="287064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percepts should I expect?</a:t>
            </a:r>
            <a:endParaRPr lang="en-US" sz="1300" b="0" u="none" strike="noStrike">
              <a:solidFill>
                <a:srgbClr val="000000"/>
              </a:solidFill>
              <a:effectLst/>
              <a:uFillTx/>
              <a:latin typeface="Arial"/>
            </a:endParaRPr>
          </a:p>
        </p:txBody>
      </p:sp>
      <p:sp>
        <p:nvSpPr>
          <p:cNvPr id="565" name="Shape 15"/>
          <p:cNvSpPr/>
          <p:nvPr/>
        </p:nvSpPr>
        <p:spPr>
          <a:xfrm>
            <a:off x="2651760" y="3657600"/>
            <a:ext cx="347400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6" name="Text 16"/>
          <p:cNvSpPr/>
          <p:nvPr/>
        </p:nvSpPr>
        <p:spPr>
          <a:xfrm>
            <a:off x="2816280" y="380376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5B35B1"/>
                </a:solidFill>
                <a:effectLst/>
                <a:uFillTx/>
                <a:latin typeface="Aptos"/>
              </a:rPr>
              <a:t>Utility / rules</a:t>
            </a:r>
            <a:endParaRPr lang="en-US" sz="1600" b="0" u="none" strike="noStrike">
              <a:solidFill>
                <a:srgbClr val="000000"/>
              </a:solidFill>
              <a:effectLst/>
              <a:uFillTx/>
              <a:latin typeface="Arial"/>
            </a:endParaRPr>
          </a:p>
        </p:txBody>
      </p:sp>
      <p:sp>
        <p:nvSpPr>
          <p:cNvPr id="567" name="Text 17"/>
          <p:cNvSpPr/>
          <p:nvPr/>
        </p:nvSpPr>
        <p:spPr>
          <a:xfrm>
            <a:off x="2816280" y="4133160"/>
            <a:ext cx="31449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outcomes should I prefer?</a:t>
            </a:r>
            <a:endParaRPr lang="en-US" sz="1300" b="0" u="none" strike="noStrike">
              <a:solidFill>
                <a:srgbClr val="000000"/>
              </a:solidFill>
              <a:effectLst/>
              <a:uFillTx/>
              <a:latin typeface="Arial"/>
            </a:endParaRPr>
          </a:p>
        </p:txBody>
      </p:sp>
      <p:sp>
        <p:nvSpPr>
          <p:cNvPr id="568" name="Shape 18"/>
          <p:cNvSpPr/>
          <p:nvPr/>
        </p:nvSpPr>
        <p:spPr>
          <a:xfrm>
            <a:off x="6583680" y="3657600"/>
            <a:ext cx="3474000" cy="1142280"/>
          </a:xfrm>
          <a:prstGeom prst="roundRect">
            <a:avLst>
              <a:gd name="adj" fmla="val 4800"/>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9" name="Text 19"/>
          <p:cNvSpPr/>
          <p:nvPr/>
        </p:nvSpPr>
        <p:spPr>
          <a:xfrm>
            <a:off x="6748200" y="380376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B7A45"/>
                </a:solidFill>
                <a:effectLst/>
                <a:uFillTx/>
                <a:latin typeface="Aptos"/>
              </a:rPr>
              <a:t>Problem generator</a:t>
            </a:r>
            <a:endParaRPr lang="en-US" sz="1600" b="0" u="none" strike="noStrike">
              <a:solidFill>
                <a:srgbClr val="000000"/>
              </a:solidFill>
              <a:effectLst/>
              <a:uFillTx/>
              <a:latin typeface="Arial"/>
            </a:endParaRPr>
          </a:p>
        </p:txBody>
      </p:sp>
      <p:sp>
        <p:nvSpPr>
          <p:cNvPr id="570" name="Text 20"/>
          <p:cNvSpPr/>
          <p:nvPr/>
        </p:nvSpPr>
        <p:spPr>
          <a:xfrm>
            <a:off x="6748200" y="4133160"/>
            <a:ext cx="31449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What should I explore next?</a:t>
            </a:r>
            <a:endParaRPr lang="en-US" sz="1300" b="0" u="none" strike="noStrike">
              <a:solidFill>
                <a:srgbClr val="000000"/>
              </a:solidFill>
              <a:effectLst/>
              <a:uFillTx/>
              <a:latin typeface="Arial"/>
            </a:endParaRPr>
          </a:p>
        </p:txBody>
      </p:sp>
      <p:sp>
        <p:nvSpPr>
          <p:cNvPr id="571" name="Text 21"/>
          <p:cNvSpPr/>
          <p:nvPr/>
        </p:nvSpPr>
        <p:spPr>
          <a:xfrm>
            <a:off x="868680" y="5504760"/>
            <a:ext cx="1042344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0B2B5C"/>
                </a:solidFill>
                <a:effectLst/>
                <a:uFillTx/>
                <a:latin typeface="Aptos"/>
              </a:rPr>
              <a:t>Learning modifies agent components to better match feedback and improve performance.</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572"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73"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574"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2.4.7 Representing the World Inside the Agent</a:t>
            </a:r>
            <a:endParaRPr lang="en-US" sz="2300" b="0" u="none" strike="noStrike">
              <a:solidFill>
                <a:srgbClr val="000000"/>
              </a:solidFill>
              <a:effectLst/>
              <a:uFillTx/>
              <a:latin typeface="Arial"/>
            </a:endParaRPr>
          </a:p>
        </p:txBody>
      </p:sp>
      <p:sp>
        <p:nvSpPr>
          <p:cNvPr id="575"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2.4.7</a:t>
            </a:r>
            <a:endParaRPr lang="en-US" sz="1200" b="0" u="none" strike="noStrike">
              <a:solidFill>
                <a:srgbClr val="000000"/>
              </a:solidFill>
              <a:effectLst/>
              <a:uFillTx/>
              <a:latin typeface="Arial"/>
            </a:endParaRPr>
          </a:p>
        </p:txBody>
      </p:sp>
      <p:sp>
        <p:nvSpPr>
          <p:cNvPr id="576"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77"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28</a:t>
            </a:r>
          </a:p>
        </p:txBody>
      </p:sp>
      <p:pic>
        <p:nvPicPr>
          <p:cNvPr id="578" name="Image 0" descr="/mnt/data/ch2_docx_unzipped/word/media/image14.png"/>
          <p:cNvPicPr/>
          <p:nvPr/>
        </p:nvPicPr>
        <p:blipFill>
          <a:blip r:embed="rId1"/>
          <a:stretch/>
        </p:blipFill>
        <p:spPr>
          <a:xfrm>
            <a:off x="228600" y="1088280"/>
            <a:ext cx="5749560" cy="3483360"/>
          </a:xfrm>
          <a:prstGeom prst="rect">
            <a:avLst/>
          </a:prstGeom>
          <a:noFill/>
          <a:ln w="0">
            <a:noFill/>
          </a:ln>
        </p:spPr>
      </p:pic>
      <p:sp>
        <p:nvSpPr>
          <p:cNvPr id="579" name="Shape 6"/>
          <p:cNvSpPr/>
          <p:nvPr/>
        </p:nvSpPr>
        <p:spPr>
          <a:xfrm>
            <a:off x="6583680" y="1188720"/>
            <a:ext cx="1599480" cy="2056680"/>
          </a:xfrm>
          <a:prstGeom prst="roundRect">
            <a:avLst>
              <a:gd name="adj" fmla="val 3429"/>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0" name="Text 7"/>
          <p:cNvSpPr/>
          <p:nvPr/>
        </p:nvSpPr>
        <p:spPr>
          <a:xfrm>
            <a:off x="6748200" y="1334880"/>
            <a:ext cx="12704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6CB0"/>
                </a:solidFill>
                <a:effectLst/>
                <a:uFillTx/>
                <a:latin typeface="Aptos"/>
              </a:rPr>
              <a:t>Atomic</a:t>
            </a:r>
            <a:endParaRPr lang="en-US" sz="1500" b="0" u="none" strike="noStrike">
              <a:solidFill>
                <a:srgbClr val="000000"/>
              </a:solidFill>
              <a:effectLst/>
              <a:uFillTx/>
              <a:latin typeface="Arial"/>
            </a:endParaRPr>
          </a:p>
        </p:txBody>
      </p:sp>
      <p:sp>
        <p:nvSpPr>
          <p:cNvPr id="581" name="Text 8"/>
          <p:cNvSpPr/>
          <p:nvPr/>
        </p:nvSpPr>
        <p:spPr>
          <a:xfrm>
            <a:off x="6748200" y="1664280"/>
            <a:ext cx="1270440" cy="14623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080" b="0" u="none" strike="noStrike">
                <a:solidFill>
                  <a:srgbClr val="0B1F3A"/>
                </a:solidFill>
                <a:effectLst/>
                <a:uFillTx/>
                <a:latin typeface="Aptos"/>
              </a:rPr>
              <a:t>State is a black box.</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city name only.</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search, games, HMMs, MDPs.</a:t>
            </a:r>
            <a:endParaRPr lang="en-US" sz="1080" b="0" u="none" strike="noStrike">
              <a:solidFill>
                <a:srgbClr val="000000"/>
              </a:solidFill>
              <a:effectLst/>
              <a:uFillTx/>
              <a:latin typeface="Arial"/>
            </a:endParaRPr>
          </a:p>
        </p:txBody>
      </p:sp>
      <p:sp>
        <p:nvSpPr>
          <p:cNvPr id="582" name="Shape 9"/>
          <p:cNvSpPr/>
          <p:nvPr/>
        </p:nvSpPr>
        <p:spPr>
          <a:xfrm>
            <a:off x="8229600" y="1188720"/>
            <a:ext cx="1782360" cy="2056680"/>
          </a:xfrm>
          <a:prstGeom prst="roundRect">
            <a:avLst>
              <a:gd name="adj" fmla="val 3077"/>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3" name="Text 10"/>
          <p:cNvSpPr/>
          <p:nvPr/>
        </p:nvSpPr>
        <p:spPr>
          <a:xfrm>
            <a:off x="8394120" y="1334880"/>
            <a:ext cx="14533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48A97"/>
                </a:solidFill>
                <a:effectLst/>
                <a:uFillTx/>
                <a:latin typeface="Aptos"/>
              </a:rPr>
              <a:t>Factored</a:t>
            </a:r>
            <a:endParaRPr lang="en-US" sz="1500" b="0" u="none" strike="noStrike">
              <a:solidFill>
                <a:srgbClr val="000000"/>
              </a:solidFill>
              <a:effectLst/>
              <a:uFillTx/>
              <a:latin typeface="Arial"/>
            </a:endParaRPr>
          </a:p>
        </p:txBody>
      </p:sp>
      <p:sp>
        <p:nvSpPr>
          <p:cNvPr id="584" name="Text 11"/>
          <p:cNvSpPr/>
          <p:nvPr/>
        </p:nvSpPr>
        <p:spPr>
          <a:xfrm>
            <a:off x="8394120" y="1664280"/>
            <a:ext cx="1453320" cy="14623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080" b="0" u="none" strike="noStrike">
                <a:solidFill>
                  <a:srgbClr val="0B1F3A"/>
                </a:solidFill>
                <a:effectLst/>
                <a:uFillTx/>
                <a:latin typeface="Aptos"/>
              </a:rPr>
              <a:t>State is a set of variables.</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location, fuel, speed, weather.</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CSPs, logic, Bayes nets, planning.</a:t>
            </a:r>
            <a:endParaRPr lang="en-US" sz="1080" b="0" u="none" strike="noStrike">
              <a:solidFill>
                <a:srgbClr val="000000"/>
              </a:solidFill>
              <a:effectLst/>
              <a:uFillTx/>
              <a:latin typeface="Arial"/>
            </a:endParaRPr>
          </a:p>
        </p:txBody>
      </p:sp>
      <p:sp>
        <p:nvSpPr>
          <p:cNvPr id="585" name="Shape 12"/>
          <p:cNvSpPr/>
          <p:nvPr/>
        </p:nvSpPr>
        <p:spPr>
          <a:xfrm>
            <a:off x="10058400" y="1188720"/>
            <a:ext cx="1690920" cy="2056680"/>
          </a:xfrm>
          <a:prstGeom prst="roundRect">
            <a:avLst>
              <a:gd name="adj" fmla="val 3243"/>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6" name="Text 13"/>
          <p:cNvSpPr/>
          <p:nvPr/>
        </p:nvSpPr>
        <p:spPr>
          <a:xfrm>
            <a:off x="10222920" y="1334880"/>
            <a:ext cx="13618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B35B1"/>
                </a:solidFill>
                <a:effectLst/>
                <a:uFillTx/>
                <a:latin typeface="Aptos"/>
              </a:rPr>
              <a:t>Structured</a:t>
            </a:r>
            <a:endParaRPr lang="en-US" sz="1500" b="0" u="none" strike="noStrike">
              <a:solidFill>
                <a:srgbClr val="000000"/>
              </a:solidFill>
              <a:effectLst/>
              <a:uFillTx/>
              <a:latin typeface="Arial"/>
            </a:endParaRPr>
          </a:p>
        </p:txBody>
      </p:sp>
      <p:sp>
        <p:nvSpPr>
          <p:cNvPr id="587" name="Text 14"/>
          <p:cNvSpPr/>
          <p:nvPr/>
        </p:nvSpPr>
        <p:spPr>
          <a:xfrm>
            <a:off x="10222920" y="1664280"/>
            <a:ext cx="1361880" cy="14623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080" b="0" u="none" strike="noStrike">
                <a:solidFill>
                  <a:srgbClr val="0B1F3A"/>
                </a:solidFill>
                <a:effectLst/>
                <a:uFillTx/>
                <a:latin typeface="Aptos"/>
              </a:rPr>
              <a:t>Objects plus relations.</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truck blocking cow near driveway.</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first-order logic, databases, language.</a:t>
            </a:r>
            <a:endParaRPr lang="en-US" sz="1080" b="0" u="none" strike="noStrike">
              <a:solidFill>
                <a:srgbClr val="000000"/>
              </a:solidFill>
              <a:effectLst/>
              <a:uFillTx/>
              <a:latin typeface="Arial"/>
            </a:endParaRPr>
          </a:p>
        </p:txBody>
      </p:sp>
      <p:sp>
        <p:nvSpPr>
          <p:cNvPr id="588" name="Shape 15"/>
          <p:cNvSpPr/>
          <p:nvPr/>
        </p:nvSpPr>
        <p:spPr>
          <a:xfrm>
            <a:off x="1097280" y="4846320"/>
            <a:ext cx="9875520" cy="360"/>
          </a:xfrm>
          <a:prstGeom prst="line">
            <a:avLst/>
          </a:prstGeom>
          <a:ln w="25400">
            <a:solidFill>
              <a:srgbClr val="F5A21B"/>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89" name="Text 16"/>
          <p:cNvSpPr/>
          <p:nvPr/>
        </p:nvSpPr>
        <p:spPr>
          <a:xfrm>
            <a:off x="1097280" y="5010840"/>
            <a:ext cx="31996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5E7088"/>
                </a:solidFill>
                <a:effectLst/>
                <a:uFillTx/>
                <a:latin typeface="Aptos"/>
              </a:rPr>
              <a:t>less expressive, easier reasoning</a:t>
            </a:r>
            <a:endParaRPr lang="en-US" sz="1200" b="0" u="none" strike="noStrike">
              <a:solidFill>
                <a:srgbClr val="000000"/>
              </a:solidFill>
              <a:effectLst/>
              <a:uFillTx/>
              <a:latin typeface="Arial"/>
            </a:endParaRPr>
          </a:p>
        </p:txBody>
      </p:sp>
      <p:sp>
        <p:nvSpPr>
          <p:cNvPr id="590" name="Text 17"/>
          <p:cNvSpPr/>
          <p:nvPr/>
        </p:nvSpPr>
        <p:spPr>
          <a:xfrm>
            <a:off x="7818120" y="5010840"/>
            <a:ext cx="319968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5E7088"/>
                </a:solidFill>
                <a:effectLst/>
                <a:uFillTx/>
                <a:latin typeface="Aptos"/>
              </a:rPr>
              <a:t>more expressive, harder reasoning</a:t>
            </a:r>
            <a:endParaRPr lang="en-US" sz="1200" b="0" u="none" strike="noStrike">
              <a:solidFill>
                <a:srgbClr val="000000"/>
              </a:solidFill>
              <a:effectLst/>
              <a:uFillTx/>
              <a:latin typeface="Arial"/>
            </a:endParaRPr>
          </a:p>
        </p:txBody>
      </p:sp>
      <p:sp>
        <p:nvSpPr>
          <p:cNvPr id="591" name="Text 18"/>
          <p:cNvSpPr/>
          <p:nvPr/>
        </p:nvSpPr>
        <p:spPr>
          <a:xfrm>
            <a:off x="822960" y="5632560"/>
            <a:ext cx="10606320" cy="32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50" b="1" u="none" strike="noStrike">
                <a:solidFill>
                  <a:srgbClr val="0B2B5C"/>
                </a:solidFill>
                <a:effectLst/>
                <a:uFillTx/>
                <a:latin typeface="Aptos"/>
              </a:rPr>
              <a:t>Design choice: enough expressive power for the task, but not more than the agent can reason with efficiently.</a:t>
            </a:r>
            <a:endParaRPr lang="en-US" sz="1650" b="0" u="none" strike="noStrike">
              <a:solidFill>
                <a:srgbClr val="000000"/>
              </a:solidFill>
              <a:effectLst/>
              <a:uFillTx/>
              <a:latin typeface="Arial"/>
            </a:endParaRPr>
          </a:p>
        </p:txBody>
      </p:sp>
      <p:sp>
        <p:nvSpPr>
          <p:cNvPr id="592" name="Text 19"/>
          <p:cNvSpPr/>
          <p:nvPr/>
        </p:nvSpPr>
        <p:spPr>
          <a:xfrm>
            <a:off x="9326880" y="6364080"/>
            <a:ext cx="2376720" cy="163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E7088"/>
                </a:solidFill>
                <a:effectLst/>
                <a:uFillTx/>
                <a:latin typeface="Aptos"/>
              </a:rPr>
              <a:t>Figure 2.16</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593"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4"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595"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All Agent Program Designs in Chapter 2</a:t>
            </a:r>
            <a:endParaRPr lang="en-US" sz="2300" b="0" u="none" strike="noStrike">
              <a:solidFill>
                <a:srgbClr val="000000"/>
              </a:solidFill>
              <a:effectLst/>
              <a:uFillTx/>
              <a:latin typeface="Arial"/>
            </a:endParaRPr>
          </a:p>
        </p:txBody>
      </p:sp>
      <p:sp>
        <p:nvSpPr>
          <p:cNvPr id="596"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Synthesis</a:t>
            </a:r>
            <a:endParaRPr lang="en-US" sz="1200" b="0" u="none" strike="noStrike">
              <a:solidFill>
                <a:srgbClr val="000000"/>
              </a:solidFill>
              <a:effectLst/>
              <a:uFillTx/>
              <a:latin typeface="Arial"/>
            </a:endParaRPr>
          </a:p>
        </p:txBody>
      </p:sp>
      <p:sp>
        <p:nvSpPr>
          <p:cNvPr id="597"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98"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29</a:t>
            </a:r>
          </a:p>
        </p:txBody>
      </p:sp>
      <p:sp>
        <p:nvSpPr>
          <p:cNvPr id="599" name="Shape 6"/>
          <p:cNvSpPr/>
          <p:nvPr/>
        </p:nvSpPr>
        <p:spPr>
          <a:xfrm>
            <a:off x="502920" y="114300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0" name="Text 7"/>
          <p:cNvSpPr/>
          <p:nvPr/>
        </p:nvSpPr>
        <p:spPr>
          <a:xfrm>
            <a:off x="667440" y="128916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A32020"/>
                </a:solidFill>
                <a:effectLst/>
                <a:uFillTx/>
                <a:latin typeface="Aptos"/>
              </a:rPr>
              <a:t>Table-driven</a:t>
            </a:r>
            <a:endParaRPr lang="en-US" sz="1800" b="0" u="none" strike="noStrike">
              <a:solidFill>
                <a:srgbClr val="000000"/>
              </a:solidFill>
              <a:effectLst/>
              <a:uFillTx/>
              <a:latin typeface="Arial"/>
            </a:endParaRPr>
          </a:p>
        </p:txBody>
      </p:sp>
      <p:sp>
        <p:nvSpPr>
          <p:cNvPr id="601" name="Text 8"/>
          <p:cNvSpPr/>
          <p:nvPr/>
        </p:nvSpPr>
        <p:spPr>
          <a:xfrm>
            <a:off x="667440" y="161856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Stores percept history and looks up an action in a table.</a:t>
            </a:r>
            <a:endParaRPr lang="en-US" sz="1300" b="0" u="none" strike="noStrike">
              <a:solidFill>
                <a:srgbClr val="000000"/>
              </a:solidFill>
              <a:effectLst/>
              <a:uFillTx/>
              <a:latin typeface="Arial"/>
            </a:endParaRPr>
          </a:p>
        </p:txBody>
      </p:sp>
      <p:sp>
        <p:nvSpPr>
          <p:cNvPr id="602" name="Shape 9"/>
          <p:cNvSpPr/>
          <p:nvPr/>
        </p:nvSpPr>
        <p:spPr>
          <a:xfrm>
            <a:off x="4389120" y="114300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3" name="Text 10"/>
          <p:cNvSpPr/>
          <p:nvPr/>
        </p:nvSpPr>
        <p:spPr>
          <a:xfrm>
            <a:off x="4553640" y="128916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2B6CB0"/>
                </a:solidFill>
                <a:effectLst/>
                <a:uFillTx/>
                <a:latin typeface="Aptos"/>
              </a:rPr>
              <a:t>Simple reflex</a:t>
            </a:r>
            <a:endParaRPr lang="en-US" sz="1800" b="0" u="none" strike="noStrike">
              <a:solidFill>
                <a:srgbClr val="000000"/>
              </a:solidFill>
              <a:effectLst/>
              <a:uFillTx/>
              <a:latin typeface="Arial"/>
            </a:endParaRPr>
          </a:p>
        </p:txBody>
      </p:sp>
      <p:sp>
        <p:nvSpPr>
          <p:cNvPr id="604" name="Text 11"/>
          <p:cNvSpPr/>
          <p:nvPr/>
        </p:nvSpPr>
        <p:spPr>
          <a:xfrm>
            <a:off x="4553640" y="161856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Maps current percept to action using condition-action rules.</a:t>
            </a:r>
            <a:endParaRPr lang="en-US" sz="1300" b="0" u="none" strike="noStrike">
              <a:solidFill>
                <a:srgbClr val="000000"/>
              </a:solidFill>
              <a:effectLst/>
              <a:uFillTx/>
              <a:latin typeface="Arial"/>
            </a:endParaRPr>
          </a:p>
        </p:txBody>
      </p:sp>
      <p:sp>
        <p:nvSpPr>
          <p:cNvPr id="605" name="Shape 12"/>
          <p:cNvSpPr/>
          <p:nvPr/>
        </p:nvSpPr>
        <p:spPr>
          <a:xfrm>
            <a:off x="8275320" y="114300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6" name="Text 13"/>
          <p:cNvSpPr/>
          <p:nvPr/>
        </p:nvSpPr>
        <p:spPr>
          <a:xfrm>
            <a:off x="8439840" y="128916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48A97"/>
                </a:solidFill>
                <a:effectLst/>
                <a:uFillTx/>
                <a:latin typeface="Aptos"/>
              </a:rPr>
              <a:t>Model-based reflex</a:t>
            </a:r>
            <a:endParaRPr lang="en-US" sz="1800" b="0" u="none" strike="noStrike">
              <a:solidFill>
                <a:srgbClr val="000000"/>
              </a:solidFill>
              <a:effectLst/>
              <a:uFillTx/>
              <a:latin typeface="Arial"/>
            </a:endParaRPr>
          </a:p>
        </p:txBody>
      </p:sp>
      <p:sp>
        <p:nvSpPr>
          <p:cNvPr id="607" name="Text 14"/>
          <p:cNvSpPr/>
          <p:nvPr/>
        </p:nvSpPr>
        <p:spPr>
          <a:xfrm>
            <a:off x="8439840" y="161856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Maintains internal state using transition and sensor models.</a:t>
            </a:r>
            <a:endParaRPr lang="en-US" sz="1300" b="0" u="none" strike="noStrike">
              <a:solidFill>
                <a:srgbClr val="000000"/>
              </a:solidFill>
              <a:effectLst/>
              <a:uFillTx/>
              <a:latin typeface="Arial"/>
            </a:endParaRPr>
          </a:p>
        </p:txBody>
      </p:sp>
      <p:sp>
        <p:nvSpPr>
          <p:cNvPr id="608" name="Shape 15"/>
          <p:cNvSpPr/>
          <p:nvPr/>
        </p:nvSpPr>
        <p:spPr>
          <a:xfrm>
            <a:off x="502920" y="301752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9" name="Text 16"/>
          <p:cNvSpPr/>
          <p:nvPr/>
        </p:nvSpPr>
        <p:spPr>
          <a:xfrm>
            <a:off x="667440" y="316368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5A21B"/>
                </a:solidFill>
                <a:effectLst/>
                <a:uFillTx/>
                <a:latin typeface="Aptos"/>
              </a:rPr>
              <a:t>Goal-based</a:t>
            </a:r>
            <a:endParaRPr lang="en-US" sz="1800" b="0" u="none" strike="noStrike">
              <a:solidFill>
                <a:srgbClr val="000000"/>
              </a:solidFill>
              <a:effectLst/>
              <a:uFillTx/>
              <a:latin typeface="Arial"/>
            </a:endParaRPr>
          </a:p>
        </p:txBody>
      </p:sp>
      <p:sp>
        <p:nvSpPr>
          <p:cNvPr id="610" name="Text 17"/>
          <p:cNvSpPr/>
          <p:nvPr/>
        </p:nvSpPr>
        <p:spPr>
          <a:xfrm>
            <a:off x="667440" y="349308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Chooses actions by reasoning toward goals.</a:t>
            </a:r>
            <a:endParaRPr lang="en-US" sz="1300" b="0" u="none" strike="noStrike">
              <a:solidFill>
                <a:srgbClr val="000000"/>
              </a:solidFill>
              <a:effectLst/>
              <a:uFillTx/>
              <a:latin typeface="Arial"/>
            </a:endParaRPr>
          </a:p>
        </p:txBody>
      </p:sp>
      <p:sp>
        <p:nvSpPr>
          <p:cNvPr id="611" name="Shape 18"/>
          <p:cNvSpPr/>
          <p:nvPr/>
        </p:nvSpPr>
        <p:spPr>
          <a:xfrm>
            <a:off x="4389120" y="301752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2" name="Text 19"/>
          <p:cNvSpPr/>
          <p:nvPr/>
        </p:nvSpPr>
        <p:spPr>
          <a:xfrm>
            <a:off x="4553640" y="316368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5B35B1"/>
                </a:solidFill>
                <a:effectLst/>
                <a:uFillTx/>
                <a:latin typeface="Aptos"/>
              </a:rPr>
              <a:t>Utility-based</a:t>
            </a:r>
            <a:endParaRPr lang="en-US" sz="1800" b="0" u="none" strike="noStrike">
              <a:solidFill>
                <a:srgbClr val="000000"/>
              </a:solidFill>
              <a:effectLst/>
              <a:uFillTx/>
              <a:latin typeface="Arial"/>
            </a:endParaRPr>
          </a:p>
        </p:txBody>
      </p:sp>
      <p:sp>
        <p:nvSpPr>
          <p:cNvPr id="613" name="Text 20"/>
          <p:cNvSpPr/>
          <p:nvPr/>
        </p:nvSpPr>
        <p:spPr>
          <a:xfrm>
            <a:off x="4553640" y="349308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Ranks outcomes and maximizes expected utility.</a:t>
            </a:r>
            <a:endParaRPr lang="en-US" sz="1300" b="0" u="none" strike="noStrike">
              <a:solidFill>
                <a:srgbClr val="000000"/>
              </a:solidFill>
              <a:effectLst/>
              <a:uFillTx/>
              <a:latin typeface="Arial"/>
            </a:endParaRPr>
          </a:p>
        </p:txBody>
      </p:sp>
      <p:sp>
        <p:nvSpPr>
          <p:cNvPr id="614" name="Shape 21"/>
          <p:cNvSpPr/>
          <p:nvPr/>
        </p:nvSpPr>
        <p:spPr>
          <a:xfrm>
            <a:off x="8275320" y="3017520"/>
            <a:ext cx="3474000" cy="1416600"/>
          </a:xfrm>
          <a:prstGeom prst="roundRect">
            <a:avLst>
              <a:gd name="adj" fmla="val 3871"/>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5" name="Text 22"/>
          <p:cNvSpPr/>
          <p:nvPr/>
        </p:nvSpPr>
        <p:spPr>
          <a:xfrm>
            <a:off x="8439840" y="3163680"/>
            <a:ext cx="31449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B7A45"/>
                </a:solidFill>
                <a:effectLst/>
                <a:uFillTx/>
                <a:latin typeface="Aptos"/>
              </a:rPr>
              <a:t>Learning</a:t>
            </a:r>
            <a:endParaRPr lang="en-US" sz="1800" b="0" u="none" strike="noStrike">
              <a:solidFill>
                <a:srgbClr val="000000"/>
              </a:solidFill>
              <a:effectLst/>
              <a:uFillTx/>
              <a:latin typeface="Arial"/>
            </a:endParaRPr>
          </a:p>
        </p:txBody>
      </p:sp>
      <p:sp>
        <p:nvSpPr>
          <p:cNvPr id="616" name="Text 23"/>
          <p:cNvSpPr/>
          <p:nvPr/>
        </p:nvSpPr>
        <p:spPr>
          <a:xfrm>
            <a:off x="8439840" y="3493080"/>
            <a:ext cx="3144960" cy="822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0" u="none" strike="noStrike">
                <a:solidFill>
                  <a:srgbClr val="0B1F3A"/>
                </a:solidFill>
                <a:effectLst/>
                <a:uFillTx/>
                <a:latin typeface="Aptos"/>
              </a:rPr>
              <a:t>Improves components from feedback and experience.</a:t>
            </a:r>
            <a:endParaRPr lang="en-US" sz="1300" b="0" u="none" strike="noStrike">
              <a:solidFill>
                <a:srgbClr val="000000"/>
              </a:solidFill>
              <a:effectLst/>
              <a:uFillTx/>
              <a:latin typeface="Arial"/>
            </a:endParaRPr>
          </a:p>
        </p:txBody>
      </p:sp>
      <p:sp>
        <p:nvSpPr>
          <p:cNvPr id="617" name="Text 24"/>
          <p:cNvSpPr/>
          <p:nvPr/>
        </p:nvSpPr>
        <p:spPr>
          <a:xfrm>
            <a:off x="731520" y="5532120"/>
            <a:ext cx="1078920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These are design patterns, not rigid boxes. Real systems often combine them.</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618"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9"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620"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Choosing an Agent Design from Environment Properties</a:t>
            </a:r>
            <a:endParaRPr lang="en-US" sz="2300" b="0" u="none" strike="noStrike">
              <a:solidFill>
                <a:srgbClr val="000000"/>
              </a:solidFill>
              <a:effectLst/>
              <a:uFillTx/>
              <a:latin typeface="Arial"/>
            </a:endParaRPr>
          </a:p>
        </p:txBody>
      </p:sp>
      <p:sp>
        <p:nvSpPr>
          <p:cNvPr id="621"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Synthesis</a:t>
            </a:r>
            <a:endParaRPr lang="en-US" sz="1200" b="0" u="none" strike="noStrike">
              <a:solidFill>
                <a:srgbClr val="000000"/>
              </a:solidFill>
              <a:effectLst/>
              <a:uFillTx/>
              <a:latin typeface="Arial"/>
            </a:endParaRPr>
          </a:p>
        </p:txBody>
      </p:sp>
      <p:sp>
        <p:nvSpPr>
          <p:cNvPr id="622"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623"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30</a:t>
            </a:r>
          </a:p>
        </p:txBody>
      </p:sp>
      <p:sp>
        <p:nvSpPr>
          <p:cNvPr id="624" name="Shape 6"/>
          <p:cNvSpPr/>
          <p:nvPr/>
        </p:nvSpPr>
        <p:spPr>
          <a:xfrm>
            <a:off x="658440" y="1078920"/>
            <a:ext cx="498276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5" name="Text 7"/>
          <p:cNvSpPr/>
          <p:nvPr/>
        </p:nvSpPr>
        <p:spPr>
          <a:xfrm>
            <a:off x="822960" y="1225440"/>
            <a:ext cx="46537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2B6CB0"/>
                </a:solidFill>
                <a:effectLst/>
                <a:uFillTx/>
                <a:latin typeface="Aptos"/>
              </a:rPr>
              <a:t>Fully observable + simple</a:t>
            </a:r>
            <a:endParaRPr lang="en-US" sz="1550" b="0" u="none" strike="noStrike">
              <a:solidFill>
                <a:srgbClr val="000000"/>
              </a:solidFill>
              <a:effectLst/>
              <a:uFillTx/>
              <a:latin typeface="Arial"/>
            </a:endParaRPr>
          </a:p>
        </p:txBody>
      </p:sp>
      <p:sp>
        <p:nvSpPr>
          <p:cNvPr id="626" name="Text 8"/>
          <p:cNvSpPr/>
          <p:nvPr/>
        </p:nvSpPr>
        <p:spPr>
          <a:xfrm>
            <a:off x="822960" y="1554480"/>
            <a:ext cx="465372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Simple reflex</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Fast condition-action rules may be enough.</a:t>
            </a:r>
            <a:endParaRPr lang="en-US" sz="1250" b="0" u="none" strike="noStrike">
              <a:solidFill>
                <a:srgbClr val="000000"/>
              </a:solidFill>
              <a:effectLst/>
              <a:uFillTx/>
              <a:latin typeface="Arial"/>
            </a:endParaRPr>
          </a:p>
        </p:txBody>
      </p:sp>
      <p:sp>
        <p:nvSpPr>
          <p:cNvPr id="627" name="Shape 9"/>
          <p:cNvSpPr/>
          <p:nvPr/>
        </p:nvSpPr>
        <p:spPr>
          <a:xfrm>
            <a:off x="6236280" y="1078920"/>
            <a:ext cx="498276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8" name="Text 10"/>
          <p:cNvSpPr/>
          <p:nvPr/>
        </p:nvSpPr>
        <p:spPr>
          <a:xfrm>
            <a:off x="6400800" y="1225440"/>
            <a:ext cx="46537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48A97"/>
                </a:solidFill>
                <a:effectLst/>
                <a:uFillTx/>
                <a:latin typeface="Aptos"/>
              </a:rPr>
              <a:t>Partially observable</a:t>
            </a:r>
            <a:endParaRPr lang="en-US" sz="1550" b="0" u="none" strike="noStrike">
              <a:solidFill>
                <a:srgbClr val="000000"/>
              </a:solidFill>
              <a:effectLst/>
              <a:uFillTx/>
              <a:latin typeface="Arial"/>
            </a:endParaRPr>
          </a:p>
        </p:txBody>
      </p:sp>
      <p:sp>
        <p:nvSpPr>
          <p:cNvPr id="629" name="Text 11"/>
          <p:cNvSpPr/>
          <p:nvPr/>
        </p:nvSpPr>
        <p:spPr>
          <a:xfrm>
            <a:off x="6400800" y="1554480"/>
            <a:ext cx="465372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Model-based reflex</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Maintain internal state and update it using models.</a:t>
            </a:r>
            <a:endParaRPr lang="en-US" sz="1250" b="0" u="none" strike="noStrike">
              <a:solidFill>
                <a:srgbClr val="000000"/>
              </a:solidFill>
              <a:effectLst/>
              <a:uFillTx/>
              <a:latin typeface="Arial"/>
            </a:endParaRPr>
          </a:p>
        </p:txBody>
      </p:sp>
      <p:sp>
        <p:nvSpPr>
          <p:cNvPr id="630" name="Shape 12"/>
          <p:cNvSpPr/>
          <p:nvPr/>
        </p:nvSpPr>
        <p:spPr>
          <a:xfrm>
            <a:off x="658440" y="2587680"/>
            <a:ext cx="498276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1" name="Text 13"/>
          <p:cNvSpPr/>
          <p:nvPr/>
        </p:nvSpPr>
        <p:spPr>
          <a:xfrm>
            <a:off x="822960" y="2734200"/>
            <a:ext cx="46537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F5A21B"/>
                </a:solidFill>
                <a:effectLst/>
                <a:uFillTx/>
                <a:latin typeface="Aptos"/>
              </a:rPr>
              <a:t>Long-term objective</a:t>
            </a:r>
            <a:endParaRPr lang="en-US" sz="1550" b="0" u="none" strike="noStrike">
              <a:solidFill>
                <a:srgbClr val="000000"/>
              </a:solidFill>
              <a:effectLst/>
              <a:uFillTx/>
              <a:latin typeface="Arial"/>
            </a:endParaRPr>
          </a:p>
        </p:txBody>
      </p:sp>
      <p:sp>
        <p:nvSpPr>
          <p:cNvPr id="632" name="Text 14"/>
          <p:cNvSpPr/>
          <p:nvPr/>
        </p:nvSpPr>
        <p:spPr>
          <a:xfrm>
            <a:off x="822960" y="3063240"/>
            <a:ext cx="465372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Goal-based</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Search or planning over future action sequences.</a:t>
            </a:r>
            <a:endParaRPr lang="en-US" sz="1250" b="0" u="none" strike="noStrike">
              <a:solidFill>
                <a:srgbClr val="000000"/>
              </a:solidFill>
              <a:effectLst/>
              <a:uFillTx/>
              <a:latin typeface="Arial"/>
            </a:endParaRPr>
          </a:p>
        </p:txBody>
      </p:sp>
      <p:sp>
        <p:nvSpPr>
          <p:cNvPr id="633" name="Shape 15"/>
          <p:cNvSpPr/>
          <p:nvPr/>
        </p:nvSpPr>
        <p:spPr>
          <a:xfrm>
            <a:off x="6236280" y="2587680"/>
            <a:ext cx="498276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4" name="Text 16"/>
          <p:cNvSpPr/>
          <p:nvPr/>
        </p:nvSpPr>
        <p:spPr>
          <a:xfrm>
            <a:off x="6400800" y="2734200"/>
            <a:ext cx="46537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5B35B1"/>
                </a:solidFill>
                <a:effectLst/>
                <a:uFillTx/>
                <a:latin typeface="Aptos"/>
              </a:rPr>
              <a:t>Tradeoffs / uncertainty</a:t>
            </a:r>
            <a:endParaRPr lang="en-US" sz="1550" b="0" u="none" strike="noStrike">
              <a:solidFill>
                <a:srgbClr val="000000"/>
              </a:solidFill>
              <a:effectLst/>
              <a:uFillTx/>
              <a:latin typeface="Arial"/>
            </a:endParaRPr>
          </a:p>
        </p:txBody>
      </p:sp>
      <p:sp>
        <p:nvSpPr>
          <p:cNvPr id="635" name="Text 17"/>
          <p:cNvSpPr/>
          <p:nvPr/>
        </p:nvSpPr>
        <p:spPr>
          <a:xfrm>
            <a:off x="6400800" y="3063240"/>
            <a:ext cx="465372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Utility-based</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Compare outcomes by expected utility.</a:t>
            </a:r>
            <a:endParaRPr lang="en-US" sz="1250" b="0" u="none" strike="noStrike">
              <a:solidFill>
                <a:srgbClr val="000000"/>
              </a:solidFill>
              <a:effectLst/>
              <a:uFillTx/>
              <a:latin typeface="Arial"/>
            </a:endParaRPr>
          </a:p>
        </p:txBody>
      </p:sp>
      <p:sp>
        <p:nvSpPr>
          <p:cNvPr id="636" name="Shape 18"/>
          <p:cNvSpPr/>
          <p:nvPr/>
        </p:nvSpPr>
        <p:spPr>
          <a:xfrm>
            <a:off x="658440" y="4096440"/>
            <a:ext cx="10789200" cy="1005120"/>
          </a:xfrm>
          <a:prstGeom prst="roundRect">
            <a:avLst>
              <a:gd name="adj" fmla="val 5455"/>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7" name="Text 19"/>
          <p:cNvSpPr/>
          <p:nvPr/>
        </p:nvSpPr>
        <p:spPr>
          <a:xfrm>
            <a:off x="822960" y="4242960"/>
            <a:ext cx="1046016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1B7A45"/>
                </a:solidFill>
                <a:effectLst/>
                <a:uFillTx/>
                <a:latin typeface="Aptos"/>
              </a:rPr>
              <a:t>Unknown rules / changing world</a:t>
            </a:r>
            <a:endParaRPr lang="en-US" sz="1550" b="0" u="none" strike="noStrike">
              <a:solidFill>
                <a:srgbClr val="000000"/>
              </a:solidFill>
              <a:effectLst/>
              <a:uFillTx/>
              <a:latin typeface="Arial"/>
            </a:endParaRPr>
          </a:p>
        </p:txBody>
      </p:sp>
      <p:sp>
        <p:nvSpPr>
          <p:cNvPr id="638" name="Text 20"/>
          <p:cNvSpPr/>
          <p:nvPr/>
        </p:nvSpPr>
        <p:spPr>
          <a:xfrm>
            <a:off x="822960" y="4572000"/>
            <a:ext cx="10460160" cy="410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Learning agent</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Improve model, utility, rules, or policy from feedback.</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639"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0"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641"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Class Activity: Build a PEAS Description</a:t>
            </a:r>
            <a:endParaRPr lang="en-US" sz="2300" b="0" u="none" strike="noStrike">
              <a:solidFill>
                <a:srgbClr val="000000"/>
              </a:solidFill>
              <a:effectLst/>
              <a:uFillTx/>
              <a:latin typeface="Arial"/>
            </a:endParaRPr>
          </a:p>
        </p:txBody>
      </p:sp>
      <p:sp>
        <p:nvSpPr>
          <p:cNvPr id="642"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Activity</a:t>
            </a:r>
            <a:endParaRPr lang="en-US" sz="1200" b="0" u="none" strike="noStrike">
              <a:solidFill>
                <a:srgbClr val="000000"/>
              </a:solidFill>
              <a:effectLst/>
              <a:uFillTx/>
              <a:latin typeface="Arial"/>
            </a:endParaRPr>
          </a:p>
        </p:txBody>
      </p:sp>
      <p:sp>
        <p:nvSpPr>
          <p:cNvPr id="643"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644"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31</a:t>
            </a:r>
          </a:p>
        </p:txBody>
      </p:sp>
      <p:sp>
        <p:nvSpPr>
          <p:cNvPr id="645" name="Text 6"/>
          <p:cNvSpPr/>
          <p:nvPr/>
        </p:nvSpPr>
        <p:spPr>
          <a:xfrm>
            <a:off x="777240" y="1069920"/>
            <a:ext cx="106977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Choose one system, then fill in PEAS before proposing an algorithm.</a:t>
            </a:r>
            <a:endParaRPr lang="en-US" sz="2000" b="0" u="none" strike="noStrike">
              <a:solidFill>
                <a:srgbClr val="000000"/>
              </a:solidFill>
              <a:effectLst/>
              <a:uFillTx/>
              <a:latin typeface="Arial"/>
            </a:endParaRPr>
          </a:p>
        </p:txBody>
      </p:sp>
      <p:sp>
        <p:nvSpPr>
          <p:cNvPr id="646" name="Shape 7"/>
          <p:cNvSpPr/>
          <p:nvPr/>
        </p:nvSpPr>
        <p:spPr>
          <a:xfrm>
            <a:off x="914400" y="1691640"/>
            <a:ext cx="2239560" cy="383400"/>
          </a:xfrm>
          <a:prstGeom prst="roundRect">
            <a:avLst>
              <a:gd name="adj" fmla="val 23810"/>
            </a:avLst>
          </a:prstGeom>
          <a:solidFill>
            <a:srgbClr val="2B6CB0"/>
          </a:solidFill>
          <a:ln w="12700">
            <a:solidFill>
              <a:srgbClr val="2B6CB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7" name="Text 8"/>
          <p:cNvSpPr/>
          <p:nvPr/>
        </p:nvSpPr>
        <p:spPr>
          <a:xfrm>
            <a:off x="914400" y="1783080"/>
            <a:ext cx="223956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Autonomous Pac-Man</a:t>
            </a:r>
            <a:endParaRPr lang="en-US" sz="1200" b="0" u="none" strike="noStrike">
              <a:solidFill>
                <a:srgbClr val="000000"/>
              </a:solidFill>
              <a:effectLst/>
              <a:uFillTx/>
              <a:latin typeface="Arial"/>
            </a:endParaRPr>
          </a:p>
        </p:txBody>
      </p:sp>
      <p:sp>
        <p:nvSpPr>
          <p:cNvPr id="648" name="Shape 9"/>
          <p:cNvSpPr/>
          <p:nvPr/>
        </p:nvSpPr>
        <p:spPr>
          <a:xfrm>
            <a:off x="3657600" y="1691640"/>
            <a:ext cx="2239560" cy="383400"/>
          </a:xfrm>
          <a:prstGeom prst="roundRect">
            <a:avLst>
              <a:gd name="adj" fmla="val 23810"/>
            </a:avLst>
          </a:prstGeom>
          <a:solidFill>
            <a:srgbClr val="048A97"/>
          </a:solidFill>
          <a:ln w="12700">
            <a:solidFill>
              <a:srgbClr val="048A9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9" name="Text 10"/>
          <p:cNvSpPr/>
          <p:nvPr/>
        </p:nvSpPr>
        <p:spPr>
          <a:xfrm>
            <a:off x="3657600" y="1783080"/>
            <a:ext cx="223956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Campus chatbot</a:t>
            </a:r>
            <a:endParaRPr lang="en-US" sz="1200" b="0" u="none" strike="noStrike">
              <a:solidFill>
                <a:srgbClr val="000000"/>
              </a:solidFill>
              <a:effectLst/>
              <a:uFillTx/>
              <a:latin typeface="Arial"/>
            </a:endParaRPr>
          </a:p>
        </p:txBody>
      </p:sp>
      <p:sp>
        <p:nvSpPr>
          <p:cNvPr id="650" name="Shape 11"/>
          <p:cNvSpPr/>
          <p:nvPr/>
        </p:nvSpPr>
        <p:spPr>
          <a:xfrm>
            <a:off x="6400800" y="1691640"/>
            <a:ext cx="2239560" cy="383400"/>
          </a:xfrm>
          <a:prstGeom prst="roundRect">
            <a:avLst>
              <a:gd name="adj" fmla="val 23810"/>
            </a:avLst>
          </a:prstGeom>
          <a:solidFill>
            <a:srgbClr val="F5A21B"/>
          </a:solidFill>
          <a:ln w="12700">
            <a:solidFill>
              <a:srgbClr val="F5A21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1" name="Text 12"/>
          <p:cNvSpPr/>
          <p:nvPr/>
        </p:nvSpPr>
        <p:spPr>
          <a:xfrm>
            <a:off x="6400800" y="1783080"/>
            <a:ext cx="223956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Email phishing triage agent</a:t>
            </a:r>
            <a:endParaRPr lang="en-US" sz="1200" b="0" u="none" strike="noStrike">
              <a:solidFill>
                <a:srgbClr val="000000"/>
              </a:solidFill>
              <a:effectLst/>
              <a:uFillTx/>
              <a:latin typeface="Arial"/>
            </a:endParaRPr>
          </a:p>
        </p:txBody>
      </p:sp>
      <p:sp>
        <p:nvSpPr>
          <p:cNvPr id="652" name="Shape 13"/>
          <p:cNvSpPr/>
          <p:nvPr/>
        </p:nvSpPr>
        <p:spPr>
          <a:xfrm>
            <a:off x="9144000" y="1691640"/>
            <a:ext cx="2239560" cy="383400"/>
          </a:xfrm>
          <a:prstGeom prst="roundRect">
            <a:avLst>
              <a:gd name="adj" fmla="val 23810"/>
            </a:avLst>
          </a:prstGeom>
          <a:solidFill>
            <a:srgbClr val="1B7A45"/>
          </a:solidFill>
          <a:ln w="12700">
            <a:solidFill>
              <a:srgbClr val="1B7A4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3" name="Text 14"/>
          <p:cNvSpPr/>
          <p:nvPr/>
        </p:nvSpPr>
        <p:spPr>
          <a:xfrm>
            <a:off x="9144000" y="1783080"/>
            <a:ext cx="223956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Robotic delivery cart</a:t>
            </a:r>
            <a:endParaRPr lang="en-US" sz="1200" b="0" u="none" strike="noStrike">
              <a:solidFill>
                <a:srgbClr val="000000"/>
              </a:solidFill>
              <a:effectLst/>
              <a:uFillTx/>
              <a:latin typeface="Arial"/>
            </a:endParaRPr>
          </a:p>
        </p:txBody>
      </p:sp>
      <p:sp>
        <p:nvSpPr>
          <p:cNvPr id="654" name="Shape 15"/>
          <p:cNvSpPr/>
          <p:nvPr/>
        </p:nvSpPr>
        <p:spPr>
          <a:xfrm>
            <a:off x="914400" y="2743200"/>
            <a:ext cx="475416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5" name="Text 16"/>
          <p:cNvSpPr/>
          <p:nvPr/>
        </p:nvSpPr>
        <p:spPr>
          <a:xfrm>
            <a:off x="1078920" y="288936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6CB0"/>
                </a:solidFill>
                <a:effectLst/>
                <a:uFillTx/>
                <a:latin typeface="Aptos"/>
              </a:rPr>
              <a:t>Performance</a:t>
            </a:r>
            <a:endParaRPr lang="en-US" sz="1600" b="0" u="none" strike="noStrike">
              <a:solidFill>
                <a:srgbClr val="000000"/>
              </a:solidFill>
              <a:effectLst/>
              <a:uFillTx/>
              <a:latin typeface="Arial"/>
            </a:endParaRPr>
          </a:p>
        </p:txBody>
      </p:sp>
      <p:sp>
        <p:nvSpPr>
          <p:cNvPr id="656" name="Text 17"/>
          <p:cNvSpPr/>
          <p:nvPr/>
        </p:nvSpPr>
        <p:spPr>
          <a:xfrm>
            <a:off x="1078920" y="3218760"/>
            <a:ext cx="4425120" cy="2736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Students write 2-3 concrete items.</a:t>
            </a:r>
            <a:endParaRPr lang="en-US" sz="1250" b="0" u="none" strike="noStrike">
              <a:solidFill>
                <a:srgbClr val="000000"/>
              </a:solidFill>
              <a:effectLst/>
              <a:uFillTx/>
              <a:latin typeface="Arial"/>
            </a:endParaRPr>
          </a:p>
        </p:txBody>
      </p:sp>
      <p:sp>
        <p:nvSpPr>
          <p:cNvPr id="657" name="Shape 18"/>
          <p:cNvSpPr/>
          <p:nvPr/>
        </p:nvSpPr>
        <p:spPr>
          <a:xfrm>
            <a:off x="6263640" y="2743200"/>
            <a:ext cx="475416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8" name="Text 19"/>
          <p:cNvSpPr/>
          <p:nvPr/>
        </p:nvSpPr>
        <p:spPr>
          <a:xfrm>
            <a:off x="6428160" y="288936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48A97"/>
                </a:solidFill>
                <a:effectLst/>
                <a:uFillTx/>
                <a:latin typeface="Aptos"/>
              </a:rPr>
              <a:t>Environment</a:t>
            </a:r>
            <a:endParaRPr lang="en-US" sz="1600" b="0" u="none" strike="noStrike">
              <a:solidFill>
                <a:srgbClr val="000000"/>
              </a:solidFill>
              <a:effectLst/>
              <a:uFillTx/>
              <a:latin typeface="Arial"/>
            </a:endParaRPr>
          </a:p>
        </p:txBody>
      </p:sp>
      <p:sp>
        <p:nvSpPr>
          <p:cNvPr id="659" name="Text 20"/>
          <p:cNvSpPr/>
          <p:nvPr/>
        </p:nvSpPr>
        <p:spPr>
          <a:xfrm>
            <a:off x="6428160" y="3218760"/>
            <a:ext cx="4425120" cy="2736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Students write 2-3 concrete items.</a:t>
            </a:r>
            <a:endParaRPr lang="en-US" sz="1250" b="0" u="none" strike="noStrike">
              <a:solidFill>
                <a:srgbClr val="000000"/>
              </a:solidFill>
              <a:effectLst/>
              <a:uFillTx/>
              <a:latin typeface="Arial"/>
            </a:endParaRPr>
          </a:p>
        </p:txBody>
      </p:sp>
      <p:sp>
        <p:nvSpPr>
          <p:cNvPr id="660" name="Shape 21"/>
          <p:cNvSpPr/>
          <p:nvPr/>
        </p:nvSpPr>
        <p:spPr>
          <a:xfrm>
            <a:off x="914400" y="3977640"/>
            <a:ext cx="475416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1" name="Text 22"/>
          <p:cNvSpPr/>
          <p:nvPr/>
        </p:nvSpPr>
        <p:spPr>
          <a:xfrm>
            <a:off x="1078920" y="412380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5A21B"/>
                </a:solidFill>
                <a:effectLst/>
                <a:uFillTx/>
                <a:latin typeface="Aptos"/>
              </a:rPr>
              <a:t>Actuators</a:t>
            </a:r>
            <a:endParaRPr lang="en-US" sz="1600" b="0" u="none" strike="noStrike">
              <a:solidFill>
                <a:srgbClr val="000000"/>
              </a:solidFill>
              <a:effectLst/>
              <a:uFillTx/>
              <a:latin typeface="Arial"/>
            </a:endParaRPr>
          </a:p>
        </p:txBody>
      </p:sp>
      <p:sp>
        <p:nvSpPr>
          <p:cNvPr id="662" name="Text 23"/>
          <p:cNvSpPr/>
          <p:nvPr/>
        </p:nvSpPr>
        <p:spPr>
          <a:xfrm>
            <a:off x="1078920" y="4453200"/>
            <a:ext cx="4425120" cy="2736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Students write 2-3 concrete items.</a:t>
            </a:r>
            <a:endParaRPr lang="en-US" sz="1250" b="0" u="none" strike="noStrike">
              <a:solidFill>
                <a:srgbClr val="000000"/>
              </a:solidFill>
              <a:effectLst/>
              <a:uFillTx/>
              <a:latin typeface="Arial"/>
            </a:endParaRPr>
          </a:p>
        </p:txBody>
      </p:sp>
      <p:sp>
        <p:nvSpPr>
          <p:cNvPr id="663" name="Shape 24"/>
          <p:cNvSpPr/>
          <p:nvPr/>
        </p:nvSpPr>
        <p:spPr>
          <a:xfrm>
            <a:off x="6263640" y="3977640"/>
            <a:ext cx="4754160" cy="867960"/>
          </a:xfrm>
          <a:prstGeom prst="roundRect">
            <a:avLst>
              <a:gd name="adj" fmla="val 6316"/>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4" name="Text 25"/>
          <p:cNvSpPr/>
          <p:nvPr/>
        </p:nvSpPr>
        <p:spPr>
          <a:xfrm>
            <a:off x="6428160" y="4123800"/>
            <a:ext cx="44251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B7A45"/>
                </a:solidFill>
                <a:effectLst/>
                <a:uFillTx/>
                <a:latin typeface="Aptos"/>
              </a:rPr>
              <a:t>Sensors</a:t>
            </a:r>
            <a:endParaRPr lang="en-US" sz="1600" b="0" u="none" strike="noStrike">
              <a:solidFill>
                <a:srgbClr val="000000"/>
              </a:solidFill>
              <a:effectLst/>
              <a:uFillTx/>
              <a:latin typeface="Arial"/>
            </a:endParaRPr>
          </a:p>
        </p:txBody>
      </p:sp>
      <p:sp>
        <p:nvSpPr>
          <p:cNvPr id="665" name="Text 26"/>
          <p:cNvSpPr/>
          <p:nvPr/>
        </p:nvSpPr>
        <p:spPr>
          <a:xfrm>
            <a:off x="6428160" y="4453200"/>
            <a:ext cx="4425120" cy="2736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250" b="0" u="none" strike="noStrike">
                <a:solidFill>
                  <a:srgbClr val="0B1F3A"/>
                </a:solidFill>
                <a:effectLst/>
                <a:uFillTx/>
                <a:latin typeface="Aptos"/>
              </a:rPr>
              <a:t>Students write 2-3 concrete items.</a:t>
            </a:r>
            <a:endParaRPr lang="en-US" sz="1250" b="0" u="none" strike="noStrike">
              <a:solidFill>
                <a:srgbClr val="000000"/>
              </a:solidFill>
              <a:effectLst/>
              <a:uFillTx/>
              <a:latin typeface="Arial"/>
            </a:endParaRPr>
          </a:p>
        </p:txBody>
      </p:sp>
      <p:sp>
        <p:nvSpPr>
          <p:cNvPr id="666" name="Text 27"/>
          <p:cNvSpPr/>
          <p:nvPr/>
        </p:nvSpPr>
        <p:spPr>
          <a:xfrm>
            <a:off x="914400" y="5577840"/>
            <a:ext cx="10332000" cy="291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50" b="1" u="none" strike="noStrike">
                <a:solidFill>
                  <a:srgbClr val="0B2B5C"/>
                </a:solidFill>
                <a:effectLst/>
                <a:uFillTx/>
                <a:latin typeface="Aptos"/>
              </a:rPr>
              <a:t>Instructor checkpoint: if students cannot define PEAS, they are not ready to design the agent.</a:t>
            </a:r>
            <a:endParaRPr lang="en-US" sz="16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667"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68"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669"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Class Demo: Autonomous Pac-Man Agent</a:t>
            </a:r>
            <a:endParaRPr lang="en-US" sz="2300" b="0" u="none" strike="noStrike">
              <a:solidFill>
                <a:srgbClr val="000000"/>
              </a:solidFill>
              <a:effectLst/>
              <a:uFillTx/>
              <a:latin typeface="Arial"/>
            </a:endParaRPr>
          </a:p>
        </p:txBody>
      </p:sp>
      <p:sp>
        <p:nvSpPr>
          <p:cNvPr id="670"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Demo</a:t>
            </a:r>
            <a:endParaRPr lang="en-US" sz="1200" b="0" u="none" strike="noStrike">
              <a:solidFill>
                <a:srgbClr val="000000"/>
              </a:solidFill>
              <a:effectLst/>
              <a:uFillTx/>
              <a:latin typeface="Arial"/>
            </a:endParaRPr>
          </a:p>
        </p:txBody>
      </p:sp>
      <p:sp>
        <p:nvSpPr>
          <p:cNvPr id="671"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672"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32</a:t>
            </a:r>
          </a:p>
        </p:txBody>
      </p:sp>
      <p:sp>
        <p:nvSpPr>
          <p:cNvPr id="673" name="Text 6"/>
          <p:cNvSpPr/>
          <p:nvPr/>
        </p:nvSpPr>
        <p:spPr>
          <a:xfrm>
            <a:off x="731520" y="1051560"/>
            <a:ext cx="10789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0B2B5C"/>
                </a:solidFill>
                <a:effectLst/>
                <a:uFillTx/>
                <a:latin typeface="Aptos"/>
              </a:rPr>
              <a:t>Use the game to make the Chapter 2 vocabulary operational.</a:t>
            </a:r>
            <a:endParaRPr lang="en-US" sz="2000" b="0" u="none" strike="noStrike">
              <a:solidFill>
                <a:srgbClr val="000000"/>
              </a:solidFill>
              <a:effectLst/>
              <a:uFillTx/>
              <a:latin typeface="Arial"/>
            </a:endParaRPr>
          </a:p>
        </p:txBody>
      </p:sp>
      <p:sp>
        <p:nvSpPr>
          <p:cNvPr id="674" name="Shape 7"/>
          <p:cNvSpPr/>
          <p:nvPr/>
        </p:nvSpPr>
        <p:spPr>
          <a:xfrm>
            <a:off x="1097280" y="1783080"/>
            <a:ext cx="9966240" cy="410760"/>
          </a:xfrm>
          <a:prstGeom prst="roundRect">
            <a:avLst>
              <a:gd name="adj" fmla="val 11111"/>
            </a:avLst>
          </a:prstGeom>
          <a:solidFill>
            <a:srgbClr val="EAF2FB"/>
          </a:solidFill>
          <a:ln w="12700">
            <a:solidFill>
              <a:srgbClr val="D0D9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5" name="Text 8"/>
          <p:cNvSpPr/>
          <p:nvPr/>
        </p:nvSpPr>
        <p:spPr>
          <a:xfrm>
            <a:off x="1325880" y="1883520"/>
            <a:ext cx="95090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B1F3A"/>
                </a:solidFill>
                <a:effectLst/>
                <a:uFillTx/>
                <a:latin typeface="Aptos"/>
              </a:rPr>
              <a:t>What are the percepts?</a:t>
            </a:r>
            <a:endParaRPr lang="en-US" sz="1550" b="0" u="none" strike="noStrike">
              <a:solidFill>
                <a:srgbClr val="000000"/>
              </a:solidFill>
              <a:effectLst/>
              <a:uFillTx/>
              <a:latin typeface="Arial"/>
            </a:endParaRPr>
          </a:p>
        </p:txBody>
      </p:sp>
      <p:sp>
        <p:nvSpPr>
          <p:cNvPr id="676" name="Shape 9"/>
          <p:cNvSpPr/>
          <p:nvPr/>
        </p:nvSpPr>
        <p:spPr>
          <a:xfrm>
            <a:off x="1097280" y="2468880"/>
            <a:ext cx="9966240" cy="410760"/>
          </a:xfrm>
          <a:prstGeom prst="roundRect">
            <a:avLst>
              <a:gd name="adj" fmla="val 11111"/>
            </a:avLst>
          </a:prstGeom>
          <a:solidFill>
            <a:srgbClr val="FFFFFF"/>
          </a:solidFill>
          <a:ln w="12700">
            <a:solidFill>
              <a:srgbClr val="D0D9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7" name="Text 10"/>
          <p:cNvSpPr/>
          <p:nvPr/>
        </p:nvSpPr>
        <p:spPr>
          <a:xfrm>
            <a:off x="1325880" y="2569320"/>
            <a:ext cx="95090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B1F3A"/>
                </a:solidFill>
                <a:effectLst/>
                <a:uFillTx/>
                <a:latin typeface="Aptos"/>
              </a:rPr>
              <a:t>What actions can the agent return?</a:t>
            </a:r>
            <a:endParaRPr lang="en-US" sz="1550" b="0" u="none" strike="noStrike">
              <a:solidFill>
                <a:srgbClr val="000000"/>
              </a:solidFill>
              <a:effectLst/>
              <a:uFillTx/>
              <a:latin typeface="Arial"/>
            </a:endParaRPr>
          </a:p>
        </p:txBody>
      </p:sp>
      <p:sp>
        <p:nvSpPr>
          <p:cNvPr id="678" name="Shape 11"/>
          <p:cNvSpPr/>
          <p:nvPr/>
        </p:nvSpPr>
        <p:spPr>
          <a:xfrm>
            <a:off x="1097280" y="3154680"/>
            <a:ext cx="9966240" cy="410760"/>
          </a:xfrm>
          <a:prstGeom prst="roundRect">
            <a:avLst>
              <a:gd name="adj" fmla="val 11111"/>
            </a:avLst>
          </a:prstGeom>
          <a:solidFill>
            <a:srgbClr val="EAF2FB"/>
          </a:solidFill>
          <a:ln w="12700">
            <a:solidFill>
              <a:srgbClr val="D0D9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9" name="Text 12"/>
          <p:cNvSpPr/>
          <p:nvPr/>
        </p:nvSpPr>
        <p:spPr>
          <a:xfrm>
            <a:off x="1325880" y="3255120"/>
            <a:ext cx="95090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B1F3A"/>
                </a:solidFill>
                <a:effectLst/>
                <a:uFillTx/>
                <a:latin typeface="Aptos"/>
              </a:rPr>
              <a:t>What is the performance measure?</a:t>
            </a:r>
            <a:endParaRPr lang="en-US" sz="1550" b="0" u="none" strike="noStrike">
              <a:solidFill>
                <a:srgbClr val="000000"/>
              </a:solidFill>
              <a:effectLst/>
              <a:uFillTx/>
              <a:latin typeface="Arial"/>
            </a:endParaRPr>
          </a:p>
        </p:txBody>
      </p:sp>
      <p:sp>
        <p:nvSpPr>
          <p:cNvPr id="680" name="Shape 13"/>
          <p:cNvSpPr/>
          <p:nvPr/>
        </p:nvSpPr>
        <p:spPr>
          <a:xfrm>
            <a:off x="1097280" y="3840480"/>
            <a:ext cx="9966240" cy="410760"/>
          </a:xfrm>
          <a:prstGeom prst="roundRect">
            <a:avLst>
              <a:gd name="adj" fmla="val 11111"/>
            </a:avLst>
          </a:prstGeom>
          <a:solidFill>
            <a:srgbClr val="FFFFFF"/>
          </a:solidFill>
          <a:ln w="12700">
            <a:solidFill>
              <a:srgbClr val="D0D9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1" name="Text 14"/>
          <p:cNvSpPr/>
          <p:nvPr/>
        </p:nvSpPr>
        <p:spPr>
          <a:xfrm>
            <a:off x="1325880" y="3940920"/>
            <a:ext cx="95090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B1F3A"/>
                </a:solidFill>
                <a:effectLst/>
                <a:uFillTx/>
                <a:latin typeface="Aptos"/>
              </a:rPr>
              <a:t>Does it use memory or only current state?</a:t>
            </a:r>
            <a:endParaRPr lang="en-US" sz="1550" b="0" u="none" strike="noStrike">
              <a:solidFill>
                <a:srgbClr val="000000"/>
              </a:solidFill>
              <a:effectLst/>
              <a:uFillTx/>
              <a:latin typeface="Arial"/>
            </a:endParaRPr>
          </a:p>
        </p:txBody>
      </p:sp>
      <p:sp>
        <p:nvSpPr>
          <p:cNvPr id="682" name="Shape 15"/>
          <p:cNvSpPr/>
          <p:nvPr/>
        </p:nvSpPr>
        <p:spPr>
          <a:xfrm>
            <a:off x="1097280" y="4526280"/>
            <a:ext cx="9966240" cy="410760"/>
          </a:xfrm>
          <a:prstGeom prst="roundRect">
            <a:avLst>
              <a:gd name="adj" fmla="val 11111"/>
            </a:avLst>
          </a:prstGeom>
          <a:solidFill>
            <a:srgbClr val="EAF2FB"/>
          </a:solidFill>
          <a:ln w="12700">
            <a:solidFill>
              <a:srgbClr val="D0D9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3" name="Text 16"/>
          <p:cNvSpPr/>
          <p:nvPr/>
        </p:nvSpPr>
        <p:spPr>
          <a:xfrm>
            <a:off x="1325880" y="4626720"/>
            <a:ext cx="95090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B1F3A"/>
                </a:solidFill>
                <a:effectLst/>
                <a:uFillTx/>
                <a:latin typeface="Aptos"/>
              </a:rPr>
              <a:t>Is it reflex, model-based, goal-based, utility-based, or mixed?</a:t>
            </a:r>
            <a:endParaRPr lang="en-US" sz="1550" b="0" u="none" strike="noStrike">
              <a:solidFill>
                <a:srgbClr val="000000"/>
              </a:solidFill>
              <a:effectLst/>
              <a:uFillTx/>
              <a:latin typeface="Arial"/>
            </a:endParaRPr>
          </a:p>
        </p:txBody>
      </p:sp>
      <p:sp>
        <p:nvSpPr>
          <p:cNvPr id="684" name="Text 17"/>
          <p:cNvSpPr/>
          <p:nvPr/>
        </p:nvSpPr>
        <p:spPr>
          <a:xfrm>
            <a:off x="822960" y="5596200"/>
            <a:ext cx="1060632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B2B5C"/>
                </a:solidFill>
                <a:effectLst/>
                <a:uFillTx/>
                <a:latin typeface="Aptos"/>
              </a:rPr>
              <a:t>Transition: search algorithms are one way to make goal-based agents act rationally.</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1695" cy="804672"/>
          </a:xfrm>
          <a:prstGeom prst="rect">
            <a:avLst/>
          </a:prstGeom>
          <a:solidFill>
            <a:srgbClr val="123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04672"/>
            <a:ext cx="12191695" cy="73152"/>
          </a:xfrm>
          <a:prstGeom prst="rect">
            <a:avLst/>
          </a:prstGeom>
          <a:solidFill>
            <a:srgbClr val="F4A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210312"/>
            <a:ext cx="8961120" cy="393192"/>
          </a:xfrm>
          <a:prstGeom prst="rect">
            <a:avLst/>
          </a:prstGeom>
          <a:noFill/>
        </p:spPr>
        <p:txBody>
          <a:bodyPr wrap="none" lIns="0" rIns="0" anchor="ctr">
            <a:spAutoFit/>
          </a:bodyPr>
          <a:lstStyle/>
          <a:p>
            <a:r>
              <a:rPr sz="2400" b="1">
                <a:solidFill>
                  <a:srgbClr val="FFFFFF"/>
                </a:solidFill>
                <a:latin typeface="Aptos Display"/>
              </a:rPr>
              <a:t>Live Code Demo: Five Chapter 2 Agent Programs</a:t>
            </a:r>
          </a:p>
        </p:txBody>
      </p:sp>
      <p:sp>
        <p:nvSpPr>
          <p:cNvPr id="6" name="Rounded Rectangle 5"/>
          <p:cNvSpPr/>
          <p:nvPr/>
        </p:nvSpPr>
        <p:spPr>
          <a:xfrm>
            <a:off x="10149840" y="256032"/>
            <a:ext cx="1554480" cy="274320"/>
          </a:xfrm>
          <a:prstGeom prst="roundRect">
            <a:avLst/>
          </a:prstGeom>
          <a:solidFill>
            <a:srgbClr val="E9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12325B"/>
                </a:solidFill>
              </a:rPr>
              <a:t>Demo code</a:t>
            </a:r>
          </a:p>
        </p:txBody>
      </p:sp>
      <p:sp>
        <p:nvSpPr>
          <p:cNvPr id="7" name="TextBox 6"/>
          <p:cNvSpPr txBox="1"/>
          <p:nvPr/>
        </p:nvSpPr>
        <p:spPr>
          <a:xfrm>
            <a:off x="475488" y="6565392"/>
            <a:ext cx="2743200" cy="164592"/>
          </a:xfrm>
          <a:prstGeom prst="rect">
            <a:avLst/>
          </a:prstGeom>
          <a:noFill/>
        </p:spPr>
        <p:txBody>
          <a:bodyPr wrap="none">
            <a:spAutoFit/>
          </a:bodyPr>
          <a:lstStyle/>
          <a:p>
            <a:r>
              <a:rPr sz="800">
                <a:solidFill>
                  <a:srgbClr val="5C6A7D"/>
                </a:solidFill>
              </a:rPr>
              <a:t>COMP 469 · Chapter 2</a:t>
            </a:r>
          </a:p>
        </p:txBody>
      </p:sp>
      <p:sp>
        <p:nvSpPr>
          <p:cNvPr id="8" name="TextBox 7"/>
          <p:cNvSpPr txBox="1"/>
          <p:nvPr/>
        </p:nvSpPr>
        <p:spPr>
          <a:xfrm>
            <a:off x="11201400" y="6565392"/>
            <a:ext cx="548640" cy="164592"/>
          </a:xfrm>
          <a:prstGeom prst="rect">
            <a:avLst/>
          </a:prstGeom>
          <a:noFill/>
        </p:spPr>
        <p:txBody>
          <a:bodyPr wrap="none">
            <a:spAutoFit/>
          </a:bodyPr>
          <a:lstStyle/>
          <a:p>
            <a:r>
              <a:t>33</a:t>
            </a:r>
          </a:p>
        </p:txBody>
      </p:sp>
      <p:sp>
        <p:nvSpPr>
          <p:cNvPr id="9" name="TextBox 8"/>
          <p:cNvSpPr txBox="1"/>
          <p:nvPr/>
        </p:nvSpPr>
        <p:spPr>
          <a:xfrm>
            <a:off x="685800" y="1078992"/>
            <a:ext cx="10881360" cy="329184"/>
          </a:xfrm>
          <a:prstGeom prst="rect">
            <a:avLst/>
          </a:prstGeom>
          <a:noFill/>
        </p:spPr>
        <p:txBody>
          <a:bodyPr wrap="none">
            <a:spAutoFit/>
          </a:bodyPr>
          <a:lstStyle/>
          <a:p>
            <a:r>
              <a:rPr sz="1800" b="1">
                <a:solidFill>
                  <a:srgbClr val="11243A"/>
                </a:solidFill>
              </a:rPr>
              <a:t>Keep the graphics/environment fixed; swap only the agent program being demonstrated.</a:t>
            </a:r>
          </a:p>
        </p:txBody>
      </p:sp>
      <p:sp>
        <p:nvSpPr>
          <p:cNvPr id="10" name="Rounded Rectangle 9"/>
          <p:cNvSpPr/>
          <p:nvPr/>
        </p:nvSpPr>
        <p:spPr>
          <a:xfrm>
            <a:off x="685800" y="1572768"/>
            <a:ext cx="10835640" cy="658368"/>
          </a:xfrm>
          <a:prstGeom prst="roundRect">
            <a:avLst/>
          </a:prstGeom>
          <a:solidFill>
            <a:srgbClr val="E8F2FA"/>
          </a:solidFill>
          <a:ln>
            <a:solidFill>
              <a:srgbClr val="B8CCDD"/>
            </a:solidFill>
          </a:ln>
        </p:spPr>
        <p:style>
          <a:lnRef idx="1">
            <a:schemeClr val="accent1"/>
          </a:lnRef>
          <a:fillRef idx="3">
            <a:schemeClr val="accent1"/>
          </a:fillRef>
          <a:effectRef idx="2">
            <a:schemeClr val="accent1"/>
          </a:effectRef>
          <a:fontRef idx="minor">
            <a:schemeClr val="lt1"/>
          </a:fontRef>
        </p:style>
        <p:txBody>
          <a:bodyPr rtlCol="0" anchor="ctr" lIns="146304" rIns="109728"/>
          <a:lstStyle/>
          <a:p>
            <a:pPr algn="ctr"/>
            <a:r>
              <a:rPr sz="1300" b="1">
                <a:solidFill>
                  <a:srgbClr val="12325B"/>
                </a:solidFill>
              </a:rPr>
              <a:t>Shared environment / architecture: </a:t>
            </a:r>
            <a:r>
              <a:rPr sz="1300" b="1">
                <a:solidFill>
                  <a:srgbClr val="058A94"/>
                </a:solidFill>
                <a:latin typeface="Consolas"/>
              </a:rPr>
              <a:t>pacman_chapter2_engine.py</a:t>
            </a:r>
            <a:r>
              <a:rPr sz="1300">
                <a:solidFill>
                  <a:srgbClr val="11243A"/>
                </a:solidFill>
              </a:rPr>
              <a:t>  — sensors, actuators, maze, ghosts, scoring, graphics, and performance feedback</a:t>
            </a:r>
          </a:p>
        </p:txBody>
      </p:sp>
      <p:sp>
        <p:nvSpPr>
          <p:cNvPr id="11" name="Rounded Rectangle 10"/>
          <p:cNvSpPr/>
          <p:nvPr/>
        </p:nvSpPr>
        <p:spPr>
          <a:xfrm>
            <a:off x="749808" y="2487168"/>
            <a:ext cx="5138928" cy="640080"/>
          </a:xfrm>
          <a:prstGeom prst="roundRect">
            <a:avLst/>
          </a:prstGeom>
          <a:solidFill>
            <a:srgbClr val="FFFFFF"/>
          </a:solidFill>
          <a:ln>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487168"/>
            <a:ext cx="109728" cy="640080"/>
          </a:xfrm>
          <a:prstGeom prst="rect">
            <a:avLst/>
          </a:prstGeom>
          <a:solidFill>
            <a:srgbClr val="2D79C7"/>
          </a:solidFill>
          <a:ln>
            <a:solidFill>
              <a:srgbClr val="2D79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 y="2560320"/>
            <a:ext cx="4828032" cy="210312"/>
          </a:xfrm>
          <a:prstGeom prst="rect">
            <a:avLst/>
          </a:prstGeom>
          <a:noFill/>
        </p:spPr>
        <p:txBody>
          <a:bodyPr wrap="none">
            <a:spAutoFit/>
          </a:bodyPr>
          <a:lstStyle/>
          <a:p>
            <a:r>
              <a:rPr sz="1250" b="1">
                <a:solidFill>
                  <a:srgbClr val="2D79C7"/>
                </a:solidFill>
              </a:rPr>
              <a:t>Simple Reflex</a:t>
            </a:r>
            <a:r>
              <a:rPr sz="1000"/>
              <a:t>  </a:t>
            </a:r>
            <a:r>
              <a:rPr sz="1050">
                <a:solidFill>
                  <a:srgbClr val="11243A"/>
                </a:solidFill>
                <a:latin typeface="Consolas"/>
              </a:rPr>
              <a:t>01_simple_reflex_agent_ch2.py</a:t>
            </a:r>
          </a:p>
        </p:txBody>
      </p:sp>
      <p:sp>
        <p:nvSpPr>
          <p:cNvPr id="14" name="TextBox 13"/>
          <p:cNvSpPr txBox="1"/>
          <p:nvPr/>
        </p:nvSpPr>
        <p:spPr>
          <a:xfrm>
            <a:off x="950976" y="2825496"/>
            <a:ext cx="4828032" cy="201168"/>
          </a:xfrm>
          <a:prstGeom prst="rect">
            <a:avLst/>
          </a:prstGeom>
          <a:noFill/>
        </p:spPr>
        <p:txBody>
          <a:bodyPr wrap="none">
            <a:spAutoFit/>
          </a:bodyPr>
          <a:lstStyle/>
          <a:p>
            <a:r>
              <a:rPr sz="1050">
                <a:solidFill>
                  <a:srgbClr val="5C6A7D"/>
                </a:solidFill>
              </a:rPr>
              <a:t>current percept + ordered if-then rules</a:t>
            </a:r>
          </a:p>
        </p:txBody>
      </p:sp>
      <p:sp>
        <p:nvSpPr>
          <p:cNvPr id="15" name="Rounded Rectangle 14"/>
          <p:cNvSpPr/>
          <p:nvPr/>
        </p:nvSpPr>
        <p:spPr>
          <a:xfrm>
            <a:off x="6144768" y="2487168"/>
            <a:ext cx="5349240" cy="640080"/>
          </a:xfrm>
          <a:prstGeom prst="roundRect">
            <a:avLst/>
          </a:prstGeom>
          <a:solidFill>
            <a:srgbClr val="FFFFFF"/>
          </a:solidFill>
          <a:ln>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44768" y="2487168"/>
            <a:ext cx="109728" cy="640080"/>
          </a:xfrm>
          <a:prstGeom prst="rect">
            <a:avLst/>
          </a:prstGeom>
          <a:solidFill>
            <a:srgbClr val="0B8E88"/>
          </a:solidFill>
          <a:ln>
            <a:solidFill>
              <a:srgbClr val="0B8E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2560320"/>
            <a:ext cx="5038344" cy="210312"/>
          </a:xfrm>
          <a:prstGeom prst="rect">
            <a:avLst/>
          </a:prstGeom>
          <a:noFill/>
        </p:spPr>
        <p:txBody>
          <a:bodyPr wrap="none">
            <a:spAutoFit/>
          </a:bodyPr>
          <a:lstStyle/>
          <a:p>
            <a:r>
              <a:rPr sz="1250" b="1">
                <a:solidFill>
                  <a:srgbClr val="0B8E88"/>
                </a:solidFill>
              </a:rPr>
              <a:t>Model-Based Reflex</a:t>
            </a:r>
            <a:r>
              <a:rPr sz="1000"/>
              <a:t>  </a:t>
            </a:r>
            <a:r>
              <a:rPr sz="1050">
                <a:solidFill>
                  <a:srgbClr val="11243A"/>
                </a:solidFill>
                <a:latin typeface="Consolas"/>
              </a:rPr>
              <a:t>02_model_based_reflex_agent_ch2.py</a:t>
            </a:r>
          </a:p>
        </p:txBody>
      </p:sp>
      <p:sp>
        <p:nvSpPr>
          <p:cNvPr id="18" name="TextBox 17"/>
          <p:cNvSpPr txBox="1"/>
          <p:nvPr/>
        </p:nvSpPr>
        <p:spPr>
          <a:xfrm>
            <a:off x="6345936" y="2825496"/>
            <a:ext cx="5038344" cy="201168"/>
          </a:xfrm>
          <a:prstGeom prst="rect">
            <a:avLst/>
          </a:prstGeom>
          <a:noFill/>
        </p:spPr>
        <p:txBody>
          <a:bodyPr wrap="none">
            <a:spAutoFit/>
          </a:bodyPr>
          <a:lstStyle/>
          <a:p>
            <a:r>
              <a:rPr sz="1050">
                <a:solidFill>
                  <a:srgbClr val="5C6A7D"/>
                </a:solidFill>
              </a:rPr>
              <a:t>internal state + transition_model + sensor_model</a:t>
            </a:r>
          </a:p>
        </p:txBody>
      </p:sp>
      <p:sp>
        <p:nvSpPr>
          <p:cNvPr id="19" name="Rounded Rectangle 18"/>
          <p:cNvSpPr/>
          <p:nvPr/>
        </p:nvSpPr>
        <p:spPr>
          <a:xfrm>
            <a:off x="749808" y="3328416"/>
            <a:ext cx="5138928" cy="640080"/>
          </a:xfrm>
          <a:prstGeom prst="roundRect">
            <a:avLst/>
          </a:prstGeom>
          <a:solidFill>
            <a:srgbClr val="FFFFFF"/>
          </a:solidFill>
          <a:ln>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3328416"/>
            <a:ext cx="109728" cy="640080"/>
          </a:xfrm>
          <a:prstGeom prst="rect">
            <a:avLst/>
          </a:prstGeom>
          <a:solidFill>
            <a:srgbClr val="6B42C5"/>
          </a:solidFill>
          <a:ln>
            <a:solidFill>
              <a:srgbClr val="6B4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 y="3401568"/>
            <a:ext cx="4828032" cy="210312"/>
          </a:xfrm>
          <a:prstGeom prst="rect">
            <a:avLst/>
          </a:prstGeom>
          <a:noFill/>
        </p:spPr>
        <p:txBody>
          <a:bodyPr wrap="none">
            <a:spAutoFit/>
          </a:bodyPr>
          <a:lstStyle/>
          <a:p>
            <a:r>
              <a:rPr sz="1250" b="1">
                <a:solidFill>
                  <a:srgbClr val="6B42C5"/>
                </a:solidFill>
              </a:rPr>
              <a:t>Goal-Based</a:t>
            </a:r>
            <a:r>
              <a:rPr sz="1000"/>
              <a:t>  </a:t>
            </a:r>
            <a:r>
              <a:rPr sz="1050">
                <a:solidFill>
                  <a:srgbClr val="11243A"/>
                </a:solidFill>
                <a:latin typeface="Consolas"/>
              </a:rPr>
              <a:t>03_goal_based_agent_ch2.py</a:t>
            </a:r>
          </a:p>
        </p:txBody>
      </p:sp>
      <p:sp>
        <p:nvSpPr>
          <p:cNvPr id="22" name="TextBox 21"/>
          <p:cNvSpPr txBox="1"/>
          <p:nvPr/>
        </p:nvSpPr>
        <p:spPr>
          <a:xfrm>
            <a:off x="950976" y="3666744"/>
            <a:ext cx="4828032" cy="201168"/>
          </a:xfrm>
          <a:prstGeom prst="rect">
            <a:avLst/>
          </a:prstGeom>
          <a:noFill/>
        </p:spPr>
        <p:txBody>
          <a:bodyPr wrap="none">
            <a:spAutoFit/>
          </a:bodyPr>
          <a:lstStyle/>
          <a:p>
            <a:r>
              <a:rPr sz="1050">
                <a:solidFill>
                  <a:srgbClr val="5C6A7D"/>
                </a:solidFill>
              </a:rPr>
              <a:t>formulate_goal + make_plan + execute first action</a:t>
            </a:r>
          </a:p>
        </p:txBody>
      </p:sp>
      <p:sp>
        <p:nvSpPr>
          <p:cNvPr id="23" name="Rounded Rectangle 22"/>
          <p:cNvSpPr/>
          <p:nvPr/>
        </p:nvSpPr>
        <p:spPr>
          <a:xfrm>
            <a:off x="6144768" y="3328416"/>
            <a:ext cx="5349240" cy="640080"/>
          </a:xfrm>
          <a:prstGeom prst="roundRect">
            <a:avLst/>
          </a:prstGeom>
          <a:solidFill>
            <a:srgbClr val="FFFFFF"/>
          </a:solidFill>
          <a:ln>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3328416"/>
            <a:ext cx="109728" cy="640080"/>
          </a:xfrm>
          <a:prstGeom prst="rect">
            <a:avLst/>
          </a:prstGeom>
          <a:solidFill>
            <a:srgbClr val="B36100"/>
          </a:solidFill>
          <a:ln>
            <a:solidFill>
              <a:srgbClr val="B36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5936" y="3401568"/>
            <a:ext cx="5038344" cy="210312"/>
          </a:xfrm>
          <a:prstGeom prst="rect">
            <a:avLst/>
          </a:prstGeom>
          <a:noFill/>
        </p:spPr>
        <p:txBody>
          <a:bodyPr wrap="none">
            <a:spAutoFit/>
          </a:bodyPr>
          <a:lstStyle/>
          <a:p>
            <a:r>
              <a:rPr sz="1250" b="1">
                <a:solidFill>
                  <a:srgbClr val="B36100"/>
                </a:solidFill>
              </a:rPr>
              <a:t>Utility-Based</a:t>
            </a:r>
            <a:r>
              <a:rPr sz="1000"/>
              <a:t>  </a:t>
            </a:r>
            <a:r>
              <a:rPr sz="1050">
                <a:solidFill>
                  <a:srgbClr val="11243A"/>
                </a:solidFill>
                <a:latin typeface="Consolas"/>
              </a:rPr>
              <a:t>04_utility_based_agent_ch2.py</a:t>
            </a:r>
          </a:p>
        </p:txBody>
      </p:sp>
      <p:sp>
        <p:nvSpPr>
          <p:cNvPr id="26" name="TextBox 25"/>
          <p:cNvSpPr txBox="1"/>
          <p:nvPr/>
        </p:nvSpPr>
        <p:spPr>
          <a:xfrm>
            <a:off x="6345936" y="3666744"/>
            <a:ext cx="5038344" cy="201168"/>
          </a:xfrm>
          <a:prstGeom prst="rect">
            <a:avLst/>
          </a:prstGeom>
          <a:noFill/>
        </p:spPr>
        <p:txBody>
          <a:bodyPr wrap="none">
            <a:spAutoFit/>
          </a:bodyPr>
          <a:lstStyle/>
          <a:p>
            <a:r>
              <a:rPr sz="1050">
                <a:solidFill>
                  <a:srgbClr val="5C6A7D"/>
                </a:solidFill>
              </a:rPr>
              <a:t>expected_utility over each legal action</a:t>
            </a:r>
          </a:p>
        </p:txBody>
      </p:sp>
      <p:sp>
        <p:nvSpPr>
          <p:cNvPr id="27" name="Rounded Rectangle 26"/>
          <p:cNvSpPr/>
          <p:nvPr/>
        </p:nvSpPr>
        <p:spPr>
          <a:xfrm>
            <a:off x="749808" y="4169664"/>
            <a:ext cx="5138928" cy="640080"/>
          </a:xfrm>
          <a:prstGeom prst="roundRect">
            <a:avLst/>
          </a:prstGeom>
          <a:solidFill>
            <a:srgbClr val="FFFFFF"/>
          </a:solidFill>
          <a:ln>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4169664"/>
            <a:ext cx="109728" cy="640080"/>
          </a:xfrm>
          <a:prstGeom prst="rect">
            <a:avLst/>
          </a:prstGeom>
          <a:solidFill>
            <a:srgbClr val="1F7A3D"/>
          </a:solidFill>
          <a:ln>
            <a:solidFill>
              <a:srgbClr val="1F7A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4242816"/>
            <a:ext cx="4828032" cy="210312"/>
          </a:xfrm>
          <a:prstGeom prst="rect">
            <a:avLst/>
          </a:prstGeom>
          <a:noFill/>
        </p:spPr>
        <p:txBody>
          <a:bodyPr wrap="none">
            <a:spAutoFit/>
          </a:bodyPr>
          <a:lstStyle/>
          <a:p>
            <a:r>
              <a:rPr sz="1250" b="1">
                <a:solidFill>
                  <a:srgbClr val="1F7A3D"/>
                </a:solidFill>
              </a:rPr>
              <a:t>Learning</a:t>
            </a:r>
            <a:r>
              <a:rPr sz="1000"/>
              <a:t>  </a:t>
            </a:r>
            <a:r>
              <a:rPr sz="1050">
                <a:solidFill>
                  <a:srgbClr val="11243A"/>
                </a:solidFill>
                <a:latin typeface="Consolas"/>
              </a:rPr>
              <a:t>05_learning_agent_ch2.py</a:t>
            </a:r>
          </a:p>
        </p:txBody>
      </p:sp>
      <p:sp>
        <p:nvSpPr>
          <p:cNvPr id="30" name="TextBox 29"/>
          <p:cNvSpPr txBox="1"/>
          <p:nvPr/>
        </p:nvSpPr>
        <p:spPr>
          <a:xfrm>
            <a:off x="950976" y="4507992"/>
            <a:ext cx="4828032" cy="201168"/>
          </a:xfrm>
          <a:prstGeom prst="rect">
            <a:avLst/>
          </a:prstGeom>
          <a:noFill/>
        </p:spPr>
        <p:txBody>
          <a:bodyPr wrap="none">
            <a:spAutoFit/>
          </a:bodyPr>
          <a:lstStyle/>
          <a:p>
            <a:r>
              <a:rPr sz="1050">
                <a:solidFill>
                  <a:srgbClr val="5C6A7D"/>
                </a:solidFill>
              </a:rPr>
              <a:t>performance element + critic + learning + problem generator</a:t>
            </a:r>
          </a:p>
        </p:txBody>
      </p:sp>
      <p:sp>
        <p:nvSpPr>
          <p:cNvPr id="31" name="Rounded Rectangle 30"/>
          <p:cNvSpPr/>
          <p:nvPr/>
        </p:nvSpPr>
        <p:spPr>
          <a:xfrm>
            <a:off x="685800" y="5212080"/>
            <a:ext cx="5349240" cy="713232"/>
          </a:xfrm>
          <a:prstGeom prst="roundRect">
            <a:avLst/>
          </a:prstGeom>
          <a:solidFill>
            <a:srgbClr val="FFF4DE"/>
          </a:solidFill>
          <a:ln>
            <a:solidFill>
              <a:srgbClr val="F0C666"/>
            </a:solidFill>
          </a:ln>
        </p:spPr>
        <p:style>
          <a:lnRef idx="1">
            <a:schemeClr val="accent1"/>
          </a:lnRef>
          <a:fillRef idx="3">
            <a:schemeClr val="accent1"/>
          </a:fillRef>
          <a:effectRef idx="2">
            <a:schemeClr val="accent1"/>
          </a:effectRef>
          <a:fontRef idx="minor">
            <a:schemeClr val="lt1"/>
          </a:fontRef>
        </p:style>
        <p:txBody>
          <a:bodyPr rtlCol="0" anchor="ctr" lIns="146304"/>
          <a:lstStyle/>
          <a:p>
            <a:pPr algn="ctr"/>
            <a:r>
              <a:rPr sz="1250" b="1">
                <a:solidFill>
                  <a:srgbClr val="12325B"/>
                </a:solidFill>
              </a:rPr>
              <a:t>Teaching sequence: </a:t>
            </a:r>
            <a:r>
              <a:rPr sz="1250">
                <a:solidFill>
                  <a:srgbClr val="11243A"/>
                </a:solidFill>
              </a:rPr>
              <a:t>run 1 → 2 → 3 → 4 → 5 and ask what changed in the decision process.</a:t>
            </a:r>
          </a:p>
        </p:txBody>
      </p:sp>
      <p:sp>
        <p:nvSpPr>
          <p:cNvPr id="32" name="Rounded Rectangle 31"/>
          <p:cNvSpPr/>
          <p:nvPr/>
        </p:nvSpPr>
        <p:spPr>
          <a:xfrm>
            <a:off x="6263640" y="5212080"/>
            <a:ext cx="5257800" cy="713232"/>
          </a:xfrm>
          <a:prstGeom prst="roundRect">
            <a:avLst/>
          </a:prstGeom>
          <a:solidFill>
            <a:srgbClr val="EAF7EC"/>
          </a:solidFill>
          <a:ln>
            <a:solidFill>
              <a:srgbClr val="B6D8BE"/>
            </a:solidFill>
          </a:ln>
        </p:spPr>
        <p:style>
          <a:lnRef idx="1">
            <a:schemeClr val="accent1"/>
          </a:lnRef>
          <a:fillRef idx="3">
            <a:schemeClr val="accent1"/>
          </a:fillRef>
          <a:effectRef idx="2">
            <a:schemeClr val="accent1"/>
          </a:effectRef>
          <a:fontRef idx="minor">
            <a:schemeClr val="lt1"/>
          </a:fontRef>
        </p:style>
        <p:txBody>
          <a:bodyPr rtlCol="0" anchor="ctr" lIns="146304"/>
          <a:lstStyle/>
          <a:p>
            <a:pPr algn="ctr"/>
            <a:r>
              <a:rPr sz="1250" b="1">
                <a:solidFill>
                  <a:srgbClr val="12325B"/>
                </a:solidFill>
              </a:rPr>
              <a:t>Code focus: </a:t>
            </a:r>
            <a:r>
              <a:rPr sz="1250">
                <a:solidFill>
                  <a:srgbClr val="11243A"/>
                </a:solidFill>
              </a:rPr>
              <a:t>project the section marked CHAPTER 2 AGENT PROGRAM STARTS HERE.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685"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6"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687"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How the Planning Video Fits Your Lecture</a:t>
            </a:r>
            <a:endParaRPr lang="en-US" sz="2300" b="0" u="none" strike="noStrike">
              <a:solidFill>
                <a:srgbClr val="000000"/>
              </a:solidFill>
              <a:effectLst/>
              <a:uFillTx/>
              <a:latin typeface="Arial"/>
            </a:endParaRPr>
          </a:p>
        </p:txBody>
      </p:sp>
      <p:sp>
        <p:nvSpPr>
          <p:cNvPr id="688"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Video</a:t>
            </a:r>
            <a:endParaRPr lang="en-US" sz="1200" b="0" u="none" strike="noStrike">
              <a:solidFill>
                <a:srgbClr val="000000"/>
              </a:solidFill>
              <a:effectLst/>
              <a:uFillTx/>
              <a:latin typeface="Arial"/>
            </a:endParaRPr>
          </a:p>
        </p:txBody>
      </p:sp>
      <p:sp>
        <p:nvSpPr>
          <p:cNvPr id="689"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690"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34</a:t>
            </a:r>
          </a:p>
        </p:txBody>
      </p:sp>
      <p:sp>
        <p:nvSpPr>
          <p:cNvPr id="691" name="Shape 6"/>
          <p:cNvSpPr/>
          <p:nvPr/>
        </p:nvSpPr>
        <p:spPr>
          <a:xfrm>
            <a:off x="868680" y="1325880"/>
            <a:ext cx="4937040" cy="1325160"/>
          </a:xfrm>
          <a:prstGeom prst="roundRect">
            <a:avLst>
              <a:gd name="adj" fmla="val 4138"/>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2" name="Text 7"/>
          <p:cNvSpPr/>
          <p:nvPr/>
        </p:nvSpPr>
        <p:spPr>
          <a:xfrm>
            <a:off x="1033200" y="1472040"/>
            <a:ext cx="46080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B7A45"/>
                </a:solidFill>
                <a:effectLst/>
                <a:uFillTx/>
                <a:latin typeface="Aptos"/>
              </a:rPr>
              <a:t>Use for Chapter 2</a:t>
            </a:r>
            <a:endParaRPr lang="en-US" sz="1800" b="0" u="none" strike="noStrike">
              <a:solidFill>
                <a:srgbClr val="000000"/>
              </a:solidFill>
              <a:effectLst/>
              <a:uFillTx/>
              <a:latin typeface="Arial"/>
            </a:endParaRPr>
          </a:p>
        </p:txBody>
      </p:sp>
      <p:sp>
        <p:nvSpPr>
          <p:cNvPr id="693" name="Text 8"/>
          <p:cNvSpPr/>
          <p:nvPr/>
        </p:nvSpPr>
        <p:spPr>
          <a:xfrm>
            <a:off x="1033200" y="1801440"/>
            <a:ext cx="4608000" cy="7308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1:19-10:05: agents that plan, reflex agents, Pac-Man examples, planning versus replanning.</a:t>
            </a:r>
            <a:endParaRPr lang="en-US" sz="1350" b="0" u="none" strike="noStrike">
              <a:solidFill>
                <a:srgbClr val="000000"/>
              </a:solidFill>
              <a:effectLst/>
              <a:uFillTx/>
              <a:latin typeface="Arial"/>
            </a:endParaRPr>
          </a:p>
        </p:txBody>
      </p:sp>
      <p:sp>
        <p:nvSpPr>
          <p:cNvPr id="694" name="Shape 9"/>
          <p:cNvSpPr/>
          <p:nvPr/>
        </p:nvSpPr>
        <p:spPr>
          <a:xfrm>
            <a:off x="6355080" y="1325880"/>
            <a:ext cx="4937040" cy="1325160"/>
          </a:xfrm>
          <a:prstGeom prst="roundRect">
            <a:avLst>
              <a:gd name="adj" fmla="val 4138"/>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5" name="Text 10"/>
          <p:cNvSpPr/>
          <p:nvPr/>
        </p:nvSpPr>
        <p:spPr>
          <a:xfrm>
            <a:off x="6519600" y="1472040"/>
            <a:ext cx="46080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5A21B"/>
                </a:solidFill>
                <a:effectLst/>
                <a:uFillTx/>
                <a:latin typeface="Aptos"/>
              </a:rPr>
              <a:t>Save for Chapter 3</a:t>
            </a:r>
            <a:endParaRPr lang="en-US" sz="1800" b="0" u="none" strike="noStrike">
              <a:solidFill>
                <a:srgbClr val="000000"/>
              </a:solidFill>
              <a:effectLst/>
              <a:uFillTx/>
              <a:latin typeface="Arial"/>
            </a:endParaRPr>
          </a:p>
        </p:txBody>
      </p:sp>
      <p:sp>
        <p:nvSpPr>
          <p:cNvPr id="696" name="Text 11"/>
          <p:cNvSpPr/>
          <p:nvPr/>
        </p:nvSpPr>
        <p:spPr>
          <a:xfrm>
            <a:off x="6519600" y="1801440"/>
            <a:ext cx="4608000" cy="7308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50" b="0" u="none" strike="noStrike">
                <a:solidFill>
                  <a:srgbClr val="0B1F3A"/>
                </a:solidFill>
                <a:effectLst/>
                <a:uFillTx/>
                <a:latin typeface="Aptos"/>
              </a:rPr>
              <a:t>After ~11:48: search problem formulation, state spaces, search trees, DFS, BFS, UCS.</a:t>
            </a:r>
            <a:endParaRPr lang="en-US" sz="1350" b="0" u="none" strike="noStrike">
              <a:solidFill>
                <a:srgbClr val="000000"/>
              </a:solidFill>
              <a:effectLst/>
              <a:uFillTx/>
              <a:latin typeface="Arial"/>
            </a:endParaRPr>
          </a:p>
        </p:txBody>
      </p:sp>
      <p:sp>
        <p:nvSpPr>
          <p:cNvPr id="697" name="Shape 12"/>
          <p:cNvSpPr/>
          <p:nvPr/>
        </p:nvSpPr>
        <p:spPr>
          <a:xfrm>
            <a:off x="1508760" y="3246120"/>
            <a:ext cx="9143280" cy="1233720"/>
          </a:xfrm>
          <a:prstGeom prst="roundRect">
            <a:avLst>
              <a:gd name="adj" fmla="val 4444"/>
            </a:avLst>
          </a:prstGeom>
          <a:solidFill>
            <a:srgbClr val="FFFFFF"/>
          </a:solidFill>
          <a:ln w="12700">
            <a:solidFill>
              <a:srgbClr val="D3DEE9"/>
            </a:solidFill>
            <a:round/>
          </a:ln>
          <a:effectLst>
            <a:outerShdw algn="bl" blurRad="19080" dir="2700000" dist="9673"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8" name="Text 13"/>
          <p:cNvSpPr/>
          <p:nvPr/>
        </p:nvSpPr>
        <p:spPr>
          <a:xfrm>
            <a:off x="1673280" y="3392280"/>
            <a:ext cx="88142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2B6CB0"/>
                </a:solidFill>
                <a:effectLst/>
                <a:uFillTx/>
                <a:latin typeface="Aptos"/>
              </a:rPr>
              <a:t>Teaching boundary</a:t>
            </a:r>
            <a:endParaRPr lang="en-US" sz="1800" b="0" u="none" strike="noStrike">
              <a:solidFill>
                <a:srgbClr val="000000"/>
              </a:solidFill>
              <a:effectLst/>
              <a:uFillTx/>
              <a:latin typeface="Arial"/>
            </a:endParaRPr>
          </a:p>
        </p:txBody>
      </p:sp>
      <p:sp>
        <p:nvSpPr>
          <p:cNvPr id="699" name="Text 14"/>
          <p:cNvSpPr/>
          <p:nvPr/>
        </p:nvSpPr>
        <p:spPr>
          <a:xfrm>
            <a:off x="1673280" y="3721680"/>
            <a:ext cx="8814240" cy="639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400" b="0" u="none" strike="noStrike">
                <a:solidFill>
                  <a:srgbClr val="0B1F3A"/>
                </a:solidFill>
                <a:effectLst/>
                <a:uFillTx/>
                <a:latin typeface="Aptos"/>
              </a:rPr>
              <a:t>Chapter 2 explains what a goal-based agent is. Chapter 3 explains how search implements it.</a:t>
            </a:r>
            <a:endParaRPr lang="en-US" sz="1400" b="0" u="none" strike="noStrike">
              <a:solidFill>
                <a:srgbClr val="000000"/>
              </a:solidFill>
              <a:effectLst/>
              <a:uFillTx/>
              <a:latin typeface="Arial"/>
            </a:endParaRPr>
          </a:p>
        </p:txBody>
      </p:sp>
      <p:sp>
        <p:nvSpPr>
          <p:cNvPr id="700" name="Text 15"/>
          <p:cNvSpPr/>
          <p:nvPr/>
        </p:nvSpPr>
        <p:spPr>
          <a:xfrm>
            <a:off x="914400" y="5257800"/>
            <a:ext cx="103320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0B2B5C"/>
                </a:solidFill>
                <a:effectLst/>
                <a:uFillTx/>
                <a:latin typeface="Aptos"/>
              </a:rPr>
              <a:t>Recommended use: play the first segment as a bridge, then stop before the full search algorithms.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6FA"/>
        </a:solidFill>
      </p:bgPr>
    </p:bg>
    <p:spTree>
      <p:nvGrpSpPr>
        <p:cNvPr id="1" name=""/>
        <p:cNvGrpSpPr/>
        <p:nvPr/>
      </p:nvGrpSpPr>
      <p:grpSpPr>
        <a:xfrm>
          <a:off x="0" y="0"/>
          <a:ext cx="0" cy="0"/>
          <a:chOff x="0" y="0"/>
          <a:chExt cx="0" cy="0"/>
        </a:xfrm>
      </p:grpSpPr>
      <p:sp>
        <p:nvSpPr>
          <p:cNvPr id="701" name="Shape 0"/>
          <p:cNvSpPr/>
          <p:nvPr/>
        </p:nvSpPr>
        <p:spPr>
          <a:xfrm>
            <a:off x="0" y="0"/>
            <a:ext cx="12191040" cy="803880"/>
          </a:xfrm>
          <a:prstGeom prst="rect">
            <a:avLst/>
          </a:prstGeom>
          <a:solidFill>
            <a:srgbClr val="0B2B5C"/>
          </a:solidFill>
          <a:ln w="12700">
            <a:solidFill>
              <a:srgbClr val="0B2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02" name="Shape 1"/>
          <p:cNvSpPr/>
          <p:nvPr/>
        </p:nvSpPr>
        <p:spPr>
          <a:xfrm>
            <a:off x="0" y="804600"/>
            <a:ext cx="12191040" cy="72360"/>
          </a:xfrm>
          <a:prstGeom prst="rect">
            <a:avLst/>
          </a:prstGeom>
          <a:solidFill>
            <a:srgbClr val="F5A21B"/>
          </a:solidFill>
          <a:ln w="12700">
            <a:solidFill>
              <a:srgbClr val="F5A21B"/>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703" name="Text 2"/>
          <p:cNvSpPr/>
          <p:nvPr/>
        </p:nvSpPr>
        <p:spPr>
          <a:xfrm>
            <a:off x="475560" y="210240"/>
            <a:ext cx="960048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Chapter 2 Takeaways</a:t>
            </a:r>
            <a:endParaRPr lang="en-US" sz="2300" b="0" u="none" strike="noStrike">
              <a:solidFill>
                <a:srgbClr val="000000"/>
              </a:solidFill>
              <a:effectLst/>
              <a:uFillTx/>
              <a:latin typeface="Arial"/>
            </a:endParaRPr>
          </a:p>
        </p:txBody>
      </p:sp>
      <p:sp>
        <p:nvSpPr>
          <p:cNvPr id="704" name="Text 3"/>
          <p:cNvSpPr/>
          <p:nvPr/>
        </p:nvSpPr>
        <p:spPr>
          <a:xfrm>
            <a:off x="10241280" y="255960"/>
            <a:ext cx="13708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DE8F2"/>
                </a:solidFill>
                <a:effectLst/>
                <a:uFillTx/>
                <a:latin typeface="Aptos"/>
                <a:ea typeface="Aptos"/>
              </a:rPr>
              <a:t>Summary</a:t>
            </a:r>
            <a:endParaRPr lang="en-US" sz="1200" b="0" u="none" strike="noStrike">
              <a:solidFill>
                <a:srgbClr val="000000"/>
              </a:solidFill>
              <a:effectLst/>
              <a:uFillTx/>
              <a:latin typeface="Arial"/>
            </a:endParaRPr>
          </a:p>
        </p:txBody>
      </p:sp>
      <p:sp>
        <p:nvSpPr>
          <p:cNvPr id="705" name="Text 4"/>
          <p:cNvSpPr/>
          <p:nvPr/>
        </p:nvSpPr>
        <p:spPr>
          <a:xfrm>
            <a:off x="475560" y="6565320"/>
            <a:ext cx="27424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06" name="Text 5"/>
          <p:cNvSpPr/>
          <p:nvPr/>
        </p:nvSpPr>
        <p:spPr>
          <a:xfrm>
            <a:off x="11201400" y="6565320"/>
            <a:ext cx="548640" cy="163800"/>
          </a:xfrm>
          <a:prstGeom prst="rect">
            <a:avLst/>
          </a:prstGeom>
          <a:noFill/>
          <a:ln w="0">
            <a:noFill/>
          </a:ln>
        </p:spPr>
        <p:style>
          <a:lnRef idx="0"/>
          <a:fillRef idx="0"/>
          <a:effectRef idx="0"/>
          <a:fontRef idx="minor"/>
        </p:style>
        <p:txBody>
          <a:bodyPr lIns="0" tIns="0" rIns="0" bIns="0" anchor="ctr">
            <a:noAutofit/>
          </a:bodyPr>
          <a:p>
            <a:r>
              <a:t>35</a:t>
            </a:r>
          </a:p>
        </p:txBody>
      </p:sp>
      <p:sp>
        <p:nvSpPr>
          <p:cNvPr id="707" name="Text 6"/>
          <p:cNvSpPr/>
          <p:nvPr/>
        </p:nvSpPr>
        <p:spPr>
          <a:xfrm>
            <a:off x="868680" y="1234440"/>
            <a:ext cx="10514880" cy="310824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pPr>
            <a:r>
              <a:rPr lang="en-US" sz="1700" b="0" u="none" strike="noStrike">
                <a:solidFill>
                  <a:srgbClr val="0B1F3A"/>
                </a:solidFill>
                <a:effectLst/>
                <a:uFillTx/>
                <a:latin typeface="Aptos"/>
                <a:ea typeface="Aptos"/>
              </a:rPr>
              <a:t>An agent perceives an environment through sensors and acts through actuators.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A rational agent maximizes expected performance, not hindsight perfection.</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PEAS specifies the task: performance, environment, actuators, sensors.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Environment properties determine which agent design is appropriate.</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Agent programs include table-driven, simple reflex, model-based, goal-based, utility-based, and learning agents.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Representations determine what the agent can express and how hard reasoning becomes.</a:t>
            </a:r>
            <a:endParaRPr lang="en-US" sz="1700" b="0" u="none" strike="noStrike">
              <a:solidFill>
                <a:srgbClr val="000000"/>
              </a:solidFill>
              <a:effectLst/>
              <a:uFillTx/>
              <a:latin typeface="Arial"/>
            </a:endParaRPr>
          </a:p>
        </p:txBody>
      </p:sp>
      <p:sp>
        <p:nvSpPr>
          <p:cNvPr id="708" name="Shape 7"/>
          <p:cNvSpPr/>
          <p:nvPr/>
        </p:nvSpPr>
        <p:spPr>
          <a:xfrm>
            <a:off x="914400" y="4892040"/>
            <a:ext cx="10332720" cy="360"/>
          </a:xfrm>
          <a:prstGeom prst="line">
            <a:avLst/>
          </a:prstGeom>
          <a:ln w="25400">
            <a:solidFill>
              <a:srgbClr val="F5A21B"/>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09" name="Text 8"/>
          <p:cNvSpPr/>
          <p:nvPr/>
        </p:nvSpPr>
        <p:spPr>
          <a:xfrm>
            <a:off x="868680" y="5440680"/>
            <a:ext cx="1051488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50" b="1" u="none" strike="noStrike">
                <a:solidFill>
                  <a:srgbClr val="0B2B5C"/>
                </a:solidFill>
                <a:effectLst/>
                <a:uFillTx/>
                <a:latin typeface="Aptos"/>
              </a:rPr>
              <a:t>Define the agent -&gt; Specify the task -&gt; Classify the environment -&gt; Choose the design</a:t>
            </a:r>
            <a:endParaRPr lang="en-US"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50</TotalTime>
  <Application>LibreOffice/26.2.4.2$Linux_X86_64 LibreOffice_project/620$Build-2</Application>
  <AppVersion>15.0000</AppVersion>
  <Words>0</Words>
  <Paragraphs>0</Paragraphs>
  <Company>CSU Channel Islands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2026-07-31T02:27:29Z</dcterms:created>
  <dc:creator>COMP 469</dc:creator>
  <dc:description/>
  <dc:language>en-US</dc:language>
  <cp:lastModifiedBy/>
  <dcterms:modified xsi:type="dcterms:W3CDTF">2026-07-30T23:21:51Z</dcterms:modified>
  <cp:revision>12</cp:revision>
  <dc:subject>Chapter 2 Intelligent Agents</dc:subject>
  <dc:title>COMP 469 Chapter 2: Intelligent Agents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34</vt:i4>
  </property>
  <property fmtid="{D5CDD505-2E9C-101B-9397-08002B2CF9AE}" pid="3" name="PresentationFormat">
    <vt:lpwstr>On-screen Show (16:9)</vt:lpwstr>
  </property>
  <property fmtid="{D5CDD505-2E9C-101B-9397-08002B2CF9AE}" pid="4" name="Slides">
    <vt:i4>34</vt:i4>
  </property>
</Properties>
</file>