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50"/>
  </p:notesMasterIdLst>
  <p:sldIdLst>
    <p:sldId id="256" r:id="rId3"/>
    <p:sldId id="257" r:id="rId4"/>
    <p:sldId id="258" r:id="rId5"/>
    <p:sldId id="259" r:id="rId6"/>
    <p:sldId id="260" r:id="rId7"/>
    <p:sldId id="261" r:id="rId8"/>
    <p:sldId id="292" r:id="rId9"/>
    <p:sldId id="262" r:id="rId10"/>
    <p:sldId id="293" r:id="rId11"/>
    <p:sldId id="263" r:id="rId12"/>
    <p:sldId id="294" r:id="rId13"/>
    <p:sldId id="264" r:id="rId14"/>
    <p:sldId id="295" r:id="rId15"/>
    <p:sldId id="265" r:id="rId16"/>
    <p:sldId id="266" r:id="rId17"/>
    <p:sldId id="267" r:id="rId18"/>
    <p:sldId id="296" r:id="rId19"/>
    <p:sldId id="297" r:id="rId20"/>
    <p:sldId id="268" r:id="rId21"/>
    <p:sldId id="269" r:id="rId22"/>
    <p:sldId id="270" r:id="rId23"/>
    <p:sldId id="271" r:id="rId24"/>
    <p:sldId id="298" r:id="rId25"/>
    <p:sldId id="272" r:id="rId26"/>
    <p:sldId id="273" r:id="rId27"/>
    <p:sldId id="299" r:id="rId28"/>
    <p:sldId id="274" r:id="rId29"/>
    <p:sldId id="275" r:id="rId30"/>
    <p:sldId id="276" r:id="rId31"/>
    <p:sldId id="277" r:id="rId32"/>
    <p:sldId id="278" r:id="rId33"/>
    <p:sldId id="280" r:id="rId34"/>
    <p:sldId id="281" r:id="rId35"/>
    <p:sldId id="282" r:id="rId36"/>
    <p:sldId id="283" r:id="rId37"/>
    <p:sldId id="300" r:id="rId38"/>
    <p:sldId id="284" r:id="rId39"/>
    <p:sldId id="301" r:id="rId40"/>
    <p:sldId id="302" r:id="rId41"/>
    <p:sldId id="285" r:id="rId42"/>
    <p:sldId id="286" r:id="rId43"/>
    <p:sldId id="287" r:id="rId44"/>
    <p:sldId id="288" r:id="rId45"/>
    <p:sldId id="291" r:id="rId46"/>
    <p:sldId id="289" r:id="rId47"/>
    <p:sldId id="303" r:id="rId48"/>
    <p:sldId id="290" r:id="rId49"/>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96"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9"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0"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1"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DA590CE-234F-42EB-B5E8-28E4986DD0E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PlaceHolder 1"/>
          <p:cNvSpPr>
            <a:spLocks noGrp="1" noRot="1" noChangeAspect="1"/>
          </p:cNvSpPr>
          <p:nvPr>
            <p:ph type="sldImg"/>
          </p:nvPr>
        </p:nvSpPr>
        <p:spPr>
          <a:xfrm>
            <a:off x="685800" y="1143000"/>
            <a:ext cx="5485680" cy="3085560"/>
          </a:xfrm>
          <a:prstGeom prst="rect">
            <a:avLst/>
          </a:prstGeom>
          <a:ln w="0">
            <a:noFill/>
          </a:ln>
        </p:spPr>
      </p:sp>
      <p:sp>
        <p:nvSpPr>
          <p:cNvPr id="7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introduction and Section 2.1</a:t>
            </a:r>
          </a:p>
          <a:p>
            <a:endParaRPr/>
          </a:p>
          <a:p>
            <a:r>
              <a:t>[Read-Aloud Script]</a:t>
            </a:r>
          </a:p>
          <a:p>
            <a:endParaRPr/>
          </a:p>
          <a:p>
            <a: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p>
          <a:p>
            <a:endParaRPr/>
          </a:p>
          <a:p>
            <a: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p>
          <a:p>
            <a:endParaRPr/>
          </a:p>
          <a:p>
            <a: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p>
          <a:p>
            <a:endParaRPr/>
          </a:p>
          <a:p>
            <a:r>
              <a:t>[Instructor Cue]</a:t>
            </a:r>
          </a:p>
          <a:p>
            <a:r>
              <a:t>Opening cue: tell students that the lecture is organized as a design workflow, not as a list of unrelated agent definitions.</a:t>
            </a:r>
          </a:p>
          <a:p>
            <a:endParaRPr/>
          </a:p>
          <a:p>
            <a:r>
              <a:t>[Transition]</a:t>
            </a:r>
          </a:p>
          <a:p>
            <a:r>
              <a:t>We will begin with a quick capability question that reveals why the environment matters so much.</a:t>
            </a:r>
          </a:p>
          <a:p>
            <a:endParaRPr/>
          </a:p>
          <a:p>
            <a:r>
              <a:t>[Sources]</a:t>
            </a:r>
          </a:p>
          <a:p>
            <a:r>
              <a:t>- AIMA 4e, Chapter 2 introduction and Section 2.1.</a:t>
            </a:r>
          </a:p>
        </p:txBody>
      </p:sp>
      <p:sp>
        <p:nvSpPr>
          <p:cNvPr id="712"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6719928-A057-43F9-8081-3E7EAF94DB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noRot="1" noChangeAspect="1"/>
          </p:cNvSpPr>
          <p:nvPr>
            <p:ph type="sldImg"/>
          </p:nvPr>
        </p:nvSpPr>
        <p:spPr>
          <a:xfrm>
            <a:off x="685800" y="1143000"/>
            <a:ext cx="5485680" cy="3085560"/>
          </a:xfrm>
          <a:prstGeom prst="rect">
            <a:avLst/>
          </a:prstGeom>
          <a:ln w="0">
            <a:noFill/>
          </a:ln>
        </p:spPr>
      </p:sp>
      <p:sp>
        <p:nvSpPr>
          <p:cNvPr id="7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Motivating task environments</a:t>
            </a:r>
          </a:p>
          <a:p>
            <a:endParaRPr/>
          </a:p>
          <a:p>
            <a:r>
              <a:t>[Read-Aloud Script]</a:t>
            </a:r>
          </a:p>
          <a:p>
            <a:endParaRPr/>
          </a:p>
          <a:p>
            <a: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p>
          <a:p>
            <a:endParaRPr/>
          </a:p>
          <a:p>
            <a: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p>
          <a:p>
            <a:endParaRPr/>
          </a:p>
          <a:p>
            <a: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p>
          <a:p>
            <a:endParaRPr/>
          </a:p>
          <a:p>
            <a:r>
              <a:t>Use this slide as a warm-up poll. The purpose is not to settle every capability claim. The purpose is to notice that intelligence must be evaluated relative to a specified task environment. That observation leads directly to the agent framework used throughout Chapter 2.</a:t>
            </a:r>
          </a:p>
          <a:p>
            <a:endParaRPr/>
          </a:p>
          <a:p>
            <a:r>
              <a:t>[Instructor Cue]</a:t>
            </a:r>
          </a:p>
          <a:p>
            <a:r>
              <a:t>Ask for two volunteers: one task that seems easy for AI and one that seems difficult. For each answer, ask what property of the environment explains the difference.</a:t>
            </a:r>
          </a:p>
          <a:p>
            <a:endParaRPr/>
          </a:p>
          <a:p>
            <a:r>
              <a:t>[Transition]</a:t>
            </a:r>
          </a:p>
          <a:p>
            <a:r>
              <a:t>To evaluate these systems consistently, the course adopts the rational-agent perspective.</a:t>
            </a:r>
          </a:p>
          <a:p>
            <a:endParaRPr/>
          </a:p>
          <a:p>
            <a:r>
              <a:t>[Sources]</a:t>
            </a:r>
          </a:p>
          <a:p>
            <a:r>
              <a:t>- AIMA 4e, Chapter 2 introduction; lecture deck warm-up framing.</a:t>
            </a:r>
          </a:p>
        </p:txBody>
      </p:sp>
      <p:sp>
        <p:nvSpPr>
          <p:cNvPr id="715"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0042843-3413-446B-B250-E582DBC8A636}"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PlaceHolder 1"/>
          <p:cNvSpPr>
            <a:spLocks noGrp="1" noRot="1" noChangeAspect="1"/>
          </p:cNvSpPr>
          <p:nvPr>
            <p:ph type="sldImg"/>
          </p:nvPr>
        </p:nvSpPr>
        <p:spPr>
          <a:xfrm>
            <a:off x="685800" y="1143000"/>
            <a:ext cx="5485680" cy="3085560"/>
          </a:xfrm>
          <a:prstGeom prst="rect">
            <a:avLst/>
          </a:prstGeom>
          <a:ln w="0">
            <a:noFill/>
          </a:ln>
        </p:spPr>
      </p:sp>
      <p:sp>
        <p:nvSpPr>
          <p:cNvPr id="7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Bridge from Chapter 1 to Chapter 2</a:t>
            </a:r>
          </a:p>
          <a:p>
            <a:endParaRPr/>
          </a:p>
          <a:p>
            <a:r>
              <a:t>[Read-Aloud Script]</a:t>
            </a:r>
          </a:p>
          <a:p>
            <a:endParaRPr/>
          </a:p>
          <a:p>
            <a: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p>
          <a:p>
            <a:endParaRPr/>
          </a:p>
          <a:p>
            <a: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p>
          <a:p>
            <a:endParaRPr/>
          </a:p>
          <a:p>
            <a: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p>
          <a:p>
            <a:endParaRPr/>
          </a:p>
          <a:p>
            <a:r>
              <a:t>[Instructor Cue]</a:t>
            </a:r>
          </a:p>
          <a:p>
            <a:r>
              <a:t>Emphasize that rational does not mean morally perfect or all-knowing; the chapter gives it a technical meaning tied to expected performance.</a:t>
            </a:r>
          </a:p>
          <a:p>
            <a:endParaRPr/>
          </a:p>
          <a:p>
            <a:r>
              <a:t>[Transition]</a:t>
            </a:r>
          </a:p>
          <a:p>
            <a:r>
              <a:t>The roadmap shows how we move from this perspective to concrete agent designs.</a:t>
            </a:r>
          </a:p>
          <a:p>
            <a:endParaRPr/>
          </a:p>
          <a:p>
            <a:r>
              <a:t>[Sources]</a:t>
            </a:r>
          </a:p>
          <a:p>
            <a:r>
              <a:t>- AIMA 4e, Chapters 1 and 2.</a:t>
            </a:r>
          </a:p>
        </p:txBody>
      </p:sp>
      <p:sp>
        <p:nvSpPr>
          <p:cNvPr id="718"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4E6956-B24E-426C-9121-ADDEBC0152B6}"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noRot="1" noChangeAspect="1"/>
          </p:cNvSpPr>
          <p:nvPr>
            <p:ph type="sldImg"/>
          </p:nvPr>
        </p:nvSpPr>
        <p:spPr>
          <a:xfrm>
            <a:off x="685800" y="1143000"/>
            <a:ext cx="5485680" cy="3085560"/>
          </a:xfrm>
          <a:prstGeom prst="rect">
            <a:avLst/>
          </a:prstGeom>
          <a:ln w="0">
            <a:noFill/>
          </a:ln>
        </p:spPr>
      </p:sp>
      <p:sp>
        <p:nvSpPr>
          <p:cNvPr id="7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Lecture roadmap</a:t>
            </a:r>
          </a:p>
          <a:p>
            <a:endParaRPr/>
          </a:p>
          <a:p>
            <a:r>
              <a:t>[Read-Aloud Script]</a:t>
            </a:r>
          </a:p>
          <a:p>
            <a:endParaRPr/>
          </a:p>
          <a:p>
            <a: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p>
          <a:p>
            <a:endParaRPr/>
          </a:p>
          <a:p>
            <a: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p>
          <a:p>
            <a:endParaRPr/>
          </a:p>
          <a:p>
            <a:r>
              <a:t>The final topic is representation: how the agent stores information about the world. Keep this workflow in mind throughout the lecture: define the interaction, define success, characterize the environment, and then choose the agent design.</a:t>
            </a:r>
          </a:p>
          <a:p>
            <a:endParaRPr/>
          </a:p>
          <a:p>
            <a:r>
              <a:t>[Instructor Cue]</a:t>
            </a:r>
          </a:p>
          <a:p>
            <a:r>
              <a:t>Tell students that the roadmap is also a checklist they can use on exams and projects.</a:t>
            </a:r>
          </a:p>
          <a:p>
            <a:endParaRPr/>
          </a:p>
          <a:p>
            <a:r>
              <a:t>[Transition]</a:t>
            </a:r>
          </a:p>
          <a:p>
            <a:r>
              <a:t>We will now define the perceive-act loop formally.</a:t>
            </a:r>
          </a:p>
          <a:p>
            <a:endParaRPr/>
          </a:p>
          <a:p>
            <a:r>
              <a:t>[Sources]</a:t>
            </a:r>
          </a:p>
          <a:p>
            <a:r>
              <a:t>- AIMA 4e, Chapter 2 structure.</a:t>
            </a:r>
          </a:p>
        </p:txBody>
      </p:sp>
      <p:sp>
        <p:nvSpPr>
          <p:cNvPr id="721"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6B87D0-DA40-45A6-A00B-125D6322ECD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noRot="1" noChangeAspect="1"/>
          </p:cNvSpPr>
          <p:nvPr>
            <p:ph type="sldImg"/>
          </p:nvPr>
        </p:nvSpPr>
        <p:spPr>
          <a:xfrm>
            <a:off x="685800" y="1143000"/>
            <a:ext cx="5485680" cy="3085560"/>
          </a:xfrm>
          <a:prstGeom prst="rect">
            <a:avLst/>
          </a:prstGeom>
          <a:ln w="0">
            <a:noFill/>
          </a:ln>
        </p:spPr>
      </p:sp>
      <p:sp>
        <p:nvSpPr>
          <p:cNvPr id="7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p>
          <a:p>
            <a:endParaRPr/>
          </a:p>
          <a:p>
            <a: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p>
          <a:p>
            <a:endParaRPr/>
          </a:p>
          <a:p>
            <a: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p>
          <a:p>
            <a:endParaRPr/>
          </a:p>
          <a:p>
            <a: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p>
          <a:p>
            <a:endParaRPr/>
          </a:p>
          <a:p>
            <a:r>
              <a:t>[Instructor Cue]</a:t>
            </a:r>
          </a:p>
          <a:p>
            <a:r>
              <a:t>Ask: for a campus chatbot, what are the sensors and actuators? Accept inputs such as user text, authentication context, knowledge-base results, responses, escalation, and ticket creation.</a:t>
            </a:r>
          </a:p>
          <a:p>
            <a:endParaRPr/>
          </a:p>
          <a:p>
            <a:r>
              <a:t>[Transition]</a:t>
            </a:r>
          </a:p>
          <a:p>
            <a:r>
              <a:t>To describe the agent’s behavior precisely, we need the terms percept, percept sequence, agent function, and agent program.</a:t>
            </a:r>
          </a:p>
          <a:p>
            <a:endParaRPr/>
          </a:p>
          <a:p>
            <a:r>
              <a:t>[Sources]</a:t>
            </a:r>
          </a:p>
          <a:p>
            <a:r>
              <a:t>- AIMA 4e, Section 2.1 and Figure 2.1.</a:t>
            </a:r>
          </a:p>
        </p:txBody>
      </p:sp>
      <p:sp>
        <p:nvSpPr>
          <p:cNvPr id="724"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1ED191C-5293-4812-919B-F7E37BBCDB56}"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5" name="PlaceHolder 1"/>
          <p:cNvSpPr>
            <a:spLocks noGrp="1" noRot="1" noChangeAspect="1"/>
          </p:cNvSpPr>
          <p:nvPr>
            <p:ph type="sldImg"/>
          </p:nvPr>
        </p:nvSpPr>
        <p:spPr>
          <a:xfrm>
            <a:off x="685800" y="1143000"/>
            <a:ext cx="5485680" cy="3085560"/>
          </a:xfrm>
          <a:prstGeom prst="rect">
            <a:avLst/>
          </a:prstGeom>
          <a:ln w="0">
            <a:noFill/>
          </a:ln>
        </p:spPr>
      </p:sp>
      <p:sp>
        <p:nvSpPr>
          <p:cNvPr id="7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p>
          <a:p>
            <a:endParaRPr/>
          </a:p>
          <a:p>
            <a: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p>
          <a:p>
            <a:endParaRPr/>
          </a:p>
          <a:p>
            <a: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p>
          <a:p>
            <a:endParaRPr/>
          </a:p>
          <a:p>
            <a: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p>
          <a:p>
            <a:endParaRPr/>
          </a:p>
          <a:p>
            <a:r>
              <a:t>Chapter 2’s central engineering problem is not merely to define a rational mapping in principle. It is to produce rational behavior from a program that is compact enough to store, efficient enough to run, and capable of operating in the actual environment.</a:t>
            </a:r>
          </a:p>
          <a:p>
            <a:endParaRPr/>
          </a:p>
          <a:p>
            <a:r>
              <a:t>[Instructor Cue]</a:t>
            </a:r>
          </a:p>
          <a:p>
            <a:r>
              <a:t>Pause and ask students to explain the difference between an agent function and an agent program in one sentence.</a:t>
            </a:r>
          </a:p>
          <a:p>
            <a:endParaRPr/>
          </a:p>
          <a:p>
            <a:r>
              <a:t>[Transition]</a:t>
            </a:r>
          </a:p>
          <a:p>
            <a:r>
              <a:t>Now that behavior can be described, we need a standard for deciding whether the behavior is good.</a:t>
            </a:r>
          </a:p>
          <a:p>
            <a:endParaRPr/>
          </a:p>
          <a:p>
            <a:r>
              <a:t>[Sources]</a:t>
            </a:r>
          </a:p>
          <a:p>
            <a:r>
              <a:t>- AIMA 4e, Section 2.1.</a:t>
            </a:r>
          </a:p>
        </p:txBody>
      </p:sp>
      <p:sp>
        <p:nvSpPr>
          <p:cNvPr id="727"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48558AA-9C41-4A70-AA6D-4CFF5914DA0D}"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 Figures 2.2 and 2.3</a:t>
            </a:r>
          </a:p>
          <a:p>
            <a:endParaRPr/>
          </a:p>
          <a:p>
            <a:r>
              <a:t>[Read-Aloud Script]</a:t>
            </a:r>
          </a:p>
          <a:p>
            <a:endParaRPr/>
          </a:p>
          <a:p>
            <a: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p>
          <a:p>
            <a:endParaRPr/>
          </a:p>
          <a:p>
            <a: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p>
          <a:p>
            <a:endParaRPr/>
          </a:p>
          <a:p>
            <a: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p>
          <a:p>
            <a:endParaRPr/>
          </a:p>
          <a:p>
            <a: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p>
          <a:p>
            <a:endParaRPr/>
          </a:p>
          <a:p>
            <a:r>
              <a:t>[Instructor Cue]</a:t>
            </a:r>
          </a:p>
          <a:p>
            <a:r>
              <a:t>Put a blank two-column table on the board and have students propose an action for the percept sequence [A, Clean], [B, Clean]. Ask whether their choice is better or worse than Right, and press them for the criterion they used — most students will reach for a performance measure without having been given one.</a:t>
            </a:r>
          </a:p>
          <a:p>
            <a:endParaRPr/>
          </a:p>
          <a:p>
            <a:r>
              <a:t>[Transition]</a:t>
            </a:r>
          </a:p>
          <a:p>
            <a:r>
              <a:t>To say which column is the right one, we need a standard for judging behaviour.</a:t>
            </a:r>
          </a:p>
          <a:p>
            <a:endParaRPr/>
          </a:p>
          <a:p>
            <a:r>
              <a:t>[Sources]</a:t>
            </a:r>
          </a:p>
          <a:p>
            <a:r>
              <a:t>- AIMA 4e, Section 2.1, Figures 2.2 and 2.3.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 name="PlaceHolder 1"/>
          <p:cNvSpPr>
            <a:spLocks noGrp="1" noRot="1" noChangeAspect="1"/>
          </p:cNvSpPr>
          <p:nvPr>
            <p:ph type="sldImg"/>
          </p:nvPr>
        </p:nvSpPr>
        <p:spPr>
          <a:xfrm>
            <a:off x="685800" y="1143000"/>
            <a:ext cx="5485680" cy="3085560"/>
          </a:xfrm>
          <a:prstGeom prst="rect">
            <a:avLst/>
          </a:prstGeom>
          <a:ln w="0">
            <a:noFill/>
          </a:ln>
        </p:spPr>
      </p:sp>
      <p:sp>
        <p:nvSpPr>
          <p:cNvPr id="7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Sections 2.2.1 and 2.2.2</a:t>
            </a:r>
          </a:p>
          <a:p>
            <a:endParaRPr/>
          </a:p>
          <a:p>
            <a:r>
              <a:t>[Read-Aloud Script]</a:t>
            </a:r>
          </a:p>
          <a:p>
            <a:endParaRPr/>
          </a:p>
          <a:p>
            <a: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p>
          <a:p>
            <a:endParaRPr/>
          </a:p>
          <a:p>
            <a: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p>
          <a:p>
            <a:endParaRPr/>
          </a:p>
          <a:p>
            <a: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p>
          <a:p>
            <a:endParaRPr/>
          </a:p>
          <a:p>
            <a: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p>
          <a:p>
            <a:endParaRPr/>
          </a:p>
          <a:p>
            <a:r>
              <a:t>Rationality is therefore not an isolated property of a piece of code. It is a relationship among the agent, its evidence, its capabilities, its objective, and its environment.</a:t>
            </a:r>
          </a:p>
          <a:p>
            <a:endParaRPr/>
          </a:p>
          <a:p>
            <a:r>
              <a:t>[Instructor Cue]</a:t>
            </a:r>
          </a:p>
          <a:p>
            <a:r>
              <a:t>Ask: could the same program be rational in one environment and irrational in another? Require students to name the assumption that changed.</a:t>
            </a:r>
          </a:p>
          <a:p>
            <a:endParaRPr/>
          </a:p>
          <a:p>
            <a:r>
              <a:t>[Transition]</a:t>
            </a:r>
          </a:p>
          <a:p>
            <a:r>
              <a:t>Because rational agents optimize what we specify, the design of the performance measure is critical.</a:t>
            </a:r>
          </a:p>
          <a:p>
            <a:endParaRPr/>
          </a:p>
          <a:p>
            <a:r>
              <a:t>[Sources]</a:t>
            </a:r>
          </a:p>
          <a:p>
            <a:r>
              <a:t>- AIMA 4e, Sections 2.2.1 and 2.2.2.</a:t>
            </a:r>
          </a:p>
        </p:txBody>
      </p:sp>
      <p:sp>
        <p:nvSpPr>
          <p:cNvPr id="730"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169B5-7C4C-44A2-9E40-48BC7FAE1B58}"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2.2.2</a:t>
            </a:r>
          </a:p>
          <a:p>
            <a:endParaRPr/>
          </a:p>
          <a:p>
            <a:r>
              <a:t>[Read-Aloud Script]</a:t>
            </a:r>
          </a:p>
          <a:p>
            <a:endParaRPr/>
          </a:p>
          <a:p>
            <a:r>
              <a:t>We just defined rationality in terms of four things: the performance measure, the agent's prior knowledge, the actions available, and the percept sequence to date. This slide makes that definition do real work.</a:t>
            </a:r>
          </a:p>
          <a:p>
            <a:endParaRPr/>
          </a:p>
          <a:p>
            <a: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p>
          <a:p>
            <a:endParaRPr/>
          </a:p>
          <a:p>
            <a:r>
              <a:t>Now read the right column. Add a one-point penalty for each movement and the agent's behaviour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p>
          <a:p>
            <a:endParaRPr/>
          </a:p>
          <a:p>
            <a: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p>
          <a:p>
            <a:endParaRPr/>
          </a:p>
          <a:p>
            <a:r>
              <a:t>[Instructor Cue]</a:t>
            </a:r>
          </a:p>
          <a:p>
            <a:r>
              <a:t>Pick one student assumption from the left column and delete it out loud. Ask the class to describe the new rational behaviour and to name which of the four factors changed. Repeat once. Students who answer with a behaviour but cannot name the factor have not internalized the definition yet.</a:t>
            </a:r>
          </a:p>
          <a:p>
            <a:endParaRPr/>
          </a:p>
          <a:p>
            <a:r>
              <a:t>[Transition]</a:t>
            </a:r>
          </a:p>
          <a:p>
            <a:r>
              <a:t>Because rational agents optimize exactly what we specify, the design of the performance measure deserves its own scrutiny.</a:t>
            </a:r>
          </a:p>
          <a:p>
            <a:endParaRPr/>
          </a:p>
          <a:p>
            <a:r>
              <a:t>[Sources]</a:t>
            </a:r>
          </a:p>
          <a:p>
            <a:r>
              <a:t>- AIMA 4e, Section 2.2.2; Exercise 2.VACR.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noRot="1" noChangeAspect="1"/>
          </p:cNvSpPr>
          <p:nvPr>
            <p:ph type="sldImg"/>
          </p:nvPr>
        </p:nvSpPr>
        <p:spPr>
          <a:xfrm>
            <a:off x="685800" y="1143000"/>
            <a:ext cx="5485680" cy="3085560"/>
          </a:xfrm>
          <a:prstGeom prst="rect">
            <a:avLst/>
          </a:prstGeom>
          <a:ln w="0">
            <a:noFill/>
          </a:ln>
        </p:spPr>
      </p:sp>
      <p:sp>
        <p:nvSpPr>
          <p:cNvPr id="7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p>
          <a:p>
            <a:endParaRPr/>
          </a:p>
          <a:p>
            <a: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p>
          <a:p>
            <a:endParaRPr/>
          </a:p>
          <a:p>
            <a: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p>
          <a:p>
            <a:endParaRPr/>
          </a:p>
          <a:p>
            <a: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p>
          <a:p>
            <a:endParaRPr/>
          </a:p>
          <a:p>
            <a:r>
              <a:t>[Instructor Cue]</a:t>
            </a:r>
          </a:p>
          <a:p>
            <a:r>
              <a:t>Ask students to propose a bad performance measure for a campus chatbot, then improve it. Examples: number of responses versus accurate, helpful resolutions with appropriate escalation.</a:t>
            </a:r>
          </a:p>
          <a:p>
            <a:endParaRPr/>
          </a:p>
          <a:p>
            <a:r>
              <a:t>[Transition]</a:t>
            </a:r>
          </a:p>
          <a:p>
            <a:r>
              <a:t>A well-designed objective is necessary, but rationality still does not require perfect knowledge of the future.</a:t>
            </a:r>
          </a:p>
          <a:p>
            <a:endParaRPr/>
          </a:p>
          <a:p>
            <a:r>
              <a:t>[Sources]</a:t>
            </a:r>
          </a:p>
          <a:p>
            <a:r>
              <a:t>- AIMA 4e, Section 2.2.1; Chapter 1 value-alignment discussion.</a:t>
            </a:r>
          </a:p>
        </p:txBody>
      </p:sp>
      <p:sp>
        <p:nvSpPr>
          <p:cNvPr id="733"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35865-7D07-4799-B888-30DA448DB8F9}"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p>
          <a:p>
            <a:endParaRPr/>
          </a:p>
          <a:p>
            <a: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p>
          <a:p>
            <a:endParaRPr/>
          </a:p>
          <a:p>
            <a: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p>
          <a:p>
            <a:endParaRPr/>
          </a:p>
          <a:p>
            <a: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p>
          <a:p>
            <a:endParaRPr/>
          </a:p>
          <a:p>
            <a:r>
              <a:t>[Instructor Cue]</a:t>
            </a:r>
          </a:p>
          <a:p>
            <a:r>
              <a:t>Ask the class to write a performance measure for their own study habits that would distinguish steady effort from cramming. Most attempts will be a simple average; ask what term they would have to add to break the tie.</a:t>
            </a:r>
          </a:p>
          <a:p>
            <a:endParaRPr/>
          </a:p>
          <a:p>
            <a:r>
              <a:t>[Transition]</a:t>
            </a:r>
          </a:p>
          <a:p>
            <a:r>
              <a:t>Even with a well-chosen measure, we still cannot expect the agent to be right every time.</a:t>
            </a:r>
          </a:p>
          <a:p>
            <a:endParaRPr/>
          </a:p>
          <a:p>
            <a:r>
              <a:t>[Sources]</a:t>
            </a:r>
          </a:p>
          <a:p>
            <a:r>
              <a:t>- AIMA 4e, Section 2.2.1.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 name="PlaceHolder 1"/>
          <p:cNvSpPr>
            <a:spLocks noGrp="1" noRot="1" noChangeAspect="1"/>
          </p:cNvSpPr>
          <p:nvPr>
            <p:ph type="sldImg"/>
          </p:nvPr>
        </p:nvSpPr>
        <p:spPr>
          <a:xfrm>
            <a:off x="685800" y="1143000"/>
            <a:ext cx="5485680" cy="3085560"/>
          </a:xfrm>
          <a:prstGeom prst="rect">
            <a:avLst/>
          </a:prstGeom>
          <a:ln w="0">
            <a:noFill/>
          </a:ln>
        </p:spPr>
      </p:sp>
      <p:sp>
        <p:nvSpPr>
          <p:cNvPr id="7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p>
          <a:p>
            <a:endParaRPr/>
          </a:p>
          <a:p>
            <a: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p>
          <a:p>
            <a:endParaRPr/>
          </a:p>
          <a:p>
            <a: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p>
          <a:p>
            <a:endParaRPr/>
          </a:p>
          <a:p>
            <a:r>
              <a:t>A rational agent should learn from experience. An agent that relies completely on assumptions supplied by its designer lacks autonomy. The chapter’s dung beetle and sphex wasp examples show rigid behavior that continues even after environmental assumptions have been violated. An autonomous artificial agent should use percepts and learning to compensate for incomplete or incorrect prior knowledge.</a:t>
            </a:r>
          </a:p>
          <a:p>
            <a:endParaRPr/>
          </a:p>
          <a:p>
            <a:r>
              <a:t>Complete autonomy is not required at the beginning. Designers normally supply initial knowledge, just as biological systems begin with useful reflexes. The goal is that experience gradually makes the agent less dependent on those initial assumptions.</a:t>
            </a:r>
          </a:p>
          <a:p>
            <a:endParaRPr/>
          </a:p>
          <a:p>
            <a:r>
              <a:t>[Instructor Cue]</a:t>
            </a:r>
          </a:p>
          <a:p>
            <a:r>
              <a:t>Distinguish three terms aloud: omniscience knows the outcome; perfection achieves the actual best outcome; rationality chooses the best expected action from available evidence.</a:t>
            </a:r>
          </a:p>
          <a:p>
            <a:endParaRPr/>
          </a:p>
          <a:p>
            <a:r>
              <a:t>[Transition]</a:t>
            </a:r>
          </a:p>
          <a:p>
            <a:r>
              <a:t>To design such an agent, we must first specify the task environment completely enough to know what success and available interaction mean.</a:t>
            </a:r>
          </a:p>
          <a:p>
            <a:endParaRPr/>
          </a:p>
          <a:p>
            <a:r>
              <a:t>[Sources]</a:t>
            </a:r>
          </a:p>
          <a:p>
            <a:r>
              <a:t>- AIMA 4e, Section 2.2.3.</a:t>
            </a:r>
          </a:p>
        </p:txBody>
      </p:sp>
      <p:sp>
        <p:nvSpPr>
          <p:cNvPr id="736"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6E3EF4D-A3BF-4A80-8978-2A2C3DD9E562}"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These three stories do a lot of work in a small space, and students remember them long after they have forgotten the formal definition, so it is worth telling them properly.</a:t>
            </a:r>
          </a:p>
          <a:p>
            <a:endParaRPr/>
          </a:p>
          <a:p>
            <a: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p>
          <a:p>
            <a:endParaRPr/>
          </a:p>
          <a:p>
            <a: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sphex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p>
          <a:p>
            <a:endParaRPr/>
          </a:p>
          <a:p>
            <a:r>
              <a:t>Neither animal is failing to perceive. Each is failing to learn. Their behaviour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p>
          <a:p>
            <a:endParaRPr/>
          </a:p>
          <a:p>
            <a: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p>
          <a:p>
            <a:endParaRPr/>
          </a:p>
          <a:p>
            <a:r>
              <a:t>[Instructor Cue]</a:t>
            </a:r>
          </a:p>
          <a:p>
            <a:r>
              <a:t>Ask students to name a piece of software that behaves like the sphex wasp — retrying a step that cannot possibly succeed. Retry loops and installers that reattempt a failed download forever usually come up, and the analogy lands well.</a:t>
            </a:r>
          </a:p>
          <a:p>
            <a:endParaRPr/>
          </a:p>
          <a:p>
            <a:r>
              <a:t>[Transition]</a:t>
            </a:r>
          </a:p>
          <a:p>
            <a:r>
              <a:t>With rationality defined, we can specify the task an agent is meant to solve.</a:t>
            </a:r>
          </a:p>
          <a:p>
            <a:endParaRPr/>
          </a:p>
          <a:p>
            <a:r>
              <a:t>[Sources]</a:t>
            </a:r>
          </a:p>
          <a:p>
            <a:r>
              <a:t>- AIMA 4e, Section 2.2.3.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PlaceHolder 1"/>
          <p:cNvSpPr>
            <a:spLocks noGrp="1" noRot="1" noChangeAspect="1"/>
          </p:cNvSpPr>
          <p:nvPr>
            <p:ph type="sldImg"/>
          </p:nvPr>
        </p:nvSpPr>
        <p:spPr>
          <a:xfrm>
            <a:off x="685800" y="1143000"/>
            <a:ext cx="5485680" cy="3085560"/>
          </a:xfrm>
          <a:prstGeom prst="rect">
            <a:avLst/>
          </a:prstGeom>
          <a:ln w="0">
            <a:noFill/>
          </a:ln>
        </p:spPr>
      </p:sp>
      <p:sp>
        <p:nvSpPr>
          <p:cNvPr id="7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a:t>
            </a:r>
          </a:p>
          <a:p>
            <a:endParaRPr/>
          </a:p>
          <a:p>
            <a:r>
              <a:t>[Read-Aloud Script]</a:t>
            </a:r>
          </a:p>
          <a:p>
            <a:endParaRPr/>
          </a:p>
          <a:p>
            <a:r>
              <a:t>PEAS stands for Performance measure, Environment, Actuators, and Sensors. It is the chapter’s basic checklist for specifying a task environment. Before choosing an algorithm, model, or programming language, the designer should define these four elements as fully as possible.</a:t>
            </a:r>
          </a:p>
          <a:p>
            <a:endParaRPr/>
          </a:p>
          <a:p>
            <a: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p>
          <a:p>
            <a:endParaRPr/>
          </a:p>
          <a:p>
            <a: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p>
          <a:p>
            <a:endParaRPr/>
          </a:p>
          <a:p>
            <a: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p>
          <a:p>
            <a:endParaRPr/>
          </a:p>
          <a:p>
            <a: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p>
          <a:p>
            <a:endParaRPr/>
          </a:p>
          <a:p>
            <a:r>
              <a:t>[Instructor Cue]</a:t>
            </a:r>
          </a:p>
          <a:p>
            <a:r>
              <a:t>Have students say the four letters together. Then ask which PEAS category contains GPS, brakes, traffic, and passenger comfort.</a:t>
            </a:r>
          </a:p>
          <a:p>
            <a:endParaRPr/>
          </a:p>
          <a:p>
            <a:r>
              <a:t>[Transition]</a:t>
            </a:r>
          </a:p>
          <a:p>
            <a:r>
              <a:t>The next slide shows that the same PEAS structure applies to very different physical and software agents.</a:t>
            </a:r>
          </a:p>
          <a:p>
            <a:endParaRPr/>
          </a:p>
          <a:p>
            <a:r>
              <a:t>[Sources]</a:t>
            </a:r>
          </a:p>
          <a:p>
            <a:r>
              <a:t>- AIMA 4e, Section 2.3.1 and Figure 2.4.</a:t>
            </a:r>
          </a:p>
        </p:txBody>
      </p:sp>
      <p:sp>
        <p:nvSpPr>
          <p:cNvPr id="739"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45C664-F270-475D-94EF-4B4109738886}"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0" name="PlaceHolder 1"/>
          <p:cNvSpPr>
            <a:spLocks noGrp="1" noRot="1" noChangeAspect="1"/>
          </p:cNvSpPr>
          <p:nvPr>
            <p:ph type="sldImg"/>
          </p:nvPr>
        </p:nvSpPr>
        <p:spPr>
          <a:xfrm>
            <a:off x="685800" y="1143000"/>
            <a:ext cx="5485680" cy="3085560"/>
          </a:xfrm>
          <a:prstGeom prst="rect">
            <a:avLst/>
          </a:prstGeom>
          <a:ln w="0">
            <a:noFill/>
          </a:ln>
        </p:spPr>
      </p:sp>
      <p:sp>
        <p:nvSpPr>
          <p:cNvPr id="7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 and Figure 2.5</a:t>
            </a:r>
          </a:p>
          <a:p>
            <a:endParaRPr/>
          </a:p>
          <a:p>
            <a:r>
              <a:t>[Read-Aloud Script]</a:t>
            </a:r>
          </a:p>
          <a:p>
            <a:endParaRPr/>
          </a:p>
          <a:p>
            <a:r>
              <a:t>This table applies PEAS to five different systems. The purpose is not to memorize every cell. The purpose is to see that an agent is defined by a complete interaction task, not merely by its algorithm.</a:t>
            </a:r>
          </a:p>
          <a:p>
            <a:endParaRPr/>
          </a:p>
          <a:p>
            <a: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p>
          <a:p>
            <a:endParaRPr/>
          </a:p>
          <a:p>
            <a: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p>
          <a:p>
            <a:endParaRPr/>
          </a:p>
          <a:p>
            <a:r>
              <a:t>Physical and virtual environments can both be complex. A software agent may interact with millions of users and billions of objects. The fact that an environment is digital does not automatically make it simple, fully observable, or deterministic.</a:t>
            </a:r>
          </a:p>
          <a:p>
            <a:endParaRPr/>
          </a:p>
          <a:p>
            <a: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p>
          <a:p>
            <a:endParaRPr/>
          </a:p>
          <a:p>
            <a:r>
              <a:t>[Instructor Cue]</a:t>
            </a:r>
          </a:p>
          <a:p>
            <a:r>
              <a:t>Point to one row and ask students to identify a sensor-actuator pair. Then ask how changing the performance measure could change the agent’s behavior.</a:t>
            </a:r>
          </a:p>
          <a:p>
            <a:endParaRPr/>
          </a:p>
          <a:p>
            <a:r>
              <a:t>[Transition]</a:t>
            </a:r>
          </a:p>
          <a:p>
            <a:r>
              <a:t>Once the task is specified, the next step is to classify the environment along dimensions that determine the difficulty of agent design.</a:t>
            </a:r>
          </a:p>
          <a:p>
            <a:endParaRPr/>
          </a:p>
          <a:p>
            <a:r>
              <a:t>[Sources]</a:t>
            </a:r>
          </a:p>
          <a:p>
            <a:r>
              <a:t>- AIMA 4e, Section 2.3.1 and Figure 2.5.</a:t>
            </a:r>
          </a:p>
        </p:txBody>
      </p:sp>
      <p:sp>
        <p:nvSpPr>
          <p:cNvPr id="742"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716B489-4161-46C4-A9DB-826956CB000C}"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 name="PlaceHolder 1"/>
          <p:cNvSpPr>
            <a:spLocks noGrp="1" noRot="1" noChangeAspect="1"/>
          </p:cNvSpPr>
          <p:nvPr>
            <p:ph type="sldImg"/>
          </p:nvPr>
        </p:nvSpPr>
        <p:spPr>
          <a:xfrm>
            <a:off x="685800" y="1143000"/>
            <a:ext cx="5485680" cy="3085560"/>
          </a:xfrm>
          <a:prstGeom prst="rect">
            <a:avLst/>
          </a:prstGeom>
          <a:ln w="0">
            <a:noFill/>
          </a:ln>
        </p:spPr>
      </p:sp>
      <p:sp>
        <p:nvSpPr>
          <p:cNvPr id="7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9 minutes</a:t>
            </a:r>
          </a:p>
          <a:p>
            <a:r>
              <a:t>Chapter alignment: Section 2.3.2</a:t>
            </a:r>
          </a:p>
          <a:p>
            <a:endParaRPr/>
          </a:p>
          <a:p>
            <a:r>
              <a:t>[Read-Aloud Script]</a:t>
            </a:r>
          </a:p>
          <a:p>
            <a:endParaRPr/>
          </a:p>
          <a:p>
            <a:r>
              <a:t>Task environments vary along several dimensions. These dimensions matter because they determine what information the agent needs and which agent designs are likely to work.</a:t>
            </a:r>
          </a:p>
          <a:p>
            <a:endParaRPr/>
          </a:p>
          <a:p>
            <a: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p>
          <a:p>
            <a:endParaRPr/>
          </a:p>
          <a:p>
            <a: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p>
          <a:p>
            <a:endParaRPr/>
          </a:p>
          <a:p>
            <a: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p>
          <a:p>
            <a:endParaRPr/>
          </a:p>
          <a:p>
            <a: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p>
          <a:p>
            <a:endParaRPr/>
          </a:p>
          <a:p>
            <a:r>
              <a:t>Fifth is static versus dynamic. A static environment does not change while the agent deliberates. A dynamic environment does. A timed chess game is semidynamic: the board may not change during thought, but the performance score changes as the clock runs.</a:t>
            </a:r>
          </a:p>
          <a:p>
            <a:endParaRPr/>
          </a:p>
          <a:p>
            <a:r>
              <a:t>Sixth is discrete versus continuous. Chess uses discrete states and actions. Driving has continuous positions, velocities, time, and steering angles, even though digital sensors sample those quantities.</a:t>
            </a:r>
          </a:p>
          <a:p>
            <a:endParaRPr/>
          </a:p>
          <a:p>
            <a: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p>
          <a:p>
            <a:endParaRPr/>
          </a:p>
          <a:p>
            <a: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p>
          <a:p>
            <a:endParaRPr/>
          </a:p>
          <a:p>
            <a:r>
              <a:t>[Instructor Cue]</a:t>
            </a:r>
          </a:p>
          <a:p>
            <a:r>
              <a:t>Rapid check: classify chess, medical diagnosis, and taxi driving on two dimensions each. Correct explanations matter more than a memorized label.</a:t>
            </a:r>
          </a:p>
          <a:p>
            <a:endParaRPr/>
          </a:p>
          <a:p>
            <a:r>
              <a:t>[Transition]</a:t>
            </a:r>
          </a:p>
          <a:p>
            <a:r>
              <a:t>Pac-Man gives us a compact environment in which many of these properties are visible at once.</a:t>
            </a:r>
          </a:p>
          <a:p>
            <a:endParaRPr/>
          </a:p>
          <a:p>
            <a:r>
              <a:t>[Sources]</a:t>
            </a:r>
          </a:p>
          <a:p>
            <a:r>
              <a:t>- AIMA 4e, Section 2.3.2 and Figure 2.6.</a:t>
            </a:r>
          </a:p>
        </p:txBody>
      </p:sp>
      <p:sp>
        <p:nvSpPr>
          <p:cNvPr id="745"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29B992-905A-45B4-AF88-7A6CBF01AF1D}"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2.3.2</a:t>
            </a:r>
          </a:p>
          <a:p>
            <a:endParaRPr/>
          </a:p>
          <a:p>
            <a:r>
              <a:t>[Read-Aloud Script]</a:t>
            </a:r>
          </a:p>
          <a:p>
            <a:endParaRPr/>
          </a:p>
          <a:p>
            <a:r>
              <a:t>The previous slide gave you the seven dimensions as a list. This one covers the three places where students most often lose points, because the textbook's definitions are narrower than the everyday words suggest.</a:t>
            </a:r>
          </a:p>
          <a:p>
            <a:endParaRPr/>
          </a:p>
          <a:p>
            <a: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p>
          <a:p>
            <a:endParaRPr/>
          </a:p>
          <a:p>
            <a:r>
              <a:t>Second, single-agent versus multiagent, and then competitive versus cooperative. The subtle question is not whether another entity exists but whether we should model it as an agent. The test is whether that entity's behaviour is best described as maximizing a performance measure whose value depends on our agent's behaviour.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p>
          <a:p>
            <a:endParaRPr/>
          </a:p>
          <a:p>
            <a: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p>
          <a:p>
            <a:endParaRPr/>
          </a:p>
          <a:p>
            <a:r>
              <a:t>The box at the bottom adds semidynamic, which is the one dimension students tend to drop entirely: the environment itself does not change while you deliberate, but your performance score does. Chess with a clock is the standard example.</a:t>
            </a:r>
          </a:p>
          <a:p>
            <a:endParaRPr/>
          </a:p>
          <a:p>
            <a:r>
              <a:t>[Instructor Cue]</a:t>
            </a:r>
          </a:p>
          <a:p>
            <a:r>
              <a:t>Give the class a system — a self-checkout kiosk works well — and ask them to classify it on all seven dimensions and defend two of the choices out loud. Disagreement is the point; make them argue from the definitions rather than from intuition.</a:t>
            </a:r>
          </a:p>
          <a:p>
            <a:endParaRPr/>
          </a:p>
          <a:p>
            <a:r>
              <a:t>[Transition]</a:t>
            </a:r>
          </a:p>
          <a:p>
            <a:r>
              <a:t>One pair of dimensions gets confused so often that it deserves its own slide.</a:t>
            </a:r>
          </a:p>
          <a:p>
            <a:endParaRPr/>
          </a:p>
          <a:p>
            <a:r>
              <a:t>[Sources]</a:t>
            </a:r>
          </a:p>
          <a:p>
            <a:r>
              <a:t>- AIMA 4e, Section 2.3.2.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2.3.2</a:t>
            </a:r>
          </a:p>
          <a:p>
            <a:endParaRPr/>
          </a:p>
          <a:p>
            <a:r>
              <a:t>[Read-Aloud Script]</a:t>
            </a:r>
          </a:p>
          <a:p>
            <a:endParaRPr/>
          </a:p>
          <a:p>
            <a: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p>
          <a:p>
            <a:endParaRPr/>
          </a:p>
          <a:p>
            <a:r>
              <a:t>Top left, chess. The rules are handed to you and the entire board is visible. Known and fully observable.</a:t>
            </a:r>
          </a:p>
          <a:p>
            <a:endParaRPr/>
          </a:p>
          <a:p>
            <a:r>
              <a:t>Top right, solitaire. You know the rules exactly — you could recite them — and you still cannot see the cards that have not been turned over. Known but partially observable.</a:t>
            </a:r>
          </a:p>
          <a:p>
            <a:endParaRPr/>
          </a:p>
          <a:p>
            <a: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p>
          <a:p>
            <a:endParaRPr/>
          </a:p>
          <a:p>
            <a: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p>
          <a:p>
            <a:endParaRPr/>
          </a:p>
          <a:p>
            <a: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p>
          <a:p>
            <a:endParaRPr/>
          </a:p>
          <a:p>
            <a:r>
              <a:t>[Instructor Cue]</a:t>
            </a:r>
          </a:p>
          <a:p>
            <a:r>
              <a:t>Ask students to place their own semester project in this grid and to say what changes about the design in each quadrant. If they cannot distinguish the two axes, have them explain the solitaire cell back to you.</a:t>
            </a:r>
          </a:p>
          <a:p>
            <a:endParaRPr/>
          </a:p>
          <a:p>
            <a:r>
              <a:t>[Transition]</a:t>
            </a:r>
          </a:p>
          <a:p>
            <a:r>
              <a:t>With the task specified and the environment classified, we can finally look inside the agent.</a:t>
            </a:r>
          </a:p>
          <a:p>
            <a:endParaRPr/>
          </a:p>
          <a:p>
            <a:r>
              <a:t>[Sources]</a:t>
            </a:r>
          </a:p>
          <a:p>
            <a:r>
              <a:t>- AIMA 4e, Section 2.3.2.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 name="PlaceHolder 1"/>
          <p:cNvSpPr>
            <a:spLocks noGrp="1" noRot="1" noChangeAspect="1"/>
          </p:cNvSpPr>
          <p:nvPr>
            <p:ph type="sldImg"/>
          </p:nvPr>
        </p:nvSpPr>
        <p:spPr>
          <a:xfrm>
            <a:off x="685800" y="1143000"/>
            <a:ext cx="5485680" cy="3085560"/>
          </a:xfrm>
          <a:prstGeom prst="rect">
            <a:avLst/>
          </a:prstGeom>
          <a:ln w="0">
            <a:noFill/>
          </a:ln>
        </p:spPr>
      </p:sp>
      <p:sp>
        <p:nvSpPr>
          <p:cNvPr id="7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Running example across Sections 2.1-2.4</a:t>
            </a:r>
          </a:p>
          <a:p>
            <a:endParaRPr/>
          </a:p>
          <a:p>
            <a:r>
              <a:t>[Read-Aloud Script]</a:t>
            </a:r>
          </a:p>
          <a:p>
            <a:endParaRPr/>
          </a:p>
          <a:p>
            <a:r>
              <a:t>Pac-Man is useful because the agent, environment, percepts, actions, and performance measure are easy to see. The agent is Pac-Man. The environment includes the maze, walls, pellets, power pellets, ghosts, score, and timing rules.</a:t>
            </a:r>
          </a:p>
          <a:p>
            <a:endParaRPr/>
          </a:p>
          <a:p>
            <a:r>
              <a:t>The percepts depend on what the program is allowed to observe. They may include Pac-Man’s position, legal moves, remaining pellets, ghost positions, and power-mode status. The actions are movement commands: left, right, up, down, and sometimes stop.</a:t>
            </a:r>
          </a:p>
          <a:p>
            <a:endParaRPr/>
          </a:p>
          <a:p>
            <a: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p>
          <a:p>
            <a:endParaRPr/>
          </a:p>
          <a:p>
            <a: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p>
          <a:p>
            <a:endParaRPr/>
          </a:p>
          <a:p>
            <a:r>
              <a:t>When we run the autonomous Pac-Man code later, we will use this vocabulary to identify the agent program and ask whether it is reflex, model-based, goal-based, utility-based, or a combination.</a:t>
            </a:r>
          </a:p>
          <a:p>
            <a:endParaRPr/>
          </a:p>
          <a:p>
            <a:r>
              <a:t>[Instructor Cue]</a:t>
            </a:r>
          </a:p>
          <a:p>
            <a:r>
              <a:t>Point to the maze and ask students to name one percept, one action, and one performance criterion.</a:t>
            </a:r>
          </a:p>
          <a:p>
            <a:endParaRPr/>
          </a:p>
          <a:p>
            <a:r>
              <a:t>[Transition]</a:t>
            </a:r>
          </a:p>
          <a:p>
            <a:r>
              <a:t>We now move inside the agent and examine the relationship among architecture, program, and behavior.</a:t>
            </a:r>
          </a:p>
          <a:p>
            <a:endParaRPr/>
          </a:p>
          <a:p>
            <a:r>
              <a:t>[Sources]</a:t>
            </a:r>
          </a:p>
          <a:p>
            <a:r>
              <a:t>- AIMA 4e, Sections 2.1-2.4; lecture deck Pac-Man example.</a:t>
            </a:r>
          </a:p>
        </p:txBody>
      </p:sp>
      <p:sp>
        <p:nvSpPr>
          <p:cNvPr id="748"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CD73B18-4896-49A5-A64D-DA0C101BCEDD}"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noRot="1" noChangeAspect="1"/>
          </p:cNvSpPr>
          <p:nvPr>
            <p:ph type="sldImg"/>
          </p:nvPr>
        </p:nvSpPr>
        <p:spPr>
          <a:xfrm>
            <a:off x="685800" y="1143000"/>
            <a:ext cx="5486400" cy="3086100"/>
          </a:xfrm>
          <a:prstGeom prst="rect">
            <a:avLst/>
          </a:prstGeom>
          <a:ln w="0">
            <a:noFill/>
          </a:ln>
        </p:spPr>
      </p:sp>
      <p:sp>
        <p:nvSpPr>
          <p:cNvPr id="7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Sections 2.4 and 2.4.1</a:t>
            </a:r>
          </a:p>
          <a:p>
            <a:endParaRPr/>
          </a:p>
          <a:p>
            <a:r>
              <a:t>[Read-Aloud Script]</a:t>
            </a:r>
          </a:p>
          <a:p>
            <a:endParaRPr/>
          </a:p>
          <a:p>
            <a: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p>
          <a:p>
            <a:endParaRPr/>
          </a:p>
          <a:p>
            <a:r>
              <a:t>The program must be appropriate for the architecture. A program that selects the action ‘walk forward’ is useless on a machine with no means of locomotion. A program that expects lidar data cannot operate correctly if the architecture provides only a keyboard.</a:t>
            </a:r>
          </a:p>
          <a:p>
            <a:endParaRPr/>
          </a:p>
          <a:p>
            <a: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p>
          <a:p>
            <a:endParaRPr/>
          </a:p>
          <a:p>
            <a:r>
              <a:t>One conceptually simple implementation is a lookup table containing the correct action for every percept sequence. The next slides use the table-driven agent to show why a complete mapping may be clear in theory but impossible to implement in realistic environments.</a:t>
            </a:r>
          </a:p>
          <a:p>
            <a:endParaRPr/>
          </a:p>
          <a:p>
            <a:r>
              <a:t>[Instructor Cue]</a:t>
            </a:r>
          </a:p>
          <a:p>
            <a:r>
              <a:t>Repeat the equation aloud and ask students which side contains the software and which side contains the platform.</a:t>
            </a:r>
          </a:p>
          <a:p>
            <a:endParaRPr/>
          </a:p>
          <a:p>
            <a:r>
              <a:t>[Transition]</a:t>
            </a:r>
          </a:p>
          <a:p>
            <a:r>
              <a:t>The table-driven agent is our conceptual baseline for implementing an agent function.</a:t>
            </a:r>
          </a:p>
          <a:p>
            <a:endParaRPr/>
          </a:p>
          <a:p>
            <a:r>
              <a:t>[Sources]</a:t>
            </a:r>
          </a:p>
          <a:p>
            <a:r>
              <a:t>- AIMA 4e, Sections 2.4 and 2.4.1.</a:t>
            </a:r>
          </a:p>
        </p:txBody>
      </p:sp>
      <p:sp>
        <p:nvSpPr>
          <p:cNvPr id="751"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599C101-9449-48BF-9D04-FC6BA89B4E82}"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 name="PlaceHolder 1"/>
          <p:cNvSpPr>
            <a:spLocks noGrp="1" noRot="1" noChangeAspect="1"/>
          </p:cNvSpPr>
          <p:nvPr>
            <p:ph type="sldImg"/>
          </p:nvPr>
        </p:nvSpPr>
        <p:spPr>
          <a:xfrm>
            <a:off x="685800" y="1143000"/>
            <a:ext cx="5485680" cy="3085560"/>
          </a:xfrm>
          <a:prstGeom prst="rect">
            <a:avLst/>
          </a:prstGeom>
          <a:ln w="0">
            <a:noFill/>
          </a:ln>
        </p:spPr>
      </p:sp>
      <p:sp>
        <p:nvSpPr>
          <p:cNvPr id="7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2.4.1 and Figure 2.7</a:t>
            </a:r>
          </a:p>
          <a:p>
            <a:endParaRPr/>
          </a:p>
          <a:p>
            <a:r>
              <a:t>[Read-Aloud Script]</a:t>
            </a:r>
          </a:p>
          <a:p>
            <a:endParaRPr/>
          </a:p>
          <a:p>
            <a:r>
              <a:t>This is the table-driven agent. It is important because it represents the agent function explicitly, even though it is not a practical design for realistic systems.</a:t>
            </a:r>
          </a:p>
          <a:p>
            <a:endParaRPr/>
          </a:p>
          <a:p>
            <a: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p>
          <a:p>
            <a:endParaRPr/>
          </a:p>
          <a:p>
            <a: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p>
          <a:p>
            <a:endParaRPr/>
          </a:p>
          <a:p>
            <a:r>
              <a:t>The design has no need to interpret the percept, reason about goals, estimate state, or generalize from similar situations. All of that work has already been performed by whoever created the table. The program simply remembers and looks up.</a:t>
            </a:r>
          </a:p>
          <a:p>
            <a:endParaRPr/>
          </a:p>
          <a:p>
            <a: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p>
          <a:p>
            <a:endParaRPr/>
          </a:p>
          <a:p>
            <a:r>
              <a:t>[Instructor Cue]</a:t>
            </a:r>
          </a:p>
          <a:p>
            <a:r>
              <a:t>Trace the pseudocode with a two-percept example. Ask what happens when a third percept arrives: the sequence becomes a new table index.</a:t>
            </a:r>
          </a:p>
          <a:p>
            <a:endParaRPr/>
          </a:p>
          <a:p>
            <a:r>
              <a:t>[Transition]</a:t>
            </a:r>
          </a:p>
          <a:p>
            <a:r>
              <a:t>The next slide explains why this correct-in-principle design fails as an engineering solution.</a:t>
            </a:r>
          </a:p>
          <a:p>
            <a:endParaRPr/>
          </a:p>
          <a:p>
            <a:r>
              <a:t>[Sources]</a:t>
            </a:r>
          </a:p>
          <a:p>
            <a:r>
              <a:t>- AIMA 4e, Section 2.4.1 and Figure 2.7.</a:t>
            </a:r>
          </a:p>
        </p:txBody>
      </p:sp>
      <p:sp>
        <p:nvSpPr>
          <p:cNvPr id="754"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14F9D8D-ECB7-4293-91EF-E1B35D57537B}"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 name="PlaceHolder 1"/>
          <p:cNvSpPr>
            <a:spLocks noGrp="1" noRot="1" noChangeAspect="1"/>
          </p:cNvSpPr>
          <p:nvPr>
            <p:ph type="sldImg"/>
          </p:nvPr>
        </p:nvSpPr>
        <p:spPr>
          <a:xfrm>
            <a:off x="685800" y="1143000"/>
            <a:ext cx="5485680" cy="3085560"/>
          </a:xfrm>
          <a:prstGeom prst="rect">
            <a:avLst/>
          </a:prstGeom>
          <a:ln w="0">
            <a:noFill/>
          </a:ln>
        </p:spPr>
      </p:sp>
      <p:sp>
        <p:nvSpPr>
          <p:cNvPr id="7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lookup table grows across every possible percept sequence, not merely every current percept. If an agent can receive many different percepts over a long lifetime, the number of possible histories becomes enormous.</a:t>
            </a:r>
          </a:p>
          <a:p>
            <a:endParaRPr/>
          </a:p>
          <a:p>
            <a: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p>
          <a:p>
            <a:endParaRPr/>
          </a:p>
          <a:p>
            <a: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p>
          <a:p>
            <a:endParaRPr/>
          </a:p>
          <a:p>
            <a: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p>
          <a:p>
            <a:endParaRPr/>
          </a:p>
          <a:p>
            <a:r>
              <a:t>[Instructor Cue]</a:t>
            </a:r>
          </a:p>
          <a:p>
            <a:r>
              <a:t>Ask students which of the three problems—storage, design, or learning—would appear first in Pac-Man. All three are acceptable with justification.</a:t>
            </a:r>
          </a:p>
          <a:p>
            <a:endParaRPr/>
          </a:p>
          <a:p>
            <a:r>
              <a:t>[Transition]</a:t>
            </a:r>
          </a:p>
          <a:p>
            <a:r>
              <a:t>The simplest compact alternative is a reflex agent that uses condition-action rules.</a:t>
            </a:r>
          </a:p>
          <a:p>
            <a:endParaRPr/>
          </a:p>
          <a:p>
            <a:r>
              <a:t>[Sources]</a:t>
            </a:r>
          </a:p>
          <a:p>
            <a:r>
              <a:t>- AIMA 4e, Section 2.4.1.</a:t>
            </a:r>
          </a:p>
        </p:txBody>
      </p:sp>
      <p:sp>
        <p:nvSpPr>
          <p:cNvPr id="757"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ECFDF-8B4A-470F-AFBC-7E1E77DE5AF4}" type="slidenum">
              <a:rPr lang="en-US" sz="1200" b="0" u="none" strike="noStrike">
                <a:solidFill>
                  <a:schemeClr val="dk1"/>
                </a:solidFill>
                <a:effectLst/>
                <a:uFillTx/>
                <a:latin typeface="+mn-lt"/>
                <a:ea typeface="+mn-ea"/>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previous slide said the table-driven approach is infeasible. This slide is where that claim stops being hand-waving, and the numbers are worth reading out loud because they are genuinely startling.</a:t>
            </a:r>
          </a:p>
          <a:p>
            <a:endParaRPr/>
          </a:p>
          <a:p>
            <a:r>
              <a:t>Start with the input rate. One camera on an automated taxi, at thirty frames per second, 1080 by 720 pixels, twenty-four bits of colour, produces roughly seventy megabytes per second. Eight cameras is a typical configuration. Now count the distinct percept sequences an hour of driving could produce and you get a lookup table with more than ten to the six hundred million entries.</a:t>
            </a:r>
          </a:p>
          <a:p>
            <a:endParaRPr/>
          </a:p>
          <a:p>
            <a: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p>
          <a:p>
            <a:endParaRPr/>
          </a:p>
          <a:p>
            <a: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p>
          <a:p>
            <a:endParaRPr/>
          </a:p>
          <a:p>
            <a: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behaviour what Newton did for square roots. The chapter's answer is yes, and everything from simple reflex agents onward is an attempt to demonstrate it.</a:t>
            </a:r>
          </a:p>
          <a:p>
            <a:endParaRPr/>
          </a:p>
          <a:p>
            <a:r>
              <a:t>[Instructor Cue]</a:t>
            </a:r>
          </a:p>
          <a:p>
            <a:r>
              <a:t>Write ten to the eightieth on the board and ask what it is before revealing it. Once someone says the universe, put ten to the one hundred fiftieth next to it and let the gap sit for a moment.</a:t>
            </a:r>
          </a:p>
          <a:p>
            <a:endParaRPr/>
          </a:p>
          <a:p>
            <a:r>
              <a:t>[Transition]</a:t>
            </a:r>
          </a:p>
          <a:p>
            <a:r>
              <a:t>The first and smallest such program is the simple reflex agent.</a:t>
            </a:r>
          </a:p>
          <a:p>
            <a:endParaRPr/>
          </a:p>
          <a:p>
            <a:r>
              <a:t>[Sources]</a:t>
            </a:r>
          </a:p>
          <a:p>
            <a:r>
              <a:t>- AIMA 4e, Section 2.4.1.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 name="PlaceHolder 1"/>
          <p:cNvSpPr>
            <a:spLocks noGrp="1" noRot="1" noChangeAspect="1"/>
          </p:cNvSpPr>
          <p:nvPr>
            <p:ph type="sldImg"/>
          </p:nvPr>
        </p:nvSpPr>
        <p:spPr>
          <a:xfrm>
            <a:off x="685800" y="1143000"/>
            <a:ext cx="5485680" cy="3085560"/>
          </a:xfrm>
          <a:prstGeom prst="rect">
            <a:avLst/>
          </a:prstGeom>
          <a:ln w="0">
            <a:noFill/>
          </a:ln>
        </p:spPr>
      </p:sp>
      <p:sp>
        <p:nvSpPr>
          <p:cNvPr id="7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 2.8</a:t>
            </a:r>
          </a:p>
          <a:p>
            <a:endParaRPr/>
          </a:p>
          <a:p>
            <a:r>
              <a:t>[Read-Aloud Script]</a:t>
            </a:r>
          </a:p>
          <a:p>
            <a:endParaRPr/>
          </a:p>
          <a:p>
            <a:r>
              <a:t>A simple reflex agent selects an action from the current percept and ignores the rest of the percept history. The vacuum pseudocode shows the idea in its smallest useful form.</a:t>
            </a:r>
          </a:p>
          <a:p>
            <a:endParaRPr/>
          </a:p>
          <a:p>
            <a: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p>
          <a:p>
            <a:endParaRPr/>
          </a:p>
          <a:p>
            <a: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p>
          <a:p>
            <a:endParaRPr/>
          </a:p>
          <a:p>
            <a: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p>
          <a:p>
            <a:endParaRPr/>
          </a:p>
          <a:p>
            <a:r>
              <a:t>The strength is speed and compactness. The weakness is that the current percept may not contain enough information to identify the true state of the world.</a:t>
            </a:r>
          </a:p>
          <a:p>
            <a:endParaRPr/>
          </a:p>
          <a:p>
            <a:r>
              <a:t>[Instructor Cue]</a:t>
            </a:r>
          </a:p>
          <a:p>
            <a:r>
              <a:t>Read the three branches of the pseudocode aloud. Then ask what information the program would need if the vacuum world had four rooms instead of two.</a:t>
            </a:r>
          </a:p>
          <a:p>
            <a:endParaRPr/>
          </a:p>
          <a:p>
            <a:r>
              <a:t>[Transition]</a:t>
            </a:r>
          </a:p>
          <a:p>
            <a:r>
              <a:t>A general simple reflex architecture separates percept interpretation from rule matching.</a:t>
            </a:r>
          </a:p>
          <a:p>
            <a:endParaRPr/>
          </a:p>
          <a:p>
            <a:r>
              <a:t>[Sources]</a:t>
            </a:r>
          </a:p>
          <a:p>
            <a:r>
              <a:t>- AIMA 4e, Section 2.4.2 and Figure 2.8.</a:t>
            </a:r>
          </a:p>
        </p:txBody>
      </p:sp>
      <p:sp>
        <p:nvSpPr>
          <p:cNvPr id="760"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7BE5C9D-381C-4ABC-9EA3-8002D404B585}"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noRot="1" noChangeAspect="1"/>
          </p:cNvSpPr>
          <p:nvPr>
            <p:ph type="sldImg"/>
          </p:nvPr>
        </p:nvSpPr>
        <p:spPr>
          <a:xfrm>
            <a:off x="685800" y="1143000"/>
            <a:ext cx="5485680" cy="3085560"/>
          </a:xfrm>
          <a:prstGeom prst="rect">
            <a:avLst/>
          </a:prstGeom>
          <a:ln w="0">
            <a:noFill/>
          </a:ln>
        </p:spPr>
      </p:sp>
      <p:sp>
        <p:nvSpPr>
          <p:cNvPr id="7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Figures 2.9-2.10</a:t>
            </a:r>
          </a:p>
          <a:p>
            <a:endParaRPr/>
          </a:p>
          <a:p>
            <a:r>
              <a:t>[Read-Aloud Script]</a:t>
            </a:r>
          </a:p>
          <a:p>
            <a:endParaRPr/>
          </a:p>
          <a:p>
            <a:r>
              <a:t>This slide generalizes the vacuum program. The agent receives a percept, interprets it as a description of the current state, matches that state against condition-action rules, and returns the action associated with the first matching rule.</a:t>
            </a:r>
          </a:p>
          <a:p>
            <a:endParaRPr/>
          </a:p>
          <a:p>
            <a: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p>
          <a:p>
            <a:endParaRPr/>
          </a:p>
          <a:p>
            <a: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p>
          <a:p>
            <a:endParaRPr/>
          </a:p>
          <a:p>
            <a: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p>
          <a:p>
            <a:endParaRPr/>
          </a:p>
          <a:p>
            <a:r>
              <a:t>This design works best when the environment is fully observable and the correct action can be determined from the current state. When relevant information is hidden or must be inferred from history, the same current percept can require different actions.</a:t>
            </a:r>
          </a:p>
          <a:p>
            <a:endParaRPr/>
          </a:p>
          <a:p>
            <a:r>
              <a:t>[Instructor Cue]</a:t>
            </a:r>
          </a:p>
          <a:p>
            <a:r>
              <a:t>Point to INTERPRET-INPUT and explain that perception and action selection are separate components, even when both operate within one program.</a:t>
            </a:r>
          </a:p>
          <a:p>
            <a:endParaRPr/>
          </a:p>
          <a:p>
            <a:r>
              <a:t>[Transition]</a:t>
            </a:r>
          </a:p>
          <a:p>
            <a:r>
              <a:t>Partial observability exposes the central limitation of simple reflex behavior.</a:t>
            </a:r>
          </a:p>
          <a:p>
            <a:endParaRPr/>
          </a:p>
          <a:p>
            <a:r>
              <a:t>[Sources]</a:t>
            </a:r>
          </a:p>
          <a:p>
            <a:r>
              <a:t>- AIMA 4e, Section 2.4.2 and Figures 2.9-2.10.</a:t>
            </a:r>
          </a:p>
        </p:txBody>
      </p:sp>
      <p:sp>
        <p:nvSpPr>
          <p:cNvPr id="763"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90E100-47ED-4AFC-B210-BDC316DEC96E}"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We have seen the general simple reflex structure. This slide takes it out of the vacuum world and shows both what the design buys you and where it breaks.</a:t>
            </a:r>
          </a:p>
          <a:p>
            <a:endParaRPr/>
          </a:p>
          <a:p>
            <a: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p>
          <a:p>
            <a:endParaRPr/>
          </a:p>
          <a:p>
            <a: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p>
          <a:p>
            <a:endParaRPr/>
          </a:p>
          <a:p>
            <a: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p>
          <a:p>
            <a:endParaRPr/>
          </a:p>
          <a:p>
            <a: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behaviour of the right kind can be rational in multiagent environments precisely because it avoids being predictable. In single-agent environments it usually is not, and a more sophisticated deterministic agent does better. The real fix is internal state, which is the next design.</a:t>
            </a:r>
          </a:p>
          <a:p>
            <a:endParaRPr/>
          </a:p>
          <a:p>
            <a:r>
              <a:t>[Instructor Cue]</a:t>
            </a:r>
          </a:p>
          <a:p>
            <a:r>
              <a:t>Ask what percept the braking rule actually needs in order to be reliable. Steer toward two consecutive frames — which is exactly the internal state the model-based agent maintains.</a:t>
            </a:r>
          </a:p>
          <a:p>
            <a:endParaRPr/>
          </a:p>
          <a:p>
            <a:r>
              <a:t>[Transition]</a:t>
            </a:r>
          </a:p>
          <a:p>
            <a:r>
              <a:t>The next slide works through the vacuum version of this failure in detail, and then we build the fix: an agent that keeps internal state.</a:t>
            </a:r>
          </a:p>
          <a:p>
            <a:endParaRPr/>
          </a:p>
          <a:p>
            <a:r>
              <a:t>[Sources]</a:t>
            </a:r>
          </a:p>
          <a:p>
            <a:r>
              <a:t>- AIMA 4e, Section 2.4.2.</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PlaceHolder 1"/>
          <p:cNvSpPr>
            <a:spLocks noGrp="1" noRot="1" noChangeAspect="1"/>
          </p:cNvSpPr>
          <p:nvPr>
            <p:ph type="sldImg"/>
          </p:nvPr>
        </p:nvSpPr>
        <p:spPr>
          <a:xfrm>
            <a:off x="685800" y="1143000"/>
            <a:ext cx="5485680" cy="3085560"/>
          </a:xfrm>
          <a:prstGeom prst="rect">
            <a:avLst/>
          </a:prstGeom>
          <a:ln w="0">
            <a:noFill/>
          </a:ln>
        </p:spPr>
      </p:sp>
      <p:sp>
        <p:nvSpPr>
          <p:cNvPr id="7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p>
          <a:p>
            <a:endParaRPr/>
          </a:p>
          <a:p>
            <a:r>
              <a:t>The problem is not a missing condition-action rule. The problem is that the current percept does not identify the relevant state. The same percept, Clean, can occur in different situations that require different actions.</a:t>
            </a:r>
          </a:p>
          <a:p>
            <a:endParaRPr/>
          </a:p>
          <a:p>
            <a: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p>
          <a:p>
            <a:endParaRPr/>
          </a:p>
          <a:p>
            <a:r>
              <a:t>Pac-Man can have the same issue. If the current screen does not reveal how much frightened time remains, a reflex rule may chase a ghost when the power effect is about to end. The agent needs some representation of history or hidden state.</a:t>
            </a:r>
          </a:p>
          <a:p>
            <a:endParaRPr/>
          </a:p>
          <a:p>
            <a:r>
              <a:t>The more general solution is to maintain internal state—a best estimate of the parts of the world that are not directly visible now. That leads to the model-based reflex agent.</a:t>
            </a:r>
          </a:p>
          <a:p>
            <a:endParaRPr/>
          </a:p>
          <a:p>
            <a:r>
              <a:t>[Instructor Cue]</a:t>
            </a:r>
          </a:p>
          <a:p>
            <a:r>
              <a:t>Ask: what single piece of memory would fix the two-square vacuum example? Accept the last known location or a belief about location.</a:t>
            </a:r>
          </a:p>
          <a:p>
            <a:endParaRPr/>
          </a:p>
          <a:p>
            <a:r>
              <a:t>[Transition]</a:t>
            </a:r>
          </a:p>
          <a:p>
            <a:r>
              <a:t>Model-based agents use internal state plus models of the world and sensors.</a:t>
            </a:r>
          </a:p>
          <a:p>
            <a:endParaRPr/>
          </a:p>
          <a:p>
            <a:r>
              <a:t>[Sources]</a:t>
            </a:r>
          </a:p>
          <a:p>
            <a:r>
              <a:t>- AIMA 4e, Section 2.4.2.</a:t>
            </a:r>
          </a:p>
        </p:txBody>
      </p:sp>
      <p:sp>
        <p:nvSpPr>
          <p:cNvPr id="766"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736766-AB47-492E-B291-78087A16D1B4}" type="slidenum">
              <a:rPr lang="en-US" sz="1200" b="0" u="none" strike="noStrike">
                <a:solidFill>
                  <a:schemeClr val="dk1"/>
                </a:solidFill>
                <a:effectLst/>
                <a:uFillTx/>
                <a:latin typeface="+mn-lt"/>
                <a:ea typeface="+mn-ea"/>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7" name="PlaceHolder 1"/>
          <p:cNvSpPr>
            <a:spLocks noGrp="1" noRot="1" noChangeAspect="1"/>
          </p:cNvSpPr>
          <p:nvPr>
            <p:ph type="sldImg"/>
          </p:nvPr>
        </p:nvSpPr>
        <p:spPr>
          <a:xfrm>
            <a:off x="685800" y="1143000"/>
            <a:ext cx="5485680" cy="3085560"/>
          </a:xfrm>
          <a:prstGeom prst="rect">
            <a:avLst/>
          </a:prstGeom>
          <a:ln w="0">
            <a:noFill/>
          </a:ln>
        </p:spPr>
      </p:sp>
      <p:sp>
        <p:nvSpPr>
          <p:cNvPr id="7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2.11</a:t>
            </a:r>
          </a:p>
          <a:p>
            <a:endParaRPr/>
          </a:p>
          <a:p>
            <a:r>
              <a:t>[Read-Aloud Script]</a:t>
            </a:r>
          </a:p>
          <a:p>
            <a:endParaRPr/>
          </a:p>
          <a:p>
            <a:r>
              <a:t>A model-based reflex agent maintains an internal state that represents its best estimate of what the world is like now. This internal state depends on the percept history, even though the program receives one current percept at a time.</a:t>
            </a:r>
          </a:p>
          <a:p>
            <a:endParaRPr/>
          </a:p>
          <a:p>
            <a: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p>
          <a:p>
            <a:endParaRPr/>
          </a:p>
          <a:p>
            <a: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p>
          <a:p>
            <a:endParaRPr/>
          </a:p>
          <a:p>
            <a:r>
              <a:t>The diagram combines the previous internal state, the last action, the transition model, the current percept, and the sensor model to produce an updated state estimate. Condition-action rules can then select an action from that estimated state.</a:t>
            </a:r>
          </a:p>
          <a:p>
            <a:endParaRPr/>
          </a:p>
          <a:p>
            <a: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p>
          <a:p>
            <a:endParaRPr/>
          </a:p>
          <a:p>
            <a:r>
              <a:t>[Instructor Cue]</a:t>
            </a:r>
          </a:p>
          <a:p>
            <a:r>
              <a:t>Use the driving example: a car temporarily disappears behind a truck. The internal state preserves an estimate of where the car may still be.</a:t>
            </a:r>
          </a:p>
          <a:p>
            <a:endParaRPr/>
          </a:p>
          <a:p>
            <a:r>
              <a:t>[Transition]</a:t>
            </a:r>
          </a:p>
          <a:p>
            <a:r>
              <a:t>The pseudocode shows exactly where state, action history, and models enter the decision loop.</a:t>
            </a:r>
          </a:p>
          <a:p>
            <a:endParaRPr/>
          </a:p>
          <a:p>
            <a:r>
              <a:t>[Sources]</a:t>
            </a:r>
          </a:p>
          <a:p>
            <a:r>
              <a:t>- AIMA 4e, Section 2.4.3 and Figure 2.11.</a:t>
            </a:r>
          </a:p>
        </p:txBody>
      </p:sp>
      <p:sp>
        <p:nvSpPr>
          <p:cNvPr id="769"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1EBB1C7-CD63-45C6-B6B1-0E96F4AC0611}"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noRot="1" noChangeAspect="1"/>
          </p:cNvSpPr>
          <p:nvPr>
            <p:ph type="sldImg"/>
          </p:nvPr>
        </p:nvSpPr>
        <p:spPr>
          <a:xfrm>
            <a:off x="685800" y="1143000"/>
            <a:ext cx="5485680" cy="3085560"/>
          </a:xfrm>
          <a:prstGeom prst="rect">
            <a:avLst/>
          </a:prstGeom>
          <a:ln w="0">
            <a:noFill/>
          </a:ln>
        </p:spPr>
      </p:sp>
      <p:sp>
        <p:nvSpPr>
          <p:cNvPr id="7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2.12</a:t>
            </a:r>
          </a:p>
          <a:p>
            <a:endParaRPr/>
          </a:p>
          <a:p>
            <a:r>
              <a:t>[Read-Aloud Script]</a:t>
            </a:r>
          </a:p>
          <a:p>
            <a:endParaRPr/>
          </a:p>
          <a:p>
            <a: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p>
          <a:p>
            <a:endParaRPr/>
          </a:p>
          <a:p>
            <a:r>
              <a:t>The key line is UPDATE-STATE. It combines the old state, the previous action, the new percept, the transition model, and the sensor model. The result is a new internal state description.</a:t>
            </a:r>
          </a:p>
          <a:p>
            <a:endParaRPr/>
          </a:p>
          <a:p>
            <a:r>
              <a:t>The program then uses RULE-MATCH on that updated state, selects the rule’s action, stores the action for use during the next update, and returns it to the actuators. The previous action matters because state change depends partly on what the agent itself just did.</a:t>
            </a:r>
          </a:p>
          <a:p>
            <a:endParaRPr/>
          </a:p>
          <a:p>
            <a: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p>
          <a:p>
            <a:endParaRPr/>
          </a:p>
          <a:p>
            <a: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p>
          <a:p>
            <a:endParaRPr/>
          </a:p>
          <a:p>
            <a:r>
              <a:t>[Instructor Cue]</a:t>
            </a:r>
          </a:p>
          <a:p>
            <a:r>
              <a:t>Walk through one iteration: old state, last action, new percept, updated state, matched rule, new action. Ask students which variable creates memory.</a:t>
            </a:r>
          </a:p>
          <a:p>
            <a:endParaRPr/>
          </a:p>
          <a:p>
            <a:r>
              <a:t>[Transition]</a:t>
            </a:r>
          </a:p>
          <a:p>
            <a:r>
              <a:t>Internal state tells the agent where it believes it is; a goal tells the agent where it wants to go.</a:t>
            </a:r>
          </a:p>
          <a:p>
            <a:endParaRPr/>
          </a:p>
          <a:p>
            <a:r>
              <a:t>[Sources]</a:t>
            </a:r>
          </a:p>
          <a:p>
            <a:r>
              <a:t>- AIMA 4e, Section 2.4.3 and Figure 2.12.</a:t>
            </a:r>
          </a:p>
        </p:txBody>
      </p:sp>
      <p:sp>
        <p:nvSpPr>
          <p:cNvPr id="772"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8228F-5B30-4211-B03F-F43D6B8D37DE}"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noRot="1" noChangeAspect="1"/>
          </p:cNvSpPr>
          <p:nvPr>
            <p:ph type="sldImg"/>
          </p:nvPr>
        </p:nvSpPr>
        <p:spPr>
          <a:xfrm>
            <a:off x="685800" y="1143000"/>
            <a:ext cx="5485680" cy="3085560"/>
          </a:xfrm>
          <a:prstGeom prst="rect">
            <a:avLst/>
          </a:prstGeom>
          <a:ln w="0">
            <a:noFill/>
          </a:ln>
        </p:spPr>
      </p:sp>
      <p:sp>
        <p:nvSpPr>
          <p:cNvPr id="7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2.4.4 and Figure 2.13</a:t>
            </a:r>
          </a:p>
          <a:p>
            <a:endParaRPr/>
          </a:p>
          <a:p>
            <a:r>
              <a:t>[Read-Aloud Script]</a:t>
            </a:r>
          </a:p>
          <a:p>
            <a:endParaRPr/>
          </a:p>
          <a:p>
            <a: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p>
          <a:p>
            <a:endParaRPr/>
          </a:p>
          <a:p>
            <a: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p>
          <a:p>
            <a:endParaRPr/>
          </a:p>
          <a:p>
            <a: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p>
          <a:p>
            <a:endParaRPr/>
          </a:p>
          <a:p>
            <a: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p>
          <a:p>
            <a:endParaRPr/>
          </a:p>
          <a:p>
            <a: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p>
          <a:p>
            <a:endParaRPr/>
          </a:p>
          <a:p>
            <a:r>
              <a:t>[Instructor Cue]</a:t>
            </a:r>
          </a:p>
          <a:p>
            <a:r>
              <a:t>Ask students to name a Pac-Man goal that requires more than one move. Then ask what state information is needed to search for it.</a:t>
            </a:r>
          </a:p>
          <a:p>
            <a:endParaRPr/>
          </a:p>
          <a:p>
            <a:r>
              <a:t>[Transition]</a:t>
            </a:r>
          </a:p>
          <a:p>
            <a:r>
              <a:t>The planning video makes the difference between reaction and look-ahead behavior visible.</a:t>
            </a:r>
          </a:p>
          <a:p>
            <a:endParaRPr/>
          </a:p>
          <a:p>
            <a:r>
              <a:t>[Sources]</a:t>
            </a:r>
          </a:p>
          <a:p>
            <a:r>
              <a:t>- AIMA 4e, Section 2.4.4 and Figure 2.13.</a:t>
            </a:r>
          </a:p>
        </p:txBody>
      </p:sp>
      <p:sp>
        <p:nvSpPr>
          <p:cNvPr id="775"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795A100-E9D7-4EBF-854F-F21D102EF63D}"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6" name="PlaceHolder 1"/>
          <p:cNvSpPr>
            <a:spLocks noGrp="1" noRot="1" noChangeAspect="1"/>
          </p:cNvSpPr>
          <p:nvPr>
            <p:ph type="sldImg"/>
          </p:nvPr>
        </p:nvSpPr>
        <p:spPr>
          <a:xfrm>
            <a:off x="685800" y="1143000"/>
            <a:ext cx="5486400" cy="3086100"/>
          </a:xfrm>
          <a:prstGeom prst="rect">
            <a:avLst/>
          </a:prstGeom>
          <a:ln w="0">
            <a:noFill/>
          </a:ln>
        </p:spPr>
      </p:sp>
      <p:sp>
        <p:nvSpPr>
          <p:cNvPr id="7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Goal-based agents and transition to search</a:t>
            </a:r>
          </a:p>
          <a:p>
            <a:endParaRPr/>
          </a:p>
          <a:p>
            <a:r>
              <a:t>[Read-Aloud Script]</a:t>
            </a:r>
          </a:p>
          <a:p>
            <a:endParaRPr/>
          </a:p>
          <a:p>
            <a:r>
              <a:t>This slide is the bridge between Chapter 2 agent design and the next unit on search. The reflex agent chooses from the current percept, and possibly memory, but it does not explicitly evaluate future consequences. It asks, in effect, what rule applies now?</a:t>
            </a:r>
          </a:p>
          <a:p>
            <a:endParaRPr/>
          </a:p>
          <a:p>
            <a: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p>
          <a:p>
            <a:endParaRPr/>
          </a:p>
          <a:p>
            <a: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p>
          <a:p>
            <a:endParaRPr/>
          </a:p>
          <a:p>
            <a: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p>
          <a:p>
            <a:endParaRPr/>
          </a:p>
          <a:p>
            <a:r>
              <a:t>For this chapter, keep the boundary clear: Chapter 2 explains why a goal-based agent needs to consider future consequences. Chapter 3 explains the search algorithms that implement that look-ahead in detail.</a:t>
            </a:r>
          </a:p>
          <a:p>
            <a:endParaRPr/>
          </a:p>
          <a:p>
            <a:r>
              <a:t>[Instructor Cue]</a:t>
            </a:r>
          </a:p>
          <a:p>
            <a:r>
              <a:t>If using the video, play approximately 1:19-10:05. Ask students to identify where the agent stops reacting only to the current percept and begins evaluating future states.</a:t>
            </a:r>
          </a:p>
          <a:p>
            <a:endParaRPr/>
          </a:p>
          <a:p>
            <a:r>
              <a:t>[Transition]</a:t>
            </a:r>
          </a:p>
          <a:p>
            <a:r>
              <a:t>Goals tell the agent what counts as success, but they do not rank multiple successful outcomes. Utility provides that ranking.</a:t>
            </a:r>
          </a:p>
          <a:p>
            <a:endParaRPr/>
          </a:p>
          <a:p>
            <a:r>
              <a:t>[Sources]</a:t>
            </a:r>
          </a:p>
          <a:p>
            <a:r>
              <a:t>- Planning video transcript, approximately 1:19-10:05.</a:t>
            </a:r>
          </a:p>
          <a:p>
            <a:r>
              <a:t>- AIMA Chapter 2, Section 2.4.4.</a:t>
            </a:r>
          </a:p>
        </p:txBody>
      </p:sp>
      <p:sp>
        <p:nvSpPr>
          <p:cNvPr id="778"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39C483F-75E7-4280-AED3-60E2D20A3039}"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2" name="PlaceHolder 1"/>
          <p:cNvSpPr>
            <a:spLocks noGrp="1" noRot="1" noChangeAspect="1"/>
          </p:cNvSpPr>
          <p:nvPr>
            <p:ph type="sldImg"/>
          </p:nvPr>
        </p:nvSpPr>
        <p:spPr>
          <a:xfrm>
            <a:off x="685800" y="1143000"/>
            <a:ext cx="5485680" cy="3085560"/>
          </a:xfrm>
          <a:prstGeom prst="rect">
            <a:avLst/>
          </a:prstGeom>
          <a:ln w="0">
            <a:noFill/>
          </a:ln>
        </p:spPr>
      </p:sp>
      <p:sp>
        <p:nvSpPr>
          <p:cNvPr id="7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2.4.5 and Figure 2.14</a:t>
            </a:r>
          </a:p>
          <a:p>
            <a:endParaRPr/>
          </a:p>
          <a:p>
            <a:r>
              <a:t>[Read-Aloud Script]</a:t>
            </a:r>
          </a:p>
          <a:p>
            <a:endParaRPr/>
          </a:p>
          <a:p>
            <a:r>
              <a:t>A goal usually gives a binary distinction: the destination is reached or it is not. In most environments, that is not enough to produce high-quality behavior. Many routes may reach the same destination, but they differ in safety, speed, cost, comfort, reliability, and energy use.</a:t>
            </a:r>
          </a:p>
          <a:p>
            <a:endParaRPr/>
          </a:p>
          <a:p>
            <a:r>
              <a:t>A utility function assigns a degree of desirability to outcomes. The agent predicts possible future states, evaluates how desirable those states are, and chooses an action that leads to the best expected result.</a:t>
            </a:r>
          </a:p>
          <a:p>
            <a:endParaRPr/>
          </a:p>
          <a:p>
            <a: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p>
          <a:p>
            <a:endParaRPr/>
          </a:p>
          <a:p>
            <a: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p>
          <a:p>
            <a:endParaRPr/>
          </a:p>
          <a:p>
            <a:r>
              <a:t>A utility-based agent is not automatically simple. It still needs perception, state estimation, a model of possible outcomes, and an algorithm for comparing choices. The utility function makes the decision criterion explicit; it does not remove the computational difficulty.</a:t>
            </a:r>
          </a:p>
          <a:p>
            <a:endParaRPr/>
          </a:p>
          <a:p>
            <a:r>
              <a:t>[Instructor Cue]</a:t>
            </a:r>
          </a:p>
          <a:p>
            <a:r>
              <a:t>Use two routes to the same destination: one fast but risky, one slower but safer. Ask why a goal test cannot choose between them.</a:t>
            </a:r>
          </a:p>
          <a:p>
            <a:endParaRPr/>
          </a:p>
          <a:p>
            <a:r>
              <a:t>[Transition]</a:t>
            </a:r>
          </a:p>
          <a:p>
            <a:r>
              <a:t>The next slide focuses on the two main reasons utility is more expressive than goals: tradeoffs and uncertainty.</a:t>
            </a:r>
          </a:p>
          <a:p>
            <a:endParaRPr/>
          </a:p>
          <a:p>
            <a:r>
              <a:t>[Sources]</a:t>
            </a:r>
          </a:p>
          <a:p>
            <a:r>
              <a:t>- AIMA 4e, Section 2.4.5 and Figure 2.14.</a:t>
            </a:r>
          </a:p>
        </p:txBody>
      </p:sp>
      <p:sp>
        <p:nvSpPr>
          <p:cNvPr id="784"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CE0B40F-514E-40A9-B48D-9677C2F01018}"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noRot="1" noChangeAspect="1"/>
          </p:cNvSpPr>
          <p:nvPr>
            <p:ph type="sldImg"/>
          </p:nvPr>
        </p:nvSpPr>
        <p:spPr>
          <a:xfrm>
            <a:off x="685800" y="1143000"/>
            <a:ext cx="5485680" cy="3085560"/>
          </a:xfrm>
          <a:prstGeom prst="rect">
            <a:avLst/>
          </a:prstGeom>
          <a:ln w="0">
            <a:noFill/>
          </a:ln>
        </p:spPr>
      </p:sp>
      <p:sp>
        <p:nvSpPr>
          <p:cNvPr id="7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2.4.5</a:t>
            </a:r>
          </a:p>
          <a:p>
            <a:endParaRPr/>
          </a:p>
          <a:p>
            <a:r>
              <a:t>[Read-Aloud Script]</a:t>
            </a:r>
          </a:p>
          <a:p>
            <a:endParaRPr/>
          </a:p>
          <a:p>
            <a: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p>
          <a:p>
            <a:endParaRPr/>
          </a:p>
          <a:p>
            <a: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p>
          <a:p>
            <a:endParaRPr/>
          </a:p>
          <a:p>
            <a: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p>
          <a:p>
            <a:endParaRPr/>
          </a:p>
          <a:p>
            <a: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p>
          <a:p>
            <a:endParaRPr/>
          </a:p>
          <a:p>
            <a: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p>
          <a:p>
            <a:endParaRPr/>
          </a:p>
          <a:p>
            <a:r>
              <a:t>[Instructor Cue]</a:t>
            </a:r>
          </a:p>
          <a:p>
            <a:r>
              <a:t>Ask whether maximizing score alone is a sufficient Pac-Man utility. Encourage students to identify survival and task completion as additional terms.</a:t>
            </a:r>
          </a:p>
          <a:p>
            <a:endParaRPr/>
          </a:p>
          <a:p>
            <a:r>
              <a:t>[Transition]</a:t>
            </a:r>
          </a:p>
          <a:p>
            <a:r>
              <a:t>So far, every design assumes that the agent’s rules, models, goals, or utility already exist. Learning explains how those components can improve.</a:t>
            </a:r>
          </a:p>
          <a:p>
            <a:endParaRPr/>
          </a:p>
          <a:p>
            <a:r>
              <a:t>[Sources]</a:t>
            </a:r>
          </a:p>
          <a:p>
            <a:r>
              <a:t>- AIMA 4e, Section 2.4.5.</a:t>
            </a:r>
          </a:p>
        </p:txBody>
      </p:sp>
      <p:sp>
        <p:nvSpPr>
          <p:cNvPr id="787"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56878AE-1CC7-4263-8CFA-3A1744BA5A0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PlaceHolder 1"/>
          <p:cNvSpPr>
            <a:spLocks noGrp="1" noRot="1" noChangeAspect="1"/>
          </p:cNvSpPr>
          <p:nvPr>
            <p:ph type="sldImg"/>
          </p:nvPr>
        </p:nvSpPr>
        <p:spPr>
          <a:xfrm>
            <a:off x="685800" y="1143000"/>
            <a:ext cx="5485680" cy="3085560"/>
          </a:xfrm>
          <a:prstGeom prst="rect">
            <a:avLst/>
          </a:prstGeom>
          <a:ln w="0">
            <a:noFill/>
          </a:ln>
        </p:spPr>
      </p:sp>
      <p:sp>
        <p:nvSpPr>
          <p:cNvPr id="7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2.4.6 and Figure 2.15</a:t>
            </a:r>
          </a:p>
          <a:p>
            <a:endParaRPr/>
          </a:p>
          <a:p>
            <a:r>
              <a:t>[Read-Aloud Script]</a:t>
            </a:r>
          </a:p>
          <a:p>
            <a:endParaRPr/>
          </a:p>
          <a:p>
            <a:r>
              <a:t>Any of the agent types we have discussed can be built as a learning agent. Learning is not a separate alternative that replaces reflex, model-based, goal-based, or utility-based design. It is a way for the components of those agents to improve through experience.</a:t>
            </a:r>
          </a:p>
          <a:p>
            <a:endParaRPr/>
          </a:p>
          <a:p>
            <a:r>
              <a:t>The chapter divides a learning agent into four conceptual components. The performance element selects external actions. It is the part we previously treated as the entire agent. The learning element modifies the performance element so that future behavior improves.</a:t>
            </a:r>
          </a:p>
          <a:p>
            <a:endParaRPr/>
          </a:p>
          <a:p>
            <a: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p>
          <a:p>
            <a:endParaRPr/>
          </a:p>
          <a:p>
            <a: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p>
          <a:p>
            <a:endParaRPr/>
          </a:p>
          <a:p>
            <a: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p>
          <a:p>
            <a:endParaRPr/>
          </a:p>
          <a:p>
            <a:r>
              <a:t>[Instructor Cue]</a:t>
            </a:r>
          </a:p>
          <a:p>
            <a:r>
              <a:t>Point to each box in Figure 2.15 and have students repeat the role: performance acts, critic evaluates, learning improves, problem generator explores.</a:t>
            </a:r>
          </a:p>
          <a:p>
            <a:endParaRPr/>
          </a:p>
          <a:p>
            <a:r>
              <a:t>[Transition]</a:t>
            </a:r>
          </a:p>
          <a:p>
            <a:r>
              <a:t>The next slide asks exactly which internal components a learning process can modify.</a:t>
            </a:r>
          </a:p>
          <a:p>
            <a:endParaRPr/>
          </a:p>
          <a:p>
            <a:r>
              <a:t>[Sources]</a:t>
            </a:r>
          </a:p>
          <a:p>
            <a:r>
              <a:t>- AIMA 4e, Section 2.4.6 and Figure 2.15.</a:t>
            </a:r>
          </a:p>
        </p:txBody>
      </p:sp>
      <p:sp>
        <p:nvSpPr>
          <p:cNvPr id="790"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F1DF4C6-9B3E-43DD-AD17-449D58528FC3}"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 name="PlaceHolder 1"/>
          <p:cNvSpPr>
            <a:spLocks noGrp="1" noRot="1" noChangeAspect="1"/>
          </p:cNvSpPr>
          <p:nvPr>
            <p:ph type="sldImg"/>
          </p:nvPr>
        </p:nvSpPr>
        <p:spPr>
          <a:xfrm>
            <a:off x="685800" y="1143000"/>
            <a:ext cx="5485680" cy="3085560"/>
          </a:xfrm>
          <a:prstGeom prst="rect">
            <a:avLst/>
          </a:prstGeom>
          <a:ln w="0">
            <a:noFill/>
          </a:ln>
        </p:spPr>
      </p:sp>
      <p:sp>
        <p:nvSpPr>
          <p:cNvPr id="7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2.4.6</a:t>
            </a:r>
          </a:p>
          <a:p>
            <a:endParaRPr/>
          </a:p>
          <a:p>
            <a:r>
              <a:t>[Read-Aloud Script]</a:t>
            </a:r>
          </a:p>
          <a:p>
            <a:endParaRPr/>
          </a:p>
          <a:p>
            <a:r>
              <a:t>The design of the learning element depends on the performance element. Before asking how an agent will learn, we should ask what mechanism will select actions after learning has occurred. Learning can then improve the components used by that mechanism.</a:t>
            </a:r>
          </a:p>
          <a:p>
            <a:endParaRPr/>
          </a:p>
          <a:p>
            <a: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p>
          <a:p>
            <a:endParaRPr/>
          </a:p>
          <a:p>
            <a: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p>
          <a:p>
            <a:endParaRPr/>
          </a:p>
          <a:p>
            <a: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p>
          <a:p>
            <a:endParaRPr/>
          </a:p>
          <a:p>
            <a:r>
              <a:t>The unifying idea is modification. Learning brings the agent’s internal components into closer agreement with available feedback and with the actual environment. A system may learn one component while other components remain hand-designed.</a:t>
            </a:r>
          </a:p>
          <a:p>
            <a:endParaRPr/>
          </a:p>
          <a:p>
            <a:r>
              <a:t>[Instructor Cue]</a:t>
            </a:r>
          </a:p>
          <a:p>
            <a:r>
              <a:t>Use the taxi-tip example: if rough driving produces fewer tips, the critic must connect that feedback to the performance standard before the agent can learn a smoother policy.</a:t>
            </a:r>
          </a:p>
          <a:p>
            <a:endParaRPr/>
          </a:p>
          <a:p>
            <a:r>
              <a:t>[Transition]</a:t>
            </a:r>
          </a:p>
          <a:p>
            <a:r>
              <a:t>Learning and reasoning both depend on how the agent represents states, attributes, objects, and relationships.</a:t>
            </a:r>
          </a:p>
          <a:p>
            <a:endParaRPr/>
          </a:p>
          <a:p>
            <a:r>
              <a:t>[Sources]</a:t>
            </a:r>
          </a:p>
          <a:p>
            <a:r>
              <a:t>- AIMA 4e, Section 2.4.6.</a:t>
            </a:r>
          </a:p>
        </p:txBody>
      </p:sp>
      <p:sp>
        <p:nvSpPr>
          <p:cNvPr id="793"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2621E7F-FBEE-40DE-8962-F2B921BC9138}"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2.4.6</a:t>
            </a:r>
          </a:p>
          <a:p>
            <a:endParaRPr/>
          </a:p>
          <a:p>
            <a:r>
              <a:t>[Read-Aloud Script]</a:t>
            </a:r>
          </a:p>
          <a:p>
            <a:endParaRPr/>
          </a:p>
          <a:p>
            <a:r>
              <a:t>We have the four components of a learning agent. This slide is about why three of them are shaped the way they are.</a:t>
            </a:r>
          </a:p>
          <a:p>
            <a:endParaRPr/>
          </a:p>
          <a:p>
            <a:r>
              <a:t>Start with Turing, because it frames the whole enterprise. In his 1950 paper he seriously considered hand-programming an intelligent machine, estimated how much labour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p>
          <a:p>
            <a:endParaRPr/>
          </a:p>
          <a:p>
            <a: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p>
          <a:p>
            <a:endParaRPr/>
          </a:p>
          <a:p>
            <a: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p>
          <a:p>
            <a:endParaRPr/>
          </a:p>
          <a:p>
            <a:r>
              <a:t>The third card is about where information for learning comes from. The taxi that shakes its passengers up receives no tips, and the external standard has to tell it that lost tips are a negative contribution, at which point it can learn that violent manoeuvres do not serve it. The taxi that sounds its horn continuously to warn pedestrians observes people covering their ears, using bad language, and occasionally cutting the wires to the horn — human behaviour that is evidence about human preferences. In this sense the performance standard singles out part of the incoming percept as reward or penalty. Pain and hunger in animals are hard-wired versions of the same mechanism.</a:t>
            </a:r>
          </a:p>
          <a:p>
            <a:endParaRPr/>
          </a:p>
          <a:p>
            <a: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behaviour was better.</a:t>
            </a:r>
          </a:p>
          <a:p>
            <a:endParaRPr/>
          </a:p>
          <a:p>
            <a:r>
              <a:t>[Instructor Cue]</a:t>
            </a:r>
          </a:p>
          <a:p>
            <a:r>
              <a:t>Ask what would happen if the agent could rewrite its own performance standard. Students usually arrive at the degenerate answer immediately, which is the point.</a:t>
            </a:r>
          </a:p>
          <a:p>
            <a:endParaRPr/>
          </a:p>
          <a:p>
            <a:r>
              <a:t>[Transition]</a:t>
            </a:r>
          </a:p>
          <a:p>
            <a:r>
              <a:t>That covers how components improve. The last question is how they represent the world in the first place.</a:t>
            </a:r>
          </a:p>
          <a:p>
            <a:endParaRPr/>
          </a:p>
          <a:p>
            <a:r>
              <a:t>[Sources]</a:t>
            </a:r>
          </a:p>
          <a:p>
            <a:r>
              <a:t>- AIMA 4e, Section 2.4.6; Turing (1950).</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4" name="PlaceHolder 1"/>
          <p:cNvSpPr>
            <a:spLocks noGrp="1" noRot="1" noChangeAspect="1"/>
          </p:cNvSpPr>
          <p:nvPr>
            <p:ph type="sldImg"/>
          </p:nvPr>
        </p:nvSpPr>
        <p:spPr>
          <a:xfrm>
            <a:off x="685800" y="1143000"/>
            <a:ext cx="5485680" cy="3085560"/>
          </a:xfrm>
          <a:prstGeom prst="rect">
            <a:avLst/>
          </a:prstGeom>
          <a:ln w="0">
            <a:noFill/>
          </a:ln>
        </p:spPr>
      </p:sp>
      <p:sp>
        <p:nvSpPr>
          <p:cNvPr id="7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2.4.7 and Figure 2.16</a:t>
            </a:r>
          </a:p>
          <a:p>
            <a:endParaRPr/>
          </a:p>
          <a:p>
            <a:r>
              <a:t>[Read-Aloud Script]</a:t>
            </a:r>
          </a:p>
          <a:p>
            <a:endParaRPr/>
          </a:p>
          <a:p>
            <a:r>
              <a:t>Chapter 2 closes by comparing three levels of representation: atomic, factored, and structured. These are not agent types. They describe how agent components represent states and relationships in the environment.</a:t>
            </a:r>
          </a:p>
          <a:p>
            <a:endParaRPr/>
          </a:p>
          <a:p>
            <a: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p>
          <a:p>
            <a:endParaRPr/>
          </a:p>
          <a:p>
            <a: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p>
          <a:p>
            <a:endParaRPr/>
          </a:p>
          <a:p>
            <a: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p>
          <a:p>
            <a:endParaRPr/>
          </a:p>
          <a:p>
            <a: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p>
          <a:p>
            <a:endParaRPr/>
          </a:p>
          <a:p>
            <a:r>
              <a:t>[Instructor Cue]</a:t>
            </a:r>
          </a:p>
          <a:p>
            <a:r>
              <a:t>Ask students to represent the same Pac-Man state atomically, then factored. A structured version can represent Pac-Man, ghosts, pellets, and spatial relationships as objects and relations.</a:t>
            </a:r>
          </a:p>
          <a:p>
            <a:endParaRPr/>
          </a:p>
          <a:p>
            <a:r>
              <a:t>[Transition]</a:t>
            </a:r>
          </a:p>
          <a:p>
            <a:r>
              <a:t>We can now compare all of the agent program designs in one view.</a:t>
            </a:r>
          </a:p>
          <a:p>
            <a:endParaRPr/>
          </a:p>
          <a:p>
            <a:r>
              <a:t>[Sources]</a:t>
            </a:r>
          </a:p>
          <a:p>
            <a:r>
              <a:t>- AIMA 4e, Section 2.4.7 and Figure 2.16.</a:t>
            </a:r>
          </a:p>
        </p:txBody>
      </p:sp>
      <p:sp>
        <p:nvSpPr>
          <p:cNvPr id="796"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D9EF36C-E84D-4D78-B59B-DA75EC2A55F7}"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previous slide gave you atomic, factored, and structured as an axis of increasing expressiveness. This slide puts a number on what that axis costs, using one worked example: how long does it take to write down the rules of chess?</a:t>
            </a:r>
          </a:p>
          <a:p>
            <a:endParaRPr/>
          </a:p>
          <a:p>
            <a: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p>
          <a:p>
            <a:endParaRPr/>
          </a:p>
          <a:p>
            <a:r>
              <a:t>That is the sense in which expressiveness is a real engineering property and not a matter of taste. A more expressive language can capture, at least as concisely, everything a less expressive one captures, plus more — and often far more concisely.</a:t>
            </a:r>
          </a:p>
          <a:p>
            <a:endParaRPr/>
          </a:p>
          <a:p>
            <a: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p>
          <a:p>
            <a:endParaRPr/>
          </a:p>
          <a:p>
            <a:r>
              <a:t>[Instructor Cue]</a:t>
            </a:r>
          </a:p>
          <a:p>
            <a:r>
              <a:t>Ask which representation their Chapter 3 search algorithms will use. Atomic is the answer, and it explains why those algorithms are as clean as they are.</a:t>
            </a:r>
          </a:p>
          <a:p>
            <a:endParaRPr/>
          </a:p>
          <a:p>
            <a:r>
              <a:t>[Transition]</a:t>
            </a:r>
          </a:p>
          <a:p>
            <a:r>
              <a:t>There is a second, independent representation axis that the chapter mentions only briefly and that turns out to matter enormously.</a:t>
            </a:r>
          </a:p>
          <a:p>
            <a:endParaRPr/>
          </a:p>
          <a:p>
            <a:r>
              <a:t>[Sources]</a:t>
            </a:r>
          </a:p>
          <a:p>
            <a:r>
              <a:t>- AIMA 4e, Section 2.4.7.</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p>
          <a:p>
            <a:endParaRPr/>
          </a:p>
          <a:p>
            <a: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p>
          <a:p>
            <a:endParaRPr/>
          </a:p>
          <a:p>
            <a: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p>
          <a:p>
            <a:endParaRPr/>
          </a:p>
          <a:p>
            <a: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p>
          <a:p>
            <a:endParaRPr/>
          </a:p>
          <a:p>
            <a:r>
              <a:t>[Instructor Cue]</a:t>
            </a:r>
          </a:p>
          <a:p>
            <a:r>
              <a:t>Ask which axis a one-hot encoding sits on, and which a word embedding sits on. The pair makes the distinction concrete in about thirty seconds.</a:t>
            </a:r>
          </a:p>
          <a:p>
            <a:endParaRPr/>
          </a:p>
          <a:p>
            <a:r>
              <a:t>[Transition]</a:t>
            </a:r>
          </a:p>
          <a:p>
            <a:r>
              <a:t>That completes the chapter's technical content. Before the summary, it is worth seeing where these ideas came from.</a:t>
            </a:r>
          </a:p>
          <a:p>
            <a:endParaRPr/>
          </a:p>
          <a:p>
            <a:r>
              <a:t>[Sources]</a:t>
            </a:r>
          </a:p>
          <a:p>
            <a:r>
              <a:t>- AIMA 4e, Section 2.4.7.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 name="PlaceHolder 1"/>
          <p:cNvSpPr>
            <a:spLocks noGrp="1" noRot="1" noChangeAspect="1"/>
          </p:cNvSpPr>
          <p:nvPr>
            <p:ph type="sldImg"/>
          </p:nvPr>
        </p:nvSpPr>
        <p:spPr>
          <a:xfrm>
            <a:off x="685800" y="1143000"/>
            <a:ext cx="5485680" cy="3085560"/>
          </a:xfrm>
          <a:prstGeom prst="rect">
            <a:avLst/>
          </a:prstGeom>
          <a:ln w="0">
            <a:noFill/>
          </a:ln>
        </p:spPr>
      </p:sp>
      <p:sp>
        <p:nvSpPr>
          <p:cNvPr id="7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Synthesis of Sections 2.4.1-2.4.6</a:t>
            </a:r>
          </a:p>
          <a:p>
            <a:endParaRPr/>
          </a:p>
          <a:p>
            <a:r>
              <a:t>[Read-Aloud Script]</a:t>
            </a:r>
          </a:p>
          <a:p>
            <a:endParaRPr/>
          </a:p>
          <a:p>
            <a:r>
              <a:t>This slide is a checkpoint covering every agent design presented in the lecture. The table-driven agent stores the percept history and looks up an action. It represents the complete agent function explicitly but does not scale.</a:t>
            </a:r>
          </a:p>
          <a:p>
            <a:endParaRPr/>
          </a:p>
          <a:p>
            <a:r>
              <a:t>The simple reflex agent maps the current percept-derived state directly to an action using condition-action rules. It is compact and fast but depends on sufficient observability.</a:t>
            </a:r>
          </a:p>
          <a:p>
            <a:endParaRPr/>
          </a:p>
          <a:p>
            <a:r>
              <a:t>The model-based reflex agent maintains internal state using a transition model and sensor model, then applies rules to the estimated current state. It is designed for partial observability.</a:t>
            </a:r>
          </a:p>
          <a:p>
            <a:endParaRPr/>
          </a:p>
          <a:p>
            <a:r>
              <a:t>The goal-based agent adds a goal and predicts future states to find an action sequence that reaches that goal. Search and planning provide the mechanisms for this look-ahead behavior.</a:t>
            </a:r>
          </a:p>
          <a:p>
            <a:endParaRPr/>
          </a:p>
          <a:p>
            <a:r>
              <a:t>The utility-based agent ranks outcomes and chooses the action with the highest expected utility. It supports tradeoffs and uncertainty when a binary goal is not enough.</a:t>
            </a:r>
          </a:p>
          <a:p>
            <a:endParaRPr/>
          </a:p>
          <a:p>
            <a:r>
              <a:t>The learning agent improves components through feedback and exploration. Learning can be added to any of the other designs. A model-based utility agent can learn its transition model; a reflex agent can learn rules; a goal-based agent can learn better search guidance.</a:t>
            </a:r>
          </a:p>
          <a:p>
            <a:endParaRPr/>
          </a:p>
          <a:p>
            <a:r>
              <a:t>These are design patterns, not rigid boxes. Real systems commonly combine them. The most useful classification is the one that explains what information the system represents and how it selects actions.</a:t>
            </a:r>
          </a:p>
          <a:p>
            <a:endParaRPr/>
          </a:p>
          <a:p>
            <a:r>
              <a:t>[Instructor Cue]</a:t>
            </a:r>
          </a:p>
          <a:p>
            <a:r>
              <a:t>Ask students to compare adjacent rows: what new information is added when moving from simple reflex to model-based, from model-based to goal-based, and from goal-based to utility-based?</a:t>
            </a:r>
          </a:p>
          <a:p>
            <a:endParaRPr/>
          </a:p>
          <a:p>
            <a:r>
              <a:t>[Transition]</a:t>
            </a:r>
          </a:p>
          <a:p>
            <a:r>
              <a:t>The environment properties tell us which of these design capabilities are necessary.</a:t>
            </a:r>
          </a:p>
          <a:p>
            <a:endParaRPr/>
          </a:p>
          <a:p>
            <a:r>
              <a:t>[Sources]</a:t>
            </a:r>
          </a:p>
          <a:p>
            <a:r>
              <a:t>- AIMA 4e, Sections 2.4.1-2.4.6.</a:t>
            </a:r>
          </a:p>
        </p:txBody>
      </p:sp>
      <p:sp>
        <p:nvSpPr>
          <p:cNvPr id="799"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A60B6BB-C753-4356-870F-982071B015FE}" type="slidenum">
              <a:rPr lang="en-US" sz="1200" b="0" u="none" strike="noStrike">
                <a:solidFill>
                  <a:schemeClr val="dk1"/>
                </a:solidFill>
                <a:effectLst/>
                <a:uFillTx/>
                <a:latin typeface="+mn-lt"/>
                <a:ea typeface="+mn-ea"/>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0" name="PlaceHolder 1"/>
          <p:cNvSpPr>
            <a:spLocks noGrp="1" noRot="1" noChangeAspect="1"/>
          </p:cNvSpPr>
          <p:nvPr>
            <p:ph type="sldImg"/>
          </p:nvPr>
        </p:nvSpPr>
        <p:spPr>
          <a:xfrm>
            <a:off x="685800" y="1143000"/>
            <a:ext cx="5485680" cy="3085560"/>
          </a:xfrm>
          <a:prstGeom prst="rect">
            <a:avLst/>
          </a:prstGeom>
          <a:ln w="0">
            <a:noFill/>
          </a:ln>
        </p:spPr>
      </p:sp>
      <p:sp>
        <p:nvSpPr>
          <p:cNvPr id="8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Synthesis of Sections 2.3 and 2.4</a:t>
            </a:r>
          </a:p>
          <a:p>
            <a:endParaRPr/>
          </a:p>
          <a:p>
            <a:r>
              <a:t>[Read-Aloud Script]</a:t>
            </a:r>
          </a:p>
          <a:p>
            <a:endParaRPr/>
          </a:p>
          <a:p>
            <a: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p>
          <a:p>
            <a:endParaRPr/>
          </a:p>
          <a:p>
            <a:r>
              <a:t>Partial observability creates a need for memory and state estimation, which points toward a model-based agent. A long-term objective that requires a sequence of actions creates a need for goals, prediction, search, or planning.</a:t>
            </a:r>
          </a:p>
          <a:p>
            <a:endParaRPr/>
          </a:p>
          <a:p>
            <a:r>
              <a:t>When several successful outcomes differ in quality, or when outcomes are uncertain, utility provides a way to compare them. When the rules, models, environment, or performance measure are unknown or changing, learning becomes necessary.</a:t>
            </a:r>
          </a:p>
          <a:p>
            <a:endParaRPr/>
          </a:p>
          <a:p>
            <a: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p>
          <a:p>
            <a:endParaRPr/>
          </a:p>
          <a:p>
            <a:r>
              <a:t>A disciplined design process therefore follows four steps. First, define the agent and environment. Second, specify PEAS. Third, classify the environment. Fourth, select the least complex agent design that can represent the required information and make adequate decisions.</a:t>
            </a:r>
          </a:p>
          <a:p>
            <a:endParaRPr/>
          </a:p>
          <a:p>
            <a:r>
              <a:t>[Instructor Cue]</a:t>
            </a:r>
          </a:p>
          <a:p>
            <a:r>
              <a:t>Give one environment description and ask the class to select a design. Example: a thermostat is fully observable enough, single-agent, simple, and dynamic; a reflex or control policy may be sufficient.</a:t>
            </a:r>
          </a:p>
          <a:p>
            <a:endParaRPr/>
          </a:p>
          <a:p>
            <a:r>
              <a:t>[Transition]</a:t>
            </a:r>
          </a:p>
          <a:p>
            <a:r>
              <a:t>The PEAS activity lets students apply this workflow before proposing an algorithm.</a:t>
            </a:r>
          </a:p>
          <a:p>
            <a:endParaRPr/>
          </a:p>
          <a:p>
            <a:r>
              <a:t>[Sources]</a:t>
            </a:r>
          </a:p>
          <a:p>
            <a:r>
              <a:t>- AIMA 4e, Sections 2.3 and 2.4.</a:t>
            </a:r>
          </a:p>
        </p:txBody>
      </p:sp>
      <p:sp>
        <p:nvSpPr>
          <p:cNvPr id="802"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26DC38-AC4A-47A5-BC96-9ECC5386D888}"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3" name="PlaceHolder 1"/>
          <p:cNvSpPr>
            <a:spLocks noGrp="1" noRot="1" noChangeAspect="1"/>
          </p:cNvSpPr>
          <p:nvPr>
            <p:ph type="sldImg"/>
          </p:nvPr>
        </p:nvSpPr>
        <p:spPr>
          <a:xfrm>
            <a:off x="685800" y="1143000"/>
            <a:ext cx="5485680" cy="3085560"/>
          </a:xfrm>
          <a:prstGeom prst="rect">
            <a:avLst/>
          </a:prstGeom>
          <a:ln w="0">
            <a:noFill/>
          </a:ln>
        </p:spPr>
      </p:sp>
      <p:sp>
        <p:nvSpPr>
          <p:cNvPr id="8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12 minutes</a:t>
            </a:r>
          </a:p>
          <a:p>
            <a:r>
              <a:t>Chapter alignment: Applied Section 2.3.1</a:t>
            </a:r>
          </a:p>
          <a:p>
            <a:endParaRPr/>
          </a:p>
          <a:p>
            <a:r>
              <a:t>[Read-Aloud Script]</a:t>
            </a:r>
          </a:p>
          <a:p>
            <a:endParaRPr/>
          </a:p>
          <a:p>
            <a:r>
              <a:t>We are going to pause the lecture and specify a task before discussing an implementation. Each group will choose one system: autonomous Pac-Man, a campus chatbot, an email phishing triage agent, or a robotic delivery cart.</a:t>
            </a:r>
          </a:p>
          <a:p>
            <a:endParaRPr/>
          </a:p>
          <a:p>
            <a: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p>
          <a:p>
            <a:endParaRPr/>
          </a:p>
          <a:p>
            <a:r>
              <a:t>After PEAS, classify the environment on at least three dimensions and recommend an agent design. Be prepared to explain why the design matches the environment. You have approximately eight minutes, followed by short reports.</a:t>
            </a:r>
          </a:p>
          <a:p>
            <a:endParaRPr/>
          </a:p>
          <a:p>
            <a: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p>
          <a:p>
            <a:endParaRPr/>
          </a:p>
          <a:p>
            <a: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p>
          <a:p>
            <a:endParaRPr/>
          </a:p>
          <a:p>
            <a:r>
              <a:t>[Instructor Cue]</a:t>
            </a:r>
          </a:p>
          <a:p>
            <a:r>
              <a:t>Activity flow: 1 minute setup, 8 minutes group work, 3 minutes reports. Instructor answer prompts: Pac-Man—score/survival, maze, moves, game state; chatbot—accuracy/resolution, users/systems, response/escalation, prompts/context; phishing—detection/false positives, mail environment, label/quarantine/alert, headers/body/links/attachments; cart—safe timely delivery, campus paths/people/weather, motors/brakes/signals, camera/lidar/GPS.</a:t>
            </a:r>
          </a:p>
          <a:p>
            <a:endParaRPr/>
          </a:p>
          <a:p>
            <a:r>
              <a:t>[Transition]</a:t>
            </a:r>
          </a:p>
          <a:p>
            <a:r>
              <a:t>We will now apply the same vocabulary to the autonomous Pac-Man program used in the class demonstration.</a:t>
            </a:r>
          </a:p>
          <a:p>
            <a:endParaRPr/>
          </a:p>
          <a:p>
            <a:r>
              <a:t>[Sources]</a:t>
            </a:r>
          </a:p>
          <a:p>
            <a:r>
              <a:t>- AIMA 4e, Section 2.3.1; lecture deck activity.</a:t>
            </a:r>
          </a:p>
        </p:txBody>
      </p:sp>
      <p:sp>
        <p:nvSpPr>
          <p:cNvPr id="805"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3E3E5F-0F37-4B37-8AA7-F9280C547175}" type="slidenum">
              <a:rPr lang="en-US" sz="1200" b="0" u="none" strike="noStrike">
                <a:solidFill>
                  <a:schemeClr val="dk1"/>
                </a:solidFill>
                <a:effectLst/>
                <a:uFillTx/>
                <a:latin typeface="+mn-lt"/>
                <a:ea typeface="+mn-ea"/>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noRot="1" noChangeAspect="1"/>
          </p:cNvSpPr>
          <p:nvPr>
            <p:ph type="sldImg"/>
          </p:nvPr>
        </p:nvSpPr>
        <p:spPr>
          <a:xfrm>
            <a:off x="685800" y="1143000"/>
            <a:ext cx="5485680" cy="3085560"/>
          </a:xfrm>
          <a:prstGeom prst="rect">
            <a:avLst/>
          </a:prstGeom>
          <a:ln w="0">
            <a:noFill/>
          </a:ln>
        </p:spPr>
      </p:sp>
      <p:sp>
        <p:nvSpPr>
          <p:cNvPr id="8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10 minutes</a:t>
            </a:r>
          </a:p>
          <a:p>
            <a:r>
              <a:t>Chapter alignment: Applied Sections 2.1-2.4.6</a:t>
            </a:r>
          </a:p>
          <a:p>
            <a:endParaRPr/>
          </a:p>
          <a:p>
            <a:r>
              <a:t>[Read-Aloud Script]</a:t>
            </a:r>
          </a:p>
          <a:p>
            <a:endParaRPr/>
          </a:p>
          <a:p>
            <a: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p>
          <a:p>
            <a:endParaRPr/>
          </a:p>
          <a:p>
            <a: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p>
          <a:p>
            <a:endParaRPr/>
          </a:p>
          <a:p>
            <a: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p>
          <a:p>
            <a:endParaRPr/>
          </a:p>
          <a:p>
            <a: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p>
          <a:p>
            <a:endParaRPr/>
          </a:p>
          <a:p>
            <a:r>
              <a:t>This demonstration illustrates why the textbook categories can overlap in real code. The program does not need to fit one pure box. The categories help us identify which information is explicit and which decision mechanism is being used.</a:t>
            </a:r>
          </a:p>
          <a:p>
            <a:endParaRPr/>
          </a:p>
          <a:p>
            <a:r>
              <a:t>After this vocabulary mapping, the next slide identifies the live code files. The point of the live demo is not to teach Pygame. The point is to show that the visual environment can remain fixed while the agent program changes. That separation reinforces the Chapter 2 formula: agent equals architecture plus program.</a:t>
            </a:r>
          </a:p>
          <a:p>
            <a:endParaRPr/>
          </a:p>
          <a:p>
            <a:r>
              <a:t>[Instructor Cue]</a:t>
            </a:r>
          </a:p>
          <a:p>
            <a:r>
              <a:t>Pause the program at least twice. Ask students to predict the selected action and justify it using percepts, goal, utility, or internal state. Restart once to show that changing ghost behavior can change outcomes.</a:t>
            </a:r>
          </a:p>
          <a:p>
            <a:endParaRPr/>
          </a:p>
          <a:p>
            <a:r>
              <a:t>[Transition]</a:t>
            </a:r>
          </a:p>
          <a:p>
            <a:r>
              <a:t>Next, we will connect the live Pac-Man behavior to the specific Python agent files that implement the Chapter 2 agent designs.</a:t>
            </a:r>
          </a:p>
          <a:p>
            <a:endParaRPr/>
          </a:p>
          <a:p>
            <a:r>
              <a:t>[Sources]</a:t>
            </a:r>
          </a:p>
          <a:p>
            <a:r>
              <a:t>- AIMA 4e, Sections 2.1-2.4.6; autonomous Pac-Man classroom code.</a:t>
            </a:r>
          </a:p>
        </p:txBody>
      </p:sp>
      <p:sp>
        <p:nvSpPr>
          <p:cNvPr id="808"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5FBB11-8270-4F63-876D-B274AE50ED4C}" type="slidenum">
              <a:rPr lang="en-US" sz="1200" b="0" u="none" strike="noStrike">
                <a:solidFill>
                  <a:schemeClr val="dk1"/>
                </a:solidFill>
                <a:effectLst/>
                <a:uFillTx/>
                <a:latin typeface="+mn-lt"/>
                <a:ea typeface="+mn-ea"/>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Suggested time: 10 minutes</a:t>
            </a:r>
          </a:p>
          <a:p>
            <a:r>
              <a:t>Chapter alignment: Live demonstration files; Section 2.4 agent program designs</a:t>
            </a:r>
          </a:p>
          <a:p>
            <a:endParaRPr/>
          </a:p>
          <a:p>
            <a:r>
              <a:t>[Read-Aloud Script]</a:t>
            </a:r>
          </a:p>
          <a:p>
            <a:endParaRPr/>
          </a:p>
          <a:p>
            <a: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p>
          <a:p>
            <a:endParaRPr/>
          </a:p>
          <a:p>
            <a: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p>
          <a:p>
            <a:endParaRPr/>
          </a:p>
          <a:p>
            <a:r>
              <a:t>Start with 01_simple_reflex_agent_ch2.py. Point out that the decision method receives only the current percept and applies ordered condition-action rules. It has no memory, model, goal, utility function, or learning component.</a:t>
            </a:r>
          </a:p>
          <a:p>
            <a:endParaRPr/>
          </a:p>
          <a:p>
            <a:r>
              <a:t>Then use 02_model_based_reflex_agent_ch2.py. Show the InternalState structure and the transition_model, sensor_model, update_state, and choose_action methods. This agent still fires reflex rules, but those rules operate on an updated internal state instead of the current percept alone.</a:t>
            </a:r>
          </a:p>
          <a:p>
            <a:endParaRPr/>
          </a:p>
          <a:p>
            <a:r>
              <a:t>Next use 03_goal_based_agent_ch2.py. Show formulate_goal, make_plan, and choose_action. The agent selects a desired future state, creates an action sequence, and executes the first step. Treat the path-planning helper as a black box for now; the search algorithm itself belongs to Chapter 3.</a:t>
            </a:r>
          </a:p>
          <a:p>
            <a:endParaRPr/>
          </a:p>
          <a:p>
            <a:r>
              <a:t>Then use 04_utility_based_agent_ch2.py. Show expected_utility and choose_action. This agent does not commit to a single stored plan. It evaluates legal actions by expected desirability, including food reward, movement cost, and ghost risk, then chooses the action with maximum expected utility.</a:t>
            </a:r>
          </a:p>
          <a:p>
            <a:endParaRPr/>
          </a:p>
          <a:p>
            <a:r>
              <a:t>Finally use 05_learning_agent_ch2.py. Show the four Chapter 2 learning-agent components: performance_element, learning_element, critic, and problem_generator. The performance element chooses actions; the critic supplies feedback; the learning element modifies future preferences; and the problem generator encourages exploration.</a:t>
            </a:r>
          </a:p>
          <a:p>
            <a:endParaRPr/>
          </a:p>
          <a:p>
            <a:r>
              <a:t>The teaching sequence is one through five. After each run, ask the same question: what information did this agent use that the previous one did not? That comparison keeps the demonstration anchored in Chapter 2 rather than turning it into a programming exercise.</a:t>
            </a:r>
          </a:p>
          <a:p>
            <a:endParaRPr/>
          </a:p>
          <a:p>
            <a:r>
              <a:t>[Instructor Cue]</a:t>
            </a:r>
          </a:p>
          <a:p>
            <a:r>
              <a:t>Run the files in order. Keep the engine file closed unless students ask about sensors or actuators. The code section to project is the agent class in each numbered file.</a:t>
            </a:r>
          </a:p>
          <a:p>
            <a:endParaRPr/>
          </a:p>
          <a:p>
            <a:r>
              <a:t>[Transition]</a:t>
            </a:r>
          </a:p>
          <a:p>
            <a:r>
              <a:t>After the code demonstration, we will return to the planning video boundary and separate Chapter 2 concepts from Chapter 3 algorithms.</a:t>
            </a:r>
          </a:p>
          <a:p>
            <a:endParaRPr/>
          </a:p>
          <a:p>
            <a:r>
              <a:t>[Sources]</a:t>
            </a:r>
          </a:p>
          <a:p>
            <a:r>
              <a:t>- Uploaded files: pacman_chapter2_engine.py and 01-05 *_agent_ch2.py.</a:t>
            </a:r>
          </a:p>
          <a:p>
            <a:r>
              <a:t>- AIMA Chapter 2, Sections 2.4.1-2.4.6.</a:t>
            </a:r>
          </a:p>
        </p:txBody>
      </p:sp>
      <p:sp>
        <p:nvSpPr>
          <p:cNvPr id="4" name="Slide Number Placeholder 3"/>
          <p:cNvSpPr>
            <a:spLocks noGrp="1"/>
          </p:cNvSpPr>
          <p:nvPr>
            <p:ph type="sldNum" idx="3"/>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 name="PlaceHolder 1"/>
          <p:cNvSpPr>
            <a:spLocks noGrp="1" noRot="1" noChangeAspect="1"/>
          </p:cNvSpPr>
          <p:nvPr>
            <p:ph type="sldImg"/>
          </p:nvPr>
        </p:nvSpPr>
        <p:spPr>
          <a:xfrm>
            <a:off x="685800" y="1143000"/>
            <a:ext cx="5485680" cy="3085560"/>
          </a:xfrm>
          <a:prstGeom prst="rect">
            <a:avLst/>
          </a:prstGeom>
          <a:ln w="0">
            <a:noFill/>
          </a:ln>
        </p:spPr>
      </p:sp>
      <p:sp>
        <p:nvSpPr>
          <p:cNvPr id="81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boundary and course sequencing</a:t>
            </a:r>
          </a:p>
          <a:p>
            <a:endParaRPr/>
          </a:p>
          <a:p>
            <a:r>
              <a:t>[Read-Aloud Script]</a:t>
            </a:r>
          </a:p>
          <a:p>
            <a:endParaRPr/>
          </a:p>
          <a:p>
            <a: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p>
          <a:p>
            <a:endParaRPr/>
          </a:p>
          <a:p>
            <a:r>
              <a:t>After approximately eleven minutes, the lecture begins formal search problem formulation: state spaces, start states, successor functions, goal tests, search trees, depth-first search, breadth-first search, and uniform-cost search. Those topics belong to Chapter 3.</a:t>
            </a:r>
          </a:p>
          <a:p>
            <a:endParaRPr/>
          </a:p>
          <a:p>
            <a: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p>
          <a:p>
            <a:endParaRPr/>
          </a:p>
          <a:p>
            <a:r>
              <a:t>[Instructor Cue]</a:t>
            </a:r>
          </a:p>
          <a:p>
            <a:r>
              <a:t>Instructor pacing note: play the early segment during this lecture and save the full search material for the next deck.</a:t>
            </a:r>
          </a:p>
          <a:p>
            <a:endParaRPr/>
          </a:p>
          <a:p>
            <a:r>
              <a:t>[Transition]</a:t>
            </a:r>
          </a:p>
          <a:p>
            <a:r>
              <a:t>We will close by compressing the chapter into a small set of design rules.</a:t>
            </a:r>
          </a:p>
          <a:p>
            <a:endParaRPr/>
          </a:p>
          <a:p>
            <a:r>
              <a:t>[Sources]</a:t>
            </a:r>
          </a:p>
          <a:p>
            <a:r>
              <a:t>- Planning video transcript, approximately 1:19 onward.</a:t>
            </a:r>
          </a:p>
          <a:p>
            <a:r>
              <a:t>- AIMA 4e, Section 2.4.4.</a:t>
            </a:r>
          </a:p>
        </p:txBody>
      </p:sp>
      <p:sp>
        <p:nvSpPr>
          <p:cNvPr id="811"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398F21B-2056-46B7-8462-4475BB47141A}" type="slidenum">
              <a:rPr lang="en-US" sz="1200" b="0" u="none" strike="noStrike">
                <a:solidFill>
                  <a:schemeClr val="dk1"/>
                </a:solidFill>
                <a:effectLst/>
                <a:uFillTx/>
                <a:latin typeface="+mn-lt"/>
                <a:ea typeface="+mn-ea"/>
              </a:rPr>
              <a:t>45</a:t>
            </a:fld>
            <a:endParaRPr lang="en-US" sz="12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Bibliographical and Historical Notes</a:t>
            </a:r>
          </a:p>
          <a:p>
            <a:endParaRPr/>
          </a:p>
          <a:p>
            <a:r>
              <a:t>[Read-Aloud Script]</a:t>
            </a:r>
          </a:p>
          <a:p>
            <a:endParaRPr/>
          </a:p>
          <a:p>
            <a:r>
              <a:t>Before the summary, a short slide on lineage. Upper-division students benefit from knowing that these ideas have addresses, and it makes the reading list navigable.</a:t>
            </a:r>
          </a:p>
          <a:p>
            <a:endParaRPr/>
          </a:p>
          <a:p>
            <a:r>
              <a:t>The idea that action sits at the centre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p>
          <a:p>
            <a:endParaRPr/>
          </a:p>
          <a:p>
            <a: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p>
          <a:p>
            <a:endParaRPr/>
          </a:p>
          <a:p>
            <a: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neighbouring discipline already did.</a:t>
            </a:r>
          </a:p>
          <a:p>
            <a:endParaRPr/>
          </a:p>
          <a:p>
            <a:r>
              <a:t>The bottom line is worth saying out loud. For most of its history AI concentrated on isolated components — question answerers, theorem provers, vision systems — rather than whole agents. Genesereth and Nilsson in 1987 were an influential exception. The whole-agent view that organizes this entire course is comparatively recent, and it now runs through software engineering, operating systems, and a dedicated conference series in AAMAS.</a:t>
            </a:r>
          </a:p>
          <a:p>
            <a:endParaRPr/>
          </a:p>
          <a:p>
            <a:r>
              <a:t>[Instructor Cue]</a:t>
            </a:r>
          </a:p>
          <a:p>
            <a:r>
              <a:t>Point students to one entry as optional reading if they want to go deeper; Doyle (1983) is short and makes a good discussion piece.</a:t>
            </a:r>
          </a:p>
          <a:p>
            <a:endParaRPr/>
          </a:p>
          <a:p>
            <a:r>
              <a:t>[Transition]</a:t>
            </a:r>
          </a:p>
          <a:p>
            <a:r>
              <a:t>That is the chapter. Let us collect the points you should be able to use.</a:t>
            </a:r>
          </a:p>
          <a:p>
            <a:endParaRPr/>
          </a:p>
          <a:p>
            <a:r>
              <a:t>[Sources]</a:t>
            </a:r>
          </a:p>
          <a:p>
            <a:r>
              <a:t>- AIMA 4e, Chapter 2, Bibliographical and Historical Notes.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noRot="1" noChangeAspect="1"/>
          </p:cNvSpPr>
          <p:nvPr>
            <p:ph type="sldImg"/>
          </p:nvPr>
        </p:nvSpPr>
        <p:spPr>
          <a:xfrm>
            <a:off x="685800" y="1143000"/>
            <a:ext cx="5485680" cy="3085560"/>
          </a:xfrm>
          <a:prstGeom prst="rect">
            <a:avLst/>
          </a:prstGeom>
          <a:ln w="0">
            <a:noFill/>
          </a:ln>
        </p:spPr>
      </p:sp>
      <p:sp>
        <p:nvSpPr>
          <p:cNvPr id="81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Chapter summary</a:t>
            </a:r>
          </a:p>
          <a:p>
            <a:endParaRPr/>
          </a:p>
          <a:p>
            <a:r>
              <a:t>[Read-Aloud Script]</a:t>
            </a:r>
          </a:p>
          <a:p>
            <a:endParaRPr/>
          </a:p>
          <a:p>
            <a:r>
              <a:t>Chapter 2 presents AI as the science and engineering of agent design. An agent perceives an environment through sensors and acts through actuators. The agent function maps percept sequences to actions, while the agent program implements that mapping on an architecture.</a:t>
            </a:r>
          </a:p>
          <a:p>
            <a:endParaRPr/>
          </a:p>
          <a:p>
            <a: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p>
          <a:p>
            <a:endParaRPr/>
          </a:p>
          <a:p>
            <a: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p>
          <a:p>
            <a:endParaRPr/>
          </a:p>
          <a:p>
            <a: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p>
          <a:p>
            <a:endParaRPr/>
          </a:p>
          <a:p>
            <a:r>
              <a:t>Finally, internal representations can be atomic, factored, or structured. More expressive representations describe richer worlds but usually require more complex reasoning.</a:t>
            </a:r>
          </a:p>
          <a:p>
            <a:endParaRPr/>
          </a:p>
          <a:p>
            <a:r>
              <a:t>The complete workflow is: define the agent, specify the task, classify the environment, and choose the design. The next unit begins with goal-based agents and develops search algorithms for finding action sequences.</a:t>
            </a:r>
          </a:p>
          <a:p>
            <a:endParaRPr/>
          </a:p>
          <a:p>
            <a:r>
              <a:t>[Instructor Cue]</a:t>
            </a:r>
          </a:p>
          <a:p>
            <a:r>
              <a:t>Closing retrieval check: ask students to define PEAS, name the six agent designs covered in the deck, and explain one environment property that forces a more capable agent design.</a:t>
            </a:r>
          </a:p>
          <a:p>
            <a:endParaRPr/>
          </a:p>
          <a:p>
            <a:r>
              <a:t>[Sources]</a:t>
            </a:r>
          </a:p>
          <a:p>
            <a:r>
              <a:t>- AIMA 4e, Chapter 2 summary.</a:t>
            </a:r>
          </a:p>
        </p:txBody>
      </p:sp>
      <p:sp>
        <p:nvSpPr>
          <p:cNvPr id="814"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1328DC-1983-4CBC-A3A7-D7253ADC7506}" type="slidenum">
              <a:rPr lang="en-US" sz="1200" b="0" u="none" strike="noStrike">
                <a:solidFill>
                  <a:schemeClr val="dk1"/>
                </a:solidFill>
                <a:effectLst/>
                <a:uFillTx/>
                <a:latin typeface="+mn-lt"/>
                <a:ea typeface="+mn-ea"/>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Default 1">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p>
        </p:txBody>
      </p:sp>
      <p:sp>
        <p:nvSpPr>
          <p:cNvPr id="6"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 name="Shape 0"/>
          <p:cNvSpPr/>
          <p:nvPr/>
        </p:nvSpPr>
        <p:spPr>
          <a:xfrm>
            <a:off x="0" y="0"/>
            <a:ext cx="12191040" cy="6857280"/>
          </a:xfrm>
          <a:prstGeom prst="rect">
            <a:avLst/>
          </a:prstGeom>
          <a:solidFill>
            <a:srgbClr val="F2F6FA"/>
          </a:solidFill>
          <a:ln w="12700">
            <a:solidFill>
              <a:srgbClr val="F2F6F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 name="Shape 1"/>
          <p:cNvSpPr/>
          <p:nvPr/>
        </p:nvSpPr>
        <p:spPr>
          <a:xfrm>
            <a:off x="0" y="0"/>
            <a:ext cx="12191040" cy="10508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 name="Shape 2"/>
          <p:cNvSpPr/>
          <p:nvPr/>
        </p:nvSpPr>
        <p:spPr>
          <a:xfrm>
            <a:off x="0" y="1051560"/>
            <a:ext cx="12191040" cy="8172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16" name="Text 3"/>
          <p:cNvSpPr/>
          <p:nvPr/>
        </p:nvSpPr>
        <p:spPr>
          <a:xfrm>
            <a:off x="685800" y="311040"/>
            <a:ext cx="2010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17" name="Text 4"/>
          <p:cNvSpPr/>
          <p:nvPr/>
        </p:nvSpPr>
        <p:spPr>
          <a:xfrm>
            <a:off x="685800" y="1828800"/>
            <a:ext cx="987480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18" name="Text 5"/>
          <p:cNvSpPr/>
          <p:nvPr/>
        </p:nvSpPr>
        <p:spPr>
          <a:xfrm>
            <a:off x="713160" y="2541960"/>
            <a:ext cx="7497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19" name="Shape 6"/>
          <p:cNvSpPr/>
          <p:nvPr/>
        </p:nvSpPr>
        <p:spPr>
          <a:xfrm>
            <a:off x="960120" y="3886200"/>
            <a:ext cx="1553760" cy="1553760"/>
          </a:xfrm>
          <a:prstGeom prst="ellipse">
            <a:avLst/>
          </a:prstGeom>
          <a:solidFill>
            <a:srgbClr val="2B6CB0"/>
          </a:solidFill>
          <a:ln w="12700">
            <a:solidFill>
              <a:srgbClr val="2B6CB0"/>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 name="Text 7"/>
          <p:cNvSpPr/>
          <p:nvPr/>
        </p:nvSpPr>
        <p:spPr>
          <a:xfrm>
            <a:off x="960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1" name="Shape 8"/>
          <p:cNvSpPr/>
          <p:nvPr/>
        </p:nvSpPr>
        <p:spPr>
          <a:xfrm>
            <a:off x="283464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 name="Shape 9"/>
          <p:cNvSpPr/>
          <p:nvPr/>
        </p:nvSpPr>
        <p:spPr>
          <a:xfrm>
            <a:off x="4343400" y="3886200"/>
            <a:ext cx="1553760" cy="1553760"/>
          </a:xfrm>
          <a:prstGeom prst="ellipse">
            <a:avLst/>
          </a:prstGeom>
          <a:solidFill>
            <a:srgbClr val="048A97"/>
          </a:solidFill>
          <a:ln w="12700">
            <a:solidFill>
              <a:srgbClr val="048A97"/>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10"/>
          <p:cNvSpPr/>
          <p:nvPr/>
        </p:nvSpPr>
        <p:spPr>
          <a:xfrm>
            <a:off x="434340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4" name="Shape 11"/>
          <p:cNvSpPr/>
          <p:nvPr/>
        </p:nvSpPr>
        <p:spPr>
          <a:xfrm>
            <a:off x="621792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12"/>
          <p:cNvSpPr/>
          <p:nvPr/>
        </p:nvSpPr>
        <p:spPr>
          <a:xfrm>
            <a:off x="7818120" y="3886200"/>
            <a:ext cx="1553760" cy="1553760"/>
          </a:xfrm>
          <a:prstGeom prst="ellipse">
            <a:avLst/>
          </a:prstGeom>
          <a:solidFill>
            <a:srgbClr val="1B7A45"/>
          </a:solidFill>
          <a:ln w="12700">
            <a:solidFill>
              <a:srgbClr val="1B7A45"/>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13"/>
          <p:cNvSpPr/>
          <p:nvPr/>
        </p:nvSpPr>
        <p:spPr>
          <a:xfrm>
            <a:off x="7818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27" name="Text 14"/>
          <p:cNvSpPr/>
          <p:nvPr/>
        </p:nvSpPr>
        <p:spPr>
          <a:xfrm>
            <a:off x="713160" y="5916240"/>
            <a:ext cx="1088064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a:t>
            </a:r>
          </a:p>
        </p:txBody>
      </p:sp>
      <p:sp>
        <p:nvSpPr>
          <p:cNvPr id="34" name="Shape 6"/>
          <p:cNvSpPr/>
          <p:nvPr/>
        </p:nvSpPr>
        <p:spPr>
          <a:xfrm>
            <a:off x="658440" y="1234440"/>
            <a:ext cx="301680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 name="Text 7"/>
          <p:cNvSpPr/>
          <p:nvPr/>
        </p:nvSpPr>
        <p:spPr>
          <a:xfrm>
            <a:off x="822960" y="1380600"/>
            <a:ext cx="2687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6" name="Text 8"/>
          <p:cNvSpPr/>
          <p:nvPr/>
        </p:nvSpPr>
        <p:spPr>
          <a:xfrm>
            <a:off x="822960" y="1710000"/>
            <a:ext cx="268776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37" name="Shape 9"/>
          <p:cNvSpPr/>
          <p:nvPr/>
        </p:nvSpPr>
        <p:spPr>
          <a:xfrm>
            <a:off x="3886200" y="1234440"/>
            <a:ext cx="37940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Text 10"/>
          <p:cNvSpPr/>
          <p:nvPr/>
        </p:nvSpPr>
        <p:spPr>
          <a:xfrm>
            <a:off x="4050720" y="1380600"/>
            <a:ext cx="3465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39" name="Text 11"/>
          <p:cNvSpPr/>
          <p:nvPr/>
        </p:nvSpPr>
        <p:spPr>
          <a:xfrm>
            <a:off x="4050720" y="1710000"/>
            <a:ext cx="34650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0" name="Shape 12"/>
          <p:cNvSpPr/>
          <p:nvPr/>
        </p:nvSpPr>
        <p:spPr>
          <a:xfrm>
            <a:off x="7900560" y="1234440"/>
            <a:ext cx="35654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 name="Text 13"/>
          <p:cNvSpPr/>
          <p:nvPr/>
        </p:nvSpPr>
        <p:spPr>
          <a:xfrm>
            <a:off x="806508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Teaching move</a:t>
            </a:r>
            <a:endParaRPr lang="en-US" sz="1500" b="0" u="none" strike="noStrike">
              <a:solidFill>
                <a:srgbClr val="000000"/>
              </a:solidFill>
              <a:effectLst/>
              <a:uFillTx/>
              <a:latin typeface="Arial"/>
            </a:endParaRPr>
          </a:p>
        </p:txBody>
      </p:sp>
      <p:sp>
        <p:nvSpPr>
          <p:cNvPr id="42" name="Text 14"/>
          <p:cNvSpPr/>
          <p:nvPr/>
        </p:nvSpPr>
        <p:spPr>
          <a:xfrm>
            <a:off x="8065080" y="1710000"/>
            <a:ext cx="32364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3" name="Shape 15"/>
          <p:cNvSpPr/>
          <p:nvPr/>
        </p:nvSpPr>
        <p:spPr>
          <a:xfrm>
            <a:off x="1005840" y="4297680"/>
            <a:ext cx="1024128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4" name="Text 16"/>
          <p:cNvSpPr/>
          <p:nvPr/>
        </p:nvSpPr>
        <p:spPr>
          <a:xfrm>
            <a:off x="1005840" y="4526280"/>
            <a:ext cx="10240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5" name="Text 17"/>
          <p:cNvSpPr/>
          <p:nvPr/>
        </p:nvSpPr>
        <p:spPr>
          <a:xfrm>
            <a:off x="1005840" y="5010840"/>
            <a:ext cx="10240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5E7088"/>
                </a:solidFill>
                <a:effectLst/>
                <a:uFillTx/>
                <a:latin typeface="Aptos"/>
              </a:rPr>
              <a:t>Use this as a quick poll before formal definitions.</a:t>
            </a:r>
            <a:endParaRPr lang="en-US"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a:t>
            </a:r>
          </a:p>
        </p:txBody>
      </p:sp>
      <p:sp>
        <p:nvSpPr>
          <p:cNvPr id="52" name="Text 6"/>
          <p:cNvSpPr/>
          <p:nvPr/>
        </p:nvSpPr>
        <p:spPr>
          <a:xfrm>
            <a:off x="777240" y="1234440"/>
            <a:ext cx="5942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3" name="Shape 7"/>
          <p:cNvSpPr/>
          <p:nvPr/>
        </p:nvSpPr>
        <p:spPr>
          <a:xfrm>
            <a:off x="96012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 name="Text 8"/>
          <p:cNvSpPr/>
          <p:nvPr/>
        </p:nvSpPr>
        <p:spPr>
          <a:xfrm>
            <a:off x="112464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5" name="Text 9"/>
          <p:cNvSpPr/>
          <p:nvPr/>
        </p:nvSpPr>
        <p:spPr>
          <a:xfrm>
            <a:off x="112464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6" name="Shape 10"/>
          <p:cNvSpPr/>
          <p:nvPr/>
        </p:nvSpPr>
        <p:spPr>
          <a:xfrm>
            <a:off x="640080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7" name="Text 11"/>
          <p:cNvSpPr/>
          <p:nvPr/>
        </p:nvSpPr>
        <p:spPr>
          <a:xfrm>
            <a:off x="656532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58" name="Text 12"/>
          <p:cNvSpPr/>
          <p:nvPr/>
        </p:nvSpPr>
        <p:spPr>
          <a:xfrm>
            <a:off x="656532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59" name="Shape 13"/>
          <p:cNvSpPr/>
          <p:nvPr/>
        </p:nvSpPr>
        <p:spPr>
          <a:xfrm>
            <a:off x="96012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 name="Text 14"/>
          <p:cNvSpPr/>
          <p:nvPr/>
        </p:nvSpPr>
        <p:spPr>
          <a:xfrm>
            <a:off x="112464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1" name="Text 15"/>
          <p:cNvSpPr/>
          <p:nvPr/>
        </p:nvSpPr>
        <p:spPr>
          <a:xfrm>
            <a:off x="112464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2" name="Shape 16"/>
          <p:cNvSpPr/>
          <p:nvPr/>
        </p:nvSpPr>
        <p:spPr>
          <a:xfrm>
            <a:off x="640080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17"/>
          <p:cNvSpPr/>
          <p:nvPr/>
        </p:nvSpPr>
        <p:spPr>
          <a:xfrm>
            <a:off x="656532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4" name="Text 18"/>
          <p:cNvSpPr/>
          <p:nvPr/>
        </p:nvSpPr>
        <p:spPr>
          <a:xfrm>
            <a:off x="656532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5" name="Shape 19"/>
          <p:cNvSpPr/>
          <p:nvPr/>
        </p:nvSpPr>
        <p:spPr>
          <a:xfrm>
            <a:off x="6236280" y="3730680"/>
            <a:ext cx="4735800" cy="1443960"/>
          </a:xfrm>
          <a:prstGeom prst="roundRect">
            <a:avLst>
              <a:gd name="adj" fmla="val 4430"/>
            </a:avLst>
          </a:prstGeom>
          <a:noFill/>
          <a:ln w="381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6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a:t>
            </a:r>
          </a:p>
        </p:txBody>
      </p:sp>
      <p:sp>
        <p:nvSpPr>
          <p:cNvPr id="72" name="Shape 6"/>
          <p:cNvSpPr/>
          <p:nvPr/>
        </p:nvSpPr>
        <p:spPr>
          <a:xfrm>
            <a:off x="50292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3" name="Text 7"/>
          <p:cNvSpPr/>
          <p:nvPr/>
        </p:nvSpPr>
        <p:spPr>
          <a:xfrm>
            <a:off x="66744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4" name="Text 8"/>
          <p:cNvSpPr/>
          <p:nvPr/>
        </p:nvSpPr>
        <p:spPr>
          <a:xfrm>
            <a:off x="66744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5" name="Shape 9"/>
          <p:cNvSpPr/>
          <p:nvPr/>
        </p:nvSpPr>
        <p:spPr>
          <a:xfrm>
            <a:off x="429768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10"/>
          <p:cNvSpPr/>
          <p:nvPr/>
        </p:nvSpPr>
        <p:spPr>
          <a:xfrm>
            <a:off x="446220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77" name="Text 11"/>
          <p:cNvSpPr/>
          <p:nvPr/>
        </p:nvSpPr>
        <p:spPr>
          <a:xfrm>
            <a:off x="446220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78" name="Shape 12"/>
          <p:cNvSpPr/>
          <p:nvPr/>
        </p:nvSpPr>
        <p:spPr>
          <a:xfrm>
            <a:off x="809244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3"/>
          <p:cNvSpPr/>
          <p:nvPr/>
        </p:nvSpPr>
        <p:spPr>
          <a:xfrm>
            <a:off x="825696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0" name="Text 14"/>
          <p:cNvSpPr/>
          <p:nvPr/>
        </p:nvSpPr>
        <p:spPr>
          <a:xfrm>
            <a:off x="825696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1" name="Shape 15"/>
          <p:cNvSpPr/>
          <p:nvPr/>
        </p:nvSpPr>
        <p:spPr>
          <a:xfrm>
            <a:off x="50292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16"/>
          <p:cNvSpPr/>
          <p:nvPr/>
        </p:nvSpPr>
        <p:spPr>
          <a:xfrm>
            <a:off x="66744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3" name="Text 17"/>
          <p:cNvSpPr/>
          <p:nvPr/>
        </p:nvSpPr>
        <p:spPr>
          <a:xfrm>
            <a:off x="66744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4" name="Shape 18"/>
          <p:cNvSpPr/>
          <p:nvPr/>
        </p:nvSpPr>
        <p:spPr>
          <a:xfrm>
            <a:off x="429768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9"/>
          <p:cNvSpPr/>
          <p:nvPr/>
        </p:nvSpPr>
        <p:spPr>
          <a:xfrm>
            <a:off x="446220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6" name="Text 20"/>
          <p:cNvSpPr/>
          <p:nvPr/>
        </p:nvSpPr>
        <p:spPr>
          <a:xfrm>
            <a:off x="446220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87" name="Shape 21"/>
          <p:cNvSpPr/>
          <p:nvPr/>
        </p:nvSpPr>
        <p:spPr>
          <a:xfrm>
            <a:off x="809244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22"/>
          <p:cNvSpPr/>
          <p:nvPr/>
        </p:nvSpPr>
        <p:spPr>
          <a:xfrm>
            <a:off x="825696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89" name="Text 23"/>
          <p:cNvSpPr/>
          <p:nvPr/>
        </p:nvSpPr>
        <p:spPr>
          <a:xfrm>
            <a:off x="825696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0" name="Text 24"/>
          <p:cNvSpPr/>
          <p:nvPr/>
        </p:nvSpPr>
        <p:spPr>
          <a:xfrm>
            <a:off x="685800" y="4892040"/>
            <a:ext cx="10880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Teaching flow: intuition -&gt; formal model -&gt; environment classification -&gt; agent architecture -&gt; demo.</a:t>
            </a:r>
            <a:endParaRPr lang="en-U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5</a:t>
            </a:r>
          </a:p>
        </p:txBody>
      </p:sp>
      <p:sp>
        <p:nvSpPr>
          <p:cNvPr id="97" name="Text 9"/>
          <p:cNvSpPr/>
          <p:nvPr/>
        </p:nvSpPr>
        <p:spPr>
          <a:xfrm>
            <a:off x="1883160" y="2715840"/>
            <a:ext cx="607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98" name="Text 18"/>
          <p:cNvSpPr/>
          <p:nvPr/>
        </p:nvSpPr>
        <p:spPr>
          <a:xfrm>
            <a:off x="7818120" y="1371600"/>
            <a:ext cx="34740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99" name="Text 19"/>
          <p:cNvSpPr/>
          <p:nvPr/>
        </p:nvSpPr>
        <p:spPr>
          <a:xfrm>
            <a:off x="7818120" y="1874520"/>
            <a:ext cx="3748320" cy="12337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0000" lnSpcReduction="19999"/>
          </a:bodyPr>
          <a:lstStyle/>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0" name="Image 0" descr="/mnt/data/ch2_docx_unzipped/word/media/image1.png"/>
          <p:cNvPicPr/>
          <p:nvPr/>
        </p:nvPicPr>
        <p:blipFill>
          <a:blip r:embed="rId3"/>
          <a:stretch/>
        </p:blipFill>
        <p:spPr>
          <a:xfrm>
            <a:off x="970560" y="1143000"/>
            <a:ext cx="5887080" cy="4240080"/>
          </a:xfrm>
          <a:prstGeom prst="rect">
            <a:avLst/>
          </a:prstGeom>
          <a:noFill/>
          <a:ln w="0">
            <a:noFill/>
          </a:ln>
        </p:spPr>
      </p:pic>
      <p:sp>
        <p:nvSpPr>
          <p:cNvPr id="101" name="Text 20"/>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6</a:t>
            </a:r>
          </a:p>
        </p:txBody>
      </p:sp>
      <p:sp>
        <p:nvSpPr>
          <p:cNvPr id="108" name="Shape 6"/>
          <p:cNvSpPr/>
          <p:nvPr/>
        </p:nvSpPr>
        <p:spPr>
          <a:xfrm>
            <a:off x="6584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 name="Text 7"/>
          <p:cNvSpPr/>
          <p:nvPr/>
        </p:nvSpPr>
        <p:spPr>
          <a:xfrm>
            <a:off x="8229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0" name="Text 8"/>
          <p:cNvSpPr/>
          <p:nvPr/>
        </p:nvSpPr>
        <p:spPr>
          <a:xfrm>
            <a:off x="8229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1" name="Shape 9"/>
          <p:cNvSpPr/>
          <p:nvPr/>
        </p:nvSpPr>
        <p:spPr>
          <a:xfrm>
            <a:off x="345636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 name="Text 10"/>
          <p:cNvSpPr/>
          <p:nvPr/>
        </p:nvSpPr>
        <p:spPr>
          <a:xfrm>
            <a:off x="362088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3" name="Text 11"/>
          <p:cNvSpPr/>
          <p:nvPr/>
        </p:nvSpPr>
        <p:spPr>
          <a:xfrm>
            <a:off x="362088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4" name="Shape 12"/>
          <p:cNvSpPr/>
          <p:nvPr/>
        </p:nvSpPr>
        <p:spPr>
          <a:xfrm>
            <a:off x="62636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 name="Text 13"/>
          <p:cNvSpPr/>
          <p:nvPr/>
        </p:nvSpPr>
        <p:spPr>
          <a:xfrm>
            <a:off x="64281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6" name="Text 14"/>
          <p:cNvSpPr/>
          <p:nvPr/>
        </p:nvSpPr>
        <p:spPr>
          <a:xfrm>
            <a:off x="64281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17" name="Shape 15"/>
          <p:cNvSpPr/>
          <p:nvPr/>
        </p:nvSpPr>
        <p:spPr>
          <a:xfrm>
            <a:off x="907092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Text 16"/>
          <p:cNvSpPr/>
          <p:nvPr/>
        </p:nvSpPr>
        <p:spPr>
          <a:xfrm>
            <a:off x="923544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19" name="Text 17"/>
          <p:cNvSpPr/>
          <p:nvPr/>
        </p:nvSpPr>
        <p:spPr>
          <a:xfrm>
            <a:off x="923544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0" name="Shape 18"/>
          <p:cNvSpPr/>
          <p:nvPr/>
        </p:nvSpPr>
        <p:spPr>
          <a:xfrm>
            <a:off x="1920240" y="3246120"/>
            <a:ext cx="8046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21" name="Text 19"/>
          <p:cNvSpPr/>
          <p:nvPr/>
        </p:nvSpPr>
        <p:spPr>
          <a:xfrm>
            <a:off x="2148840" y="2834640"/>
            <a:ext cx="21024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2" name="Text 20"/>
          <p:cNvSpPr/>
          <p:nvPr/>
        </p:nvSpPr>
        <p:spPr>
          <a:xfrm>
            <a:off x="8046720" y="2834640"/>
            <a:ext cx="12794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3" name="Text 21"/>
          <p:cNvSpPr/>
          <p:nvPr/>
        </p:nvSpPr>
        <p:spPr>
          <a:xfrm>
            <a:off x="1051560" y="3977640"/>
            <a:ext cx="28339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4" name="Text 22"/>
          <p:cNvSpPr/>
          <p:nvPr/>
        </p:nvSpPr>
        <p:spPr>
          <a:xfrm>
            <a:off x="1051560" y="4443840"/>
            <a:ext cx="9966240" cy="71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5" name="Text 23"/>
          <p:cNvSpPr/>
          <p:nvPr/>
        </p:nvSpPr>
        <p:spPr>
          <a:xfrm>
            <a:off x="1051560" y="5669280"/>
            <a:ext cx="99662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05" name="Shape 5"/>
          <p:cNvSpPr/>
          <p:nvPr/>
        </p:nvSpPr>
        <p:spPr>
          <a:xfrm>
            <a:off x="86868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907" name="Shape 7"/>
          <p:cNvSpPr/>
          <p:nvPr/>
        </p:nvSpPr>
        <p:spPr>
          <a:xfrm>
            <a:off x="132588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Shape 8"/>
          <p:cNvSpPr/>
          <p:nvPr/>
        </p:nvSpPr>
        <p:spPr>
          <a:xfrm>
            <a:off x="356616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32588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910" name="Text 10"/>
          <p:cNvSpPr/>
          <p:nvPr/>
        </p:nvSpPr>
        <p:spPr>
          <a:xfrm>
            <a:off x="356616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911" name="Shape 11"/>
          <p:cNvSpPr/>
          <p:nvPr/>
        </p:nvSpPr>
        <p:spPr>
          <a:xfrm>
            <a:off x="1874520" y="2377440"/>
            <a:ext cx="822960" cy="658368"/>
          </a:xfrm>
          <a:prstGeom prst="roundRect">
            <a:avLst>
              <a:gd name="adj" fmla="val 25000"/>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1874520" y="2377440"/>
            <a:ext cx="822960"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913" name="Shape 13"/>
          <p:cNvSpPr/>
          <p:nvPr/>
        </p:nvSpPr>
        <p:spPr>
          <a:xfrm>
            <a:off x="3977640" y="24688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434840" y="278892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92040" y="242316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Shape 16"/>
          <p:cNvSpPr/>
          <p:nvPr/>
        </p:nvSpPr>
        <p:spPr>
          <a:xfrm>
            <a:off x="4206240" y="29260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3566160" y="2999232"/>
            <a:ext cx="1920240"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918" name="Text 18"/>
          <p:cNvSpPr/>
          <p:nvPr/>
        </p:nvSpPr>
        <p:spPr>
          <a:xfrm>
            <a:off x="1033272" y="3474720"/>
            <a:ext cx="4745736"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50" b="0" u="none" strike="noStrike">
              <a:solidFill>
                <a:srgbClr val="000000"/>
              </a:solidFill>
              <a:effectLst/>
              <a:uFillTx/>
              <a:latin typeface="Arial"/>
            </a:endParaRPr>
          </a:p>
        </p:txBody>
      </p:sp>
      <p:sp>
        <p:nvSpPr>
          <p:cNvPr id="919" name="Text 19"/>
          <p:cNvSpPr/>
          <p:nvPr/>
        </p:nvSpPr>
        <p:spPr>
          <a:xfrm>
            <a:off x="1033272" y="4133088"/>
            <a:ext cx="474573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35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Suck, NoOp.  The agent starts in A.</a:t>
            </a:r>
            <a:endParaRPr lang="en-US" sz="1350" b="0" u="none" strike="noStrike">
              <a:solidFill>
                <a:srgbClr val="000000"/>
              </a:solidFill>
              <a:effectLst/>
              <a:uFillTx/>
              <a:latin typeface="Arial"/>
            </a:endParaRPr>
          </a:p>
        </p:txBody>
      </p:sp>
      <p:sp>
        <p:nvSpPr>
          <p:cNvPr id="920" name="Shape 20"/>
          <p:cNvSpPr/>
          <p:nvPr/>
        </p:nvSpPr>
        <p:spPr>
          <a:xfrm>
            <a:off x="621792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1" name="Text 21"/>
          <p:cNvSpPr/>
          <p:nvPr/>
        </p:nvSpPr>
        <p:spPr>
          <a:xfrm>
            <a:off x="638251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922" name="Shape 22"/>
          <p:cNvSpPr/>
          <p:nvPr/>
        </p:nvSpPr>
        <p:spPr>
          <a:xfrm>
            <a:off x="6382512" y="1700784"/>
            <a:ext cx="4745736" cy="310896"/>
          </a:xfrm>
          <a:prstGeom prst="roundRect">
            <a:avLst>
              <a:gd name="adj" fmla="val 12000"/>
            </a:avLst>
          </a:prstGeom>
          <a:solidFill>
            <a:srgbClr val="E4ECF5"/>
          </a:solidFill>
          <a:ln w="12700">
            <a:solidFill>
              <a:srgbClr val="E4ECF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Text 23"/>
          <p:cNvSpPr/>
          <p:nvPr/>
        </p:nvSpPr>
        <p:spPr>
          <a:xfrm>
            <a:off x="6492240" y="1700784"/>
            <a:ext cx="324612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924" name="Text 24"/>
          <p:cNvSpPr/>
          <p:nvPr/>
        </p:nvSpPr>
        <p:spPr>
          <a:xfrm>
            <a:off x="9829800" y="1700784"/>
            <a:ext cx="1298448"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925" name="Text 25"/>
          <p:cNvSpPr/>
          <p:nvPr/>
        </p:nvSpPr>
        <p:spPr>
          <a:xfrm>
            <a:off x="6492240" y="21031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926" name="Text 26"/>
          <p:cNvSpPr/>
          <p:nvPr/>
        </p:nvSpPr>
        <p:spPr>
          <a:xfrm>
            <a:off x="9829800" y="21031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27" name="Shape 27"/>
          <p:cNvSpPr/>
          <p:nvPr/>
        </p:nvSpPr>
        <p:spPr>
          <a:xfrm>
            <a:off x="6382512" y="243230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Text 28"/>
          <p:cNvSpPr/>
          <p:nvPr/>
        </p:nvSpPr>
        <p:spPr>
          <a:xfrm>
            <a:off x="6492240" y="246888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929" name="Text 29"/>
          <p:cNvSpPr/>
          <p:nvPr/>
        </p:nvSpPr>
        <p:spPr>
          <a:xfrm>
            <a:off x="9829800" y="246888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0" name="Text 30"/>
          <p:cNvSpPr/>
          <p:nvPr/>
        </p:nvSpPr>
        <p:spPr>
          <a:xfrm>
            <a:off x="6492240" y="283464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931" name="Text 31"/>
          <p:cNvSpPr/>
          <p:nvPr/>
        </p:nvSpPr>
        <p:spPr>
          <a:xfrm>
            <a:off x="9829800" y="283464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932" name="Shape 32"/>
          <p:cNvSpPr/>
          <p:nvPr/>
        </p:nvSpPr>
        <p:spPr>
          <a:xfrm>
            <a:off x="6382512" y="316382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3" name="Text 33"/>
          <p:cNvSpPr/>
          <p:nvPr/>
        </p:nvSpPr>
        <p:spPr>
          <a:xfrm>
            <a:off x="6492240" y="320040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934" name="Text 34"/>
          <p:cNvSpPr/>
          <p:nvPr/>
        </p:nvSpPr>
        <p:spPr>
          <a:xfrm>
            <a:off x="9829800" y="320040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5" name="Text 35"/>
          <p:cNvSpPr/>
          <p:nvPr/>
        </p:nvSpPr>
        <p:spPr>
          <a:xfrm>
            <a:off x="6492240" y="356616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936" name="Text 36"/>
          <p:cNvSpPr/>
          <p:nvPr/>
        </p:nvSpPr>
        <p:spPr>
          <a:xfrm>
            <a:off x="9829800" y="356616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37" name="Shape 37"/>
          <p:cNvSpPr/>
          <p:nvPr/>
        </p:nvSpPr>
        <p:spPr>
          <a:xfrm>
            <a:off x="6382512" y="389534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8" name="Text 38"/>
          <p:cNvSpPr/>
          <p:nvPr/>
        </p:nvSpPr>
        <p:spPr>
          <a:xfrm>
            <a:off x="6492240" y="39319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939" name="Text 39"/>
          <p:cNvSpPr/>
          <p:nvPr/>
        </p:nvSpPr>
        <p:spPr>
          <a:xfrm>
            <a:off x="9829800" y="39319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40" name="Text 40"/>
          <p:cNvSpPr/>
          <p:nvPr/>
        </p:nvSpPr>
        <p:spPr>
          <a:xfrm>
            <a:off x="6492240" y="4315968"/>
            <a:ext cx="448056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941" name="Text 41"/>
          <p:cNvSpPr/>
          <p:nvPr/>
        </p:nvSpPr>
        <p:spPr>
          <a:xfrm>
            <a:off x="914400" y="513892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942" name="Text 42"/>
          <p:cNvSpPr/>
          <p:nvPr/>
        </p:nvSpPr>
        <p:spPr>
          <a:xfrm>
            <a:off x="1005840" y="5614416"/>
            <a:ext cx="1014984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behaviour; the agent program is what we actually have to write.</a:t>
            </a:r>
            <a:endParaRPr lang="en-US" sz="1400" b="0" u="none" strike="noStrike">
              <a:solidFill>
                <a:srgbClr val="000000"/>
              </a:solidFill>
              <a:effectLst/>
              <a:uFillTx/>
              <a:latin typeface="Arial"/>
            </a:endParaRPr>
          </a:p>
        </p:txBody>
      </p:sp>
      <p:sp>
        <p:nvSpPr>
          <p:cNvPr id="943" name="Text 43"/>
          <p:cNvSpPr/>
          <p:nvPr/>
        </p:nvSpPr>
        <p:spPr>
          <a:xfrm>
            <a:off x="475488" y="6309360"/>
            <a:ext cx="2743200"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944" name="Text 44"/>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5" name="Text 45"/>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2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3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8</a:t>
            </a:r>
          </a:p>
        </p:txBody>
      </p:sp>
      <p:sp>
        <p:nvSpPr>
          <p:cNvPr id="132" name="Text 6"/>
          <p:cNvSpPr/>
          <p:nvPr/>
        </p:nvSpPr>
        <p:spPr>
          <a:xfrm>
            <a:off x="777240" y="1143000"/>
            <a:ext cx="1069776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33" name="Shape 7"/>
          <p:cNvSpPr/>
          <p:nvPr/>
        </p:nvSpPr>
        <p:spPr>
          <a:xfrm>
            <a:off x="9144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8"/>
          <p:cNvSpPr/>
          <p:nvPr/>
        </p:nvSpPr>
        <p:spPr>
          <a:xfrm>
            <a:off x="10789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35" name="Text 9"/>
          <p:cNvSpPr/>
          <p:nvPr/>
        </p:nvSpPr>
        <p:spPr>
          <a:xfrm>
            <a:off x="10789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36" name="Shape 10"/>
          <p:cNvSpPr/>
          <p:nvPr/>
        </p:nvSpPr>
        <p:spPr>
          <a:xfrm>
            <a:off x="61722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11"/>
          <p:cNvSpPr/>
          <p:nvPr/>
        </p:nvSpPr>
        <p:spPr>
          <a:xfrm>
            <a:off x="63367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38" name="Text 12"/>
          <p:cNvSpPr/>
          <p:nvPr/>
        </p:nvSpPr>
        <p:spPr>
          <a:xfrm>
            <a:off x="63367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39" name="Shape 13"/>
          <p:cNvSpPr/>
          <p:nvPr/>
        </p:nvSpPr>
        <p:spPr>
          <a:xfrm>
            <a:off x="9144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0" name="Text 14"/>
          <p:cNvSpPr/>
          <p:nvPr/>
        </p:nvSpPr>
        <p:spPr>
          <a:xfrm>
            <a:off x="10789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41" name="Text 15"/>
          <p:cNvSpPr/>
          <p:nvPr/>
        </p:nvSpPr>
        <p:spPr>
          <a:xfrm>
            <a:off x="10789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42" name="Shape 16"/>
          <p:cNvSpPr/>
          <p:nvPr/>
        </p:nvSpPr>
        <p:spPr>
          <a:xfrm>
            <a:off x="61722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3" name="Text 17"/>
          <p:cNvSpPr/>
          <p:nvPr/>
        </p:nvSpPr>
        <p:spPr>
          <a:xfrm>
            <a:off x="63367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44" name="Text 18"/>
          <p:cNvSpPr/>
          <p:nvPr/>
        </p:nvSpPr>
        <p:spPr>
          <a:xfrm>
            <a:off x="63367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45" name="Text 19"/>
          <p:cNvSpPr/>
          <p:nvPr/>
        </p:nvSpPr>
        <p:spPr>
          <a:xfrm>
            <a:off x="914400" y="5166360"/>
            <a:ext cx="10332000" cy="43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905" name="Shape 5"/>
          <p:cNvSpPr/>
          <p:nvPr/>
        </p:nvSpPr>
        <p:spPr>
          <a:xfrm>
            <a:off x="86868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907" name="Text 7"/>
          <p:cNvSpPr/>
          <p:nvPr/>
        </p:nvSpPr>
        <p:spPr>
          <a:xfrm>
            <a:off x="103327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908" name="Shape 8"/>
          <p:cNvSpPr/>
          <p:nvPr/>
        </p:nvSpPr>
        <p:spPr>
          <a:xfrm>
            <a:off x="621792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638251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910" name="Text 10"/>
          <p:cNvSpPr/>
          <p:nvPr/>
        </p:nvSpPr>
        <p:spPr>
          <a:xfrm>
            <a:off x="638251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It should stop.</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911" name="Text 11"/>
          <p:cNvSpPr/>
          <p:nvPr/>
        </p:nvSpPr>
        <p:spPr>
          <a:xfrm>
            <a:off x="914400" y="48920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912" name="Text 12"/>
          <p:cNvSpPr/>
          <p:nvPr/>
        </p:nvSpPr>
        <p:spPr>
          <a:xfrm>
            <a:off x="1005840" y="539496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500"/>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913" name="Text 1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4" name="Text 1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1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10</a:t>
            </a:r>
          </a:p>
        </p:txBody>
      </p:sp>
      <p:sp>
        <p:nvSpPr>
          <p:cNvPr id="152" name="Shape 6"/>
          <p:cNvSpPr/>
          <p:nvPr/>
        </p:nvSpPr>
        <p:spPr>
          <a:xfrm>
            <a:off x="86868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3" name="Text 7"/>
          <p:cNvSpPr/>
          <p:nvPr/>
        </p:nvSpPr>
        <p:spPr>
          <a:xfrm>
            <a:off x="103320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154" name="Text 8"/>
          <p:cNvSpPr/>
          <p:nvPr/>
        </p:nvSpPr>
        <p:spPr>
          <a:xfrm>
            <a:off x="103320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155" name="Shape 9"/>
          <p:cNvSpPr/>
          <p:nvPr/>
        </p:nvSpPr>
        <p:spPr>
          <a:xfrm>
            <a:off x="644652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10"/>
          <p:cNvSpPr/>
          <p:nvPr/>
        </p:nvSpPr>
        <p:spPr>
          <a:xfrm>
            <a:off x="661104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157" name="Text 11"/>
          <p:cNvSpPr/>
          <p:nvPr/>
        </p:nvSpPr>
        <p:spPr>
          <a:xfrm>
            <a:off x="661104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158" name="Shape 12"/>
          <p:cNvSpPr/>
          <p:nvPr/>
        </p:nvSpPr>
        <p:spPr>
          <a:xfrm>
            <a:off x="5742360" y="1874520"/>
            <a:ext cx="547920" cy="54792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9" name="Text 13"/>
          <p:cNvSpPr/>
          <p:nvPr/>
        </p:nvSpPr>
        <p:spPr>
          <a:xfrm>
            <a:off x="868680" y="3977640"/>
            <a:ext cx="104234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160" name="Text 14"/>
          <p:cNvSpPr/>
          <p:nvPr/>
        </p:nvSpPr>
        <p:spPr>
          <a:xfrm>
            <a:off x="1143000" y="4507920"/>
            <a:ext cx="98748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161" name="Text 15"/>
          <p:cNvSpPr/>
          <p:nvPr/>
        </p:nvSpPr>
        <p:spPr>
          <a:xfrm>
            <a:off x="1143000" y="5212080"/>
            <a:ext cx="98748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70432"/>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245413"/>
            <a:ext cx="1009497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907" name="Text 7"/>
          <p:cNvSpPr/>
          <p:nvPr/>
        </p:nvSpPr>
        <p:spPr>
          <a:xfrm>
            <a:off x="1033272" y="1574597"/>
            <a:ext cx="10094976" cy="561442"/>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908" name="Shape 8"/>
          <p:cNvSpPr/>
          <p:nvPr/>
        </p:nvSpPr>
        <p:spPr>
          <a:xfrm>
            <a:off x="86868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910" name="Text 10"/>
          <p:cNvSpPr/>
          <p:nvPr/>
        </p:nvSpPr>
        <p:spPr>
          <a:xfrm>
            <a:off x="103327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911" name="Shape 11"/>
          <p:cNvSpPr/>
          <p:nvPr/>
        </p:nvSpPr>
        <p:spPr>
          <a:xfrm>
            <a:off x="621792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8251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913" name="Text 13"/>
          <p:cNvSpPr/>
          <p:nvPr/>
        </p:nvSpPr>
        <p:spPr>
          <a:xfrm>
            <a:off x="638251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914" name="Text 14"/>
          <p:cNvSpPr/>
          <p:nvPr/>
        </p:nvSpPr>
        <p:spPr>
          <a:xfrm>
            <a:off x="914400" y="3986784"/>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915" name="Text 15"/>
          <p:cNvSpPr/>
          <p:nvPr/>
        </p:nvSpPr>
        <p:spPr>
          <a:xfrm>
            <a:off x="1005840" y="4480560"/>
            <a:ext cx="10149840" cy="7132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916" name="Shape 16"/>
          <p:cNvSpPr/>
          <p:nvPr/>
        </p:nvSpPr>
        <p:spPr>
          <a:xfrm>
            <a:off x="868680" y="5303520"/>
            <a:ext cx="10424160" cy="960120"/>
          </a:xfrm>
          <a:prstGeom prst="roundRect">
            <a:avLst>
              <a:gd name="adj" fmla="val 4444"/>
            </a:avLst>
          </a:prstGeom>
          <a:solidFill>
            <a:srgbClr val="FDF3E3"/>
          </a:solidFill>
          <a:ln w="12700">
            <a:solidFill>
              <a:srgbClr val="F0D9A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1097280" y="5449824"/>
            <a:ext cx="996696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350" b="0" u="none" strike="noStrike">
              <a:solidFill>
                <a:srgbClr val="000000"/>
              </a:solidFill>
              <a:effectLst/>
              <a:uFillTx/>
              <a:latin typeface="Arial"/>
            </a:endParaRPr>
          </a:p>
        </p:txBody>
      </p:sp>
      <p:sp>
        <p:nvSpPr>
          <p:cNvPr id="918" name="Text 18"/>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9" name="Text 19"/>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6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6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16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6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6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12</a:t>
            </a:r>
          </a:p>
        </p:txBody>
      </p:sp>
      <p:sp>
        <p:nvSpPr>
          <p:cNvPr id="168" name="Shape 6"/>
          <p:cNvSpPr/>
          <p:nvPr/>
        </p:nvSpPr>
        <p:spPr>
          <a:xfrm>
            <a:off x="73152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9" name="Text 7"/>
          <p:cNvSpPr/>
          <p:nvPr/>
        </p:nvSpPr>
        <p:spPr>
          <a:xfrm>
            <a:off x="89604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170" name="Text 8"/>
          <p:cNvSpPr/>
          <p:nvPr/>
        </p:nvSpPr>
        <p:spPr>
          <a:xfrm>
            <a:off x="89604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171" name="Shape 9"/>
          <p:cNvSpPr/>
          <p:nvPr/>
        </p:nvSpPr>
        <p:spPr>
          <a:xfrm>
            <a:off x="452628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2" name="Text 10"/>
          <p:cNvSpPr/>
          <p:nvPr/>
        </p:nvSpPr>
        <p:spPr>
          <a:xfrm>
            <a:off x="469080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173" name="Text 11"/>
          <p:cNvSpPr/>
          <p:nvPr/>
        </p:nvSpPr>
        <p:spPr>
          <a:xfrm>
            <a:off x="469080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174" name="Shape 12"/>
          <p:cNvSpPr/>
          <p:nvPr/>
        </p:nvSpPr>
        <p:spPr>
          <a:xfrm>
            <a:off x="8321040" y="1234440"/>
            <a:ext cx="31082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13"/>
          <p:cNvSpPr/>
          <p:nvPr/>
        </p:nvSpPr>
        <p:spPr>
          <a:xfrm>
            <a:off x="8485560" y="1380600"/>
            <a:ext cx="2779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176" name="Text 14"/>
          <p:cNvSpPr/>
          <p:nvPr/>
        </p:nvSpPr>
        <p:spPr>
          <a:xfrm>
            <a:off x="8485560" y="1710000"/>
            <a:ext cx="27792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177" name="Shape 15"/>
          <p:cNvSpPr/>
          <p:nvPr/>
        </p:nvSpPr>
        <p:spPr>
          <a:xfrm>
            <a:off x="1554480" y="3794760"/>
            <a:ext cx="1142280" cy="11422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8" name="Text 16"/>
          <p:cNvSpPr/>
          <p:nvPr/>
        </p:nvSpPr>
        <p:spPr>
          <a:xfrm>
            <a:off x="155448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179" name="Shape 17"/>
          <p:cNvSpPr/>
          <p:nvPr/>
        </p:nvSpPr>
        <p:spPr>
          <a:xfrm>
            <a:off x="278892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0" name="Shape 18"/>
          <p:cNvSpPr/>
          <p:nvPr/>
        </p:nvSpPr>
        <p:spPr>
          <a:xfrm>
            <a:off x="3977640" y="3794760"/>
            <a:ext cx="1142280" cy="11422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1" name="Text 19"/>
          <p:cNvSpPr/>
          <p:nvPr/>
        </p:nvSpPr>
        <p:spPr>
          <a:xfrm>
            <a:off x="397764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182" name="Shape 20"/>
          <p:cNvSpPr/>
          <p:nvPr/>
        </p:nvSpPr>
        <p:spPr>
          <a:xfrm>
            <a:off x="521208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3" name="Shape 21"/>
          <p:cNvSpPr/>
          <p:nvPr/>
        </p:nvSpPr>
        <p:spPr>
          <a:xfrm>
            <a:off x="6400800" y="3794760"/>
            <a:ext cx="1142280" cy="11422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4" name="Text 22"/>
          <p:cNvSpPr/>
          <p:nvPr/>
        </p:nvSpPr>
        <p:spPr>
          <a:xfrm>
            <a:off x="640080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185" name="Shape 23"/>
          <p:cNvSpPr/>
          <p:nvPr/>
        </p:nvSpPr>
        <p:spPr>
          <a:xfrm>
            <a:off x="763524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6" name="Shape 24"/>
          <p:cNvSpPr/>
          <p:nvPr/>
        </p:nvSpPr>
        <p:spPr>
          <a:xfrm>
            <a:off x="8823960" y="3794760"/>
            <a:ext cx="1142280" cy="11422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7" name="Text 25"/>
          <p:cNvSpPr/>
          <p:nvPr/>
        </p:nvSpPr>
        <p:spPr>
          <a:xfrm>
            <a:off x="882396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188" name="Text 26"/>
          <p:cNvSpPr/>
          <p:nvPr/>
        </p:nvSpPr>
        <p:spPr>
          <a:xfrm>
            <a:off x="914400" y="525780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905" name="Shape 5"/>
          <p:cNvSpPr/>
          <p:nvPr/>
        </p:nvSpPr>
        <p:spPr>
          <a:xfrm>
            <a:off x="86868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907" name="Text 7"/>
          <p:cNvSpPr/>
          <p:nvPr/>
        </p:nvSpPr>
        <p:spPr>
          <a:xfrm>
            <a:off x="103327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908" name="Shape 8"/>
          <p:cNvSpPr/>
          <p:nvPr/>
        </p:nvSpPr>
        <p:spPr>
          <a:xfrm>
            <a:off x="103327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16128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910" name="Shape 10"/>
          <p:cNvSpPr/>
          <p:nvPr/>
        </p:nvSpPr>
        <p:spPr>
          <a:xfrm>
            <a:off x="443484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9943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912" name="Text 12"/>
          <p:cNvSpPr/>
          <p:nvPr/>
        </p:nvSpPr>
        <p:spPr>
          <a:xfrm>
            <a:off x="459943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913" name="Shape 13"/>
          <p:cNvSpPr/>
          <p:nvPr/>
        </p:nvSpPr>
        <p:spPr>
          <a:xfrm>
            <a:off x="459943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472744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behaviour.</a:t>
            </a:r>
            <a:endParaRPr lang="en-US" sz="1200" b="0" u="none" strike="noStrike">
              <a:solidFill>
                <a:srgbClr val="000000"/>
              </a:solidFill>
              <a:effectLst/>
              <a:uFillTx/>
              <a:latin typeface="Arial"/>
            </a:endParaRPr>
          </a:p>
        </p:txBody>
      </p:sp>
      <p:sp>
        <p:nvSpPr>
          <p:cNvPr id="915" name="Shape 15"/>
          <p:cNvSpPr/>
          <p:nvPr/>
        </p:nvSpPr>
        <p:spPr>
          <a:xfrm>
            <a:off x="800100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816559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917" name="Text 17"/>
          <p:cNvSpPr/>
          <p:nvPr/>
        </p:nvSpPr>
        <p:spPr>
          <a:xfrm>
            <a:off x="816559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918" name="Shape 18"/>
          <p:cNvSpPr/>
          <p:nvPr/>
        </p:nvSpPr>
        <p:spPr>
          <a:xfrm>
            <a:off x="816559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9" name="Text 19"/>
          <p:cNvSpPr/>
          <p:nvPr/>
        </p:nvSpPr>
        <p:spPr>
          <a:xfrm>
            <a:off x="829360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920" name="Text 20"/>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921" name="Text 21"/>
          <p:cNvSpPr/>
          <p:nvPr/>
        </p:nvSpPr>
        <p:spPr>
          <a:xfrm>
            <a:off x="1005840" y="548640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behaviour becomes effectively independent of what it was told at design time.</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8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9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19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19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9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14</a:t>
            </a:r>
          </a:p>
        </p:txBody>
      </p:sp>
      <p:sp>
        <p:nvSpPr>
          <p:cNvPr id="195" name="Text 6"/>
          <p:cNvSpPr/>
          <p:nvPr/>
        </p:nvSpPr>
        <p:spPr>
          <a:xfrm>
            <a:off x="777240" y="1078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196" name="Shape 7"/>
          <p:cNvSpPr/>
          <p:nvPr/>
        </p:nvSpPr>
        <p:spPr>
          <a:xfrm>
            <a:off x="704160" y="1828800"/>
            <a:ext cx="685080" cy="6850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7" name="Text 8"/>
          <p:cNvSpPr/>
          <p:nvPr/>
        </p:nvSpPr>
        <p:spPr>
          <a:xfrm>
            <a:off x="70416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198" name="Shape 9"/>
          <p:cNvSpPr/>
          <p:nvPr/>
        </p:nvSpPr>
        <p:spPr>
          <a:xfrm>
            <a:off x="65844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9" name="Text 10"/>
          <p:cNvSpPr/>
          <p:nvPr/>
        </p:nvSpPr>
        <p:spPr>
          <a:xfrm>
            <a:off x="82296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200" name="Text 11"/>
          <p:cNvSpPr/>
          <p:nvPr/>
        </p:nvSpPr>
        <p:spPr>
          <a:xfrm>
            <a:off x="82296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201" name="Shape 12"/>
          <p:cNvSpPr/>
          <p:nvPr/>
        </p:nvSpPr>
        <p:spPr>
          <a:xfrm>
            <a:off x="3584520" y="1828800"/>
            <a:ext cx="685080" cy="6850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2" name="Text 13"/>
          <p:cNvSpPr/>
          <p:nvPr/>
        </p:nvSpPr>
        <p:spPr>
          <a:xfrm>
            <a:off x="358452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203" name="Shape 14"/>
          <p:cNvSpPr/>
          <p:nvPr/>
        </p:nvSpPr>
        <p:spPr>
          <a:xfrm>
            <a:off x="353880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4" name="Text 15"/>
          <p:cNvSpPr/>
          <p:nvPr/>
        </p:nvSpPr>
        <p:spPr>
          <a:xfrm>
            <a:off x="370332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205" name="Text 16"/>
          <p:cNvSpPr/>
          <p:nvPr/>
        </p:nvSpPr>
        <p:spPr>
          <a:xfrm>
            <a:off x="370332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206" name="Shape 17"/>
          <p:cNvSpPr/>
          <p:nvPr/>
        </p:nvSpPr>
        <p:spPr>
          <a:xfrm>
            <a:off x="6464880" y="1828800"/>
            <a:ext cx="685080" cy="6850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7" name="Text 18"/>
          <p:cNvSpPr/>
          <p:nvPr/>
        </p:nvSpPr>
        <p:spPr>
          <a:xfrm>
            <a:off x="646488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208" name="Shape 19"/>
          <p:cNvSpPr/>
          <p:nvPr/>
        </p:nvSpPr>
        <p:spPr>
          <a:xfrm>
            <a:off x="641916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9" name="Text 20"/>
          <p:cNvSpPr/>
          <p:nvPr/>
        </p:nvSpPr>
        <p:spPr>
          <a:xfrm>
            <a:off x="658368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210" name="Text 21"/>
          <p:cNvSpPr/>
          <p:nvPr/>
        </p:nvSpPr>
        <p:spPr>
          <a:xfrm>
            <a:off x="658368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Steering, accelerator, brake, signals, display, speech</a:t>
            </a:r>
            <a:endParaRPr lang="en-US" sz="1250" b="0" u="none" strike="noStrike">
              <a:solidFill>
                <a:srgbClr val="000000"/>
              </a:solidFill>
              <a:effectLst/>
              <a:uFillTx/>
              <a:latin typeface="Arial"/>
            </a:endParaRPr>
          </a:p>
        </p:txBody>
      </p:sp>
      <p:sp>
        <p:nvSpPr>
          <p:cNvPr id="211" name="Shape 22"/>
          <p:cNvSpPr/>
          <p:nvPr/>
        </p:nvSpPr>
        <p:spPr>
          <a:xfrm>
            <a:off x="9345240" y="1828800"/>
            <a:ext cx="685080" cy="6850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2" name="Text 23"/>
          <p:cNvSpPr/>
          <p:nvPr/>
        </p:nvSpPr>
        <p:spPr>
          <a:xfrm>
            <a:off x="934524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213" name="Shape 24"/>
          <p:cNvSpPr/>
          <p:nvPr/>
        </p:nvSpPr>
        <p:spPr>
          <a:xfrm>
            <a:off x="929952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4" name="Text 25"/>
          <p:cNvSpPr/>
          <p:nvPr/>
        </p:nvSpPr>
        <p:spPr>
          <a:xfrm>
            <a:off x="946404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215" name="Text 26"/>
          <p:cNvSpPr/>
          <p:nvPr/>
        </p:nvSpPr>
        <p:spPr>
          <a:xfrm>
            <a:off x="946404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216" name="Image 0" descr="/mnt/data/ch2_docx_unzipped/word/media/image3.png"/>
          <p:cNvPicPr/>
          <p:nvPr/>
        </p:nvPicPr>
        <p:blipFill>
          <a:blip r:embed="rId3"/>
          <a:stretch/>
        </p:blipFill>
        <p:spPr>
          <a:xfrm>
            <a:off x="4896360" y="4572000"/>
            <a:ext cx="2367720" cy="1142280"/>
          </a:xfrm>
          <a:prstGeom prst="rect">
            <a:avLst/>
          </a:prstGeom>
          <a:noFill/>
          <a:ln w="0">
            <a:noFill/>
          </a:ln>
        </p:spPr>
      </p:pic>
      <p:sp>
        <p:nvSpPr>
          <p:cNvPr id="217" name="Text 27"/>
          <p:cNvSpPr/>
          <p:nvPr/>
        </p:nvSpPr>
        <p:spPr>
          <a:xfrm>
            <a:off x="777240" y="589788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21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1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2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22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2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2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15</a:t>
            </a:r>
          </a:p>
        </p:txBody>
      </p:sp>
      <p:sp>
        <p:nvSpPr>
          <p:cNvPr id="225" name="Text 6"/>
          <p:cNvSpPr/>
          <p:nvPr/>
        </p:nvSpPr>
        <p:spPr>
          <a:xfrm>
            <a:off x="685800" y="1060560"/>
            <a:ext cx="108806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226" name="Image 0" descr="/mnt/data/ch2_docx_unzipped/word/media/image4.png"/>
          <p:cNvPicPr/>
          <p:nvPr/>
        </p:nvPicPr>
        <p:blipFill>
          <a:blip r:embed="rId3"/>
          <a:stretch/>
        </p:blipFill>
        <p:spPr>
          <a:xfrm>
            <a:off x="3657600" y="1691640"/>
            <a:ext cx="4692960" cy="4056480"/>
          </a:xfrm>
          <a:prstGeom prst="rect">
            <a:avLst/>
          </a:prstGeom>
          <a:noFill/>
          <a:ln w="0">
            <a:noFill/>
          </a:ln>
        </p:spPr>
      </p:pic>
      <p:sp>
        <p:nvSpPr>
          <p:cNvPr id="227" name="Text 7"/>
          <p:cNvSpPr/>
          <p:nvPr/>
        </p:nvSpPr>
        <p:spPr>
          <a:xfrm>
            <a:off x="822960" y="5806440"/>
            <a:ext cx="1056060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228"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2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2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16</a:t>
            </a:r>
          </a:p>
        </p:txBody>
      </p:sp>
      <p:sp>
        <p:nvSpPr>
          <p:cNvPr id="235" name="Shape 6"/>
          <p:cNvSpPr/>
          <p:nvPr/>
        </p:nvSpPr>
        <p:spPr>
          <a:xfrm>
            <a:off x="50292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6" name="Text 7"/>
          <p:cNvSpPr/>
          <p:nvPr/>
        </p:nvSpPr>
        <p:spPr>
          <a:xfrm>
            <a:off x="66744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237" name="Text 8"/>
          <p:cNvSpPr/>
          <p:nvPr/>
        </p:nvSpPr>
        <p:spPr>
          <a:xfrm>
            <a:off x="66744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238" name="Shape 9"/>
          <p:cNvSpPr/>
          <p:nvPr/>
        </p:nvSpPr>
        <p:spPr>
          <a:xfrm>
            <a:off x="338328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9" name="Text 10"/>
          <p:cNvSpPr/>
          <p:nvPr/>
        </p:nvSpPr>
        <p:spPr>
          <a:xfrm>
            <a:off x="354780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240" name="Text 11"/>
          <p:cNvSpPr/>
          <p:nvPr/>
        </p:nvSpPr>
        <p:spPr>
          <a:xfrm>
            <a:off x="354780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241" name="Shape 12"/>
          <p:cNvSpPr/>
          <p:nvPr/>
        </p:nvSpPr>
        <p:spPr>
          <a:xfrm>
            <a:off x="626364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2" name="Text 13"/>
          <p:cNvSpPr/>
          <p:nvPr/>
        </p:nvSpPr>
        <p:spPr>
          <a:xfrm>
            <a:off x="642816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243" name="Text 14"/>
          <p:cNvSpPr/>
          <p:nvPr/>
        </p:nvSpPr>
        <p:spPr>
          <a:xfrm>
            <a:off x="642816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244" name="Shape 15"/>
          <p:cNvSpPr/>
          <p:nvPr/>
        </p:nvSpPr>
        <p:spPr>
          <a:xfrm>
            <a:off x="914400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5" name="Text 16"/>
          <p:cNvSpPr/>
          <p:nvPr/>
        </p:nvSpPr>
        <p:spPr>
          <a:xfrm>
            <a:off x="930852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246" name="Text 17"/>
          <p:cNvSpPr/>
          <p:nvPr/>
        </p:nvSpPr>
        <p:spPr>
          <a:xfrm>
            <a:off x="930852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247" name="Shape 18"/>
          <p:cNvSpPr/>
          <p:nvPr/>
        </p:nvSpPr>
        <p:spPr>
          <a:xfrm>
            <a:off x="50292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8" name="Text 19"/>
          <p:cNvSpPr/>
          <p:nvPr/>
        </p:nvSpPr>
        <p:spPr>
          <a:xfrm>
            <a:off x="66744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249" name="Text 20"/>
          <p:cNvSpPr/>
          <p:nvPr/>
        </p:nvSpPr>
        <p:spPr>
          <a:xfrm>
            <a:off x="66744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250" name="Shape 21"/>
          <p:cNvSpPr/>
          <p:nvPr/>
        </p:nvSpPr>
        <p:spPr>
          <a:xfrm>
            <a:off x="338328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1" name="Text 22"/>
          <p:cNvSpPr/>
          <p:nvPr/>
        </p:nvSpPr>
        <p:spPr>
          <a:xfrm>
            <a:off x="354780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252" name="Text 23"/>
          <p:cNvSpPr/>
          <p:nvPr/>
        </p:nvSpPr>
        <p:spPr>
          <a:xfrm>
            <a:off x="354780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253" name="Shape 24"/>
          <p:cNvSpPr/>
          <p:nvPr/>
        </p:nvSpPr>
        <p:spPr>
          <a:xfrm>
            <a:off x="626364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4" name="Text 25"/>
          <p:cNvSpPr/>
          <p:nvPr/>
        </p:nvSpPr>
        <p:spPr>
          <a:xfrm>
            <a:off x="642816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255" name="Text 26"/>
          <p:cNvSpPr/>
          <p:nvPr/>
        </p:nvSpPr>
        <p:spPr>
          <a:xfrm>
            <a:off x="642816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256" name="Image 0" descr="/mnt/data/ch2_docx_unzipped/word/media/image5.png"/>
          <p:cNvPicPr/>
          <p:nvPr/>
        </p:nvPicPr>
        <p:blipFill>
          <a:blip r:embed="rId3"/>
          <a:stretch/>
        </p:blipFill>
        <p:spPr>
          <a:xfrm>
            <a:off x="3657600" y="3886200"/>
            <a:ext cx="3548160" cy="2057400"/>
          </a:xfrm>
          <a:prstGeom prst="rect">
            <a:avLst/>
          </a:prstGeom>
          <a:noFill/>
          <a:ln w="0">
            <a:noFill/>
          </a:ln>
        </p:spPr>
      </p:pic>
      <p:sp>
        <p:nvSpPr>
          <p:cNvPr id="257" name="Text 27"/>
          <p:cNvSpPr/>
          <p:nvPr/>
        </p:nvSpPr>
        <p:spPr>
          <a:xfrm>
            <a:off x="685800" y="5906880"/>
            <a:ext cx="108806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25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Shape 5"/>
          <p:cNvSpPr/>
          <p:nvPr/>
        </p:nvSpPr>
        <p:spPr>
          <a:xfrm>
            <a:off x="86868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907" name="Text 7"/>
          <p:cNvSpPr/>
          <p:nvPr/>
        </p:nvSpPr>
        <p:spPr>
          <a:xfrm>
            <a:off x="103327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908" name="Shape 8"/>
          <p:cNvSpPr/>
          <p:nvPr/>
        </p:nvSpPr>
        <p:spPr>
          <a:xfrm>
            <a:off x="443484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459943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910" name="Text 10"/>
          <p:cNvSpPr/>
          <p:nvPr/>
        </p:nvSpPr>
        <p:spPr>
          <a:xfrm>
            <a:off x="459943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behaviour.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911" name="Shape 11"/>
          <p:cNvSpPr/>
          <p:nvPr/>
        </p:nvSpPr>
        <p:spPr>
          <a:xfrm>
            <a:off x="800100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816559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913" name="Text 13"/>
          <p:cNvSpPr/>
          <p:nvPr/>
        </p:nvSpPr>
        <p:spPr>
          <a:xfrm>
            <a:off x="816559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914" name="Shape 14"/>
          <p:cNvSpPr/>
          <p:nvPr/>
        </p:nvSpPr>
        <p:spPr>
          <a:xfrm>
            <a:off x="868680" y="4617720"/>
            <a:ext cx="10424160" cy="8686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1097280" y="4754880"/>
            <a:ext cx="996696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350" b="0" u="none" strike="noStrike">
              <a:solidFill>
                <a:srgbClr val="000000"/>
              </a:solidFill>
              <a:effectLst/>
              <a:uFillTx/>
              <a:latin typeface="Arial"/>
            </a:endParaRPr>
          </a:p>
        </p:txBody>
      </p:sp>
      <p:sp>
        <p:nvSpPr>
          <p:cNvPr id="916" name="Text 16"/>
          <p:cNvSpPr/>
          <p:nvPr/>
        </p:nvSpPr>
        <p:spPr>
          <a:xfrm>
            <a:off x="1005840" y="5715000"/>
            <a:ext cx="1014984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917" name="Text 17"/>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8" name="Text 18"/>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Text 5"/>
          <p:cNvSpPr/>
          <p:nvPr/>
        </p:nvSpPr>
        <p:spPr>
          <a:xfrm>
            <a:off x="246888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906" name="Text 6"/>
          <p:cNvSpPr/>
          <p:nvPr/>
        </p:nvSpPr>
        <p:spPr>
          <a:xfrm>
            <a:off x="690372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907" name="Shape 7"/>
          <p:cNvSpPr/>
          <p:nvPr/>
        </p:nvSpPr>
        <p:spPr>
          <a:xfrm>
            <a:off x="246888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Text 8"/>
          <p:cNvSpPr/>
          <p:nvPr/>
        </p:nvSpPr>
        <p:spPr>
          <a:xfrm>
            <a:off x="265176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909" name="Text 9"/>
          <p:cNvSpPr/>
          <p:nvPr/>
        </p:nvSpPr>
        <p:spPr>
          <a:xfrm>
            <a:off x="265176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910" name="Shape 10"/>
          <p:cNvSpPr/>
          <p:nvPr/>
        </p:nvSpPr>
        <p:spPr>
          <a:xfrm>
            <a:off x="690372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708660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912" name="Text 12"/>
          <p:cNvSpPr/>
          <p:nvPr/>
        </p:nvSpPr>
        <p:spPr>
          <a:xfrm>
            <a:off x="708660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913" name="Shape 13"/>
          <p:cNvSpPr/>
          <p:nvPr/>
        </p:nvSpPr>
        <p:spPr>
          <a:xfrm>
            <a:off x="246888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265176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915" name="Text 15"/>
          <p:cNvSpPr/>
          <p:nvPr/>
        </p:nvSpPr>
        <p:spPr>
          <a:xfrm>
            <a:off x="265176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916" name="Shape 16"/>
          <p:cNvSpPr/>
          <p:nvPr/>
        </p:nvSpPr>
        <p:spPr>
          <a:xfrm>
            <a:off x="690372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708660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918" name="Text 18"/>
          <p:cNvSpPr/>
          <p:nvPr/>
        </p:nvSpPr>
        <p:spPr>
          <a:xfrm>
            <a:off x="708660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919" name="Shape 19"/>
          <p:cNvSpPr/>
          <p:nvPr/>
        </p:nvSpPr>
        <p:spPr>
          <a:xfrm>
            <a:off x="868680" y="14813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868680" y="14813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921" name="Shape 21"/>
          <p:cNvSpPr/>
          <p:nvPr/>
        </p:nvSpPr>
        <p:spPr>
          <a:xfrm>
            <a:off x="868680" y="33101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868680" y="33101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923" name="Text 23"/>
          <p:cNvSpPr/>
          <p:nvPr/>
        </p:nvSpPr>
        <p:spPr>
          <a:xfrm>
            <a:off x="914400" y="523036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924" name="Text 24"/>
          <p:cNvSpPr/>
          <p:nvPr/>
        </p:nvSpPr>
        <p:spPr>
          <a:xfrm>
            <a:off x="1005840" y="5687568"/>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925" name="Text 25"/>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6" name="Text 26"/>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5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6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26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26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6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19</a:t>
            </a:r>
          </a:p>
        </p:txBody>
      </p:sp>
      <p:sp>
        <p:nvSpPr>
          <p:cNvPr id="265" name="Shape 6"/>
          <p:cNvSpPr/>
          <p:nvPr/>
        </p:nvSpPr>
        <p:spPr>
          <a:xfrm>
            <a:off x="685800" y="1234440"/>
            <a:ext cx="5394240" cy="2879640"/>
          </a:xfrm>
          <a:prstGeom prst="rect">
            <a:avLst/>
          </a:prstGeom>
          <a:solidFill>
            <a:srgbClr val="000000"/>
          </a:solidFill>
          <a:ln w="127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6" name="Shape 7"/>
          <p:cNvSpPr/>
          <p:nvPr/>
        </p:nvSpPr>
        <p:spPr>
          <a:xfrm>
            <a:off x="960120" y="1508760"/>
            <a:ext cx="4845600" cy="1965240"/>
          </a:xfrm>
          <a:prstGeom prst="rect">
            <a:avLst/>
          </a:prstGeom>
          <a:noFill/>
          <a:ln w="16510">
            <a:solidFill>
              <a:srgbClr val="0738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7" name="Shape 8"/>
          <p:cNvSpPr/>
          <p:nvPr/>
        </p:nvSpPr>
        <p:spPr>
          <a:xfrm>
            <a:off x="114300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68" name="Shape 9"/>
          <p:cNvSpPr/>
          <p:nvPr/>
        </p:nvSpPr>
        <p:spPr>
          <a:xfrm>
            <a:off x="114300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69" name="Shape 10"/>
          <p:cNvSpPr/>
          <p:nvPr/>
        </p:nvSpPr>
        <p:spPr>
          <a:xfrm>
            <a:off x="150876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0" name="Shape 11"/>
          <p:cNvSpPr/>
          <p:nvPr/>
        </p:nvSpPr>
        <p:spPr>
          <a:xfrm>
            <a:off x="150876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1" name="Shape 12"/>
          <p:cNvSpPr/>
          <p:nvPr/>
        </p:nvSpPr>
        <p:spPr>
          <a:xfrm>
            <a:off x="187452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2" name="Shape 13"/>
          <p:cNvSpPr/>
          <p:nvPr/>
        </p:nvSpPr>
        <p:spPr>
          <a:xfrm>
            <a:off x="187452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3" name="Shape 14"/>
          <p:cNvSpPr/>
          <p:nvPr/>
        </p:nvSpPr>
        <p:spPr>
          <a:xfrm>
            <a:off x="224028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4" name="Shape 15"/>
          <p:cNvSpPr/>
          <p:nvPr/>
        </p:nvSpPr>
        <p:spPr>
          <a:xfrm>
            <a:off x="224028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5" name="Shape 16"/>
          <p:cNvSpPr/>
          <p:nvPr/>
        </p:nvSpPr>
        <p:spPr>
          <a:xfrm>
            <a:off x="260604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6" name="Shape 17"/>
          <p:cNvSpPr/>
          <p:nvPr/>
        </p:nvSpPr>
        <p:spPr>
          <a:xfrm>
            <a:off x="260604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7" name="Shape 18"/>
          <p:cNvSpPr/>
          <p:nvPr/>
        </p:nvSpPr>
        <p:spPr>
          <a:xfrm>
            <a:off x="297180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8" name="Shape 19"/>
          <p:cNvSpPr/>
          <p:nvPr/>
        </p:nvSpPr>
        <p:spPr>
          <a:xfrm>
            <a:off x="297180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79" name="Shape 20"/>
          <p:cNvSpPr/>
          <p:nvPr/>
        </p:nvSpPr>
        <p:spPr>
          <a:xfrm>
            <a:off x="333756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0" name="Shape 21"/>
          <p:cNvSpPr/>
          <p:nvPr/>
        </p:nvSpPr>
        <p:spPr>
          <a:xfrm>
            <a:off x="333756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1" name="Shape 22"/>
          <p:cNvSpPr/>
          <p:nvPr/>
        </p:nvSpPr>
        <p:spPr>
          <a:xfrm>
            <a:off x="370332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2" name="Shape 23"/>
          <p:cNvSpPr/>
          <p:nvPr/>
        </p:nvSpPr>
        <p:spPr>
          <a:xfrm>
            <a:off x="370332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3" name="Shape 24"/>
          <p:cNvSpPr/>
          <p:nvPr/>
        </p:nvSpPr>
        <p:spPr>
          <a:xfrm>
            <a:off x="406908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4" name="Shape 25"/>
          <p:cNvSpPr/>
          <p:nvPr/>
        </p:nvSpPr>
        <p:spPr>
          <a:xfrm>
            <a:off x="406908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5" name="Shape 26"/>
          <p:cNvSpPr/>
          <p:nvPr/>
        </p:nvSpPr>
        <p:spPr>
          <a:xfrm>
            <a:off x="443484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6" name="Shape 27"/>
          <p:cNvSpPr/>
          <p:nvPr/>
        </p:nvSpPr>
        <p:spPr>
          <a:xfrm>
            <a:off x="443484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7" name="Shape 28"/>
          <p:cNvSpPr/>
          <p:nvPr/>
        </p:nvSpPr>
        <p:spPr>
          <a:xfrm>
            <a:off x="480060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8" name="Shape 29"/>
          <p:cNvSpPr/>
          <p:nvPr/>
        </p:nvSpPr>
        <p:spPr>
          <a:xfrm>
            <a:off x="480060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89" name="Shape 30"/>
          <p:cNvSpPr/>
          <p:nvPr/>
        </p:nvSpPr>
        <p:spPr>
          <a:xfrm>
            <a:off x="5166360" y="182880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90" name="Shape 31"/>
          <p:cNvSpPr/>
          <p:nvPr/>
        </p:nvSpPr>
        <p:spPr>
          <a:xfrm>
            <a:off x="5166360" y="3017520"/>
            <a:ext cx="63360" cy="63360"/>
          </a:xfrm>
          <a:prstGeom prst="ellipse">
            <a:avLst/>
          </a:prstGeom>
          <a:solidFill>
            <a:srgbClr val="FFFFFF"/>
          </a:solidFill>
          <a:ln w="12700">
            <a:solidFill>
              <a:srgbClr val="FFFFFF"/>
            </a:solidFill>
            <a:round/>
          </a:ln>
        </p:spPr>
        <p:style>
          <a:lnRef idx="0">
            <a:scrgbClr r="0" g="0" b="0"/>
          </a:lnRef>
          <a:fillRef idx="0">
            <a:scrgbClr r="0" g="0" b="0"/>
          </a:fillRef>
          <a:effectRef idx="0">
            <a:scrgbClr r="0" g="0" b="0"/>
          </a:effectRef>
          <a:fontRef idx="minor"/>
        </p:style>
        <p:txBody>
          <a:bodyPr lIns="31680" tIns="0" rIns="31680" bIns="0" anchor="t">
            <a:noAutofit/>
          </a:bodyPr>
          <a:lstStyle/>
          <a:p>
            <a:endParaRPr lang="en-US" sz="1800" b="0" u="none" strike="noStrike">
              <a:solidFill>
                <a:srgbClr val="000000"/>
              </a:solidFill>
              <a:effectLst/>
              <a:uFillTx/>
              <a:latin typeface="Arial"/>
            </a:endParaRPr>
          </a:p>
        </p:txBody>
      </p:sp>
      <p:sp>
        <p:nvSpPr>
          <p:cNvPr id="291" name="Shape 32"/>
          <p:cNvSpPr/>
          <p:nvPr/>
        </p:nvSpPr>
        <p:spPr>
          <a:xfrm>
            <a:off x="2514600" y="2423160"/>
            <a:ext cx="410760" cy="410760"/>
          </a:xfrm>
          <a:prstGeom prst="arc">
            <a:avLst>
              <a:gd name="adj1" fmla="val 16200000"/>
              <a:gd name="adj2" fmla="val 0"/>
            </a:avLst>
          </a:prstGeom>
          <a:solidFill>
            <a:srgbClr val="FFE600"/>
          </a:solidFill>
          <a:ln w="12700">
            <a:solidFill>
              <a:srgbClr val="FFE6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2" name="Shape 33"/>
          <p:cNvSpPr/>
          <p:nvPr/>
        </p:nvSpPr>
        <p:spPr>
          <a:xfrm>
            <a:off x="3840480" y="2176200"/>
            <a:ext cx="310320" cy="346680"/>
          </a:xfrm>
          <a:prstGeom prst="ellipse">
            <a:avLst/>
          </a:prstGeom>
          <a:solidFill>
            <a:srgbClr val="A32020"/>
          </a:solidFill>
          <a:ln w="12700">
            <a:solidFill>
              <a:srgbClr val="A3202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3" name="Shape 34"/>
          <p:cNvSpPr/>
          <p:nvPr/>
        </p:nvSpPr>
        <p:spPr>
          <a:xfrm>
            <a:off x="4224600" y="2176200"/>
            <a:ext cx="310320" cy="3466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4" name="Text 35"/>
          <p:cNvSpPr/>
          <p:nvPr/>
        </p:nvSpPr>
        <p:spPr>
          <a:xfrm>
            <a:off x="960120" y="3703320"/>
            <a:ext cx="1828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FF85A"/>
                </a:solidFill>
                <a:effectLst/>
                <a:uFillTx/>
                <a:latin typeface="Georgia"/>
                <a:ea typeface="Georgia"/>
              </a:rPr>
              <a:t>SCORE: 0</a:t>
            </a:r>
            <a:endParaRPr lang="en-US" sz="1500" b="0" u="none" strike="noStrike">
              <a:solidFill>
                <a:srgbClr val="000000"/>
              </a:solidFill>
              <a:effectLst/>
              <a:uFillTx/>
              <a:latin typeface="Arial"/>
            </a:endParaRPr>
          </a:p>
        </p:txBody>
      </p:sp>
      <p:sp>
        <p:nvSpPr>
          <p:cNvPr id="295" name="Shape 36"/>
          <p:cNvSpPr/>
          <p:nvPr/>
        </p:nvSpPr>
        <p:spPr>
          <a:xfrm>
            <a:off x="6446520" y="12344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6" name="Text 37"/>
          <p:cNvSpPr/>
          <p:nvPr/>
        </p:nvSpPr>
        <p:spPr>
          <a:xfrm>
            <a:off x="6611040" y="138060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297" name="Text 38"/>
          <p:cNvSpPr/>
          <p:nvPr/>
        </p:nvSpPr>
        <p:spPr>
          <a:xfrm>
            <a:off x="6611040" y="17100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298" name="Shape 39"/>
          <p:cNvSpPr/>
          <p:nvPr/>
        </p:nvSpPr>
        <p:spPr>
          <a:xfrm>
            <a:off x="6446520" y="22676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9" name="Text 40"/>
          <p:cNvSpPr/>
          <p:nvPr/>
        </p:nvSpPr>
        <p:spPr>
          <a:xfrm>
            <a:off x="6611040" y="24141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300" name="Text 41"/>
          <p:cNvSpPr/>
          <p:nvPr/>
        </p:nvSpPr>
        <p:spPr>
          <a:xfrm>
            <a:off x="6611040" y="27432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301" name="Shape 42"/>
          <p:cNvSpPr/>
          <p:nvPr/>
        </p:nvSpPr>
        <p:spPr>
          <a:xfrm>
            <a:off x="6446520" y="33008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2" name="Text 43"/>
          <p:cNvSpPr/>
          <p:nvPr/>
        </p:nvSpPr>
        <p:spPr>
          <a:xfrm>
            <a:off x="6611040" y="34473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303" name="Text 44"/>
          <p:cNvSpPr/>
          <p:nvPr/>
        </p:nvSpPr>
        <p:spPr>
          <a:xfrm>
            <a:off x="6611040" y="37764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304" name="Shape 45"/>
          <p:cNvSpPr/>
          <p:nvPr/>
        </p:nvSpPr>
        <p:spPr>
          <a:xfrm>
            <a:off x="6446520" y="433440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5" name="Text 46"/>
          <p:cNvSpPr/>
          <p:nvPr/>
        </p:nvSpPr>
        <p:spPr>
          <a:xfrm>
            <a:off x="6611040" y="44805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306" name="Text 47"/>
          <p:cNvSpPr/>
          <p:nvPr/>
        </p:nvSpPr>
        <p:spPr>
          <a:xfrm>
            <a:off x="6611040" y="48096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200" b="0" u="none" strike="noStrike">
                <a:solidFill>
                  <a:srgbClr val="0B1F3A"/>
                </a:solidFill>
                <a:effectLst/>
                <a:uFillTx/>
                <a:latin typeface="Aptos"/>
              </a:rPr>
              <a:t>Sequential, dynamic, multiagent, discrete grid; partially observable in richer versions.</a:t>
            </a:r>
            <a:endParaRPr lang="en-US" sz="1200" b="0" u="none" strike="noStrike">
              <a:solidFill>
                <a:srgbClr val="000000"/>
              </a:solidFill>
              <a:effectLst/>
              <a:uFillTx/>
              <a:latin typeface="Arial"/>
            </a:endParaRPr>
          </a:p>
        </p:txBody>
      </p:sp>
      <p:sp>
        <p:nvSpPr>
          <p:cNvPr id="307" name="Text 48"/>
          <p:cNvSpPr/>
          <p:nvPr/>
        </p:nvSpPr>
        <p:spPr>
          <a:xfrm>
            <a:off x="777240" y="5833800"/>
            <a:ext cx="107892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Class demo: the autonomous Pac-Man game implements this loop in code.</a:t>
            </a:r>
            <a:endParaRPr lang="en-US" sz="17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0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1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31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31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1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20</a:t>
            </a:r>
          </a:p>
        </p:txBody>
      </p:sp>
      <p:sp>
        <p:nvSpPr>
          <p:cNvPr id="314" name="Text 6"/>
          <p:cNvSpPr/>
          <p:nvPr/>
        </p:nvSpPr>
        <p:spPr>
          <a:xfrm>
            <a:off x="914400" y="1143000"/>
            <a:ext cx="1033200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315" name="Shape 7"/>
          <p:cNvSpPr/>
          <p:nvPr/>
        </p:nvSpPr>
        <p:spPr>
          <a:xfrm>
            <a:off x="453082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6" name="Text 8"/>
          <p:cNvSpPr/>
          <p:nvPr/>
        </p:nvSpPr>
        <p:spPr>
          <a:xfrm>
            <a:off x="469534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317" name="Text 9"/>
          <p:cNvSpPr/>
          <p:nvPr/>
        </p:nvSpPr>
        <p:spPr>
          <a:xfrm>
            <a:off x="469534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a:t>
            </a:r>
            <a:endParaRPr lang="en-US" sz="1300" b="0" u="none" strike="noStrike">
              <a:solidFill>
                <a:srgbClr val="000000"/>
              </a:solidFill>
              <a:effectLst/>
              <a:uFillTx/>
              <a:latin typeface="Arial"/>
            </a:endParaRPr>
          </a:p>
        </p:txBody>
      </p:sp>
      <p:sp>
        <p:nvSpPr>
          <p:cNvPr id="318" name="Shape 10"/>
          <p:cNvSpPr/>
          <p:nvPr/>
        </p:nvSpPr>
        <p:spPr>
          <a:xfrm>
            <a:off x="805126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9" name="Text 11"/>
          <p:cNvSpPr/>
          <p:nvPr/>
        </p:nvSpPr>
        <p:spPr>
          <a:xfrm>
            <a:off x="821578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048A97"/>
                </a:solidFill>
                <a:effectLst/>
                <a:uFillTx/>
                <a:latin typeface="Aptos"/>
              </a:rPr>
              <a:t>Agent program</a:t>
            </a:r>
            <a:endParaRPr lang="en-US" sz="1800" b="0" u="none" strike="noStrike" dirty="0">
              <a:solidFill>
                <a:srgbClr val="000000"/>
              </a:solidFill>
              <a:effectLst/>
              <a:uFillTx/>
              <a:latin typeface="Arial"/>
            </a:endParaRPr>
          </a:p>
        </p:txBody>
      </p:sp>
      <p:sp>
        <p:nvSpPr>
          <p:cNvPr id="320" name="Text 12"/>
          <p:cNvSpPr/>
          <p:nvPr/>
        </p:nvSpPr>
        <p:spPr>
          <a:xfrm>
            <a:off x="821578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321" name="Shape 13"/>
          <p:cNvSpPr/>
          <p:nvPr/>
        </p:nvSpPr>
        <p:spPr>
          <a:xfrm>
            <a:off x="965543" y="191124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22" name="Text 14"/>
          <p:cNvSpPr/>
          <p:nvPr/>
        </p:nvSpPr>
        <p:spPr>
          <a:xfrm>
            <a:off x="1130063" y="20574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5B35B1"/>
                </a:solidFill>
                <a:effectLst/>
                <a:uFillTx/>
                <a:latin typeface="Aptos"/>
              </a:rPr>
              <a:t>Agent function</a:t>
            </a:r>
            <a:endParaRPr lang="en-US" sz="1800" b="0" u="none" strike="noStrike" dirty="0">
              <a:solidFill>
                <a:srgbClr val="000000"/>
              </a:solidFill>
              <a:effectLst/>
              <a:uFillTx/>
              <a:latin typeface="Arial"/>
            </a:endParaRPr>
          </a:p>
        </p:txBody>
      </p:sp>
      <p:sp>
        <p:nvSpPr>
          <p:cNvPr id="323" name="Text 15"/>
          <p:cNvSpPr/>
          <p:nvPr/>
        </p:nvSpPr>
        <p:spPr>
          <a:xfrm>
            <a:off x="1130063" y="238680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dirty="0">
                <a:solidFill>
                  <a:srgbClr val="0B1F3A"/>
                </a:solidFill>
                <a:effectLst/>
                <a:uFillTx/>
                <a:latin typeface="Aptos"/>
              </a:rPr>
              <a:t>Behavior implemented by the program: percept sequence -&gt; action.</a:t>
            </a:r>
            <a:endParaRPr lang="en-US" sz="1300" b="0" u="none" strike="noStrike" dirty="0">
              <a:solidFill>
                <a:srgbClr val="000000"/>
              </a:solidFill>
              <a:effectLst/>
              <a:uFillTx/>
              <a:latin typeface="Arial"/>
            </a:endParaRPr>
          </a:p>
        </p:txBody>
      </p:sp>
      <p:sp>
        <p:nvSpPr>
          <p:cNvPr id="324" name="Text 16"/>
          <p:cNvSpPr/>
          <p:nvPr/>
        </p:nvSpPr>
        <p:spPr>
          <a:xfrm>
            <a:off x="960120" y="3977640"/>
            <a:ext cx="4022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325" name="Text 17"/>
          <p:cNvSpPr/>
          <p:nvPr/>
        </p:nvSpPr>
        <p:spPr>
          <a:xfrm>
            <a:off x="960120" y="4434840"/>
            <a:ext cx="10149120" cy="913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19999"/>
          </a:bodyPr>
          <a:lstStyle/>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326" name="Text 18"/>
          <p:cNvSpPr/>
          <p:nvPr/>
        </p:nvSpPr>
        <p:spPr>
          <a:xfrm>
            <a:off x="960120" y="5715000"/>
            <a:ext cx="101491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2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2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33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3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21</a:t>
            </a:r>
          </a:p>
        </p:txBody>
      </p:sp>
      <p:sp>
        <p:nvSpPr>
          <p:cNvPr id="33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334" name="Image 0" descr="/mnt/data/ch2_docx_unzipped/word/media/image6.png"/>
          <p:cNvPicPr/>
          <p:nvPr/>
        </p:nvPicPr>
        <p:blipFill>
          <a:blip r:embed="rId3"/>
          <a:stretch/>
        </p:blipFill>
        <p:spPr>
          <a:xfrm>
            <a:off x="228960" y="1828800"/>
            <a:ext cx="6628680" cy="2514240"/>
          </a:xfrm>
          <a:prstGeom prst="rect">
            <a:avLst/>
          </a:prstGeom>
          <a:noFill/>
          <a:ln w="0">
            <a:noFill/>
          </a:ln>
        </p:spPr>
      </p:pic>
      <p:sp>
        <p:nvSpPr>
          <p:cNvPr id="335" name="Shape 7"/>
          <p:cNvSpPr/>
          <p:nvPr/>
        </p:nvSpPr>
        <p:spPr>
          <a:xfrm>
            <a:off x="7315200" y="16916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6" name="Text 8"/>
          <p:cNvSpPr/>
          <p:nvPr/>
        </p:nvSpPr>
        <p:spPr>
          <a:xfrm>
            <a:off x="7479720" y="18378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337" name="Text 9"/>
          <p:cNvSpPr/>
          <p:nvPr/>
        </p:nvSpPr>
        <p:spPr>
          <a:xfrm>
            <a:off x="7479720" y="21672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338" name="Shape 10"/>
          <p:cNvSpPr/>
          <p:nvPr/>
        </p:nvSpPr>
        <p:spPr>
          <a:xfrm>
            <a:off x="7315200" y="30632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9" name="Text 11"/>
          <p:cNvSpPr/>
          <p:nvPr/>
        </p:nvSpPr>
        <p:spPr>
          <a:xfrm>
            <a:off x="7479720" y="32094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340" name="Text 12"/>
          <p:cNvSpPr/>
          <p:nvPr/>
        </p:nvSpPr>
        <p:spPr>
          <a:xfrm>
            <a:off x="7479720" y="35388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341" name="Shape 13"/>
          <p:cNvSpPr/>
          <p:nvPr/>
        </p:nvSpPr>
        <p:spPr>
          <a:xfrm>
            <a:off x="7315200" y="44348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2" name="Text 14"/>
          <p:cNvSpPr/>
          <p:nvPr/>
        </p:nvSpPr>
        <p:spPr>
          <a:xfrm>
            <a:off x="7479720" y="45810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343" name="Text 15"/>
          <p:cNvSpPr/>
          <p:nvPr/>
        </p:nvSpPr>
        <p:spPr>
          <a:xfrm>
            <a:off x="7479720" y="49104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344"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4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4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34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4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5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22</a:t>
            </a:r>
          </a:p>
        </p:txBody>
      </p:sp>
      <p:sp>
        <p:nvSpPr>
          <p:cNvPr id="351" name="Text 6"/>
          <p:cNvSpPr/>
          <p:nvPr/>
        </p:nvSpPr>
        <p:spPr>
          <a:xfrm>
            <a:off x="822960" y="1143000"/>
            <a:ext cx="105148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352" name="Shape 7"/>
          <p:cNvSpPr/>
          <p:nvPr/>
        </p:nvSpPr>
        <p:spPr>
          <a:xfrm>
            <a:off x="82296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3" name="Text 8"/>
          <p:cNvSpPr/>
          <p:nvPr/>
        </p:nvSpPr>
        <p:spPr>
          <a:xfrm>
            <a:off x="98748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354" name="Text 9"/>
          <p:cNvSpPr/>
          <p:nvPr/>
        </p:nvSpPr>
        <p:spPr>
          <a:xfrm>
            <a:off x="98748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355" name="Shape 10"/>
          <p:cNvSpPr/>
          <p:nvPr/>
        </p:nvSpPr>
        <p:spPr>
          <a:xfrm>
            <a:off x="461772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6" name="Text 11"/>
          <p:cNvSpPr/>
          <p:nvPr/>
        </p:nvSpPr>
        <p:spPr>
          <a:xfrm>
            <a:off x="478224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357" name="Text 12"/>
          <p:cNvSpPr/>
          <p:nvPr/>
        </p:nvSpPr>
        <p:spPr>
          <a:xfrm>
            <a:off x="478224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358" name="Shape 13"/>
          <p:cNvSpPr/>
          <p:nvPr/>
        </p:nvSpPr>
        <p:spPr>
          <a:xfrm>
            <a:off x="841248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9" name="Text 14"/>
          <p:cNvSpPr/>
          <p:nvPr/>
        </p:nvSpPr>
        <p:spPr>
          <a:xfrm>
            <a:off x="857700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360" name="Text 15"/>
          <p:cNvSpPr/>
          <p:nvPr/>
        </p:nvSpPr>
        <p:spPr>
          <a:xfrm>
            <a:off x="857700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361" name="Shape 16"/>
          <p:cNvSpPr/>
          <p:nvPr/>
        </p:nvSpPr>
        <p:spPr>
          <a:xfrm>
            <a:off x="1005840" y="4343400"/>
            <a:ext cx="101498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62" name="Text 17"/>
          <p:cNvSpPr/>
          <p:nvPr/>
        </p:nvSpPr>
        <p:spPr>
          <a:xfrm>
            <a:off x="1005840" y="4681800"/>
            <a:ext cx="101491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363" name="Text 18"/>
          <p:cNvSpPr/>
          <p:nvPr/>
        </p:nvSpPr>
        <p:spPr>
          <a:xfrm>
            <a:off x="1005840" y="5120640"/>
            <a:ext cx="1014912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905" name="Shape 5"/>
          <p:cNvSpPr/>
          <p:nvPr/>
        </p:nvSpPr>
        <p:spPr>
          <a:xfrm>
            <a:off x="86868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99669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907" name="Text 7"/>
          <p:cNvSpPr/>
          <p:nvPr/>
        </p:nvSpPr>
        <p:spPr>
          <a:xfrm>
            <a:off x="101498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colour. Eight cameras is typical.</a:t>
            </a:r>
            <a:endParaRPr lang="en-US" sz="1200" b="0" u="none" strike="noStrike">
              <a:solidFill>
                <a:srgbClr val="000000"/>
              </a:solidFill>
              <a:effectLst/>
              <a:uFillTx/>
              <a:latin typeface="Arial"/>
            </a:endParaRPr>
          </a:p>
        </p:txBody>
      </p:sp>
      <p:sp>
        <p:nvSpPr>
          <p:cNvPr id="908" name="Shape 8"/>
          <p:cNvSpPr/>
          <p:nvPr/>
        </p:nvSpPr>
        <p:spPr>
          <a:xfrm>
            <a:off x="354330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367131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A32020"/>
                </a:solidFill>
                <a:effectLst/>
                <a:uFillTx/>
                <a:latin typeface="Aptos"/>
                <a:ea typeface="Aptos"/>
              </a:rPr>
              <a:t>10⁶⁰⁰,⁰⁰⁰,⁰⁰⁰</a:t>
            </a:r>
            <a:endParaRPr lang="en-US" sz="2000" b="0" u="none" strike="noStrike">
              <a:solidFill>
                <a:srgbClr val="000000"/>
              </a:solidFill>
              <a:effectLst/>
              <a:uFillTx/>
              <a:latin typeface="Arial"/>
            </a:endParaRPr>
          </a:p>
        </p:txBody>
      </p:sp>
      <p:sp>
        <p:nvSpPr>
          <p:cNvPr id="910" name="Text 10"/>
          <p:cNvSpPr/>
          <p:nvPr/>
        </p:nvSpPr>
        <p:spPr>
          <a:xfrm>
            <a:off x="368960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a:t>
            </a:r>
            <a:endParaRPr lang="en-US" sz="1200" b="0" u="none" strike="noStrike">
              <a:solidFill>
                <a:srgbClr val="000000"/>
              </a:solidFill>
              <a:effectLst/>
              <a:uFillTx/>
              <a:latin typeface="Arial"/>
            </a:endParaRPr>
          </a:p>
        </p:txBody>
      </p:sp>
      <p:sp>
        <p:nvSpPr>
          <p:cNvPr id="911" name="Shape 11"/>
          <p:cNvSpPr/>
          <p:nvPr/>
        </p:nvSpPr>
        <p:spPr>
          <a:xfrm>
            <a:off x="621792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4593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913" name="Text 13"/>
          <p:cNvSpPr/>
          <p:nvPr/>
        </p:nvSpPr>
        <p:spPr>
          <a:xfrm>
            <a:off x="636422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914" name="Shape 14"/>
          <p:cNvSpPr/>
          <p:nvPr/>
        </p:nvSpPr>
        <p:spPr>
          <a:xfrm>
            <a:off x="889254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902055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916" name="Text 16"/>
          <p:cNvSpPr/>
          <p:nvPr/>
        </p:nvSpPr>
        <p:spPr>
          <a:xfrm>
            <a:off x="903884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917" name="Shape 17"/>
          <p:cNvSpPr/>
          <p:nvPr/>
        </p:nvSpPr>
        <p:spPr>
          <a:xfrm>
            <a:off x="868680" y="3429000"/>
            <a:ext cx="10424160" cy="13258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1124712" y="3584448"/>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919" name="Text 19"/>
          <p:cNvSpPr/>
          <p:nvPr/>
        </p:nvSpPr>
        <p:spPr>
          <a:xfrm>
            <a:off x="1124712" y="3950208"/>
            <a:ext cx="9912096"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behaviour generally.</a:t>
            </a:r>
            <a:endParaRPr lang="en-US" sz="140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behaviour from a small program instead.</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23</a:t>
            </a:r>
            <a:endParaRPr lang="en-US" sz="85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64"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65"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66"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367"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68"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9"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24</a:t>
            </a:r>
          </a:p>
        </p:txBody>
      </p:sp>
      <p:sp>
        <p:nvSpPr>
          <p:cNvPr id="370" name="Text 6"/>
          <p:cNvSpPr/>
          <p:nvPr/>
        </p:nvSpPr>
        <p:spPr>
          <a:xfrm>
            <a:off x="822960" y="1078920"/>
            <a:ext cx="10514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371" name="Image 0" descr="/mnt/data/ch2_docx_unzipped/word/media/image7.png"/>
          <p:cNvPicPr/>
          <p:nvPr/>
        </p:nvPicPr>
        <p:blipFill>
          <a:blip r:embed="rId3"/>
          <a:stretch/>
        </p:blipFill>
        <p:spPr>
          <a:xfrm>
            <a:off x="868680" y="1645920"/>
            <a:ext cx="6582960" cy="2193840"/>
          </a:xfrm>
          <a:prstGeom prst="rect">
            <a:avLst/>
          </a:prstGeom>
          <a:noFill/>
          <a:ln w="0">
            <a:noFill/>
          </a:ln>
        </p:spPr>
      </p:pic>
      <p:sp>
        <p:nvSpPr>
          <p:cNvPr id="372" name="Shape 7"/>
          <p:cNvSpPr/>
          <p:nvPr/>
        </p:nvSpPr>
        <p:spPr>
          <a:xfrm>
            <a:off x="7589520" y="1691640"/>
            <a:ext cx="3611160" cy="1508040"/>
          </a:xfrm>
          <a:prstGeom prst="roundRect">
            <a:avLst>
              <a:gd name="adj" fmla="val 363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3" name="Text 8"/>
          <p:cNvSpPr/>
          <p:nvPr/>
        </p:nvSpPr>
        <p:spPr>
          <a:xfrm>
            <a:off x="7754040" y="183780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374" name="Text 9"/>
          <p:cNvSpPr/>
          <p:nvPr/>
        </p:nvSpPr>
        <p:spPr>
          <a:xfrm>
            <a:off x="7754040" y="2167200"/>
            <a:ext cx="3282120" cy="913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375" name="Shape 10"/>
          <p:cNvSpPr/>
          <p:nvPr/>
        </p:nvSpPr>
        <p:spPr>
          <a:xfrm>
            <a:off x="7589520" y="3456360"/>
            <a:ext cx="361116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6" name="Text 11"/>
          <p:cNvSpPr/>
          <p:nvPr/>
        </p:nvSpPr>
        <p:spPr>
          <a:xfrm>
            <a:off x="7754040" y="360288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377" name="Text 12"/>
          <p:cNvSpPr/>
          <p:nvPr/>
        </p:nvSpPr>
        <p:spPr>
          <a:xfrm>
            <a:off x="7754040" y="3931920"/>
            <a:ext cx="328212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378" name="Text 13"/>
          <p:cNvSpPr/>
          <p:nvPr/>
        </p:nvSpPr>
        <p:spPr>
          <a:xfrm>
            <a:off x="868680" y="557784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379" name="Text 14"/>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8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8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38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8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8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25</a:t>
            </a:r>
          </a:p>
        </p:txBody>
      </p:sp>
      <p:pic>
        <p:nvPicPr>
          <p:cNvPr id="386" name="Image 0" descr="/mnt/data/ch2_docx_unzipped/word/media/image8.png"/>
          <p:cNvPicPr/>
          <p:nvPr/>
        </p:nvPicPr>
        <p:blipFill>
          <a:blip r:embed="rId3"/>
          <a:stretch/>
        </p:blipFill>
        <p:spPr>
          <a:xfrm>
            <a:off x="457200" y="1371600"/>
            <a:ext cx="5257440" cy="4138200"/>
          </a:xfrm>
          <a:prstGeom prst="rect">
            <a:avLst/>
          </a:prstGeom>
          <a:noFill/>
          <a:ln w="0">
            <a:noFill/>
          </a:ln>
        </p:spPr>
      </p:pic>
      <p:pic>
        <p:nvPicPr>
          <p:cNvPr id="387" name="Image 1" descr="/mnt/data/ch2_docx_unzipped/word/media/image9.png"/>
          <p:cNvPicPr/>
          <p:nvPr/>
        </p:nvPicPr>
        <p:blipFill>
          <a:blip r:embed="rId4"/>
          <a:stretch/>
        </p:blipFill>
        <p:spPr>
          <a:xfrm>
            <a:off x="6315480" y="1463040"/>
            <a:ext cx="5107680" cy="2376720"/>
          </a:xfrm>
          <a:prstGeom prst="rect">
            <a:avLst/>
          </a:prstGeom>
          <a:noFill/>
          <a:ln w="0">
            <a:noFill/>
          </a:ln>
        </p:spPr>
      </p:pic>
      <p:sp>
        <p:nvSpPr>
          <p:cNvPr id="388" name="Shape 6"/>
          <p:cNvSpPr/>
          <p:nvPr/>
        </p:nvSpPr>
        <p:spPr>
          <a:xfrm>
            <a:off x="6217920" y="4160520"/>
            <a:ext cx="5257080" cy="822240"/>
          </a:xfrm>
          <a:prstGeom prst="roundRect">
            <a:avLst>
              <a:gd name="adj" fmla="val 666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9" name="Text 7"/>
          <p:cNvSpPr/>
          <p:nvPr/>
        </p:nvSpPr>
        <p:spPr>
          <a:xfrm>
            <a:off x="6382440" y="43066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390" name="Text 8"/>
          <p:cNvSpPr/>
          <p:nvPr/>
        </p:nvSpPr>
        <p:spPr>
          <a:xfrm>
            <a:off x="6382440" y="46360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391" name="Shape 9"/>
          <p:cNvSpPr/>
          <p:nvPr/>
        </p:nvSpPr>
        <p:spPr>
          <a:xfrm>
            <a:off x="6217920" y="5212080"/>
            <a:ext cx="5257080" cy="776520"/>
          </a:xfrm>
          <a:prstGeom prst="roundRect">
            <a:avLst>
              <a:gd name="adj" fmla="val 705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2" name="Text 10"/>
          <p:cNvSpPr/>
          <p:nvPr/>
        </p:nvSpPr>
        <p:spPr>
          <a:xfrm>
            <a:off x="6382440" y="535824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393" name="Text 11"/>
          <p:cNvSpPr/>
          <p:nvPr/>
        </p:nvSpPr>
        <p:spPr>
          <a:xfrm>
            <a:off x="6382440" y="5687640"/>
            <a:ext cx="4928040" cy="182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394" name="Text 12"/>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05" name="Shape 5"/>
          <p:cNvSpPr/>
          <p:nvPr/>
        </p:nvSpPr>
        <p:spPr>
          <a:xfrm>
            <a:off x="868680" y="1188720"/>
            <a:ext cx="5074920" cy="1051560"/>
          </a:xfrm>
          <a:prstGeom prst="roundRect">
            <a:avLst>
              <a:gd name="adj" fmla="val 4444"/>
            </a:avLst>
          </a:prstGeom>
          <a:solidFill>
            <a:srgbClr val="0B2B5C"/>
          </a:solidFill>
          <a:ln w="12700">
            <a:solidFill>
              <a:srgbClr val="0B2B5C"/>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97280" y="1298448"/>
            <a:ext cx="4617720" cy="29260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907" name="Text 7"/>
          <p:cNvSpPr/>
          <p:nvPr/>
        </p:nvSpPr>
        <p:spPr>
          <a:xfrm>
            <a:off x="1097280" y="1664208"/>
            <a:ext cx="461772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908" name="Shape 8"/>
          <p:cNvSpPr/>
          <p:nvPr/>
        </p:nvSpPr>
        <p:spPr>
          <a:xfrm>
            <a:off x="868680" y="2450592"/>
            <a:ext cx="5074920" cy="2286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9872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910" name="Text 10"/>
          <p:cNvSpPr/>
          <p:nvPr/>
        </p:nvSpPr>
        <p:spPr>
          <a:xfrm>
            <a:off x="1033272" y="2927909"/>
            <a:ext cx="4745736" cy="1677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911" name="Shape 11"/>
          <p:cNvSpPr/>
          <p:nvPr/>
        </p:nvSpPr>
        <p:spPr>
          <a:xfrm>
            <a:off x="6217920" y="118872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400800" y="131673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913" name="Text 13"/>
          <p:cNvSpPr/>
          <p:nvPr/>
        </p:nvSpPr>
        <p:spPr>
          <a:xfrm>
            <a:off x="6400800" y="164592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914" name="Shape 14"/>
          <p:cNvSpPr/>
          <p:nvPr/>
        </p:nvSpPr>
        <p:spPr>
          <a:xfrm>
            <a:off x="6217920" y="242316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6400800" y="255117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916" name="Text 16"/>
          <p:cNvSpPr/>
          <p:nvPr/>
        </p:nvSpPr>
        <p:spPr>
          <a:xfrm>
            <a:off x="6400800" y="288036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917" name="Shape 17"/>
          <p:cNvSpPr/>
          <p:nvPr/>
        </p:nvSpPr>
        <p:spPr>
          <a:xfrm>
            <a:off x="6217920" y="365760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6400800" y="378561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19" name="Text 19"/>
          <p:cNvSpPr/>
          <p:nvPr/>
        </p:nvSpPr>
        <p:spPr>
          <a:xfrm>
            <a:off x="6400800" y="411480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behaviour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26</a:t>
            </a:r>
            <a:endParaRPr lang="en-US" sz="85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9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9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9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39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9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0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27</a:t>
            </a:r>
          </a:p>
        </p:txBody>
      </p:sp>
      <p:sp>
        <p:nvSpPr>
          <p:cNvPr id="401" name="Shape 6"/>
          <p:cNvSpPr/>
          <p:nvPr/>
        </p:nvSpPr>
        <p:spPr>
          <a:xfrm>
            <a:off x="82296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2" name="Text 7"/>
          <p:cNvSpPr/>
          <p:nvPr/>
        </p:nvSpPr>
        <p:spPr>
          <a:xfrm>
            <a:off x="98748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403" name="Text 8"/>
          <p:cNvSpPr/>
          <p:nvPr/>
        </p:nvSpPr>
        <p:spPr>
          <a:xfrm>
            <a:off x="98748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404" name="Shape 9"/>
          <p:cNvSpPr/>
          <p:nvPr/>
        </p:nvSpPr>
        <p:spPr>
          <a:xfrm>
            <a:off x="443484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5" name="Text 10"/>
          <p:cNvSpPr/>
          <p:nvPr/>
        </p:nvSpPr>
        <p:spPr>
          <a:xfrm>
            <a:off x="459936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406" name="Text 11"/>
          <p:cNvSpPr/>
          <p:nvPr/>
        </p:nvSpPr>
        <p:spPr>
          <a:xfrm>
            <a:off x="459936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407" name="Shape 12"/>
          <p:cNvSpPr/>
          <p:nvPr/>
        </p:nvSpPr>
        <p:spPr>
          <a:xfrm>
            <a:off x="804672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8" name="Text 13"/>
          <p:cNvSpPr/>
          <p:nvPr/>
        </p:nvSpPr>
        <p:spPr>
          <a:xfrm>
            <a:off x="821124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409" name="Text 14"/>
          <p:cNvSpPr/>
          <p:nvPr/>
        </p:nvSpPr>
        <p:spPr>
          <a:xfrm>
            <a:off x="821124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410" name="Text 15"/>
          <p:cNvSpPr/>
          <p:nvPr/>
        </p:nvSpPr>
        <p:spPr>
          <a:xfrm>
            <a:off x="914400" y="3063240"/>
            <a:ext cx="1033200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411" name="Shape 16"/>
          <p:cNvSpPr/>
          <p:nvPr/>
        </p:nvSpPr>
        <p:spPr>
          <a:xfrm>
            <a:off x="1645920" y="4160520"/>
            <a:ext cx="1370880" cy="685080"/>
          </a:xfrm>
          <a:prstGeom prst="roundRect">
            <a:avLst>
              <a:gd name="adj" fmla="val 9333"/>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2" name="Text 17"/>
          <p:cNvSpPr/>
          <p:nvPr/>
        </p:nvSpPr>
        <p:spPr>
          <a:xfrm>
            <a:off x="164592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413" name="Shape 18"/>
          <p:cNvSpPr/>
          <p:nvPr/>
        </p:nvSpPr>
        <p:spPr>
          <a:xfrm>
            <a:off x="310896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4" name="Shape 19"/>
          <p:cNvSpPr/>
          <p:nvPr/>
        </p:nvSpPr>
        <p:spPr>
          <a:xfrm>
            <a:off x="3977640" y="4160520"/>
            <a:ext cx="1370880" cy="685080"/>
          </a:xfrm>
          <a:prstGeom prst="roundRect">
            <a:avLst>
              <a:gd name="adj" fmla="val 9333"/>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5" name="Text 20"/>
          <p:cNvSpPr/>
          <p:nvPr/>
        </p:nvSpPr>
        <p:spPr>
          <a:xfrm>
            <a:off x="397764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416" name="Shape 21"/>
          <p:cNvSpPr/>
          <p:nvPr/>
        </p:nvSpPr>
        <p:spPr>
          <a:xfrm>
            <a:off x="544068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7" name="Shape 22"/>
          <p:cNvSpPr/>
          <p:nvPr/>
        </p:nvSpPr>
        <p:spPr>
          <a:xfrm>
            <a:off x="6309360" y="4160520"/>
            <a:ext cx="1370880" cy="685080"/>
          </a:xfrm>
          <a:prstGeom prst="roundRect">
            <a:avLst>
              <a:gd name="adj" fmla="val 9333"/>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8" name="Text 23"/>
          <p:cNvSpPr/>
          <p:nvPr/>
        </p:nvSpPr>
        <p:spPr>
          <a:xfrm>
            <a:off x="630936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419" name="Shape 24"/>
          <p:cNvSpPr/>
          <p:nvPr/>
        </p:nvSpPr>
        <p:spPr>
          <a:xfrm>
            <a:off x="777240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20" name="Shape 25"/>
          <p:cNvSpPr/>
          <p:nvPr/>
        </p:nvSpPr>
        <p:spPr>
          <a:xfrm>
            <a:off x="8641080" y="4160520"/>
            <a:ext cx="1370880" cy="685080"/>
          </a:xfrm>
          <a:prstGeom prst="roundRect">
            <a:avLst>
              <a:gd name="adj" fmla="val 9333"/>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1" name="Text 26"/>
          <p:cNvSpPr/>
          <p:nvPr/>
        </p:nvSpPr>
        <p:spPr>
          <a:xfrm>
            <a:off x="864108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2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2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42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2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2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28</a:t>
            </a:r>
          </a:p>
        </p:txBody>
      </p:sp>
      <p:sp>
        <p:nvSpPr>
          <p:cNvPr id="428" name="Text 6"/>
          <p:cNvSpPr/>
          <p:nvPr/>
        </p:nvSpPr>
        <p:spPr>
          <a:xfrm>
            <a:off x="777240" y="107892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429" name="Image 0" descr="/mnt/data/fig2_11_model_based_diagram.png"/>
          <p:cNvPicPr/>
          <p:nvPr/>
        </p:nvPicPr>
        <p:blipFill>
          <a:blip r:embed="rId3"/>
          <a:stretch/>
        </p:blipFill>
        <p:spPr>
          <a:xfrm>
            <a:off x="1052640" y="1600200"/>
            <a:ext cx="5346000" cy="3885480"/>
          </a:xfrm>
          <a:prstGeom prst="rect">
            <a:avLst/>
          </a:prstGeom>
          <a:noFill/>
          <a:ln w="0">
            <a:noFill/>
          </a:ln>
        </p:spPr>
      </p:pic>
      <p:sp>
        <p:nvSpPr>
          <p:cNvPr id="430" name="Shape 7"/>
          <p:cNvSpPr/>
          <p:nvPr/>
        </p:nvSpPr>
        <p:spPr>
          <a:xfrm>
            <a:off x="7086600" y="169164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1" name="Text 8"/>
          <p:cNvSpPr/>
          <p:nvPr/>
        </p:nvSpPr>
        <p:spPr>
          <a:xfrm>
            <a:off x="7251120" y="1837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432" name="Text 9"/>
          <p:cNvSpPr/>
          <p:nvPr/>
        </p:nvSpPr>
        <p:spPr>
          <a:xfrm>
            <a:off x="7251120" y="216720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433" name="Shape 10"/>
          <p:cNvSpPr/>
          <p:nvPr/>
        </p:nvSpPr>
        <p:spPr>
          <a:xfrm>
            <a:off x="7086600" y="288036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4" name="Text 11"/>
          <p:cNvSpPr/>
          <p:nvPr/>
        </p:nvSpPr>
        <p:spPr>
          <a:xfrm>
            <a:off x="7251120" y="30265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435" name="Text 12"/>
          <p:cNvSpPr/>
          <p:nvPr/>
        </p:nvSpPr>
        <p:spPr>
          <a:xfrm>
            <a:off x="7251120" y="335592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436" name="Shape 13"/>
          <p:cNvSpPr/>
          <p:nvPr/>
        </p:nvSpPr>
        <p:spPr>
          <a:xfrm>
            <a:off x="7086600" y="406908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7" name="Text 14"/>
          <p:cNvSpPr/>
          <p:nvPr/>
        </p:nvSpPr>
        <p:spPr>
          <a:xfrm>
            <a:off x="7251120" y="42152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438" name="Text 15"/>
          <p:cNvSpPr/>
          <p:nvPr/>
        </p:nvSpPr>
        <p:spPr>
          <a:xfrm>
            <a:off x="7251120" y="454464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439"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4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4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4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44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4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4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29</a:t>
            </a:r>
          </a:p>
        </p:txBody>
      </p:sp>
      <p:sp>
        <p:nvSpPr>
          <p:cNvPr id="446" name="Text 6"/>
          <p:cNvSpPr/>
          <p:nvPr/>
        </p:nvSpPr>
        <p:spPr>
          <a:xfrm>
            <a:off x="731520" y="1051560"/>
            <a:ext cx="107892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447" name="Image 0" descr="/mnt/data/fig2_12_model_based_pseudocode.png"/>
          <p:cNvPicPr/>
          <p:nvPr/>
        </p:nvPicPr>
        <p:blipFill>
          <a:blip r:embed="rId3"/>
          <a:stretch/>
        </p:blipFill>
        <p:spPr>
          <a:xfrm>
            <a:off x="2664720" y="1691640"/>
            <a:ext cx="6831360" cy="3382560"/>
          </a:xfrm>
          <a:prstGeom prst="rect">
            <a:avLst/>
          </a:prstGeom>
          <a:noFill/>
          <a:ln w="0">
            <a:noFill/>
          </a:ln>
        </p:spPr>
      </p:pic>
      <p:sp>
        <p:nvSpPr>
          <p:cNvPr id="448" name="Text 7"/>
          <p:cNvSpPr/>
          <p:nvPr/>
        </p:nvSpPr>
        <p:spPr>
          <a:xfrm>
            <a:off x="914400" y="548640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449"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4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4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30</a:t>
            </a:r>
          </a:p>
        </p:txBody>
      </p:sp>
      <p:sp>
        <p:nvSpPr>
          <p:cNvPr id="456"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457" name="Image 0" descr="/mnt/data/ch2_docx_unzipped/word/media/image11.png"/>
          <p:cNvPicPr/>
          <p:nvPr/>
        </p:nvPicPr>
        <p:blipFill>
          <a:blip r:embed="rId3"/>
          <a:stretch/>
        </p:blipFill>
        <p:spPr>
          <a:xfrm>
            <a:off x="905400" y="1600200"/>
            <a:ext cx="5366880" cy="4114080"/>
          </a:xfrm>
          <a:prstGeom prst="rect">
            <a:avLst/>
          </a:prstGeom>
          <a:noFill/>
          <a:ln w="0">
            <a:noFill/>
          </a:ln>
        </p:spPr>
      </p:pic>
      <p:sp>
        <p:nvSpPr>
          <p:cNvPr id="458" name="Shape 7"/>
          <p:cNvSpPr/>
          <p:nvPr/>
        </p:nvSpPr>
        <p:spPr>
          <a:xfrm>
            <a:off x="6812280" y="164592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59" name="Text 8"/>
          <p:cNvSpPr/>
          <p:nvPr/>
        </p:nvSpPr>
        <p:spPr>
          <a:xfrm>
            <a:off x="6976800" y="179208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460" name="Text 9"/>
          <p:cNvSpPr/>
          <p:nvPr/>
        </p:nvSpPr>
        <p:spPr>
          <a:xfrm>
            <a:off x="6976800" y="212148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461" name="Shape 10"/>
          <p:cNvSpPr/>
          <p:nvPr/>
        </p:nvSpPr>
        <p:spPr>
          <a:xfrm>
            <a:off x="6812280" y="288036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2" name="Text 11"/>
          <p:cNvSpPr/>
          <p:nvPr/>
        </p:nvSpPr>
        <p:spPr>
          <a:xfrm>
            <a:off x="6976800" y="302652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463" name="Text 12"/>
          <p:cNvSpPr/>
          <p:nvPr/>
        </p:nvSpPr>
        <p:spPr>
          <a:xfrm>
            <a:off x="6976800" y="335592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464" name="Shape 13"/>
          <p:cNvSpPr/>
          <p:nvPr/>
        </p:nvSpPr>
        <p:spPr>
          <a:xfrm>
            <a:off x="6812280" y="411480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5" name="Text 14"/>
          <p:cNvSpPr/>
          <p:nvPr/>
        </p:nvSpPr>
        <p:spPr>
          <a:xfrm>
            <a:off x="6976800" y="426096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466" name="Text 15"/>
          <p:cNvSpPr/>
          <p:nvPr/>
        </p:nvSpPr>
        <p:spPr>
          <a:xfrm>
            <a:off x="6976800" y="459036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467"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6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7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47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47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7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31</a:t>
            </a:r>
          </a:p>
        </p:txBody>
      </p:sp>
      <p:sp>
        <p:nvSpPr>
          <p:cNvPr id="474" name="Rounded Rectangle 473"/>
          <p:cNvSpPr/>
          <p:nvPr/>
        </p:nvSpPr>
        <p:spPr>
          <a:xfrm>
            <a:off x="777240" y="1170432"/>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TextBox 474"/>
          <p:cNvSpPr txBox="1"/>
          <p:nvPr/>
        </p:nvSpPr>
        <p:spPr>
          <a:xfrm>
            <a:off x="941832" y="1298448"/>
            <a:ext cx="4471416" cy="274320"/>
          </a:xfrm>
          <a:prstGeom prst="rect">
            <a:avLst/>
          </a:prstGeom>
          <a:noFill/>
        </p:spPr>
        <p:txBody>
          <a:bodyPr wrap="none">
            <a:spAutoFit/>
          </a:bodyPr>
          <a:lstStyle/>
          <a:p>
            <a:r>
              <a:rPr sz="1700" b="1">
                <a:solidFill>
                  <a:srgbClr val="2A66B0"/>
                </a:solidFill>
              </a:rPr>
              <a:t>Reflex agent</a:t>
            </a:r>
          </a:p>
        </p:txBody>
      </p:sp>
      <p:sp>
        <p:nvSpPr>
          <p:cNvPr id="476" name="TextBox 475"/>
          <p:cNvSpPr txBox="1"/>
          <p:nvPr/>
        </p:nvSpPr>
        <p:spPr>
          <a:xfrm>
            <a:off x="941832" y="1673352"/>
            <a:ext cx="4471416" cy="667512"/>
          </a:xfrm>
          <a:prstGeom prst="rect">
            <a:avLst/>
          </a:prstGeom>
          <a:noFill/>
        </p:spPr>
        <p:txBody>
          <a:bodyPr wrap="square">
            <a:spAutoFit/>
          </a:bodyPr>
          <a:lstStyle/>
          <a:p>
            <a:r>
              <a:rPr sz="1150">
                <a:solidFill>
                  <a:srgbClr val="162237"/>
                </a:solidFill>
              </a:rPr>
              <a:t>Chooses action from current percept and maybe memory; does not consider future consequences.</a:t>
            </a:r>
          </a:p>
        </p:txBody>
      </p:sp>
      <p:sp>
        <p:nvSpPr>
          <p:cNvPr id="477" name="Rounded Rectangle 476"/>
          <p:cNvSpPr/>
          <p:nvPr/>
        </p:nvSpPr>
        <p:spPr>
          <a:xfrm>
            <a:off x="777240" y="2596896"/>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TextBox 477"/>
          <p:cNvSpPr txBox="1"/>
          <p:nvPr/>
        </p:nvSpPr>
        <p:spPr>
          <a:xfrm>
            <a:off x="941832" y="2724912"/>
            <a:ext cx="4471416" cy="274320"/>
          </a:xfrm>
          <a:prstGeom prst="rect">
            <a:avLst/>
          </a:prstGeom>
          <a:noFill/>
        </p:spPr>
        <p:txBody>
          <a:bodyPr wrap="none">
            <a:spAutoFit/>
          </a:bodyPr>
          <a:lstStyle/>
          <a:p>
            <a:r>
              <a:rPr sz="1700" b="1">
                <a:solidFill>
                  <a:srgbClr val="00848C"/>
                </a:solidFill>
              </a:rPr>
              <a:t>Planning agent</a:t>
            </a:r>
          </a:p>
        </p:txBody>
      </p:sp>
      <p:sp>
        <p:nvSpPr>
          <p:cNvPr id="479" name="TextBox 478"/>
          <p:cNvSpPr txBox="1"/>
          <p:nvPr/>
        </p:nvSpPr>
        <p:spPr>
          <a:xfrm>
            <a:off x="941832" y="3099816"/>
            <a:ext cx="4471416" cy="667512"/>
          </a:xfrm>
          <a:prstGeom prst="rect">
            <a:avLst/>
          </a:prstGeom>
          <a:noFill/>
        </p:spPr>
        <p:txBody>
          <a:bodyPr wrap="square">
            <a:spAutoFit/>
          </a:bodyPr>
          <a:lstStyle/>
          <a:p>
            <a:r>
              <a:rPr sz="1150">
                <a:solidFill>
                  <a:srgbClr val="162237"/>
                </a:solidFill>
              </a:rPr>
              <a:t>Asks “what if?” and chooses actions based on predicted consequences. Must model how the world evolves and must formulate a goal test.</a:t>
            </a:r>
          </a:p>
        </p:txBody>
      </p:sp>
      <p:sp>
        <p:nvSpPr>
          <p:cNvPr id="480" name="Rounded Rectangle 479"/>
          <p:cNvSpPr/>
          <p:nvPr/>
        </p:nvSpPr>
        <p:spPr>
          <a:xfrm>
            <a:off x="777240" y="4023360"/>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TextBox 480"/>
          <p:cNvSpPr txBox="1"/>
          <p:nvPr/>
        </p:nvSpPr>
        <p:spPr>
          <a:xfrm>
            <a:off x="941832" y="4151376"/>
            <a:ext cx="4471416" cy="274320"/>
          </a:xfrm>
          <a:prstGeom prst="rect">
            <a:avLst/>
          </a:prstGeom>
          <a:noFill/>
        </p:spPr>
        <p:txBody>
          <a:bodyPr wrap="none">
            <a:spAutoFit/>
          </a:bodyPr>
          <a:lstStyle/>
          <a:p>
            <a:r>
              <a:rPr sz="1700" b="1">
                <a:solidFill>
                  <a:srgbClr val="1E743E"/>
                </a:solidFill>
              </a:rPr>
              <a:t>Replanning Pac-Man</a:t>
            </a:r>
          </a:p>
        </p:txBody>
      </p:sp>
      <p:sp>
        <p:nvSpPr>
          <p:cNvPr id="482" name="TextBox 481"/>
          <p:cNvSpPr txBox="1"/>
          <p:nvPr/>
        </p:nvSpPr>
        <p:spPr>
          <a:xfrm>
            <a:off x="941832" y="4526280"/>
            <a:ext cx="4471416" cy="667512"/>
          </a:xfrm>
          <a:prstGeom prst="rect">
            <a:avLst/>
          </a:prstGeom>
          <a:noFill/>
        </p:spPr>
        <p:txBody>
          <a:bodyPr wrap="square">
            <a:spAutoFit/>
          </a:bodyPr>
          <a:lstStyle/>
          <a:p>
            <a:r>
              <a:rPr sz="1150">
                <a:solidFill>
                  <a:srgbClr val="162237"/>
                </a:solidFill>
              </a:rPr>
              <a:t>Plans a little way ahead, acts, then replans from the new state. This is different from planning once and executing forever.</a:t>
            </a:r>
          </a:p>
        </p:txBody>
      </p:sp>
      <p:pic>
        <p:nvPicPr>
          <p:cNvPr id="483" name="Picture 482" descr="image.png"/>
          <p:cNvPicPr>
            <a:picLocks noChangeAspect="1"/>
          </p:cNvPicPr>
          <p:nvPr/>
        </p:nvPicPr>
        <p:blipFill>
          <a:blip r:embed="rId3"/>
          <a:stretch>
            <a:fillRect/>
          </a:stretch>
        </p:blipFill>
        <p:spPr>
          <a:xfrm>
            <a:off x="5870448" y="1325880"/>
            <a:ext cx="5074920" cy="4160520"/>
          </a:xfrm>
          <a:prstGeom prst="rect">
            <a:avLst/>
          </a:prstGeom>
        </p:spPr>
      </p:pic>
      <p:sp>
        <p:nvSpPr>
          <p:cNvPr id="484" name="TextBox 483"/>
          <p:cNvSpPr txBox="1"/>
          <p:nvPr/>
        </p:nvSpPr>
        <p:spPr>
          <a:xfrm>
            <a:off x="5759038" y="5330952"/>
            <a:ext cx="4663440" cy="384048"/>
          </a:xfrm>
          <a:prstGeom prst="rect">
            <a:avLst/>
          </a:prstGeom>
          <a:noFill/>
        </p:spPr>
        <p:txBody>
          <a:bodyPr wrap="none">
            <a:spAutoFit/>
          </a:bodyPr>
          <a:lstStyle/>
          <a:p>
            <a:r>
              <a:rPr sz="1200" b="1" dirty="0">
                <a:solidFill>
                  <a:srgbClr val="B8241F"/>
                </a:solidFill>
              </a:rPr>
              <a:t>Key distinction: planning considers how the world WOULD BE, not just how it is now.</a:t>
            </a:r>
          </a:p>
        </p:txBody>
      </p:sp>
      <p:sp>
        <p:nvSpPr>
          <p:cNvPr id="485" name="Rounded Rectangle 484"/>
          <p:cNvSpPr/>
          <p:nvPr/>
        </p:nvSpPr>
        <p:spPr>
          <a:xfrm>
            <a:off x="777240" y="5532120"/>
            <a:ext cx="10716768" cy="731520"/>
          </a:xfrm>
          <a:prstGeom prst="roundRect">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TextBox 485"/>
          <p:cNvSpPr txBox="1"/>
          <p:nvPr/>
        </p:nvSpPr>
        <p:spPr>
          <a:xfrm>
            <a:off x="978408" y="5641848"/>
            <a:ext cx="1828800" cy="237744"/>
          </a:xfrm>
          <a:prstGeom prst="rect">
            <a:avLst/>
          </a:prstGeom>
          <a:noFill/>
        </p:spPr>
        <p:txBody>
          <a:bodyPr wrap="none">
            <a:spAutoFit/>
          </a:bodyPr>
          <a:lstStyle/>
          <a:p>
            <a:r>
              <a:rPr sz="1150" b="1">
                <a:solidFill>
                  <a:srgbClr val="0F2D5B"/>
                </a:solidFill>
              </a:rPr>
              <a:t>Planning distinctions</a:t>
            </a:r>
          </a:p>
        </p:txBody>
      </p:sp>
      <p:sp>
        <p:nvSpPr>
          <p:cNvPr id="487" name="TextBox 486"/>
          <p:cNvSpPr txBox="1"/>
          <p:nvPr/>
        </p:nvSpPr>
        <p:spPr>
          <a:xfrm>
            <a:off x="2743200" y="5641848"/>
            <a:ext cx="8522208" cy="502920"/>
          </a:xfrm>
          <a:prstGeom prst="rect">
            <a:avLst/>
          </a:prstGeom>
          <a:noFill/>
        </p:spPr>
        <p:txBody>
          <a:bodyPr wrap="square">
            <a:spAutoFit/>
          </a:bodyPr>
          <a:lstStyle/>
          <a:p>
            <a:r>
              <a:rPr sz="1100" b="1">
                <a:solidFill>
                  <a:srgbClr val="162237"/>
                </a:solidFill>
              </a:rPr>
              <a:t>Optimal vs. complete planning</a:t>
            </a:r>
            <a:r>
              <a:rPr sz="1100">
                <a:solidFill>
                  <a:srgbClr val="162237"/>
                </a:solidFill>
              </a:rPr>
              <a:t> compares best solution quality vs. guaranteed solution finding.  </a:t>
            </a:r>
            <a:r>
              <a:rPr sz="1100" b="1">
                <a:solidFill>
                  <a:srgbClr val="162237"/>
                </a:solidFill>
              </a:rPr>
              <a:t>Planning vs. replanning</a:t>
            </a:r>
            <a:r>
              <a:rPr sz="1100">
                <a:solidFill>
                  <a:srgbClr val="162237"/>
                </a:solidFill>
              </a:rPr>
              <a:t> compares one long plan vs. repeated look-ahead as the state changes.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9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9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49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49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9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32</a:t>
            </a:r>
          </a:p>
        </p:txBody>
      </p:sp>
      <p:sp>
        <p:nvSpPr>
          <p:cNvPr id="498"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499" name="Image 0" descr="/mnt/data/ch2_docx_unzipped/word/media/image12.png"/>
          <p:cNvPicPr/>
          <p:nvPr/>
        </p:nvPicPr>
        <p:blipFill>
          <a:blip r:embed="rId3"/>
          <a:stretch/>
        </p:blipFill>
        <p:spPr>
          <a:xfrm>
            <a:off x="1205280" y="1600200"/>
            <a:ext cx="4857840" cy="4068360"/>
          </a:xfrm>
          <a:prstGeom prst="rect">
            <a:avLst/>
          </a:prstGeom>
          <a:noFill/>
          <a:ln w="0">
            <a:noFill/>
          </a:ln>
        </p:spPr>
      </p:pic>
      <p:sp>
        <p:nvSpPr>
          <p:cNvPr id="500" name="Shape 7"/>
          <p:cNvSpPr/>
          <p:nvPr/>
        </p:nvSpPr>
        <p:spPr>
          <a:xfrm>
            <a:off x="6903720" y="164592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1" name="Text 8"/>
          <p:cNvSpPr/>
          <p:nvPr/>
        </p:nvSpPr>
        <p:spPr>
          <a:xfrm>
            <a:off x="7068240" y="179208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502" name="Text 9"/>
          <p:cNvSpPr/>
          <p:nvPr/>
        </p:nvSpPr>
        <p:spPr>
          <a:xfrm>
            <a:off x="7068240" y="212148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503" name="Shape 10"/>
          <p:cNvSpPr/>
          <p:nvPr/>
        </p:nvSpPr>
        <p:spPr>
          <a:xfrm>
            <a:off x="6903720" y="2743200"/>
            <a:ext cx="425124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4" name="Text 11"/>
          <p:cNvSpPr/>
          <p:nvPr/>
        </p:nvSpPr>
        <p:spPr>
          <a:xfrm>
            <a:off x="7068240" y="28893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505" name="Text 12"/>
          <p:cNvSpPr/>
          <p:nvPr/>
        </p:nvSpPr>
        <p:spPr>
          <a:xfrm>
            <a:off x="7068240" y="3218760"/>
            <a:ext cx="392220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506" name="Shape 13"/>
          <p:cNvSpPr/>
          <p:nvPr/>
        </p:nvSpPr>
        <p:spPr>
          <a:xfrm>
            <a:off x="6903720" y="397764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7" name="Text 14"/>
          <p:cNvSpPr/>
          <p:nvPr/>
        </p:nvSpPr>
        <p:spPr>
          <a:xfrm>
            <a:off x="7068240" y="4123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508" name="Text 15"/>
          <p:cNvSpPr/>
          <p:nvPr/>
        </p:nvSpPr>
        <p:spPr>
          <a:xfrm>
            <a:off x="7068240" y="445320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509" name="Text 16"/>
          <p:cNvSpPr/>
          <p:nvPr/>
        </p:nvSpPr>
        <p:spPr>
          <a:xfrm>
            <a:off x="6903720" y="5285160"/>
            <a:ext cx="4251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510" name="Text 17"/>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1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1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1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51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51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33</a:t>
            </a:r>
          </a:p>
        </p:txBody>
      </p:sp>
      <p:sp>
        <p:nvSpPr>
          <p:cNvPr id="517" name="Shape 6"/>
          <p:cNvSpPr/>
          <p:nvPr/>
        </p:nvSpPr>
        <p:spPr>
          <a:xfrm>
            <a:off x="86868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18" name="Text 7"/>
          <p:cNvSpPr/>
          <p:nvPr/>
        </p:nvSpPr>
        <p:spPr>
          <a:xfrm>
            <a:off x="103320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519" name="Text 8"/>
          <p:cNvSpPr/>
          <p:nvPr/>
        </p:nvSpPr>
        <p:spPr>
          <a:xfrm>
            <a:off x="103320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520" name="Shape 9"/>
          <p:cNvSpPr/>
          <p:nvPr/>
        </p:nvSpPr>
        <p:spPr>
          <a:xfrm>
            <a:off x="443484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1" name="Text 10"/>
          <p:cNvSpPr/>
          <p:nvPr/>
        </p:nvSpPr>
        <p:spPr>
          <a:xfrm>
            <a:off x="459936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522" name="Text 11"/>
          <p:cNvSpPr/>
          <p:nvPr/>
        </p:nvSpPr>
        <p:spPr>
          <a:xfrm>
            <a:off x="459936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523" name="Shape 12"/>
          <p:cNvSpPr/>
          <p:nvPr/>
        </p:nvSpPr>
        <p:spPr>
          <a:xfrm>
            <a:off x="800100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4" name="Text 13"/>
          <p:cNvSpPr/>
          <p:nvPr/>
        </p:nvSpPr>
        <p:spPr>
          <a:xfrm>
            <a:off x="816552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525" name="Text 14"/>
          <p:cNvSpPr/>
          <p:nvPr/>
        </p:nvSpPr>
        <p:spPr>
          <a:xfrm>
            <a:off x="816552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a:t>
            </a:r>
            <a:endParaRPr lang="en-US" sz="1350" b="0" u="none" strike="noStrike">
              <a:solidFill>
                <a:srgbClr val="000000"/>
              </a:solidFill>
              <a:effectLst/>
              <a:uFillTx/>
              <a:latin typeface="Arial"/>
            </a:endParaRPr>
          </a:p>
        </p:txBody>
      </p:sp>
      <p:sp>
        <p:nvSpPr>
          <p:cNvPr id="526" name="Text 15"/>
          <p:cNvSpPr/>
          <p:nvPr/>
        </p:nvSpPr>
        <p:spPr>
          <a:xfrm>
            <a:off x="914400" y="333756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527" name="Text 16"/>
          <p:cNvSpPr/>
          <p:nvPr/>
        </p:nvSpPr>
        <p:spPr>
          <a:xfrm>
            <a:off x="1097280" y="4160520"/>
            <a:ext cx="996624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528" name="Text 17"/>
          <p:cNvSpPr/>
          <p:nvPr/>
        </p:nvSpPr>
        <p:spPr>
          <a:xfrm>
            <a:off x="1097280" y="5074920"/>
            <a:ext cx="9966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5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34</a:t>
            </a:r>
          </a:p>
        </p:txBody>
      </p:sp>
      <p:sp>
        <p:nvSpPr>
          <p:cNvPr id="535"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536" name="Image 0" descr="/mnt/data/ch2_docx_unzipped/word/media/image13.png"/>
          <p:cNvPicPr/>
          <p:nvPr/>
        </p:nvPicPr>
        <p:blipFill>
          <a:blip r:embed="rId3"/>
          <a:stretch/>
        </p:blipFill>
        <p:spPr>
          <a:xfrm>
            <a:off x="1253880" y="1600200"/>
            <a:ext cx="4761000" cy="4114080"/>
          </a:xfrm>
          <a:prstGeom prst="rect">
            <a:avLst/>
          </a:prstGeom>
          <a:noFill/>
          <a:ln w="0">
            <a:noFill/>
          </a:ln>
        </p:spPr>
      </p:pic>
      <p:sp>
        <p:nvSpPr>
          <p:cNvPr id="537" name="Shape 7"/>
          <p:cNvSpPr/>
          <p:nvPr/>
        </p:nvSpPr>
        <p:spPr>
          <a:xfrm>
            <a:off x="6903720" y="155448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38" name="Text 8"/>
          <p:cNvSpPr/>
          <p:nvPr/>
        </p:nvSpPr>
        <p:spPr>
          <a:xfrm>
            <a:off x="7068240" y="17006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39" name="Text 9"/>
          <p:cNvSpPr/>
          <p:nvPr/>
        </p:nvSpPr>
        <p:spPr>
          <a:xfrm>
            <a:off x="7068240" y="203004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540" name="Shape 10"/>
          <p:cNvSpPr/>
          <p:nvPr/>
        </p:nvSpPr>
        <p:spPr>
          <a:xfrm>
            <a:off x="6903720" y="248724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1" name="Text 11"/>
          <p:cNvSpPr/>
          <p:nvPr/>
        </p:nvSpPr>
        <p:spPr>
          <a:xfrm>
            <a:off x="7068240" y="26334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542" name="Text 12"/>
          <p:cNvSpPr/>
          <p:nvPr/>
        </p:nvSpPr>
        <p:spPr>
          <a:xfrm>
            <a:off x="7068240" y="29628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543" name="Shape 13"/>
          <p:cNvSpPr/>
          <p:nvPr/>
        </p:nvSpPr>
        <p:spPr>
          <a:xfrm>
            <a:off x="6903720" y="34200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4" name="Text 14"/>
          <p:cNvSpPr/>
          <p:nvPr/>
        </p:nvSpPr>
        <p:spPr>
          <a:xfrm>
            <a:off x="7068240" y="35661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545" name="Text 15"/>
          <p:cNvSpPr/>
          <p:nvPr/>
        </p:nvSpPr>
        <p:spPr>
          <a:xfrm>
            <a:off x="7068240" y="38952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546" name="Shape 16"/>
          <p:cNvSpPr/>
          <p:nvPr/>
        </p:nvSpPr>
        <p:spPr>
          <a:xfrm>
            <a:off x="6903720" y="43524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7" name="Text 17"/>
          <p:cNvSpPr/>
          <p:nvPr/>
        </p:nvSpPr>
        <p:spPr>
          <a:xfrm>
            <a:off x="7068240" y="44989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548" name="Text 18"/>
          <p:cNvSpPr/>
          <p:nvPr/>
        </p:nvSpPr>
        <p:spPr>
          <a:xfrm>
            <a:off x="7068240" y="482796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549"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5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35</a:t>
            </a:r>
          </a:p>
        </p:txBody>
      </p:sp>
      <p:sp>
        <p:nvSpPr>
          <p:cNvPr id="556" name="Shape 6"/>
          <p:cNvSpPr/>
          <p:nvPr/>
        </p:nvSpPr>
        <p:spPr>
          <a:xfrm>
            <a:off x="77724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57" name="Text 7"/>
          <p:cNvSpPr/>
          <p:nvPr/>
        </p:nvSpPr>
        <p:spPr>
          <a:xfrm>
            <a:off x="94176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58" name="Text 8"/>
          <p:cNvSpPr/>
          <p:nvPr/>
        </p:nvSpPr>
        <p:spPr>
          <a:xfrm>
            <a:off x="94176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559" name="Shape 9"/>
          <p:cNvSpPr/>
          <p:nvPr/>
        </p:nvSpPr>
        <p:spPr>
          <a:xfrm>
            <a:off x="448056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0" name="Text 10"/>
          <p:cNvSpPr/>
          <p:nvPr/>
        </p:nvSpPr>
        <p:spPr>
          <a:xfrm>
            <a:off x="464508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561" name="Text 11"/>
          <p:cNvSpPr/>
          <p:nvPr/>
        </p:nvSpPr>
        <p:spPr>
          <a:xfrm>
            <a:off x="464508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562" name="Shape 12"/>
          <p:cNvSpPr/>
          <p:nvPr/>
        </p:nvSpPr>
        <p:spPr>
          <a:xfrm>
            <a:off x="818388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3" name="Text 13"/>
          <p:cNvSpPr/>
          <p:nvPr/>
        </p:nvSpPr>
        <p:spPr>
          <a:xfrm>
            <a:off x="834840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564" name="Text 14"/>
          <p:cNvSpPr/>
          <p:nvPr/>
        </p:nvSpPr>
        <p:spPr>
          <a:xfrm>
            <a:off x="834840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565" name="Shape 15"/>
          <p:cNvSpPr/>
          <p:nvPr/>
        </p:nvSpPr>
        <p:spPr>
          <a:xfrm>
            <a:off x="265176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6" name="Text 16"/>
          <p:cNvSpPr/>
          <p:nvPr/>
        </p:nvSpPr>
        <p:spPr>
          <a:xfrm>
            <a:off x="281628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567" name="Text 17"/>
          <p:cNvSpPr/>
          <p:nvPr/>
        </p:nvSpPr>
        <p:spPr>
          <a:xfrm>
            <a:off x="281628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568" name="Shape 18"/>
          <p:cNvSpPr/>
          <p:nvPr/>
        </p:nvSpPr>
        <p:spPr>
          <a:xfrm>
            <a:off x="658368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9" name="Text 19"/>
          <p:cNvSpPr/>
          <p:nvPr/>
        </p:nvSpPr>
        <p:spPr>
          <a:xfrm>
            <a:off x="674820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570" name="Text 20"/>
          <p:cNvSpPr/>
          <p:nvPr/>
        </p:nvSpPr>
        <p:spPr>
          <a:xfrm>
            <a:off x="674820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571" name="Text 21"/>
          <p:cNvSpPr/>
          <p:nvPr/>
        </p:nvSpPr>
        <p:spPr>
          <a:xfrm>
            <a:off x="868680" y="5504760"/>
            <a:ext cx="10423440" cy="40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887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124712" y="1225296"/>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907" name="Text 7"/>
          <p:cNvSpPr/>
          <p:nvPr/>
        </p:nvSpPr>
        <p:spPr>
          <a:xfrm>
            <a:off x="1124712" y="1572768"/>
            <a:ext cx="9912096"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350" b="0" u="none" strike="noStrike">
              <a:solidFill>
                <a:srgbClr val="000000"/>
              </a:solidFill>
              <a:effectLst/>
              <a:uFillTx/>
              <a:latin typeface="Arial"/>
            </a:endParaRPr>
          </a:p>
        </p:txBody>
      </p:sp>
      <p:sp>
        <p:nvSpPr>
          <p:cNvPr id="908" name="Shape 8"/>
          <p:cNvSpPr/>
          <p:nvPr/>
        </p:nvSpPr>
        <p:spPr>
          <a:xfrm>
            <a:off x="86868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910" name="Text 10"/>
          <p:cNvSpPr/>
          <p:nvPr/>
        </p:nvSpPr>
        <p:spPr>
          <a:xfrm>
            <a:off x="103327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behaviour.</a:t>
            </a:r>
            <a:endParaRPr lang="en-US" sz="1250" b="0" u="none" strike="noStrike">
              <a:solidFill>
                <a:srgbClr val="000000"/>
              </a:solidFill>
              <a:effectLst/>
              <a:uFillTx/>
              <a:latin typeface="Arial"/>
            </a:endParaRPr>
          </a:p>
        </p:txBody>
      </p:sp>
      <p:sp>
        <p:nvSpPr>
          <p:cNvPr id="911" name="Shape 11"/>
          <p:cNvSpPr/>
          <p:nvPr/>
        </p:nvSpPr>
        <p:spPr>
          <a:xfrm>
            <a:off x="443484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459943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913" name="Text 13"/>
          <p:cNvSpPr/>
          <p:nvPr/>
        </p:nvSpPr>
        <p:spPr>
          <a:xfrm>
            <a:off x="459943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914" name="Shape 14"/>
          <p:cNvSpPr/>
          <p:nvPr/>
        </p:nvSpPr>
        <p:spPr>
          <a:xfrm>
            <a:off x="800100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6559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916" name="Text 16"/>
          <p:cNvSpPr/>
          <p:nvPr/>
        </p:nvSpPr>
        <p:spPr>
          <a:xfrm>
            <a:off x="816559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917" name="Text 17"/>
          <p:cNvSpPr/>
          <p:nvPr/>
        </p:nvSpPr>
        <p:spPr>
          <a:xfrm>
            <a:off x="914400" y="51206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918" name="Text 18"/>
          <p:cNvSpPr/>
          <p:nvPr/>
        </p:nvSpPr>
        <p:spPr>
          <a:xfrm>
            <a:off x="1005840" y="5596128"/>
            <a:ext cx="10149840"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919" name="Text 1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0" name="Text 2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36</a:t>
            </a:r>
            <a:endParaRPr lang="en-US" sz="85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7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7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7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57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57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7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37</a:t>
            </a:r>
          </a:p>
        </p:txBody>
      </p:sp>
      <p:pic>
        <p:nvPicPr>
          <p:cNvPr id="578" name="Image 0" descr="/mnt/data/ch2_docx_unzipped/word/media/image14.png"/>
          <p:cNvPicPr/>
          <p:nvPr/>
        </p:nvPicPr>
        <p:blipFill>
          <a:blip r:embed="rId3"/>
          <a:stretch/>
        </p:blipFill>
        <p:spPr>
          <a:xfrm>
            <a:off x="228600" y="1088280"/>
            <a:ext cx="5749560" cy="3483360"/>
          </a:xfrm>
          <a:prstGeom prst="rect">
            <a:avLst/>
          </a:prstGeom>
          <a:noFill/>
          <a:ln w="0">
            <a:noFill/>
          </a:ln>
        </p:spPr>
      </p:pic>
      <p:sp>
        <p:nvSpPr>
          <p:cNvPr id="579" name="Shape 6"/>
          <p:cNvSpPr/>
          <p:nvPr/>
        </p:nvSpPr>
        <p:spPr>
          <a:xfrm>
            <a:off x="6583680" y="1188720"/>
            <a:ext cx="1599480" cy="2056680"/>
          </a:xfrm>
          <a:prstGeom prst="roundRect">
            <a:avLst>
              <a:gd name="adj" fmla="val 342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0" name="Text 7"/>
          <p:cNvSpPr/>
          <p:nvPr/>
        </p:nvSpPr>
        <p:spPr>
          <a:xfrm>
            <a:off x="6748200" y="1334880"/>
            <a:ext cx="12704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581" name="Text 8"/>
          <p:cNvSpPr/>
          <p:nvPr/>
        </p:nvSpPr>
        <p:spPr>
          <a:xfrm>
            <a:off x="6748200" y="1664280"/>
            <a:ext cx="127044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582" name="Shape 9"/>
          <p:cNvSpPr/>
          <p:nvPr/>
        </p:nvSpPr>
        <p:spPr>
          <a:xfrm>
            <a:off x="8229600" y="1188720"/>
            <a:ext cx="1782360" cy="2056680"/>
          </a:xfrm>
          <a:prstGeom prst="roundRect">
            <a:avLst>
              <a:gd name="adj" fmla="val 307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3" name="Text 10"/>
          <p:cNvSpPr/>
          <p:nvPr/>
        </p:nvSpPr>
        <p:spPr>
          <a:xfrm>
            <a:off x="8394120" y="1334880"/>
            <a:ext cx="14533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584" name="Text 11"/>
          <p:cNvSpPr/>
          <p:nvPr/>
        </p:nvSpPr>
        <p:spPr>
          <a:xfrm>
            <a:off x="8394120" y="1664280"/>
            <a:ext cx="145332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585" name="Shape 12"/>
          <p:cNvSpPr/>
          <p:nvPr/>
        </p:nvSpPr>
        <p:spPr>
          <a:xfrm>
            <a:off x="10058400" y="1188720"/>
            <a:ext cx="1690920" cy="2056680"/>
          </a:xfrm>
          <a:prstGeom prst="roundRect">
            <a:avLst>
              <a:gd name="adj" fmla="val 3243"/>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6" name="Text 13"/>
          <p:cNvSpPr/>
          <p:nvPr/>
        </p:nvSpPr>
        <p:spPr>
          <a:xfrm>
            <a:off x="10222920" y="1334880"/>
            <a:ext cx="1361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587" name="Text 14"/>
          <p:cNvSpPr/>
          <p:nvPr/>
        </p:nvSpPr>
        <p:spPr>
          <a:xfrm>
            <a:off x="10222920" y="1664280"/>
            <a:ext cx="136188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588" name="Shape 15"/>
          <p:cNvSpPr/>
          <p:nvPr/>
        </p:nvSpPr>
        <p:spPr>
          <a:xfrm>
            <a:off x="1097280" y="4846320"/>
            <a:ext cx="98755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89" name="Text 16"/>
          <p:cNvSpPr/>
          <p:nvPr/>
        </p:nvSpPr>
        <p:spPr>
          <a:xfrm>
            <a:off x="109728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590" name="Text 17"/>
          <p:cNvSpPr/>
          <p:nvPr/>
        </p:nvSpPr>
        <p:spPr>
          <a:xfrm>
            <a:off x="781812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591" name="Text 18"/>
          <p:cNvSpPr/>
          <p:nvPr/>
        </p:nvSpPr>
        <p:spPr>
          <a:xfrm>
            <a:off x="822960" y="5632560"/>
            <a:ext cx="106063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592"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115568"/>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906" name="Shape 6"/>
          <p:cNvSpPr/>
          <p:nvPr/>
        </p:nvSpPr>
        <p:spPr>
          <a:xfrm>
            <a:off x="86868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1498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908" name="Text 8"/>
          <p:cNvSpPr/>
          <p:nvPr/>
        </p:nvSpPr>
        <p:spPr>
          <a:xfrm>
            <a:off x="101498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909" name="Text 9"/>
          <p:cNvSpPr/>
          <p:nvPr/>
        </p:nvSpPr>
        <p:spPr>
          <a:xfrm>
            <a:off x="105156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910" name="Shape 10"/>
          <p:cNvSpPr/>
          <p:nvPr/>
        </p:nvSpPr>
        <p:spPr>
          <a:xfrm>
            <a:off x="443484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8114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912" name="Text 12"/>
          <p:cNvSpPr/>
          <p:nvPr/>
        </p:nvSpPr>
        <p:spPr>
          <a:xfrm>
            <a:off x="458114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913" name="Text 13"/>
          <p:cNvSpPr/>
          <p:nvPr/>
        </p:nvSpPr>
        <p:spPr>
          <a:xfrm>
            <a:off x="461772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914" name="Shape 14"/>
          <p:cNvSpPr/>
          <p:nvPr/>
        </p:nvSpPr>
        <p:spPr>
          <a:xfrm>
            <a:off x="800100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4730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916" name="Text 16"/>
          <p:cNvSpPr/>
          <p:nvPr/>
        </p:nvSpPr>
        <p:spPr>
          <a:xfrm>
            <a:off x="814730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917" name="Text 17"/>
          <p:cNvSpPr/>
          <p:nvPr/>
        </p:nvSpPr>
        <p:spPr>
          <a:xfrm>
            <a:off x="818388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918" name="Text 18"/>
          <p:cNvSpPr/>
          <p:nvPr/>
        </p:nvSpPr>
        <p:spPr>
          <a:xfrm>
            <a:off x="914400" y="3886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919" name="Shape 19"/>
          <p:cNvSpPr/>
          <p:nvPr/>
        </p:nvSpPr>
        <p:spPr>
          <a:xfrm>
            <a:off x="868680" y="4389120"/>
            <a:ext cx="10424160" cy="123444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1124712" y="4535424"/>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921" name="Text 21"/>
          <p:cNvSpPr/>
          <p:nvPr/>
        </p:nvSpPr>
        <p:spPr>
          <a:xfrm>
            <a:off x="1124712" y="4882896"/>
            <a:ext cx="991209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922" name="Text 22"/>
          <p:cNvSpPr/>
          <p:nvPr/>
        </p:nvSpPr>
        <p:spPr>
          <a:xfrm>
            <a:off x="1005840" y="5852160"/>
            <a:ext cx="10149840" cy="36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923" name="Text 2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4" name="Text 2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38</a:t>
            </a:r>
            <a:endParaRPr lang="en-US" sz="8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097280"/>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906" name="Shape 6"/>
          <p:cNvSpPr/>
          <p:nvPr/>
        </p:nvSpPr>
        <p:spPr>
          <a:xfrm>
            <a:off x="86868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6984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908" name="Text 8"/>
          <p:cNvSpPr/>
          <p:nvPr/>
        </p:nvSpPr>
        <p:spPr>
          <a:xfrm>
            <a:off x="106984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909" name="Shape 9"/>
          <p:cNvSpPr/>
          <p:nvPr/>
        </p:nvSpPr>
        <p:spPr>
          <a:xfrm>
            <a:off x="12527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Shape 10"/>
          <p:cNvSpPr/>
          <p:nvPr/>
        </p:nvSpPr>
        <p:spPr>
          <a:xfrm>
            <a:off x="1847088" y="3127248"/>
            <a:ext cx="502920" cy="502920"/>
          </a:xfrm>
          <a:prstGeom prst="roundRect">
            <a:avLst>
              <a:gd name="adj" fmla="val 12000"/>
            </a:avLst>
          </a:prstGeom>
          <a:solidFill>
            <a:srgbClr val="0B2B5C"/>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Shape 11"/>
          <p:cNvSpPr/>
          <p:nvPr/>
        </p:nvSpPr>
        <p:spPr>
          <a:xfrm>
            <a:off x="244144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Shape 12"/>
          <p:cNvSpPr/>
          <p:nvPr/>
        </p:nvSpPr>
        <p:spPr>
          <a:xfrm>
            <a:off x="303580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3" name="Shape 13"/>
          <p:cNvSpPr/>
          <p:nvPr/>
        </p:nvSpPr>
        <p:spPr>
          <a:xfrm>
            <a:off x="3630168" y="3127248"/>
            <a:ext cx="502920" cy="502920"/>
          </a:xfrm>
          <a:prstGeom prst="roundRect">
            <a:avLst>
              <a:gd name="adj" fmla="val 12000"/>
            </a:avLst>
          </a:prstGeom>
          <a:solidFill>
            <a:srgbClr val="F5A21B"/>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2245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1888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161848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917" name="Text 17"/>
          <p:cNvSpPr/>
          <p:nvPr/>
        </p:nvSpPr>
        <p:spPr>
          <a:xfrm>
            <a:off x="340156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918" name="Text 18"/>
          <p:cNvSpPr/>
          <p:nvPr/>
        </p:nvSpPr>
        <p:spPr>
          <a:xfrm>
            <a:off x="106984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919" name="Shape 19"/>
          <p:cNvSpPr/>
          <p:nvPr/>
        </p:nvSpPr>
        <p:spPr>
          <a:xfrm>
            <a:off x="621792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641908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921" name="Text 21"/>
          <p:cNvSpPr/>
          <p:nvPr/>
        </p:nvSpPr>
        <p:spPr>
          <a:xfrm>
            <a:off x="641908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922" name="Shape 22"/>
          <p:cNvSpPr/>
          <p:nvPr/>
        </p:nvSpPr>
        <p:spPr>
          <a:xfrm>
            <a:off x="6601968" y="3127248"/>
            <a:ext cx="502920" cy="502920"/>
          </a:xfrm>
          <a:prstGeom prst="roundRect">
            <a:avLst>
              <a:gd name="adj" fmla="val 12000"/>
            </a:avLst>
          </a:prstGeom>
          <a:solidFill>
            <a:srgbClr val="1B7A4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Shape 23"/>
          <p:cNvSpPr/>
          <p:nvPr/>
        </p:nvSpPr>
        <p:spPr>
          <a:xfrm>
            <a:off x="7196328" y="3127248"/>
            <a:ext cx="502920" cy="502920"/>
          </a:xfrm>
          <a:prstGeom prst="roundRect">
            <a:avLst>
              <a:gd name="adj" fmla="val 12000"/>
            </a:avLst>
          </a:prstGeom>
          <a:solidFill>
            <a:srgbClr val="8FC7A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4" name="Shape 24"/>
          <p:cNvSpPr/>
          <p:nvPr/>
        </p:nvSpPr>
        <p:spPr>
          <a:xfrm>
            <a:off x="7790688" y="3127248"/>
            <a:ext cx="502920" cy="502920"/>
          </a:xfrm>
          <a:prstGeom prst="roundRect">
            <a:avLst>
              <a:gd name="adj" fmla="val 12000"/>
            </a:avLst>
          </a:prstGeom>
          <a:solidFill>
            <a:srgbClr val="C8E2D4"/>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5" name="Shape 25"/>
          <p:cNvSpPr/>
          <p:nvPr/>
        </p:nvSpPr>
        <p:spPr>
          <a:xfrm>
            <a:off x="8385048" y="3127248"/>
            <a:ext cx="502920" cy="502920"/>
          </a:xfrm>
          <a:prstGeom prst="roundRect">
            <a:avLst>
              <a:gd name="adj" fmla="val 12000"/>
            </a:avLst>
          </a:prstGeom>
          <a:solidFill>
            <a:srgbClr val="5FAE8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Shape 26"/>
          <p:cNvSpPr/>
          <p:nvPr/>
        </p:nvSpPr>
        <p:spPr>
          <a:xfrm>
            <a:off x="8979408" y="3127248"/>
            <a:ext cx="502920" cy="502920"/>
          </a:xfrm>
          <a:prstGeom prst="roundRect">
            <a:avLst>
              <a:gd name="adj" fmla="val 12000"/>
            </a:avLst>
          </a:prstGeom>
          <a:solidFill>
            <a:srgbClr val="E2F0E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7" name="Shape 27"/>
          <p:cNvSpPr/>
          <p:nvPr/>
        </p:nvSpPr>
        <p:spPr>
          <a:xfrm>
            <a:off x="9573768" y="3127248"/>
            <a:ext cx="502920" cy="502920"/>
          </a:xfrm>
          <a:prstGeom prst="roundRect">
            <a:avLst>
              <a:gd name="adj" fmla="val 12000"/>
            </a:avLst>
          </a:prstGeom>
          <a:solidFill>
            <a:srgbClr val="A9D5BE"/>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Shape 28"/>
          <p:cNvSpPr/>
          <p:nvPr/>
        </p:nvSpPr>
        <p:spPr>
          <a:xfrm>
            <a:off x="10168128" y="3127248"/>
            <a:ext cx="502920" cy="502920"/>
          </a:xfrm>
          <a:prstGeom prst="roundRect">
            <a:avLst>
              <a:gd name="adj" fmla="val 12000"/>
            </a:avLst>
          </a:prstGeom>
          <a:solidFill>
            <a:srgbClr val="77BC9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9" name="Text 29"/>
          <p:cNvSpPr/>
          <p:nvPr/>
        </p:nvSpPr>
        <p:spPr>
          <a:xfrm>
            <a:off x="6419088" y="3712464"/>
            <a:ext cx="4672584"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930" name="Text 30"/>
          <p:cNvSpPr/>
          <p:nvPr/>
        </p:nvSpPr>
        <p:spPr>
          <a:xfrm>
            <a:off x="641908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931" name="Text 31"/>
          <p:cNvSpPr/>
          <p:nvPr/>
        </p:nvSpPr>
        <p:spPr>
          <a:xfrm>
            <a:off x="914400" y="486460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932" name="Text 32"/>
          <p:cNvSpPr/>
          <p:nvPr/>
        </p:nvSpPr>
        <p:spPr>
          <a:xfrm>
            <a:off x="1005840" y="537667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933" name="Text 3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34" name="Text 3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39</a:t>
            </a:r>
            <a:endParaRPr lang="en-US" sz="85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93"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94"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95"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596"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597"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98"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40</a:t>
            </a:r>
          </a:p>
        </p:txBody>
      </p:sp>
      <p:sp>
        <p:nvSpPr>
          <p:cNvPr id="599" name="Shape 6"/>
          <p:cNvSpPr/>
          <p:nvPr/>
        </p:nvSpPr>
        <p:spPr>
          <a:xfrm>
            <a:off x="5029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0" name="Text 7"/>
          <p:cNvSpPr/>
          <p:nvPr/>
        </p:nvSpPr>
        <p:spPr>
          <a:xfrm>
            <a:off x="6674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601" name="Text 8"/>
          <p:cNvSpPr/>
          <p:nvPr/>
        </p:nvSpPr>
        <p:spPr>
          <a:xfrm>
            <a:off x="6674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602" name="Shape 9"/>
          <p:cNvSpPr/>
          <p:nvPr/>
        </p:nvSpPr>
        <p:spPr>
          <a:xfrm>
            <a:off x="43891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3" name="Text 10"/>
          <p:cNvSpPr/>
          <p:nvPr/>
        </p:nvSpPr>
        <p:spPr>
          <a:xfrm>
            <a:off x="45536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604" name="Text 11"/>
          <p:cNvSpPr/>
          <p:nvPr/>
        </p:nvSpPr>
        <p:spPr>
          <a:xfrm>
            <a:off x="45536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605" name="Shape 12"/>
          <p:cNvSpPr/>
          <p:nvPr/>
        </p:nvSpPr>
        <p:spPr>
          <a:xfrm>
            <a:off x="82753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6" name="Text 13"/>
          <p:cNvSpPr/>
          <p:nvPr/>
        </p:nvSpPr>
        <p:spPr>
          <a:xfrm>
            <a:off x="84398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607" name="Text 14"/>
          <p:cNvSpPr/>
          <p:nvPr/>
        </p:nvSpPr>
        <p:spPr>
          <a:xfrm>
            <a:off x="84398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608" name="Shape 15"/>
          <p:cNvSpPr/>
          <p:nvPr/>
        </p:nvSpPr>
        <p:spPr>
          <a:xfrm>
            <a:off x="5029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9" name="Text 16"/>
          <p:cNvSpPr/>
          <p:nvPr/>
        </p:nvSpPr>
        <p:spPr>
          <a:xfrm>
            <a:off x="6674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610" name="Text 17"/>
          <p:cNvSpPr/>
          <p:nvPr/>
        </p:nvSpPr>
        <p:spPr>
          <a:xfrm>
            <a:off x="6674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611" name="Shape 18"/>
          <p:cNvSpPr/>
          <p:nvPr/>
        </p:nvSpPr>
        <p:spPr>
          <a:xfrm>
            <a:off x="43891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2" name="Text 19"/>
          <p:cNvSpPr/>
          <p:nvPr/>
        </p:nvSpPr>
        <p:spPr>
          <a:xfrm>
            <a:off x="45536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613" name="Text 20"/>
          <p:cNvSpPr/>
          <p:nvPr/>
        </p:nvSpPr>
        <p:spPr>
          <a:xfrm>
            <a:off x="45536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614" name="Shape 21"/>
          <p:cNvSpPr/>
          <p:nvPr/>
        </p:nvSpPr>
        <p:spPr>
          <a:xfrm>
            <a:off x="82753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5" name="Text 22"/>
          <p:cNvSpPr/>
          <p:nvPr/>
        </p:nvSpPr>
        <p:spPr>
          <a:xfrm>
            <a:off x="84398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616" name="Text 23"/>
          <p:cNvSpPr/>
          <p:nvPr/>
        </p:nvSpPr>
        <p:spPr>
          <a:xfrm>
            <a:off x="84398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617" name="Text 24"/>
          <p:cNvSpPr/>
          <p:nvPr/>
        </p:nvSpPr>
        <p:spPr>
          <a:xfrm>
            <a:off x="731520" y="5532120"/>
            <a:ext cx="1078920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often combine them.</a:t>
            </a:r>
            <a:endParaRPr lang="en-US" sz="18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1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1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2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62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62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2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41</a:t>
            </a:r>
          </a:p>
        </p:txBody>
      </p:sp>
      <p:sp>
        <p:nvSpPr>
          <p:cNvPr id="624" name="Shape 6"/>
          <p:cNvSpPr/>
          <p:nvPr/>
        </p:nvSpPr>
        <p:spPr>
          <a:xfrm>
            <a:off x="65844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5" name="Text 7"/>
          <p:cNvSpPr/>
          <p:nvPr/>
        </p:nvSpPr>
        <p:spPr>
          <a:xfrm>
            <a:off x="82296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rPr>
              <a:t>Fully observable + simple</a:t>
            </a:r>
            <a:endParaRPr lang="en-US" sz="1550" b="0" u="none" strike="noStrike">
              <a:solidFill>
                <a:srgbClr val="000000"/>
              </a:solidFill>
              <a:effectLst/>
              <a:uFillTx/>
              <a:latin typeface="Arial"/>
            </a:endParaRPr>
          </a:p>
        </p:txBody>
      </p:sp>
      <p:sp>
        <p:nvSpPr>
          <p:cNvPr id="626" name="Text 8"/>
          <p:cNvSpPr/>
          <p:nvPr/>
        </p:nvSpPr>
        <p:spPr>
          <a:xfrm>
            <a:off x="82296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627" name="Shape 9"/>
          <p:cNvSpPr/>
          <p:nvPr/>
        </p:nvSpPr>
        <p:spPr>
          <a:xfrm>
            <a:off x="623628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8" name="Text 10"/>
          <p:cNvSpPr/>
          <p:nvPr/>
        </p:nvSpPr>
        <p:spPr>
          <a:xfrm>
            <a:off x="640080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629" name="Text 11"/>
          <p:cNvSpPr/>
          <p:nvPr/>
        </p:nvSpPr>
        <p:spPr>
          <a:xfrm>
            <a:off x="640080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630" name="Shape 12"/>
          <p:cNvSpPr/>
          <p:nvPr/>
        </p:nvSpPr>
        <p:spPr>
          <a:xfrm>
            <a:off x="65844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1" name="Text 13"/>
          <p:cNvSpPr/>
          <p:nvPr/>
        </p:nvSpPr>
        <p:spPr>
          <a:xfrm>
            <a:off x="82296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632" name="Text 14"/>
          <p:cNvSpPr/>
          <p:nvPr/>
        </p:nvSpPr>
        <p:spPr>
          <a:xfrm>
            <a:off x="82296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633" name="Shape 15"/>
          <p:cNvSpPr/>
          <p:nvPr/>
        </p:nvSpPr>
        <p:spPr>
          <a:xfrm>
            <a:off x="623628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4" name="Text 16"/>
          <p:cNvSpPr/>
          <p:nvPr/>
        </p:nvSpPr>
        <p:spPr>
          <a:xfrm>
            <a:off x="640080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635" name="Text 17"/>
          <p:cNvSpPr/>
          <p:nvPr/>
        </p:nvSpPr>
        <p:spPr>
          <a:xfrm>
            <a:off x="640080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636" name="Shape 18"/>
          <p:cNvSpPr/>
          <p:nvPr/>
        </p:nvSpPr>
        <p:spPr>
          <a:xfrm>
            <a:off x="658440" y="4096440"/>
            <a:ext cx="1078920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7" name="Text 19"/>
          <p:cNvSpPr/>
          <p:nvPr/>
        </p:nvSpPr>
        <p:spPr>
          <a:xfrm>
            <a:off x="822960" y="4242960"/>
            <a:ext cx="10460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638" name="Text 20"/>
          <p:cNvSpPr/>
          <p:nvPr/>
        </p:nvSpPr>
        <p:spPr>
          <a:xfrm>
            <a:off x="822960" y="4572000"/>
            <a:ext cx="1046016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3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4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64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64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4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42</a:t>
            </a:r>
          </a:p>
        </p:txBody>
      </p:sp>
      <p:sp>
        <p:nvSpPr>
          <p:cNvPr id="645" name="Text 6"/>
          <p:cNvSpPr/>
          <p:nvPr/>
        </p:nvSpPr>
        <p:spPr>
          <a:xfrm>
            <a:off x="777240" y="1069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646" name="Shape 7"/>
          <p:cNvSpPr/>
          <p:nvPr/>
        </p:nvSpPr>
        <p:spPr>
          <a:xfrm>
            <a:off x="914400" y="1691640"/>
            <a:ext cx="2239560" cy="383400"/>
          </a:xfrm>
          <a:prstGeom prst="roundRect">
            <a:avLst>
              <a:gd name="adj" fmla="val 23810"/>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7" name="Text 8"/>
          <p:cNvSpPr/>
          <p:nvPr/>
        </p:nvSpPr>
        <p:spPr>
          <a:xfrm>
            <a:off x="9144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648" name="Shape 9"/>
          <p:cNvSpPr/>
          <p:nvPr/>
        </p:nvSpPr>
        <p:spPr>
          <a:xfrm>
            <a:off x="3657600" y="1691640"/>
            <a:ext cx="2239560" cy="383400"/>
          </a:xfrm>
          <a:prstGeom prst="roundRect">
            <a:avLst>
              <a:gd name="adj" fmla="val 23810"/>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9" name="Text 10"/>
          <p:cNvSpPr/>
          <p:nvPr/>
        </p:nvSpPr>
        <p:spPr>
          <a:xfrm>
            <a:off x="36576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650" name="Shape 11"/>
          <p:cNvSpPr/>
          <p:nvPr/>
        </p:nvSpPr>
        <p:spPr>
          <a:xfrm>
            <a:off x="6400800" y="1691640"/>
            <a:ext cx="2239560" cy="383400"/>
          </a:xfrm>
          <a:prstGeom prst="roundRect">
            <a:avLst>
              <a:gd name="adj" fmla="val 2381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1" name="Text 12"/>
          <p:cNvSpPr/>
          <p:nvPr/>
        </p:nvSpPr>
        <p:spPr>
          <a:xfrm>
            <a:off x="64008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652" name="Shape 13"/>
          <p:cNvSpPr/>
          <p:nvPr/>
        </p:nvSpPr>
        <p:spPr>
          <a:xfrm>
            <a:off x="9144000" y="1691640"/>
            <a:ext cx="2239560" cy="383400"/>
          </a:xfrm>
          <a:prstGeom prst="roundRect">
            <a:avLst>
              <a:gd name="adj" fmla="val 23810"/>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53" name="Text 14"/>
          <p:cNvSpPr/>
          <p:nvPr/>
        </p:nvSpPr>
        <p:spPr>
          <a:xfrm>
            <a:off x="91440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654" name="Shape 15"/>
          <p:cNvSpPr/>
          <p:nvPr/>
        </p:nvSpPr>
        <p:spPr>
          <a:xfrm>
            <a:off x="91440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5" name="Text 16"/>
          <p:cNvSpPr/>
          <p:nvPr/>
        </p:nvSpPr>
        <p:spPr>
          <a:xfrm>
            <a:off x="107892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656" name="Text 17"/>
          <p:cNvSpPr/>
          <p:nvPr/>
        </p:nvSpPr>
        <p:spPr>
          <a:xfrm>
            <a:off x="107892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57" name="Shape 18"/>
          <p:cNvSpPr/>
          <p:nvPr/>
        </p:nvSpPr>
        <p:spPr>
          <a:xfrm>
            <a:off x="626364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8" name="Text 19"/>
          <p:cNvSpPr/>
          <p:nvPr/>
        </p:nvSpPr>
        <p:spPr>
          <a:xfrm>
            <a:off x="642816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659" name="Text 20"/>
          <p:cNvSpPr/>
          <p:nvPr/>
        </p:nvSpPr>
        <p:spPr>
          <a:xfrm>
            <a:off x="642816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0" name="Shape 21"/>
          <p:cNvSpPr/>
          <p:nvPr/>
        </p:nvSpPr>
        <p:spPr>
          <a:xfrm>
            <a:off x="91440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1" name="Text 22"/>
          <p:cNvSpPr/>
          <p:nvPr/>
        </p:nvSpPr>
        <p:spPr>
          <a:xfrm>
            <a:off x="107892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662" name="Text 23"/>
          <p:cNvSpPr/>
          <p:nvPr/>
        </p:nvSpPr>
        <p:spPr>
          <a:xfrm>
            <a:off x="107892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3" name="Shape 24"/>
          <p:cNvSpPr/>
          <p:nvPr/>
        </p:nvSpPr>
        <p:spPr>
          <a:xfrm>
            <a:off x="626364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4" name="Text 25"/>
          <p:cNvSpPr/>
          <p:nvPr/>
        </p:nvSpPr>
        <p:spPr>
          <a:xfrm>
            <a:off x="642816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665" name="Text 26"/>
          <p:cNvSpPr/>
          <p:nvPr/>
        </p:nvSpPr>
        <p:spPr>
          <a:xfrm>
            <a:off x="642816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6" name="Text 27"/>
          <p:cNvSpPr/>
          <p:nvPr/>
        </p:nvSpPr>
        <p:spPr>
          <a:xfrm>
            <a:off x="914400" y="5577840"/>
            <a:ext cx="103320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Instructor checkpoint: if students cannot define PEAS, they are not ready to design the agent.</a:t>
            </a:r>
            <a:endParaRPr lang="en-US" sz="165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6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6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67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67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7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43</a:t>
            </a:r>
          </a:p>
        </p:txBody>
      </p:sp>
      <p:sp>
        <p:nvSpPr>
          <p:cNvPr id="67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operational.</a:t>
            </a:r>
            <a:endParaRPr lang="en-US" sz="2000" b="0" u="none" strike="noStrike">
              <a:solidFill>
                <a:srgbClr val="000000"/>
              </a:solidFill>
              <a:effectLst/>
              <a:uFillTx/>
              <a:latin typeface="Arial"/>
            </a:endParaRPr>
          </a:p>
        </p:txBody>
      </p:sp>
      <p:sp>
        <p:nvSpPr>
          <p:cNvPr id="674" name="Shape 7"/>
          <p:cNvSpPr/>
          <p:nvPr/>
        </p:nvSpPr>
        <p:spPr>
          <a:xfrm>
            <a:off x="1097280" y="17830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5" name="Text 8"/>
          <p:cNvSpPr/>
          <p:nvPr/>
        </p:nvSpPr>
        <p:spPr>
          <a:xfrm>
            <a:off x="1325880" y="18835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676" name="Shape 9"/>
          <p:cNvSpPr/>
          <p:nvPr/>
        </p:nvSpPr>
        <p:spPr>
          <a:xfrm>
            <a:off x="1097280" y="24688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7" name="Text 10"/>
          <p:cNvSpPr/>
          <p:nvPr/>
        </p:nvSpPr>
        <p:spPr>
          <a:xfrm>
            <a:off x="1325880" y="25693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678" name="Shape 11"/>
          <p:cNvSpPr/>
          <p:nvPr/>
        </p:nvSpPr>
        <p:spPr>
          <a:xfrm>
            <a:off x="1097280" y="31546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9" name="Text 12"/>
          <p:cNvSpPr/>
          <p:nvPr/>
        </p:nvSpPr>
        <p:spPr>
          <a:xfrm>
            <a:off x="1325880" y="32551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680" name="Shape 13"/>
          <p:cNvSpPr/>
          <p:nvPr/>
        </p:nvSpPr>
        <p:spPr>
          <a:xfrm>
            <a:off x="1097280" y="38404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1" name="Text 14"/>
          <p:cNvSpPr/>
          <p:nvPr/>
        </p:nvSpPr>
        <p:spPr>
          <a:xfrm>
            <a:off x="1325880" y="39409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682" name="Shape 15"/>
          <p:cNvSpPr/>
          <p:nvPr/>
        </p:nvSpPr>
        <p:spPr>
          <a:xfrm>
            <a:off x="1097280" y="45262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3" name="Text 16"/>
          <p:cNvSpPr/>
          <p:nvPr/>
        </p:nvSpPr>
        <p:spPr>
          <a:xfrm>
            <a:off x="1325880" y="46267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684" name="Text 17"/>
          <p:cNvSpPr/>
          <p:nvPr/>
        </p:nvSpPr>
        <p:spPr>
          <a:xfrm>
            <a:off x="822960" y="5596200"/>
            <a:ext cx="10606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Transition: search algorithms are one way to make goal-based agents act rationally.</a:t>
            </a:r>
            <a:endParaRPr lang="en-US" sz="18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1695" cy="804672"/>
          </a:xfrm>
          <a:prstGeom prst="rect">
            <a:avLst/>
          </a:prstGeom>
          <a:solidFill>
            <a:srgbClr val="123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04672"/>
            <a:ext cx="12191695" cy="73152"/>
          </a:xfrm>
          <a:prstGeom prst="rect">
            <a:avLst/>
          </a:prstGeom>
          <a:solidFill>
            <a:srgbClr val="F4A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75488" y="210312"/>
            <a:ext cx="8961120" cy="393192"/>
          </a:xfrm>
          <a:prstGeom prst="rect">
            <a:avLst/>
          </a:prstGeom>
          <a:noFill/>
        </p:spPr>
        <p:txBody>
          <a:bodyPr wrap="none" lIns="0" rIns="0" anchor="ctr">
            <a:spAutoFit/>
          </a:bodyPr>
          <a:lstStyle/>
          <a:p>
            <a:r>
              <a:rPr sz="2400" b="1">
                <a:solidFill>
                  <a:srgbClr val="FFFFFF"/>
                </a:solidFill>
                <a:latin typeface="Aptos Display"/>
              </a:rPr>
              <a:t>Live Code Demo: Five Chapter 2 Agent Programs</a:t>
            </a:r>
          </a:p>
        </p:txBody>
      </p:sp>
      <p:sp>
        <p:nvSpPr>
          <p:cNvPr id="6" name="Rounded Rectangle 5"/>
          <p:cNvSpPr/>
          <p:nvPr/>
        </p:nvSpPr>
        <p:spPr>
          <a:xfrm>
            <a:off x="10149840" y="256032"/>
            <a:ext cx="1554480" cy="274320"/>
          </a:xfrm>
          <a:prstGeom prst="roundRect">
            <a:avLst/>
          </a:prstGeom>
          <a:solidFill>
            <a:srgbClr val="E9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12325B"/>
                </a:solidFill>
              </a:rPr>
              <a:t>Demo code</a:t>
            </a:r>
          </a:p>
        </p:txBody>
      </p:sp>
      <p:sp>
        <p:nvSpPr>
          <p:cNvPr id="7" name="TextBox 6"/>
          <p:cNvSpPr txBox="1"/>
          <p:nvPr/>
        </p:nvSpPr>
        <p:spPr>
          <a:xfrm>
            <a:off x="475488" y="6565392"/>
            <a:ext cx="2743200" cy="164592"/>
          </a:xfrm>
          <a:prstGeom prst="rect">
            <a:avLst/>
          </a:prstGeom>
          <a:noFill/>
        </p:spPr>
        <p:txBody>
          <a:bodyPr wrap="none">
            <a:spAutoFit/>
          </a:bodyPr>
          <a:lstStyle/>
          <a:p>
            <a:r>
              <a:rPr sz="800">
                <a:solidFill>
                  <a:srgbClr val="5C6A7D"/>
                </a:solidFill>
              </a:rPr>
              <a:t>COMP 469 · Chapter 2</a:t>
            </a:r>
          </a:p>
        </p:txBody>
      </p:sp>
      <p:sp>
        <p:nvSpPr>
          <p:cNvPr id="8" name="TextBox 7"/>
          <p:cNvSpPr txBox="1"/>
          <p:nvPr/>
        </p:nvSpPr>
        <p:spPr>
          <a:xfrm>
            <a:off x="11201400" y="6565392"/>
            <a:ext cx="548640" cy="164592"/>
          </a:xfrm>
          <a:prstGeom prst="rect">
            <a:avLst/>
          </a:prstGeom>
          <a:noFill/>
        </p:spPr>
        <p:txBody>
          <a:bodyPr wrap="none">
            <a:spAutoFit/>
          </a:bodyPr>
          <a:lstStyle/>
          <a:p>
            <a:r>
              <a:t>44</a:t>
            </a:r>
          </a:p>
        </p:txBody>
      </p:sp>
      <p:sp>
        <p:nvSpPr>
          <p:cNvPr id="9" name="TextBox 8"/>
          <p:cNvSpPr txBox="1"/>
          <p:nvPr/>
        </p:nvSpPr>
        <p:spPr>
          <a:xfrm>
            <a:off x="685800" y="1078992"/>
            <a:ext cx="10881360" cy="329184"/>
          </a:xfrm>
          <a:prstGeom prst="rect">
            <a:avLst/>
          </a:prstGeom>
          <a:noFill/>
        </p:spPr>
        <p:txBody>
          <a:bodyPr wrap="none">
            <a:spAutoFit/>
          </a:bodyPr>
          <a:lstStyle/>
          <a:p>
            <a:r>
              <a:rPr sz="1800" b="1">
                <a:solidFill>
                  <a:srgbClr val="11243A"/>
                </a:solidFill>
              </a:rPr>
              <a:t>Keep the graphics/environment fixed; swap only the agent program being demonstrated.</a:t>
            </a:r>
          </a:p>
        </p:txBody>
      </p:sp>
      <p:sp>
        <p:nvSpPr>
          <p:cNvPr id="10" name="Rounded Rectangle 9"/>
          <p:cNvSpPr/>
          <p:nvPr/>
        </p:nvSpPr>
        <p:spPr>
          <a:xfrm>
            <a:off x="685800" y="1572768"/>
            <a:ext cx="10835640" cy="658368"/>
          </a:xfrm>
          <a:prstGeom prst="roundRect">
            <a:avLst/>
          </a:prstGeom>
          <a:solidFill>
            <a:srgbClr val="E8F2FA"/>
          </a:solidFill>
          <a:ln>
            <a:solidFill>
              <a:srgbClr val="B8CCDD"/>
            </a:solidFill>
          </a:ln>
        </p:spPr>
        <p:style>
          <a:lnRef idx="1">
            <a:schemeClr val="accent1"/>
          </a:lnRef>
          <a:fillRef idx="3">
            <a:schemeClr val="accent1"/>
          </a:fillRef>
          <a:effectRef idx="2">
            <a:schemeClr val="accent1"/>
          </a:effectRef>
          <a:fontRef idx="minor">
            <a:schemeClr val="lt1"/>
          </a:fontRef>
        </p:style>
        <p:txBody>
          <a:bodyPr lIns="146304" rIns="109728" rtlCol="0" anchor="ctr"/>
          <a:lstStyle/>
          <a:p>
            <a:pPr algn="ctr"/>
            <a:r>
              <a:rPr sz="1300" b="1">
                <a:solidFill>
                  <a:srgbClr val="12325B"/>
                </a:solidFill>
              </a:rPr>
              <a:t>Shared environment / architecture: </a:t>
            </a:r>
            <a:r>
              <a:rPr sz="1300" b="1">
                <a:solidFill>
                  <a:srgbClr val="058A94"/>
                </a:solidFill>
                <a:latin typeface="Consolas"/>
              </a:rPr>
              <a:t>pacman_chapter2_engine.py</a:t>
            </a:r>
            <a:r>
              <a:rPr sz="1300">
                <a:solidFill>
                  <a:srgbClr val="11243A"/>
                </a:solidFill>
              </a:rPr>
              <a:t>  — sensors, actuators, maze, ghosts, scoring, graphics, and performance feedback</a:t>
            </a:r>
          </a:p>
        </p:txBody>
      </p:sp>
      <p:sp>
        <p:nvSpPr>
          <p:cNvPr id="11" name="Rounded Rectangle 10"/>
          <p:cNvSpPr/>
          <p:nvPr/>
        </p:nvSpPr>
        <p:spPr>
          <a:xfrm>
            <a:off x="749808" y="2487168"/>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49808" y="2487168"/>
            <a:ext cx="109728" cy="64008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0976" y="2560320"/>
            <a:ext cx="4828032" cy="210312"/>
          </a:xfrm>
          <a:prstGeom prst="rect">
            <a:avLst/>
          </a:prstGeom>
          <a:noFill/>
        </p:spPr>
        <p:txBody>
          <a:bodyPr wrap="none">
            <a:spAutoFit/>
          </a:bodyPr>
          <a:lstStyle/>
          <a:p>
            <a:r>
              <a:rPr sz="1250" b="1">
                <a:solidFill>
                  <a:srgbClr val="2D79C7"/>
                </a:solidFill>
              </a:rPr>
              <a:t>Simple Reflex</a:t>
            </a:r>
            <a:r>
              <a:rPr sz="1000"/>
              <a:t>  </a:t>
            </a:r>
            <a:r>
              <a:rPr sz="1050">
                <a:solidFill>
                  <a:srgbClr val="11243A"/>
                </a:solidFill>
                <a:latin typeface="Consolas"/>
              </a:rPr>
              <a:t>01_simple_reflex_agent_ch2.py</a:t>
            </a:r>
          </a:p>
        </p:txBody>
      </p:sp>
      <p:sp>
        <p:nvSpPr>
          <p:cNvPr id="14" name="TextBox 13"/>
          <p:cNvSpPr txBox="1"/>
          <p:nvPr/>
        </p:nvSpPr>
        <p:spPr>
          <a:xfrm>
            <a:off x="950976" y="2825496"/>
            <a:ext cx="4828032" cy="201168"/>
          </a:xfrm>
          <a:prstGeom prst="rect">
            <a:avLst/>
          </a:prstGeom>
          <a:noFill/>
        </p:spPr>
        <p:txBody>
          <a:bodyPr wrap="none">
            <a:spAutoFit/>
          </a:bodyPr>
          <a:lstStyle/>
          <a:p>
            <a:r>
              <a:rPr sz="1050">
                <a:solidFill>
                  <a:srgbClr val="5C6A7D"/>
                </a:solidFill>
              </a:rPr>
              <a:t>current percept + ordered if-then rules</a:t>
            </a:r>
          </a:p>
        </p:txBody>
      </p:sp>
      <p:sp>
        <p:nvSpPr>
          <p:cNvPr id="15" name="Rounded Rectangle 14"/>
          <p:cNvSpPr/>
          <p:nvPr/>
        </p:nvSpPr>
        <p:spPr>
          <a:xfrm>
            <a:off x="6144768" y="2487168"/>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44768" y="2487168"/>
            <a:ext cx="109728" cy="64008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45936" y="2560320"/>
            <a:ext cx="5038344" cy="210312"/>
          </a:xfrm>
          <a:prstGeom prst="rect">
            <a:avLst/>
          </a:prstGeom>
          <a:noFill/>
        </p:spPr>
        <p:txBody>
          <a:bodyPr wrap="none">
            <a:spAutoFit/>
          </a:bodyPr>
          <a:lstStyle/>
          <a:p>
            <a:r>
              <a:rPr sz="1250" b="1">
                <a:solidFill>
                  <a:srgbClr val="0B8E88"/>
                </a:solidFill>
              </a:rPr>
              <a:t>Model-Based Reflex</a:t>
            </a:r>
            <a:r>
              <a:rPr sz="1000"/>
              <a:t>  </a:t>
            </a:r>
            <a:r>
              <a:rPr sz="1050">
                <a:solidFill>
                  <a:srgbClr val="11243A"/>
                </a:solidFill>
                <a:latin typeface="Consolas"/>
              </a:rPr>
              <a:t>02_model_based_reflex_agent_ch2.py</a:t>
            </a:r>
          </a:p>
        </p:txBody>
      </p:sp>
      <p:sp>
        <p:nvSpPr>
          <p:cNvPr id="18" name="TextBox 17"/>
          <p:cNvSpPr txBox="1"/>
          <p:nvPr/>
        </p:nvSpPr>
        <p:spPr>
          <a:xfrm>
            <a:off x="6345936" y="2825496"/>
            <a:ext cx="5038344" cy="201168"/>
          </a:xfrm>
          <a:prstGeom prst="rect">
            <a:avLst/>
          </a:prstGeom>
          <a:noFill/>
        </p:spPr>
        <p:txBody>
          <a:bodyPr wrap="none">
            <a:spAutoFit/>
          </a:bodyPr>
          <a:lstStyle/>
          <a:p>
            <a:r>
              <a:rPr sz="1050">
                <a:solidFill>
                  <a:srgbClr val="5C6A7D"/>
                </a:solidFill>
              </a:rPr>
              <a:t>internal state + transition_model + sensor_model</a:t>
            </a:r>
          </a:p>
        </p:txBody>
      </p:sp>
      <p:sp>
        <p:nvSpPr>
          <p:cNvPr id="19" name="Rounded Rectangle 18"/>
          <p:cNvSpPr/>
          <p:nvPr/>
        </p:nvSpPr>
        <p:spPr>
          <a:xfrm>
            <a:off x="749808" y="3328416"/>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49808" y="3328416"/>
            <a:ext cx="109728" cy="64008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0976" y="3401568"/>
            <a:ext cx="4828032" cy="210312"/>
          </a:xfrm>
          <a:prstGeom prst="rect">
            <a:avLst/>
          </a:prstGeom>
          <a:noFill/>
        </p:spPr>
        <p:txBody>
          <a:bodyPr wrap="none">
            <a:spAutoFit/>
          </a:bodyPr>
          <a:lstStyle/>
          <a:p>
            <a:r>
              <a:rPr sz="1250" b="1">
                <a:solidFill>
                  <a:srgbClr val="6B42C5"/>
                </a:solidFill>
              </a:rPr>
              <a:t>Goal-Based</a:t>
            </a:r>
            <a:r>
              <a:rPr sz="1000"/>
              <a:t>  </a:t>
            </a:r>
            <a:r>
              <a:rPr sz="1050">
                <a:solidFill>
                  <a:srgbClr val="11243A"/>
                </a:solidFill>
                <a:latin typeface="Consolas"/>
              </a:rPr>
              <a:t>03_goal_based_agent_ch2.py</a:t>
            </a:r>
          </a:p>
        </p:txBody>
      </p:sp>
      <p:sp>
        <p:nvSpPr>
          <p:cNvPr id="22" name="TextBox 21"/>
          <p:cNvSpPr txBox="1"/>
          <p:nvPr/>
        </p:nvSpPr>
        <p:spPr>
          <a:xfrm>
            <a:off x="950976" y="3666744"/>
            <a:ext cx="4828032" cy="201168"/>
          </a:xfrm>
          <a:prstGeom prst="rect">
            <a:avLst/>
          </a:prstGeom>
          <a:noFill/>
        </p:spPr>
        <p:txBody>
          <a:bodyPr wrap="none">
            <a:spAutoFit/>
          </a:bodyPr>
          <a:lstStyle/>
          <a:p>
            <a:r>
              <a:rPr sz="1050">
                <a:solidFill>
                  <a:srgbClr val="5C6A7D"/>
                </a:solidFill>
              </a:rPr>
              <a:t>formulate_goal + make_plan + execute first action</a:t>
            </a:r>
          </a:p>
        </p:txBody>
      </p:sp>
      <p:sp>
        <p:nvSpPr>
          <p:cNvPr id="23" name="Rounded Rectangle 22"/>
          <p:cNvSpPr/>
          <p:nvPr/>
        </p:nvSpPr>
        <p:spPr>
          <a:xfrm>
            <a:off x="6144768" y="3328416"/>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3328416"/>
            <a:ext cx="109728" cy="64008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45936" y="3401568"/>
            <a:ext cx="5038344" cy="210312"/>
          </a:xfrm>
          <a:prstGeom prst="rect">
            <a:avLst/>
          </a:prstGeom>
          <a:noFill/>
        </p:spPr>
        <p:txBody>
          <a:bodyPr wrap="none">
            <a:spAutoFit/>
          </a:bodyPr>
          <a:lstStyle/>
          <a:p>
            <a:r>
              <a:rPr sz="1250" b="1">
                <a:solidFill>
                  <a:srgbClr val="B36100"/>
                </a:solidFill>
              </a:rPr>
              <a:t>Utility-Based</a:t>
            </a:r>
            <a:r>
              <a:rPr sz="1000"/>
              <a:t>  </a:t>
            </a:r>
            <a:r>
              <a:rPr sz="1050">
                <a:solidFill>
                  <a:srgbClr val="11243A"/>
                </a:solidFill>
                <a:latin typeface="Consolas"/>
              </a:rPr>
              <a:t>04_utility_based_agent_ch2.py</a:t>
            </a:r>
          </a:p>
        </p:txBody>
      </p:sp>
      <p:sp>
        <p:nvSpPr>
          <p:cNvPr id="26" name="TextBox 25"/>
          <p:cNvSpPr txBox="1"/>
          <p:nvPr/>
        </p:nvSpPr>
        <p:spPr>
          <a:xfrm>
            <a:off x="6345936" y="3666744"/>
            <a:ext cx="5038344" cy="201168"/>
          </a:xfrm>
          <a:prstGeom prst="rect">
            <a:avLst/>
          </a:prstGeom>
          <a:noFill/>
        </p:spPr>
        <p:txBody>
          <a:bodyPr wrap="none">
            <a:spAutoFit/>
          </a:bodyPr>
          <a:lstStyle/>
          <a:p>
            <a:r>
              <a:rPr sz="1050">
                <a:solidFill>
                  <a:srgbClr val="5C6A7D"/>
                </a:solidFill>
              </a:rPr>
              <a:t>expected_utility over each legal action</a:t>
            </a:r>
          </a:p>
        </p:txBody>
      </p:sp>
      <p:sp>
        <p:nvSpPr>
          <p:cNvPr id="27" name="Rounded Rectangle 26"/>
          <p:cNvSpPr/>
          <p:nvPr/>
        </p:nvSpPr>
        <p:spPr>
          <a:xfrm>
            <a:off x="749808" y="4169664"/>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9808" y="4169664"/>
            <a:ext cx="109728" cy="64008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0976" y="4242816"/>
            <a:ext cx="4828032" cy="210312"/>
          </a:xfrm>
          <a:prstGeom prst="rect">
            <a:avLst/>
          </a:prstGeom>
          <a:noFill/>
        </p:spPr>
        <p:txBody>
          <a:bodyPr wrap="none">
            <a:spAutoFit/>
          </a:bodyPr>
          <a:lstStyle/>
          <a:p>
            <a:r>
              <a:rPr sz="1250" b="1">
                <a:solidFill>
                  <a:srgbClr val="1F7A3D"/>
                </a:solidFill>
              </a:rPr>
              <a:t>Learning</a:t>
            </a:r>
            <a:r>
              <a:rPr sz="1000"/>
              <a:t>  </a:t>
            </a:r>
            <a:r>
              <a:rPr sz="1050">
                <a:solidFill>
                  <a:srgbClr val="11243A"/>
                </a:solidFill>
                <a:latin typeface="Consolas"/>
              </a:rPr>
              <a:t>05_learning_agent_ch2.py</a:t>
            </a:r>
          </a:p>
        </p:txBody>
      </p:sp>
      <p:sp>
        <p:nvSpPr>
          <p:cNvPr id="30" name="TextBox 29"/>
          <p:cNvSpPr txBox="1"/>
          <p:nvPr/>
        </p:nvSpPr>
        <p:spPr>
          <a:xfrm>
            <a:off x="950976" y="4507992"/>
            <a:ext cx="4828032" cy="201168"/>
          </a:xfrm>
          <a:prstGeom prst="rect">
            <a:avLst/>
          </a:prstGeom>
          <a:noFill/>
        </p:spPr>
        <p:txBody>
          <a:bodyPr wrap="none">
            <a:spAutoFit/>
          </a:bodyPr>
          <a:lstStyle/>
          <a:p>
            <a:r>
              <a:rPr sz="1050">
                <a:solidFill>
                  <a:srgbClr val="5C6A7D"/>
                </a:solidFill>
              </a:rPr>
              <a:t>performance element + critic + learning + problem generator</a:t>
            </a:r>
          </a:p>
        </p:txBody>
      </p:sp>
      <p:sp>
        <p:nvSpPr>
          <p:cNvPr id="31" name="Rounded Rectangle 30"/>
          <p:cNvSpPr/>
          <p:nvPr/>
        </p:nvSpPr>
        <p:spPr>
          <a:xfrm>
            <a:off x="685800" y="5212080"/>
            <a:ext cx="5349240" cy="713232"/>
          </a:xfrm>
          <a:prstGeom prst="roundRect">
            <a:avLst/>
          </a:prstGeom>
          <a:solidFill>
            <a:srgbClr val="FFF4DE"/>
          </a:solidFill>
          <a:ln>
            <a:solidFill>
              <a:srgbClr val="F0C666"/>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Teaching sequence: </a:t>
            </a:r>
            <a:r>
              <a:rPr sz="1250">
                <a:solidFill>
                  <a:srgbClr val="11243A"/>
                </a:solidFill>
              </a:rPr>
              <a:t>run 1 → 2 → 3 → 4 → 5 and ask what changed in the decision process.</a:t>
            </a:r>
          </a:p>
        </p:txBody>
      </p:sp>
      <p:sp>
        <p:nvSpPr>
          <p:cNvPr id="32" name="Rounded Rectangle 31"/>
          <p:cNvSpPr/>
          <p:nvPr/>
        </p:nvSpPr>
        <p:spPr>
          <a:xfrm>
            <a:off x="6263640" y="5212080"/>
            <a:ext cx="5257800" cy="713232"/>
          </a:xfrm>
          <a:prstGeom prst="roundRect">
            <a:avLst/>
          </a:prstGeom>
          <a:solidFill>
            <a:srgbClr val="EAF7EC"/>
          </a:solidFill>
          <a:ln>
            <a:solidFill>
              <a:srgbClr val="B6D8BE"/>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Code focus: </a:t>
            </a:r>
            <a:r>
              <a:rPr sz="1250">
                <a:solidFill>
                  <a:srgbClr val="11243A"/>
                </a:solidFill>
              </a:rPr>
              <a:t>project the section marked CHAPTER 2 AGENT PROGRAM STARTS HERE.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8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8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Your Lecture</a:t>
            </a:r>
            <a:endParaRPr lang="en-US" sz="2300" b="0" u="none" strike="noStrike">
              <a:solidFill>
                <a:srgbClr val="000000"/>
              </a:solidFill>
              <a:effectLst/>
              <a:uFillTx/>
              <a:latin typeface="Arial"/>
            </a:endParaRPr>
          </a:p>
        </p:txBody>
      </p:sp>
      <p:sp>
        <p:nvSpPr>
          <p:cNvPr id="68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68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9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45</a:t>
            </a:r>
          </a:p>
        </p:txBody>
      </p:sp>
      <p:sp>
        <p:nvSpPr>
          <p:cNvPr id="691" name="Shape 6"/>
          <p:cNvSpPr/>
          <p:nvPr/>
        </p:nvSpPr>
        <p:spPr>
          <a:xfrm>
            <a:off x="8686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2" name="Text 7"/>
          <p:cNvSpPr/>
          <p:nvPr/>
        </p:nvSpPr>
        <p:spPr>
          <a:xfrm>
            <a:off x="10332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Use for Chapter 2</a:t>
            </a:r>
            <a:endParaRPr lang="en-US" sz="1800" b="0" u="none" strike="noStrike">
              <a:solidFill>
                <a:srgbClr val="000000"/>
              </a:solidFill>
              <a:effectLst/>
              <a:uFillTx/>
              <a:latin typeface="Arial"/>
            </a:endParaRPr>
          </a:p>
        </p:txBody>
      </p:sp>
      <p:sp>
        <p:nvSpPr>
          <p:cNvPr id="693" name="Text 8"/>
          <p:cNvSpPr/>
          <p:nvPr/>
        </p:nvSpPr>
        <p:spPr>
          <a:xfrm>
            <a:off x="10332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694" name="Shape 9"/>
          <p:cNvSpPr/>
          <p:nvPr/>
        </p:nvSpPr>
        <p:spPr>
          <a:xfrm>
            <a:off x="63550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5" name="Text 10"/>
          <p:cNvSpPr/>
          <p:nvPr/>
        </p:nvSpPr>
        <p:spPr>
          <a:xfrm>
            <a:off x="65196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Save for Chapter 3</a:t>
            </a:r>
            <a:endParaRPr lang="en-US" sz="1800" b="0" u="none" strike="noStrike">
              <a:solidFill>
                <a:srgbClr val="000000"/>
              </a:solidFill>
              <a:effectLst/>
              <a:uFillTx/>
              <a:latin typeface="Arial"/>
            </a:endParaRPr>
          </a:p>
        </p:txBody>
      </p:sp>
      <p:sp>
        <p:nvSpPr>
          <p:cNvPr id="696" name="Text 11"/>
          <p:cNvSpPr/>
          <p:nvPr/>
        </p:nvSpPr>
        <p:spPr>
          <a:xfrm>
            <a:off x="65196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697" name="Shape 12"/>
          <p:cNvSpPr/>
          <p:nvPr/>
        </p:nvSpPr>
        <p:spPr>
          <a:xfrm>
            <a:off x="1508760" y="3246120"/>
            <a:ext cx="914328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8" name="Text 13"/>
          <p:cNvSpPr/>
          <p:nvPr/>
        </p:nvSpPr>
        <p:spPr>
          <a:xfrm>
            <a:off x="1673280" y="3392280"/>
            <a:ext cx="88142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Teaching boundary</a:t>
            </a:r>
            <a:endParaRPr lang="en-US" sz="1800" b="0" u="none" strike="noStrike">
              <a:solidFill>
                <a:srgbClr val="000000"/>
              </a:solidFill>
              <a:effectLst/>
              <a:uFillTx/>
              <a:latin typeface="Arial"/>
            </a:endParaRPr>
          </a:p>
        </p:txBody>
      </p:sp>
      <p:sp>
        <p:nvSpPr>
          <p:cNvPr id="699" name="Text 14"/>
          <p:cNvSpPr/>
          <p:nvPr/>
        </p:nvSpPr>
        <p:spPr>
          <a:xfrm>
            <a:off x="1673280" y="3721680"/>
            <a:ext cx="881424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700" name="Text 15"/>
          <p:cNvSpPr/>
          <p:nvPr/>
        </p:nvSpPr>
        <p:spPr>
          <a:xfrm>
            <a:off x="914400" y="5257800"/>
            <a:ext cx="10332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Recommended use: play the first segment as a bridge, then stop before the full search algorithms.</a:t>
            </a:r>
            <a:endParaRPr lang="en-US" sz="17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905" name="Shape 5"/>
          <p:cNvSpPr/>
          <p:nvPr/>
        </p:nvSpPr>
        <p:spPr>
          <a:xfrm>
            <a:off x="86868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1498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907" name="Text 7"/>
          <p:cNvSpPr/>
          <p:nvPr/>
        </p:nvSpPr>
        <p:spPr>
          <a:xfrm>
            <a:off x="101498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908" name="Text 8"/>
          <p:cNvSpPr/>
          <p:nvPr/>
        </p:nvSpPr>
        <p:spPr>
          <a:xfrm>
            <a:off x="101498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centre of intelligence.</a:t>
            </a:r>
            <a:endParaRPr lang="en-US" sz="1200" b="0" u="none" strike="noStrike">
              <a:solidFill>
                <a:srgbClr val="000000"/>
              </a:solidFill>
              <a:effectLst/>
              <a:uFillTx/>
              <a:latin typeface="Arial"/>
            </a:endParaRPr>
          </a:p>
        </p:txBody>
      </p:sp>
      <p:sp>
        <p:nvSpPr>
          <p:cNvPr id="909" name="Shape 9"/>
          <p:cNvSpPr/>
          <p:nvPr/>
        </p:nvSpPr>
        <p:spPr>
          <a:xfrm>
            <a:off x="354330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Text 10"/>
          <p:cNvSpPr/>
          <p:nvPr/>
        </p:nvSpPr>
        <p:spPr>
          <a:xfrm>
            <a:off x="368960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911" name="Text 11"/>
          <p:cNvSpPr/>
          <p:nvPr/>
        </p:nvSpPr>
        <p:spPr>
          <a:xfrm>
            <a:off x="368960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912" name="Text 12"/>
          <p:cNvSpPr/>
          <p:nvPr/>
        </p:nvSpPr>
        <p:spPr>
          <a:xfrm>
            <a:off x="368960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913" name="Shape 13"/>
          <p:cNvSpPr/>
          <p:nvPr/>
        </p:nvSpPr>
        <p:spPr>
          <a:xfrm>
            <a:off x="621792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636422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915" name="Text 15"/>
          <p:cNvSpPr/>
          <p:nvPr/>
        </p:nvSpPr>
        <p:spPr>
          <a:xfrm>
            <a:off x="636422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916" name="Text 16"/>
          <p:cNvSpPr/>
          <p:nvPr/>
        </p:nvSpPr>
        <p:spPr>
          <a:xfrm>
            <a:off x="636422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917" name="Shape 17"/>
          <p:cNvSpPr/>
          <p:nvPr/>
        </p:nvSpPr>
        <p:spPr>
          <a:xfrm>
            <a:off x="889254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903884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919" name="Text 19"/>
          <p:cNvSpPr/>
          <p:nvPr/>
        </p:nvSpPr>
        <p:spPr>
          <a:xfrm>
            <a:off x="903884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920" name="Text 20"/>
          <p:cNvSpPr/>
          <p:nvPr/>
        </p:nvSpPr>
        <p:spPr>
          <a:xfrm>
            <a:off x="903884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921" name="Shape 21"/>
          <p:cNvSpPr/>
          <p:nvPr/>
        </p:nvSpPr>
        <p:spPr>
          <a:xfrm>
            <a:off x="86868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101498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923" name="Text 23"/>
          <p:cNvSpPr/>
          <p:nvPr/>
        </p:nvSpPr>
        <p:spPr>
          <a:xfrm>
            <a:off x="101498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924" name="Text 24"/>
          <p:cNvSpPr/>
          <p:nvPr/>
        </p:nvSpPr>
        <p:spPr>
          <a:xfrm>
            <a:off x="101498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925" name="Shape 25"/>
          <p:cNvSpPr/>
          <p:nvPr/>
        </p:nvSpPr>
        <p:spPr>
          <a:xfrm>
            <a:off x="354330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Text 26"/>
          <p:cNvSpPr/>
          <p:nvPr/>
        </p:nvSpPr>
        <p:spPr>
          <a:xfrm>
            <a:off x="368960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927" name="Text 27"/>
          <p:cNvSpPr/>
          <p:nvPr/>
        </p:nvSpPr>
        <p:spPr>
          <a:xfrm>
            <a:off x="368960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928" name="Text 28"/>
          <p:cNvSpPr/>
          <p:nvPr/>
        </p:nvSpPr>
        <p:spPr>
          <a:xfrm>
            <a:off x="368960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929" name="Shape 29"/>
          <p:cNvSpPr/>
          <p:nvPr/>
        </p:nvSpPr>
        <p:spPr>
          <a:xfrm>
            <a:off x="621792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0" name="Text 30"/>
          <p:cNvSpPr/>
          <p:nvPr/>
        </p:nvSpPr>
        <p:spPr>
          <a:xfrm>
            <a:off x="636422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931" name="Text 31"/>
          <p:cNvSpPr/>
          <p:nvPr/>
        </p:nvSpPr>
        <p:spPr>
          <a:xfrm>
            <a:off x="636422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932" name="Text 32"/>
          <p:cNvSpPr/>
          <p:nvPr/>
        </p:nvSpPr>
        <p:spPr>
          <a:xfrm>
            <a:off x="636422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933" name="Shape 33"/>
          <p:cNvSpPr/>
          <p:nvPr/>
        </p:nvSpPr>
        <p:spPr>
          <a:xfrm>
            <a:off x="889254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4" name="Text 34"/>
          <p:cNvSpPr/>
          <p:nvPr/>
        </p:nvSpPr>
        <p:spPr>
          <a:xfrm>
            <a:off x="903884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935" name="Text 35"/>
          <p:cNvSpPr/>
          <p:nvPr/>
        </p:nvSpPr>
        <p:spPr>
          <a:xfrm>
            <a:off x="903884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936" name="Text 36"/>
          <p:cNvSpPr/>
          <p:nvPr/>
        </p:nvSpPr>
        <p:spPr>
          <a:xfrm>
            <a:off x="903884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937" name="Text 37"/>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938" name="Text 38"/>
          <p:cNvSpPr/>
          <p:nvPr/>
        </p:nvSpPr>
        <p:spPr>
          <a:xfrm>
            <a:off x="1005840" y="546811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939" name="Text 3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0" name="Text 4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46</a:t>
            </a:r>
            <a:endParaRPr lang="en-US" sz="85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0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0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0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70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70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0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47</a:t>
            </a:r>
          </a:p>
        </p:txBody>
      </p:sp>
      <p:sp>
        <p:nvSpPr>
          <p:cNvPr id="707" name="Text 6"/>
          <p:cNvSpPr/>
          <p:nvPr/>
        </p:nvSpPr>
        <p:spPr>
          <a:xfrm>
            <a:off x="868680" y="1234440"/>
            <a:ext cx="10514880" cy="310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9999"/>
          </a:bodyPr>
          <a:lstStyle/>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708" name="Shape 7"/>
          <p:cNvSpPr/>
          <p:nvPr/>
        </p:nvSpPr>
        <p:spPr>
          <a:xfrm>
            <a:off x="914400" y="4892040"/>
            <a:ext cx="10332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709" name="Text 8"/>
          <p:cNvSpPr/>
          <p:nvPr/>
        </p:nvSpPr>
        <p:spPr>
          <a:xfrm>
            <a:off x="868680" y="5440680"/>
            <a:ext cx="10514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52</TotalTime>
  <Words>23176</Words>
  <Application>Microsoft Office PowerPoint</Application>
  <PresentationFormat>Widescreen</PresentationFormat>
  <Paragraphs>1824</Paragraphs>
  <Slides>47</Slides>
  <Notes>47</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47</vt:i4>
      </vt:variant>
    </vt:vector>
  </HeadingPairs>
  <TitlesOfParts>
    <vt:vector size="58" baseType="lpstr">
      <vt:lpstr>Aptos</vt:lpstr>
      <vt:lpstr>Aptos Display</vt:lpstr>
      <vt:lpstr>Arial</vt:lpstr>
      <vt:lpstr>Consolas</vt:lpstr>
      <vt:lpstr>Courier New</vt:lpstr>
      <vt:lpstr>Georgia</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2: Intelligent Agents</dc:title>
  <dc:subject>Chapter 2 Intelligent Agents</dc:subject>
  <dc:creator>COMP 469</dc:creator>
  <dc:description/>
  <cp:lastModifiedBy>Rios, Juan</cp:lastModifiedBy>
  <cp:revision>14</cp:revision>
  <dcterms:created xsi:type="dcterms:W3CDTF">2026-07-31T02:27:29Z</dcterms:created>
  <dcterms:modified xsi:type="dcterms:W3CDTF">2026-08-02T08:21:09Z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34</vt:i4>
  </property>
  <property fmtid="{D5CDD505-2E9C-101B-9397-08002B2CF9AE}" pid="3" name="PresentationFormat">
    <vt:lpwstr>On-screen Show (16:9)</vt:lpwstr>
  </property>
  <property fmtid="{D5CDD505-2E9C-101B-9397-08002B2CF9AE}" pid="4" name="Slides">
    <vt:i4>34</vt:i4>
  </property>
</Properties>
</file>