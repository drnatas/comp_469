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5.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1"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80" r:id="rId29"/>
    <p:sldId id="281" r:id="rId30"/>
    <p:sldId id="282" r:id="rId31"/>
    <p:sldId id="283" r:id="rId32"/>
    <p:sldId id="284" r:id="rId33"/>
    <p:sldId id="285" r:id="rId34"/>
    <p:sldId id="286" r:id="rId35"/>
    <p:sldId id="287" r:id="rId36"/>
    <p:sldId id="288" r:id="rId37"/>
    <p:sldId id="289" r:id="rId38"/>
    <p:sldId id="290" r:id="rId39"/>
  </p:sldIdLst>
  <p:sldSz cx="12192000" cy="6858000"/>
  <p:notesSz cx="6858000" cy="12192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3.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 name="PlaceHolder 1"/>
          <p:cNvSpPr>
            <a:spLocks noGrp="1"/>
          </p:cNvSpPr>
          <p:nvPr>
            <p:ph type="sldImg"/>
          </p:nvPr>
        </p:nvSpPr>
        <p:spPr>
          <a:xfrm>
            <a:off x="0" y="764280"/>
            <a:ext cx="0" cy="0"/>
          </a:xfrm>
          <a:prstGeom prst="rect">
            <a:avLst/>
          </a:prstGeom>
          <a:noFill/>
          <a:ln w="0">
            <a:noFill/>
          </a:ln>
        </p:spPr>
        <p:txBody>
          <a:bodyPr lIns="0" tIns="0" rIns="0" bIns="0" anchor="ctr">
            <a:noAutofit/>
          </a:bodyPr>
          <a:p>
            <a:r>
              <a:rPr lang="en-US" sz="1800" b="0" u="none" strike="noStrike">
                <a:solidFill>
                  <a:schemeClr val="dk1"/>
                </a:solidFill>
                <a:effectLst/>
                <a:uFillTx/>
                <a:latin typeface="Aptos"/>
              </a:rPr>
              <a:t>Click to move the slide</a:t>
            </a:r>
            <a:endParaRPr lang="en-US" sz="1800" b="0" u="none" strike="noStrike">
              <a:solidFill>
                <a:schemeClr val="dk1"/>
              </a:solidFill>
              <a:effectLst/>
              <a:uFillTx/>
              <a:latin typeface="Aptos"/>
            </a:endParaRPr>
          </a:p>
        </p:txBody>
      </p:sp>
      <p:sp>
        <p:nvSpPr>
          <p:cNvPr id="8"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9"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10" name="PlaceHolder 4"/>
          <p:cNvSpPr>
            <a:spLocks noGrp="1"/>
          </p:cNvSpPr>
          <p:nvPr>
            <p:ph type="dt" idx="1"/>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11" name="PlaceHolder 5"/>
          <p:cNvSpPr>
            <a:spLocks noGrp="1"/>
          </p:cNvSpPr>
          <p:nvPr>
            <p:ph type="ftr" idx="2"/>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2" name="PlaceHolder 6"/>
          <p:cNvSpPr>
            <a:spLocks noGrp="1"/>
          </p:cNvSpPr>
          <p:nvPr>
            <p:ph type="sldNum" idx="3"/>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0DA590CE-234F-42EB-B5E8-28E4986DD0EE}"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0" name="PlaceHolder 1"/>
          <p:cNvSpPr>
            <a:spLocks noGrp="1"/>
          </p:cNvSpPr>
          <p:nvPr>
            <p:ph type="sldImg"/>
          </p:nvPr>
        </p:nvSpPr>
        <p:spPr>
          <a:xfrm>
            <a:off x="685800" y="1143000"/>
            <a:ext cx="5485680" cy="3085560"/>
          </a:xfrm>
          <a:prstGeom prst="rect">
            <a:avLst/>
          </a:prstGeom>
          <a:ln w="0">
            <a:noFill/>
          </a:ln>
        </p:spPr>
      </p:sp>
      <p:sp>
        <p:nvSpPr>
          <p:cNvPr id="71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Open by linking Chapter 1 to Chapter 2. Chapter 1 ended with the rational-agent approach: AI is about systems that do the right thing. Chapter 2 makes that concrete by defining the agent, the environment, rational behavior, and agent program designs. Tell students that this chapter is the conceptual foundation for search, planning, probability, machine learning, and reinforcement learning later in the course.</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[Sources]</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Uploaded Chapter_2(4).docx, Chapter 2 opening and Section 2.1.</a:t>
            </a:r>
            <a:endParaRPr lang="en-US" sz="2000" b="0" u="none" strike="noStrike">
              <a:solidFill>
                <a:srgbClr val="000000"/>
              </a:solidFill>
              <a:effectLst/>
              <a:uFillTx/>
              <a:latin typeface="Arial"/>
            </a:endParaRPr>
          </a:p>
        </p:txBody>
      </p:sp>
      <p:sp>
        <p:nvSpPr>
          <p:cNvPr id="712" name="PlaceHolder 3"/>
          <p:cNvSpPr>
            <a:spLocks noGrp="1"/>
          </p:cNvSpPr>
          <p:nvPr>
            <p:ph type="sldNum" idx="4"/>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56719928-A057-43F9-8081-3E7EAF94DB39}" type="slidenum">
              <a:rPr lang="en-US" sz="1200" b="0" u="none" strike="noStrike">
                <a:solidFill>
                  <a:schemeClr val="dk1"/>
                </a:solidFill>
                <a:effectLst/>
                <a:uFillTx/>
                <a:latin typeface="+mn-lt"/>
                <a:ea typeface="+mn-ea"/>
              </a:rPr>
              <a:t>35</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3" name="PlaceHolder 1"/>
          <p:cNvSpPr>
            <a:spLocks noGrp="1"/>
          </p:cNvSpPr>
          <p:nvPr>
            <p:ph type="sldImg"/>
          </p:nvPr>
        </p:nvSpPr>
        <p:spPr>
          <a:xfrm>
            <a:off x="685800" y="1143000"/>
            <a:ext cx="5485680" cy="3085560"/>
          </a:xfrm>
          <a:prstGeom prst="rect">
            <a:avLst/>
          </a:prstGeom>
          <a:ln w="0">
            <a:noFill/>
          </a:ln>
        </p:spPr>
      </p:sp>
      <p:sp>
        <p:nvSpPr>
          <p:cNvPr id="71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Start with a capability quiz. Ask students which tasks they think current AI can do reliably. The purpose is to make students notice that task difficulty depends on the environment. Chess and Go have clean rules, full state representation, and limited actions. A dishwasher in an arbitrary home is physically messy, partially observable, and highly variable. This naturally leads into Chapter 2: define the agent, environment, percepts, actions, and performance measure before choosing an algorithm.</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[Sources]</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Uploaded Chapter_2(4).docx, Section 2.1 and Section 2.3.</a:t>
            </a:r>
            <a:endParaRPr lang="en-US" sz="2000" b="0" u="none" strike="noStrike">
              <a:solidFill>
                <a:srgbClr val="000000"/>
              </a:solidFill>
              <a:effectLst/>
              <a:uFillTx/>
              <a:latin typeface="Arial"/>
            </a:endParaRPr>
          </a:p>
        </p:txBody>
      </p:sp>
      <p:sp>
        <p:nvSpPr>
          <p:cNvPr id="715" name="PlaceHolder 3"/>
          <p:cNvSpPr>
            <a:spLocks noGrp="1"/>
          </p:cNvSpPr>
          <p:nvPr>
            <p:ph type="sldNum" idx="5"/>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E0042843-3413-446B-B250-E582DBC8A636}" type="slidenum">
              <a:rPr lang="en-US" sz="1200" b="0" u="none" strike="noStrike">
                <a:solidFill>
                  <a:schemeClr val="dk1"/>
                </a:solidFill>
                <a:effectLst/>
                <a:uFillTx/>
                <a:latin typeface="+mn-lt"/>
                <a:ea typeface="+mn-ea"/>
              </a:rPr>
              <a:t>35</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6" name="PlaceHolder 1"/>
          <p:cNvSpPr>
            <a:spLocks noGrp="1"/>
          </p:cNvSpPr>
          <p:nvPr>
            <p:ph type="sldImg"/>
          </p:nvPr>
        </p:nvSpPr>
        <p:spPr>
          <a:xfrm>
            <a:off x="685800" y="1143000"/>
            <a:ext cx="5485680" cy="3085560"/>
          </a:xfrm>
          <a:prstGeom prst="rect">
            <a:avLst/>
          </a:prstGeom>
          <a:ln w="0">
            <a:noFill/>
          </a:ln>
        </p:spPr>
      </p:sp>
      <p:sp>
        <p:nvSpPr>
          <p:cNvPr id="71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Use this slide to connect Chapter 1 and Chapter 2. Chapter 1 introduced the rational-agent approach. Chapter 2 operationalizes it: design systems that perceive and act to maximize expected performance. In this course we are not primarily trying to copy human thought or imitate human behavior. We are trying to build agents that choose actions that work.</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[Sources]</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Uploaded Chapter_2(4).docx, Chapter 2 opening.</a:t>
            </a:r>
            <a:endParaRPr lang="en-US" sz="2000" b="0" u="none" strike="noStrike">
              <a:solidFill>
                <a:srgbClr val="000000"/>
              </a:solidFill>
              <a:effectLst/>
              <a:uFillTx/>
              <a:latin typeface="Arial"/>
            </a:endParaRPr>
          </a:p>
        </p:txBody>
      </p:sp>
      <p:sp>
        <p:nvSpPr>
          <p:cNvPr id="718" name="PlaceHolder 3"/>
          <p:cNvSpPr>
            <a:spLocks noGrp="1"/>
          </p:cNvSpPr>
          <p:nvPr>
            <p:ph type="sldNum" idx="6"/>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C64E6956-B24E-426C-9121-ADDEBC0152B6}" type="slidenum">
              <a:rPr lang="en-US" sz="1200" b="0" u="none" strike="noStrike">
                <a:solidFill>
                  <a:schemeClr val="dk1"/>
                </a:solidFill>
                <a:effectLst/>
                <a:uFillTx/>
                <a:latin typeface="+mn-lt"/>
                <a:ea typeface="+mn-ea"/>
              </a:rPr>
              <a:t>35</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9" name="PlaceHolder 1"/>
          <p:cNvSpPr>
            <a:spLocks noGrp="1"/>
          </p:cNvSpPr>
          <p:nvPr>
            <p:ph type="sldImg"/>
          </p:nvPr>
        </p:nvSpPr>
        <p:spPr>
          <a:xfrm>
            <a:off x="685800" y="1143000"/>
            <a:ext cx="5485680" cy="3085560"/>
          </a:xfrm>
          <a:prstGeom prst="rect">
            <a:avLst/>
          </a:prstGeom>
          <a:ln w="0">
            <a:noFill/>
          </a:ln>
        </p:spPr>
      </p:sp>
      <p:sp>
        <p:nvSpPr>
          <p:cNvPr id="720"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Chapter 2 is not one algorithm. It is a design framework. First, describe the interaction loop. Second, define rational behavior. Third, specify the task using PEAS. Fourth, classify the environment. Fifth, choose an agent program design. Finally, discuss learning and representation choices.</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[Sources]</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Uploaded Chapter_2(4).docx, Sections 2.1-2.4 and Summary.</a:t>
            </a:r>
            <a:endParaRPr lang="en-US" sz="2000" b="0" u="none" strike="noStrike">
              <a:solidFill>
                <a:srgbClr val="000000"/>
              </a:solidFill>
              <a:effectLst/>
              <a:uFillTx/>
              <a:latin typeface="Arial"/>
            </a:endParaRPr>
          </a:p>
        </p:txBody>
      </p:sp>
      <p:sp>
        <p:nvSpPr>
          <p:cNvPr id="721" name="PlaceHolder 3"/>
          <p:cNvSpPr>
            <a:spLocks noGrp="1"/>
          </p:cNvSpPr>
          <p:nvPr>
            <p:ph type="sldNum" idx="7"/>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626B87D0-DA40-45A6-A00B-125D6322ECDB}" type="slidenum">
              <a:rPr lang="en-US" sz="1200" b="0" u="none" strike="noStrike">
                <a:solidFill>
                  <a:schemeClr val="dk1"/>
                </a:solidFill>
                <a:effectLst/>
                <a:uFillTx/>
                <a:latin typeface="+mn-lt"/>
                <a:ea typeface="+mn-ea"/>
              </a:rPr>
              <a:t>35</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2" name="PlaceHolder 1"/>
          <p:cNvSpPr>
            <a:spLocks noGrp="1"/>
          </p:cNvSpPr>
          <p:nvPr>
            <p:ph type="sldImg"/>
          </p:nvPr>
        </p:nvSpPr>
        <p:spPr>
          <a:xfrm>
            <a:off x="685800" y="1143000"/>
            <a:ext cx="5485680" cy="3085560"/>
          </a:xfrm>
          <a:prstGeom prst="rect">
            <a:avLst/>
          </a:prstGeom>
          <a:ln w="0">
            <a:noFill/>
          </a:ln>
        </p:spPr>
      </p:sp>
      <p:sp>
        <p:nvSpPr>
          <p:cNvPr id="723"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Read this as the central diagram of the chapter. An agent is anything we can view as perceiving an environment through sensors and acting on that environment through actuators. The environment is the part of the world that matters for this agent design: the part that affects the agent’s percepts and is affected by its actions.</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[Sources]</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Uploaded Chapter_2(4).docx, Section 2.1 and Figure 2.1.</a:t>
            </a:r>
            <a:endParaRPr lang="en-US" sz="2000" b="0" u="none" strike="noStrike">
              <a:solidFill>
                <a:srgbClr val="000000"/>
              </a:solidFill>
              <a:effectLst/>
              <a:uFillTx/>
              <a:latin typeface="Arial"/>
            </a:endParaRPr>
          </a:p>
        </p:txBody>
      </p:sp>
      <p:sp>
        <p:nvSpPr>
          <p:cNvPr id="724" name="PlaceHolder 3"/>
          <p:cNvSpPr>
            <a:spLocks noGrp="1"/>
          </p:cNvSpPr>
          <p:nvPr>
            <p:ph type="sldNum" idx="8"/>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E1ED191C-5293-4812-919B-F7E37BBCDB56}" type="slidenum">
              <a:rPr lang="en-US" sz="1200" b="0" u="none" strike="noStrike">
                <a:solidFill>
                  <a:schemeClr val="dk1"/>
                </a:solidFill>
                <a:effectLst/>
                <a:uFillTx/>
                <a:latin typeface="+mn-lt"/>
                <a:ea typeface="+mn-ea"/>
              </a:rPr>
              <a:t>35</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5" name="PlaceHolder 1"/>
          <p:cNvSpPr>
            <a:spLocks noGrp="1"/>
          </p:cNvSpPr>
          <p:nvPr>
            <p:ph type="sldImg"/>
          </p:nvPr>
        </p:nvSpPr>
        <p:spPr>
          <a:xfrm>
            <a:off x="685800" y="1143000"/>
            <a:ext cx="5485680" cy="3085560"/>
          </a:xfrm>
          <a:prstGeom prst="rect">
            <a:avLst/>
          </a:prstGeom>
          <a:ln w="0">
            <a:noFill/>
          </a:ln>
        </p:spPr>
      </p:sp>
      <p:sp>
        <p:nvSpPr>
          <p:cNvPr id="726"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A percept is what the sensors are currently receiving. A percept sequence is the entire history. The agent function is an abstract mapping from possible percept sequences to actions. The agent program is the concrete implementation. The program usually receives only the current percept, so if the action depends on history, the program must store that history internally.</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[Sources]</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Uploaded Chapter_2(4).docx, Section 2.1.</a:t>
            </a:r>
            <a:endParaRPr lang="en-US" sz="2000" b="0" u="none" strike="noStrike">
              <a:solidFill>
                <a:srgbClr val="000000"/>
              </a:solidFill>
              <a:effectLst/>
              <a:uFillTx/>
              <a:latin typeface="Arial"/>
            </a:endParaRPr>
          </a:p>
        </p:txBody>
      </p:sp>
      <p:sp>
        <p:nvSpPr>
          <p:cNvPr id="727" name="PlaceHolder 3"/>
          <p:cNvSpPr>
            <a:spLocks noGrp="1"/>
          </p:cNvSpPr>
          <p:nvPr>
            <p:ph type="sldNum" idx="9"/>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948558AA-9C41-4A70-AA6D-4CFF5914DA0D}" type="slidenum">
              <a:rPr lang="en-US" sz="1200" b="0" u="none" strike="noStrike">
                <a:solidFill>
                  <a:schemeClr val="dk1"/>
                </a:solidFill>
                <a:effectLst/>
                <a:uFillTx/>
                <a:latin typeface="+mn-lt"/>
                <a:ea typeface="+mn-ea"/>
              </a:rPr>
              <a:t>35</a:t>
            </a:fld>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8" name="PlaceHolder 1"/>
          <p:cNvSpPr>
            <a:spLocks noGrp="1"/>
          </p:cNvSpPr>
          <p:nvPr>
            <p:ph type="sldImg"/>
          </p:nvPr>
        </p:nvSpPr>
        <p:spPr>
          <a:xfrm>
            <a:off x="685800" y="1143000"/>
            <a:ext cx="5485680" cy="3085560"/>
          </a:xfrm>
          <a:prstGeom prst="rect">
            <a:avLst/>
          </a:prstGeom>
          <a:ln w="0">
            <a:noFill/>
          </a:ln>
        </p:spPr>
      </p:sp>
      <p:sp>
        <p:nvSpPr>
          <p:cNvPr id="729"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Chapter 2 evaluates behavior by consequences. The performance measure defines success. Rationality depends on four things: the performance measure, prior knowledge, available actions, and the percept sequence. Stress that rationality is not being lucky or being correct after the fact. It is maximizing expected performance given evidence and knowledge.</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[Sources]</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Uploaded Chapter_2(4).docx, Section 2.2.</a:t>
            </a:r>
            <a:endParaRPr lang="en-US" sz="2000" b="0" u="none" strike="noStrike">
              <a:solidFill>
                <a:srgbClr val="000000"/>
              </a:solidFill>
              <a:effectLst/>
              <a:uFillTx/>
              <a:latin typeface="Arial"/>
            </a:endParaRPr>
          </a:p>
        </p:txBody>
      </p:sp>
      <p:sp>
        <p:nvSpPr>
          <p:cNvPr id="730" name="PlaceHolder 3"/>
          <p:cNvSpPr>
            <a:spLocks noGrp="1"/>
          </p:cNvSpPr>
          <p:nvPr>
            <p:ph type="sldNum" idx="10"/>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3A9169B5-7C4C-44A2-9E40-48BC7FAE1B58}" type="slidenum">
              <a:rPr lang="en-US" sz="1200" b="0" u="none" strike="noStrike">
                <a:solidFill>
                  <a:schemeClr val="dk1"/>
                </a:solidFill>
                <a:effectLst/>
                <a:uFillTx/>
                <a:latin typeface="+mn-lt"/>
                <a:ea typeface="+mn-ea"/>
              </a:rPr>
              <a:t>35</a:t>
            </a:fld>
            <a:endParaRPr lang="en-U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1" name="PlaceHolder 1"/>
          <p:cNvSpPr>
            <a:spLocks noGrp="1"/>
          </p:cNvSpPr>
          <p:nvPr>
            <p:ph type="sldImg"/>
          </p:nvPr>
        </p:nvSpPr>
        <p:spPr>
          <a:xfrm>
            <a:off x="685800" y="1143000"/>
            <a:ext cx="5485680" cy="3085560"/>
          </a:xfrm>
          <a:prstGeom prst="rect">
            <a:avLst/>
          </a:prstGeom>
          <a:ln w="0">
            <a:noFill/>
          </a:ln>
        </p:spPr>
      </p:sp>
      <p:sp>
        <p:nvSpPr>
          <p:cNvPr id="732"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Use the vacuum example to show objective misspecification. Rewarding “amount of dirt cleaned” creates an incentive to dump dirt and clean it repeatedly. A better measure rewards clean squares over time, possibly with penalties for electricity or noise. The design principle is to measure what we actually want achieved in the environment, not a proxy for visible effort.</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[Sources]</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Uploaded Chapter_2(4).docx, Section 2.2.1.</a:t>
            </a:r>
            <a:endParaRPr lang="en-US" sz="2000" b="0" u="none" strike="noStrike">
              <a:solidFill>
                <a:srgbClr val="000000"/>
              </a:solidFill>
              <a:effectLst/>
              <a:uFillTx/>
              <a:latin typeface="Arial"/>
            </a:endParaRPr>
          </a:p>
        </p:txBody>
      </p:sp>
      <p:sp>
        <p:nvSpPr>
          <p:cNvPr id="733" name="PlaceHolder 3"/>
          <p:cNvSpPr>
            <a:spLocks noGrp="1"/>
          </p:cNvSpPr>
          <p:nvPr>
            <p:ph type="sldNum" idx="11"/>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3A935865-7D07-4799-B888-30DA448DB8F9}" type="slidenum">
              <a:rPr lang="en-US" sz="1200" b="0" u="none" strike="noStrike">
                <a:solidFill>
                  <a:schemeClr val="dk1"/>
                </a:solidFill>
                <a:effectLst/>
                <a:uFillTx/>
                <a:latin typeface="+mn-lt"/>
                <a:ea typeface="+mn-ea"/>
              </a:rPr>
              <a:t>35</a:t>
            </a:fld>
            <a:endParaRPr lang="en-US"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4" name="PlaceHolder 1"/>
          <p:cNvSpPr>
            <a:spLocks noGrp="1"/>
          </p:cNvSpPr>
          <p:nvPr>
            <p:ph type="sldImg"/>
          </p:nvPr>
        </p:nvSpPr>
        <p:spPr>
          <a:xfrm>
            <a:off x="685800" y="1143000"/>
            <a:ext cx="5485680" cy="3085560"/>
          </a:xfrm>
          <a:prstGeom prst="rect">
            <a:avLst/>
          </a:prstGeom>
          <a:ln w="0">
            <a:noFill/>
          </a:ln>
        </p:spPr>
      </p:sp>
      <p:sp>
        <p:nvSpPr>
          <p:cNvPr id="735"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Rational agents do not need omniscience. Omniscience means knowing actual outcomes. Rationality means making the best expected choice using available evidence. Information gathering is part of rationality because looking before crossing changes future percepts. Learning is also part of autonomy: the agent should use experience to compensate for incomplete or incorrect prior knowledge.</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[Sources]</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Uploaded Chapter_2(4).docx, Section 2.2.3.</a:t>
            </a:r>
            <a:endParaRPr lang="en-US" sz="2000" b="0" u="none" strike="noStrike">
              <a:solidFill>
                <a:srgbClr val="000000"/>
              </a:solidFill>
              <a:effectLst/>
              <a:uFillTx/>
              <a:latin typeface="Arial"/>
            </a:endParaRPr>
          </a:p>
        </p:txBody>
      </p:sp>
      <p:sp>
        <p:nvSpPr>
          <p:cNvPr id="736" name="PlaceHolder 3"/>
          <p:cNvSpPr>
            <a:spLocks noGrp="1"/>
          </p:cNvSpPr>
          <p:nvPr>
            <p:ph type="sldNum" idx="12"/>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86E3EF4D-A3BF-4A80-8978-2A2C3DD9E562}" type="slidenum">
              <a:rPr lang="en-US" sz="1200" b="0" u="none" strike="noStrike">
                <a:solidFill>
                  <a:schemeClr val="dk1"/>
                </a:solidFill>
                <a:effectLst/>
                <a:uFillTx/>
                <a:latin typeface="+mn-lt"/>
                <a:ea typeface="+mn-ea"/>
              </a:rPr>
              <a:t>35</a:t>
            </a:fld>
            <a:endParaRPr lang="en-US"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7" name="PlaceHolder 1"/>
          <p:cNvSpPr>
            <a:spLocks noGrp="1"/>
          </p:cNvSpPr>
          <p:nvPr>
            <p:ph type="sldImg"/>
          </p:nvPr>
        </p:nvSpPr>
        <p:spPr>
          <a:xfrm>
            <a:off x="685800" y="1143000"/>
            <a:ext cx="5485680" cy="3085560"/>
          </a:xfrm>
          <a:prstGeom prst="rect">
            <a:avLst/>
          </a:prstGeom>
          <a:ln w="0">
            <a:noFill/>
          </a:ln>
        </p:spPr>
      </p:sp>
      <p:sp>
        <p:nvSpPr>
          <p:cNvPr id="73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PEAS is a design checklist. The automated taxi is the main Chapter 2 example. Performance includes safety, legality, comfort, time, cost, fuel use, and profit; these can conflict. The environment includes roads, traffic, pedestrians, weather, and passengers. Actuators include steering, accelerator, brake, display, and speech. Sensors include cameras, lidar, radar, GPS, speedometer, engine sensors, and passenger input.</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[Sources]</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Uploaded Chapter_2(4).docx, Section 2.3.1 and Figure 2.4.</a:t>
            </a:r>
            <a:endParaRPr lang="en-US" sz="2000" b="0" u="none" strike="noStrike">
              <a:solidFill>
                <a:srgbClr val="000000"/>
              </a:solidFill>
              <a:effectLst/>
              <a:uFillTx/>
              <a:latin typeface="Arial"/>
            </a:endParaRPr>
          </a:p>
        </p:txBody>
      </p:sp>
      <p:sp>
        <p:nvSpPr>
          <p:cNvPr id="739" name="PlaceHolder 3"/>
          <p:cNvSpPr>
            <a:spLocks noGrp="1"/>
          </p:cNvSpPr>
          <p:nvPr>
            <p:ph type="sldNum" idx="13"/>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F645C664-F270-475D-94EF-4B4109738886}" type="slidenum">
              <a:rPr lang="en-US" sz="1200" b="0" u="none" strike="noStrike">
                <a:solidFill>
                  <a:schemeClr val="dk1"/>
                </a:solidFill>
                <a:effectLst/>
                <a:uFillTx/>
                <a:latin typeface="+mn-lt"/>
                <a:ea typeface="+mn-ea"/>
              </a:rPr>
              <a:t>35</a:t>
            </a:fld>
            <a:endParaRPr lang="en-US"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0" name="PlaceHolder 1"/>
          <p:cNvSpPr>
            <a:spLocks noGrp="1"/>
          </p:cNvSpPr>
          <p:nvPr>
            <p:ph type="sldImg"/>
          </p:nvPr>
        </p:nvSpPr>
        <p:spPr>
          <a:xfrm>
            <a:off x="685800" y="1143000"/>
            <a:ext cx="5485680" cy="3085560"/>
          </a:xfrm>
          <a:prstGeom prst="rect">
            <a:avLst/>
          </a:prstGeom>
          <a:ln w="0">
            <a:noFill/>
          </a:ln>
        </p:spPr>
      </p:sp>
      <p:sp>
        <p:nvSpPr>
          <p:cNvPr id="74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This slide expands PEAS beyond the taxi. Figure 2.5 includes medical diagnosis, satellite image analysis, part-picking robots, refinery controllers, and interactive English tutors. The teaching point is that PEAS is not busywork. It determines the problem. Before students propose search, learning, planning, or rules, they must specify the performance measure, environment, actuators, and sensors.</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[Sources]</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Uploaded Chapter_2(4).docx, Section 2.3.1 and Figure 2.5.</a:t>
            </a:r>
            <a:endParaRPr lang="en-US" sz="2000" b="0" u="none" strike="noStrike">
              <a:solidFill>
                <a:srgbClr val="000000"/>
              </a:solidFill>
              <a:effectLst/>
              <a:uFillTx/>
              <a:latin typeface="Arial"/>
            </a:endParaRPr>
          </a:p>
        </p:txBody>
      </p:sp>
      <p:sp>
        <p:nvSpPr>
          <p:cNvPr id="742" name="PlaceHolder 3"/>
          <p:cNvSpPr>
            <a:spLocks noGrp="1"/>
          </p:cNvSpPr>
          <p:nvPr>
            <p:ph type="sldNum" idx="14"/>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0716B489-4161-46C4-A9DB-826956CB000C}" type="slidenum">
              <a:rPr lang="en-US" sz="1200" b="0" u="none" strike="noStrike">
                <a:solidFill>
                  <a:schemeClr val="dk1"/>
                </a:solidFill>
                <a:effectLst/>
                <a:uFillTx/>
                <a:latin typeface="+mn-lt"/>
                <a:ea typeface="+mn-ea"/>
              </a:rPr>
              <a:t>35</a:t>
            </a:fld>
            <a:endParaRPr lang="en-US"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3" name="PlaceHolder 1"/>
          <p:cNvSpPr>
            <a:spLocks noGrp="1"/>
          </p:cNvSpPr>
          <p:nvPr>
            <p:ph type="sldImg"/>
          </p:nvPr>
        </p:nvSpPr>
        <p:spPr>
          <a:xfrm>
            <a:off x="685800" y="1143000"/>
            <a:ext cx="5485680" cy="3085560"/>
          </a:xfrm>
          <a:prstGeom prst="rect">
            <a:avLst/>
          </a:prstGeom>
          <a:ln w="0">
            <a:noFill/>
          </a:ln>
        </p:spPr>
      </p:sp>
      <p:sp>
        <p:nvSpPr>
          <p:cNvPr id="74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Use this slide as a diagnostic tool. Environment properties determine the right agent design. Fully observable means sensors provide relevant state; partially observable means state is missing or noisy. Multiagent environments require modeling other agents. Deterministic environments have predictable next states; stochastic environments require uncertainty handling. Episodic tasks do not require long-term consequences; sequential tasks do. Static environments do not change while the agent deliberates; dynamic ones do.</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[Sources]</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Uploaded Chapter_2(4).docx, Section 2.3.2 and Figure 2.6.</a:t>
            </a:r>
            <a:endParaRPr lang="en-US" sz="2000" b="0" u="none" strike="noStrike">
              <a:solidFill>
                <a:srgbClr val="000000"/>
              </a:solidFill>
              <a:effectLst/>
              <a:uFillTx/>
              <a:latin typeface="Arial"/>
            </a:endParaRPr>
          </a:p>
        </p:txBody>
      </p:sp>
      <p:sp>
        <p:nvSpPr>
          <p:cNvPr id="745" name="PlaceHolder 3"/>
          <p:cNvSpPr>
            <a:spLocks noGrp="1"/>
          </p:cNvSpPr>
          <p:nvPr>
            <p:ph type="sldNum" idx="15"/>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6229B992-905A-45B4-AF88-7A6CBF01AF1D}" type="slidenum">
              <a:rPr lang="en-US" sz="1200" b="0" u="none" strike="noStrike">
                <a:solidFill>
                  <a:schemeClr val="dk1"/>
                </a:solidFill>
                <a:effectLst/>
                <a:uFillTx/>
                <a:latin typeface="+mn-lt"/>
                <a:ea typeface="+mn-ea"/>
              </a:rPr>
              <a:t>35</a:t>
            </a:fld>
            <a:endParaRPr lang="en-US"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6" name="PlaceHolder 1"/>
          <p:cNvSpPr>
            <a:spLocks noGrp="1"/>
          </p:cNvSpPr>
          <p:nvPr>
            <p:ph type="sldImg"/>
          </p:nvPr>
        </p:nvSpPr>
        <p:spPr>
          <a:xfrm>
            <a:off x="685800" y="1143000"/>
            <a:ext cx="5485680" cy="3085560"/>
          </a:xfrm>
          <a:prstGeom prst="rect">
            <a:avLst/>
          </a:prstGeom>
          <a:ln w="0">
            <a:noFill/>
          </a:ln>
        </p:spPr>
      </p:sp>
      <p:sp>
        <p:nvSpPr>
          <p:cNvPr id="74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Pac-Man is a strong teaching example because the environment, percepts, actions, and performance measure are visible. The agent senses walls, pellets, ghost positions, legal moves, and whether power mode is active. The actions are movement choices. The task is sequential because current choices affect future survival, multiagent because ghosts behave as other entities, and dynamic because ghosts move while Pac-Man plays.</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[Sources]</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Uploaded Chapter_2(4).docx, Sections 2.1-2.4.</a:t>
            </a:r>
            <a:endParaRPr lang="en-US" sz="2000" b="0" u="none" strike="noStrike">
              <a:solidFill>
                <a:srgbClr val="000000"/>
              </a:solidFill>
              <a:effectLst/>
              <a:uFillTx/>
              <a:latin typeface="Arial"/>
            </a:endParaRPr>
          </a:p>
        </p:txBody>
      </p:sp>
      <p:sp>
        <p:nvSpPr>
          <p:cNvPr id="748" name="PlaceHolder 3"/>
          <p:cNvSpPr>
            <a:spLocks noGrp="1"/>
          </p:cNvSpPr>
          <p:nvPr>
            <p:ph type="sldNum" idx="16"/>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5CD73B18-4896-49A5-A64D-DA0C101BCEDD}" type="slidenum">
              <a:rPr lang="en-US" sz="1200" b="0" u="none" strike="noStrike">
                <a:solidFill>
                  <a:schemeClr val="dk1"/>
                </a:solidFill>
                <a:effectLst/>
                <a:uFillTx/>
                <a:latin typeface="+mn-lt"/>
                <a:ea typeface="+mn-ea"/>
              </a:rPr>
              <a:t>35</a:t>
            </a:fld>
            <a:endParaRPr lang="en-US"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9" name="PlaceHolder 1"/>
          <p:cNvSpPr>
            <a:spLocks noGrp="1"/>
          </p:cNvSpPr>
          <p:nvPr>
            <p:ph type="sldImg"/>
          </p:nvPr>
        </p:nvSpPr>
        <p:spPr>
          <a:xfrm>
            <a:off x="685800" y="1143000"/>
            <a:ext cx="5485680" cy="3085560"/>
          </a:xfrm>
          <a:prstGeom prst="rect">
            <a:avLst/>
          </a:prstGeom>
          <a:ln w="0">
            <a:noFill/>
          </a:ln>
        </p:spPr>
      </p:sp>
      <p:sp>
        <p:nvSpPr>
          <p:cNvPr id="750"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Chapter 2 gives the formula agent equals architecture plus program. The architecture makes percepts available and carries actions out through actuators. The program implements the agent function. A table-driven agent is conceptually useful but practically impossible because the table grows explosively with percept history.</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[Sources]</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Uploaded Chapter_2(4).docx, Section 2.4 and 2.4.1.</a:t>
            </a:r>
            <a:endParaRPr lang="en-US" sz="2000" b="0" u="none" strike="noStrike">
              <a:solidFill>
                <a:srgbClr val="000000"/>
              </a:solidFill>
              <a:effectLst/>
              <a:uFillTx/>
              <a:latin typeface="Arial"/>
            </a:endParaRPr>
          </a:p>
        </p:txBody>
      </p:sp>
      <p:sp>
        <p:nvSpPr>
          <p:cNvPr id="751" name="PlaceHolder 3"/>
          <p:cNvSpPr>
            <a:spLocks noGrp="1"/>
          </p:cNvSpPr>
          <p:nvPr>
            <p:ph type="sldNum" idx="17"/>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B599C101-9449-48BF-9D04-FC6BA89B4E82}" type="slidenum">
              <a:rPr lang="en-US" sz="1200" b="0" u="none" strike="noStrike">
                <a:solidFill>
                  <a:schemeClr val="dk1"/>
                </a:solidFill>
                <a:effectLst/>
                <a:uFillTx/>
                <a:latin typeface="+mn-lt"/>
                <a:ea typeface="+mn-ea"/>
              </a:rPr>
              <a:t>35</a:t>
            </a:fld>
            <a:endParaRPr lang="en-US"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2" name="PlaceHolder 1"/>
          <p:cNvSpPr>
            <a:spLocks noGrp="1"/>
          </p:cNvSpPr>
          <p:nvPr>
            <p:ph type="sldImg"/>
          </p:nvPr>
        </p:nvSpPr>
        <p:spPr>
          <a:xfrm>
            <a:off x="685800" y="1143000"/>
            <a:ext cx="5485680" cy="3085560"/>
          </a:xfrm>
          <a:prstGeom prst="rect">
            <a:avLst/>
          </a:prstGeom>
          <a:ln w="0">
            <a:noFill/>
          </a:ln>
        </p:spPr>
      </p:sp>
      <p:sp>
        <p:nvSpPr>
          <p:cNvPr id="753"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This is the table-driven agent, the “driven agent” you wanted explicitly covered. It keeps the complete percept sequence and uses it to look up an action. It is conceptually useful because it shows an agent program implementing an agent function. It is not practical for real agents because the table becomes enormous. Show the pseudocode screenshot and emphasize that it retains the complete percept sequence in memory.</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[Sources]</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Uploaded Chapter_2(4).docx, Section 2.4.1 and Figure 2.7.</a:t>
            </a:r>
            <a:endParaRPr lang="en-US" sz="2000" b="0" u="none" strike="noStrike">
              <a:solidFill>
                <a:srgbClr val="000000"/>
              </a:solidFill>
              <a:effectLst/>
              <a:uFillTx/>
              <a:latin typeface="Arial"/>
            </a:endParaRPr>
          </a:p>
        </p:txBody>
      </p:sp>
      <p:sp>
        <p:nvSpPr>
          <p:cNvPr id="754" name="PlaceHolder 3"/>
          <p:cNvSpPr>
            <a:spLocks noGrp="1"/>
          </p:cNvSpPr>
          <p:nvPr>
            <p:ph type="sldNum" idx="18"/>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514F9D8D-ECB7-4293-91EF-E1B35D57537B}" type="slidenum">
              <a:rPr lang="en-US" sz="1200" b="0" u="none" strike="noStrike">
                <a:solidFill>
                  <a:schemeClr val="dk1"/>
                </a:solidFill>
                <a:effectLst/>
                <a:uFillTx/>
                <a:latin typeface="+mn-lt"/>
                <a:ea typeface="+mn-ea"/>
              </a:rPr>
              <a:t>35</a:t>
            </a:fld>
            <a:endParaRPr lang="en-US"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5" name="PlaceHolder 1"/>
          <p:cNvSpPr>
            <a:spLocks noGrp="1"/>
          </p:cNvSpPr>
          <p:nvPr>
            <p:ph type="sldImg"/>
          </p:nvPr>
        </p:nvSpPr>
        <p:spPr>
          <a:xfrm>
            <a:off x="685800" y="1143000"/>
            <a:ext cx="5485680" cy="3085560"/>
          </a:xfrm>
          <a:prstGeom prst="rect">
            <a:avLst/>
          </a:prstGeom>
          <a:ln w="0">
            <a:noFill/>
          </a:ln>
        </p:spPr>
      </p:sp>
      <p:sp>
        <p:nvSpPr>
          <p:cNvPr id="756"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The table-driven agent does what we want if the table is correct, but Chapter 2 uses it to show why AI needs compact programs. The lookup table grows across possible percept histories. Realistic environments make the table too large to store, too hard for a designer to fill in, and too large for an agent to learn through experience.</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[Sources]</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Uploaded Chapter_2(4).docx, Section 2.4.1.</a:t>
            </a:r>
            <a:endParaRPr lang="en-US" sz="2000" b="0" u="none" strike="noStrike">
              <a:solidFill>
                <a:srgbClr val="000000"/>
              </a:solidFill>
              <a:effectLst/>
              <a:uFillTx/>
              <a:latin typeface="Arial"/>
            </a:endParaRPr>
          </a:p>
        </p:txBody>
      </p:sp>
      <p:sp>
        <p:nvSpPr>
          <p:cNvPr id="757" name="PlaceHolder 3"/>
          <p:cNvSpPr>
            <a:spLocks noGrp="1"/>
          </p:cNvSpPr>
          <p:nvPr>
            <p:ph type="sldNum" idx="19"/>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2F6ECFDF-8B4A-470F-AFBC-7E1E77DE5AF4}" type="slidenum">
              <a:rPr lang="en-US" sz="1200" b="0" u="none" strike="noStrike">
                <a:solidFill>
                  <a:schemeClr val="dk1"/>
                </a:solidFill>
                <a:effectLst/>
                <a:uFillTx/>
                <a:latin typeface="+mn-lt"/>
                <a:ea typeface="+mn-ea"/>
              </a:rPr>
              <a:t>35</a:t>
            </a:fld>
            <a:endParaRPr lang="en-US"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8" name="PlaceHolder 1"/>
          <p:cNvSpPr>
            <a:spLocks noGrp="1"/>
          </p:cNvSpPr>
          <p:nvPr>
            <p:ph type="sldImg"/>
          </p:nvPr>
        </p:nvSpPr>
        <p:spPr>
          <a:xfrm>
            <a:off x="685800" y="1143000"/>
            <a:ext cx="5485680" cy="3085560"/>
          </a:xfrm>
          <a:prstGeom prst="rect">
            <a:avLst/>
          </a:prstGeom>
          <a:ln w="0">
            <a:noFill/>
          </a:ln>
        </p:spPr>
      </p:sp>
      <p:sp>
        <p:nvSpPr>
          <p:cNvPr id="759"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A simple reflex agent selects actions using the current percept only. In the vacuum world, this can work if the agent perceives both location and dirt status. The screenshot shows REFLEX-VACUUM-AGENT. It is far smaller than a full percept-history lookup table because it ignores history and uses a compact condition-action structure.</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[Sources]</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Uploaded Chapter_2(4).docx, Section 2.4.2 and Figure 2.8.</a:t>
            </a:r>
            <a:endParaRPr lang="en-US" sz="2000" b="0" u="none" strike="noStrike">
              <a:solidFill>
                <a:srgbClr val="000000"/>
              </a:solidFill>
              <a:effectLst/>
              <a:uFillTx/>
              <a:latin typeface="Arial"/>
            </a:endParaRPr>
          </a:p>
        </p:txBody>
      </p:sp>
      <p:sp>
        <p:nvSpPr>
          <p:cNvPr id="760" name="PlaceHolder 3"/>
          <p:cNvSpPr>
            <a:spLocks noGrp="1"/>
          </p:cNvSpPr>
          <p:nvPr>
            <p:ph type="sldNum" idx="20"/>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37BE5C9D-381C-4ABC-9EA3-8002D404B585}" type="slidenum">
              <a:rPr lang="en-US" sz="1200" b="0" u="none" strike="noStrike">
                <a:solidFill>
                  <a:schemeClr val="dk1"/>
                </a:solidFill>
                <a:effectLst/>
                <a:uFillTx/>
                <a:latin typeface="+mn-lt"/>
                <a:ea typeface="+mn-ea"/>
              </a:rPr>
              <a:t>35</a:t>
            </a:fld>
            <a:endParaRPr lang="en-US" sz="12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1" name="PlaceHolder 1"/>
          <p:cNvSpPr>
            <a:spLocks noGrp="1"/>
          </p:cNvSpPr>
          <p:nvPr>
            <p:ph type="sldImg"/>
          </p:nvPr>
        </p:nvSpPr>
        <p:spPr>
          <a:xfrm>
            <a:off x="685800" y="1143000"/>
            <a:ext cx="5485680" cy="3085560"/>
          </a:xfrm>
          <a:prstGeom prst="rect">
            <a:avLst/>
          </a:prstGeom>
          <a:ln w="0">
            <a:noFill/>
          </a:ln>
        </p:spPr>
      </p:sp>
      <p:sp>
        <p:nvSpPr>
          <p:cNvPr id="762"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The general simple reflex agent uses condition-action rules. The INTERPRET-INPUT function creates an abstract state description from the current percept. RULE-MATCH finds the first rule matching that state, and the action is returned. The chapter stresses that rules and matching are conceptual; the implementation could be logic gates or neural units.</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[Sources]</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Uploaded Chapter_2(4).docx, Section 2.4.2, Figure 2.9, and Figure 2.10.</a:t>
            </a:r>
            <a:endParaRPr lang="en-US" sz="2000" b="0" u="none" strike="noStrike">
              <a:solidFill>
                <a:srgbClr val="000000"/>
              </a:solidFill>
              <a:effectLst/>
              <a:uFillTx/>
              <a:latin typeface="Arial"/>
            </a:endParaRPr>
          </a:p>
        </p:txBody>
      </p:sp>
      <p:sp>
        <p:nvSpPr>
          <p:cNvPr id="763" name="PlaceHolder 3"/>
          <p:cNvSpPr>
            <a:spLocks noGrp="1"/>
          </p:cNvSpPr>
          <p:nvPr>
            <p:ph type="sldNum" idx="21"/>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7790E100-47ED-4AFC-B210-BDC316DEC96E}" type="slidenum">
              <a:rPr lang="en-US" sz="1200" b="0" u="none" strike="noStrike">
                <a:solidFill>
                  <a:schemeClr val="dk1"/>
                </a:solidFill>
                <a:effectLst/>
                <a:uFillTx/>
                <a:latin typeface="+mn-lt"/>
                <a:ea typeface="+mn-ea"/>
              </a:rPr>
              <a:t>35</a:t>
            </a:fld>
            <a:endParaRPr lang="en-US" sz="12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4" name="PlaceHolder 1"/>
          <p:cNvSpPr>
            <a:spLocks noGrp="1"/>
          </p:cNvSpPr>
          <p:nvPr>
            <p:ph type="sldImg"/>
          </p:nvPr>
        </p:nvSpPr>
        <p:spPr>
          <a:xfrm>
            <a:off x="685800" y="1143000"/>
            <a:ext cx="5485680" cy="3085560"/>
          </a:xfrm>
          <a:prstGeom prst="rect">
            <a:avLst/>
          </a:prstGeom>
          <a:ln w="0">
            <a:noFill/>
          </a:ln>
        </p:spPr>
      </p:sp>
      <p:sp>
        <p:nvSpPr>
          <p:cNvPr id="765"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Ask students what happens if the vacuum cannot perceive location. If the only percept is Clean or Dirty, Clean does not identify the square. A deterministic rule can loop forever. Randomization may help in this toy case, but Chapter 2 says we usually do better with model-based agents that maintain internal state.</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[Sources]</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Uploaded Chapter_2(4).docx, Section 2.4.2.</a:t>
            </a:r>
            <a:endParaRPr lang="en-US" sz="2000" b="0" u="none" strike="noStrike">
              <a:solidFill>
                <a:srgbClr val="000000"/>
              </a:solidFill>
              <a:effectLst/>
              <a:uFillTx/>
              <a:latin typeface="Arial"/>
            </a:endParaRPr>
          </a:p>
        </p:txBody>
      </p:sp>
      <p:sp>
        <p:nvSpPr>
          <p:cNvPr id="766" name="PlaceHolder 3"/>
          <p:cNvSpPr>
            <a:spLocks noGrp="1"/>
          </p:cNvSpPr>
          <p:nvPr>
            <p:ph type="sldNum" idx="22"/>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E7736766-AB47-492E-B291-78087A16D1B4}" type="slidenum">
              <a:rPr lang="en-US" sz="1200" b="0" u="none" strike="noStrike">
                <a:solidFill>
                  <a:schemeClr val="dk1"/>
                </a:solidFill>
                <a:effectLst/>
                <a:uFillTx/>
                <a:latin typeface="+mn-lt"/>
                <a:ea typeface="+mn-ea"/>
              </a:rPr>
              <a:t>35</a:t>
            </a:fld>
            <a:endParaRPr lang="en-US" sz="12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7" name="PlaceHolder 1"/>
          <p:cNvSpPr>
            <a:spLocks noGrp="1"/>
          </p:cNvSpPr>
          <p:nvPr>
            <p:ph type="sldImg"/>
          </p:nvPr>
        </p:nvSpPr>
        <p:spPr>
          <a:xfrm>
            <a:off x="685800" y="1143000"/>
            <a:ext cx="5485680" cy="3085560"/>
          </a:xfrm>
          <a:prstGeom prst="rect">
            <a:avLst/>
          </a:prstGeom>
          <a:ln w="0">
            <a:noFill/>
          </a:ln>
        </p:spPr>
      </p:sp>
      <p:sp>
        <p:nvSpPr>
          <p:cNvPr id="76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Model-based reflex agents handle partial observability by maintaining internal state. The state is the agent’s best guess about the current world. Updating the state requires a transition model, which says how the world changes and what actions do, and a sensor model, which says how states are reflected in percepts.</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[Sources]</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Uploaded Chapter_2(4).docx, Section 2.4.3 and Figure 2.11.</a:t>
            </a:r>
            <a:endParaRPr lang="en-US" sz="2000" b="0" u="none" strike="noStrike">
              <a:solidFill>
                <a:srgbClr val="000000"/>
              </a:solidFill>
              <a:effectLst/>
              <a:uFillTx/>
              <a:latin typeface="Arial"/>
            </a:endParaRPr>
          </a:p>
        </p:txBody>
      </p:sp>
      <p:sp>
        <p:nvSpPr>
          <p:cNvPr id="769" name="PlaceHolder 3"/>
          <p:cNvSpPr>
            <a:spLocks noGrp="1"/>
          </p:cNvSpPr>
          <p:nvPr>
            <p:ph type="sldNum" idx="23"/>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41EBB1C7-CD63-45C6-B6B1-0E96F4AC0611}" type="slidenum">
              <a:rPr lang="en-US" sz="1200" b="0" u="none" strike="noStrike">
                <a:solidFill>
                  <a:schemeClr val="dk1"/>
                </a:solidFill>
                <a:effectLst/>
                <a:uFillTx/>
                <a:latin typeface="+mn-lt"/>
                <a:ea typeface="+mn-ea"/>
              </a:rPr>
              <a:t>35</a:t>
            </a:fld>
            <a:endParaRPr lang="en-US" sz="12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0" name="PlaceHolder 1"/>
          <p:cNvSpPr>
            <a:spLocks noGrp="1"/>
          </p:cNvSpPr>
          <p:nvPr>
            <p:ph type="sldImg"/>
          </p:nvPr>
        </p:nvSpPr>
        <p:spPr>
          <a:xfrm>
            <a:off x="685800" y="1143000"/>
            <a:ext cx="5485680" cy="3085560"/>
          </a:xfrm>
          <a:prstGeom prst="rect">
            <a:avLst/>
          </a:prstGeom>
          <a:ln w="0">
            <a:noFill/>
          </a:ln>
        </p:spPr>
      </p:sp>
      <p:sp>
        <p:nvSpPr>
          <p:cNvPr id="77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This pseudocode screenshot shows MODEL-BASED-REFLEX-AGENT. The persistent variables include the current internal state, the transition model, the sensor model, rules, and the most recent action. UPDATE-STATE is responsible for producing the new internal state description. The agent then matches a condition-action rule against the internal state rather than just the raw percept.</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[Sources]</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Uploaded Chapter_2(4).docx, Section 2.4.3 and Figure 2.12.</a:t>
            </a:r>
            <a:endParaRPr lang="en-US" sz="2000" b="0" u="none" strike="noStrike">
              <a:solidFill>
                <a:srgbClr val="000000"/>
              </a:solidFill>
              <a:effectLst/>
              <a:uFillTx/>
              <a:latin typeface="Arial"/>
            </a:endParaRPr>
          </a:p>
        </p:txBody>
      </p:sp>
      <p:sp>
        <p:nvSpPr>
          <p:cNvPr id="772" name="PlaceHolder 3"/>
          <p:cNvSpPr>
            <a:spLocks noGrp="1"/>
          </p:cNvSpPr>
          <p:nvPr>
            <p:ph type="sldNum" idx="24"/>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2F68228F-5B30-4211-B03F-F43D6B8D37DE}" type="slidenum">
              <a:rPr lang="en-US" sz="1200" b="0" u="none" strike="noStrike">
                <a:solidFill>
                  <a:schemeClr val="dk1"/>
                </a:solidFill>
                <a:effectLst/>
                <a:uFillTx/>
                <a:latin typeface="+mn-lt"/>
                <a:ea typeface="+mn-ea"/>
              </a:rPr>
              <a:t>35</a:t>
            </a:fld>
            <a:endParaRPr lang="en-US" sz="12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3" name="PlaceHolder 1"/>
          <p:cNvSpPr>
            <a:spLocks noGrp="1"/>
          </p:cNvSpPr>
          <p:nvPr>
            <p:ph type="sldImg"/>
          </p:nvPr>
        </p:nvSpPr>
        <p:spPr>
          <a:xfrm>
            <a:off x="685800" y="1143000"/>
            <a:ext cx="5485680" cy="3085560"/>
          </a:xfrm>
          <a:prstGeom prst="rect">
            <a:avLst/>
          </a:prstGeom>
          <a:ln w="0">
            <a:noFill/>
          </a:ln>
        </p:spPr>
      </p:sp>
      <p:sp>
        <p:nvSpPr>
          <p:cNvPr id="77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Goal-based agents add goal information to the current-state estimate. A taxi at an intersection cannot choose left, right, or straight without knowing the destination. This is the bridge to search and planning. The agent considers future states and asks whether its actions will eventually achieve the goal. This is more flexible than reflex rules, but it can be computationally expensive.</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[Sources]</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Uploaded Chapter_2(4).docx, Section 2.4.4 and Figure 2.13.</a:t>
            </a:r>
            <a:endParaRPr lang="en-US" sz="2000" b="0" u="none" strike="noStrike">
              <a:solidFill>
                <a:srgbClr val="000000"/>
              </a:solidFill>
              <a:effectLst/>
              <a:uFillTx/>
              <a:latin typeface="Arial"/>
            </a:endParaRPr>
          </a:p>
        </p:txBody>
      </p:sp>
      <p:sp>
        <p:nvSpPr>
          <p:cNvPr id="775" name="PlaceHolder 3"/>
          <p:cNvSpPr>
            <a:spLocks noGrp="1"/>
          </p:cNvSpPr>
          <p:nvPr>
            <p:ph type="sldNum" idx="25"/>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B795A100-E9D7-4EBF-854F-F21D102EF63D}" type="slidenum">
              <a:rPr lang="en-US" sz="1200" b="0" u="none" strike="noStrike">
                <a:solidFill>
                  <a:schemeClr val="dk1"/>
                </a:solidFill>
                <a:effectLst/>
                <a:uFillTx/>
                <a:latin typeface="+mn-lt"/>
                <a:ea typeface="+mn-ea"/>
              </a:rPr>
              <a:t>35</a:t>
            </a:fld>
            <a:endParaRPr lang="en-US" sz="1200" b="0" u="none" strike="noStrik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6" name="PlaceHolder 1"/>
          <p:cNvSpPr>
            <a:spLocks noGrp="1"/>
          </p:cNvSpPr>
          <p:nvPr>
            <p:ph type="sldImg"/>
          </p:nvPr>
        </p:nvSpPr>
        <p:spPr>
          <a:xfrm>
            <a:off x="685800" y="1143000"/>
            <a:ext cx="5485680" cy="3085560"/>
          </a:xfrm>
          <a:prstGeom prst="rect">
            <a:avLst/>
          </a:prstGeom>
          <a:ln w="0">
            <a:noFill/>
          </a:ln>
        </p:spPr>
      </p:sp>
      <p:sp>
        <p:nvSpPr>
          <p:cNvPr id="77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r>
              <a:t>Use the planning video only as a bridge. The first segment is useful for Chapter 2 because it compares reflex agents and planning agents and uses Pac-Man as the example. After that, the material becomes Chapter 3 search. Chapter 2 explains why a goal-based agent needs to look ahead; Chapter 3 explains algorithms for doing it.</a:t>
            </a:r>
          </a:p>
          <a:p/>
          <a:p>
            <a:r>
              <a:t>[Sources]</a:t>
            </a:r>
          </a:p>
          <a:p>
            <a:r>
              <a:t>Uploaded transcript Pasted text(2).txt; uploaded Chapter_2(4).docx, Section 2.4.4.</a:t>
            </a:r>
          </a:p>
          <a:p/>
          <a:p>
            <a:r>
              <a:t>[Combined from former Slide 24 — Planning Agents]</a:t>
            </a:r>
          </a:p>
        </p:txBody>
      </p:sp>
      <p:sp>
        <p:nvSpPr>
          <p:cNvPr id="778" name="PlaceHolder 3"/>
          <p:cNvSpPr>
            <a:spLocks noGrp="1"/>
          </p:cNvSpPr>
          <p:nvPr>
            <p:ph type="sldNum" idx="26"/>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C39C483F-75E7-4280-AED3-60E2D20A3039}" type="slidenum">
              <a:rPr lang="en-US" sz="1200" b="0" u="none" strike="noStrike">
                <a:solidFill>
                  <a:schemeClr val="dk1"/>
                </a:solidFill>
                <a:effectLst/>
                <a:uFillTx/>
                <a:latin typeface="+mn-lt"/>
                <a:ea typeface="+mn-ea"/>
              </a:rPr>
              <a:t>35</a:t>
            </a:fld>
            <a:endParaRPr lang="en-US" sz="1200" b="0" u="none" strike="noStrike">
              <a:solidFill>
                <a:srgbClr val="000000"/>
              </a:solidFill>
              <a:effectLst/>
              <a:uFillTx/>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2" name="PlaceHolder 1"/>
          <p:cNvSpPr>
            <a:spLocks noGrp="1"/>
          </p:cNvSpPr>
          <p:nvPr>
            <p:ph type="sldImg"/>
          </p:nvPr>
        </p:nvSpPr>
        <p:spPr>
          <a:xfrm>
            <a:off x="685800" y="1143000"/>
            <a:ext cx="5485680" cy="3085560"/>
          </a:xfrm>
          <a:prstGeom prst="rect">
            <a:avLst/>
          </a:prstGeom>
          <a:ln w="0">
            <a:noFill/>
          </a:ln>
        </p:spPr>
      </p:sp>
      <p:sp>
        <p:nvSpPr>
          <p:cNvPr id="783"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Utility-based agents are needed when goals are too crude. Many routes can get the taxi to its destination, but some are safer, faster, more reliable, or cheaper than others. Utility allows the agent to compare outcomes by degree. Under uncertainty, a rational utility-based agent chooses the action that maximizes expected utility.</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[Sources]</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Uploaded Chapter_2(4).docx, Section 2.4.5 and Figure 2.14.</a:t>
            </a:r>
            <a:endParaRPr lang="en-US" sz="2000" b="0" u="none" strike="noStrike">
              <a:solidFill>
                <a:srgbClr val="000000"/>
              </a:solidFill>
              <a:effectLst/>
              <a:uFillTx/>
              <a:latin typeface="Arial"/>
            </a:endParaRPr>
          </a:p>
        </p:txBody>
      </p:sp>
      <p:sp>
        <p:nvSpPr>
          <p:cNvPr id="784" name="PlaceHolder 3"/>
          <p:cNvSpPr>
            <a:spLocks noGrp="1"/>
          </p:cNvSpPr>
          <p:nvPr>
            <p:ph type="sldNum" idx="28"/>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ECE0B40F-514E-40A9-B48D-9677C2F01018}" type="slidenum">
              <a:rPr lang="en-US" sz="1200" b="0" u="none" strike="noStrike">
                <a:solidFill>
                  <a:schemeClr val="dk1"/>
                </a:solidFill>
                <a:effectLst/>
                <a:uFillTx/>
                <a:latin typeface="+mn-lt"/>
                <a:ea typeface="+mn-ea"/>
              </a:rPr>
              <a:t>35</a:t>
            </a:fld>
            <a:endParaRPr lang="en-US" sz="1200" b="0" u="none" strike="noStrike">
              <a:solidFill>
                <a:srgbClr val="000000"/>
              </a:solidFill>
              <a:effectLst/>
              <a:uFillTx/>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5" name="PlaceHolder 1"/>
          <p:cNvSpPr>
            <a:spLocks noGrp="1"/>
          </p:cNvSpPr>
          <p:nvPr>
            <p:ph type="sldImg"/>
          </p:nvPr>
        </p:nvSpPr>
        <p:spPr>
          <a:xfrm>
            <a:off x="685800" y="1143000"/>
            <a:ext cx="5485680" cy="3085560"/>
          </a:xfrm>
          <a:prstGeom prst="rect">
            <a:avLst/>
          </a:prstGeom>
          <a:ln w="0">
            <a:noFill/>
          </a:ln>
        </p:spPr>
      </p:sp>
      <p:sp>
        <p:nvSpPr>
          <p:cNvPr id="786"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The chapter emphasizes that utility is an internalization of the performance measure. Utility helps with tradeoffs and uncertainty. It is powerful, but it assumes the utility function is specified correctly. If it is not, the agent may optimize the wrong objective, connecting this chapter to value alignment and unknown utility functions.</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[Sources]</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Uploaded Chapter_2(4).docx, Section 2.4.5.</a:t>
            </a:r>
            <a:endParaRPr lang="en-US" sz="2000" b="0" u="none" strike="noStrike">
              <a:solidFill>
                <a:srgbClr val="000000"/>
              </a:solidFill>
              <a:effectLst/>
              <a:uFillTx/>
              <a:latin typeface="Arial"/>
            </a:endParaRPr>
          </a:p>
        </p:txBody>
      </p:sp>
      <p:sp>
        <p:nvSpPr>
          <p:cNvPr id="787" name="PlaceHolder 3"/>
          <p:cNvSpPr>
            <a:spLocks noGrp="1"/>
          </p:cNvSpPr>
          <p:nvPr>
            <p:ph type="sldNum" idx="29"/>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E56878AE-1CC7-4263-8CFA-3A1744BA5A06}" type="slidenum">
              <a:rPr lang="en-US" sz="1200" b="0" u="none" strike="noStrike">
                <a:solidFill>
                  <a:schemeClr val="dk1"/>
                </a:solidFill>
                <a:effectLst/>
                <a:uFillTx/>
                <a:latin typeface="+mn-lt"/>
                <a:ea typeface="+mn-ea"/>
              </a:rPr>
              <a:t>35</a:t>
            </a:fld>
            <a:endParaRPr lang="en-US" sz="1200" b="0" u="none" strike="noStrike">
              <a:solidFill>
                <a:srgbClr val="000000"/>
              </a:solidFill>
              <a:effectLst/>
              <a:uFillTx/>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8" name="PlaceHolder 1"/>
          <p:cNvSpPr>
            <a:spLocks noGrp="1"/>
          </p:cNvSpPr>
          <p:nvPr>
            <p:ph type="sldImg"/>
          </p:nvPr>
        </p:nvSpPr>
        <p:spPr>
          <a:xfrm>
            <a:off x="685800" y="1143000"/>
            <a:ext cx="5485680" cy="3085560"/>
          </a:xfrm>
          <a:prstGeom prst="rect">
            <a:avLst/>
          </a:prstGeom>
          <a:ln w="0">
            <a:noFill/>
          </a:ln>
        </p:spPr>
      </p:sp>
      <p:sp>
        <p:nvSpPr>
          <p:cNvPr id="789"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Turing argued that hand-programming intelligence is too slow, so learning machines are desirable. Chapter 2 divides a learning agent into four conceptual components: the performance element that selects actions, the learning element that improves behavior, the critic that evaluates performance, and the problem generator that suggests exploratory actions.</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[Sources]</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Uploaded Chapter_2(4).docx, Section 2.4.6 and Figure 2.15.</a:t>
            </a:r>
            <a:endParaRPr lang="en-US" sz="2000" b="0" u="none" strike="noStrike">
              <a:solidFill>
                <a:srgbClr val="000000"/>
              </a:solidFill>
              <a:effectLst/>
              <a:uFillTx/>
              <a:latin typeface="Arial"/>
            </a:endParaRPr>
          </a:p>
        </p:txBody>
      </p:sp>
      <p:sp>
        <p:nvSpPr>
          <p:cNvPr id="790" name="PlaceHolder 3"/>
          <p:cNvSpPr>
            <a:spLocks noGrp="1"/>
          </p:cNvSpPr>
          <p:nvPr>
            <p:ph type="sldNum" idx="30"/>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8F1DF4C6-9B3E-43DD-AD17-449D58528FC3}" type="slidenum">
              <a:rPr lang="en-US" sz="1200" b="0" u="none" strike="noStrike">
                <a:solidFill>
                  <a:schemeClr val="dk1"/>
                </a:solidFill>
                <a:effectLst/>
                <a:uFillTx/>
                <a:latin typeface="+mn-lt"/>
                <a:ea typeface="+mn-ea"/>
              </a:rPr>
              <a:t>35</a:t>
            </a:fld>
            <a:endParaRPr lang="en-US" sz="1200" b="0" u="none" strike="noStrike">
              <a:solidFill>
                <a:srgbClr val="000000"/>
              </a:solidFill>
              <a:effectLst/>
              <a:uFillTx/>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1" name="PlaceHolder 1"/>
          <p:cNvSpPr>
            <a:spLocks noGrp="1"/>
          </p:cNvSpPr>
          <p:nvPr>
            <p:ph type="sldImg"/>
          </p:nvPr>
        </p:nvSpPr>
        <p:spPr>
          <a:xfrm>
            <a:off x="685800" y="1143000"/>
            <a:ext cx="5485680" cy="3085560"/>
          </a:xfrm>
          <a:prstGeom prst="rect">
            <a:avLst/>
          </a:prstGeom>
          <a:ln w="0">
            <a:noFill/>
          </a:ln>
        </p:spPr>
      </p:sp>
      <p:sp>
        <p:nvSpPr>
          <p:cNvPr id="792"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The design of the learning element depends on the performance element. The critic provides feedback relative to a fixed standard. Learning can modify transition models, sensor models, rules, utility functions, and policies. The unifying theme is modification of agent components to better match feedback information.</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[Sources]</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Uploaded Chapter_2(4).docx, Sections 2.4.6.</a:t>
            </a:r>
            <a:endParaRPr lang="en-US" sz="2000" b="0" u="none" strike="noStrike">
              <a:solidFill>
                <a:srgbClr val="000000"/>
              </a:solidFill>
              <a:effectLst/>
              <a:uFillTx/>
              <a:latin typeface="Arial"/>
            </a:endParaRPr>
          </a:p>
        </p:txBody>
      </p:sp>
      <p:sp>
        <p:nvSpPr>
          <p:cNvPr id="793" name="PlaceHolder 3"/>
          <p:cNvSpPr>
            <a:spLocks noGrp="1"/>
          </p:cNvSpPr>
          <p:nvPr>
            <p:ph type="sldNum" idx="31"/>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52621E7F-FBEE-40DE-8962-F2B921BC9138}" type="slidenum">
              <a:rPr lang="en-US" sz="1200" b="0" u="none" strike="noStrike">
                <a:solidFill>
                  <a:schemeClr val="dk1"/>
                </a:solidFill>
                <a:effectLst/>
                <a:uFillTx/>
                <a:latin typeface="+mn-lt"/>
                <a:ea typeface="+mn-ea"/>
              </a:rPr>
              <a:t>35</a:t>
            </a:fld>
            <a:endParaRPr lang="en-US" sz="1200" b="0" u="none" strike="noStrike">
              <a:solidFill>
                <a:srgbClr val="000000"/>
              </a:solidFill>
              <a:effectLst/>
              <a:uFillTx/>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4" name="PlaceHolder 1"/>
          <p:cNvSpPr>
            <a:spLocks noGrp="1"/>
          </p:cNvSpPr>
          <p:nvPr>
            <p:ph type="sldImg"/>
          </p:nvPr>
        </p:nvSpPr>
        <p:spPr>
          <a:xfrm>
            <a:off x="685800" y="1143000"/>
            <a:ext cx="5485680" cy="3085560"/>
          </a:xfrm>
          <a:prstGeom prst="rect">
            <a:avLst/>
          </a:prstGeom>
          <a:ln w="0">
            <a:noFill/>
          </a:ln>
        </p:spPr>
      </p:sp>
      <p:sp>
        <p:nvSpPr>
          <p:cNvPr id="795"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Chapter 2 closes with representations. Atomic representations treat states as indivisible labels. Factored representations break states into variables and values. Structured representations describe objects and relationships. More expressive representations can describe more, often more concisely, but reasoning and learning usually become harder.</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[Sources]</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Uploaded Chapter_2(4).docx, Section 2.4.7 and Figure 2.16.</a:t>
            </a:r>
            <a:endParaRPr lang="en-US" sz="2000" b="0" u="none" strike="noStrike">
              <a:solidFill>
                <a:srgbClr val="000000"/>
              </a:solidFill>
              <a:effectLst/>
              <a:uFillTx/>
              <a:latin typeface="Arial"/>
            </a:endParaRPr>
          </a:p>
        </p:txBody>
      </p:sp>
      <p:sp>
        <p:nvSpPr>
          <p:cNvPr id="796" name="PlaceHolder 3"/>
          <p:cNvSpPr>
            <a:spLocks noGrp="1"/>
          </p:cNvSpPr>
          <p:nvPr>
            <p:ph type="sldNum" idx="32"/>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FD9EF36C-E84D-4D78-B59B-DA75EC2A55F7}" type="slidenum">
              <a:rPr lang="en-US" sz="1200" b="0" u="none" strike="noStrike">
                <a:solidFill>
                  <a:schemeClr val="dk1"/>
                </a:solidFill>
                <a:effectLst/>
                <a:uFillTx/>
                <a:latin typeface="+mn-lt"/>
                <a:ea typeface="+mn-ea"/>
              </a:rPr>
              <a:t>35</a:t>
            </a:fld>
            <a:endParaRPr lang="en-US" sz="1200" b="0" u="none" strike="noStrike">
              <a:solidFill>
                <a:srgbClr val="000000"/>
              </a:solidFill>
              <a:effectLst/>
              <a:uFillTx/>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7" name="PlaceHolder 1"/>
          <p:cNvSpPr>
            <a:spLocks noGrp="1"/>
          </p:cNvSpPr>
          <p:nvPr>
            <p:ph type="sldImg"/>
          </p:nvPr>
        </p:nvSpPr>
        <p:spPr>
          <a:xfrm>
            <a:off x="685800" y="1143000"/>
            <a:ext cx="5485680" cy="3085560"/>
          </a:xfrm>
          <a:prstGeom prst="rect">
            <a:avLst/>
          </a:prstGeom>
          <a:ln w="0">
            <a:noFill/>
          </a:ln>
        </p:spPr>
      </p:sp>
      <p:sp>
        <p:nvSpPr>
          <p:cNvPr id="79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Use this as a checkpoint. The deck now explicitly covers table-driven, simple reflex, model-based reflex, goal-based, utility-based, and learning agents. Table-driven is included as the conceptual baseline from Section 2.4.1. The other types are the basic agent program designs that Chapter 2 uses to organize the rest of the course.</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[Sources]</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Uploaded Chapter_2(4).docx, Sections 2.4.1-2.4.6 and Summary.</a:t>
            </a:r>
            <a:endParaRPr lang="en-US" sz="2000" b="0" u="none" strike="noStrike">
              <a:solidFill>
                <a:srgbClr val="000000"/>
              </a:solidFill>
              <a:effectLst/>
              <a:uFillTx/>
              <a:latin typeface="Arial"/>
            </a:endParaRPr>
          </a:p>
        </p:txBody>
      </p:sp>
      <p:sp>
        <p:nvSpPr>
          <p:cNvPr id="799" name="PlaceHolder 3"/>
          <p:cNvSpPr>
            <a:spLocks noGrp="1"/>
          </p:cNvSpPr>
          <p:nvPr>
            <p:ph type="sldNum" idx="33"/>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7A60B6BB-C753-4356-870F-982071B015FE}" type="slidenum">
              <a:rPr lang="en-US" sz="1200" b="0" u="none" strike="noStrike">
                <a:solidFill>
                  <a:schemeClr val="dk1"/>
                </a:solidFill>
                <a:effectLst/>
                <a:uFillTx/>
                <a:latin typeface="+mn-lt"/>
                <a:ea typeface="+mn-ea"/>
              </a:rPr>
              <a:t>35</a:t>
            </a:fld>
            <a:endParaRPr lang="en-US" sz="1200" b="0" u="none" strike="noStrike">
              <a:solidFill>
                <a:srgbClr val="000000"/>
              </a:solidFill>
              <a:effectLst/>
              <a:uFillTx/>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0" name="PlaceHolder 1"/>
          <p:cNvSpPr>
            <a:spLocks noGrp="1"/>
          </p:cNvSpPr>
          <p:nvPr>
            <p:ph type="sldImg"/>
          </p:nvPr>
        </p:nvSpPr>
        <p:spPr>
          <a:xfrm>
            <a:off x="685800" y="1143000"/>
            <a:ext cx="5485680" cy="3085560"/>
          </a:xfrm>
          <a:prstGeom prst="rect">
            <a:avLst/>
          </a:prstGeom>
          <a:ln w="0">
            <a:noFill/>
          </a:ln>
        </p:spPr>
      </p:sp>
      <p:sp>
        <p:nvSpPr>
          <p:cNvPr id="80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This is the practical synthesis slide. The agent design follows from the task environment. Fully observable and simple settings can sometimes use simple reflex rules. Partial observability pushes toward model-based agents. Long-term objectives push toward goal-based agents and search. Tradeoffs and uncertainty push toward utility-based agents. Unknown or changing environments push toward learning.</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[Sources]</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Uploaded Chapter_2(4).docx, Sections 2.3.2 and 2.4.</a:t>
            </a:r>
            <a:endParaRPr lang="en-US" sz="2000" b="0" u="none" strike="noStrike">
              <a:solidFill>
                <a:srgbClr val="000000"/>
              </a:solidFill>
              <a:effectLst/>
              <a:uFillTx/>
              <a:latin typeface="Arial"/>
            </a:endParaRPr>
          </a:p>
        </p:txBody>
      </p:sp>
      <p:sp>
        <p:nvSpPr>
          <p:cNvPr id="802" name="PlaceHolder 3"/>
          <p:cNvSpPr>
            <a:spLocks noGrp="1"/>
          </p:cNvSpPr>
          <p:nvPr>
            <p:ph type="sldNum" idx="34"/>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3F26DC38-AC4A-47A5-BC96-9ECC5386D888}" type="slidenum">
              <a:rPr lang="en-US" sz="1200" b="0" u="none" strike="noStrike">
                <a:solidFill>
                  <a:schemeClr val="dk1"/>
                </a:solidFill>
                <a:effectLst/>
                <a:uFillTx/>
                <a:latin typeface="+mn-lt"/>
                <a:ea typeface="+mn-ea"/>
              </a:rPr>
              <a:t>35</a:t>
            </a:fld>
            <a:endParaRPr lang="en-US" sz="1200" b="0" u="none" strike="noStrike">
              <a:solidFill>
                <a:srgbClr val="000000"/>
              </a:solidFill>
              <a:effectLst/>
              <a:uFillTx/>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3" name="PlaceHolder 1"/>
          <p:cNvSpPr>
            <a:spLocks noGrp="1"/>
          </p:cNvSpPr>
          <p:nvPr>
            <p:ph type="sldImg"/>
          </p:nvPr>
        </p:nvSpPr>
        <p:spPr>
          <a:xfrm>
            <a:off x="685800" y="1143000"/>
            <a:ext cx="5485680" cy="3085560"/>
          </a:xfrm>
          <a:prstGeom prst="rect">
            <a:avLst/>
          </a:prstGeom>
          <a:ln w="0">
            <a:noFill/>
          </a:ln>
        </p:spPr>
      </p:sp>
      <p:sp>
        <p:nvSpPr>
          <p:cNvPr id="80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Divide the class into small groups. Assign a system and ask each group to fill in PEAS. The checkpoint is important: if students cannot define PEAS, they are not ready to propose algorithms. This prevents students from jumping straight to implementation before specifying the task environment.</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[Sources]</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Uploaded Chapter_2(4).docx, Section 2.3.1.</a:t>
            </a:r>
            <a:endParaRPr lang="en-US" sz="2000" b="0" u="none" strike="noStrike">
              <a:solidFill>
                <a:srgbClr val="000000"/>
              </a:solidFill>
              <a:effectLst/>
              <a:uFillTx/>
              <a:latin typeface="Arial"/>
            </a:endParaRPr>
          </a:p>
        </p:txBody>
      </p:sp>
      <p:sp>
        <p:nvSpPr>
          <p:cNvPr id="805" name="PlaceHolder 3"/>
          <p:cNvSpPr>
            <a:spLocks noGrp="1"/>
          </p:cNvSpPr>
          <p:nvPr>
            <p:ph type="sldNum" idx="35"/>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F83E3E5F-0F37-4B37-8AA7-F9280C547175}" type="slidenum">
              <a:rPr lang="en-US" sz="1200" b="0" u="none" strike="noStrike">
                <a:solidFill>
                  <a:schemeClr val="dk1"/>
                </a:solidFill>
                <a:effectLst/>
                <a:uFillTx/>
                <a:latin typeface="+mn-lt"/>
                <a:ea typeface="+mn-ea"/>
              </a:rPr>
              <a:t>35</a:t>
            </a:fld>
            <a:endParaRPr lang="en-US" sz="1200" b="0" u="none" strike="noStrike">
              <a:solidFill>
                <a:srgbClr val="000000"/>
              </a:solidFill>
              <a:effectLst/>
              <a:uFillTx/>
              <a:latin typeface="Times New Roman"/>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6" name="PlaceHolder 1"/>
          <p:cNvSpPr>
            <a:spLocks noGrp="1"/>
          </p:cNvSpPr>
          <p:nvPr>
            <p:ph type="sldImg"/>
          </p:nvPr>
        </p:nvSpPr>
        <p:spPr>
          <a:xfrm>
            <a:off x="685800" y="1143000"/>
            <a:ext cx="5485680" cy="3085560"/>
          </a:xfrm>
          <a:prstGeom prst="rect">
            <a:avLst/>
          </a:prstGeom>
          <a:ln w="0">
            <a:noFill/>
          </a:ln>
        </p:spPr>
      </p:sp>
      <p:sp>
        <p:nvSpPr>
          <p:cNvPr id="80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Run the autonomous Pac-Man game here. Ask students to map the code to Chapter 2 vocabulary. Percepts are position, legal moves, pellets, power pellets, and ghost positions. Actions are movement commands. The performance measure is score, survival, and completion. Ask whether the code is reflex, model-based, goal-based, utility-based, or mixed. The answer can be mixed.</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[Sources]</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Uploaded Chapter_2(4).docx, Sections 2.1-2.4.</a:t>
            </a:r>
            <a:endParaRPr lang="en-US" sz="2000" b="0" u="none" strike="noStrike">
              <a:solidFill>
                <a:srgbClr val="000000"/>
              </a:solidFill>
              <a:effectLst/>
              <a:uFillTx/>
              <a:latin typeface="Arial"/>
            </a:endParaRPr>
          </a:p>
        </p:txBody>
      </p:sp>
      <p:sp>
        <p:nvSpPr>
          <p:cNvPr id="808" name="PlaceHolder 3"/>
          <p:cNvSpPr>
            <a:spLocks noGrp="1"/>
          </p:cNvSpPr>
          <p:nvPr>
            <p:ph type="sldNum" idx="36"/>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C65FBB11-8270-4F63-876D-B274AE50ED4C}" type="slidenum">
              <a:rPr lang="en-US" sz="1200" b="0" u="none" strike="noStrike">
                <a:solidFill>
                  <a:schemeClr val="dk1"/>
                </a:solidFill>
                <a:effectLst/>
                <a:uFillTx/>
                <a:latin typeface="+mn-lt"/>
                <a:ea typeface="+mn-ea"/>
              </a:rPr>
              <a:t>35</a:t>
            </a:fld>
            <a:endParaRPr lang="en-US" sz="1200" b="0" u="none" strike="noStrike">
              <a:solidFill>
                <a:srgbClr val="000000"/>
              </a:solidFill>
              <a:effectLst/>
              <a:uFillTx/>
              <a:latin typeface="Times New Roman"/>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9" name="PlaceHolder 1"/>
          <p:cNvSpPr>
            <a:spLocks noGrp="1"/>
          </p:cNvSpPr>
          <p:nvPr>
            <p:ph type="sldImg"/>
          </p:nvPr>
        </p:nvSpPr>
        <p:spPr>
          <a:xfrm>
            <a:off x="685800" y="1143000"/>
            <a:ext cx="5485680" cy="3085560"/>
          </a:xfrm>
          <a:prstGeom prst="rect">
            <a:avLst/>
          </a:prstGeom>
          <a:ln w="0">
            <a:noFill/>
          </a:ln>
        </p:spPr>
      </p:sp>
      <p:sp>
        <p:nvSpPr>
          <p:cNvPr id="810"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The planning video is useful, but not all of it is Chapter 2. The first segment supports Chapter 2 because it distinguishes reflex agents from planning agents and uses Pac-Man as the example. After that, the lecture becomes Chapter 3. Use it as a bridge: Chapter 2 explains why a goal-based agent needs to look ahead; Chapter 3 explains the search algorithms for doing so.</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[Sources]</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Uploaded transcript Pasted text(2).txt; uploaded Chapter_2(4).docx, Section 2.4.4.</a:t>
            </a:r>
            <a:endParaRPr lang="en-US" sz="2000" b="0" u="none" strike="noStrike">
              <a:solidFill>
                <a:srgbClr val="000000"/>
              </a:solidFill>
              <a:effectLst/>
              <a:uFillTx/>
              <a:latin typeface="Arial"/>
            </a:endParaRPr>
          </a:p>
        </p:txBody>
      </p:sp>
      <p:sp>
        <p:nvSpPr>
          <p:cNvPr id="811" name="PlaceHolder 3"/>
          <p:cNvSpPr>
            <a:spLocks noGrp="1"/>
          </p:cNvSpPr>
          <p:nvPr>
            <p:ph type="sldNum" idx="37"/>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7398F21B-2056-46B7-8462-4475BB47141A}"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2" name="PlaceHolder 1"/>
          <p:cNvSpPr>
            <a:spLocks noGrp="1"/>
          </p:cNvSpPr>
          <p:nvPr>
            <p:ph type="sldImg"/>
          </p:nvPr>
        </p:nvSpPr>
        <p:spPr>
          <a:xfrm>
            <a:off x="685800" y="1143000"/>
            <a:ext cx="5485680" cy="3085560"/>
          </a:xfrm>
          <a:prstGeom prst="rect">
            <a:avLst/>
          </a:prstGeom>
          <a:ln w="0">
            <a:noFill/>
          </a:ln>
        </p:spPr>
      </p:sp>
      <p:sp>
        <p:nvSpPr>
          <p:cNvPr id="813"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Close with the chapter logic. First define the agent and environment. Second specify the task with PEAS. Third classify the environment. Fourth choose an agent program design. A table-driven agent is the conceptual baseline but not practical. Simple reflex agents are fast and brittle. Model-based agents handle hidden state. Goal-based agents reason toward goals. Utility-based agents handle tradeoffs and uncertainty. Learning agents improve from feedback.</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[Sources]</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Uploaded Chapter_2(4).docx, Summary.</a:t>
            </a:r>
            <a:endParaRPr lang="en-US" sz="2000" b="0" u="none" strike="noStrike">
              <a:solidFill>
                <a:srgbClr val="000000"/>
              </a:solidFill>
              <a:effectLst/>
              <a:uFillTx/>
              <a:latin typeface="Arial"/>
            </a:endParaRPr>
          </a:p>
        </p:txBody>
      </p:sp>
      <p:sp>
        <p:nvSpPr>
          <p:cNvPr id="814" name="PlaceHolder 3"/>
          <p:cNvSpPr>
            <a:spLocks noGrp="1"/>
          </p:cNvSpPr>
          <p:nvPr>
            <p:ph type="sldNum" idx="38"/>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E71328DC-1983-4CBC-A3A7-D7253ADC7506}"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708480"/>
            <a:ext cx="10971720" cy="274680"/>
          </a:xfrm>
          <a:prstGeom prst="rect">
            <a:avLst/>
          </a:prstGeom>
          <a:noFill/>
          <a:ln w="0">
            <a:noFill/>
          </a:ln>
        </p:spPr>
        <p:txBody>
          <a:bodyPr lIns="0" tIns="0" rIns="0" bIns="0" anchor="ctr">
            <a:spAutoFit/>
          </a:bodyPr>
          <a:lstStyle>
            <a:lvl1pPr indent="0" algn="l">
              <a:buNone/>
              <a:tabLst>
                <a:tab pos="0" algn="l"/>
              </a:tabLst>
              <a:defRPr lang="en-US" sz="1800" b="0" u="none" strike="noStrike">
                <a:solidFill>
                  <a:schemeClr val="dk1"/>
                </a:solidFill>
                <a:effectLst/>
                <a:uFillTx/>
                <a:latin typeface="Aptos"/>
              </a:defRPr>
            </a:lvl1pPr>
          </a:lstStyle>
          <a:p>
            <a:pPr indent="0" algn="l">
              <a:buNone/>
              <a:tabLst>
                <a:tab pos="0" algn="l"/>
              </a:tabLst>
            </a:pPr>
            <a:r>
              <a:rPr lang="en-US" sz="1800" b="0" u="none" strike="noStrike">
                <a:solidFill>
                  <a:schemeClr val="dk1"/>
                </a:solidFill>
                <a:effectLst/>
                <a:uFillTx/>
                <a:latin typeface="Aptos"/>
              </a:rPr>
              <a:t>Click to edit the title text format</a:t>
            </a:r>
            <a:endParaRPr lang="en-US" sz="1800" b="0" u="none" strike="noStrike">
              <a:solidFill>
                <a:schemeClr val="dk1"/>
              </a:solidFill>
              <a:effectLst/>
              <a:uFillTx/>
              <a:latin typeface="Aptos"/>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bg>
      <p:bgPr>
        <a:solidFill>
          <a:srgbClr val="FFFFFF"/>
        </a:solidFill>
      </p:bgPr>
    </p:bg>
    <p:spTree>
      <p:nvGrpSpPr>
        <p:cNvPr id="1" name=""/>
        <p:cNvGrpSpPr/>
        <p:nvPr/>
      </p:nvGrpSpPr>
      <p:grpSpPr>
        <a:xfrm>
          <a:off x="0" y="0"/>
          <a:ext cx="0" cy="0"/>
          <a:chOff x="0" y="0"/>
          <a:chExt cx="0" cy="0"/>
        </a:xfrm>
      </p:grpSpPr>
      <p:sp>
        <p:nvSpPr>
          <p:cNvPr id="3"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tabLst>
                <a:tab pos="0" algn="l"/>
              </a:tabLst>
              <a:defRPr lang="en-US" sz="1800" b="0" u="none" strike="noStrike">
                <a:solidFill>
                  <a:schemeClr val="dk1"/>
                </a:solidFill>
                <a:effectLst/>
                <a:uFillTx/>
                <a:latin typeface="Aptos"/>
              </a:defRPr>
            </a:lvl1pPr>
          </a:lstStyle>
          <a:p>
            <a:pPr indent="0" algn="l">
              <a:buNone/>
              <a:tabLst>
                <a:tab pos="0" algn="l"/>
              </a:tabLst>
            </a:pPr>
            <a:r>
              <a:rPr lang="en-US" sz="1800" b="0" u="none" strike="noStrike">
                <a:solidFill>
                  <a:schemeClr val="dk1"/>
                </a:solidFill>
                <a:effectLst/>
                <a:uFillTx/>
                <a:latin typeface="Aptos"/>
              </a:rPr>
              <a:t>Click to edit the title text format</a:t>
            </a:r>
            <a:endParaRPr lang="en-US" sz="1800" b="0" u="none" strike="noStrike">
              <a:solidFill>
                <a:schemeClr val="dk1"/>
              </a:solidFill>
              <a:effectLst/>
              <a:uFillTx/>
              <a:latin typeface="Aptos"/>
            </a:endParaRPr>
          </a:p>
        </p:txBody>
      </p:sp>
      <p:sp>
        <p:nvSpPr>
          <p:cNvPr id="4"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chemeClr val="dk1"/>
                </a:solidFill>
                <a:effectLst/>
                <a:uFillTx/>
                <a:latin typeface="Aptos"/>
              </a:defRPr>
            </a:lvl1pPr>
            <a:lvl2pPr lvl="1" algn="l">
              <a:spcBef>
                <a:spcPts val="1134"/>
              </a:spcBef>
              <a:buClr>
                <a:srgbClr val="000000"/>
              </a:buClr>
              <a:buSzPct val="75000"/>
              <a:buFont typeface="Symbol" charset="2"/>
              <a:buChar char=""/>
              <a:defRPr lang="en-US" sz="2400" b="0" u="none" strike="noStrike">
                <a:solidFill>
                  <a:schemeClr val="dk1"/>
                </a:solidFill>
                <a:effectLst/>
                <a:uFillTx/>
                <a:latin typeface="Aptos"/>
              </a:defRPr>
            </a:lvl2pPr>
            <a:lvl3pPr lvl="2" algn="l">
              <a:spcBef>
                <a:spcPts val="850"/>
              </a:spcBef>
              <a:buClr>
                <a:srgbClr val="000000"/>
              </a:buClr>
              <a:buSzPct val="45000"/>
              <a:buFont typeface="Wingdings" charset="2"/>
              <a:buChar char=""/>
              <a:defRPr lang="en-US" sz="2000" b="0" u="none" strike="noStrike">
                <a:solidFill>
                  <a:schemeClr val="dk1"/>
                </a:solidFill>
                <a:effectLst/>
                <a:uFillTx/>
                <a:latin typeface="Aptos"/>
              </a:defRPr>
            </a:lvl3pPr>
            <a:lvl4pPr lvl="3" algn="l">
              <a:spcBef>
                <a:spcPts val="567"/>
              </a:spcBef>
              <a:buClr>
                <a:srgbClr val="000000"/>
              </a:buClr>
              <a:buSzPct val="75000"/>
              <a:buFont typeface="Symbol" charset="2"/>
              <a:buChar char=""/>
              <a:defRPr lang="en-US" sz="2000" b="0" u="none" strike="noStrike">
                <a:solidFill>
                  <a:schemeClr val="dk1"/>
                </a:solidFill>
                <a:effectLst/>
                <a:uFillTx/>
                <a:latin typeface="Aptos"/>
              </a:defRPr>
            </a:lvl4pPr>
            <a:lvl5pPr lvl="4" algn="l">
              <a:spcBef>
                <a:spcPts val="283"/>
              </a:spcBef>
              <a:buClr>
                <a:srgbClr val="000000"/>
              </a:buClr>
              <a:buSzPct val="45000"/>
              <a:buFont typeface="Wingdings" charset="2"/>
              <a:buChar char=""/>
              <a:defRPr lang="en-US" sz="2000" b="0" u="none" strike="noStrike">
                <a:solidFill>
                  <a:schemeClr val="dk1"/>
                </a:solidFill>
                <a:effectLst/>
                <a:uFillTx/>
                <a:latin typeface="Aptos"/>
              </a:defRPr>
            </a:lvl5pPr>
            <a:lvl6pPr lvl="5" algn="l">
              <a:spcBef>
                <a:spcPts val="283"/>
              </a:spcBef>
              <a:buClr>
                <a:srgbClr val="000000"/>
              </a:buClr>
              <a:buSzPct val="45000"/>
              <a:buFont typeface="Wingdings" charset="2"/>
              <a:buChar char=""/>
              <a:defRPr lang="en-US" sz="2000" b="0" u="none" strike="noStrike">
                <a:solidFill>
                  <a:schemeClr val="dk1"/>
                </a:solidFill>
                <a:effectLst/>
                <a:uFillTx/>
                <a:latin typeface="Aptos"/>
              </a:defRPr>
            </a:lvl6pPr>
            <a:lvl7pPr lvl="6" algn="l">
              <a:spcBef>
                <a:spcPts val="283"/>
              </a:spcBef>
              <a:buClr>
                <a:srgbClr val="000000"/>
              </a:buClr>
              <a:buSzPct val="45000"/>
              <a:buFont typeface="Wingdings" charset="2"/>
              <a:buChar char=""/>
              <a:defRPr lang="en-US" sz="2000" b="0" u="none" strike="noStrike">
                <a:solidFill>
                  <a:schemeClr val="dk1"/>
                </a:solidFill>
                <a:effectLst/>
                <a:uFillTx/>
                <a:latin typeface="Aptos"/>
              </a:defRPr>
            </a:lvl7pPr>
          </a:lstStyle>
          <a:p>
            <a:pPr indent="-324000" algn="l">
              <a:spcBef>
                <a:spcPts val="1417"/>
              </a:spcBef>
              <a:buClr>
                <a:srgbClr val="000000"/>
              </a:buClr>
              <a:buSzPct val="45000"/>
              <a:buFont typeface="Wingdings" charset="2"/>
              <a:buChar char=""/>
            </a:pPr>
            <a:r>
              <a:rPr lang="en-US" sz="3200" b="0" u="none" strike="noStrike">
                <a:solidFill>
                  <a:schemeClr val="dk1"/>
                </a:solidFill>
                <a:effectLst/>
                <a:uFillTx/>
                <a:latin typeface="Aptos"/>
              </a:rPr>
              <a:t>Click to edit the outline text format</a:t>
            </a:r>
            <a:endParaRPr lang="en-US" sz="3200" b="0" u="none" strike="noStrike">
              <a:solidFill>
                <a:schemeClr val="dk1"/>
              </a:solidFill>
              <a:effectLst/>
              <a:uFillTx/>
              <a:latin typeface="Aptos"/>
            </a:endParaRPr>
          </a:p>
          <a:p>
            <a:pPr marL="864000" lvl="1" indent="-324000" algn="l">
              <a:spcBef>
                <a:spcPts val="1134"/>
              </a:spcBef>
              <a:buClr>
                <a:srgbClr val="000000"/>
              </a:buClr>
              <a:buSzPct val="75000"/>
              <a:buFont typeface="Symbol" charset="2"/>
              <a:buChar char=""/>
            </a:pPr>
            <a:r>
              <a:rPr lang="en-US" sz="2400" b="0" u="none" strike="noStrike">
                <a:solidFill>
                  <a:schemeClr val="dk1"/>
                </a:solidFill>
                <a:effectLst/>
                <a:uFillTx/>
                <a:latin typeface="Aptos"/>
              </a:rPr>
              <a:t>Second Outline Level</a:t>
            </a:r>
            <a:endParaRPr lang="en-US" sz="2400" b="0" u="none" strike="noStrike">
              <a:solidFill>
                <a:schemeClr val="dk1"/>
              </a:solidFill>
              <a:effectLst/>
              <a:uFillTx/>
              <a:latin typeface="Aptos"/>
            </a:endParaRPr>
          </a:p>
          <a:p>
            <a:pPr marL="1296000" lvl="2" indent="-288000" algn="l">
              <a:spcBef>
                <a:spcPts val="850"/>
              </a:spcBef>
              <a:buClr>
                <a:srgbClr val="000000"/>
              </a:buClr>
              <a:buSzPct val="45000"/>
              <a:buFont typeface="Wingdings" charset="2"/>
              <a:buChar char=""/>
            </a:pPr>
            <a:r>
              <a:rPr lang="en-US" sz="2000" b="0" u="none" strike="noStrike">
                <a:solidFill>
                  <a:schemeClr val="dk1"/>
                </a:solidFill>
                <a:effectLst/>
                <a:uFillTx/>
                <a:latin typeface="Aptos"/>
              </a:rPr>
              <a:t>Third Outline Level</a:t>
            </a:r>
            <a:endParaRPr lang="en-US" sz="2000" b="0" u="none" strike="noStrike">
              <a:solidFill>
                <a:schemeClr val="dk1"/>
              </a:solidFill>
              <a:effectLst/>
              <a:uFillTx/>
              <a:latin typeface="Aptos"/>
            </a:endParaRPr>
          </a:p>
          <a:p>
            <a:pPr marL="1728000" lvl="3" indent="-216000" algn="l">
              <a:spcBef>
                <a:spcPts val="567"/>
              </a:spcBef>
              <a:buClr>
                <a:srgbClr val="000000"/>
              </a:buClr>
              <a:buSzPct val="75000"/>
              <a:buFont typeface="Symbol" charset="2"/>
              <a:buChar char=""/>
            </a:pPr>
            <a:r>
              <a:rPr lang="en-US" sz="2000" b="0" u="none" strike="noStrike">
                <a:solidFill>
                  <a:schemeClr val="dk1"/>
                </a:solidFill>
                <a:effectLst/>
                <a:uFillTx/>
                <a:latin typeface="Aptos"/>
              </a:rPr>
              <a:t>Fourth Outline Level</a:t>
            </a:r>
            <a:endParaRPr lang="en-US" sz="2000" b="0" u="none" strike="noStrike">
              <a:solidFill>
                <a:schemeClr val="dk1"/>
              </a:solidFill>
              <a:effectLst/>
              <a:uFillTx/>
              <a:latin typeface="Aptos"/>
            </a:endParaRPr>
          </a:p>
          <a:p>
            <a:pPr marL="2160000" lvl="4" indent="-216000" algn="l">
              <a:spcBef>
                <a:spcPts val="283"/>
              </a:spcBef>
              <a:buClr>
                <a:srgbClr val="000000"/>
              </a:buClr>
              <a:buSzPct val="45000"/>
              <a:buFont typeface="Wingdings" charset="2"/>
              <a:buChar char=""/>
            </a:pPr>
            <a:r>
              <a:rPr lang="en-US" sz="2000" b="0" u="none" strike="noStrike">
                <a:solidFill>
                  <a:schemeClr val="dk1"/>
                </a:solidFill>
                <a:effectLst/>
                <a:uFillTx/>
                <a:latin typeface="Aptos"/>
              </a:rPr>
              <a:t>Fifth Outline Level</a:t>
            </a:r>
            <a:endParaRPr lang="en-US" sz="2000" b="0" u="none" strike="noStrike">
              <a:solidFill>
                <a:schemeClr val="dk1"/>
              </a:solidFill>
              <a:effectLst/>
              <a:uFillTx/>
              <a:latin typeface="Aptos"/>
            </a:endParaRPr>
          </a:p>
          <a:p>
            <a:pPr marL="2592000" lvl="5" indent="-216000" algn="l">
              <a:spcBef>
                <a:spcPts val="283"/>
              </a:spcBef>
              <a:buClr>
                <a:srgbClr val="000000"/>
              </a:buClr>
              <a:buSzPct val="45000"/>
              <a:buFont typeface="Wingdings" charset="2"/>
              <a:buChar char=""/>
            </a:pPr>
            <a:r>
              <a:rPr lang="en-US" sz="2000" b="0" u="none" strike="noStrike">
                <a:solidFill>
                  <a:schemeClr val="dk1"/>
                </a:solidFill>
                <a:effectLst/>
                <a:uFillTx/>
                <a:latin typeface="Aptos"/>
              </a:rPr>
              <a:t>Sixth Outline Level</a:t>
            </a:r>
            <a:endParaRPr lang="en-US" sz="2000" b="0" u="none" strike="noStrike">
              <a:solidFill>
                <a:schemeClr val="dk1"/>
              </a:solidFill>
              <a:effectLst/>
              <a:uFillTx/>
              <a:latin typeface="Aptos"/>
            </a:endParaRPr>
          </a:p>
          <a:p>
            <a:pPr marL="3024000" lvl="6" indent="-216000" algn="l">
              <a:spcBef>
                <a:spcPts val="283"/>
              </a:spcBef>
              <a:buClr>
                <a:srgbClr val="000000"/>
              </a:buClr>
              <a:buSzPct val="45000"/>
              <a:buFont typeface="Wingdings" charset="2"/>
              <a:buChar char=""/>
            </a:pPr>
            <a:r>
              <a:rPr lang="en-US" sz="2000" b="0" u="none" strike="noStrike">
                <a:solidFill>
                  <a:schemeClr val="dk1"/>
                </a:solidFill>
                <a:effectLst/>
                <a:uFillTx/>
                <a:latin typeface="Aptos"/>
              </a:rPr>
              <a:t>Seventh Outline Level</a:t>
            </a:r>
            <a:endParaRPr lang="en-US" sz="2000" b="0" u="none" strike="noStrike">
              <a:solidFill>
                <a:schemeClr val="dk1"/>
              </a:solidFill>
              <a:effectLst/>
              <a:uFillTx/>
              <a:latin typeface="Aptos"/>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DEFAULT">
    <p:bg>
      <p:bgPr>
        <a:solidFill>
          <a:srgbClr val="FFFFFF"/>
        </a:solidFill>
      </p:bgPr>
    </p:bg>
    <p:spTree>
      <p:nvGrpSpPr>
        <p:cNvPr id="1" name=""/>
        <p:cNvGrpSpPr/>
        <p:nvPr/>
      </p:nvGrpSpPr>
      <p:grpSpPr>
        <a:xfrm>
          <a:off x="0" y="0"/>
          <a:ext cx="0" cy="0"/>
          <a:chOff x="0" y="0"/>
          <a:chExt cx="0" cy="0"/>
        </a:xfrm>
      </p:grpSpPr>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1">
    <p:bg>
      <p:bgPr>
        <a:solidFill>
          <a:srgbClr val="FFFFFF"/>
        </a:solidFill>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609480" y="708480"/>
            <a:ext cx="10971720" cy="274680"/>
          </a:xfrm>
          <a:prstGeom prst="rect">
            <a:avLst/>
          </a:prstGeom>
          <a:noFill/>
          <a:ln w="0">
            <a:noFill/>
          </a:ln>
        </p:spPr>
        <p:txBody>
          <a:bodyPr lIns="0" tIns="0" rIns="0" bIns="0" anchor="ctr">
            <a:spAutoFit/>
          </a:bodyPr>
          <a:lstStyle>
            <a:lvl1pPr indent="0" algn="l">
              <a:buNone/>
              <a:defRPr lang="en-US" sz="1800" b="0" u="none" strike="noStrike">
                <a:solidFill>
                  <a:srgbClr val="000000"/>
                </a:solidFill>
                <a:effectLst/>
                <a:uFillTx/>
                <a:latin typeface="Arial"/>
              </a:defRPr>
            </a:lvl1pPr>
          </a:lstStyle>
          <a:p>
            <a:pPr indent="0" algn="l">
              <a:buNone/>
            </a:pPr>
            <a:r>
              <a:rPr lang="en-US" sz="1800" b="0" u="none" strike="noStrike">
                <a:solidFill>
                  <a:srgbClr val="000000"/>
                </a:solidFill>
                <a:effectLst/>
                <a:uFillTx/>
                <a:latin typeface="Arial"/>
              </a:rPr>
              <a:t>Click to edit the title text format</a:t>
            </a:r>
            <a:endParaRPr lang="en-US" sz="1800" b="0" u="none" strike="noStrike">
              <a:solidFill>
                <a:srgbClr val="000000"/>
              </a:solidFill>
              <a:effectLst/>
              <a:uFillTx/>
              <a:latin typeface="Arial"/>
            </a:endParaRPr>
          </a:p>
        </p:txBody>
      </p:sp>
      <p:sp>
        <p:nvSpPr>
          <p:cNvPr id="6"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0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0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0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0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3200" b="0" u="none" strike="noStrike">
                <a:solidFill>
                  <a:srgbClr val="000000"/>
                </a:solidFill>
                <a:effectLst/>
                <a:uFillTx/>
                <a:latin typeface="Arial"/>
              </a:rPr>
              <a:t>Click to edit the outline text format</a:t>
            </a:r>
            <a:endParaRPr lang="en-US" sz="32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endParaRPr lang="en-US" sz="24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2000" b="0" u="none" strike="noStrike">
                <a:solidFill>
                  <a:srgbClr val="000000"/>
                </a:solidFill>
                <a:effectLst/>
                <a:uFillTx/>
                <a:latin typeface="Arial"/>
              </a:rPr>
              <a:t>Fourth Outline Level</a:t>
            </a:r>
            <a:endParaRPr lang="en-US" sz="20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endParaRPr lang="en-US" sz="20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endParaRPr lang="en-US" sz="20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endParaRPr lang="en-US" sz="2000" b="0" u="none" strike="noStrike">
              <a:solidFill>
                <a:srgbClr val="000000"/>
              </a:solidFill>
              <a:effectLst/>
              <a:uFillTx/>
              <a:latin typeface="Arial"/>
            </a:endParaRPr>
          </a:p>
        </p:txBody>
      </p:sp>
    </p:spTree>
  </p:cSld>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3.xml"/><Relationship Id="rId3" Type="http://schemas.openxmlformats.org/officeDocument/2006/relationships/slideLayout" Target="../slideLayouts/slideLayout4.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2" r:id="rId2"/>
    <p:sldLayoutId id="2147483653" r:id="rId3"/>
  </p:sldLayoutId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slideLayout" Target="../slideLayouts/slideLayout2.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6FA"/>
        </a:solidFill>
      </p:bgPr>
    </p:bg>
    <p:spTree>
      <p:nvGrpSpPr>
        <p:cNvPr id="1" name=""/>
        <p:cNvGrpSpPr/>
        <p:nvPr/>
      </p:nvGrpSpPr>
      <p:grpSpPr>
        <a:xfrm>
          <a:off x="0" y="0"/>
          <a:ext cx="0" cy="0"/>
          <a:chOff x="0" y="0"/>
          <a:chExt cx="0" cy="0"/>
        </a:xfrm>
      </p:grpSpPr>
      <p:sp>
        <p:nvSpPr>
          <p:cNvPr id="13" name="Shape 0"/>
          <p:cNvSpPr/>
          <p:nvPr/>
        </p:nvSpPr>
        <p:spPr>
          <a:xfrm>
            <a:off x="0" y="0"/>
            <a:ext cx="12191040" cy="6857280"/>
          </a:xfrm>
          <a:prstGeom prst="rect">
            <a:avLst/>
          </a:prstGeom>
          <a:solidFill>
            <a:srgbClr val="F2F6FA"/>
          </a:solidFill>
          <a:ln w="12700">
            <a:solidFill>
              <a:srgbClr val="F2F6F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4" name="Shape 1"/>
          <p:cNvSpPr/>
          <p:nvPr/>
        </p:nvSpPr>
        <p:spPr>
          <a:xfrm>
            <a:off x="0" y="0"/>
            <a:ext cx="12191040" cy="1050840"/>
          </a:xfrm>
          <a:prstGeom prst="rect">
            <a:avLst/>
          </a:prstGeom>
          <a:solidFill>
            <a:srgbClr val="0B2B5C"/>
          </a:solidFill>
          <a:ln w="12700">
            <a:solidFill>
              <a:srgbClr val="0B2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5" name="Shape 2"/>
          <p:cNvSpPr/>
          <p:nvPr/>
        </p:nvSpPr>
        <p:spPr>
          <a:xfrm>
            <a:off x="0" y="1051560"/>
            <a:ext cx="12191040" cy="81720"/>
          </a:xfrm>
          <a:prstGeom prst="rect">
            <a:avLst/>
          </a:prstGeom>
          <a:solidFill>
            <a:srgbClr val="F5A21B"/>
          </a:solidFill>
          <a:ln w="12700">
            <a:solidFill>
              <a:srgbClr val="F5A21B"/>
            </a:solidFill>
            <a:round/>
          </a:ln>
        </p:spPr>
        <p:style>
          <a:lnRef idx="0"/>
          <a:fillRef idx="0"/>
          <a:effectRef idx="0"/>
          <a:fontRef idx="minor"/>
        </p:style>
        <p:txBody>
          <a:bodyPr lIns="90000" tIns="37440" rIns="90000" bIns="37440" anchor="t">
            <a:noAutofit/>
          </a:bodyPr>
          <a:p>
            <a:endParaRPr lang="en-US" sz="1800" b="0" u="none" strike="noStrike">
              <a:solidFill>
                <a:srgbClr val="000000"/>
              </a:solidFill>
              <a:effectLst/>
              <a:uFillTx/>
              <a:latin typeface="Arial"/>
            </a:endParaRPr>
          </a:p>
        </p:txBody>
      </p:sp>
      <p:sp>
        <p:nvSpPr>
          <p:cNvPr id="16" name="Text 3"/>
          <p:cNvSpPr/>
          <p:nvPr/>
        </p:nvSpPr>
        <p:spPr>
          <a:xfrm>
            <a:off x="685800" y="311040"/>
            <a:ext cx="2010960" cy="365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1" u="none" strike="noStrike">
                <a:solidFill>
                  <a:srgbClr val="FFFFFF"/>
                </a:solidFill>
                <a:effectLst/>
                <a:uFillTx/>
                <a:latin typeface="Aptos"/>
              </a:rPr>
              <a:t>COMP 469</a:t>
            </a:r>
            <a:endParaRPr lang="en-US" sz="2000" b="0" u="none" strike="noStrike">
              <a:solidFill>
                <a:srgbClr val="000000"/>
              </a:solidFill>
              <a:effectLst/>
              <a:uFillTx/>
              <a:latin typeface="Arial"/>
            </a:endParaRPr>
          </a:p>
        </p:txBody>
      </p:sp>
      <p:sp>
        <p:nvSpPr>
          <p:cNvPr id="17" name="Text 4"/>
          <p:cNvSpPr/>
          <p:nvPr/>
        </p:nvSpPr>
        <p:spPr>
          <a:xfrm>
            <a:off x="685800" y="1828800"/>
            <a:ext cx="987480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600" b="1" u="none" strike="noStrike">
                <a:solidFill>
                  <a:srgbClr val="0B1F3A"/>
                </a:solidFill>
                <a:effectLst/>
                <a:uFillTx/>
                <a:latin typeface="Aptos Display"/>
                <a:ea typeface="Aptos Display"/>
              </a:rPr>
              <a:t>Chapter 2: Intelligent Agents</a:t>
            </a:r>
            <a:endParaRPr lang="en-US" sz="3600" b="0" u="none" strike="noStrike">
              <a:solidFill>
                <a:srgbClr val="000000"/>
              </a:solidFill>
              <a:effectLst/>
              <a:uFillTx/>
              <a:latin typeface="Arial"/>
            </a:endParaRPr>
          </a:p>
        </p:txBody>
      </p:sp>
      <p:sp>
        <p:nvSpPr>
          <p:cNvPr id="18" name="Text 5"/>
          <p:cNvSpPr/>
          <p:nvPr/>
        </p:nvSpPr>
        <p:spPr>
          <a:xfrm>
            <a:off x="713160" y="2541960"/>
            <a:ext cx="7497360" cy="319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u="none" strike="noStrike">
                <a:solidFill>
                  <a:srgbClr val="5E7088"/>
                </a:solidFill>
                <a:effectLst/>
                <a:uFillTx/>
                <a:latin typeface="Aptos"/>
              </a:rPr>
              <a:t>CSU Channel Islands · Department of Computer Science</a:t>
            </a:r>
            <a:endParaRPr lang="en-US" sz="1500" b="0" u="none" strike="noStrike">
              <a:solidFill>
                <a:srgbClr val="000000"/>
              </a:solidFill>
              <a:effectLst/>
              <a:uFillTx/>
              <a:latin typeface="Arial"/>
            </a:endParaRPr>
          </a:p>
        </p:txBody>
      </p:sp>
      <p:sp>
        <p:nvSpPr>
          <p:cNvPr id="19" name="Shape 6"/>
          <p:cNvSpPr/>
          <p:nvPr/>
        </p:nvSpPr>
        <p:spPr>
          <a:xfrm>
            <a:off x="960120" y="3886200"/>
            <a:ext cx="1553760" cy="1553760"/>
          </a:xfrm>
          <a:prstGeom prst="ellipse">
            <a:avLst/>
          </a:prstGeom>
          <a:solidFill>
            <a:srgbClr val="2B6CB0"/>
          </a:solidFill>
          <a:ln w="12700">
            <a:solidFill>
              <a:srgbClr val="2B6CB0"/>
            </a:solidFill>
            <a:round/>
          </a:ln>
          <a:effectLst>
            <a:outerShdw algn="bl" blurRad="25560" dir="2700000" dist="12218" kx="0" ky="0" rotWithShape="0" sx="100000" sy="100000">
              <a:srgbClr val="000000">
                <a:alpha val="16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0" name="Text 7"/>
          <p:cNvSpPr/>
          <p:nvPr/>
        </p:nvSpPr>
        <p:spPr>
          <a:xfrm>
            <a:off x="960120" y="4370760"/>
            <a:ext cx="1553760" cy="319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FFFFFF"/>
                </a:solidFill>
                <a:effectLst/>
                <a:uFillTx/>
                <a:latin typeface="Aptos"/>
              </a:rPr>
              <a:t>Sense</a:t>
            </a:r>
            <a:endParaRPr lang="en-US" sz="1800" b="0" u="none" strike="noStrike">
              <a:solidFill>
                <a:srgbClr val="000000"/>
              </a:solidFill>
              <a:effectLst/>
              <a:uFillTx/>
              <a:latin typeface="Arial"/>
            </a:endParaRPr>
          </a:p>
        </p:txBody>
      </p:sp>
      <p:sp>
        <p:nvSpPr>
          <p:cNvPr id="21" name="Shape 8"/>
          <p:cNvSpPr/>
          <p:nvPr/>
        </p:nvSpPr>
        <p:spPr>
          <a:xfrm>
            <a:off x="2834640" y="4370760"/>
            <a:ext cx="1233720" cy="593640"/>
          </a:xfrm>
          <a:prstGeom prst="chevron">
            <a:avLst>
              <a:gd name="adj" fmla="val 50000"/>
            </a:avLst>
          </a:prstGeom>
          <a:solidFill>
            <a:srgbClr val="F5A21B"/>
          </a:solidFill>
          <a:ln w="12700">
            <a:solidFill>
              <a:srgbClr val="F5A21B"/>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2" name="Shape 9"/>
          <p:cNvSpPr/>
          <p:nvPr/>
        </p:nvSpPr>
        <p:spPr>
          <a:xfrm>
            <a:off x="4343400" y="3886200"/>
            <a:ext cx="1553760" cy="1553760"/>
          </a:xfrm>
          <a:prstGeom prst="ellipse">
            <a:avLst/>
          </a:prstGeom>
          <a:solidFill>
            <a:srgbClr val="048A97"/>
          </a:solidFill>
          <a:ln w="12700">
            <a:solidFill>
              <a:srgbClr val="048A97"/>
            </a:solidFill>
            <a:round/>
          </a:ln>
          <a:effectLst>
            <a:outerShdw algn="bl" blurRad="25560" dir="2700000" dist="12218" kx="0" ky="0" rotWithShape="0" sx="100000" sy="100000">
              <a:srgbClr val="000000">
                <a:alpha val="16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3" name="Text 10"/>
          <p:cNvSpPr/>
          <p:nvPr/>
        </p:nvSpPr>
        <p:spPr>
          <a:xfrm>
            <a:off x="4343400" y="4370760"/>
            <a:ext cx="1553760" cy="319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FFFFFF"/>
                </a:solidFill>
                <a:effectLst/>
                <a:uFillTx/>
                <a:latin typeface="Aptos"/>
              </a:rPr>
              <a:t>Decide</a:t>
            </a:r>
            <a:endParaRPr lang="en-US" sz="1800" b="0" u="none" strike="noStrike">
              <a:solidFill>
                <a:srgbClr val="000000"/>
              </a:solidFill>
              <a:effectLst/>
              <a:uFillTx/>
              <a:latin typeface="Arial"/>
            </a:endParaRPr>
          </a:p>
        </p:txBody>
      </p:sp>
      <p:sp>
        <p:nvSpPr>
          <p:cNvPr id="24" name="Shape 11"/>
          <p:cNvSpPr/>
          <p:nvPr/>
        </p:nvSpPr>
        <p:spPr>
          <a:xfrm>
            <a:off x="6217920" y="4370760"/>
            <a:ext cx="1233720" cy="593640"/>
          </a:xfrm>
          <a:prstGeom prst="chevron">
            <a:avLst>
              <a:gd name="adj" fmla="val 50000"/>
            </a:avLst>
          </a:prstGeom>
          <a:solidFill>
            <a:srgbClr val="F5A21B"/>
          </a:solidFill>
          <a:ln w="12700">
            <a:solidFill>
              <a:srgbClr val="F5A21B"/>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5" name="Shape 12"/>
          <p:cNvSpPr/>
          <p:nvPr/>
        </p:nvSpPr>
        <p:spPr>
          <a:xfrm>
            <a:off x="7818120" y="3886200"/>
            <a:ext cx="1553760" cy="1553760"/>
          </a:xfrm>
          <a:prstGeom prst="ellipse">
            <a:avLst/>
          </a:prstGeom>
          <a:solidFill>
            <a:srgbClr val="1B7A45"/>
          </a:solidFill>
          <a:ln w="12700">
            <a:solidFill>
              <a:srgbClr val="1B7A45"/>
            </a:solidFill>
            <a:round/>
          </a:ln>
          <a:effectLst>
            <a:outerShdw algn="bl" blurRad="25560" dir="2700000" dist="12218" kx="0" ky="0" rotWithShape="0" sx="100000" sy="100000">
              <a:srgbClr val="000000">
                <a:alpha val="16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6" name="Text 13"/>
          <p:cNvSpPr/>
          <p:nvPr/>
        </p:nvSpPr>
        <p:spPr>
          <a:xfrm>
            <a:off x="7818120" y="4370760"/>
            <a:ext cx="1553760" cy="319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FFFFFF"/>
                </a:solidFill>
                <a:effectLst/>
                <a:uFillTx/>
                <a:latin typeface="Aptos"/>
              </a:rPr>
              <a:t>Act</a:t>
            </a:r>
            <a:endParaRPr lang="en-US" sz="1800" b="0" u="none" strike="noStrike">
              <a:solidFill>
                <a:srgbClr val="000000"/>
              </a:solidFill>
              <a:effectLst/>
              <a:uFillTx/>
              <a:latin typeface="Arial"/>
            </a:endParaRPr>
          </a:p>
        </p:txBody>
      </p:sp>
      <p:sp>
        <p:nvSpPr>
          <p:cNvPr id="27" name="Text 14"/>
          <p:cNvSpPr/>
          <p:nvPr/>
        </p:nvSpPr>
        <p:spPr>
          <a:xfrm>
            <a:off x="713160" y="5916240"/>
            <a:ext cx="10880640" cy="310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0B2B5C"/>
                </a:solidFill>
                <a:effectLst/>
                <a:uFillTx/>
                <a:latin typeface="Aptos"/>
              </a:rPr>
              <a:t>Core question: how should an agent choose actions in an environment?</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6FA"/>
        </a:solidFill>
      </p:bgPr>
    </p:bg>
    <p:spTree>
      <p:nvGrpSpPr>
        <p:cNvPr id="1" name=""/>
        <p:cNvGrpSpPr/>
        <p:nvPr/>
      </p:nvGrpSpPr>
      <p:grpSpPr>
        <a:xfrm>
          <a:off x="0" y="0"/>
          <a:ext cx="0" cy="0"/>
          <a:chOff x="0" y="0"/>
          <a:chExt cx="0" cy="0"/>
        </a:xfrm>
      </p:grpSpPr>
      <p:sp>
        <p:nvSpPr>
          <p:cNvPr id="28" name="Shape 0"/>
          <p:cNvSpPr/>
          <p:nvPr/>
        </p:nvSpPr>
        <p:spPr>
          <a:xfrm>
            <a:off x="0" y="0"/>
            <a:ext cx="12191040" cy="803880"/>
          </a:xfrm>
          <a:prstGeom prst="rect">
            <a:avLst/>
          </a:prstGeom>
          <a:solidFill>
            <a:srgbClr val="0B2B5C"/>
          </a:solidFill>
          <a:ln w="12700">
            <a:solidFill>
              <a:srgbClr val="0B2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9" name="Shape 1"/>
          <p:cNvSpPr/>
          <p:nvPr/>
        </p:nvSpPr>
        <p:spPr>
          <a:xfrm>
            <a:off x="0" y="804600"/>
            <a:ext cx="12191040" cy="72360"/>
          </a:xfrm>
          <a:prstGeom prst="rect">
            <a:avLst/>
          </a:prstGeom>
          <a:solidFill>
            <a:srgbClr val="F5A21B"/>
          </a:solidFill>
          <a:ln w="12700">
            <a:solidFill>
              <a:srgbClr val="F5A21B"/>
            </a:solidFill>
            <a:round/>
          </a:ln>
        </p:spPr>
        <p:style>
          <a:lnRef idx="0"/>
          <a:fillRef idx="0"/>
          <a:effectRef idx="0"/>
          <a:fontRef idx="minor"/>
        </p:style>
        <p:txBody>
          <a:bodyPr lIns="90000" tIns="28080" rIns="90000" bIns="28080" anchor="t">
            <a:noAutofit/>
          </a:bodyPr>
          <a:p>
            <a:endParaRPr lang="en-US" sz="1800" b="0" u="none" strike="noStrike">
              <a:solidFill>
                <a:srgbClr val="000000"/>
              </a:solidFill>
              <a:effectLst/>
              <a:uFillTx/>
              <a:latin typeface="Arial"/>
            </a:endParaRPr>
          </a:p>
        </p:txBody>
      </p:sp>
      <p:sp>
        <p:nvSpPr>
          <p:cNvPr id="30" name="Text 2"/>
          <p:cNvSpPr/>
          <p:nvPr/>
        </p:nvSpPr>
        <p:spPr>
          <a:xfrm>
            <a:off x="475560" y="210240"/>
            <a:ext cx="960048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300" b="1" u="none" strike="noStrike">
                <a:solidFill>
                  <a:srgbClr val="FFFFFF"/>
                </a:solidFill>
                <a:effectLst/>
                <a:uFillTx/>
                <a:latin typeface="Aptos Display"/>
                <a:ea typeface="Aptos Display"/>
              </a:rPr>
              <a:t>What Can AI Do?</a:t>
            </a:r>
            <a:endParaRPr lang="en-US" sz="2300" b="0" u="none" strike="noStrike">
              <a:solidFill>
                <a:srgbClr val="000000"/>
              </a:solidFill>
              <a:effectLst/>
              <a:uFillTx/>
              <a:latin typeface="Arial"/>
            </a:endParaRPr>
          </a:p>
        </p:txBody>
      </p:sp>
      <p:sp>
        <p:nvSpPr>
          <p:cNvPr id="31" name="Text 3"/>
          <p:cNvSpPr/>
          <p:nvPr/>
        </p:nvSpPr>
        <p:spPr>
          <a:xfrm>
            <a:off x="10241280" y="255960"/>
            <a:ext cx="13708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200" b="0" u="none" strike="noStrike">
                <a:solidFill>
                  <a:srgbClr val="DDE8F2"/>
                </a:solidFill>
                <a:effectLst/>
                <a:uFillTx/>
                <a:latin typeface="Aptos"/>
                <a:ea typeface="Aptos"/>
              </a:rPr>
              <a:t>Warm-up</a:t>
            </a:r>
            <a:endParaRPr lang="en-US" sz="1200" b="0" u="none" strike="noStrike">
              <a:solidFill>
                <a:srgbClr val="000000"/>
              </a:solidFill>
              <a:effectLst/>
              <a:uFillTx/>
              <a:latin typeface="Arial"/>
            </a:endParaRPr>
          </a:p>
        </p:txBody>
      </p:sp>
      <p:sp>
        <p:nvSpPr>
          <p:cNvPr id="32" name="Text 4"/>
          <p:cNvSpPr/>
          <p:nvPr/>
        </p:nvSpPr>
        <p:spPr>
          <a:xfrm>
            <a:off x="475560" y="6565320"/>
            <a:ext cx="274248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33" name="Text 5"/>
          <p:cNvSpPr/>
          <p:nvPr/>
        </p:nvSpPr>
        <p:spPr>
          <a:xfrm>
            <a:off x="11411640" y="6565320"/>
            <a:ext cx="273600" cy="163800"/>
          </a:xfrm>
          <a:prstGeom prst="rect">
            <a:avLst/>
          </a:prstGeom>
          <a:noFill/>
          <a:ln w="0">
            <a:noFill/>
          </a:ln>
        </p:spPr>
        <p:style>
          <a:lnRef idx="0"/>
          <a:fillRef idx="0"/>
          <a:effectRef idx="0"/>
          <a:fontRef idx="minor"/>
        </p:style>
        <p:txBody>
          <a:bodyPr lIns="0" tIns="0" rIns="0" bIns="0" anchor="ctr">
            <a:noAutofit/>
          </a:bodyPr>
          <a:p>
            <a:r>
              <a:t>2</a:t>
            </a:r>
          </a:p>
        </p:txBody>
      </p:sp>
      <p:sp>
        <p:nvSpPr>
          <p:cNvPr id="34" name="Shape 6"/>
          <p:cNvSpPr/>
          <p:nvPr/>
        </p:nvSpPr>
        <p:spPr>
          <a:xfrm>
            <a:off x="658440" y="1234440"/>
            <a:ext cx="3016800" cy="1965240"/>
          </a:xfrm>
          <a:prstGeom prst="roundRect">
            <a:avLst>
              <a:gd name="adj" fmla="val 2791"/>
            </a:avLst>
          </a:prstGeom>
          <a:solidFill>
            <a:srgbClr val="FFFFFF"/>
          </a:solidFill>
          <a:ln w="12700">
            <a:solidFill>
              <a:srgbClr val="D3DEE9"/>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5" name="Text 7"/>
          <p:cNvSpPr/>
          <p:nvPr/>
        </p:nvSpPr>
        <p:spPr>
          <a:xfrm>
            <a:off x="822960" y="1380600"/>
            <a:ext cx="268776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2B6CB0"/>
                </a:solidFill>
                <a:effectLst/>
                <a:uFillTx/>
                <a:latin typeface="Aptos"/>
              </a:rPr>
              <a:t>Reliable in formal worlds</a:t>
            </a:r>
            <a:endParaRPr lang="en-US" sz="1500" b="0" u="none" strike="noStrike">
              <a:solidFill>
                <a:srgbClr val="000000"/>
              </a:solidFill>
              <a:effectLst/>
              <a:uFillTx/>
              <a:latin typeface="Arial"/>
            </a:endParaRPr>
          </a:p>
        </p:txBody>
      </p:sp>
      <p:sp>
        <p:nvSpPr>
          <p:cNvPr id="36" name="Text 8"/>
          <p:cNvSpPr/>
          <p:nvPr/>
        </p:nvSpPr>
        <p:spPr>
          <a:xfrm>
            <a:off x="822960" y="1710000"/>
            <a:ext cx="2687760" cy="137088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250" b="0" u="none" strike="noStrike">
                <a:solidFill>
                  <a:srgbClr val="0B1F3A"/>
                </a:solidFill>
                <a:effectLst/>
                <a:uFillTx/>
                <a:latin typeface="Aptos"/>
              </a:rPr>
              <a:t>Win at chess or Go</a:t>
            </a:r>
            <a:endParaRPr lang="en-US"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0B1F3A"/>
                </a:solidFill>
                <a:effectLst/>
                <a:uFillTx/>
                <a:latin typeface="Aptos"/>
              </a:rPr>
              <a:t>Translate speech</a:t>
            </a:r>
            <a:endParaRPr lang="en-US"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0B1F3A"/>
                </a:solidFill>
                <a:effectLst/>
                <a:uFillTx/>
                <a:latin typeface="Aptos"/>
              </a:rPr>
              <a:t>Classify images</a:t>
            </a:r>
            <a:endParaRPr lang="en-US"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0B1F3A"/>
                </a:solidFill>
                <a:effectLst/>
                <a:uFillTx/>
                <a:latin typeface="Aptos"/>
              </a:rPr>
              <a:t>Answer structured questions</a:t>
            </a:r>
            <a:endParaRPr lang="en-US" sz="1250" b="0" u="none" strike="noStrike">
              <a:solidFill>
                <a:srgbClr val="000000"/>
              </a:solidFill>
              <a:effectLst/>
              <a:uFillTx/>
              <a:latin typeface="Arial"/>
            </a:endParaRPr>
          </a:p>
        </p:txBody>
      </p:sp>
      <p:sp>
        <p:nvSpPr>
          <p:cNvPr id="37" name="Shape 9"/>
          <p:cNvSpPr/>
          <p:nvPr/>
        </p:nvSpPr>
        <p:spPr>
          <a:xfrm>
            <a:off x="3886200" y="1234440"/>
            <a:ext cx="3794040" cy="1965240"/>
          </a:xfrm>
          <a:prstGeom prst="roundRect">
            <a:avLst>
              <a:gd name="adj" fmla="val 2791"/>
            </a:avLst>
          </a:prstGeom>
          <a:solidFill>
            <a:srgbClr val="FFFFFF"/>
          </a:solidFill>
          <a:ln w="12700">
            <a:solidFill>
              <a:srgbClr val="D3DEE9"/>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8" name="Text 10"/>
          <p:cNvSpPr/>
          <p:nvPr/>
        </p:nvSpPr>
        <p:spPr>
          <a:xfrm>
            <a:off x="4050720" y="1380600"/>
            <a:ext cx="346500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A32020"/>
                </a:solidFill>
                <a:effectLst/>
                <a:uFillTx/>
                <a:latin typeface="Aptos"/>
              </a:rPr>
              <a:t>Harder in open worlds</a:t>
            </a:r>
            <a:endParaRPr lang="en-US" sz="1500" b="0" u="none" strike="noStrike">
              <a:solidFill>
                <a:srgbClr val="000000"/>
              </a:solidFill>
              <a:effectLst/>
              <a:uFillTx/>
              <a:latin typeface="Arial"/>
            </a:endParaRPr>
          </a:p>
        </p:txBody>
      </p:sp>
      <p:sp>
        <p:nvSpPr>
          <p:cNvPr id="39" name="Text 11"/>
          <p:cNvSpPr/>
          <p:nvPr/>
        </p:nvSpPr>
        <p:spPr>
          <a:xfrm>
            <a:off x="4050720" y="1710000"/>
            <a:ext cx="3465000" cy="137088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250" b="0" u="none" strike="noStrike">
                <a:solidFill>
                  <a:srgbClr val="0B1F3A"/>
                </a:solidFill>
                <a:effectLst/>
                <a:uFillTx/>
                <a:latin typeface="Aptos"/>
              </a:rPr>
              <a:t>Drive safely in all conditions</a:t>
            </a:r>
            <a:endParaRPr lang="en-US"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0B1F3A"/>
                </a:solidFill>
                <a:effectLst/>
                <a:uFillTx/>
                <a:latin typeface="Aptos"/>
              </a:rPr>
              <a:t>Unload any dishwasher in any home</a:t>
            </a:r>
            <a:endParaRPr lang="en-US"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0B1F3A"/>
                </a:solidFill>
                <a:effectLst/>
                <a:uFillTx/>
                <a:latin typeface="Aptos"/>
              </a:rPr>
              <a:t>Buy groceries in a physical store</a:t>
            </a:r>
            <a:endParaRPr lang="en-US"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0B1F3A"/>
                </a:solidFill>
                <a:effectLst/>
                <a:uFillTx/>
                <a:latin typeface="Aptos"/>
              </a:rPr>
              <a:t>Act with incomplete information</a:t>
            </a:r>
            <a:endParaRPr lang="en-US" sz="1250" b="0" u="none" strike="noStrike">
              <a:solidFill>
                <a:srgbClr val="000000"/>
              </a:solidFill>
              <a:effectLst/>
              <a:uFillTx/>
              <a:latin typeface="Arial"/>
            </a:endParaRPr>
          </a:p>
        </p:txBody>
      </p:sp>
      <p:sp>
        <p:nvSpPr>
          <p:cNvPr id="40" name="Shape 12"/>
          <p:cNvSpPr/>
          <p:nvPr/>
        </p:nvSpPr>
        <p:spPr>
          <a:xfrm>
            <a:off x="7900560" y="1234440"/>
            <a:ext cx="3565440" cy="1965240"/>
          </a:xfrm>
          <a:prstGeom prst="roundRect">
            <a:avLst>
              <a:gd name="adj" fmla="val 2791"/>
            </a:avLst>
          </a:prstGeom>
          <a:solidFill>
            <a:srgbClr val="FFFFFF"/>
          </a:solidFill>
          <a:ln w="12700">
            <a:solidFill>
              <a:srgbClr val="D3DEE9"/>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1" name="Text 13"/>
          <p:cNvSpPr/>
          <p:nvPr/>
        </p:nvSpPr>
        <p:spPr>
          <a:xfrm>
            <a:off x="8065080" y="1380600"/>
            <a:ext cx="323640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1B7A45"/>
                </a:solidFill>
                <a:effectLst/>
                <a:uFillTx/>
                <a:latin typeface="Aptos"/>
              </a:rPr>
              <a:t>Teaching move</a:t>
            </a:r>
            <a:endParaRPr lang="en-US" sz="1500" b="0" u="none" strike="noStrike">
              <a:solidFill>
                <a:srgbClr val="000000"/>
              </a:solidFill>
              <a:effectLst/>
              <a:uFillTx/>
              <a:latin typeface="Arial"/>
            </a:endParaRPr>
          </a:p>
        </p:txBody>
      </p:sp>
      <p:sp>
        <p:nvSpPr>
          <p:cNvPr id="42" name="Text 14"/>
          <p:cNvSpPr/>
          <p:nvPr/>
        </p:nvSpPr>
        <p:spPr>
          <a:xfrm>
            <a:off x="8065080" y="1710000"/>
            <a:ext cx="3236400" cy="137088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250" b="0" u="none" strike="noStrike">
                <a:solidFill>
                  <a:srgbClr val="0B1F3A"/>
                </a:solidFill>
                <a:effectLst/>
                <a:uFillTx/>
                <a:latin typeface="Aptos"/>
              </a:rPr>
              <a:t>Do not ask only whether AI “can” do something. Ask what the environment is, what the agent can perceive, what actions are available, and how success is measured.</a:t>
            </a:r>
            <a:endParaRPr lang="en-US" sz="1250" b="0" u="none" strike="noStrike">
              <a:solidFill>
                <a:srgbClr val="000000"/>
              </a:solidFill>
              <a:effectLst/>
              <a:uFillTx/>
              <a:latin typeface="Arial"/>
            </a:endParaRPr>
          </a:p>
        </p:txBody>
      </p:sp>
      <p:sp>
        <p:nvSpPr>
          <p:cNvPr id="43" name="Shape 15"/>
          <p:cNvSpPr/>
          <p:nvPr/>
        </p:nvSpPr>
        <p:spPr>
          <a:xfrm>
            <a:off x="1005840" y="4297680"/>
            <a:ext cx="10241280" cy="360"/>
          </a:xfrm>
          <a:prstGeom prst="line">
            <a:avLst/>
          </a:prstGeom>
          <a:ln w="25400">
            <a:solidFill>
              <a:srgbClr val="CBD5E1"/>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44" name="Text 16"/>
          <p:cNvSpPr/>
          <p:nvPr/>
        </p:nvSpPr>
        <p:spPr>
          <a:xfrm>
            <a:off x="1005840" y="4526280"/>
            <a:ext cx="10240560" cy="365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300" b="1" u="none" strike="noStrike">
                <a:solidFill>
                  <a:srgbClr val="0B2B5C"/>
                </a:solidFill>
                <a:effectLst/>
                <a:uFillTx/>
                <a:latin typeface="Aptos"/>
              </a:rPr>
              <a:t>Task difficulty depends on environment structure.</a:t>
            </a:r>
            <a:endParaRPr lang="en-US" sz="2300" b="0" u="none" strike="noStrike">
              <a:solidFill>
                <a:srgbClr val="000000"/>
              </a:solidFill>
              <a:effectLst/>
              <a:uFillTx/>
              <a:latin typeface="Arial"/>
            </a:endParaRPr>
          </a:p>
        </p:txBody>
      </p:sp>
      <p:sp>
        <p:nvSpPr>
          <p:cNvPr id="45" name="Text 17"/>
          <p:cNvSpPr/>
          <p:nvPr/>
        </p:nvSpPr>
        <p:spPr>
          <a:xfrm>
            <a:off x="1005840" y="5010840"/>
            <a:ext cx="10240560" cy="273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0" u="none" strike="noStrike">
                <a:solidFill>
                  <a:srgbClr val="5E7088"/>
                </a:solidFill>
                <a:effectLst/>
                <a:uFillTx/>
                <a:latin typeface="Aptos"/>
              </a:rPr>
              <a:t>Use this as a quick poll before formal definitions.</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6FA"/>
        </a:solidFill>
      </p:bgPr>
    </p:bg>
    <p:spTree>
      <p:nvGrpSpPr>
        <p:cNvPr id="1" name=""/>
        <p:cNvGrpSpPr/>
        <p:nvPr/>
      </p:nvGrpSpPr>
      <p:grpSpPr>
        <a:xfrm>
          <a:off x="0" y="0"/>
          <a:ext cx="0" cy="0"/>
          <a:chOff x="0" y="0"/>
          <a:chExt cx="0" cy="0"/>
        </a:xfrm>
      </p:grpSpPr>
      <p:sp>
        <p:nvSpPr>
          <p:cNvPr id="46" name="Shape 0"/>
          <p:cNvSpPr/>
          <p:nvPr/>
        </p:nvSpPr>
        <p:spPr>
          <a:xfrm>
            <a:off x="0" y="0"/>
            <a:ext cx="12191040" cy="803880"/>
          </a:xfrm>
          <a:prstGeom prst="rect">
            <a:avLst/>
          </a:prstGeom>
          <a:solidFill>
            <a:srgbClr val="0B2B5C"/>
          </a:solidFill>
          <a:ln w="12700">
            <a:solidFill>
              <a:srgbClr val="0B2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7" name="Shape 1"/>
          <p:cNvSpPr/>
          <p:nvPr/>
        </p:nvSpPr>
        <p:spPr>
          <a:xfrm>
            <a:off x="0" y="804600"/>
            <a:ext cx="12191040" cy="72360"/>
          </a:xfrm>
          <a:prstGeom prst="rect">
            <a:avLst/>
          </a:prstGeom>
          <a:solidFill>
            <a:srgbClr val="F5A21B"/>
          </a:solidFill>
          <a:ln w="12700">
            <a:solidFill>
              <a:srgbClr val="F5A21B"/>
            </a:solidFill>
            <a:round/>
          </a:ln>
        </p:spPr>
        <p:style>
          <a:lnRef idx="0"/>
          <a:fillRef idx="0"/>
          <a:effectRef idx="0"/>
          <a:fontRef idx="minor"/>
        </p:style>
        <p:txBody>
          <a:bodyPr lIns="90000" tIns="28080" rIns="90000" bIns="28080" anchor="t">
            <a:noAutofit/>
          </a:bodyPr>
          <a:p>
            <a:endParaRPr lang="en-US" sz="1800" b="0" u="none" strike="noStrike">
              <a:solidFill>
                <a:srgbClr val="000000"/>
              </a:solidFill>
              <a:effectLst/>
              <a:uFillTx/>
              <a:latin typeface="Arial"/>
            </a:endParaRPr>
          </a:p>
        </p:txBody>
      </p:sp>
      <p:sp>
        <p:nvSpPr>
          <p:cNvPr id="48" name="Text 2"/>
          <p:cNvSpPr/>
          <p:nvPr/>
        </p:nvSpPr>
        <p:spPr>
          <a:xfrm>
            <a:off x="475560" y="210240"/>
            <a:ext cx="960048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300" b="1" u="none" strike="noStrike">
                <a:solidFill>
                  <a:srgbClr val="FFFFFF"/>
                </a:solidFill>
                <a:effectLst/>
                <a:uFillTx/>
                <a:latin typeface="Aptos Display"/>
                <a:ea typeface="Aptos Display"/>
              </a:rPr>
              <a:t>A Rational-Agent Perspective</a:t>
            </a:r>
            <a:endParaRPr lang="en-US" sz="2300" b="0" u="none" strike="noStrike">
              <a:solidFill>
                <a:srgbClr val="000000"/>
              </a:solidFill>
              <a:effectLst/>
              <a:uFillTx/>
              <a:latin typeface="Arial"/>
            </a:endParaRPr>
          </a:p>
        </p:txBody>
      </p:sp>
      <p:sp>
        <p:nvSpPr>
          <p:cNvPr id="49" name="Text 3"/>
          <p:cNvSpPr/>
          <p:nvPr/>
        </p:nvSpPr>
        <p:spPr>
          <a:xfrm>
            <a:off x="10241280" y="255960"/>
            <a:ext cx="13708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200" b="0" u="none" strike="noStrike">
                <a:solidFill>
                  <a:srgbClr val="DDE8F2"/>
                </a:solidFill>
                <a:effectLst/>
                <a:uFillTx/>
                <a:latin typeface="Aptos"/>
                <a:ea typeface="Aptos"/>
              </a:rPr>
              <a:t>Framing</a:t>
            </a:r>
            <a:endParaRPr lang="en-US" sz="1200" b="0" u="none" strike="noStrike">
              <a:solidFill>
                <a:srgbClr val="000000"/>
              </a:solidFill>
              <a:effectLst/>
              <a:uFillTx/>
              <a:latin typeface="Arial"/>
            </a:endParaRPr>
          </a:p>
        </p:txBody>
      </p:sp>
      <p:sp>
        <p:nvSpPr>
          <p:cNvPr id="50" name="Text 4"/>
          <p:cNvSpPr/>
          <p:nvPr/>
        </p:nvSpPr>
        <p:spPr>
          <a:xfrm>
            <a:off x="475560" y="6565320"/>
            <a:ext cx="274248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51" name="Text 5"/>
          <p:cNvSpPr/>
          <p:nvPr/>
        </p:nvSpPr>
        <p:spPr>
          <a:xfrm>
            <a:off x="11411640" y="6565320"/>
            <a:ext cx="273600" cy="163800"/>
          </a:xfrm>
          <a:prstGeom prst="rect">
            <a:avLst/>
          </a:prstGeom>
          <a:noFill/>
          <a:ln w="0">
            <a:noFill/>
          </a:ln>
        </p:spPr>
        <p:style>
          <a:lnRef idx="0"/>
          <a:fillRef idx="0"/>
          <a:effectRef idx="0"/>
          <a:fontRef idx="minor"/>
        </p:style>
        <p:txBody>
          <a:bodyPr lIns="0" tIns="0" rIns="0" bIns="0" anchor="ctr">
            <a:noAutofit/>
          </a:bodyPr>
          <a:p>
            <a:r>
              <a:t>3</a:t>
            </a:r>
          </a:p>
        </p:txBody>
      </p:sp>
      <p:sp>
        <p:nvSpPr>
          <p:cNvPr id="52" name="Text 6"/>
          <p:cNvSpPr/>
          <p:nvPr/>
        </p:nvSpPr>
        <p:spPr>
          <a:xfrm>
            <a:off x="777240" y="1234440"/>
            <a:ext cx="5942880" cy="319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100" b="1" u="none" strike="noStrike">
                <a:solidFill>
                  <a:srgbClr val="0B1F3A"/>
                </a:solidFill>
                <a:effectLst/>
                <a:uFillTx/>
                <a:latin typeface="Aptos"/>
              </a:rPr>
              <a:t>Should we make machines that...</a:t>
            </a:r>
            <a:endParaRPr lang="en-US" sz="2100" b="0" u="none" strike="noStrike">
              <a:solidFill>
                <a:srgbClr val="000000"/>
              </a:solidFill>
              <a:effectLst/>
              <a:uFillTx/>
              <a:latin typeface="Arial"/>
            </a:endParaRPr>
          </a:p>
        </p:txBody>
      </p:sp>
      <p:sp>
        <p:nvSpPr>
          <p:cNvPr id="53" name="Shape 7"/>
          <p:cNvSpPr/>
          <p:nvPr/>
        </p:nvSpPr>
        <p:spPr>
          <a:xfrm>
            <a:off x="960120" y="1874520"/>
            <a:ext cx="4434120" cy="1233720"/>
          </a:xfrm>
          <a:prstGeom prst="roundRect">
            <a:avLst>
              <a:gd name="adj" fmla="val 4444"/>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4" name="Text 8"/>
          <p:cNvSpPr/>
          <p:nvPr/>
        </p:nvSpPr>
        <p:spPr>
          <a:xfrm>
            <a:off x="1124640" y="2020680"/>
            <a:ext cx="410508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900" b="1" u="none" strike="noStrike">
                <a:solidFill>
                  <a:srgbClr val="6DA3D9"/>
                </a:solidFill>
                <a:effectLst/>
                <a:uFillTx/>
                <a:latin typeface="Aptos"/>
              </a:rPr>
              <a:t>Think like people</a:t>
            </a:r>
            <a:endParaRPr lang="en-US" sz="1900" b="0" u="none" strike="noStrike">
              <a:solidFill>
                <a:srgbClr val="000000"/>
              </a:solidFill>
              <a:effectLst/>
              <a:uFillTx/>
              <a:latin typeface="Arial"/>
            </a:endParaRPr>
          </a:p>
        </p:txBody>
      </p:sp>
      <p:sp>
        <p:nvSpPr>
          <p:cNvPr id="55" name="Text 9"/>
          <p:cNvSpPr/>
          <p:nvPr/>
        </p:nvSpPr>
        <p:spPr>
          <a:xfrm>
            <a:off x="1124640" y="2350080"/>
            <a:ext cx="4105080" cy="63936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400" b="0" u="none" strike="noStrike">
                <a:solidFill>
                  <a:srgbClr val="0B1F3A"/>
                </a:solidFill>
                <a:effectLst/>
                <a:uFillTx/>
                <a:latin typeface="Aptos"/>
              </a:rPr>
              <a:t>human thought process</a:t>
            </a:r>
            <a:endParaRPr lang="en-US" sz="1400" b="0" u="none" strike="noStrike">
              <a:solidFill>
                <a:srgbClr val="000000"/>
              </a:solidFill>
              <a:effectLst/>
              <a:uFillTx/>
              <a:latin typeface="Arial"/>
            </a:endParaRPr>
          </a:p>
        </p:txBody>
      </p:sp>
      <p:sp>
        <p:nvSpPr>
          <p:cNvPr id="56" name="Shape 10"/>
          <p:cNvSpPr/>
          <p:nvPr/>
        </p:nvSpPr>
        <p:spPr>
          <a:xfrm>
            <a:off x="6400800" y="1874520"/>
            <a:ext cx="4434120" cy="1233720"/>
          </a:xfrm>
          <a:prstGeom prst="roundRect">
            <a:avLst>
              <a:gd name="adj" fmla="val 4444"/>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7" name="Text 11"/>
          <p:cNvSpPr/>
          <p:nvPr/>
        </p:nvSpPr>
        <p:spPr>
          <a:xfrm>
            <a:off x="6565320" y="2020680"/>
            <a:ext cx="410508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900" b="1" u="none" strike="noStrike">
                <a:solidFill>
                  <a:srgbClr val="048A97"/>
                </a:solidFill>
                <a:effectLst/>
                <a:uFillTx/>
                <a:latin typeface="Aptos"/>
              </a:rPr>
              <a:t>Think rationally</a:t>
            </a:r>
            <a:endParaRPr lang="en-US" sz="1900" b="0" u="none" strike="noStrike">
              <a:solidFill>
                <a:srgbClr val="000000"/>
              </a:solidFill>
              <a:effectLst/>
              <a:uFillTx/>
              <a:latin typeface="Arial"/>
            </a:endParaRPr>
          </a:p>
        </p:txBody>
      </p:sp>
      <p:sp>
        <p:nvSpPr>
          <p:cNvPr id="58" name="Text 12"/>
          <p:cNvSpPr/>
          <p:nvPr/>
        </p:nvSpPr>
        <p:spPr>
          <a:xfrm>
            <a:off x="6565320" y="2350080"/>
            <a:ext cx="4105080" cy="63936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400" b="0" u="none" strike="noStrike">
                <a:solidFill>
                  <a:srgbClr val="0B1F3A"/>
                </a:solidFill>
                <a:effectLst/>
                <a:uFillTx/>
                <a:latin typeface="Aptos"/>
              </a:rPr>
              <a:t>formal reasoning</a:t>
            </a:r>
            <a:endParaRPr lang="en-US" sz="1400" b="0" u="none" strike="noStrike">
              <a:solidFill>
                <a:srgbClr val="000000"/>
              </a:solidFill>
              <a:effectLst/>
              <a:uFillTx/>
              <a:latin typeface="Arial"/>
            </a:endParaRPr>
          </a:p>
        </p:txBody>
      </p:sp>
      <p:sp>
        <p:nvSpPr>
          <p:cNvPr id="59" name="Shape 13"/>
          <p:cNvSpPr/>
          <p:nvPr/>
        </p:nvSpPr>
        <p:spPr>
          <a:xfrm>
            <a:off x="960120" y="3840480"/>
            <a:ext cx="4434120" cy="1233720"/>
          </a:xfrm>
          <a:prstGeom prst="roundRect">
            <a:avLst>
              <a:gd name="adj" fmla="val 4444"/>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0" name="Text 14"/>
          <p:cNvSpPr/>
          <p:nvPr/>
        </p:nvSpPr>
        <p:spPr>
          <a:xfrm>
            <a:off x="1124640" y="3986640"/>
            <a:ext cx="410508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900" b="1" u="none" strike="noStrike">
                <a:solidFill>
                  <a:srgbClr val="5B35B1"/>
                </a:solidFill>
                <a:effectLst/>
                <a:uFillTx/>
                <a:latin typeface="Aptos"/>
              </a:rPr>
              <a:t>Act like people</a:t>
            </a:r>
            <a:endParaRPr lang="en-US" sz="1900" b="0" u="none" strike="noStrike">
              <a:solidFill>
                <a:srgbClr val="000000"/>
              </a:solidFill>
              <a:effectLst/>
              <a:uFillTx/>
              <a:latin typeface="Arial"/>
            </a:endParaRPr>
          </a:p>
        </p:txBody>
      </p:sp>
      <p:sp>
        <p:nvSpPr>
          <p:cNvPr id="61" name="Text 15"/>
          <p:cNvSpPr/>
          <p:nvPr/>
        </p:nvSpPr>
        <p:spPr>
          <a:xfrm>
            <a:off x="1124640" y="4316040"/>
            <a:ext cx="4105080" cy="63936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400" b="0" u="none" strike="noStrike">
                <a:solidFill>
                  <a:srgbClr val="0B1F3A"/>
                </a:solidFill>
                <a:effectLst/>
                <a:uFillTx/>
                <a:latin typeface="Aptos"/>
              </a:rPr>
              <a:t>human-like behavior</a:t>
            </a:r>
            <a:endParaRPr lang="en-US" sz="1400" b="0" u="none" strike="noStrike">
              <a:solidFill>
                <a:srgbClr val="000000"/>
              </a:solidFill>
              <a:effectLst/>
              <a:uFillTx/>
              <a:latin typeface="Arial"/>
            </a:endParaRPr>
          </a:p>
        </p:txBody>
      </p:sp>
      <p:sp>
        <p:nvSpPr>
          <p:cNvPr id="62" name="Shape 16"/>
          <p:cNvSpPr/>
          <p:nvPr/>
        </p:nvSpPr>
        <p:spPr>
          <a:xfrm>
            <a:off x="6400800" y="3840480"/>
            <a:ext cx="4434120" cy="1233720"/>
          </a:xfrm>
          <a:prstGeom prst="roundRect">
            <a:avLst>
              <a:gd name="adj" fmla="val 4444"/>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3" name="Text 17"/>
          <p:cNvSpPr/>
          <p:nvPr/>
        </p:nvSpPr>
        <p:spPr>
          <a:xfrm>
            <a:off x="6565320" y="3986640"/>
            <a:ext cx="410508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900" b="1" u="none" strike="noStrike">
                <a:solidFill>
                  <a:srgbClr val="1B7A45"/>
                </a:solidFill>
                <a:effectLst/>
                <a:uFillTx/>
                <a:latin typeface="Aptos"/>
              </a:rPr>
              <a:t>Act rationally</a:t>
            </a:r>
            <a:endParaRPr lang="en-US" sz="1900" b="0" u="none" strike="noStrike">
              <a:solidFill>
                <a:srgbClr val="000000"/>
              </a:solidFill>
              <a:effectLst/>
              <a:uFillTx/>
              <a:latin typeface="Arial"/>
            </a:endParaRPr>
          </a:p>
        </p:txBody>
      </p:sp>
      <p:sp>
        <p:nvSpPr>
          <p:cNvPr id="64" name="Text 18"/>
          <p:cNvSpPr/>
          <p:nvPr/>
        </p:nvSpPr>
        <p:spPr>
          <a:xfrm>
            <a:off x="6565320" y="4316040"/>
            <a:ext cx="4105080" cy="63936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400" b="0" u="none" strike="noStrike">
                <a:solidFill>
                  <a:srgbClr val="0B1F3A"/>
                </a:solidFill>
                <a:effectLst/>
                <a:uFillTx/>
                <a:latin typeface="Aptos"/>
              </a:rPr>
              <a:t>choose effective actions</a:t>
            </a:r>
            <a:endParaRPr lang="en-US" sz="1400" b="0" u="none" strike="noStrike">
              <a:solidFill>
                <a:srgbClr val="000000"/>
              </a:solidFill>
              <a:effectLst/>
              <a:uFillTx/>
              <a:latin typeface="Arial"/>
            </a:endParaRPr>
          </a:p>
        </p:txBody>
      </p:sp>
      <p:sp>
        <p:nvSpPr>
          <p:cNvPr id="65" name="Shape 19"/>
          <p:cNvSpPr/>
          <p:nvPr/>
        </p:nvSpPr>
        <p:spPr>
          <a:xfrm>
            <a:off x="6236280" y="3730680"/>
            <a:ext cx="4735800" cy="1443960"/>
          </a:xfrm>
          <a:prstGeom prst="roundRect">
            <a:avLst>
              <a:gd name="adj" fmla="val 4430"/>
            </a:avLst>
          </a:prstGeom>
          <a:noFill/>
          <a:ln w="38100">
            <a:solidFill>
              <a:srgbClr val="F5A21B"/>
            </a:solidFill>
            <a:round/>
          </a:ln>
        </p:spPr>
        <p:style>
          <a:lnRef idx="0"/>
          <a:fillRef idx="0"/>
          <a:effectRef idx="0"/>
          <a:fontRef idx="minor"/>
        </p:style>
        <p:txBody>
          <a:bodyPr lIns="90000" tIns="45000" rIns="90000" bIns="45000" anchor="t">
            <a:noAutofit/>
          </a:bodyPr>
          <a:p>
            <a:pPr>
              <a:lnSpc>
                <a:spcPct val="100000"/>
              </a:lnSpc>
            </a:pP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6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6FA"/>
        </a:solidFill>
      </p:bgPr>
    </p:bg>
    <p:spTree>
      <p:nvGrpSpPr>
        <p:cNvPr id="1" name=""/>
        <p:cNvGrpSpPr/>
        <p:nvPr/>
      </p:nvGrpSpPr>
      <p:grpSpPr>
        <a:xfrm>
          <a:off x="0" y="0"/>
          <a:ext cx="0" cy="0"/>
          <a:chOff x="0" y="0"/>
          <a:chExt cx="0" cy="0"/>
        </a:xfrm>
      </p:grpSpPr>
      <p:sp>
        <p:nvSpPr>
          <p:cNvPr id="66" name="Shape 0"/>
          <p:cNvSpPr/>
          <p:nvPr/>
        </p:nvSpPr>
        <p:spPr>
          <a:xfrm>
            <a:off x="0" y="0"/>
            <a:ext cx="12191040" cy="803880"/>
          </a:xfrm>
          <a:prstGeom prst="rect">
            <a:avLst/>
          </a:prstGeom>
          <a:solidFill>
            <a:srgbClr val="0B2B5C"/>
          </a:solidFill>
          <a:ln w="12700">
            <a:solidFill>
              <a:srgbClr val="0B2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7" name="Shape 1"/>
          <p:cNvSpPr/>
          <p:nvPr/>
        </p:nvSpPr>
        <p:spPr>
          <a:xfrm>
            <a:off x="0" y="804600"/>
            <a:ext cx="12191040" cy="72360"/>
          </a:xfrm>
          <a:prstGeom prst="rect">
            <a:avLst/>
          </a:prstGeom>
          <a:solidFill>
            <a:srgbClr val="F5A21B"/>
          </a:solidFill>
          <a:ln w="12700">
            <a:solidFill>
              <a:srgbClr val="F5A21B"/>
            </a:solidFill>
            <a:round/>
          </a:ln>
        </p:spPr>
        <p:style>
          <a:lnRef idx="0"/>
          <a:fillRef idx="0"/>
          <a:effectRef idx="0"/>
          <a:fontRef idx="minor"/>
        </p:style>
        <p:txBody>
          <a:bodyPr lIns="90000" tIns="28080" rIns="90000" bIns="28080" anchor="t">
            <a:noAutofit/>
          </a:bodyPr>
          <a:p>
            <a:endParaRPr lang="en-US" sz="1800" b="0" u="none" strike="noStrike">
              <a:solidFill>
                <a:srgbClr val="000000"/>
              </a:solidFill>
              <a:effectLst/>
              <a:uFillTx/>
              <a:latin typeface="Arial"/>
            </a:endParaRPr>
          </a:p>
        </p:txBody>
      </p:sp>
      <p:sp>
        <p:nvSpPr>
          <p:cNvPr id="68" name="Text 2"/>
          <p:cNvSpPr/>
          <p:nvPr/>
        </p:nvSpPr>
        <p:spPr>
          <a:xfrm>
            <a:off x="475560" y="210240"/>
            <a:ext cx="960048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300" b="1" u="none" strike="noStrike">
                <a:solidFill>
                  <a:srgbClr val="FFFFFF"/>
                </a:solidFill>
                <a:effectLst/>
                <a:uFillTx/>
                <a:latin typeface="Aptos Display"/>
                <a:ea typeface="Aptos Display"/>
              </a:rPr>
              <a:t>2.0 Roadmap: From Agent Loop to Agent Design</a:t>
            </a:r>
            <a:endParaRPr lang="en-US" sz="2300" b="0" u="none" strike="noStrike">
              <a:solidFill>
                <a:srgbClr val="000000"/>
              </a:solidFill>
              <a:effectLst/>
              <a:uFillTx/>
              <a:latin typeface="Arial"/>
            </a:endParaRPr>
          </a:p>
        </p:txBody>
      </p:sp>
      <p:sp>
        <p:nvSpPr>
          <p:cNvPr id="69" name="Text 3"/>
          <p:cNvSpPr/>
          <p:nvPr/>
        </p:nvSpPr>
        <p:spPr>
          <a:xfrm>
            <a:off x="10241280" y="255960"/>
            <a:ext cx="13708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200" b="0" u="none" strike="noStrike">
                <a:solidFill>
                  <a:srgbClr val="DDE8F2"/>
                </a:solidFill>
                <a:effectLst/>
                <a:uFillTx/>
                <a:latin typeface="Aptos"/>
                <a:ea typeface="Aptos"/>
              </a:rPr>
              <a:t>Roadmap</a:t>
            </a:r>
            <a:endParaRPr lang="en-US" sz="1200" b="0" u="none" strike="noStrike">
              <a:solidFill>
                <a:srgbClr val="000000"/>
              </a:solidFill>
              <a:effectLst/>
              <a:uFillTx/>
              <a:latin typeface="Arial"/>
            </a:endParaRPr>
          </a:p>
        </p:txBody>
      </p:sp>
      <p:sp>
        <p:nvSpPr>
          <p:cNvPr id="70" name="Text 4"/>
          <p:cNvSpPr/>
          <p:nvPr/>
        </p:nvSpPr>
        <p:spPr>
          <a:xfrm>
            <a:off x="475560" y="6565320"/>
            <a:ext cx="274248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71" name="Text 5"/>
          <p:cNvSpPr/>
          <p:nvPr/>
        </p:nvSpPr>
        <p:spPr>
          <a:xfrm>
            <a:off x="11411640" y="6565320"/>
            <a:ext cx="273600" cy="163800"/>
          </a:xfrm>
          <a:prstGeom prst="rect">
            <a:avLst/>
          </a:prstGeom>
          <a:noFill/>
          <a:ln w="0">
            <a:noFill/>
          </a:ln>
        </p:spPr>
        <p:style>
          <a:lnRef idx="0"/>
          <a:fillRef idx="0"/>
          <a:effectRef idx="0"/>
          <a:fontRef idx="minor"/>
        </p:style>
        <p:txBody>
          <a:bodyPr lIns="0" tIns="0" rIns="0" bIns="0" anchor="ctr">
            <a:noAutofit/>
          </a:bodyPr>
          <a:p>
            <a:r>
              <a:t>4</a:t>
            </a:r>
          </a:p>
        </p:txBody>
      </p:sp>
      <p:sp>
        <p:nvSpPr>
          <p:cNvPr id="72" name="Shape 6"/>
          <p:cNvSpPr/>
          <p:nvPr/>
        </p:nvSpPr>
        <p:spPr>
          <a:xfrm>
            <a:off x="502920" y="1234440"/>
            <a:ext cx="3382560" cy="1142280"/>
          </a:xfrm>
          <a:prstGeom prst="roundRect">
            <a:avLst>
              <a:gd name="adj" fmla="val 4800"/>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3" name="Text 7"/>
          <p:cNvSpPr/>
          <p:nvPr/>
        </p:nvSpPr>
        <p:spPr>
          <a:xfrm>
            <a:off x="667440" y="1380600"/>
            <a:ext cx="305352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2B6CB0"/>
                </a:solidFill>
                <a:effectLst/>
                <a:uFillTx/>
                <a:latin typeface="Aptos"/>
              </a:rPr>
              <a:t>Agent loop</a:t>
            </a:r>
            <a:endParaRPr lang="en-US" sz="1800" b="0" u="none" strike="noStrike">
              <a:solidFill>
                <a:srgbClr val="000000"/>
              </a:solidFill>
              <a:effectLst/>
              <a:uFillTx/>
              <a:latin typeface="Arial"/>
            </a:endParaRPr>
          </a:p>
        </p:txBody>
      </p:sp>
      <p:sp>
        <p:nvSpPr>
          <p:cNvPr id="74" name="Text 8"/>
          <p:cNvSpPr/>
          <p:nvPr/>
        </p:nvSpPr>
        <p:spPr>
          <a:xfrm>
            <a:off x="667440" y="1710000"/>
            <a:ext cx="3053520" cy="54792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300" b="0" u="none" strike="noStrike">
                <a:solidFill>
                  <a:srgbClr val="0B1F3A"/>
                </a:solidFill>
                <a:effectLst/>
                <a:uFillTx/>
                <a:latin typeface="Aptos"/>
              </a:rPr>
              <a:t>percepts -&gt; action</a:t>
            </a:r>
            <a:endParaRPr lang="en-US" sz="1300" b="0" u="none" strike="noStrike">
              <a:solidFill>
                <a:srgbClr val="000000"/>
              </a:solidFill>
              <a:effectLst/>
              <a:uFillTx/>
              <a:latin typeface="Arial"/>
            </a:endParaRPr>
          </a:p>
        </p:txBody>
      </p:sp>
      <p:sp>
        <p:nvSpPr>
          <p:cNvPr id="75" name="Shape 9"/>
          <p:cNvSpPr/>
          <p:nvPr/>
        </p:nvSpPr>
        <p:spPr>
          <a:xfrm>
            <a:off x="4297680" y="1234440"/>
            <a:ext cx="3382560" cy="1142280"/>
          </a:xfrm>
          <a:prstGeom prst="roundRect">
            <a:avLst>
              <a:gd name="adj" fmla="val 4800"/>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6" name="Text 10"/>
          <p:cNvSpPr/>
          <p:nvPr/>
        </p:nvSpPr>
        <p:spPr>
          <a:xfrm>
            <a:off x="4462200" y="1380600"/>
            <a:ext cx="305352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048A97"/>
                </a:solidFill>
                <a:effectLst/>
                <a:uFillTx/>
                <a:latin typeface="Aptos"/>
              </a:rPr>
              <a:t>Rationality</a:t>
            </a:r>
            <a:endParaRPr lang="en-US" sz="1800" b="0" u="none" strike="noStrike">
              <a:solidFill>
                <a:srgbClr val="000000"/>
              </a:solidFill>
              <a:effectLst/>
              <a:uFillTx/>
              <a:latin typeface="Arial"/>
            </a:endParaRPr>
          </a:p>
        </p:txBody>
      </p:sp>
      <p:sp>
        <p:nvSpPr>
          <p:cNvPr id="77" name="Text 11"/>
          <p:cNvSpPr/>
          <p:nvPr/>
        </p:nvSpPr>
        <p:spPr>
          <a:xfrm>
            <a:off x="4462200" y="1710000"/>
            <a:ext cx="3053520" cy="54792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300" b="0" u="none" strike="noStrike">
                <a:solidFill>
                  <a:srgbClr val="0B1F3A"/>
                </a:solidFill>
                <a:effectLst/>
                <a:uFillTx/>
                <a:latin typeface="Aptos"/>
              </a:rPr>
              <a:t>expected performance</a:t>
            </a:r>
            <a:endParaRPr lang="en-US" sz="1300" b="0" u="none" strike="noStrike">
              <a:solidFill>
                <a:srgbClr val="000000"/>
              </a:solidFill>
              <a:effectLst/>
              <a:uFillTx/>
              <a:latin typeface="Arial"/>
            </a:endParaRPr>
          </a:p>
        </p:txBody>
      </p:sp>
      <p:sp>
        <p:nvSpPr>
          <p:cNvPr id="78" name="Shape 12"/>
          <p:cNvSpPr/>
          <p:nvPr/>
        </p:nvSpPr>
        <p:spPr>
          <a:xfrm>
            <a:off x="8092440" y="1234440"/>
            <a:ext cx="3382560" cy="1142280"/>
          </a:xfrm>
          <a:prstGeom prst="roundRect">
            <a:avLst>
              <a:gd name="adj" fmla="val 4800"/>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9" name="Text 13"/>
          <p:cNvSpPr/>
          <p:nvPr/>
        </p:nvSpPr>
        <p:spPr>
          <a:xfrm>
            <a:off x="8256960" y="1380600"/>
            <a:ext cx="305352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F5A21B"/>
                </a:solidFill>
                <a:effectLst/>
                <a:uFillTx/>
                <a:latin typeface="Aptos"/>
              </a:rPr>
              <a:t>PEAS</a:t>
            </a:r>
            <a:endParaRPr lang="en-US" sz="1800" b="0" u="none" strike="noStrike">
              <a:solidFill>
                <a:srgbClr val="000000"/>
              </a:solidFill>
              <a:effectLst/>
              <a:uFillTx/>
              <a:latin typeface="Arial"/>
            </a:endParaRPr>
          </a:p>
        </p:txBody>
      </p:sp>
      <p:sp>
        <p:nvSpPr>
          <p:cNvPr id="80" name="Text 14"/>
          <p:cNvSpPr/>
          <p:nvPr/>
        </p:nvSpPr>
        <p:spPr>
          <a:xfrm>
            <a:off x="8256960" y="1710000"/>
            <a:ext cx="3053520" cy="54792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300" b="0" u="none" strike="noStrike">
                <a:solidFill>
                  <a:srgbClr val="0B1F3A"/>
                </a:solidFill>
                <a:effectLst/>
                <a:uFillTx/>
                <a:latin typeface="Aptos"/>
              </a:rPr>
              <a:t>task specification</a:t>
            </a:r>
            <a:endParaRPr lang="en-US" sz="1300" b="0" u="none" strike="noStrike">
              <a:solidFill>
                <a:srgbClr val="000000"/>
              </a:solidFill>
              <a:effectLst/>
              <a:uFillTx/>
              <a:latin typeface="Arial"/>
            </a:endParaRPr>
          </a:p>
        </p:txBody>
      </p:sp>
      <p:sp>
        <p:nvSpPr>
          <p:cNvPr id="81" name="Shape 15"/>
          <p:cNvSpPr/>
          <p:nvPr/>
        </p:nvSpPr>
        <p:spPr>
          <a:xfrm>
            <a:off x="502920" y="2788920"/>
            <a:ext cx="3382560" cy="1142280"/>
          </a:xfrm>
          <a:prstGeom prst="roundRect">
            <a:avLst>
              <a:gd name="adj" fmla="val 4800"/>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2" name="Text 16"/>
          <p:cNvSpPr/>
          <p:nvPr/>
        </p:nvSpPr>
        <p:spPr>
          <a:xfrm>
            <a:off x="667440" y="2935080"/>
            <a:ext cx="305352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A32020"/>
                </a:solidFill>
                <a:effectLst/>
                <a:uFillTx/>
                <a:latin typeface="Aptos"/>
              </a:rPr>
              <a:t>Environment</a:t>
            </a:r>
            <a:endParaRPr lang="en-US" sz="1800" b="0" u="none" strike="noStrike">
              <a:solidFill>
                <a:srgbClr val="000000"/>
              </a:solidFill>
              <a:effectLst/>
              <a:uFillTx/>
              <a:latin typeface="Arial"/>
            </a:endParaRPr>
          </a:p>
        </p:txBody>
      </p:sp>
      <p:sp>
        <p:nvSpPr>
          <p:cNvPr id="83" name="Text 17"/>
          <p:cNvSpPr/>
          <p:nvPr/>
        </p:nvSpPr>
        <p:spPr>
          <a:xfrm>
            <a:off x="667440" y="3264480"/>
            <a:ext cx="3053520" cy="54792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300" b="0" u="none" strike="noStrike">
                <a:solidFill>
                  <a:srgbClr val="0B1F3A"/>
                </a:solidFill>
                <a:effectLst/>
                <a:uFillTx/>
                <a:latin typeface="Aptos"/>
              </a:rPr>
              <a:t>what makes it hard</a:t>
            </a:r>
            <a:endParaRPr lang="en-US" sz="1300" b="0" u="none" strike="noStrike">
              <a:solidFill>
                <a:srgbClr val="000000"/>
              </a:solidFill>
              <a:effectLst/>
              <a:uFillTx/>
              <a:latin typeface="Arial"/>
            </a:endParaRPr>
          </a:p>
        </p:txBody>
      </p:sp>
      <p:sp>
        <p:nvSpPr>
          <p:cNvPr id="84" name="Shape 18"/>
          <p:cNvSpPr/>
          <p:nvPr/>
        </p:nvSpPr>
        <p:spPr>
          <a:xfrm>
            <a:off x="4297680" y="2788920"/>
            <a:ext cx="3382560" cy="1142280"/>
          </a:xfrm>
          <a:prstGeom prst="roundRect">
            <a:avLst>
              <a:gd name="adj" fmla="val 4800"/>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5" name="Text 19"/>
          <p:cNvSpPr/>
          <p:nvPr/>
        </p:nvSpPr>
        <p:spPr>
          <a:xfrm>
            <a:off x="4462200" y="2935080"/>
            <a:ext cx="305352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5B35B1"/>
                </a:solidFill>
                <a:effectLst/>
                <a:uFillTx/>
                <a:latin typeface="Aptos"/>
              </a:rPr>
              <a:t>Agent types</a:t>
            </a:r>
            <a:endParaRPr lang="en-US" sz="1800" b="0" u="none" strike="noStrike">
              <a:solidFill>
                <a:srgbClr val="000000"/>
              </a:solidFill>
              <a:effectLst/>
              <a:uFillTx/>
              <a:latin typeface="Arial"/>
            </a:endParaRPr>
          </a:p>
        </p:txBody>
      </p:sp>
      <p:sp>
        <p:nvSpPr>
          <p:cNvPr id="86" name="Text 20"/>
          <p:cNvSpPr/>
          <p:nvPr/>
        </p:nvSpPr>
        <p:spPr>
          <a:xfrm>
            <a:off x="4462200" y="3264480"/>
            <a:ext cx="3053520" cy="54792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300" b="0" u="none" strike="noStrike">
                <a:solidFill>
                  <a:srgbClr val="0B1F3A"/>
                </a:solidFill>
                <a:effectLst/>
                <a:uFillTx/>
                <a:latin typeface="Aptos"/>
              </a:rPr>
              <a:t>table-driven -&gt; learning</a:t>
            </a:r>
            <a:endParaRPr lang="en-US" sz="1300" b="0" u="none" strike="noStrike">
              <a:solidFill>
                <a:srgbClr val="000000"/>
              </a:solidFill>
              <a:effectLst/>
              <a:uFillTx/>
              <a:latin typeface="Arial"/>
            </a:endParaRPr>
          </a:p>
        </p:txBody>
      </p:sp>
      <p:sp>
        <p:nvSpPr>
          <p:cNvPr id="87" name="Shape 21"/>
          <p:cNvSpPr/>
          <p:nvPr/>
        </p:nvSpPr>
        <p:spPr>
          <a:xfrm>
            <a:off x="8092440" y="2788920"/>
            <a:ext cx="3382560" cy="1142280"/>
          </a:xfrm>
          <a:prstGeom prst="roundRect">
            <a:avLst>
              <a:gd name="adj" fmla="val 4800"/>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8" name="Text 22"/>
          <p:cNvSpPr/>
          <p:nvPr/>
        </p:nvSpPr>
        <p:spPr>
          <a:xfrm>
            <a:off x="8256960" y="2935080"/>
            <a:ext cx="305352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1B7A45"/>
                </a:solidFill>
                <a:effectLst/>
                <a:uFillTx/>
                <a:latin typeface="Aptos"/>
              </a:rPr>
              <a:t>Representation</a:t>
            </a:r>
            <a:endParaRPr lang="en-US" sz="1800" b="0" u="none" strike="noStrike">
              <a:solidFill>
                <a:srgbClr val="000000"/>
              </a:solidFill>
              <a:effectLst/>
              <a:uFillTx/>
              <a:latin typeface="Arial"/>
            </a:endParaRPr>
          </a:p>
        </p:txBody>
      </p:sp>
      <p:sp>
        <p:nvSpPr>
          <p:cNvPr id="89" name="Text 23"/>
          <p:cNvSpPr/>
          <p:nvPr/>
        </p:nvSpPr>
        <p:spPr>
          <a:xfrm>
            <a:off x="8256960" y="3264480"/>
            <a:ext cx="3053520" cy="54792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300" b="0" u="none" strike="noStrike">
                <a:solidFill>
                  <a:srgbClr val="0B1F3A"/>
                </a:solidFill>
                <a:effectLst/>
                <a:uFillTx/>
                <a:latin typeface="Aptos"/>
              </a:rPr>
              <a:t>how the world is encoded</a:t>
            </a:r>
            <a:endParaRPr lang="en-US" sz="1300" b="0" u="none" strike="noStrike">
              <a:solidFill>
                <a:srgbClr val="000000"/>
              </a:solidFill>
              <a:effectLst/>
              <a:uFillTx/>
              <a:latin typeface="Arial"/>
            </a:endParaRPr>
          </a:p>
        </p:txBody>
      </p:sp>
      <p:sp>
        <p:nvSpPr>
          <p:cNvPr id="90" name="Text 24"/>
          <p:cNvSpPr/>
          <p:nvPr/>
        </p:nvSpPr>
        <p:spPr>
          <a:xfrm>
            <a:off x="685800" y="4892040"/>
            <a:ext cx="10880640" cy="4564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0B2B5C"/>
                </a:solidFill>
                <a:effectLst/>
                <a:uFillTx/>
                <a:latin typeface="Aptos"/>
              </a:rPr>
              <a:t>Teaching flow: intuition -&gt; formal model -&gt; environment classification -&gt; agent architecture -&gt; demo.</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6FA"/>
        </a:solidFill>
      </p:bgPr>
    </p:bg>
    <p:spTree>
      <p:nvGrpSpPr>
        <p:cNvPr id="1" name=""/>
        <p:cNvGrpSpPr/>
        <p:nvPr/>
      </p:nvGrpSpPr>
      <p:grpSpPr>
        <a:xfrm>
          <a:off x="0" y="0"/>
          <a:ext cx="0" cy="0"/>
          <a:chOff x="0" y="0"/>
          <a:chExt cx="0" cy="0"/>
        </a:xfrm>
      </p:grpSpPr>
      <p:sp>
        <p:nvSpPr>
          <p:cNvPr id="91" name="Shape 0"/>
          <p:cNvSpPr/>
          <p:nvPr/>
        </p:nvSpPr>
        <p:spPr>
          <a:xfrm>
            <a:off x="0" y="0"/>
            <a:ext cx="12191040" cy="803880"/>
          </a:xfrm>
          <a:prstGeom prst="rect">
            <a:avLst/>
          </a:prstGeom>
          <a:solidFill>
            <a:srgbClr val="0B2B5C"/>
          </a:solidFill>
          <a:ln w="12700">
            <a:solidFill>
              <a:srgbClr val="0B2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2" name="Shape 1"/>
          <p:cNvSpPr/>
          <p:nvPr/>
        </p:nvSpPr>
        <p:spPr>
          <a:xfrm>
            <a:off x="0" y="804600"/>
            <a:ext cx="12191040" cy="72360"/>
          </a:xfrm>
          <a:prstGeom prst="rect">
            <a:avLst/>
          </a:prstGeom>
          <a:solidFill>
            <a:srgbClr val="F5A21B"/>
          </a:solidFill>
          <a:ln w="12700">
            <a:solidFill>
              <a:srgbClr val="F5A21B"/>
            </a:solidFill>
            <a:round/>
          </a:ln>
        </p:spPr>
        <p:style>
          <a:lnRef idx="0"/>
          <a:fillRef idx="0"/>
          <a:effectRef idx="0"/>
          <a:fontRef idx="minor"/>
        </p:style>
        <p:txBody>
          <a:bodyPr lIns="90000" tIns="28080" rIns="90000" bIns="28080" anchor="t">
            <a:noAutofit/>
          </a:bodyPr>
          <a:p>
            <a:endParaRPr lang="en-US" sz="1800" b="0" u="none" strike="noStrike">
              <a:solidFill>
                <a:srgbClr val="000000"/>
              </a:solidFill>
              <a:effectLst/>
              <a:uFillTx/>
              <a:latin typeface="Arial"/>
            </a:endParaRPr>
          </a:p>
        </p:txBody>
      </p:sp>
      <p:sp>
        <p:nvSpPr>
          <p:cNvPr id="93" name="Text 2"/>
          <p:cNvSpPr/>
          <p:nvPr/>
        </p:nvSpPr>
        <p:spPr>
          <a:xfrm>
            <a:off x="475560" y="210240"/>
            <a:ext cx="960048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300" b="1" u="none" strike="noStrike">
                <a:solidFill>
                  <a:srgbClr val="FFFFFF"/>
                </a:solidFill>
                <a:effectLst/>
                <a:uFillTx/>
                <a:latin typeface="Aptos Display"/>
                <a:ea typeface="Aptos Display"/>
              </a:rPr>
              <a:t>2.1 Agents and Environments: The Perceive-Act Loop</a:t>
            </a:r>
            <a:endParaRPr lang="en-US" sz="2300" b="0" u="none" strike="noStrike">
              <a:solidFill>
                <a:srgbClr val="000000"/>
              </a:solidFill>
              <a:effectLst/>
              <a:uFillTx/>
              <a:latin typeface="Arial"/>
            </a:endParaRPr>
          </a:p>
        </p:txBody>
      </p:sp>
      <p:sp>
        <p:nvSpPr>
          <p:cNvPr id="94" name="Text 3"/>
          <p:cNvSpPr/>
          <p:nvPr/>
        </p:nvSpPr>
        <p:spPr>
          <a:xfrm>
            <a:off x="10241280" y="255960"/>
            <a:ext cx="13708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200" b="0" u="none" strike="noStrike">
                <a:solidFill>
                  <a:srgbClr val="DDE8F2"/>
                </a:solidFill>
                <a:effectLst/>
                <a:uFillTx/>
                <a:latin typeface="Aptos"/>
                <a:ea typeface="Aptos"/>
              </a:rPr>
              <a:t>2.1</a:t>
            </a:r>
            <a:endParaRPr lang="en-US" sz="1200" b="0" u="none" strike="noStrike">
              <a:solidFill>
                <a:srgbClr val="000000"/>
              </a:solidFill>
              <a:effectLst/>
              <a:uFillTx/>
              <a:latin typeface="Arial"/>
            </a:endParaRPr>
          </a:p>
        </p:txBody>
      </p:sp>
      <p:sp>
        <p:nvSpPr>
          <p:cNvPr id="95" name="Text 4"/>
          <p:cNvSpPr/>
          <p:nvPr/>
        </p:nvSpPr>
        <p:spPr>
          <a:xfrm>
            <a:off x="475560" y="6565320"/>
            <a:ext cx="274248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96" name="Text 5"/>
          <p:cNvSpPr/>
          <p:nvPr/>
        </p:nvSpPr>
        <p:spPr>
          <a:xfrm>
            <a:off x="11411640" y="6565320"/>
            <a:ext cx="273600" cy="163800"/>
          </a:xfrm>
          <a:prstGeom prst="rect">
            <a:avLst/>
          </a:prstGeom>
          <a:noFill/>
          <a:ln w="0">
            <a:noFill/>
          </a:ln>
        </p:spPr>
        <p:style>
          <a:lnRef idx="0"/>
          <a:fillRef idx="0"/>
          <a:effectRef idx="0"/>
          <a:fontRef idx="minor"/>
        </p:style>
        <p:txBody>
          <a:bodyPr lIns="0" tIns="0" rIns="0" bIns="0" anchor="ctr">
            <a:noAutofit/>
          </a:bodyPr>
          <a:p>
            <a:r>
              <a:t>5</a:t>
            </a:r>
          </a:p>
        </p:txBody>
      </p:sp>
      <p:sp>
        <p:nvSpPr>
          <p:cNvPr id="97" name="Text 9"/>
          <p:cNvSpPr/>
          <p:nvPr/>
        </p:nvSpPr>
        <p:spPr>
          <a:xfrm>
            <a:off x="1883160" y="2715840"/>
            <a:ext cx="607680" cy="227880"/>
          </a:xfrm>
          <a:prstGeom prst="rect">
            <a:avLst/>
          </a:prstGeom>
          <a:noFill/>
          <a:ln w="0">
            <a:noFill/>
          </a:ln>
        </p:spPr>
        <p:style>
          <a:lnRef idx="0"/>
          <a:fillRef idx="0"/>
          <a:effectRef idx="0"/>
          <a:fontRef idx="minor"/>
        </p:style>
        <p:txBody>
          <a:bodyPr lIns="0" tIns="0" rIns="0" bIns="0" anchor="ctr">
            <a:noAutofit/>
          </a:bodyPr>
          <a:p>
            <a:endParaRPr lang="en-US" sz="1800" b="0" u="none" strike="noStrike">
              <a:solidFill>
                <a:srgbClr val="000000"/>
              </a:solidFill>
              <a:effectLst/>
              <a:uFillTx/>
              <a:latin typeface="Arial"/>
            </a:endParaRPr>
          </a:p>
        </p:txBody>
      </p:sp>
      <p:sp>
        <p:nvSpPr>
          <p:cNvPr id="98" name="Text 18"/>
          <p:cNvSpPr/>
          <p:nvPr/>
        </p:nvSpPr>
        <p:spPr>
          <a:xfrm>
            <a:off x="7818120" y="1371600"/>
            <a:ext cx="347400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1" u="none" strike="noStrike">
                <a:solidFill>
                  <a:srgbClr val="0B2B5C"/>
                </a:solidFill>
                <a:effectLst/>
                <a:uFillTx/>
                <a:latin typeface="Aptos"/>
              </a:rPr>
              <a:t>Examples</a:t>
            </a:r>
            <a:endParaRPr lang="en-US" sz="2000" b="0" u="none" strike="noStrike">
              <a:solidFill>
                <a:srgbClr val="000000"/>
              </a:solidFill>
              <a:effectLst/>
              <a:uFillTx/>
              <a:latin typeface="Arial"/>
            </a:endParaRPr>
          </a:p>
        </p:txBody>
      </p:sp>
      <p:sp>
        <p:nvSpPr>
          <p:cNvPr id="99" name="Text 19"/>
          <p:cNvSpPr/>
          <p:nvPr/>
        </p:nvSpPr>
        <p:spPr>
          <a:xfrm>
            <a:off x="7818120" y="1874520"/>
            <a:ext cx="3748320" cy="1233720"/>
          </a:xfrm>
          <a:prstGeom prst="rect">
            <a:avLst/>
          </a:prstGeom>
          <a:noFill/>
          <a:ln w="0">
            <a:noFill/>
          </a:ln>
        </p:spPr>
        <p:style>
          <a:lnRef idx="0"/>
          <a:fillRef idx="0"/>
          <a:effectRef idx="0"/>
          <a:fontRef idx="minor"/>
        </p:style>
        <p:txBody>
          <a:bodyPr lIns="720" tIns="720" rIns="720" bIns="720" anchor="ctr">
            <a:normAutofit fontScale="70000" lnSpcReduction="19999"/>
          </a:bodyPr>
          <a:p>
            <a:pPr defTabSz="914400">
              <a:lnSpc>
                <a:spcPct val="100000"/>
              </a:lnSpc>
            </a:pPr>
            <a:r>
              <a:rPr lang="en-US" sz="2100" b="0" u="none" strike="noStrike">
                <a:solidFill>
                  <a:srgbClr val="0B1F3A"/>
                </a:solidFill>
                <a:effectLst/>
                <a:uFillTx/>
                <a:latin typeface="Aptos"/>
                <a:ea typeface="Aptos"/>
              </a:rPr>
              <a:t>Human: eyes/ears -&gt; hands/voice</a:t>
            </a:r>
            <a:endParaRPr lang="en-US" sz="2100" b="0" u="none" strike="noStrike">
              <a:solidFill>
                <a:srgbClr val="000000"/>
              </a:solidFill>
              <a:effectLst/>
              <a:uFillTx/>
              <a:latin typeface="Arial"/>
            </a:endParaRPr>
          </a:p>
          <a:p>
            <a:pPr defTabSz="914400">
              <a:lnSpc>
                <a:spcPct val="100000"/>
              </a:lnSpc>
            </a:pPr>
            <a:endParaRPr lang="en-US" sz="2100" b="0" u="none" strike="noStrike">
              <a:solidFill>
                <a:srgbClr val="000000"/>
              </a:solidFill>
              <a:effectLst/>
              <a:uFillTx/>
              <a:latin typeface="Arial"/>
            </a:endParaRPr>
          </a:p>
          <a:p>
            <a:pPr defTabSz="914400">
              <a:lnSpc>
                <a:spcPct val="100000"/>
              </a:lnSpc>
            </a:pPr>
            <a:r>
              <a:rPr lang="en-US" sz="2100" b="0" u="none" strike="noStrike">
                <a:solidFill>
                  <a:srgbClr val="0B1F3A"/>
                </a:solidFill>
                <a:effectLst/>
                <a:uFillTx/>
                <a:latin typeface="Aptos"/>
                <a:ea typeface="Aptos"/>
              </a:rPr>
              <a:t>Robot: camera/lidar -&gt; motors</a:t>
            </a:r>
            <a:endParaRPr lang="en-US" sz="2100" b="0" u="none" strike="noStrike">
              <a:solidFill>
                <a:srgbClr val="000000"/>
              </a:solidFill>
              <a:effectLst/>
              <a:uFillTx/>
              <a:latin typeface="Arial"/>
            </a:endParaRPr>
          </a:p>
          <a:p>
            <a:pPr defTabSz="914400">
              <a:lnSpc>
                <a:spcPct val="100000"/>
              </a:lnSpc>
            </a:pPr>
            <a:endParaRPr lang="en-US" sz="2100" b="0" u="none" strike="noStrike">
              <a:solidFill>
                <a:srgbClr val="000000"/>
              </a:solidFill>
              <a:effectLst/>
              <a:uFillTx/>
              <a:latin typeface="Arial"/>
            </a:endParaRPr>
          </a:p>
          <a:p>
            <a:pPr defTabSz="914400">
              <a:lnSpc>
                <a:spcPct val="100000"/>
              </a:lnSpc>
            </a:pPr>
            <a:r>
              <a:rPr lang="en-US" sz="2100" b="0" u="none" strike="noStrike">
                <a:solidFill>
                  <a:srgbClr val="0B1F3A"/>
                </a:solidFill>
                <a:effectLst/>
                <a:uFillTx/>
                <a:latin typeface="Aptos"/>
                <a:ea typeface="Aptos"/>
              </a:rPr>
              <a:t>Software: packets/input -&gt; files/network</a:t>
            </a:r>
            <a:endParaRPr lang="en-US" sz="2100" b="0" u="none" strike="noStrike">
              <a:solidFill>
                <a:srgbClr val="000000"/>
              </a:solidFill>
              <a:effectLst/>
              <a:uFillTx/>
              <a:latin typeface="Arial"/>
            </a:endParaRPr>
          </a:p>
        </p:txBody>
      </p:sp>
      <p:pic>
        <p:nvPicPr>
          <p:cNvPr id="100" name="Image 0" descr="/mnt/data/ch2_docx_unzipped/word/media/image1.png"/>
          <p:cNvPicPr/>
          <p:nvPr/>
        </p:nvPicPr>
        <p:blipFill>
          <a:blip r:embed="rId1"/>
          <a:stretch/>
        </p:blipFill>
        <p:spPr>
          <a:xfrm>
            <a:off x="970560" y="1143000"/>
            <a:ext cx="5887080" cy="4240080"/>
          </a:xfrm>
          <a:prstGeom prst="rect">
            <a:avLst/>
          </a:prstGeom>
          <a:noFill/>
          <a:ln w="0">
            <a:noFill/>
          </a:ln>
        </p:spPr>
      </p:pic>
      <p:sp>
        <p:nvSpPr>
          <p:cNvPr id="101" name="Text 20"/>
          <p:cNvSpPr/>
          <p:nvPr/>
        </p:nvSpPr>
        <p:spPr>
          <a:xfrm>
            <a:off x="9326880" y="6364080"/>
            <a:ext cx="2376720" cy="163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750" b="0" u="none" strike="noStrike">
                <a:solidFill>
                  <a:srgbClr val="5E7088"/>
                </a:solidFill>
                <a:effectLst/>
                <a:uFillTx/>
                <a:latin typeface="Aptos"/>
              </a:rPr>
              <a:t>Figure 2.1</a:t>
            </a:r>
            <a:endParaRPr lang="en-US" sz="7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6FA"/>
        </a:solidFill>
      </p:bgPr>
    </p:bg>
    <p:spTree>
      <p:nvGrpSpPr>
        <p:cNvPr id="1" name=""/>
        <p:cNvGrpSpPr/>
        <p:nvPr/>
      </p:nvGrpSpPr>
      <p:grpSpPr>
        <a:xfrm>
          <a:off x="0" y="0"/>
          <a:ext cx="0" cy="0"/>
          <a:chOff x="0" y="0"/>
          <a:chExt cx="0" cy="0"/>
        </a:xfrm>
      </p:grpSpPr>
      <p:sp>
        <p:nvSpPr>
          <p:cNvPr id="102" name="Shape 0"/>
          <p:cNvSpPr/>
          <p:nvPr/>
        </p:nvSpPr>
        <p:spPr>
          <a:xfrm>
            <a:off x="0" y="0"/>
            <a:ext cx="12191040" cy="803880"/>
          </a:xfrm>
          <a:prstGeom prst="rect">
            <a:avLst/>
          </a:prstGeom>
          <a:solidFill>
            <a:srgbClr val="0B2B5C"/>
          </a:solidFill>
          <a:ln w="12700">
            <a:solidFill>
              <a:srgbClr val="0B2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03" name="Shape 1"/>
          <p:cNvSpPr/>
          <p:nvPr/>
        </p:nvSpPr>
        <p:spPr>
          <a:xfrm>
            <a:off x="0" y="804600"/>
            <a:ext cx="12191040" cy="72360"/>
          </a:xfrm>
          <a:prstGeom prst="rect">
            <a:avLst/>
          </a:prstGeom>
          <a:solidFill>
            <a:srgbClr val="F5A21B"/>
          </a:solidFill>
          <a:ln w="12700">
            <a:solidFill>
              <a:srgbClr val="F5A21B"/>
            </a:solidFill>
            <a:round/>
          </a:ln>
        </p:spPr>
        <p:style>
          <a:lnRef idx="0"/>
          <a:fillRef idx="0"/>
          <a:effectRef idx="0"/>
          <a:fontRef idx="minor"/>
        </p:style>
        <p:txBody>
          <a:bodyPr lIns="90000" tIns="28080" rIns="90000" bIns="28080" anchor="t">
            <a:noAutofit/>
          </a:bodyPr>
          <a:p>
            <a:endParaRPr lang="en-US" sz="1800" b="0" u="none" strike="noStrike">
              <a:solidFill>
                <a:srgbClr val="000000"/>
              </a:solidFill>
              <a:effectLst/>
              <a:uFillTx/>
              <a:latin typeface="Arial"/>
            </a:endParaRPr>
          </a:p>
        </p:txBody>
      </p:sp>
      <p:sp>
        <p:nvSpPr>
          <p:cNvPr id="104" name="Text 2"/>
          <p:cNvSpPr/>
          <p:nvPr/>
        </p:nvSpPr>
        <p:spPr>
          <a:xfrm>
            <a:off x="475560" y="210240"/>
            <a:ext cx="960048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300" b="1" u="none" strike="noStrike">
                <a:solidFill>
                  <a:srgbClr val="FFFFFF"/>
                </a:solidFill>
                <a:effectLst/>
                <a:uFillTx/>
                <a:latin typeface="Aptos Display"/>
                <a:ea typeface="Aptos Display"/>
              </a:rPr>
              <a:t>2.1 From Percepts to Agent Functions</a:t>
            </a:r>
            <a:endParaRPr lang="en-US" sz="2300" b="0" u="none" strike="noStrike">
              <a:solidFill>
                <a:srgbClr val="000000"/>
              </a:solidFill>
              <a:effectLst/>
              <a:uFillTx/>
              <a:latin typeface="Arial"/>
            </a:endParaRPr>
          </a:p>
        </p:txBody>
      </p:sp>
      <p:sp>
        <p:nvSpPr>
          <p:cNvPr id="105" name="Text 3"/>
          <p:cNvSpPr/>
          <p:nvPr/>
        </p:nvSpPr>
        <p:spPr>
          <a:xfrm>
            <a:off x="10241280" y="255960"/>
            <a:ext cx="13708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200" b="0" u="none" strike="noStrike">
                <a:solidFill>
                  <a:srgbClr val="DDE8F2"/>
                </a:solidFill>
                <a:effectLst/>
                <a:uFillTx/>
                <a:latin typeface="Aptos"/>
                <a:ea typeface="Aptos"/>
              </a:rPr>
              <a:t>2.1</a:t>
            </a:r>
            <a:endParaRPr lang="en-US" sz="1200" b="0" u="none" strike="noStrike">
              <a:solidFill>
                <a:srgbClr val="000000"/>
              </a:solidFill>
              <a:effectLst/>
              <a:uFillTx/>
              <a:latin typeface="Arial"/>
            </a:endParaRPr>
          </a:p>
        </p:txBody>
      </p:sp>
      <p:sp>
        <p:nvSpPr>
          <p:cNvPr id="106" name="Text 4"/>
          <p:cNvSpPr/>
          <p:nvPr/>
        </p:nvSpPr>
        <p:spPr>
          <a:xfrm>
            <a:off x="475560" y="6565320"/>
            <a:ext cx="274248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107" name="Text 5"/>
          <p:cNvSpPr/>
          <p:nvPr/>
        </p:nvSpPr>
        <p:spPr>
          <a:xfrm>
            <a:off x="11411640" y="6565320"/>
            <a:ext cx="273600" cy="163800"/>
          </a:xfrm>
          <a:prstGeom prst="rect">
            <a:avLst/>
          </a:prstGeom>
          <a:noFill/>
          <a:ln w="0">
            <a:noFill/>
          </a:ln>
        </p:spPr>
        <p:style>
          <a:lnRef idx="0"/>
          <a:fillRef idx="0"/>
          <a:effectRef idx="0"/>
          <a:fontRef idx="minor"/>
        </p:style>
        <p:txBody>
          <a:bodyPr lIns="0" tIns="0" rIns="0" bIns="0" anchor="ctr">
            <a:noAutofit/>
          </a:bodyPr>
          <a:p>
            <a:r>
              <a:t>6</a:t>
            </a:r>
          </a:p>
        </p:txBody>
      </p:sp>
      <p:sp>
        <p:nvSpPr>
          <p:cNvPr id="108" name="Shape 6"/>
          <p:cNvSpPr/>
          <p:nvPr/>
        </p:nvSpPr>
        <p:spPr>
          <a:xfrm>
            <a:off x="658440" y="1143000"/>
            <a:ext cx="2559600" cy="1233720"/>
          </a:xfrm>
          <a:prstGeom prst="roundRect">
            <a:avLst>
              <a:gd name="adj" fmla="val 4444"/>
            </a:avLst>
          </a:prstGeom>
          <a:solidFill>
            <a:srgbClr val="FFFFFF"/>
          </a:solidFill>
          <a:ln w="12700">
            <a:solidFill>
              <a:srgbClr val="D3DEE9"/>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9" name="Text 7"/>
          <p:cNvSpPr/>
          <p:nvPr/>
        </p:nvSpPr>
        <p:spPr>
          <a:xfrm>
            <a:off x="822960" y="1289160"/>
            <a:ext cx="223056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2B6CB0"/>
                </a:solidFill>
                <a:effectLst/>
                <a:uFillTx/>
                <a:latin typeface="Aptos"/>
              </a:rPr>
              <a:t>Percept</a:t>
            </a:r>
            <a:endParaRPr lang="en-US" sz="1500" b="0" u="none" strike="noStrike">
              <a:solidFill>
                <a:srgbClr val="000000"/>
              </a:solidFill>
              <a:effectLst/>
              <a:uFillTx/>
              <a:latin typeface="Arial"/>
            </a:endParaRPr>
          </a:p>
        </p:txBody>
      </p:sp>
      <p:sp>
        <p:nvSpPr>
          <p:cNvPr id="110" name="Text 8"/>
          <p:cNvSpPr/>
          <p:nvPr/>
        </p:nvSpPr>
        <p:spPr>
          <a:xfrm>
            <a:off x="822960" y="1618560"/>
            <a:ext cx="2230560" cy="63936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250" b="0" u="none" strike="noStrike">
                <a:solidFill>
                  <a:srgbClr val="0B1F3A"/>
                </a:solidFill>
                <a:effectLst/>
                <a:uFillTx/>
                <a:latin typeface="Aptos"/>
              </a:rPr>
              <a:t>Current sensor content.</a:t>
            </a:r>
            <a:endParaRPr lang="en-US"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0B1F3A"/>
                </a:solidFill>
                <a:effectLst/>
                <a:uFillTx/>
                <a:latin typeface="Aptos"/>
              </a:rPr>
              <a:t>Example: current Pac-Man tile, nearby wall, visible ghost.</a:t>
            </a:r>
            <a:endParaRPr lang="en-US" sz="1250" b="0" u="none" strike="noStrike">
              <a:solidFill>
                <a:srgbClr val="000000"/>
              </a:solidFill>
              <a:effectLst/>
              <a:uFillTx/>
              <a:latin typeface="Arial"/>
            </a:endParaRPr>
          </a:p>
        </p:txBody>
      </p:sp>
      <p:sp>
        <p:nvSpPr>
          <p:cNvPr id="111" name="Shape 9"/>
          <p:cNvSpPr/>
          <p:nvPr/>
        </p:nvSpPr>
        <p:spPr>
          <a:xfrm>
            <a:off x="3456360" y="1143000"/>
            <a:ext cx="2559600" cy="1233720"/>
          </a:xfrm>
          <a:prstGeom prst="roundRect">
            <a:avLst>
              <a:gd name="adj" fmla="val 4444"/>
            </a:avLst>
          </a:prstGeom>
          <a:solidFill>
            <a:srgbClr val="FFFFFF"/>
          </a:solidFill>
          <a:ln w="12700">
            <a:solidFill>
              <a:srgbClr val="D3DEE9"/>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2" name="Text 10"/>
          <p:cNvSpPr/>
          <p:nvPr/>
        </p:nvSpPr>
        <p:spPr>
          <a:xfrm>
            <a:off x="3620880" y="1289160"/>
            <a:ext cx="223056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048A97"/>
                </a:solidFill>
                <a:effectLst/>
                <a:uFillTx/>
                <a:latin typeface="Aptos"/>
              </a:rPr>
              <a:t>Percept sequence</a:t>
            </a:r>
            <a:endParaRPr lang="en-US" sz="1500" b="0" u="none" strike="noStrike">
              <a:solidFill>
                <a:srgbClr val="000000"/>
              </a:solidFill>
              <a:effectLst/>
              <a:uFillTx/>
              <a:latin typeface="Arial"/>
            </a:endParaRPr>
          </a:p>
        </p:txBody>
      </p:sp>
      <p:sp>
        <p:nvSpPr>
          <p:cNvPr id="113" name="Text 11"/>
          <p:cNvSpPr/>
          <p:nvPr/>
        </p:nvSpPr>
        <p:spPr>
          <a:xfrm>
            <a:off x="3620880" y="1618560"/>
            <a:ext cx="2230560" cy="63936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250" b="0" u="none" strike="noStrike">
                <a:solidFill>
                  <a:srgbClr val="0B1F3A"/>
                </a:solidFill>
                <a:effectLst/>
                <a:uFillTx/>
                <a:latin typeface="Aptos"/>
              </a:rPr>
              <a:t>Complete history of everything the agent has perceived.</a:t>
            </a:r>
            <a:endParaRPr lang="en-US" sz="1250" b="0" u="none" strike="noStrike">
              <a:solidFill>
                <a:srgbClr val="000000"/>
              </a:solidFill>
              <a:effectLst/>
              <a:uFillTx/>
              <a:latin typeface="Arial"/>
            </a:endParaRPr>
          </a:p>
        </p:txBody>
      </p:sp>
      <p:sp>
        <p:nvSpPr>
          <p:cNvPr id="114" name="Shape 12"/>
          <p:cNvSpPr/>
          <p:nvPr/>
        </p:nvSpPr>
        <p:spPr>
          <a:xfrm>
            <a:off x="6263640" y="1143000"/>
            <a:ext cx="2559600" cy="1233720"/>
          </a:xfrm>
          <a:prstGeom prst="roundRect">
            <a:avLst>
              <a:gd name="adj" fmla="val 4444"/>
            </a:avLst>
          </a:prstGeom>
          <a:solidFill>
            <a:srgbClr val="FFFFFF"/>
          </a:solidFill>
          <a:ln w="12700">
            <a:solidFill>
              <a:srgbClr val="D3DEE9"/>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5" name="Text 13"/>
          <p:cNvSpPr/>
          <p:nvPr/>
        </p:nvSpPr>
        <p:spPr>
          <a:xfrm>
            <a:off x="6428160" y="1289160"/>
            <a:ext cx="223056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5B35B1"/>
                </a:solidFill>
                <a:effectLst/>
                <a:uFillTx/>
                <a:latin typeface="Aptos"/>
              </a:rPr>
              <a:t>Agent function</a:t>
            </a:r>
            <a:endParaRPr lang="en-US" sz="1500" b="0" u="none" strike="noStrike">
              <a:solidFill>
                <a:srgbClr val="000000"/>
              </a:solidFill>
              <a:effectLst/>
              <a:uFillTx/>
              <a:latin typeface="Arial"/>
            </a:endParaRPr>
          </a:p>
        </p:txBody>
      </p:sp>
      <p:sp>
        <p:nvSpPr>
          <p:cNvPr id="116" name="Text 14"/>
          <p:cNvSpPr/>
          <p:nvPr/>
        </p:nvSpPr>
        <p:spPr>
          <a:xfrm>
            <a:off x="6428160" y="1618560"/>
            <a:ext cx="2230560" cy="63936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250" b="0" u="none" strike="noStrike">
                <a:solidFill>
                  <a:srgbClr val="0B1F3A"/>
                </a:solidFill>
                <a:effectLst/>
                <a:uFillTx/>
                <a:latin typeface="Aptos"/>
              </a:rPr>
              <a:t>Abstract mapping:</a:t>
            </a:r>
            <a:endParaRPr lang="en-US"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0B1F3A"/>
                </a:solidFill>
                <a:effectLst/>
                <a:uFillTx/>
                <a:latin typeface="Aptos"/>
              </a:rPr>
              <a:t>percept sequence -&gt; action</a:t>
            </a:r>
            <a:endParaRPr lang="en-US" sz="1250" b="0" u="none" strike="noStrike">
              <a:solidFill>
                <a:srgbClr val="000000"/>
              </a:solidFill>
              <a:effectLst/>
              <a:uFillTx/>
              <a:latin typeface="Arial"/>
            </a:endParaRPr>
          </a:p>
        </p:txBody>
      </p:sp>
      <p:sp>
        <p:nvSpPr>
          <p:cNvPr id="117" name="Shape 15"/>
          <p:cNvSpPr/>
          <p:nvPr/>
        </p:nvSpPr>
        <p:spPr>
          <a:xfrm>
            <a:off x="9070920" y="1143000"/>
            <a:ext cx="2559600" cy="1233720"/>
          </a:xfrm>
          <a:prstGeom prst="roundRect">
            <a:avLst>
              <a:gd name="adj" fmla="val 4444"/>
            </a:avLst>
          </a:prstGeom>
          <a:solidFill>
            <a:srgbClr val="FFFFFF"/>
          </a:solidFill>
          <a:ln w="12700">
            <a:solidFill>
              <a:srgbClr val="D3DEE9"/>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8" name="Text 16"/>
          <p:cNvSpPr/>
          <p:nvPr/>
        </p:nvSpPr>
        <p:spPr>
          <a:xfrm>
            <a:off x="9235440" y="1289160"/>
            <a:ext cx="223056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1B7A45"/>
                </a:solidFill>
                <a:effectLst/>
                <a:uFillTx/>
                <a:latin typeface="Aptos"/>
              </a:rPr>
              <a:t>Agent program</a:t>
            </a:r>
            <a:endParaRPr lang="en-US" sz="1500" b="0" u="none" strike="noStrike">
              <a:solidFill>
                <a:srgbClr val="000000"/>
              </a:solidFill>
              <a:effectLst/>
              <a:uFillTx/>
              <a:latin typeface="Arial"/>
            </a:endParaRPr>
          </a:p>
        </p:txBody>
      </p:sp>
      <p:sp>
        <p:nvSpPr>
          <p:cNvPr id="119" name="Text 17"/>
          <p:cNvSpPr/>
          <p:nvPr/>
        </p:nvSpPr>
        <p:spPr>
          <a:xfrm>
            <a:off x="9235440" y="1618560"/>
            <a:ext cx="2230560" cy="63936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250" b="0" u="none" strike="noStrike">
                <a:solidFill>
                  <a:srgbClr val="0B1F3A"/>
                </a:solidFill>
                <a:effectLst/>
                <a:uFillTx/>
                <a:latin typeface="Aptos"/>
              </a:rPr>
              <a:t>Concrete implementation running on an architecture.</a:t>
            </a:r>
            <a:endParaRPr lang="en-US" sz="1250" b="0" u="none" strike="noStrike">
              <a:solidFill>
                <a:srgbClr val="000000"/>
              </a:solidFill>
              <a:effectLst/>
              <a:uFillTx/>
              <a:latin typeface="Arial"/>
            </a:endParaRPr>
          </a:p>
        </p:txBody>
      </p:sp>
      <p:sp>
        <p:nvSpPr>
          <p:cNvPr id="120" name="Shape 18"/>
          <p:cNvSpPr/>
          <p:nvPr/>
        </p:nvSpPr>
        <p:spPr>
          <a:xfrm>
            <a:off x="1920240" y="3246120"/>
            <a:ext cx="8046720" cy="360"/>
          </a:xfrm>
          <a:prstGeom prst="line">
            <a:avLst/>
          </a:prstGeom>
          <a:ln w="25400">
            <a:solidFill>
              <a:srgbClr val="F5A21B"/>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121" name="Text 19"/>
          <p:cNvSpPr/>
          <p:nvPr/>
        </p:nvSpPr>
        <p:spPr>
          <a:xfrm>
            <a:off x="2148840" y="2834640"/>
            <a:ext cx="2102400" cy="273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0B1F3A"/>
                </a:solidFill>
                <a:effectLst/>
                <a:uFillTx/>
                <a:latin typeface="Aptos"/>
              </a:rPr>
              <a:t>percept sequence</a:t>
            </a:r>
            <a:endParaRPr lang="en-US" sz="1400" b="0" u="none" strike="noStrike">
              <a:solidFill>
                <a:srgbClr val="000000"/>
              </a:solidFill>
              <a:effectLst/>
              <a:uFillTx/>
              <a:latin typeface="Arial"/>
            </a:endParaRPr>
          </a:p>
        </p:txBody>
      </p:sp>
      <p:sp>
        <p:nvSpPr>
          <p:cNvPr id="122" name="Text 20"/>
          <p:cNvSpPr/>
          <p:nvPr/>
        </p:nvSpPr>
        <p:spPr>
          <a:xfrm>
            <a:off x="8046720" y="2834640"/>
            <a:ext cx="1279440" cy="273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0B1F3A"/>
                </a:solidFill>
                <a:effectLst/>
                <a:uFillTx/>
                <a:latin typeface="Aptos"/>
              </a:rPr>
              <a:t>action</a:t>
            </a:r>
            <a:endParaRPr lang="en-US" sz="1400" b="0" u="none" strike="noStrike">
              <a:solidFill>
                <a:srgbClr val="000000"/>
              </a:solidFill>
              <a:effectLst/>
              <a:uFillTx/>
              <a:latin typeface="Arial"/>
            </a:endParaRPr>
          </a:p>
        </p:txBody>
      </p:sp>
      <p:sp>
        <p:nvSpPr>
          <p:cNvPr id="123" name="Text 21"/>
          <p:cNvSpPr/>
          <p:nvPr/>
        </p:nvSpPr>
        <p:spPr>
          <a:xfrm>
            <a:off x="1051560" y="3977640"/>
            <a:ext cx="283392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900" b="1" u="none" strike="noStrike">
                <a:solidFill>
                  <a:srgbClr val="0B2B5C"/>
                </a:solidFill>
                <a:effectLst/>
                <a:uFillTx/>
                <a:latin typeface="Aptos"/>
              </a:rPr>
              <a:t>Do not confuse these two:</a:t>
            </a:r>
            <a:endParaRPr lang="en-US" sz="1900" b="0" u="none" strike="noStrike">
              <a:solidFill>
                <a:srgbClr val="000000"/>
              </a:solidFill>
              <a:effectLst/>
              <a:uFillTx/>
              <a:latin typeface="Arial"/>
            </a:endParaRPr>
          </a:p>
        </p:txBody>
      </p:sp>
      <p:sp>
        <p:nvSpPr>
          <p:cNvPr id="124" name="Text 22"/>
          <p:cNvSpPr/>
          <p:nvPr/>
        </p:nvSpPr>
        <p:spPr>
          <a:xfrm>
            <a:off x="1051560" y="4443840"/>
            <a:ext cx="9966240" cy="712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0B1F3A"/>
                </a:solidFill>
                <a:effectLst/>
                <a:uFillTx/>
                <a:latin typeface="Aptos"/>
              </a:rPr>
              <a:t>Agent function = external mathematical description of behavior</a:t>
            </a:r>
            <a:endParaRPr lang="en-US" sz="1700" b="0" u="none" strike="noStrike">
              <a:solidFill>
                <a:srgbClr val="000000"/>
              </a:solidFill>
              <a:effectLst/>
              <a:uFillTx/>
              <a:latin typeface="Arial"/>
            </a:endParaRPr>
          </a:p>
          <a:p>
            <a:pPr defTabSz="914400">
              <a:lnSpc>
                <a:spcPct val="100000"/>
              </a:lnSpc>
              <a:tabLst>
                <a:tab pos="0" algn="l"/>
              </a:tabLst>
            </a:pPr>
            <a:r>
              <a:rPr lang="en-US" sz="1700" b="0" u="none" strike="noStrike">
                <a:solidFill>
                  <a:srgbClr val="0B1F3A"/>
                </a:solidFill>
                <a:effectLst/>
                <a:uFillTx/>
                <a:latin typeface="Aptos"/>
              </a:rPr>
              <a:t>Agent program = internal code that receives current percept and returns an action</a:t>
            </a:r>
            <a:endParaRPr lang="en-US" sz="1700" b="0" u="none" strike="noStrike">
              <a:solidFill>
                <a:srgbClr val="000000"/>
              </a:solidFill>
              <a:effectLst/>
              <a:uFillTx/>
              <a:latin typeface="Arial"/>
            </a:endParaRPr>
          </a:p>
        </p:txBody>
      </p:sp>
      <p:sp>
        <p:nvSpPr>
          <p:cNvPr id="125" name="Text 23"/>
          <p:cNvSpPr/>
          <p:nvPr/>
        </p:nvSpPr>
        <p:spPr>
          <a:xfrm>
            <a:off x="1051560" y="5669280"/>
            <a:ext cx="9966240" cy="365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0B2B5C"/>
                </a:solidFill>
                <a:effectLst/>
                <a:uFillTx/>
                <a:latin typeface="Aptos"/>
              </a:rPr>
              <a:t>Chapter 2 problem: produce rational behavior from a compact program, not a vast lookup table.</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6FA"/>
        </a:solidFill>
      </p:bgPr>
    </p:bg>
    <p:spTree>
      <p:nvGrpSpPr>
        <p:cNvPr id="1" name=""/>
        <p:cNvGrpSpPr/>
        <p:nvPr/>
      </p:nvGrpSpPr>
      <p:grpSpPr>
        <a:xfrm>
          <a:off x="0" y="0"/>
          <a:ext cx="0" cy="0"/>
          <a:chOff x="0" y="0"/>
          <a:chExt cx="0" cy="0"/>
        </a:xfrm>
      </p:grpSpPr>
      <p:sp>
        <p:nvSpPr>
          <p:cNvPr id="126" name="Shape 0"/>
          <p:cNvSpPr/>
          <p:nvPr/>
        </p:nvSpPr>
        <p:spPr>
          <a:xfrm>
            <a:off x="0" y="0"/>
            <a:ext cx="12191040" cy="803880"/>
          </a:xfrm>
          <a:prstGeom prst="rect">
            <a:avLst/>
          </a:prstGeom>
          <a:solidFill>
            <a:srgbClr val="0B2B5C"/>
          </a:solidFill>
          <a:ln w="12700">
            <a:solidFill>
              <a:srgbClr val="0B2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27" name="Shape 1"/>
          <p:cNvSpPr/>
          <p:nvPr/>
        </p:nvSpPr>
        <p:spPr>
          <a:xfrm>
            <a:off x="0" y="804600"/>
            <a:ext cx="12191040" cy="72360"/>
          </a:xfrm>
          <a:prstGeom prst="rect">
            <a:avLst/>
          </a:prstGeom>
          <a:solidFill>
            <a:srgbClr val="F5A21B"/>
          </a:solidFill>
          <a:ln w="12700">
            <a:solidFill>
              <a:srgbClr val="F5A21B"/>
            </a:solidFill>
            <a:round/>
          </a:ln>
        </p:spPr>
        <p:style>
          <a:lnRef idx="0"/>
          <a:fillRef idx="0"/>
          <a:effectRef idx="0"/>
          <a:fontRef idx="minor"/>
        </p:style>
        <p:txBody>
          <a:bodyPr lIns="90000" tIns="28080" rIns="90000" bIns="28080" anchor="t">
            <a:noAutofit/>
          </a:bodyPr>
          <a:p>
            <a:endParaRPr lang="en-US" sz="1800" b="0" u="none" strike="noStrike">
              <a:solidFill>
                <a:srgbClr val="000000"/>
              </a:solidFill>
              <a:effectLst/>
              <a:uFillTx/>
              <a:latin typeface="Arial"/>
            </a:endParaRPr>
          </a:p>
        </p:txBody>
      </p:sp>
      <p:sp>
        <p:nvSpPr>
          <p:cNvPr id="128" name="Text 2"/>
          <p:cNvSpPr/>
          <p:nvPr/>
        </p:nvSpPr>
        <p:spPr>
          <a:xfrm>
            <a:off x="475560" y="210240"/>
            <a:ext cx="960048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300" b="1" u="none" strike="noStrike">
                <a:solidFill>
                  <a:srgbClr val="FFFFFF"/>
                </a:solidFill>
                <a:effectLst/>
                <a:uFillTx/>
                <a:latin typeface="Aptos Display"/>
                <a:ea typeface="Aptos Display"/>
              </a:rPr>
              <a:t>2.2 Good Behavior: Rationality Is Expected Performance</a:t>
            </a:r>
            <a:endParaRPr lang="en-US" sz="2300" b="0" u="none" strike="noStrike">
              <a:solidFill>
                <a:srgbClr val="000000"/>
              </a:solidFill>
              <a:effectLst/>
              <a:uFillTx/>
              <a:latin typeface="Arial"/>
            </a:endParaRPr>
          </a:p>
        </p:txBody>
      </p:sp>
      <p:sp>
        <p:nvSpPr>
          <p:cNvPr id="129" name="Text 3"/>
          <p:cNvSpPr/>
          <p:nvPr/>
        </p:nvSpPr>
        <p:spPr>
          <a:xfrm>
            <a:off x="10241280" y="255960"/>
            <a:ext cx="13708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200" b="0" u="none" strike="noStrike">
                <a:solidFill>
                  <a:srgbClr val="DDE8F2"/>
                </a:solidFill>
                <a:effectLst/>
                <a:uFillTx/>
                <a:latin typeface="Aptos"/>
                <a:ea typeface="Aptos"/>
              </a:rPr>
              <a:t>2.2</a:t>
            </a:r>
            <a:endParaRPr lang="en-US" sz="1200" b="0" u="none" strike="noStrike">
              <a:solidFill>
                <a:srgbClr val="000000"/>
              </a:solidFill>
              <a:effectLst/>
              <a:uFillTx/>
              <a:latin typeface="Arial"/>
            </a:endParaRPr>
          </a:p>
        </p:txBody>
      </p:sp>
      <p:sp>
        <p:nvSpPr>
          <p:cNvPr id="130" name="Text 4"/>
          <p:cNvSpPr/>
          <p:nvPr/>
        </p:nvSpPr>
        <p:spPr>
          <a:xfrm>
            <a:off x="475560" y="6565320"/>
            <a:ext cx="274248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131" name="Text 5"/>
          <p:cNvSpPr/>
          <p:nvPr/>
        </p:nvSpPr>
        <p:spPr>
          <a:xfrm>
            <a:off x="11411640" y="6565320"/>
            <a:ext cx="273600" cy="163800"/>
          </a:xfrm>
          <a:prstGeom prst="rect">
            <a:avLst/>
          </a:prstGeom>
          <a:noFill/>
          <a:ln w="0">
            <a:noFill/>
          </a:ln>
        </p:spPr>
        <p:style>
          <a:lnRef idx="0"/>
          <a:fillRef idx="0"/>
          <a:effectRef idx="0"/>
          <a:fontRef idx="minor"/>
        </p:style>
        <p:txBody>
          <a:bodyPr lIns="0" tIns="0" rIns="0" bIns="0" anchor="ctr">
            <a:noAutofit/>
          </a:bodyPr>
          <a:p>
            <a:r>
              <a:t>7</a:t>
            </a:r>
          </a:p>
        </p:txBody>
      </p:sp>
      <p:sp>
        <p:nvSpPr>
          <p:cNvPr id="132" name="Text 6"/>
          <p:cNvSpPr/>
          <p:nvPr/>
        </p:nvSpPr>
        <p:spPr>
          <a:xfrm>
            <a:off x="777240" y="1143000"/>
            <a:ext cx="10697760" cy="410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100" b="1" u="none" strike="noStrike">
                <a:solidFill>
                  <a:srgbClr val="0B2B5C"/>
                </a:solidFill>
                <a:effectLst/>
                <a:uFillTx/>
                <a:latin typeface="Aptos"/>
              </a:rPr>
              <a:t>A rational agent selects the action expected to maximize its performance measure.</a:t>
            </a:r>
            <a:endParaRPr lang="en-US" sz="2100" b="0" u="none" strike="noStrike">
              <a:solidFill>
                <a:srgbClr val="000000"/>
              </a:solidFill>
              <a:effectLst/>
              <a:uFillTx/>
              <a:latin typeface="Arial"/>
            </a:endParaRPr>
          </a:p>
        </p:txBody>
      </p:sp>
      <p:sp>
        <p:nvSpPr>
          <p:cNvPr id="133" name="Shape 7"/>
          <p:cNvSpPr/>
          <p:nvPr/>
        </p:nvSpPr>
        <p:spPr>
          <a:xfrm>
            <a:off x="914400" y="1965960"/>
            <a:ext cx="4754160" cy="959400"/>
          </a:xfrm>
          <a:prstGeom prst="roundRect">
            <a:avLst>
              <a:gd name="adj" fmla="val 5714"/>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4" name="Text 8"/>
          <p:cNvSpPr/>
          <p:nvPr/>
        </p:nvSpPr>
        <p:spPr>
          <a:xfrm>
            <a:off x="1078920" y="2112120"/>
            <a:ext cx="442512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2B6CB0"/>
                </a:solidFill>
                <a:effectLst/>
                <a:uFillTx/>
                <a:latin typeface="Aptos"/>
              </a:rPr>
              <a:t>Performance measure</a:t>
            </a:r>
            <a:endParaRPr lang="en-US" sz="1700" b="0" u="none" strike="noStrike">
              <a:solidFill>
                <a:srgbClr val="000000"/>
              </a:solidFill>
              <a:effectLst/>
              <a:uFillTx/>
              <a:latin typeface="Arial"/>
            </a:endParaRPr>
          </a:p>
        </p:txBody>
      </p:sp>
      <p:sp>
        <p:nvSpPr>
          <p:cNvPr id="135" name="Text 9"/>
          <p:cNvSpPr/>
          <p:nvPr/>
        </p:nvSpPr>
        <p:spPr>
          <a:xfrm>
            <a:off x="1078920" y="2441520"/>
            <a:ext cx="4425120" cy="36504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300" b="0" u="none" strike="noStrike">
                <a:solidFill>
                  <a:srgbClr val="0B1F3A"/>
                </a:solidFill>
                <a:effectLst/>
                <a:uFillTx/>
                <a:latin typeface="Aptos"/>
              </a:rPr>
              <a:t>What counts as success?</a:t>
            </a:r>
            <a:endParaRPr lang="en-US" sz="1300" b="0" u="none" strike="noStrike">
              <a:solidFill>
                <a:srgbClr val="000000"/>
              </a:solidFill>
              <a:effectLst/>
              <a:uFillTx/>
              <a:latin typeface="Arial"/>
            </a:endParaRPr>
          </a:p>
        </p:txBody>
      </p:sp>
      <p:sp>
        <p:nvSpPr>
          <p:cNvPr id="136" name="Shape 10"/>
          <p:cNvSpPr/>
          <p:nvPr/>
        </p:nvSpPr>
        <p:spPr>
          <a:xfrm>
            <a:off x="6172200" y="1965960"/>
            <a:ext cx="4754160" cy="959400"/>
          </a:xfrm>
          <a:prstGeom prst="roundRect">
            <a:avLst>
              <a:gd name="adj" fmla="val 5714"/>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7" name="Text 11"/>
          <p:cNvSpPr/>
          <p:nvPr/>
        </p:nvSpPr>
        <p:spPr>
          <a:xfrm>
            <a:off x="6336720" y="2112120"/>
            <a:ext cx="442512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048A97"/>
                </a:solidFill>
                <a:effectLst/>
                <a:uFillTx/>
                <a:latin typeface="Aptos"/>
              </a:rPr>
              <a:t>Prior knowledge</a:t>
            </a:r>
            <a:endParaRPr lang="en-US" sz="1700" b="0" u="none" strike="noStrike">
              <a:solidFill>
                <a:srgbClr val="000000"/>
              </a:solidFill>
              <a:effectLst/>
              <a:uFillTx/>
              <a:latin typeface="Arial"/>
            </a:endParaRPr>
          </a:p>
        </p:txBody>
      </p:sp>
      <p:sp>
        <p:nvSpPr>
          <p:cNvPr id="138" name="Text 12"/>
          <p:cNvSpPr/>
          <p:nvPr/>
        </p:nvSpPr>
        <p:spPr>
          <a:xfrm>
            <a:off x="6336720" y="2441520"/>
            <a:ext cx="4425120" cy="36504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300" b="0" u="none" strike="noStrike">
                <a:solidFill>
                  <a:srgbClr val="0B1F3A"/>
                </a:solidFill>
                <a:effectLst/>
                <a:uFillTx/>
                <a:latin typeface="Aptos"/>
              </a:rPr>
              <a:t>What does the agent already know?</a:t>
            </a:r>
            <a:endParaRPr lang="en-US" sz="1300" b="0" u="none" strike="noStrike">
              <a:solidFill>
                <a:srgbClr val="000000"/>
              </a:solidFill>
              <a:effectLst/>
              <a:uFillTx/>
              <a:latin typeface="Arial"/>
            </a:endParaRPr>
          </a:p>
        </p:txBody>
      </p:sp>
      <p:sp>
        <p:nvSpPr>
          <p:cNvPr id="139" name="Shape 13"/>
          <p:cNvSpPr/>
          <p:nvPr/>
        </p:nvSpPr>
        <p:spPr>
          <a:xfrm>
            <a:off x="914400" y="3383280"/>
            <a:ext cx="4754160" cy="959400"/>
          </a:xfrm>
          <a:prstGeom prst="roundRect">
            <a:avLst>
              <a:gd name="adj" fmla="val 5714"/>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40" name="Text 14"/>
          <p:cNvSpPr/>
          <p:nvPr/>
        </p:nvSpPr>
        <p:spPr>
          <a:xfrm>
            <a:off x="1078920" y="3529440"/>
            <a:ext cx="442512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F5A21B"/>
                </a:solidFill>
                <a:effectLst/>
                <a:uFillTx/>
                <a:latin typeface="Aptos"/>
              </a:rPr>
              <a:t>Available actions</a:t>
            </a:r>
            <a:endParaRPr lang="en-US" sz="1700" b="0" u="none" strike="noStrike">
              <a:solidFill>
                <a:srgbClr val="000000"/>
              </a:solidFill>
              <a:effectLst/>
              <a:uFillTx/>
              <a:latin typeface="Arial"/>
            </a:endParaRPr>
          </a:p>
        </p:txBody>
      </p:sp>
      <p:sp>
        <p:nvSpPr>
          <p:cNvPr id="141" name="Text 15"/>
          <p:cNvSpPr/>
          <p:nvPr/>
        </p:nvSpPr>
        <p:spPr>
          <a:xfrm>
            <a:off x="1078920" y="3858840"/>
            <a:ext cx="4425120" cy="36504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300" b="0" u="none" strike="noStrike">
                <a:solidFill>
                  <a:srgbClr val="0B1F3A"/>
                </a:solidFill>
                <a:effectLst/>
                <a:uFillTx/>
                <a:latin typeface="Aptos"/>
              </a:rPr>
              <a:t>What can the agent actually do?</a:t>
            </a:r>
            <a:endParaRPr lang="en-US" sz="1300" b="0" u="none" strike="noStrike">
              <a:solidFill>
                <a:srgbClr val="000000"/>
              </a:solidFill>
              <a:effectLst/>
              <a:uFillTx/>
              <a:latin typeface="Arial"/>
            </a:endParaRPr>
          </a:p>
        </p:txBody>
      </p:sp>
      <p:sp>
        <p:nvSpPr>
          <p:cNvPr id="142" name="Shape 16"/>
          <p:cNvSpPr/>
          <p:nvPr/>
        </p:nvSpPr>
        <p:spPr>
          <a:xfrm>
            <a:off x="6172200" y="3383280"/>
            <a:ext cx="4754160" cy="959400"/>
          </a:xfrm>
          <a:prstGeom prst="roundRect">
            <a:avLst>
              <a:gd name="adj" fmla="val 5714"/>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43" name="Text 17"/>
          <p:cNvSpPr/>
          <p:nvPr/>
        </p:nvSpPr>
        <p:spPr>
          <a:xfrm>
            <a:off x="6336720" y="3529440"/>
            <a:ext cx="442512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1B7A45"/>
                </a:solidFill>
                <a:effectLst/>
                <a:uFillTx/>
                <a:latin typeface="Aptos"/>
              </a:rPr>
              <a:t>Percept sequence</a:t>
            </a:r>
            <a:endParaRPr lang="en-US" sz="1700" b="0" u="none" strike="noStrike">
              <a:solidFill>
                <a:srgbClr val="000000"/>
              </a:solidFill>
              <a:effectLst/>
              <a:uFillTx/>
              <a:latin typeface="Arial"/>
            </a:endParaRPr>
          </a:p>
        </p:txBody>
      </p:sp>
      <p:sp>
        <p:nvSpPr>
          <p:cNvPr id="144" name="Text 18"/>
          <p:cNvSpPr/>
          <p:nvPr/>
        </p:nvSpPr>
        <p:spPr>
          <a:xfrm>
            <a:off x="6336720" y="3858840"/>
            <a:ext cx="4425120" cy="36504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300" b="0" u="none" strike="noStrike">
                <a:solidFill>
                  <a:srgbClr val="0B1F3A"/>
                </a:solidFill>
                <a:effectLst/>
                <a:uFillTx/>
                <a:latin typeface="Aptos"/>
              </a:rPr>
              <a:t>What evidence has it observed?</a:t>
            </a:r>
            <a:endParaRPr lang="en-US" sz="1300" b="0" u="none" strike="noStrike">
              <a:solidFill>
                <a:srgbClr val="000000"/>
              </a:solidFill>
              <a:effectLst/>
              <a:uFillTx/>
              <a:latin typeface="Arial"/>
            </a:endParaRPr>
          </a:p>
        </p:txBody>
      </p:sp>
      <p:sp>
        <p:nvSpPr>
          <p:cNvPr id="145" name="Text 19"/>
          <p:cNvSpPr/>
          <p:nvPr/>
        </p:nvSpPr>
        <p:spPr>
          <a:xfrm>
            <a:off x="914400" y="5166360"/>
            <a:ext cx="10332000" cy="438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900" b="1" u="none" strike="noStrike">
                <a:solidFill>
                  <a:srgbClr val="0B2B5C"/>
                </a:solidFill>
                <a:effectLst/>
                <a:uFillTx/>
                <a:latin typeface="Aptos"/>
              </a:rPr>
              <a:t>Rationality is not hindsight perfection. It uses evidence available at the time.</a:t>
            </a:r>
            <a:endParaRPr lang="en-US" sz="1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6FA"/>
        </a:solidFill>
      </p:bgPr>
    </p:bg>
    <p:spTree>
      <p:nvGrpSpPr>
        <p:cNvPr id="1" name=""/>
        <p:cNvGrpSpPr/>
        <p:nvPr/>
      </p:nvGrpSpPr>
      <p:grpSpPr>
        <a:xfrm>
          <a:off x="0" y="0"/>
          <a:ext cx="0" cy="0"/>
          <a:chOff x="0" y="0"/>
          <a:chExt cx="0" cy="0"/>
        </a:xfrm>
      </p:grpSpPr>
      <p:sp>
        <p:nvSpPr>
          <p:cNvPr id="146" name="Shape 0"/>
          <p:cNvSpPr/>
          <p:nvPr/>
        </p:nvSpPr>
        <p:spPr>
          <a:xfrm>
            <a:off x="0" y="0"/>
            <a:ext cx="12191040" cy="803880"/>
          </a:xfrm>
          <a:prstGeom prst="rect">
            <a:avLst/>
          </a:prstGeom>
          <a:solidFill>
            <a:srgbClr val="0B2B5C"/>
          </a:solidFill>
          <a:ln w="12700">
            <a:solidFill>
              <a:srgbClr val="0B2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47" name="Shape 1"/>
          <p:cNvSpPr/>
          <p:nvPr/>
        </p:nvSpPr>
        <p:spPr>
          <a:xfrm>
            <a:off x="0" y="804600"/>
            <a:ext cx="12191040" cy="72360"/>
          </a:xfrm>
          <a:prstGeom prst="rect">
            <a:avLst/>
          </a:prstGeom>
          <a:solidFill>
            <a:srgbClr val="F5A21B"/>
          </a:solidFill>
          <a:ln w="12700">
            <a:solidFill>
              <a:srgbClr val="F5A21B"/>
            </a:solidFill>
            <a:round/>
          </a:ln>
        </p:spPr>
        <p:style>
          <a:lnRef idx="0"/>
          <a:fillRef idx="0"/>
          <a:effectRef idx="0"/>
          <a:fontRef idx="minor"/>
        </p:style>
        <p:txBody>
          <a:bodyPr lIns="90000" tIns="28080" rIns="90000" bIns="28080" anchor="t">
            <a:noAutofit/>
          </a:bodyPr>
          <a:p>
            <a:endParaRPr lang="en-US" sz="1800" b="0" u="none" strike="noStrike">
              <a:solidFill>
                <a:srgbClr val="000000"/>
              </a:solidFill>
              <a:effectLst/>
              <a:uFillTx/>
              <a:latin typeface="Arial"/>
            </a:endParaRPr>
          </a:p>
        </p:txBody>
      </p:sp>
      <p:sp>
        <p:nvSpPr>
          <p:cNvPr id="148" name="Text 2"/>
          <p:cNvSpPr/>
          <p:nvPr/>
        </p:nvSpPr>
        <p:spPr>
          <a:xfrm>
            <a:off x="475560" y="210240"/>
            <a:ext cx="960048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300" b="1" u="none" strike="noStrike">
                <a:solidFill>
                  <a:srgbClr val="FFFFFF"/>
                </a:solidFill>
                <a:effectLst/>
                <a:uFillTx/>
                <a:latin typeface="Aptos Display"/>
                <a:ea typeface="Aptos Display"/>
              </a:rPr>
              <a:t>2.2 Performance Measures: Be Careful What You Ask For</a:t>
            </a:r>
            <a:endParaRPr lang="en-US" sz="2300" b="0" u="none" strike="noStrike">
              <a:solidFill>
                <a:srgbClr val="000000"/>
              </a:solidFill>
              <a:effectLst/>
              <a:uFillTx/>
              <a:latin typeface="Arial"/>
            </a:endParaRPr>
          </a:p>
        </p:txBody>
      </p:sp>
      <p:sp>
        <p:nvSpPr>
          <p:cNvPr id="149" name="Text 3"/>
          <p:cNvSpPr/>
          <p:nvPr/>
        </p:nvSpPr>
        <p:spPr>
          <a:xfrm>
            <a:off x="10241280" y="255960"/>
            <a:ext cx="13708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200" b="0" u="none" strike="noStrike">
                <a:solidFill>
                  <a:srgbClr val="DDE8F2"/>
                </a:solidFill>
                <a:effectLst/>
                <a:uFillTx/>
                <a:latin typeface="Aptos"/>
                <a:ea typeface="Aptos"/>
              </a:rPr>
              <a:t>2.2</a:t>
            </a:r>
            <a:endParaRPr lang="en-US" sz="1200" b="0" u="none" strike="noStrike">
              <a:solidFill>
                <a:srgbClr val="000000"/>
              </a:solidFill>
              <a:effectLst/>
              <a:uFillTx/>
              <a:latin typeface="Arial"/>
            </a:endParaRPr>
          </a:p>
        </p:txBody>
      </p:sp>
      <p:sp>
        <p:nvSpPr>
          <p:cNvPr id="150" name="Text 4"/>
          <p:cNvSpPr/>
          <p:nvPr/>
        </p:nvSpPr>
        <p:spPr>
          <a:xfrm>
            <a:off x="475560" y="6565320"/>
            <a:ext cx="274248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151" name="Text 5"/>
          <p:cNvSpPr/>
          <p:nvPr/>
        </p:nvSpPr>
        <p:spPr>
          <a:xfrm>
            <a:off x="11411640" y="6565320"/>
            <a:ext cx="273600" cy="163800"/>
          </a:xfrm>
          <a:prstGeom prst="rect">
            <a:avLst/>
          </a:prstGeom>
          <a:noFill/>
          <a:ln w="0">
            <a:noFill/>
          </a:ln>
        </p:spPr>
        <p:style>
          <a:lnRef idx="0"/>
          <a:fillRef idx="0"/>
          <a:effectRef idx="0"/>
          <a:fontRef idx="minor"/>
        </p:style>
        <p:txBody>
          <a:bodyPr lIns="0" tIns="0" rIns="0" bIns="0" anchor="ctr">
            <a:noAutofit/>
          </a:bodyPr>
          <a:p>
            <a:r>
              <a:t>8</a:t>
            </a:r>
          </a:p>
        </p:txBody>
      </p:sp>
      <p:sp>
        <p:nvSpPr>
          <p:cNvPr id="152" name="Shape 6"/>
          <p:cNvSpPr/>
          <p:nvPr/>
        </p:nvSpPr>
        <p:spPr>
          <a:xfrm>
            <a:off x="868680" y="1234440"/>
            <a:ext cx="4845600" cy="1828080"/>
          </a:xfrm>
          <a:prstGeom prst="roundRect">
            <a:avLst>
              <a:gd name="adj" fmla="val 3000"/>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53" name="Text 7"/>
          <p:cNvSpPr/>
          <p:nvPr/>
        </p:nvSpPr>
        <p:spPr>
          <a:xfrm>
            <a:off x="1033200" y="1380600"/>
            <a:ext cx="451656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1" u="none" strike="noStrike">
                <a:solidFill>
                  <a:srgbClr val="A32020"/>
                </a:solidFill>
                <a:effectLst/>
                <a:uFillTx/>
                <a:latin typeface="Aptos"/>
              </a:rPr>
              <a:t>Bad measure</a:t>
            </a:r>
            <a:endParaRPr lang="en-US" sz="2000" b="0" u="none" strike="noStrike">
              <a:solidFill>
                <a:srgbClr val="000000"/>
              </a:solidFill>
              <a:effectLst/>
              <a:uFillTx/>
              <a:latin typeface="Arial"/>
            </a:endParaRPr>
          </a:p>
        </p:txBody>
      </p:sp>
      <p:sp>
        <p:nvSpPr>
          <p:cNvPr id="154" name="Text 8"/>
          <p:cNvSpPr/>
          <p:nvPr/>
        </p:nvSpPr>
        <p:spPr>
          <a:xfrm>
            <a:off x="1033200" y="1710000"/>
            <a:ext cx="4516560" cy="123372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500" b="0" u="none" strike="noStrike">
                <a:solidFill>
                  <a:srgbClr val="0B1F3A"/>
                </a:solidFill>
                <a:effectLst/>
                <a:uFillTx/>
                <a:latin typeface="Aptos"/>
              </a:rPr>
              <a:t>Reward the vacuum for amount of dirt cleaned.</a:t>
            </a:r>
            <a:endParaRPr lang="en-US" sz="1500" b="0" u="none" strike="noStrike">
              <a:solidFill>
                <a:srgbClr val="000000"/>
              </a:solidFill>
              <a:effectLst/>
              <a:uFillTx/>
              <a:latin typeface="Arial"/>
            </a:endParaRPr>
          </a:p>
          <a:p>
            <a:pPr defTabSz="914400">
              <a:lnSpc>
                <a:spcPct val="100000"/>
              </a:lnSpc>
              <a:tabLst>
                <a:tab pos="0" algn="l"/>
              </a:tabLst>
            </a:pPr>
            <a:endParaRPr lang="en-US" sz="1500" b="0" u="none" strike="noStrike">
              <a:solidFill>
                <a:srgbClr val="000000"/>
              </a:solidFill>
              <a:effectLst/>
              <a:uFillTx/>
              <a:latin typeface="Arial"/>
            </a:endParaRPr>
          </a:p>
          <a:p>
            <a:pPr defTabSz="914400">
              <a:lnSpc>
                <a:spcPct val="100000"/>
              </a:lnSpc>
              <a:tabLst>
                <a:tab pos="0" algn="l"/>
              </a:tabLst>
            </a:pPr>
            <a:r>
              <a:rPr lang="en-US" sz="1500" b="0" u="none" strike="noStrike">
                <a:solidFill>
                  <a:srgbClr val="0B1F3A"/>
                </a:solidFill>
                <a:effectLst/>
                <a:uFillTx/>
                <a:latin typeface="Aptos"/>
              </a:rPr>
              <a:t>Failure mode: dump dirt, clean it, dump it again.</a:t>
            </a:r>
            <a:endParaRPr lang="en-US" sz="1500" b="0" u="none" strike="noStrike">
              <a:solidFill>
                <a:srgbClr val="000000"/>
              </a:solidFill>
              <a:effectLst/>
              <a:uFillTx/>
              <a:latin typeface="Arial"/>
            </a:endParaRPr>
          </a:p>
        </p:txBody>
      </p:sp>
      <p:sp>
        <p:nvSpPr>
          <p:cNvPr id="155" name="Shape 9"/>
          <p:cNvSpPr/>
          <p:nvPr/>
        </p:nvSpPr>
        <p:spPr>
          <a:xfrm>
            <a:off x="6446520" y="1234440"/>
            <a:ext cx="4845600" cy="1828080"/>
          </a:xfrm>
          <a:prstGeom prst="roundRect">
            <a:avLst>
              <a:gd name="adj" fmla="val 3000"/>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56" name="Text 10"/>
          <p:cNvSpPr/>
          <p:nvPr/>
        </p:nvSpPr>
        <p:spPr>
          <a:xfrm>
            <a:off x="6611040" y="1380600"/>
            <a:ext cx="451656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1" u="none" strike="noStrike">
                <a:solidFill>
                  <a:srgbClr val="1B7A45"/>
                </a:solidFill>
                <a:effectLst/>
                <a:uFillTx/>
                <a:latin typeface="Aptos"/>
              </a:rPr>
              <a:t>Better measure</a:t>
            </a:r>
            <a:endParaRPr lang="en-US" sz="2000" b="0" u="none" strike="noStrike">
              <a:solidFill>
                <a:srgbClr val="000000"/>
              </a:solidFill>
              <a:effectLst/>
              <a:uFillTx/>
              <a:latin typeface="Arial"/>
            </a:endParaRPr>
          </a:p>
        </p:txBody>
      </p:sp>
      <p:sp>
        <p:nvSpPr>
          <p:cNvPr id="157" name="Text 11"/>
          <p:cNvSpPr/>
          <p:nvPr/>
        </p:nvSpPr>
        <p:spPr>
          <a:xfrm>
            <a:off x="6611040" y="1710000"/>
            <a:ext cx="4516560" cy="123372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500" b="0" u="none" strike="noStrike">
                <a:solidFill>
                  <a:srgbClr val="0B1F3A"/>
                </a:solidFill>
                <a:effectLst/>
                <a:uFillTx/>
                <a:latin typeface="Aptos"/>
              </a:rPr>
              <a:t>Reward clean squares over time.</a:t>
            </a:r>
            <a:endParaRPr lang="en-US" sz="1500" b="0" u="none" strike="noStrike">
              <a:solidFill>
                <a:srgbClr val="000000"/>
              </a:solidFill>
              <a:effectLst/>
              <a:uFillTx/>
              <a:latin typeface="Arial"/>
            </a:endParaRPr>
          </a:p>
          <a:p>
            <a:pPr defTabSz="914400">
              <a:lnSpc>
                <a:spcPct val="100000"/>
              </a:lnSpc>
              <a:tabLst>
                <a:tab pos="0" algn="l"/>
              </a:tabLst>
            </a:pPr>
            <a:endParaRPr lang="en-US" sz="1500" b="0" u="none" strike="noStrike">
              <a:solidFill>
                <a:srgbClr val="000000"/>
              </a:solidFill>
              <a:effectLst/>
              <a:uFillTx/>
              <a:latin typeface="Arial"/>
            </a:endParaRPr>
          </a:p>
          <a:p>
            <a:pPr defTabSz="914400">
              <a:lnSpc>
                <a:spcPct val="100000"/>
              </a:lnSpc>
              <a:tabLst>
                <a:tab pos="0" algn="l"/>
              </a:tabLst>
            </a:pPr>
            <a:r>
              <a:rPr lang="en-US" sz="1500" b="0" u="none" strike="noStrike">
                <a:solidFill>
                  <a:srgbClr val="0B1F3A"/>
                </a:solidFill>
                <a:effectLst/>
                <a:uFillTx/>
                <a:latin typeface="Aptos"/>
              </a:rPr>
              <a:t>Measure the environment outcome, not the agent’s visible effort.</a:t>
            </a:r>
            <a:endParaRPr lang="en-US" sz="1500" b="0" u="none" strike="noStrike">
              <a:solidFill>
                <a:srgbClr val="000000"/>
              </a:solidFill>
              <a:effectLst/>
              <a:uFillTx/>
              <a:latin typeface="Arial"/>
            </a:endParaRPr>
          </a:p>
        </p:txBody>
      </p:sp>
      <p:sp>
        <p:nvSpPr>
          <p:cNvPr id="158" name="Shape 12"/>
          <p:cNvSpPr/>
          <p:nvPr/>
        </p:nvSpPr>
        <p:spPr>
          <a:xfrm>
            <a:off x="5742360" y="1874520"/>
            <a:ext cx="547920" cy="547920"/>
          </a:xfrm>
          <a:prstGeom prst="chevron">
            <a:avLst>
              <a:gd name="adj" fmla="val 50000"/>
            </a:avLst>
          </a:prstGeom>
          <a:solidFill>
            <a:srgbClr val="F5A21B"/>
          </a:solidFill>
          <a:ln w="12700">
            <a:solidFill>
              <a:srgbClr val="F5A21B"/>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59" name="Text 13"/>
          <p:cNvSpPr/>
          <p:nvPr/>
        </p:nvSpPr>
        <p:spPr>
          <a:xfrm>
            <a:off x="868680" y="3977640"/>
            <a:ext cx="10423440" cy="319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200" b="1" u="none" strike="noStrike">
                <a:solidFill>
                  <a:srgbClr val="0B2B5C"/>
                </a:solidFill>
                <a:effectLst/>
                <a:uFillTx/>
                <a:latin typeface="Aptos"/>
              </a:rPr>
              <a:t>General lesson</a:t>
            </a:r>
            <a:endParaRPr lang="en-US" sz="2200" b="0" u="none" strike="noStrike">
              <a:solidFill>
                <a:srgbClr val="000000"/>
              </a:solidFill>
              <a:effectLst/>
              <a:uFillTx/>
              <a:latin typeface="Arial"/>
            </a:endParaRPr>
          </a:p>
        </p:txBody>
      </p:sp>
      <p:sp>
        <p:nvSpPr>
          <p:cNvPr id="160" name="Text 14"/>
          <p:cNvSpPr/>
          <p:nvPr/>
        </p:nvSpPr>
        <p:spPr>
          <a:xfrm>
            <a:off x="1143000" y="4507920"/>
            <a:ext cx="9874800" cy="4564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rgbClr val="0B1F3A"/>
                </a:solidFill>
                <a:effectLst/>
                <a:uFillTx/>
                <a:latin typeface="Aptos"/>
              </a:rPr>
              <a:t>Design performance measures according to what you actually want achieved in the environment.</a:t>
            </a:r>
            <a:endParaRPr lang="en-US" sz="2000" b="0" u="none" strike="noStrike">
              <a:solidFill>
                <a:srgbClr val="000000"/>
              </a:solidFill>
              <a:effectLst/>
              <a:uFillTx/>
              <a:latin typeface="Arial"/>
            </a:endParaRPr>
          </a:p>
        </p:txBody>
      </p:sp>
      <p:sp>
        <p:nvSpPr>
          <p:cNvPr id="161" name="Text 15"/>
          <p:cNvSpPr/>
          <p:nvPr/>
        </p:nvSpPr>
        <p:spPr>
          <a:xfrm>
            <a:off x="1143000" y="5212080"/>
            <a:ext cx="9874800" cy="273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0" u="none" strike="noStrike">
                <a:solidFill>
                  <a:srgbClr val="5E7088"/>
                </a:solidFill>
                <a:effectLst/>
                <a:uFillTx/>
                <a:latin typeface="Aptos"/>
              </a:rPr>
              <a:t>Connection to Chapter 1: wrong objectives create the King Midas / value-alignment problem.</a:t>
            </a: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6FA"/>
        </a:solidFill>
      </p:bgPr>
    </p:bg>
    <p:spTree>
      <p:nvGrpSpPr>
        <p:cNvPr id="1" name=""/>
        <p:cNvGrpSpPr/>
        <p:nvPr/>
      </p:nvGrpSpPr>
      <p:grpSpPr>
        <a:xfrm>
          <a:off x="0" y="0"/>
          <a:ext cx="0" cy="0"/>
          <a:chOff x="0" y="0"/>
          <a:chExt cx="0" cy="0"/>
        </a:xfrm>
      </p:grpSpPr>
      <p:sp>
        <p:nvSpPr>
          <p:cNvPr id="162" name="Shape 0"/>
          <p:cNvSpPr/>
          <p:nvPr/>
        </p:nvSpPr>
        <p:spPr>
          <a:xfrm>
            <a:off x="0" y="0"/>
            <a:ext cx="12191040" cy="803880"/>
          </a:xfrm>
          <a:prstGeom prst="rect">
            <a:avLst/>
          </a:prstGeom>
          <a:solidFill>
            <a:srgbClr val="0B2B5C"/>
          </a:solidFill>
          <a:ln w="12700">
            <a:solidFill>
              <a:srgbClr val="0B2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63" name="Shape 1"/>
          <p:cNvSpPr/>
          <p:nvPr/>
        </p:nvSpPr>
        <p:spPr>
          <a:xfrm>
            <a:off x="0" y="804600"/>
            <a:ext cx="12191040" cy="72360"/>
          </a:xfrm>
          <a:prstGeom prst="rect">
            <a:avLst/>
          </a:prstGeom>
          <a:solidFill>
            <a:srgbClr val="F5A21B"/>
          </a:solidFill>
          <a:ln w="12700">
            <a:solidFill>
              <a:srgbClr val="F5A21B"/>
            </a:solidFill>
            <a:round/>
          </a:ln>
        </p:spPr>
        <p:style>
          <a:lnRef idx="0"/>
          <a:fillRef idx="0"/>
          <a:effectRef idx="0"/>
          <a:fontRef idx="minor"/>
        </p:style>
        <p:txBody>
          <a:bodyPr lIns="90000" tIns="28080" rIns="90000" bIns="28080" anchor="t">
            <a:noAutofit/>
          </a:bodyPr>
          <a:p>
            <a:endParaRPr lang="en-US" sz="1800" b="0" u="none" strike="noStrike">
              <a:solidFill>
                <a:srgbClr val="000000"/>
              </a:solidFill>
              <a:effectLst/>
              <a:uFillTx/>
              <a:latin typeface="Arial"/>
            </a:endParaRPr>
          </a:p>
        </p:txBody>
      </p:sp>
      <p:sp>
        <p:nvSpPr>
          <p:cNvPr id="164" name="Text 2"/>
          <p:cNvSpPr/>
          <p:nvPr/>
        </p:nvSpPr>
        <p:spPr>
          <a:xfrm>
            <a:off x="475560" y="210240"/>
            <a:ext cx="960048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300" b="1" u="none" strike="noStrike">
                <a:solidFill>
                  <a:srgbClr val="FFFFFF"/>
                </a:solidFill>
                <a:effectLst/>
                <a:uFillTx/>
                <a:latin typeface="Aptos Display"/>
                <a:ea typeface="Aptos Display"/>
              </a:rPr>
              <a:t>2.2 Rationality Is Not Omniscience</a:t>
            </a:r>
            <a:endParaRPr lang="en-US" sz="2300" b="0" u="none" strike="noStrike">
              <a:solidFill>
                <a:srgbClr val="000000"/>
              </a:solidFill>
              <a:effectLst/>
              <a:uFillTx/>
              <a:latin typeface="Arial"/>
            </a:endParaRPr>
          </a:p>
        </p:txBody>
      </p:sp>
      <p:sp>
        <p:nvSpPr>
          <p:cNvPr id="165" name="Text 3"/>
          <p:cNvSpPr/>
          <p:nvPr/>
        </p:nvSpPr>
        <p:spPr>
          <a:xfrm>
            <a:off x="10241280" y="255960"/>
            <a:ext cx="13708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200" b="0" u="none" strike="noStrike">
                <a:solidFill>
                  <a:srgbClr val="DDE8F2"/>
                </a:solidFill>
                <a:effectLst/>
                <a:uFillTx/>
                <a:latin typeface="Aptos"/>
                <a:ea typeface="Aptos"/>
              </a:rPr>
              <a:t>2.2</a:t>
            </a:r>
            <a:endParaRPr lang="en-US" sz="1200" b="0" u="none" strike="noStrike">
              <a:solidFill>
                <a:srgbClr val="000000"/>
              </a:solidFill>
              <a:effectLst/>
              <a:uFillTx/>
              <a:latin typeface="Arial"/>
            </a:endParaRPr>
          </a:p>
        </p:txBody>
      </p:sp>
      <p:sp>
        <p:nvSpPr>
          <p:cNvPr id="166" name="Text 4"/>
          <p:cNvSpPr/>
          <p:nvPr/>
        </p:nvSpPr>
        <p:spPr>
          <a:xfrm>
            <a:off x="475560" y="6565320"/>
            <a:ext cx="274248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167" name="Text 5"/>
          <p:cNvSpPr/>
          <p:nvPr/>
        </p:nvSpPr>
        <p:spPr>
          <a:xfrm>
            <a:off x="11411640" y="6565320"/>
            <a:ext cx="273600" cy="163800"/>
          </a:xfrm>
          <a:prstGeom prst="rect">
            <a:avLst/>
          </a:prstGeom>
          <a:noFill/>
          <a:ln w="0">
            <a:noFill/>
          </a:ln>
        </p:spPr>
        <p:style>
          <a:lnRef idx="0"/>
          <a:fillRef idx="0"/>
          <a:effectRef idx="0"/>
          <a:fontRef idx="minor"/>
        </p:style>
        <p:txBody>
          <a:bodyPr lIns="0" tIns="0" rIns="0" bIns="0" anchor="ctr">
            <a:noAutofit/>
          </a:bodyPr>
          <a:p>
            <a:r>
              <a:t>9</a:t>
            </a:r>
          </a:p>
        </p:txBody>
      </p:sp>
      <p:sp>
        <p:nvSpPr>
          <p:cNvPr id="168" name="Shape 6"/>
          <p:cNvSpPr/>
          <p:nvPr/>
        </p:nvSpPr>
        <p:spPr>
          <a:xfrm>
            <a:off x="731520" y="1234440"/>
            <a:ext cx="3565440" cy="1233720"/>
          </a:xfrm>
          <a:prstGeom prst="roundRect">
            <a:avLst>
              <a:gd name="adj" fmla="val 4444"/>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69" name="Text 7"/>
          <p:cNvSpPr/>
          <p:nvPr/>
        </p:nvSpPr>
        <p:spPr>
          <a:xfrm>
            <a:off x="896040" y="1380600"/>
            <a:ext cx="323640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A32020"/>
                </a:solidFill>
                <a:effectLst/>
                <a:uFillTx/>
                <a:latin typeface="Aptos"/>
              </a:rPr>
              <a:t>Omniscience</a:t>
            </a:r>
            <a:endParaRPr lang="en-US" sz="1800" b="0" u="none" strike="noStrike">
              <a:solidFill>
                <a:srgbClr val="000000"/>
              </a:solidFill>
              <a:effectLst/>
              <a:uFillTx/>
              <a:latin typeface="Arial"/>
            </a:endParaRPr>
          </a:p>
        </p:txBody>
      </p:sp>
      <p:sp>
        <p:nvSpPr>
          <p:cNvPr id="170" name="Text 8"/>
          <p:cNvSpPr/>
          <p:nvPr/>
        </p:nvSpPr>
        <p:spPr>
          <a:xfrm>
            <a:off x="896040" y="1710000"/>
            <a:ext cx="3236400" cy="63936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300" b="0" u="none" strike="noStrike">
                <a:solidFill>
                  <a:srgbClr val="0B1F3A"/>
                </a:solidFill>
                <a:effectLst/>
                <a:uFillTx/>
                <a:latin typeface="Aptos"/>
              </a:rPr>
              <a:t>Knows the actual outcome of every action. Impossible in realistic environments.</a:t>
            </a:r>
            <a:endParaRPr lang="en-US" sz="1300" b="0" u="none" strike="noStrike">
              <a:solidFill>
                <a:srgbClr val="000000"/>
              </a:solidFill>
              <a:effectLst/>
              <a:uFillTx/>
              <a:latin typeface="Arial"/>
            </a:endParaRPr>
          </a:p>
        </p:txBody>
      </p:sp>
      <p:sp>
        <p:nvSpPr>
          <p:cNvPr id="171" name="Shape 9"/>
          <p:cNvSpPr/>
          <p:nvPr/>
        </p:nvSpPr>
        <p:spPr>
          <a:xfrm>
            <a:off x="4526280" y="1234440"/>
            <a:ext cx="3565440" cy="1233720"/>
          </a:xfrm>
          <a:prstGeom prst="roundRect">
            <a:avLst>
              <a:gd name="adj" fmla="val 4444"/>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72" name="Text 10"/>
          <p:cNvSpPr/>
          <p:nvPr/>
        </p:nvSpPr>
        <p:spPr>
          <a:xfrm>
            <a:off x="4690800" y="1380600"/>
            <a:ext cx="323640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2B6CB0"/>
                </a:solidFill>
                <a:effectLst/>
                <a:uFillTx/>
                <a:latin typeface="Aptos"/>
              </a:rPr>
              <a:t>Rationality</a:t>
            </a:r>
            <a:endParaRPr lang="en-US" sz="1800" b="0" u="none" strike="noStrike">
              <a:solidFill>
                <a:srgbClr val="000000"/>
              </a:solidFill>
              <a:effectLst/>
              <a:uFillTx/>
              <a:latin typeface="Arial"/>
            </a:endParaRPr>
          </a:p>
        </p:txBody>
      </p:sp>
      <p:sp>
        <p:nvSpPr>
          <p:cNvPr id="173" name="Text 11"/>
          <p:cNvSpPr/>
          <p:nvPr/>
        </p:nvSpPr>
        <p:spPr>
          <a:xfrm>
            <a:off x="4690800" y="1710000"/>
            <a:ext cx="3236400" cy="63936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300" b="0" u="none" strike="noStrike">
                <a:solidFill>
                  <a:srgbClr val="0B1F3A"/>
                </a:solidFill>
                <a:effectLst/>
                <a:uFillTx/>
                <a:latin typeface="Aptos"/>
              </a:rPr>
              <a:t>Chooses the action with best expected performance from available evidence.</a:t>
            </a:r>
            <a:endParaRPr lang="en-US" sz="1300" b="0" u="none" strike="noStrike">
              <a:solidFill>
                <a:srgbClr val="000000"/>
              </a:solidFill>
              <a:effectLst/>
              <a:uFillTx/>
              <a:latin typeface="Arial"/>
            </a:endParaRPr>
          </a:p>
        </p:txBody>
      </p:sp>
      <p:sp>
        <p:nvSpPr>
          <p:cNvPr id="174" name="Shape 12"/>
          <p:cNvSpPr/>
          <p:nvPr/>
        </p:nvSpPr>
        <p:spPr>
          <a:xfrm>
            <a:off x="8321040" y="1234440"/>
            <a:ext cx="3108240" cy="1233720"/>
          </a:xfrm>
          <a:prstGeom prst="roundRect">
            <a:avLst>
              <a:gd name="adj" fmla="val 4444"/>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75" name="Text 13"/>
          <p:cNvSpPr/>
          <p:nvPr/>
        </p:nvSpPr>
        <p:spPr>
          <a:xfrm>
            <a:off x="8485560" y="1380600"/>
            <a:ext cx="277920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1B7A45"/>
                </a:solidFill>
                <a:effectLst/>
                <a:uFillTx/>
                <a:latin typeface="Aptos"/>
              </a:rPr>
              <a:t>Autonomy</a:t>
            </a:r>
            <a:endParaRPr lang="en-US" sz="1800" b="0" u="none" strike="noStrike">
              <a:solidFill>
                <a:srgbClr val="000000"/>
              </a:solidFill>
              <a:effectLst/>
              <a:uFillTx/>
              <a:latin typeface="Arial"/>
            </a:endParaRPr>
          </a:p>
        </p:txBody>
      </p:sp>
      <p:sp>
        <p:nvSpPr>
          <p:cNvPr id="176" name="Text 14"/>
          <p:cNvSpPr/>
          <p:nvPr/>
        </p:nvSpPr>
        <p:spPr>
          <a:xfrm>
            <a:off x="8485560" y="1710000"/>
            <a:ext cx="2779200" cy="63936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300" b="0" u="none" strike="noStrike">
                <a:solidFill>
                  <a:srgbClr val="0B1F3A"/>
                </a:solidFill>
                <a:effectLst/>
                <a:uFillTx/>
                <a:latin typeface="Aptos"/>
              </a:rPr>
              <a:t>Learns from percepts rather than depending only on designer assumptions.</a:t>
            </a:r>
            <a:endParaRPr lang="en-US" sz="1300" b="0" u="none" strike="noStrike">
              <a:solidFill>
                <a:srgbClr val="000000"/>
              </a:solidFill>
              <a:effectLst/>
              <a:uFillTx/>
              <a:latin typeface="Arial"/>
            </a:endParaRPr>
          </a:p>
        </p:txBody>
      </p:sp>
      <p:sp>
        <p:nvSpPr>
          <p:cNvPr id="177" name="Shape 15"/>
          <p:cNvSpPr/>
          <p:nvPr/>
        </p:nvSpPr>
        <p:spPr>
          <a:xfrm>
            <a:off x="1554480" y="3794760"/>
            <a:ext cx="1142280" cy="1142280"/>
          </a:xfrm>
          <a:prstGeom prst="ellipse">
            <a:avLst/>
          </a:prstGeom>
          <a:solidFill>
            <a:srgbClr val="2B6CB0"/>
          </a:solidFill>
          <a:ln w="12700">
            <a:solidFill>
              <a:srgbClr val="2B6CB0"/>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78" name="Text 16"/>
          <p:cNvSpPr/>
          <p:nvPr/>
        </p:nvSpPr>
        <p:spPr>
          <a:xfrm>
            <a:off x="1554480" y="4133160"/>
            <a:ext cx="1142280" cy="227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Aptos"/>
              </a:rPr>
              <a:t>Look</a:t>
            </a:r>
            <a:endParaRPr lang="en-US" sz="1400" b="0" u="none" strike="noStrike">
              <a:solidFill>
                <a:srgbClr val="000000"/>
              </a:solidFill>
              <a:effectLst/>
              <a:uFillTx/>
              <a:latin typeface="Arial"/>
            </a:endParaRPr>
          </a:p>
        </p:txBody>
      </p:sp>
      <p:sp>
        <p:nvSpPr>
          <p:cNvPr id="179" name="Shape 17"/>
          <p:cNvSpPr/>
          <p:nvPr/>
        </p:nvSpPr>
        <p:spPr>
          <a:xfrm>
            <a:off x="2788920" y="4361400"/>
            <a:ext cx="1051560" cy="360"/>
          </a:xfrm>
          <a:prstGeom prst="line">
            <a:avLst/>
          </a:prstGeom>
          <a:ln w="17780">
            <a:solidFill>
              <a:srgbClr val="667085"/>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180" name="Shape 18"/>
          <p:cNvSpPr/>
          <p:nvPr/>
        </p:nvSpPr>
        <p:spPr>
          <a:xfrm>
            <a:off x="3977640" y="3794760"/>
            <a:ext cx="1142280" cy="1142280"/>
          </a:xfrm>
          <a:prstGeom prst="ellipse">
            <a:avLst/>
          </a:prstGeom>
          <a:solidFill>
            <a:srgbClr val="048A97"/>
          </a:solidFill>
          <a:ln w="12700">
            <a:solidFill>
              <a:srgbClr val="048A97"/>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81" name="Text 19"/>
          <p:cNvSpPr/>
          <p:nvPr/>
        </p:nvSpPr>
        <p:spPr>
          <a:xfrm>
            <a:off x="3977640" y="4133160"/>
            <a:ext cx="1142280" cy="227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Aptos"/>
              </a:rPr>
              <a:t>Learn</a:t>
            </a:r>
            <a:endParaRPr lang="en-US" sz="1400" b="0" u="none" strike="noStrike">
              <a:solidFill>
                <a:srgbClr val="000000"/>
              </a:solidFill>
              <a:effectLst/>
              <a:uFillTx/>
              <a:latin typeface="Arial"/>
            </a:endParaRPr>
          </a:p>
        </p:txBody>
      </p:sp>
      <p:sp>
        <p:nvSpPr>
          <p:cNvPr id="182" name="Shape 20"/>
          <p:cNvSpPr/>
          <p:nvPr/>
        </p:nvSpPr>
        <p:spPr>
          <a:xfrm>
            <a:off x="5212080" y="4361400"/>
            <a:ext cx="1051560" cy="360"/>
          </a:xfrm>
          <a:prstGeom prst="line">
            <a:avLst/>
          </a:prstGeom>
          <a:ln w="17780">
            <a:solidFill>
              <a:srgbClr val="667085"/>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183" name="Shape 21"/>
          <p:cNvSpPr/>
          <p:nvPr/>
        </p:nvSpPr>
        <p:spPr>
          <a:xfrm>
            <a:off x="6400800" y="3794760"/>
            <a:ext cx="1142280" cy="1142280"/>
          </a:xfrm>
          <a:prstGeom prst="ellipse">
            <a:avLst/>
          </a:prstGeom>
          <a:solidFill>
            <a:srgbClr val="F5A21B"/>
          </a:solidFill>
          <a:ln w="12700">
            <a:solidFill>
              <a:srgbClr val="F5A21B"/>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84" name="Text 22"/>
          <p:cNvSpPr/>
          <p:nvPr/>
        </p:nvSpPr>
        <p:spPr>
          <a:xfrm>
            <a:off x="6400800" y="4133160"/>
            <a:ext cx="1142280" cy="227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Aptos"/>
              </a:rPr>
              <a:t>Act</a:t>
            </a:r>
            <a:endParaRPr lang="en-US" sz="1400" b="0" u="none" strike="noStrike">
              <a:solidFill>
                <a:srgbClr val="000000"/>
              </a:solidFill>
              <a:effectLst/>
              <a:uFillTx/>
              <a:latin typeface="Arial"/>
            </a:endParaRPr>
          </a:p>
        </p:txBody>
      </p:sp>
      <p:sp>
        <p:nvSpPr>
          <p:cNvPr id="185" name="Shape 23"/>
          <p:cNvSpPr/>
          <p:nvPr/>
        </p:nvSpPr>
        <p:spPr>
          <a:xfrm>
            <a:off x="7635240" y="4361400"/>
            <a:ext cx="1051560" cy="360"/>
          </a:xfrm>
          <a:prstGeom prst="line">
            <a:avLst/>
          </a:prstGeom>
          <a:ln w="17780">
            <a:solidFill>
              <a:srgbClr val="667085"/>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186" name="Shape 24"/>
          <p:cNvSpPr/>
          <p:nvPr/>
        </p:nvSpPr>
        <p:spPr>
          <a:xfrm>
            <a:off x="8823960" y="3794760"/>
            <a:ext cx="1142280" cy="1142280"/>
          </a:xfrm>
          <a:prstGeom prst="ellipse">
            <a:avLst/>
          </a:prstGeom>
          <a:solidFill>
            <a:srgbClr val="1B7A45"/>
          </a:solidFill>
          <a:ln w="12700">
            <a:solidFill>
              <a:srgbClr val="1B7A45"/>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87" name="Text 25"/>
          <p:cNvSpPr/>
          <p:nvPr/>
        </p:nvSpPr>
        <p:spPr>
          <a:xfrm>
            <a:off x="8823960" y="4133160"/>
            <a:ext cx="1142280" cy="227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Aptos"/>
              </a:rPr>
              <a:t>Improve</a:t>
            </a:r>
            <a:endParaRPr lang="en-US" sz="1400" b="0" u="none" strike="noStrike">
              <a:solidFill>
                <a:srgbClr val="000000"/>
              </a:solidFill>
              <a:effectLst/>
              <a:uFillTx/>
              <a:latin typeface="Arial"/>
            </a:endParaRPr>
          </a:p>
        </p:txBody>
      </p:sp>
      <p:sp>
        <p:nvSpPr>
          <p:cNvPr id="188" name="Text 26"/>
          <p:cNvSpPr/>
          <p:nvPr/>
        </p:nvSpPr>
        <p:spPr>
          <a:xfrm>
            <a:off x="914400" y="5257800"/>
            <a:ext cx="10332000" cy="410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0B2B5C"/>
                </a:solidFill>
                <a:effectLst/>
                <a:uFillTx/>
                <a:latin typeface="Aptos"/>
              </a:rPr>
              <a:t>Information gathering is rational when better percepts improve later decisions.</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6FA"/>
        </a:solidFill>
      </p:bgPr>
    </p:bg>
    <p:spTree>
      <p:nvGrpSpPr>
        <p:cNvPr id="1" name=""/>
        <p:cNvGrpSpPr/>
        <p:nvPr/>
      </p:nvGrpSpPr>
      <p:grpSpPr>
        <a:xfrm>
          <a:off x="0" y="0"/>
          <a:ext cx="0" cy="0"/>
          <a:chOff x="0" y="0"/>
          <a:chExt cx="0" cy="0"/>
        </a:xfrm>
      </p:grpSpPr>
      <p:sp>
        <p:nvSpPr>
          <p:cNvPr id="189" name="Shape 0"/>
          <p:cNvSpPr/>
          <p:nvPr/>
        </p:nvSpPr>
        <p:spPr>
          <a:xfrm>
            <a:off x="0" y="0"/>
            <a:ext cx="12191040" cy="803880"/>
          </a:xfrm>
          <a:prstGeom prst="rect">
            <a:avLst/>
          </a:prstGeom>
          <a:solidFill>
            <a:srgbClr val="0B2B5C"/>
          </a:solidFill>
          <a:ln w="12700">
            <a:solidFill>
              <a:srgbClr val="0B2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90" name="Shape 1"/>
          <p:cNvSpPr/>
          <p:nvPr/>
        </p:nvSpPr>
        <p:spPr>
          <a:xfrm>
            <a:off x="0" y="804600"/>
            <a:ext cx="12191040" cy="72360"/>
          </a:xfrm>
          <a:prstGeom prst="rect">
            <a:avLst/>
          </a:prstGeom>
          <a:solidFill>
            <a:srgbClr val="F5A21B"/>
          </a:solidFill>
          <a:ln w="12700">
            <a:solidFill>
              <a:srgbClr val="F5A21B"/>
            </a:solidFill>
            <a:round/>
          </a:ln>
        </p:spPr>
        <p:style>
          <a:lnRef idx="0"/>
          <a:fillRef idx="0"/>
          <a:effectRef idx="0"/>
          <a:fontRef idx="minor"/>
        </p:style>
        <p:txBody>
          <a:bodyPr lIns="90000" tIns="28080" rIns="90000" bIns="28080" anchor="t">
            <a:noAutofit/>
          </a:bodyPr>
          <a:p>
            <a:endParaRPr lang="en-US" sz="1800" b="0" u="none" strike="noStrike">
              <a:solidFill>
                <a:srgbClr val="000000"/>
              </a:solidFill>
              <a:effectLst/>
              <a:uFillTx/>
              <a:latin typeface="Arial"/>
            </a:endParaRPr>
          </a:p>
        </p:txBody>
      </p:sp>
      <p:sp>
        <p:nvSpPr>
          <p:cNvPr id="191" name="Text 2"/>
          <p:cNvSpPr/>
          <p:nvPr/>
        </p:nvSpPr>
        <p:spPr>
          <a:xfrm>
            <a:off x="475560" y="210240"/>
            <a:ext cx="960048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300" b="1" u="none" strike="noStrike">
                <a:solidFill>
                  <a:srgbClr val="FFFFFF"/>
                </a:solidFill>
                <a:effectLst/>
                <a:uFillTx/>
                <a:latin typeface="Aptos Display"/>
                <a:ea typeface="Aptos Display"/>
              </a:rPr>
              <a:t>2.3.1 PEAS: Specify the Task Before Designing the Agent</a:t>
            </a:r>
            <a:endParaRPr lang="en-US" sz="2300" b="0" u="none" strike="noStrike">
              <a:solidFill>
                <a:srgbClr val="000000"/>
              </a:solidFill>
              <a:effectLst/>
              <a:uFillTx/>
              <a:latin typeface="Arial"/>
            </a:endParaRPr>
          </a:p>
        </p:txBody>
      </p:sp>
      <p:sp>
        <p:nvSpPr>
          <p:cNvPr id="192" name="Text 3"/>
          <p:cNvSpPr/>
          <p:nvPr/>
        </p:nvSpPr>
        <p:spPr>
          <a:xfrm>
            <a:off x="10241280" y="255960"/>
            <a:ext cx="13708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200" b="0" u="none" strike="noStrike">
                <a:solidFill>
                  <a:srgbClr val="DDE8F2"/>
                </a:solidFill>
                <a:effectLst/>
                <a:uFillTx/>
                <a:latin typeface="Aptos"/>
                <a:ea typeface="Aptos"/>
              </a:rPr>
              <a:t>2.3.1</a:t>
            </a:r>
            <a:endParaRPr lang="en-US" sz="1200" b="0" u="none" strike="noStrike">
              <a:solidFill>
                <a:srgbClr val="000000"/>
              </a:solidFill>
              <a:effectLst/>
              <a:uFillTx/>
              <a:latin typeface="Arial"/>
            </a:endParaRPr>
          </a:p>
        </p:txBody>
      </p:sp>
      <p:sp>
        <p:nvSpPr>
          <p:cNvPr id="193" name="Text 4"/>
          <p:cNvSpPr/>
          <p:nvPr/>
        </p:nvSpPr>
        <p:spPr>
          <a:xfrm>
            <a:off x="475560" y="6565320"/>
            <a:ext cx="274248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194" name="Text 5"/>
          <p:cNvSpPr/>
          <p:nvPr/>
        </p:nvSpPr>
        <p:spPr>
          <a:xfrm>
            <a:off x="11411640" y="6565320"/>
            <a:ext cx="273600" cy="163800"/>
          </a:xfrm>
          <a:prstGeom prst="rect">
            <a:avLst/>
          </a:prstGeom>
          <a:noFill/>
          <a:ln w="0">
            <a:noFill/>
          </a:ln>
        </p:spPr>
        <p:style>
          <a:lnRef idx="0"/>
          <a:fillRef idx="0"/>
          <a:effectRef idx="0"/>
          <a:fontRef idx="minor"/>
        </p:style>
        <p:txBody>
          <a:bodyPr lIns="0" tIns="0" rIns="0" bIns="0" anchor="ctr">
            <a:noAutofit/>
          </a:bodyPr>
          <a:p>
            <a:r>
              <a:t>10</a:t>
            </a:r>
          </a:p>
        </p:txBody>
      </p:sp>
      <p:sp>
        <p:nvSpPr>
          <p:cNvPr id="195" name="Text 6"/>
          <p:cNvSpPr/>
          <p:nvPr/>
        </p:nvSpPr>
        <p:spPr>
          <a:xfrm>
            <a:off x="777240" y="1078920"/>
            <a:ext cx="10697760" cy="319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100" b="1" u="none" strike="noStrike">
                <a:solidFill>
                  <a:srgbClr val="0B2B5C"/>
                </a:solidFill>
                <a:effectLst/>
                <a:uFillTx/>
                <a:latin typeface="Aptos"/>
              </a:rPr>
              <a:t>PEAS = Performance measure, Environment, Actuators, Sensors</a:t>
            </a:r>
            <a:endParaRPr lang="en-US" sz="2100" b="0" u="none" strike="noStrike">
              <a:solidFill>
                <a:srgbClr val="000000"/>
              </a:solidFill>
              <a:effectLst/>
              <a:uFillTx/>
              <a:latin typeface="Arial"/>
            </a:endParaRPr>
          </a:p>
        </p:txBody>
      </p:sp>
      <p:sp>
        <p:nvSpPr>
          <p:cNvPr id="196" name="Shape 7"/>
          <p:cNvSpPr/>
          <p:nvPr/>
        </p:nvSpPr>
        <p:spPr>
          <a:xfrm>
            <a:off x="704160" y="1828800"/>
            <a:ext cx="685080" cy="685080"/>
          </a:xfrm>
          <a:prstGeom prst="ellipse">
            <a:avLst/>
          </a:prstGeom>
          <a:solidFill>
            <a:srgbClr val="2B6CB0"/>
          </a:solidFill>
          <a:ln w="12700">
            <a:solidFill>
              <a:srgbClr val="2B6CB0"/>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97" name="Text 8"/>
          <p:cNvSpPr/>
          <p:nvPr/>
        </p:nvSpPr>
        <p:spPr>
          <a:xfrm>
            <a:off x="704160" y="2002680"/>
            <a:ext cx="685080" cy="227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FFFFFF"/>
                </a:solidFill>
                <a:effectLst/>
                <a:uFillTx/>
                <a:latin typeface="Aptos"/>
              </a:rPr>
              <a:t>P</a:t>
            </a:r>
            <a:endParaRPr lang="en-US" sz="1800" b="0" u="none" strike="noStrike">
              <a:solidFill>
                <a:srgbClr val="000000"/>
              </a:solidFill>
              <a:effectLst/>
              <a:uFillTx/>
              <a:latin typeface="Arial"/>
            </a:endParaRPr>
          </a:p>
        </p:txBody>
      </p:sp>
      <p:sp>
        <p:nvSpPr>
          <p:cNvPr id="198" name="Shape 9"/>
          <p:cNvSpPr/>
          <p:nvPr/>
        </p:nvSpPr>
        <p:spPr>
          <a:xfrm>
            <a:off x="658440" y="2697480"/>
            <a:ext cx="2513880" cy="1462320"/>
          </a:xfrm>
          <a:prstGeom prst="roundRect">
            <a:avLst>
              <a:gd name="adj" fmla="val 3750"/>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99" name="Text 10"/>
          <p:cNvSpPr/>
          <p:nvPr/>
        </p:nvSpPr>
        <p:spPr>
          <a:xfrm>
            <a:off x="822960" y="2843640"/>
            <a:ext cx="218484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2B6CB0"/>
                </a:solidFill>
                <a:effectLst/>
                <a:uFillTx/>
                <a:latin typeface="Aptos"/>
              </a:rPr>
              <a:t>Performance</a:t>
            </a:r>
            <a:endParaRPr lang="en-US" sz="1600" b="0" u="none" strike="noStrike">
              <a:solidFill>
                <a:srgbClr val="000000"/>
              </a:solidFill>
              <a:effectLst/>
              <a:uFillTx/>
              <a:latin typeface="Arial"/>
            </a:endParaRPr>
          </a:p>
        </p:txBody>
      </p:sp>
      <p:sp>
        <p:nvSpPr>
          <p:cNvPr id="200" name="Text 11"/>
          <p:cNvSpPr/>
          <p:nvPr/>
        </p:nvSpPr>
        <p:spPr>
          <a:xfrm>
            <a:off x="822960" y="3173040"/>
            <a:ext cx="2184840" cy="86796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250" b="0" u="none" strike="noStrike">
                <a:solidFill>
                  <a:srgbClr val="0B1F3A"/>
                </a:solidFill>
                <a:effectLst/>
                <a:uFillTx/>
                <a:latin typeface="Aptos"/>
              </a:rPr>
              <a:t>Safe, fast, legal, comfortable trip; minimize time/cost; maximize profit</a:t>
            </a:r>
            <a:endParaRPr lang="en-US" sz="1250" b="0" u="none" strike="noStrike">
              <a:solidFill>
                <a:srgbClr val="000000"/>
              </a:solidFill>
              <a:effectLst/>
              <a:uFillTx/>
              <a:latin typeface="Arial"/>
            </a:endParaRPr>
          </a:p>
        </p:txBody>
      </p:sp>
      <p:sp>
        <p:nvSpPr>
          <p:cNvPr id="201" name="Shape 12"/>
          <p:cNvSpPr/>
          <p:nvPr/>
        </p:nvSpPr>
        <p:spPr>
          <a:xfrm>
            <a:off x="3584520" y="1828800"/>
            <a:ext cx="685080" cy="685080"/>
          </a:xfrm>
          <a:prstGeom prst="ellipse">
            <a:avLst/>
          </a:prstGeom>
          <a:solidFill>
            <a:srgbClr val="048A97"/>
          </a:solidFill>
          <a:ln w="12700">
            <a:solidFill>
              <a:srgbClr val="048A97"/>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02" name="Text 13"/>
          <p:cNvSpPr/>
          <p:nvPr/>
        </p:nvSpPr>
        <p:spPr>
          <a:xfrm>
            <a:off x="3584520" y="2002680"/>
            <a:ext cx="685080" cy="227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FFFFFF"/>
                </a:solidFill>
                <a:effectLst/>
                <a:uFillTx/>
                <a:latin typeface="Aptos"/>
              </a:rPr>
              <a:t>E</a:t>
            </a:r>
            <a:endParaRPr lang="en-US" sz="1800" b="0" u="none" strike="noStrike">
              <a:solidFill>
                <a:srgbClr val="000000"/>
              </a:solidFill>
              <a:effectLst/>
              <a:uFillTx/>
              <a:latin typeface="Arial"/>
            </a:endParaRPr>
          </a:p>
        </p:txBody>
      </p:sp>
      <p:sp>
        <p:nvSpPr>
          <p:cNvPr id="203" name="Shape 14"/>
          <p:cNvSpPr/>
          <p:nvPr/>
        </p:nvSpPr>
        <p:spPr>
          <a:xfrm>
            <a:off x="3538800" y="2697480"/>
            <a:ext cx="2513880" cy="1462320"/>
          </a:xfrm>
          <a:prstGeom prst="roundRect">
            <a:avLst>
              <a:gd name="adj" fmla="val 3750"/>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04" name="Text 15"/>
          <p:cNvSpPr/>
          <p:nvPr/>
        </p:nvSpPr>
        <p:spPr>
          <a:xfrm>
            <a:off x="3703320" y="2843640"/>
            <a:ext cx="218484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048A97"/>
                </a:solidFill>
                <a:effectLst/>
                <a:uFillTx/>
                <a:latin typeface="Aptos"/>
              </a:rPr>
              <a:t>Environment</a:t>
            </a:r>
            <a:endParaRPr lang="en-US" sz="1600" b="0" u="none" strike="noStrike">
              <a:solidFill>
                <a:srgbClr val="000000"/>
              </a:solidFill>
              <a:effectLst/>
              <a:uFillTx/>
              <a:latin typeface="Arial"/>
            </a:endParaRPr>
          </a:p>
        </p:txBody>
      </p:sp>
      <p:sp>
        <p:nvSpPr>
          <p:cNvPr id="205" name="Text 16"/>
          <p:cNvSpPr/>
          <p:nvPr/>
        </p:nvSpPr>
        <p:spPr>
          <a:xfrm>
            <a:off x="3703320" y="3173040"/>
            <a:ext cx="2184840" cy="86796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250" b="0" u="none" strike="noStrike">
                <a:solidFill>
                  <a:srgbClr val="0B1F3A"/>
                </a:solidFill>
                <a:effectLst/>
                <a:uFillTx/>
                <a:latin typeface="Aptos"/>
              </a:rPr>
              <a:t>Roads, traffic, pedestrians, weather, passengers, police, construction</a:t>
            </a:r>
            <a:endParaRPr lang="en-US" sz="1250" b="0" u="none" strike="noStrike">
              <a:solidFill>
                <a:srgbClr val="000000"/>
              </a:solidFill>
              <a:effectLst/>
              <a:uFillTx/>
              <a:latin typeface="Arial"/>
            </a:endParaRPr>
          </a:p>
        </p:txBody>
      </p:sp>
      <p:sp>
        <p:nvSpPr>
          <p:cNvPr id="206" name="Shape 17"/>
          <p:cNvSpPr/>
          <p:nvPr/>
        </p:nvSpPr>
        <p:spPr>
          <a:xfrm>
            <a:off x="6464880" y="1828800"/>
            <a:ext cx="685080" cy="685080"/>
          </a:xfrm>
          <a:prstGeom prst="ellipse">
            <a:avLst/>
          </a:prstGeom>
          <a:solidFill>
            <a:srgbClr val="F5A21B"/>
          </a:solidFill>
          <a:ln w="12700">
            <a:solidFill>
              <a:srgbClr val="F5A21B"/>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07" name="Text 18"/>
          <p:cNvSpPr/>
          <p:nvPr/>
        </p:nvSpPr>
        <p:spPr>
          <a:xfrm>
            <a:off x="6464880" y="2002680"/>
            <a:ext cx="685080" cy="227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FFFFFF"/>
                </a:solidFill>
                <a:effectLst/>
                <a:uFillTx/>
                <a:latin typeface="Aptos"/>
              </a:rPr>
              <a:t>A</a:t>
            </a:r>
            <a:endParaRPr lang="en-US" sz="1800" b="0" u="none" strike="noStrike">
              <a:solidFill>
                <a:srgbClr val="000000"/>
              </a:solidFill>
              <a:effectLst/>
              <a:uFillTx/>
              <a:latin typeface="Arial"/>
            </a:endParaRPr>
          </a:p>
        </p:txBody>
      </p:sp>
      <p:sp>
        <p:nvSpPr>
          <p:cNvPr id="208" name="Shape 19"/>
          <p:cNvSpPr/>
          <p:nvPr/>
        </p:nvSpPr>
        <p:spPr>
          <a:xfrm>
            <a:off x="6419160" y="2697480"/>
            <a:ext cx="2513880" cy="1462320"/>
          </a:xfrm>
          <a:prstGeom prst="roundRect">
            <a:avLst>
              <a:gd name="adj" fmla="val 3750"/>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09" name="Text 20"/>
          <p:cNvSpPr/>
          <p:nvPr/>
        </p:nvSpPr>
        <p:spPr>
          <a:xfrm>
            <a:off x="6583680" y="2843640"/>
            <a:ext cx="218484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F5A21B"/>
                </a:solidFill>
                <a:effectLst/>
                <a:uFillTx/>
                <a:latin typeface="Aptos"/>
              </a:rPr>
              <a:t>Actuators</a:t>
            </a:r>
            <a:endParaRPr lang="en-US" sz="1600" b="0" u="none" strike="noStrike">
              <a:solidFill>
                <a:srgbClr val="000000"/>
              </a:solidFill>
              <a:effectLst/>
              <a:uFillTx/>
              <a:latin typeface="Arial"/>
            </a:endParaRPr>
          </a:p>
        </p:txBody>
      </p:sp>
      <p:sp>
        <p:nvSpPr>
          <p:cNvPr id="210" name="Text 21"/>
          <p:cNvSpPr/>
          <p:nvPr/>
        </p:nvSpPr>
        <p:spPr>
          <a:xfrm>
            <a:off x="6583680" y="3173040"/>
            <a:ext cx="2184840" cy="86796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250" b="0" u="none" strike="noStrike">
                <a:solidFill>
                  <a:srgbClr val="0B1F3A"/>
                </a:solidFill>
                <a:effectLst/>
                <a:uFillTx/>
                <a:latin typeface="Aptos"/>
              </a:rPr>
              <a:t>Steering, accelerator, brake, signals, display, speech</a:t>
            </a:r>
            <a:endParaRPr lang="en-US" sz="1250" b="0" u="none" strike="noStrike">
              <a:solidFill>
                <a:srgbClr val="000000"/>
              </a:solidFill>
              <a:effectLst/>
              <a:uFillTx/>
              <a:latin typeface="Arial"/>
            </a:endParaRPr>
          </a:p>
        </p:txBody>
      </p:sp>
      <p:sp>
        <p:nvSpPr>
          <p:cNvPr id="211" name="Shape 22"/>
          <p:cNvSpPr/>
          <p:nvPr/>
        </p:nvSpPr>
        <p:spPr>
          <a:xfrm>
            <a:off x="9345240" y="1828800"/>
            <a:ext cx="685080" cy="685080"/>
          </a:xfrm>
          <a:prstGeom prst="ellipse">
            <a:avLst/>
          </a:prstGeom>
          <a:solidFill>
            <a:srgbClr val="1B7A45"/>
          </a:solidFill>
          <a:ln w="12700">
            <a:solidFill>
              <a:srgbClr val="1B7A45"/>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12" name="Text 23"/>
          <p:cNvSpPr/>
          <p:nvPr/>
        </p:nvSpPr>
        <p:spPr>
          <a:xfrm>
            <a:off x="9345240" y="2002680"/>
            <a:ext cx="685080" cy="227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FFFFFF"/>
                </a:solidFill>
                <a:effectLst/>
                <a:uFillTx/>
                <a:latin typeface="Aptos"/>
              </a:rPr>
              <a:t>S</a:t>
            </a:r>
            <a:endParaRPr lang="en-US" sz="1800" b="0" u="none" strike="noStrike">
              <a:solidFill>
                <a:srgbClr val="000000"/>
              </a:solidFill>
              <a:effectLst/>
              <a:uFillTx/>
              <a:latin typeface="Arial"/>
            </a:endParaRPr>
          </a:p>
        </p:txBody>
      </p:sp>
      <p:sp>
        <p:nvSpPr>
          <p:cNvPr id="213" name="Shape 24"/>
          <p:cNvSpPr/>
          <p:nvPr/>
        </p:nvSpPr>
        <p:spPr>
          <a:xfrm>
            <a:off x="9299520" y="2697480"/>
            <a:ext cx="2513880" cy="1462320"/>
          </a:xfrm>
          <a:prstGeom prst="roundRect">
            <a:avLst>
              <a:gd name="adj" fmla="val 3750"/>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14" name="Text 25"/>
          <p:cNvSpPr/>
          <p:nvPr/>
        </p:nvSpPr>
        <p:spPr>
          <a:xfrm>
            <a:off x="9464040" y="2843640"/>
            <a:ext cx="218484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1B7A45"/>
                </a:solidFill>
                <a:effectLst/>
                <a:uFillTx/>
                <a:latin typeface="Aptos"/>
              </a:rPr>
              <a:t>Sensors</a:t>
            </a:r>
            <a:endParaRPr lang="en-US" sz="1600" b="0" u="none" strike="noStrike">
              <a:solidFill>
                <a:srgbClr val="000000"/>
              </a:solidFill>
              <a:effectLst/>
              <a:uFillTx/>
              <a:latin typeface="Arial"/>
            </a:endParaRPr>
          </a:p>
        </p:txBody>
      </p:sp>
      <p:sp>
        <p:nvSpPr>
          <p:cNvPr id="215" name="Text 26"/>
          <p:cNvSpPr/>
          <p:nvPr/>
        </p:nvSpPr>
        <p:spPr>
          <a:xfrm>
            <a:off x="9464040" y="3173040"/>
            <a:ext cx="2184840" cy="86796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250" b="0" u="none" strike="noStrike">
                <a:solidFill>
                  <a:srgbClr val="0B1F3A"/>
                </a:solidFill>
                <a:effectLst/>
                <a:uFillTx/>
                <a:latin typeface="Aptos"/>
              </a:rPr>
              <a:t>Cameras, lidar, radar, GPS, speedometer, engine sensors, voice/touch input</a:t>
            </a:r>
            <a:endParaRPr lang="en-US" sz="1250" b="0" u="none" strike="noStrike">
              <a:solidFill>
                <a:srgbClr val="000000"/>
              </a:solidFill>
              <a:effectLst/>
              <a:uFillTx/>
              <a:latin typeface="Arial"/>
            </a:endParaRPr>
          </a:p>
        </p:txBody>
      </p:sp>
      <p:pic>
        <p:nvPicPr>
          <p:cNvPr id="216" name="Image 0" descr="/mnt/data/ch2_docx_unzipped/word/media/image3.png"/>
          <p:cNvPicPr/>
          <p:nvPr/>
        </p:nvPicPr>
        <p:blipFill>
          <a:blip r:embed="rId1"/>
          <a:stretch/>
        </p:blipFill>
        <p:spPr>
          <a:xfrm>
            <a:off x="4896360" y="4572000"/>
            <a:ext cx="2367720" cy="1142280"/>
          </a:xfrm>
          <a:prstGeom prst="rect">
            <a:avLst/>
          </a:prstGeom>
          <a:noFill/>
          <a:ln w="0">
            <a:noFill/>
          </a:ln>
        </p:spPr>
      </p:pic>
      <p:sp>
        <p:nvSpPr>
          <p:cNvPr id="217" name="Text 27"/>
          <p:cNvSpPr/>
          <p:nvPr/>
        </p:nvSpPr>
        <p:spPr>
          <a:xfrm>
            <a:off x="777240" y="5897880"/>
            <a:ext cx="10697760" cy="319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0B2B5C"/>
                </a:solidFill>
                <a:effectLst/>
                <a:uFillTx/>
                <a:latin typeface="Aptos"/>
              </a:rPr>
              <a:t>Design rule: specify the task environment as fully as possible first.</a:t>
            </a:r>
            <a:endParaRPr lang="en-US" sz="1800" b="0" u="none" strike="noStrike">
              <a:solidFill>
                <a:srgbClr val="000000"/>
              </a:solidFill>
              <a:effectLst/>
              <a:uFillTx/>
              <a:latin typeface="Arial"/>
            </a:endParaRPr>
          </a:p>
        </p:txBody>
      </p:sp>
      <p:sp>
        <p:nvSpPr>
          <p:cNvPr id="218" name="Text 28"/>
          <p:cNvSpPr/>
          <p:nvPr/>
        </p:nvSpPr>
        <p:spPr>
          <a:xfrm>
            <a:off x="9326880" y="6364080"/>
            <a:ext cx="2376720" cy="163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750" b="0" u="none" strike="noStrike">
                <a:solidFill>
                  <a:srgbClr val="5E7088"/>
                </a:solidFill>
                <a:effectLst/>
                <a:uFillTx/>
                <a:latin typeface="Aptos"/>
              </a:rPr>
              <a:t>Figure 2.4</a:t>
            </a:r>
            <a:endParaRPr lang="en-US" sz="7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6FA"/>
        </a:solidFill>
      </p:bgPr>
    </p:bg>
    <p:spTree>
      <p:nvGrpSpPr>
        <p:cNvPr id="1" name=""/>
        <p:cNvGrpSpPr/>
        <p:nvPr/>
      </p:nvGrpSpPr>
      <p:grpSpPr>
        <a:xfrm>
          <a:off x="0" y="0"/>
          <a:ext cx="0" cy="0"/>
          <a:chOff x="0" y="0"/>
          <a:chExt cx="0" cy="0"/>
        </a:xfrm>
      </p:grpSpPr>
      <p:sp>
        <p:nvSpPr>
          <p:cNvPr id="219" name="Shape 0"/>
          <p:cNvSpPr/>
          <p:nvPr/>
        </p:nvSpPr>
        <p:spPr>
          <a:xfrm>
            <a:off x="0" y="0"/>
            <a:ext cx="12191040" cy="803880"/>
          </a:xfrm>
          <a:prstGeom prst="rect">
            <a:avLst/>
          </a:prstGeom>
          <a:solidFill>
            <a:srgbClr val="0B2B5C"/>
          </a:solidFill>
          <a:ln w="12700">
            <a:solidFill>
              <a:srgbClr val="0B2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20" name="Shape 1"/>
          <p:cNvSpPr/>
          <p:nvPr/>
        </p:nvSpPr>
        <p:spPr>
          <a:xfrm>
            <a:off x="0" y="804600"/>
            <a:ext cx="12191040" cy="72360"/>
          </a:xfrm>
          <a:prstGeom prst="rect">
            <a:avLst/>
          </a:prstGeom>
          <a:solidFill>
            <a:srgbClr val="F5A21B"/>
          </a:solidFill>
          <a:ln w="12700">
            <a:solidFill>
              <a:srgbClr val="F5A21B"/>
            </a:solidFill>
            <a:round/>
          </a:ln>
        </p:spPr>
        <p:style>
          <a:lnRef idx="0"/>
          <a:fillRef idx="0"/>
          <a:effectRef idx="0"/>
          <a:fontRef idx="minor"/>
        </p:style>
        <p:txBody>
          <a:bodyPr lIns="90000" tIns="28080" rIns="90000" bIns="28080" anchor="t">
            <a:noAutofit/>
          </a:bodyPr>
          <a:p>
            <a:endParaRPr lang="en-US" sz="1800" b="0" u="none" strike="noStrike">
              <a:solidFill>
                <a:srgbClr val="000000"/>
              </a:solidFill>
              <a:effectLst/>
              <a:uFillTx/>
              <a:latin typeface="Arial"/>
            </a:endParaRPr>
          </a:p>
        </p:txBody>
      </p:sp>
      <p:sp>
        <p:nvSpPr>
          <p:cNvPr id="221" name="Text 2"/>
          <p:cNvSpPr/>
          <p:nvPr/>
        </p:nvSpPr>
        <p:spPr>
          <a:xfrm>
            <a:off x="475560" y="210240"/>
            <a:ext cx="960048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300" b="1" u="none" strike="noStrike">
                <a:solidFill>
                  <a:srgbClr val="FFFFFF"/>
                </a:solidFill>
                <a:effectLst/>
                <a:uFillTx/>
                <a:latin typeface="Aptos Display"/>
                <a:ea typeface="Aptos Display"/>
              </a:rPr>
              <a:t>2.3.1 PEAS Examples: Agent Types and Task Environments</a:t>
            </a:r>
            <a:endParaRPr lang="en-US" sz="2300" b="0" u="none" strike="noStrike">
              <a:solidFill>
                <a:srgbClr val="000000"/>
              </a:solidFill>
              <a:effectLst/>
              <a:uFillTx/>
              <a:latin typeface="Arial"/>
            </a:endParaRPr>
          </a:p>
        </p:txBody>
      </p:sp>
      <p:sp>
        <p:nvSpPr>
          <p:cNvPr id="222" name="Text 3"/>
          <p:cNvSpPr/>
          <p:nvPr/>
        </p:nvSpPr>
        <p:spPr>
          <a:xfrm>
            <a:off x="10241280" y="255960"/>
            <a:ext cx="13708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200" b="0" u="none" strike="noStrike">
                <a:solidFill>
                  <a:srgbClr val="DDE8F2"/>
                </a:solidFill>
                <a:effectLst/>
                <a:uFillTx/>
                <a:latin typeface="Aptos"/>
                <a:ea typeface="Aptos"/>
              </a:rPr>
              <a:t>2.3.1</a:t>
            </a:r>
            <a:endParaRPr lang="en-US" sz="1200" b="0" u="none" strike="noStrike">
              <a:solidFill>
                <a:srgbClr val="000000"/>
              </a:solidFill>
              <a:effectLst/>
              <a:uFillTx/>
              <a:latin typeface="Arial"/>
            </a:endParaRPr>
          </a:p>
        </p:txBody>
      </p:sp>
      <p:sp>
        <p:nvSpPr>
          <p:cNvPr id="223" name="Text 4"/>
          <p:cNvSpPr/>
          <p:nvPr/>
        </p:nvSpPr>
        <p:spPr>
          <a:xfrm>
            <a:off x="475560" y="6565320"/>
            <a:ext cx="274248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224" name="Text 5"/>
          <p:cNvSpPr/>
          <p:nvPr/>
        </p:nvSpPr>
        <p:spPr>
          <a:xfrm>
            <a:off x="11411640" y="6565320"/>
            <a:ext cx="273600" cy="163800"/>
          </a:xfrm>
          <a:prstGeom prst="rect">
            <a:avLst/>
          </a:prstGeom>
          <a:noFill/>
          <a:ln w="0">
            <a:noFill/>
          </a:ln>
        </p:spPr>
        <p:style>
          <a:lnRef idx="0"/>
          <a:fillRef idx="0"/>
          <a:effectRef idx="0"/>
          <a:fontRef idx="minor"/>
        </p:style>
        <p:txBody>
          <a:bodyPr lIns="0" tIns="0" rIns="0" bIns="0" anchor="ctr">
            <a:noAutofit/>
          </a:bodyPr>
          <a:p>
            <a:r>
              <a:t>11</a:t>
            </a:r>
          </a:p>
        </p:txBody>
      </p:sp>
      <p:sp>
        <p:nvSpPr>
          <p:cNvPr id="225" name="Text 6"/>
          <p:cNvSpPr/>
          <p:nvPr/>
        </p:nvSpPr>
        <p:spPr>
          <a:xfrm>
            <a:off x="685800" y="1060560"/>
            <a:ext cx="10880640" cy="383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750" b="1" u="none" strike="noStrike">
                <a:solidFill>
                  <a:srgbClr val="0B2B5C"/>
                </a:solidFill>
                <a:effectLst/>
                <a:uFillTx/>
                <a:latin typeface="Aptos"/>
              </a:rPr>
              <a:t>PEAS forces the designer to specify success, the world, available actions, and perceptual inputs before choosing an algorithm.</a:t>
            </a:r>
            <a:endParaRPr lang="en-US" sz="1750" b="0" u="none" strike="noStrike">
              <a:solidFill>
                <a:srgbClr val="000000"/>
              </a:solidFill>
              <a:effectLst/>
              <a:uFillTx/>
              <a:latin typeface="Arial"/>
            </a:endParaRPr>
          </a:p>
        </p:txBody>
      </p:sp>
      <p:pic>
        <p:nvPicPr>
          <p:cNvPr id="226" name="Image 0" descr="/mnt/data/ch2_docx_unzipped/word/media/image4.png"/>
          <p:cNvPicPr/>
          <p:nvPr/>
        </p:nvPicPr>
        <p:blipFill>
          <a:blip r:embed="rId1"/>
          <a:stretch/>
        </p:blipFill>
        <p:spPr>
          <a:xfrm>
            <a:off x="3657600" y="1691640"/>
            <a:ext cx="4692960" cy="4056480"/>
          </a:xfrm>
          <a:prstGeom prst="rect">
            <a:avLst/>
          </a:prstGeom>
          <a:noFill/>
          <a:ln w="0">
            <a:noFill/>
          </a:ln>
        </p:spPr>
      </p:pic>
      <p:sp>
        <p:nvSpPr>
          <p:cNvPr id="227" name="Text 7"/>
          <p:cNvSpPr/>
          <p:nvPr/>
        </p:nvSpPr>
        <p:spPr>
          <a:xfrm>
            <a:off x="822960" y="5806440"/>
            <a:ext cx="10560600" cy="310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0B2B5C"/>
                </a:solidFill>
                <a:effectLst/>
                <a:uFillTx/>
                <a:latin typeface="Aptos"/>
              </a:rPr>
              <a:t>Design checkpoint: if PEAS is vague, the agent design will be vague.</a:t>
            </a:r>
            <a:endParaRPr lang="en-US" sz="1800" b="0" u="none" strike="noStrike">
              <a:solidFill>
                <a:srgbClr val="000000"/>
              </a:solidFill>
              <a:effectLst/>
              <a:uFillTx/>
              <a:latin typeface="Arial"/>
            </a:endParaRPr>
          </a:p>
        </p:txBody>
      </p:sp>
      <p:sp>
        <p:nvSpPr>
          <p:cNvPr id="228" name="Text 8"/>
          <p:cNvSpPr/>
          <p:nvPr/>
        </p:nvSpPr>
        <p:spPr>
          <a:xfrm>
            <a:off x="9326880" y="6364080"/>
            <a:ext cx="2376720" cy="163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750" b="0" u="none" strike="noStrike">
                <a:solidFill>
                  <a:srgbClr val="5E7088"/>
                </a:solidFill>
                <a:effectLst/>
                <a:uFillTx/>
                <a:latin typeface="Aptos"/>
              </a:rPr>
              <a:t>Figure 2.5</a:t>
            </a:r>
            <a:endParaRPr lang="en-US" sz="7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6FA"/>
        </a:solidFill>
      </p:bgPr>
    </p:bg>
    <p:spTree>
      <p:nvGrpSpPr>
        <p:cNvPr id="1" name=""/>
        <p:cNvGrpSpPr/>
        <p:nvPr/>
      </p:nvGrpSpPr>
      <p:grpSpPr>
        <a:xfrm>
          <a:off x="0" y="0"/>
          <a:ext cx="0" cy="0"/>
          <a:chOff x="0" y="0"/>
          <a:chExt cx="0" cy="0"/>
        </a:xfrm>
      </p:grpSpPr>
      <p:sp>
        <p:nvSpPr>
          <p:cNvPr id="229" name="Shape 0"/>
          <p:cNvSpPr/>
          <p:nvPr/>
        </p:nvSpPr>
        <p:spPr>
          <a:xfrm>
            <a:off x="0" y="0"/>
            <a:ext cx="12191040" cy="803880"/>
          </a:xfrm>
          <a:prstGeom prst="rect">
            <a:avLst/>
          </a:prstGeom>
          <a:solidFill>
            <a:srgbClr val="0B2B5C"/>
          </a:solidFill>
          <a:ln w="12700">
            <a:solidFill>
              <a:srgbClr val="0B2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30" name="Shape 1"/>
          <p:cNvSpPr/>
          <p:nvPr/>
        </p:nvSpPr>
        <p:spPr>
          <a:xfrm>
            <a:off x="0" y="804600"/>
            <a:ext cx="12191040" cy="72360"/>
          </a:xfrm>
          <a:prstGeom prst="rect">
            <a:avLst/>
          </a:prstGeom>
          <a:solidFill>
            <a:srgbClr val="F5A21B"/>
          </a:solidFill>
          <a:ln w="12700">
            <a:solidFill>
              <a:srgbClr val="F5A21B"/>
            </a:solidFill>
            <a:round/>
          </a:ln>
        </p:spPr>
        <p:style>
          <a:lnRef idx="0"/>
          <a:fillRef idx="0"/>
          <a:effectRef idx="0"/>
          <a:fontRef idx="minor"/>
        </p:style>
        <p:txBody>
          <a:bodyPr lIns="90000" tIns="28080" rIns="90000" bIns="28080" anchor="t">
            <a:noAutofit/>
          </a:bodyPr>
          <a:p>
            <a:endParaRPr lang="en-US" sz="1800" b="0" u="none" strike="noStrike">
              <a:solidFill>
                <a:srgbClr val="000000"/>
              </a:solidFill>
              <a:effectLst/>
              <a:uFillTx/>
              <a:latin typeface="Arial"/>
            </a:endParaRPr>
          </a:p>
        </p:txBody>
      </p:sp>
      <p:sp>
        <p:nvSpPr>
          <p:cNvPr id="231" name="Text 2"/>
          <p:cNvSpPr/>
          <p:nvPr/>
        </p:nvSpPr>
        <p:spPr>
          <a:xfrm>
            <a:off x="475560" y="210240"/>
            <a:ext cx="960048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300" b="1" u="none" strike="noStrike">
                <a:solidFill>
                  <a:srgbClr val="FFFFFF"/>
                </a:solidFill>
                <a:effectLst/>
                <a:uFillTx/>
                <a:latin typeface="Aptos Display"/>
                <a:ea typeface="Aptos Display"/>
              </a:rPr>
              <a:t>2.3.2 Task Environment Properties</a:t>
            </a:r>
            <a:endParaRPr lang="en-US" sz="2300" b="0" u="none" strike="noStrike">
              <a:solidFill>
                <a:srgbClr val="000000"/>
              </a:solidFill>
              <a:effectLst/>
              <a:uFillTx/>
              <a:latin typeface="Arial"/>
            </a:endParaRPr>
          </a:p>
        </p:txBody>
      </p:sp>
      <p:sp>
        <p:nvSpPr>
          <p:cNvPr id="232" name="Text 3"/>
          <p:cNvSpPr/>
          <p:nvPr/>
        </p:nvSpPr>
        <p:spPr>
          <a:xfrm>
            <a:off x="10241280" y="255960"/>
            <a:ext cx="13708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200" b="0" u="none" strike="noStrike">
                <a:solidFill>
                  <a:srgbClr val="DDE8F2"/>
                </a:solidFill>
                <a:effectLst/>
                <a:uFillTx/>
                <a:latin typeface="Aptos"/>
                <a:ea typeface="Aptos"/>
              </a:rPr>
              <a:t>2.3.2</a:t>
            </a:r>
            <a:endParaRPr lang="en-US" sz="1200" b="0" u="none" strike="noStrike">
              <a:solidFill>
                <a:srgbClr val="000000"/>
              </a:solidFill>
              <a:effectLst/>
              <a:uFillTx/>
              <a:latin typeface="Arial"/>
            </a:endParaRPr>
          </a:p>
        </p:txBody>
      </p:sp>
      <p:sp>
        <p:nvSpPr>
          <p:cNvPr id="233" name="Text 4"/>
          <p:cNvSpPr/>
          <p:nvPr/>
        </p:nvSpPr>
        <p:spPr>
          <a:xfrm>
            <a:off x="475560" y="6565320"/>
            <a:ext cx="274248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234" name="Text 5"/>
          <p:cNvSpPr/>
          <p:nvPr/>
        </p:nvSpPr>
        <p:spPr>
          <a:xfrm>
            <a:off x="11411640" y="6565320"/>
            <a:ext cx="273600" cy="163800"/>
          </a:xfrm>
          <a:prstGeom prst="rect">
            <a:avLst/>
          </a:prstGeom>
          <a:noFill/>
          <a:ln w="0">
            <a:noFill/>
          </a:ln>
        </p:spPr>
        <p:style>
          <a:lnRef idx="0"/>
          <a:fillRef idx="0"/>
          <a:effectRef idx="0"/>
          <a:fontRef idx="minor"/>
        </p:style>
        <p:txBody>
          <a:bodyPr lIns="0" tIns="0" rIns="0" bIns="0" anchor="ctr">
            <a:noAutofit/>
          </a:bodyPr>
          <a:p>
            <a:r>
              <a:t>12</a:t>
            </a:r>
          </a:p>
        </p:txBody>
      </p:sp>
      <p:sp>
        <p:nvSpPr>
          <p:cNvPr id="235" name="Shape 6"/>
          <p:cNvSpPr/>
          <p:nvPr/>
        </p:nvSpPr>
        <p:spPr>
          <a:xfrm>
            <a:off x="502920" y="1188720"/>
            <a:ext cx="2559600" cy="1023480"/>
          </a:xfrm>
          <a:prstGeom prst="roundRect">
            <a:avLst>
              <a:gd name="adj" fmla="val 5357"/>
            </a:avLst>
          </a:prstGeom>
          <a:solidFill>
            <a:srgbClr val="FFFFFF"/>
          </a:solidFill>
          <a:ln w="12700">
            <a:solidFill>
              <a:srgbClr val="D3DEE9"/>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36" name="Text 7"/>
          <p:cNvSpPr/>
          <p:nvPr/>
        </p:nvSpPr>
        <p:spPr>
          <a:xfrm>
            <a:off x="667440" y="1334880"/>
            <a:ext cx="223056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2B6CB0"/>
                </a:solidFill>
                <a:effectLst/>
                <a:uFillTx/>
                <a:latin typeface="Aptos"/>
              </a:rPr>
              <a:t>Observable</a:t>
            </a:r>
            <a:endParaRPr lang="en-US" sz="1500" b="0" u="none" strike="noStrike">
              <a:solidFill>
                <a:srgbClr val="000000"/>
              </a:solidFill>
              <a:effectLst/>
              <a:uFillTx/>
              <a:latin typeface="Arial"/>
            </a:endParaRPr>
          </a:p>
        </p:txBody>
      </p:sp>
      <p:sp>
        <p:nvSpPr>
          <p:cNvPr id="237" name="Text 8"/>
          <p:cNvSpPr/>
          <p:nvPr/>
        </p:nvSpPr>
        <p:spPr>
          <a:xfrm>
            <a:off x="667440" y="1664280"/>
            <a:ext cx="2230560" cy="42912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150" b="0" u="none" strike="noStrike">
                <a:solidFill>
                  <a:srgbClr val="0B1F3A"/>
                </a:solidFill>
                <a:effectLst/>
                <a:uFillTx/>
                <a:latin typeface="Aptos"/>
              </a:rPr>
              <a:t>Fully  &lt;-&gt;  Partially</a:t>
            </a:r>
            <a:endParaRPr lang="en-US" sz="1150" b="0" u="none" strike="noStrike">
              <a:solidFill>
                <a:srgbClr val="000000"/>
              </a:solidFill>
              <a:effectLst/>
              <a:uFillTx/>
              <a:latin typeface="Arial"/>
            </a:endParaRPr>
          </a:p>
        </p:txBody>
      </p:sp>
      <p:sp>
        <p:nvSpPr>
          <p:cNvPr id="238" name="Shape 9"/>
          <p:cNvSpPr/>
          <p:nvPr/>
        </p:nvSpPr>
        <p:spPr>
          <a:xfrm>
            <a:off x="3383280" y="1188720"/>
            <a:ext cx="2559600" cy="1023480"/>
          </a:xfrm>
          <a:prstGeom prst="roundRect">
            <a:avLst>
              <a:gd name="adj" fmla="val 5357"/>
            </a:avLst>
          </a:prstGeom>
          <a:solidFill>
            <a:srgbClr val="FFFFFF"/>
          </a:solidFill>
          <a:ln w="12700">
            <a:solidFill>
              <a:srgbClr val="D3DEE9"/>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39" name="Text 10"/>
          <p:cNvSpPr/>
          <p:nvPr/>
        </p:nvSpPr>
        <p:spPr>
          <a:xfrm>
            <a:off x="3547800" y="1334880"/>
            <a:ext cx="223056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048A97"/>
                </a:solidFill>
                <a:effectLst/>
                <a:uFillTx/>
                <a:latin typeface="Aptos"/>
              </a:rPr>
              <a:t>Agents</a:t>
            </a:r>
            <a:endParaRPr lang="en-US" sz="1500" b="0" u="none" strike="noStrike">
              <a:solidFill>
                <a:srgbClr val="000000"/>
              </a:solidFill>
              <a:effectLst/>
              <a:uFillTx/>
              <a:latin typeface="Arial"/>
            </a:endParaRPr>
          </a:p>
        </p:txBody>
      </p:sp>
      <p:sp>
        <p:nvSpPr>
          <p:cNvPr id="240" name="Text 11"/>
          <p:cNvSpPr/>
          <p:nvPr/>
        </p:nvSpPr>
        <p:spPr>
          <a:xfrm>
            <a:off x="3547800" y="1664280"/>
            <a:ext cx="2230560" cy="42912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150" b="0" u="none" strike="noStrike">
                <a:solidFill>
                  <a:srgbClr val="0B1F3A"/>
                </a:solidFill>
                <a:effectLst/>
                <a:uFillTx/>
                <a:latin typeface="Aptos"/>
              </a:rPr>
              <a:t>Single  &lt;-&gt;  Multi</a:t>
            </a:r>
            <a:endParaRPr lang="en-US" sz="1150" b="0" u="none" strike="noStrike">
              <a:solidFill>
                <a:srgbClr val="000000"/>
              </a:solidFill>
              <a:effectLst/>
              <a:uFillTx/>
              <a:latin typeface="Arial"/>
            </a:endParaRPr>
          </a:p>
        </p:txBody>
      </p:sp>
      <p:sp>
        <p:nvSpPr>
          <p:cNvPr id="241" name="Shape 12"/>
          <p:cNvSpPr/>
          <p:nvPr/>
        </p:nvSpPr>
        <p:spPr>
          <a:xfrm>
            <a:off x="6263640" y="1188720"/>
            <a:ext cx="2559600" cy="1023480"/>
          </a:xfrm>
          <a:prstGeom prst="roundRect">
            <a:avLst>
              <a:gd name="adj" fmla="val 5357"/>
            </a:avLst>
          </a:prstGeom>
          <a:solidFill>
            <a:srgbClr val="FFFFFF"/>
          </a:solidFill>
          <a:ln w="12700">
            <a:solidFill>
              <a:srgbClr val="D3DEE9"/>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42" name="Text 13"/>
          <p:cNvSpPr/>
          <p:nvPr/>
        </p:nvSpPr>
        <p:spPr>
          <a:xfrm>
            <a:off x="6428160" y="1334880"/>
            <a:ext cx="223056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F5A21B"/>
                </a:solidFill>
                <a:effectLst/>
                <a:uFillTx/>
                <a:latin typeface="Aptos"/>
              </a:rPr>
              <a:t>Transition</a:t>
            </a:r>
            <a:endParaRPr lang="en-US" sz="1500" b="0" u="none" strike="noStrike">
              <a:solidFill>
                <a:srgbClr val="000000"/>
              </a:solidFill>
              <a:effectLst/>
              <a:uFillTx/>
              <a:latin typeface="Arial"/>
            </a:endParaRPr>
          </a:p>
        </p:txBody>
      </p:sp>
      <p:sp>
        <p:nvSpPr>
          <p:cNvPr id="243" name="Text 14"/>
          <p:cNvSpPr/>
          <p:nvPr/>
        </p:nvSpPr>
        <p:spPr>
          <a:xfrm>
            <a:off x="6428160" y="1664280"/>
            <a:ext cx="2230560" cy="42912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150" b="0" u="none" strike="noStrike">
                <a:solidFill>
                  <a:srgbClr val="0B1F3A"/>
                </a:solidFill>
                <a:effectLst/>
                <a:uFillTx/>
                <a:latin typeface="Aptos"/>
              </a:rPr>
              <a:t>Deterministic  &lt;-&gt;  Nondeterministic / stochastic</a:t>
            </a:r>
            <a:endParaRPr lang="en-US" sz="1150" b="0" u="none" strike="noStrike">
              <a:solidFill>
                <a:srgbClr val="000000"/>
              </a:solidFill>
              <a:effectLst/>
              <a:uFillTx/>
              <a:latin typeface="Arial"/>
            </a:endParaRPr>
          </a:p>
        </p:txBody>
      </p:sp>
      <p:sp>
        <p:nvSpPr>
          <p:cNvPr id="244" name="Shape 15"/>
          <p:cNvSpPr/>
          <p:nvPr/>
        </p:nvSpPr>
        <p:spPr>
          <a:xfrm>
            <a:off x="9144000" y="1188720"/>
            <a:ext cx="2559600" cy="1023480"/>
          </a:xfrm>
          <a:prstGeom prst="roundRect">
            <a:avLst>
              <a:gd name="adj" fmla="val 5357"/>
            </a:avLst>
          </a:prstGeom>
          <a:solidFill>
            <a:srgbClr val="FFFFFF"/>
          </a:solidFill>
          <a:ln w="12700">
            <a:solidFill>
              <a:srgbClr val="D3DEE9"/>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45" name="Text 16"/>
          <p:cNvSpPr/>
          <p:nvPr/>
        </p:nvSpPr>
        <p:spPr>
          <a:xfrm>
            <a:off x="9308520" y="1334880"/>
            <a:ext cx="223056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1B7A45"/>
                </a:solidFill>
                <a:effectLst/>
                <a:uFillTx/>
                <a:latin typeface="Aptos"/>
              </a:rPr>
              <a:t>Episodes</a:t>
            </a:r>
            <a:endParaRPr lang="en-US" sz="1500" b="0" u="none" strike="noStrike">
              <a:solidFill>
                <a:srgbClr val="000000"/>
              </a:solidFill>
              <a:effectLst/>
              <a:uFillTx/>
              <a:latin typeface="Arial"/>
            </a:endParaRPr>
          </a:p>
        </p:txBody>
      </p:sp>
      <p:sp>
        <p:nvSpPr>
          <p:cNvPr id="246" name="Text 17"/>
          <p:cNvSpPr/>
          <p:nvPr/>
        </p:nvSpPr>
        <p:spPr>
          <a:xfrm>
            <a:off x="9308520" y="1664280"/>
            <a:ext cx="2230560" cy="42912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150" b="0" u="none" strike="noStrike">
                <a:solidFill>
                  <a:srgbClr val="0B1F3A"/>
                </a:solidFill>
                <a:effectLst/>
                <a:uFillTx/>
                <a:latin typeface="Aptos"/>
              </a:rPr>
              <a:t>Episodic  &lt;-&gt;  Sequential</a:t>
            </a:r>
            <a:endParaRPr lang="en-US" sz="1150" b="0" u="none" strike="noStrike">
              <a:solidFill>
                <a:srgbClr val="000000"/>
              </a:solidFill>
              <a:effectLst/>
              <a:uFillTx/>
              <a:latin typeface="Arial"/>
            </a:endParaRPr>
          </a:p>
        </p:txBody>
      </p:sp>
      <p:sp>
        <p:nvSpPr>
          <p:cNvPr id="247" name="Shape 18"/>
          <p:cNvSpPr/>
          <p:nvPr/>
        </p:nvSpPr>
        <p:spPr>
          <a:xfrm>
            <a:off x="502920" y="2697480"/>
            <a:ext cx="2559600" cy="1023480"/>
          </a:xfrm>
          <a:prstGeom prst="roundRect">
            <a:avLst>
              <a:gd name="adj" fmla="val 5357"/>
            </a:avLst>
          </a:prstGeom>
          <a:solidFill>
            <a:srgbClr val="FFFFFF"/>
          </a:solidFill>
          <a:ln w="12700">
            <a:solidFill>
              <a:srgbClr val="D3DEE9"/>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48" name="Text 19"/>
          <p:cNvSpPr/>
          <p:nvPr/>
        </p:nvSpPr>
        <p:spPr>
          <a:xfrm>
            <a:off x="667440" y="2843640"/>
            <a:ext cx="223056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A32020"/>
                </a:solidFill>
                <a:effectLst/>
                <a:uFillTx/>
                <a:latin typeface="Aptos"/>
              </a:rPr>
              <a:t>Time</a:t>
            </a:r>
            <a:endParaRPr lang="en-US" sz="1500" b="0" u="none" strike="noStrike">
              <a:solidFill>
                <a:srgbClr val="000000"/>
              </a:solidFill>
              <a:effectLst/>
              <a:uFillTx/>
              <a:latin typeface="Arial"/>
            </a:endParaRPr>
          </a:p>
        </p:txBody>
      </p:sp>
      <p:sp>
        <p:nvSpPr>
          <p:cNvPr id="249" name="Text 20"/>
          <p:cNvSpPr/>
          <p:nvPr/>
        </p:nvSpPr>
        <p:spPr>
          <a:xfrm>
            <a:off x="667440" y="3173040"/>
            <a:ext cx="2230560" cy="42912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150" b="0" u="none" strike="noStrike">
                <a:solidFill>
                  <a:srgbClr val="0B1F3A"/>
                </a:solidFill>
                <a:effectLst/>
                <a:uFillTx/>
                <a:latin typeface="Aptos"/>
              </a:rPr>
              <a:t>Static  &lt;-&gt;  Dynamic / semidynamic</a:t>
            </a:r>
            <a:endParaRPr lang="en-US" sz="1150" b="0" u="none" strike="noStrike">
              <a:solidFill>
                <a:srgbClr val="000000"/>
              </a:solidFill>
              <a:effectLst/>
              <a:uFillTx/>
              <a:latin typeface="Arial"/>
            </a:endParaRPr>
          </a:p>
        </p:txBody>
      </p:sp>
      <p:sp>
        <p:nvSpPr>
          <p:cNvPr id="250" name="Shape 21"/>
          <p:cNvSpPr/>
          <p:nvPr/>
        </p:nvSpPr>
        <p:spPr>
          <a:xfrm>
            <a:off x="3383280" y="2697480"/>
            <a:ext cx="2559600" cy="1023480"/>
          </a:xfrm>
          <a:prstGeom prst="roundRect">
            <a:avLst>
              <a:gd name="adj" fmla="val 5357"/>
            </a:avLst>
          </a:prstGeom>
          <a:solidFill>
            <a:srgbClr val="FFFFFF"/>
          </a:solidFill>
          <a:ln w="12700">
            <a:solidFill>
              <a:srgbClr val="D3DEE9"/>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51" name="Text 22"/>
          <p:cNvSpPr/>
          <p:nvPr/>
        </p:nvSpPr>
        <p:spPr>
          <a:xfrm>
            <a:off x="3547800" y="2843640"/>
            <a:ext cx="223056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5B35B1"/>
                </a:solidFill>
                <a:effectLst/>
                <a:uFillTx/>
                <a:latin typeface="Aptos"/>
              </a:rPr>
              <a:t>State/action</a:t>
            </a:r>
            <a:endParaRPr lang="en-US" sz="1500" b="0" u="none" strike="noStrike">
              <a:solidFill>
                <a:srgbClr val="000000"/>
              </a:solidFill>
              <a:effectLst/>
              <a:uFillTx/>
              <a:latin typeface="Arial"/>
            </a:endParaRPr>
          </a:p>
        </p:txBody>
      </p:sp>
      <p:sp>
        <p:nvSpPr>
          <p:cNvPr id="252" name="Text 23"/>
          <p:cNvSpPr/>
          <p:nvPr/>
        </p:nvSpPr>
        <p:spPr>
          <a:xfrm>
            <a:off x="3547800" y="3173040"/>
            <a:ext cx="2230560" cy="42912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150" b="0" u="none" strike="noStrike">
                <a:solidFill>
                  <a:srgbClr val="0B1F3A"/>
                </a:solidFill>
                <a:effectLst/>
                <a:uFillTx/>
                <a:latin typeface="Aptos"/>
              </a:rPr>
              <a:t>Discrete  &lt;-&gt;  Continuous</a:t>
            </a:r>
            <a:endParaRPr lang="en-US" sz="1150" b="0" u="none" strike="noStrike">
              <a:solidFill>
                <a:srgbClr val="000000"/>
              </a:solidFill>
              <a:effectLst/>
              <a:uFillTx/>
              <a:latin typeface="Arial"/>
            </a:endParaRPr>
          </a:p>
        </p:txBody>
      </p:sp>
      <p:sp>
        <p:nvSpPr>
          <p:cNvPr id="253" name="Shape 24"/>
          <p:cNvSpPr/>
          <p:nvPr/>
        </p:nvSpPr>
        <p:spPr>
          <a:xfrm>
            <a:off x="6263640" y="2697480"/>
            <a:ext cx="2559600" cy="1023480"/>
          </a:xfrm>
          <a:prstGeom prst="roundRect">
            <a:avLst>
              <a:gd name="adj" fmla="val 5357"/>
            </a:avLst>
          </a:prstGeom>
          <a:solidFill>
            <a:srgbClr val="FFFFFF"/>
          </a:solidFill>
          <a:ln w="12700">
            <a:solidFill>
              <a:srgbClr val="D3DEE9"/>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54" name="Text 25"/>
          <p:cNvSpPr/>
          <p:nvPr/>
        </p:nvSpPr>
        <p:spPr>
          <a:xfrm>
            <a:off x="6428160" y="2843640"/>
            <a:ext cx="223056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0B2B5C"/>
                </a:solidFill>
                <a:effectLst/>
                <a:uFillTx/>
                <a:latin typeface="Aptos"/>
              </a:rPr>
              <a:t>Knowledge</a:t>
            </a:r>
            <a:endParaRPr lang="en-US" sz="1500" b="0" u="none" strike="noStrike">
              <a:solidFill>
                <a:srgbClr val="000000"/>
              </a:solidFill>
              <a:effectLst/>
              <a:uFillTx/>
              <a:latin typeface="Arial"/>
            </a:endParaRPr>
          </a:p>
        </p:txBody>
      </p:sp>
      <p:sp>
        <p:nvSpPr>
          <p:cNvPr id="255" name="Text 26"/>
          <p:cNvSpPr/>
          <p:nvPr/>
        </p:nvSpPr>
        <p:spPr>
          <a:xfrm>
            <a:off x="6428160" y="3173040"/>
            <a:ext cx="2230560" cy="42912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150" b="0" u="none" strike="noStrike">
                <a:solidFill>
                  <a:srgbClr val="0B1F3A"/>
                </a:solidFill>
                <a:effectLst/>
                <a:uFillTx/>
                <a:latin typeface="Aptos"/>
              </a:rPr>
              <a:t>Known  &lt;-&gt;  Unknown</a:t>
            </a:r>
            <a:endParaRPr lang="en-US" sz="1150" b="0" u="none" strike="noStrike">
              <a:solidFill>
                <a:srgbClr val="000000"/>
              </a:solidFill>
              <a:effectLst/>
              <a:uFillTx/>
              <a:latin typeface="Arial"/>
            </a:endParaRPr>
          </a:p>
        </p:txBody>
      </p:sp>
      <p:pic>
        <p:nvPicPr>
          <p:cNvPr id="256" name="Image 0" descr="/mnt/data/ch2_docx_unzipped/word/media/image5.png"/>
          <p:cNvPicPr/>
          <p:nvPr/>
        </p:nvPicPr>
        <p:blipFill>
          <a:blip r:embed="rId1"/>
          <a:stretch/>
        </p:blipFill>
        <p:spPr>
          <a:xfrm>
            <a:off x="3657600" y="3886200"/>
            <a:ext cx="3548160" cy="2057400"/>
          </a:xfrm>
          <a:prstGeom prst="rect">
            <a:avLst/>
          </a:prstGeom>
          <a:noFill/>
          <a:ln w="0">
            <a:noFill/>
          </a:ln>
        </p:spPr>
      </p:pic>
      <p:sp>
        <p:nvSpPr>
          <p:cNvPr id="257" name="Text 27"/>
          <p:cNvSpPr/>
          <p:nvPr/>
        </p:nvSpPr>
        <p:spPr>
          <a:xfrm>
            <a:off x="685800" y="5906880"/>
            <a:ext cx="10880640" cy="273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50" b="1" u="none" strike="noStrike">
                <a:solidFill>
                  <a:srgbClr val="0B2B5C"/>
                </a:solidFill>
                <a:effectLst/>
                <a:uFillTx/>
                <a:latin typeface="Aptos"/>
              </a:rPr>
              <a:t>Hardest case: partially observable, multiagent, nondeterministic, sequential, dynamic, continuous, unknown.</a:t>
            </a:r>
            <a:endParaRPr lang="en-US" sz="1550" b="0" u="none" strike="noStrike">
              <a:solidFill>
                <a:srgbClr val="000000"/>
              </a:solidFill>
              <a:effectLst/>
              <a:uFillTx/>
              <a:latin typeface="Arial"/>
            </a:endParaRPr>
          </a:p>
        </p:txBody>
      </p:sp>
      <p:sp>
        <p:nvSpPr>
          <p:cNvPr id="258" name="Text 28"/>
          <p:cNvSpPr/>
          <p:nvPr/>
        </p:nvSpPr>
        <p:spPr>
          <a:xfrm>
            <a:off x="9326880" y="6364080"/>
            <a:ext cx="2376720" cy="163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750" b="0" u="none" strike="noStrike">
                <a:solidFill>
                  <a:srgbClr val="5E7088"/>
                </a:solidFill>
                <a:effectLst/>
                <a:uFillTx/>
                <a:latin typeface="Aptos"/>
              </a:rPr>
              <a:t>Figure 2.6</a:t>
            </a:r>
            <a:endParaRPr lang="en-US" sz="7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6FA"/>
        </a:solidFill>
      </p:bgPr>
    </p:bg>
    <p:spTree>
      <p:nvGrpSpPr>
        <p:cNvPr id="1" name=""/>
        <p:cNvGrpSpPr/>
        <p:nvPr/>
      </p:nvGrpSpPr>
      <p:grpSpPr>
        <a:xfrm>
          <a:off x="0" y="0"/>
          <a:ext cx="0" cy="0"/>
          <a:chOff x="0" y="0"/>
          <a:chExt cx="0" cy="0"/>
        </a:xfrm>
      </p:grpSpPr>
      <p:sp>
        <p:nvSpPr>
          <p:cNvPr id="259" name="Shape 0"/>
          <p:cNvSpPr/>
          <p:nvPr/>
        </p:nvSpPr>
        <p:spPr>
          <a:xfrm>
            <a:off x="0" y="0"/>
            <a:ext cx="12191040" cy="803880"/>
          </a:xfrm>
          <a:prstGeom prst="rect">
            <a:avLst/>
          </a:prstGeom>
          <a:solidFill>
            <a:srgbClr val="0B2B5C"/>
          </a:solidFill>
          <a:ln w="12700">
            <a:solidFill>
              <a:srgbClr val="0B2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60" name="Shape 1"/>
          <p:cNvSpPr/>
          <p:nvPr/>
        </p:nvSpPr>
        <p:spPr>
          <a:xfrm>
            <a:off x="0" y="804600"/>
            <a:ext cx="12191040" cy="72360"/>
          </a:xfrm>
          <a:prstGeom prst="rect">
            <a:avLst/>
          </a:prstGeom>
          <a:solidFill>
            <a:srgbClr val="F5A21B"/>
          </a:solidFill>
          <a:ln w="12700">
            <a:solidFill>
              <a:srgbClr val="F5A21B"/>
            </a:solidFill>
            <a:round/>
          </a:ln>
        </p:spPr>
        <p:style>
          <a:lnRef idx="0"/>
          <a:fillRef idx="0"/>
          <a:effectRef idx="0"/>
          <a:fontRef idx="minor"/>
        </p:style>
        <p:txBody>
          <a:bodyPr lIns="90000" tIns="28080" rIns="90000" bIns="28080" anchor="t">
            <a:noAutofit/>
          </a:bodyPr>
          <a:p>
            <a:endParaRPr lang="en-US" sz="1800" b="0" u="none" strike="noStrike">
              <a:solidFill>
                <a:srgbClr val="000000"/>
              </a:solidFill>
              <a:effectLst/>
              <a:uFillTx/>
              <a:latin typeface="Arial"/>
            </a:endParaRPr>
          </a:p>
        </p:txBody>
      </p:sp>
      <p:sp>
        <p:nvSpPr>
          <p:cNvPr id="261" name="Text 2"/>
          <p:cNvSpPr/>
          <p:nvPr/>
        </p:nvSpPr>
        <p:spPr>
          <a:xfrm>
            <a:off x="475560" y="210240"/>
            <a:ext cx="960048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300" b="1" u="none" strike="noStrike">
                <a:solidFill>
                  <a:srgbClr val="FFFFFF"/>
                </a:solidFill>
                <a:effectLst/>
                <a:uFillTx/>
                <a:latin typeface="Aptos Display"/>
                <a:ea typeface="Aptos Display"/>
              </a:rPr>
              <a:t>Pac-Man as a Chapter 2 Agent</a:t>
            </a:r>
            <a:endParaRPr lang="en-US" sz="2300" b="0" u="none" strike="noStrike">
              <a:solidFill>
                <a:srgbClr val="000000"/>
              </a:solidFill>
              <a:effectLst/>
              <a:uFillTx/>
              <a:latin typeface="Arial"/>
            </a:endParaRPr>
          </a:p>
        </p:txBody>
      </p:sp>
      <p:sp>
        <p:nvSpPr>
          <p:cNvPr id="262" name="Text 3"/>
          <p:cNvSpPr/>
          <p:nvPr/>
        </p:nvSpPr>
        <p:spPr>
          <a:xfrm>
            <a:off x="10241280" y="255960"/>
            <a:ext cx="13708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200" b="0" u="none" strike="noStrike">
                <a:solidFill>
                  <a:srgbClr val="DDE8F2"/>
                </a:solidFill>
                <a:effectLst/>
                <a:uFillTx/>
                <a:latin typeface="Aptos"/>
                <a:ea typeface="Aptos"/>
              </a:rPr>
              <a:t>Example</a:t>
            </a:r>
            <a:endParaRPr lang="en-US" sz="1200" b="0" u="none" strike="noStrike">
              <a:solidFill>
                <a:srgbClr val="000000"/>
              </a:solidFill>
              <a:effectLst/>
              <a:uFillTx/>
              <a:latin typeface="Arial"/>
            </a:endParaRPr>
          </a:p>
        </p:txBody>
      </p:sp>
      <p:sp>
        <p:nvSpPr>
          <p:cNvPr id="263" name="Text 4"/>
          <p:cNvSpPr/>
          <p:nvPr/>
        </p:nvSpPr>
        <p:spPr>
          <a:xfrm>
            <a:off x="475560" y="6565320"/>
            <a:ext cx="274248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264" name="Text 5"/>
          <p:cNvSpPr/>
          <p:nvPr/>
        </p:nvSpPr>
        <p:spPr>
          <a:xfrm>
            <a:off x="11411640" y="6565320"/>
            <a:ext cx="273600" cy="163800"/>
          </a:xfrm>
          <a:prstGeom prst="rect">
            <a:avLst/>
          </a:prstGeom>
          <a:noFill/>
          <a:ln w="0">
            <a:noFill/>
          </a:ln>
        </p:spPr>
        <p:style>
          <a:lnRef idx="0"/>
          <a:fillRef idx="0"/>
          <a:effectRef idx="0"/>
          <a:fontRef idx="minor"/>
        </p:style>
        <p:txBody>
          <a:bodyPr lIns="0" tIns="0" rIns="0" bIns="0" anchor="ctr">
            <a:noAutofit/>
          </a:bodyPr>
          <a:p>
            <a:r>
              <a:t>13</a:t>
            </a:r>
          </a:p>
        </p:txBody>
      </p:sp>
      <p:sp>
        <p:nvSpPr>
          <p:cNvPr id="265" name="Shape 6"/>
          <p:cNvSpPr/>
          <p:nvPr/>
        </p:nvSpPr>
        <p:spPr>
          <a:xfrm>
            <a:off x="685800" y="1234440"/>
            <a:ext cx="5394240" cy="2879640"/>
          </a:xfrm>
          <a:prstGeom prst="rect">
            <a:avLst/>
          </a:prstGeom>
          <a:solidFill>
            <a:srgbClr val="000000"/>
          </a:solidFill>
          <a:ln w="12700">
            <a:solidFill>
              <a:srgbClr val="000000"/>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66" name="Shape 7"/>
          <p:cNvSpPr/>
          <p:nvPr/>
        </p:nvSpPr>
        <p:spPr>
          <a:xfrm>
            <a:off x="960120" y="1508760"/>
            <a:ext cx="4845600" cy="1965240"/>
          </a:xfrm>
          <a:prstGeom prst="rect">
            <a:avLst/>
          </a:prstGeom>
          <a:noFill/>
          <a:ln w="16510">
            <a:solidFill>
              <a:srgbClr val="0738FF"/>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67" name="Shape 8"/>
          <p:cNvSpPr/>
          <p:nvPr/>
        </p:nvSpPr>
        <p:spPr>
          <a:xfrm>
            <a:off x="1143000" y="1828800"/>
            <a:ext cx="63360" cy="63360"/>
          </a:xfrm>
          <a:prstGeom prst="ellipse">
            <a:avLst/>
          </a:prstGeom>
          <a:solidFill>
            <a:srgbClr val="FFFFFF"/>
          </a:solidFill>
          <a:ln w="12700">
            <a:solidFill>
              <a:srgbClr val="FFFFFF"/>
            </a:solidFill>
            <a:round/>
          </a:ln>
        </p:spPr>
        <p:style>
          <a:lnRef idx="0"/>
          <a:fillRef idx="0"/>
          <a:effectRef idx="0"/>
          <a:fontRef idx="minor"/>
        </p:style>
        <p:txBody>
          <a:bodyPr lIns="31680" tIns="0" rIns="31680" bIns="0" anchor="t">
            <a:noAutofit/>
          </a:bodyPr>
          <a:p>
            <a:endParaRPr lang="en-US" sz="1800" b="0" u="none" strike="noStrike">
              <a:solidFill>
                <a:srgbClr val="000000"/>
              </a:solidFill>
              <a:effectLst/>
              <a:uFillTx/>
              <a:latin typeface="Arial"/>
            </a:endParaRPr>
          </a:p>
        </p:txBody>
      </p:sp>
      <p:sp>
        <p:nvSpPr>
          <p:cNvPr id="268" name="Shape 9"/>
          <p:cNvSpPr/>
          <p:nvPr/>
        </p:nvSpPr>
        <p:spPr>
          <a:xfrm>
            <a:off x="1143000" y="3017520"/>
            <a:ext cx="63360" cy="63360"/>
          </a:xfrm>
          <a:prstGeom prst="ellipse">
            <a:avLst/>
          </a:prstGeom>
          <a:solidFill>
            <a:srgbClr val="FFFFFF"/>
          </a:solidFill>
          <a:ln w="12700">
            <a:solidFill>
              <a:srgbClr val="FFFFFF"/>
            </a:solidFill>
            <a:round/>
          </a:ln>
        </p:spPr>
        <p:style>
          <a:lnRef idx="0"/>
          <a:fillRef idx="0"/>
          <a:effectRef idx="0"/>
          <a:fontRef idx="minor"/>
        </p:style>
        <p:txBody>
          <a:bodyPr lIns="31680" tIns="0" rIns="31680" bIns="0" anchor="t">
            <a:noAutofit/>
          </a:bodyPr>
          <a:p>
            <a:endParaRPr lang="en-US" sz="1800" b="0" u="none" strike="noStrike">
              <a:solidFill>
                <a:srgbClr val="000000"/>
              </a:solidFill>
              <a:effectLst/>
              <a:uFillTx/>
              <a:latin typeface="Arial"/>
            </a:endParaRPr>
          </a:p>
        </p:txBody>
      </p:sp>
      <p:sp>
        <p:nvSpPr>
          <p:cNvPr id="269" name="Shape 10"/>
          <p:cNvSpPr/>
          <p:nvPr/>
        </p:nvSpPr>
        <p:spPr>
          <a:xfrm>
            <a:off x="1508760" y="1828800"/>
            <a:ext cx="63360" cy="63360"/>
          </a:xfrm>
          <a:prstGeom prst="ellipse">
            <a:avLst/>
          </a:prstGeom>
          <a:solidFill>
            <a:srgbClr val="FFFFFF"/>
          </a:solidFill>
          <a:ln w="12700">
            <a:solidFill>
              <a:srgbClr val="FFFFFF"/>
            </a:solidFill>
            <a:round/>
          </a:ln>
        </p:spPr>
        <p:style>
          <a:lnRef idx="0"/>
          <a:fillRef idx="0"/>
          <a:effectRef idx="0"/>
          <a:fontRef idx="minor"/>
        </p:style>
        <p:txBody>
          <a:bodyPr lIns="31680" tIns="0" rIns="31680" bIns="0" anchor="t">
            <a:noAutofit/>
          </a:bodyPr>
          <a:p>
            <a:endParaRPr lang="en-US" sz="1800" b="0" u="none" strike="noStrike">
              <a:solidFill>
                <a:srgbClr val="000000"/>
              </a:solidFill>
              <a:effectLst/>
              <a:uFillTx/>
              <a:latin typeface="Arial"/>
            </a:endParaRPr>
          </a:p>
        </p:txBody>
      </p:sp>
      <p:sp>
        <p:nvSpPr>
          <p:cNvPr id="270" name="Shape 11"/>
          <p:cNvSpPr/>
          <p:nvPr/>
        </p:nvSpPr>
        <p:spPr>
          <a:xfrm>
            <a:off x="1508760" y="3017520"/>
            <a:ext cx="63360" cy="63360"/>
          </a:xfrm>
          <a:prstGeom prst="ellipse">
            <a:avLst/>
          </a:prstGeom>
          <a:solidFill>
            <a:srgbClr val="FFFFFF"/>
          </a:solidFill>
          <a:ln w="12700">
            <a:solidFill>
              <a:srgbClr val="FFFFFF"/>
            </a:solidFill>
            <a:round/>
          </a:ln>
        </p:spPr>
        <p:style>
          <a:lnRef idx="0"/>
          <a:fillRef idx="0"/>
          <a:effectRef idx="0"/>
          <a:fontRef idx="minor"/>
        </p:style>
        <p:txBody>
          <a:bodyPr lIns="31680" tIns="0" rIns="31680" bIns="0" anchor="t">
            <a:noAutofit/>
          </a:bodyPr>
          <a:p>
            <a:endParaRPr lang="en-US" sz="1800" b="0" u="none" strike="noStrike">
              <a:solidFill>
                <a:srgbClr val="000000"/>
              </a:solidFill>
              <a:effectLst/>
              <a:uFillTx/>
              <a:latin typeface="Arial"/>
            </a:endParaRPr>
          </a:p>
        </p:txBody>
      </p:sp>
      <p:sp>
        <p:nvSpPr>
          <p:cNvPr id="271" name="Shape 12"/>
          <p:cNvSpPr/>
          <p:nvPr/>
        </p:nvSpPr>
        <p:spPr>
          <a:xfrm>
            <a:off x="1874520" y="1828800"/>
            <a:ext cx="63360" cy="63360"/>
          </a:xfrm>
          <a:prstGeom prst="ellipse">
            <a:avLst/>
          </a:prstGeom>
          <a:solidFill>
            <a:srgbClr val="FFFFFF"/>
          </a:solidFill>
          <a:ln w="12700">
            <a:solidFill>
              <a:srgbClr val="FFFFFF"/>
            </a:solidFill>
            <a:round/>
          </a:ln>
        </p:spPr>
        <p:style>
          <a:lnRef idx="0"/>
          <a:fillRef idx="0"/>
          <a:effectRef idx="0"/>
          <a:fontRef idx="minor"/>
        </p:style>
        <p:txBody>
          <a:bodyPr lIns="31680" tIns="0" rIns="31680" bIns="0" anchor="t">
            <a:noAutofit/>
          </a:bodyPr>
          <a:p>
            <a:endParaRPr lang="en-US" sz="1800" b="0" u="none" strike="noStrike">
              <a:solidFill>
                <a:srgbClr val="000000"/>
              </a:solidFill>
              <a:effectLst/>
              <a:uFillTx/>
              <a:latin typeface="Arial"/>
            </a:endParaRPr>
          </a:p>
        </p:txBody>
      </p:sp>
      <p:sp>
        <p:nvSpPr>
          <p:cNvPr id="272" name="Shape 13"/>
          <p:cNvSpPr/>
          <p:nvPr/>
        </p:nvSpPr>
        <p:spPr>
          <a:xfrm>
            <a:off x="1874520" y="3017520"/>
            <a:ext cx="63360" cy="63360"/>
          </a:xfrm>
          <a:prstGeom prst="ellipse">
            <a:avLst/>
          </a:prstGeom>
          <a:solidFill>
            <a:srgbClr val="FFFFFF"/>
          </a:solidFill>
          <a:ln w="12700">
            <a:solidFill>
              <a:srgbClr val="FFFFFF"/>
            </a:solidFill>
            <a:round/>
          </a:ln>
        </p:spPr>
        <p:style>
          <a:lnRef idx="0"/>
          <a:fillRef idx="0"/>
          <a:effectRef idx="0"/>
          <a:fontRef idx="minor"/>
        </p:style>
        <p:txBody>
          <a:bodyPr lIns="31680" tIns="0" rIns="31680" bIns="0" anchor="t">
            <a:noAutofit/>
          </a:bodyPr>
          <a:p>
            <a:endParaRPr lang="en-US" sz="1800" b="0" u="none" strike="noStrike">
              <a:solidFill>
                <a:srgbClr val="000000"/>
              </a:solidFill>
              <a:effectLst/>
              <a:uFillTx/>
              <a:latin typeface="Arial"/>
            </a:endParaRPr>
          </a:p>
        </p:txBody>
      </p:sp>
      <p:sp>
        <p:nvSpPr>
          <p:cNvPr id="273" name="Shape 14"/>
          <p:cNvSpPr/>
          <p:nvPr/>
        </p:nvSpPr>
        <p:spPr>
          <a:xfrm>
            <a:off x="2240280" y="1828800"/>
            <a:ext cx="63360" cy="63360"/>
          </a:xfrm>
          <a:prstGeom prst="ellipse">
            <a:avLst/>
          </a:prstGeom>
          <a:solidFill>
            <a:srgbClr val="FFFFFF"/>
          </a:solidFill>
          <a:ln w="12700">
            <a:solidFill>
              <a:srgbClr val="FFFFFF"/>
            </a:solidFill>
            <a:round/>
          </a:ln>
        </p:spPr>
        <p:style>
          <a:lnRef idx="0"/>
          <a:fillRef idx="0"/>
          <a:effectRef idx="0"/>
          <a:fontRef idx="minor"/>
        </p:style>
        <p:txBody>
          <a:bodyPr lIns="31680" tIns="0" rIns="31680" bIns="0" anchor="t">
            <a:noAutofit/>
          </a:bodyPr>
          <a:p>
            <a:endParaRPr lang="en-US" sz="1800" b="0" u="none" strike="noStrike">
              <a:solidFill>
                <a:srgbClr val="000000"/>
              </a:solidFill>
              <a:effectLst/>
              <a:uFillTx/>
              <a:latin typeface="Arial"/>
            </a:endParaRPr>
          </a:p>
        </p:txBody>
      </p:sp>
      <p:sp>
        <p:nvSpPr>
          <p:cNvPr id="274" name="Shape 15"/>
          <p:cNvSpPr/>
          <p:nvPr/>
        </p:nvSpPr>
        <p:spPr>
          <a:xfrm>
            <a:off x="2240280" y="3017520"/>
            <a:ext cx="63360" cy="63360"/>
          </a:xfrm>
          <a:prstGeom prst="ellipse">
            <a:avLst/>
          </a:prstGeom>
          <a:solidFill>
            <a:srgbClr val="FFFFFF"/>
          </a:solidFill>
          <a:ln w="12700">
            <a:solidFill>
              <a:srgbClr val="FFFFFF"/>
            </a:solidFill>
            <a:round/>
          </a:ln>
        </p:spPr>
        <p:style>
          <a:lnRef idx="0"/>
          <a:fillRef idx="0"/>
          <a:effectRef idx="0"/>
          <a:fontRef idx="minor"/>
        </p:style>
        <p:txBody>
          <a:bodyPr lIns="31680" tIns="0" rIns="31680" bIns="0" anchor="t">
            <a:noAutofit/>
          </a:bodyPr>
          <a:p>
            <a:endParaRPr lang="en-US" sz="1800" b="0" u="none" strike="noStrike">
              <a:solidFill>
                <a:srgbClr val="000000"/>
              </a:solidFill>
              <a:effectLst/>
              <a:uFillTx/>
              <a:latin typeface="Arial"/>
            </a:endParaRPr>
          </a:p>
        </p:txBody>
      </p:sp>
      <p:sp>
        <p:nvSpPr>
          <p:cNvPr id="275" name="Shape 16"/>
          <p:cNvSpPr/>
          <p:nvPr/>
        </p:nvSpPr>
        <p:spPr>
          <a:xfrm>
            <a:off x="2606040" y="1828800"/>
            <a:ext cx="63360" cy="63360"/>
          </a:xfrm>
          <a:prstGeom prst="ellipse">
            <a:avLst/>
          </a:prstGeom>
          <a:solidFill>
            <a:srgbClr val="FFFFFF"/>
          </a:solidFill>
          <a:ln w="12700">
            <a:solidFill>
              <a:srgbClr val="FFFFFF"/>
            </a:solidFill>
            <a:round/>
          </a:ln>
        </p:spPr>
        <p:style>
          <a:lnRef idx="0"/>
          <a:fillRef idx="0"/>
          <a:effectRef idx="0"/>
          <a:fontRef idx="minor"/>
        </p:style>
        <p:txBody>
          <a:bodyPr lIns="31680" tIns="0" rIns="31680" bIns="0" anchor="t">
            <a:noAutofit/>
          </a:bodyPr>
          <a:p>
            <a:endParaRPr lang="en-US" sz="1800" b="0" u="none" strike="noStrike">
              <a:solidFill>
                <a:srgbClr val="000000"/>
              </a:solidFill>
              <a:effectLst/>
              <a:uFillTx/>
              <a:latin typeface="Arial"/>
            </a:endParaRPr>
          </a:p>
        </p:txBody>
      </p:sp>
      <p:sp>
        <p:nvSpPr>
          <p:cNvPr id="276" name="Shape 17"/>
          <p:cNvSpPr/>
          <p:nvPr/>
        </p:nvSpPr>
        <p:spPr>
          <a:xfrm>
            <a:off x="2606040" y="3017520"/>
            <a:ext cx="63360" cy="63360"/>
          </a:xfrm>
          <a:prstGeom prst="ellipse">
            <a:avLst/>
          </a:prstGeom>
          <a:solidFill>
            <a:srgbClr val="FFFFFF"/>
          </a:solidFill>
          <a:ln w="12700">
            <a:solidFill>
              <a:srgbClr val="FFFFFF"/>
            </a:solidFill>
            <a:round/>
          </a:ln>
        </p:spPr>
        <p:style>
          <a:lnRef idx="0"/>
          <a:fillRef idx="0"/>
          <a:effectRef idx="0"/>
          <a:fontRef idx="minor"/>
        </p:style>
        <p:txBody>
          <a:bodyPr lIns="31680" tIns="0" rIns="31680" bIns="0" anchor="t">
            <a:noAutofit/>
          </a:bodyPr>
          <a:p>
            <a:endParaRPr lang="en-US" sz="1800" b="0" u="none" strike="noStrike">
              <a:solidFill>
                <a:srgbClr val="000000"/>
              </a:solidFill>
              <a:effectLst/>
              <a:uFillTx/>
              <a:latin typeface="Arial"/>
            </a:endParaRPr>
          </a:p>
        </p:txBody>
      </p:sp>
      <p:sp>
        <p:nvSpPr>
          <p:cNvPr id="277" name="Shape 18"/>
          <p:cNvSpPr/>
          <p:nvPr/>
        </p:nvSpPr>
        <p:spPr>
          <a:xfrm>
            <a:off x="2971800" y="1828800"/>
            <a:ext cx="63360" cy="63360"/>
          </a:xfrm>
          <a:prstGeom prst="ellipse">
            <a:avLst/>
          </a:prstGeom>
          <a:solidFill>
            <a:srgbClr val="FFFFFF"/>
          </a:solidFill>
          <a:ln w="12700">
            <a:solidFill>
              <a:srgbClr val="FFFFFF"/>
            </a:solidFill>
            <a:round/>
          </a:ln>
        </p:spPr>
        <p:style>
          <a:lnRef idx="0"/>
          <a:fillRef idx="0"/>
          <a:effectRef idx="0"/>
          <a:fontRef idx="minor"/>
        </p:style>
        <p:txBody>
          <a:bodyPr lIns="31680" tIns="0" rIns="31680" bIns="0" anchor="t">
            <a:noAutofit/>
          </a:bodyPr>
          <a:p>
            <a:endParaRPr lang="en-US" sz="1800" b="0" u="none" strike="noStrike">
              <a:solidFill>
                <a:srgbClr val="000000"/>
              </a:solidFill>
              <a:effectLst/>
              <a:uFillTx/>
              <a:latin typeface="Arial"/>
            </a:endParaRPr>
          </a:p>
        </p:txBody>
      </p:sp>
      <p:sp>
        <p:nvSpPr>
          <p:cNvPr id="278" name="Shape 19"/>
          <p:cNvSpPr/>
          <p:nvPr/>
        </p:nvSpPr>
        <p:spPr>
          <a:xfrm>
            <a:off x="2971800" y="3017520"/>
            <a:ext cx="63360" cy="63360"/>
          </a:xfrm>
          <a:prstGeom prst="ellipse">
            <a:avLst/>
          </a:prstGeom>
          <a:solidFill>
            <a:srgbClr val="FFFFFF"/>
          </a:solidFill>
          <a:ln w="12700">
            <a:solidFill>
              <a:srgbClr val="FFFFFF"/>
            </a:solidFill>
            <a:round/>
          </a:ln>
        </p:spPr>
        <p:style>
          <a:lnRef idx="0"/>
          <a:fillRef idx="0"/>
          <a:effectRef idx="0"/>
          <a:fontRef idx="minor"/>
        </p:style>
        <p:txBody>
          <a:bodyPr lIns="31680" tIns="0" rIns="31680" bIns="0" anchor="t">
            <a:noAutofit/>
          </a:bodyPr>
          <a:p>
            <a:endParaRPr lang="en-US" sz="1800" b="0" u="none" strike="noStrike">
              <a:solidFill>
                <a:srgbClr val="000000"/>
              </a:solidFill>
              <a:effectLst/>
              <a:uFillTx/>
              <a:latin typeface="Arial"/>
            </a:endParaRPr>
          </a:p>
        </p:txBody>
      </p:sp>
      <p:sp>
        <p:nvSpPr>
          <p:cNvPr id="279" name="Shape 20"/>
          <p:cNvSpPr/>
          <p:nvPr/>
        </p:nvSpPr>
        <p:spPr>
          <a:xfrm>
            <a:off x="3337560" y="1828800"/>
            <a:ext cx="63360" cy="63360"/>
          </a:xfrm>
          <a:prstGeom prst="ellipse">
            <a:avLst/>
          </a:prstGeom>
          <a:solidFill>
            <a:srgbClr val="FFFFFF"/>
          </a:solidFill>
          <a:ln w="12700">
            <a:solidFill>
              <a:srgbClr val="FFFFFF"/>
            </a:solidFill>
            <a:round/>
          </a:ln>
        </p:spPr>
        <p:style>
          <a:lnRef idx="0"/>
          <a:fillRef idx="0"/>
          <a:effectRef idx="0"/>
          <a:fontRef idx="minor"/>
        </p:style>
        <p:txBody>
          <a:bodyPr lIns="31680" tIns="0" rIns="31680" bIns="0" anchor="t">
            <a:noAutofit/>
          </a:bodyPr>
          <a:p>
            <a:endParaRPr lang="en-US" sz="1800" b="0" u="none" strike="noStrike">
              <a:solidFill>
                <a:srgbClr val="000000"/>
              </a:solidFill>
              <a:effectLst/>
              <a:uFillTx/>
              <a:latin typeface="Arial"/>
            </a:endParaRPr>
          </a:p>
        </p:txBody>
      </p:sp>
      <p:sp>
        <p:nvSpPr>
          <p:cNvPr id="280" name="Shape 21"/>
          <p:cNvSpPr/>
          <p:nvPr/>
        </p:nvSpPr>
        <p:spPr>
          <a:xfrm>
            <a:off x="3337560" y="3017520"/>
            <a:ext cx="63360" cy="63360"/>
          </a:xfrm>
          <a:prstGeom prst="ellipse">
            <a:avLst/>
          </a:prstGeom>
          <a:solidFill>
            <a:srgbClr val="FFFFFF"/>
          </a:solidFill>
          <a:ln w="12700">
            <a:solidFill>
              <a:srgbClr val="FFFFFF"/>
            </a:solidFill>
            <a:round/>
          </a:ln>
        </p:spPr>
        <p:style>
          <a:lnRef idx="0"/>
          <a:fillRef idx="0"/>
          <a:effectRef idx="0"/>
          <a:fontRef idx="minor"/>
        </p:style>
        <p:txBody>
          <a:bodyPr lIns="31680" tIns="0" rIns="31680" bIns="0" anchor="t">
            <a:noAutofit/>
          </a:bodyPr>
          <a:p>
            <a:endParaRPr lang="en-US" sz="1800" b="0" u="none" strike="noStrike">
              <a:solidFill>
                <a:srgbClr val="000000"/>
              </a:solidFill>
              <a:effectLst/>
              <a:uFillTx/>
              <a:latin typeface="Arial"/>
            </a:endParaRPr>
          </a:p>
        </p:txBody>
      </p:sp>
      <p:sp>
        <p:nvSpPr>
          <p:cNvPr id="281" name="Shape 22"/>
          <p:cNvSpPr/>
          <p:nvPr/>
        </p:nvSpPr>
        <p:spPr>
          <a:xfrm>
            <a:off x="3703320" y="1828800"/>
            <a:ext cx="63360" cy="63360"/>
          </a:xfrm>
          <a:prstGeom prst="ellipse">
            <a:avLst/>
          </a:prstGeom>
          <a:solidFill>
            <a:srgbClr val="FFFFFF"/>
          </a:solidFill>
          <a:ln w="12700">
            <a:solidFill>
              <a:srgbClr val="FFFFFF"/>
            </a:solidFill>
            <a:round/>
          </a:ln>
        </p:spPr>
        <p:style>
          <a:lnRef idx="0"/>
          <a:fillRef idx="0"/>
          <a:effectRef idx="0"/>
          <a:fontRef idx="minor"/>
        </p:style>
        <p:txBody>
          <a:bodyPr lIns="31680" tIns="0" rIns="31680" bIns="0" anchor="t">
            <a:noAutofit/>
          </a:bodyPr>
          <a:p>
            <a:endParaRPr lang="en-US" sz="1800" b="0" u="none" strike="noStrike">
              <a:solidFill>
                <a:srgbClr val="000000"/>
              </a:solidFill>
              <a:effectLst/>
              <a:uFillTx/>
              <a:latin typeface="Arial"/>
            </a:endParaRPr>
          </a:p>
        </p:txBody>
      </p:sp>
      <p:sp>
        <p:nvSpPr>
          <p:cNvPr id="282" name="Shape 23"/>
          <p:cNvSpPr/>
          <p:nvPr/>
        </p:nvSpPr>
        <p:spPr>
          <a:xfrm>
            <a:off x="3703320" y="3017520"/>
            <a:ext cx="63360" cy="63360"/>
          </a:xfrm>
          <a:prstGeom prst="ellipse">
            <a:avLst/>
          </a:prstGeom>
          <a:solidFill>
            <a:srgbClr val="FFFFFF"/>
          </a:solidFill>
          <a:ln w="12700">
            <a:solidFill>
              <a:srgbClr val="FFFFFF"/>
            </a:solidFill>
            <a:round/>
          </a:ln>
        </p:spPr>
        <p:style>
          <a:lnRef idx="0"/>
          <a:fillRef idx="0"/>
          <a:effectRef idx="0"/>
          <a:fontRef idx="minor"/>
        </p:style>
        <p:txBody>
          <a:bodyPr lIns="31680" tIns="0" rIns="31680" bIns="0" anchor="t">
            <a:noAutofit/>
          </a:bodyPr>
          <a:p>
            <a:endParaRPr lang="en-US" sz="1800" b="0" u="none" strike="noStrike">
              <a:solidFill>
                <a:srgbClr val="000000"/>
              </a:solidFill>
              <a:effectLst/>
              <a:uFillTx/>
              <a:latin typeface="Arial"/>
            </a:endParaRPr>
          </a:p>
        </p:txBody>
      </p:sp>
      <p:sp>
        <p:nvSpPr>
          <p:cNvPr id="283" name="Shape 24"/>
          <p:cNvSpPr/>
          <p:nvPr/>
        </p:nvSpPr>
        <p:spPr>
          <a:xfrm>
            <a:off x="4069080" y="1828800"/>
            <a:ext cx="63360" cy="63360"/>
          </a:xfrm>
          <a:prstGeom prst="ellipse">
            <a:avLst/>
          </a:prstGeom>
          <a:solidFill>
            <a:srgbClr val="FFFFFF"/>
          </a:solidFill>
          <a:ln w="12700">
            <a:solidFill>
              <a:srgbClr val="FFFFFF"/>
            </a:solidFill>
            <a:round/>
          </a:ln>
        </p:spPr>
        <p:style>
          <a:lnRef idx="0"/>
          <a:fillRef idx="0"/>
          <a:effectRef idx="0"/>
          <a:fontRef idx="minor"/>
        </p:style>
        <p:txBody>
          <a:bodyPr lIns="31680" tIns="0" rIns="31680" bIns="0" anchor="t">
            <a:noAutofit/>
          </a:bodyPr>
          <a:p>
            <a:endParaRPr lang="en-US" sz="1800" b="0" u="none" strike="noStrike">
              <a:solidFill>
                <a:srgbClr val="000000"/>
              </a:solidFill>
              <a:effectLst/>
              <a:uFillTx/>
              <a:latin typeface="Arial"/>
            </a:endParaRPr>
          </a:p>
        </p:txBody>
      </p:sp>
      <p:sp>
        <p:nvSpPr>
          <p:cNvPr id="284" name="Shape 25"/>
          <p:cNvSpPr/>
          <p:nvPr/>
        </p:nvSpPr>
        <p:spPr>
          <a:xfrm>
            <a:off x="4069080" y="3017520"/>
            <a:ext cx="63360" cy="63360"/>
          </a:xfrm>
          <a:prstGeom prst="ellipse">
            <a:avLst/>
          </a:prstGeom>
          <a:solidFill>
            <a:srgbClr val="FFFFFF"/>
          </a:solidFill>
          <a:ln w="12700">
            <a:solidFill>
              <a:srgbClr val="FFFFFF"/>
            </a:solidFill>
            <a:round/>
          </a:ln>
        </p:spPr>
        <p:style>
          <a:lnRef idx="0"/>
          <a:fillRef idx="0"/>
          <a:effectRef idx="0"/>
          <a:fontRef idx="minor"/>
        </p:style>
        <p:txBody>
          <a:bodyPr lIns="31680" tIns="0" rIns="31680" bIns="0" anchor="t">
            <a:noAutofit/>
          </a:bodyPr>
          <a:p>
            <a:endParaRPr lang="en-US" sz="1800" b="0" u="none" strike="noStrike">
              <a:solidFill>
                <a:srgbClr val="000000"/>
              </a:solidFill>
              <a:effectLst/>
              <a:uFillTx/>
              <a:latin typeface="Arial"/>
            </a:endParaRPr>
          </a:p>
        </p:txBody>
      </p:sp>
      <p:sp>
        <p:nvSpPr>
          <p:cNvPr id="285" name="Shape 26"/>
          <p:cNvSpPr/>
          <p:nvPr/>
        </p:nvSpPr>
        <p:spPr>
          <a:xfrm>
            <a:off x="4434840" y="1828800"/>
            <a:ext cx="63360" cy="63360"/>
          </a:xfrm>
          <a:prstGeom prst="ellipse">
            <a:avLst/>
          </a:prstGeom>
          <a:solidFill>
            <a:srgbClr val="FFFFFF"/>
          </a:solidFill>
          <a:ln w="12700">
            <a:solidFill>
              <a:srgbClr val="FFFFFF"/>
            </a:solidFill>
            <a:round/>
          </a:ln>
        </p:spPr>
        <p:style>
          <a:lnRef idx="0"/>
          <a:fillRef idx="0"/>
          <a:effectRef idx="0"/>
          <a:fontRef idx="minor"/>
        </p:style>
        <p:txBody>
          <a:bodyPr lIns="31680" tIns="0" rIns="31680" bIns="0" anchor="t">
            <a:noAutofit/>
          </a:bodyPr>
          <a:p>
            <a:endParaRPr lang="en-US" sz="1800" b="0" u="none" strike="noStrike">
              <a:solidFill>
                <a:srgbClr val="000000"/>
              </a:solidFill>
              <a:effectLst/>
              <a:uFillTx/>
              <a:latin typeface="Arial"/>
            </a:endParaRPr>
          </a:p>
        </p:txBody>
      </p:sp>
      <p:sp>
        <p:nvSpPr>
          <p:cNvPr id="286" name="Shape 27"/>
          <p:cNvSpPr/>
          <p:nvPr/>
        </p:nvSpPr>
        <p:spPr>
          <a:xfrm>
            <a:off x="4434840" y="3017520"/>
            <a:ext cx="63360" cy="63360"/>
          </a:xfrm>
          <a:prstGeom prst="ellipse">
            <a:avLst/>
          </a:prstGeom>
          <a:solidFill>
            <a:srgbClr val="FFFFFF"/>
          </a:solidFill>
          <a:ln w="12700">
            <a:solidFill>
              <a:srgbClr val="FFFFFF"/>
            </a:solidFill>
            <a:round/>
          </a:ln>
        </p:spPr>
        <p:style>
          <a:lnRef idx="0"/>
          <a:fillRef idx="0"/>
          <a:effectRef idx="0"/>
          <a:fontRef idx="minor"/>
        </p:style>
        <p:txBody>
          <a:bodyPr lIns="31680" tIns="0" rIns="31680" bIns="0" anchor="t">
            <a:noAutofit/>
          </a:bodyPr>
          <a:p>
            <a:endParaRPr lang="en-US" sz="1800" b="0" u="none" strike="noStrike">
              <a:solidFill>
                <a:srgbClr val="000000"/>
              </a:solidFill>
              <a:effectLst/>
              <a:uFillTx/>
              <a:latin typeface="Arial"/>
            </a:endParaRPr>
          </a:p>
        </p:txBody>
      </p:sp>
      <p:sp>
        <p:nvSpPr>
          <p:cNvPr id="287" name="Shape 28"/>
          <p:cNvSpPr/>
          <p:nvPr/>
        </p:nvSpPr>
        <p:spPr>
          <a:xfrm>
            <a:off x="4800600" y="1828800"/>
            <a:ext cx="63360" cy="63360"/>
          </a:xfrm>
          <a:prstGeom prst="ellipse">
            <a:avLst/>
          </a:prstGeom>
          <a:solidFill>
            <a:srgbClr val="FFFFFF"/>
          </a:solidFill>
          <a:ln w="12700">
            <a:solidFill>
              <a:srgbClr val="FFFFFF"/>
            </a:solidFill>
            <a:round/>
          </a:ln>
        </p:spPr>
        <p:style>
          <a:lnRef idx="0"/>
          <a:fillRef idx="0"/>
          <a:effectRef idx="0"/>
          <a:fontRef idx="minor"/>
        </p:style>
        <p:txBody>
          <a:bodyPr lIns="31680" tIns="0" rIns="31680" bIns="0" anchor="t">
            <a:noAutofit/>
          </a:bodyPr>
          <a:p>
            <a:endParaRPr lang="en-US" sz="1800" b="0" u="none" strike="noStrike">
              <a:solidFill>
                <a:srgbClr val="000000"/>
              </a:solidFill>
              <a:effectLst/>
              <a:uFillTx/>
              <a:latin typeface="Arial"/>
            </a:endParaRPr>
          </a:p>
        </p:txBody>
      </p:sp>
      <p:sp>
        <p:nvSpPr>
          <p:cNvPr id="288" name="Shape 29"/>
          <p:cNvSpPr/>
          <p:nvPr/>
        </p:nvSpPr>
        <p:spPr>
          <a:xfrm>
            <a:off x="4800600" y="3017520"/>
            <a:ext cx="63360" cy="63360"/>
          </a:xfrm>
          <a:prstGeom prst="ellipse">
            <a:avLst/>
          </a:prstGeom>
          <a:solidFill>
            <a:srgbClr val="FFFFFF"/>
          </a:solidFill>
          <a:ln w="12700">
            <a:solidFill>
              <a:srgbClr val="FFFFFF"/>
            </a:solidFill>
            <a:round/>
          </a:ln>
        </p:spPr>
        <p:style>
          <a:lnRef idx="0"/>
          <a:fillRef idx="0"/>
          <a:effectRef idx="0"/>
          <a:fontRef idx="minor"/>
        </p:style>
        <p:txBody>
          <a:bodyPr lIns="31680" tIns="0" rIns="31680" bIns="0" anchor="t">
            <a:noAutofit/>
          </a:bodyPr>
          <a:p>
            <a:endParaRPr lang="en-US" sz="1800" b="0" u="none" strike="noStrike">
              <a:solidFill>
                <a:srgbClr val="000000"/>
              </a:solidFill>
              <a:effectLst/>
              <a:uFillTx/>
              <a:latin typeface="Arial"/>
            </a:endParaRPr>
          </a:p>
        </p:txBody>
      </p:sp>
      <p:sp>
        <p:nvSpPr>
          <p:cNvPr id="289" name="Shape 30"/>
          <p:cNvSpPr/>
          <p:nvPr/>
        </p:nvSpPr>
        <p:spPr>
          <a:xfrm>
            <a:off x="5166360" y="1828800"/>
            <a:ext cx="63360" cy="63360"/>
          </a:xfrm>
          <a:prstGeom prst="ellipse">
            <a:avLst/>
          </a:prstGeom>
          <a:solidFill>
            <a:srgbClr val="FFFFFF"/>
          </a:solidFill>
          <a:ln w="12700">
            <a:solidFill>
              <a:srgbClr val="FFFFFF"/>
            </a:solidFill>
            <a:round/>
          </a:ln>
        </p:spPr>
        <p:style>
          <a:lnRef idx="0"/>
          <a:fillRef idx="0"/>
          <a:effectRef idx="0"/>
          <a:fontRef idx="minor"/>
        </p:style>
        <p:txBody>
          <a:bodyPr lIns="31680" tIns="0" rIns="31680" bIns="0" anchor="t">
            <a:noAutofit/>
          </a:bodyPr>
          <a:p>
            <a:endParaRPr lang="en-US" sz="1800" b="0" u="none" strike="noStrike">
              <a:solidFill>
                <a:srgbClr val="000000"/>
              </a:solidFill>
              <a:effectLst/>
              <a:uFillTx/>
              <a:latin typeface="Arial"/>
            </a:endParaRPr>
          </a:p>
        </p:txBody>
      </p:sp>
      <p:sp>
        <p:nvSpPr>
          <p:cNvPr id="290" name="Shape 31"/>
          <p:cNvSpPr/>
          <p:nvPr/>
        </p:nvSpPr>
        <p:spPr>
          <a:xfrm>
            <a:off x="5166360" y="3017520"/>
            <a:ext cx="63360" cy="63360"/>
          </a:xfrm>
          <a:prstGeom prst="ellipse">
            <a:avLst/>
          </a:prstGeom>
          <a:solidFill>
            <a:srgbClr val="FFFFFF"/>
          </a:solidFill>
          <a:ln w="12700">
            <a:solidFill>
              <a:srgbClr val="FFFFFF"/>
            </a:solidFill>
            <a:round/>
          </a:ln>
        </p:spPr>
        <p:style>
          <a:lnRef idx="0"/>
          <a:fillRef idx="0"/>
          <a:effectRef idx="0"/>
          <a:fontRef idx="minor"/>
        </p:style>
        <p:txBody>
          <a:bodyPr lIns="31680" tIns="0" rIns="31680" bIns="0" anchor="t">
            <a:noAutofit/>
          </a:bodyPr>
          <a:p>
            <a:endParaRPr lang="en-US" sz="1800" b="0" u="none" strike="noStrike">
              <a:solidFill>
                <a:srgbClr val="000000"/>
              </a:solidFill>
              <a:effectLst/>
              <a:uFillTx/>
              <a:latin typeface="Arial"/>
            </a:endParaRPr>
          </a:p>
        </p:txBody>
      </p:sp>
      <p:sp>
        <p:nvSpPr>
          <p:cNvPr id="291" name="Shape 32"/>
          <p:cNvSpPr/>
          <p:nvPr/>
        </p:nvSpPr>
        <p:spPr>
          <a:xfrm>
            <a:off x="2514600" y="2423160"/>
            <a:ext cx="410760" cy="410760"/>
          </a:xfrm>
          <a:prstGeom prst="arc">
            <a:avLst>
              <a:gd name="adj1" fmla="val 16200000"/>
              <a:gd name="adj2" fmla="val 0"/>
            </a:avLst>
          </a:prstGeom>
          <a:solidFill>
            <a:srgbClr val="FFE600"/>
          </a:solidFill>
          <a:ln w="12700">
            <a:solidFill>
              <a:srgbClr val="FFE60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92" name="Shape 33"/>
          <p:cNvSpPr/>
          <p:nvPr/>
        </p:nvSpPr>
        <p:spPr>
          <a:xfrm>
            <a:off x="3840480" y="2176200"/>
            <a:ext cx="310320" cy="346680"/>
          </a:xfrm>
          <a:prstGeom prst="ellipse">
            <a:avLst/>
          </a:prstGeom>
          <a:solidFill>
            <a:srgbClr val="A32020"/>
          </a:solidFill>
          <a:ln w="12700">
            <a:solidFill>
              <a:srgbClr val="A32020"/>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93" name="Shape 34"/>
          <p:cNvSpPr/>
          <p:nvPr/>
        </p:nvSpPr>
        <p:spPr>
          <a:xfrm>
            <a:off x="4224600" y="2176200"/>
            <a:ext cx="310320" cy="346680"/>
          </a:xfrm>
          <a:prstGeom prst="ellipse">
            <a:avLst/>
          </a:prstGeom>
          <a:solidFill>
            <a:srgbClr val="2B6CB0"/>
          </a:solidFill>
          <a:ln w="12700">
            <a:solidFill>
              <a:srgbClr val="2B6CB0"/>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94" name="Text 35"/>
          <p:cNvSpPr/>
          <p:nvPr/>
        </p:nvSpPr>
        <p:spPr>
          <a:xfrm>
            <a:off x="960120" y="3703320"/>
            <a:ext cx="182808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FFF85A"/>
                </a:solidFill>
                <a:effectLst/>
                <a:uFillTx/>
                <a:latin typeface="Georgia"/>
                <a:ea typeface="Georgia"/>
              </a:rPr>
              <a:t>SCORE: 0</a:t>
            </a:r>
            <a:endParaRPr lang="en-US" sz="1500" b="0" u="none" strike="noStrike">
              <a:solidFill>
                <a:srgbClr val="000000"/>
              </a:solidFill>
              <a:effectLst/>
              <a:uFillTx/>
              <a:latin typeface="Arial"/>
            </a:endParaRPr>
          </a:p>
        </p:txBody>
      </p:sp>
      <p:sp>
        <p:nvSpPr>
          <p:cNvPr id="295" name="Shape 36"/>
          <p:cNvSpPr/>
          <p:nvPr/>
        </p:nvSpPr>
        <p:spPr>
          <a:xfrm>
            <a:off x="6446520" y="1234440"/>
            <a:ext cx="4662720" cy="867960"/>
          </a:xfrm>
          <a:prstGeom prst="roundRect">
            <a:avLst>
              <a:gd name="adj" fmla="val 6316"/>
            </a:avLst>
          </a:prstGeom>
          <a:solidFill>
            <a:srgbClr val="FFFFFF"/>
          </a:solidFill>
          <a:ln w="12700">
            <a:solidFill>
              <a:srgbClr val="D3DEE9"/>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96" name="Text 37"/>
          <p:cNvSpPr/>
          <p:nvPr/>
        </p:nvSpPr>
        <p:spPr>
          <a:xfrm>
            <a:off x="6611040" y="1380600"/>
            <a:ext cx="433368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2B6CB0"/>
                </a:solidFill>
                <a:effectLst/>
                <a:uFillTx/>
                <a:latin typeface="Aptos"/>
              </a:rPr>
              <a:t>Sensors / percepts</a:t>
            </a:r>
            <a:endParaRPr lang="en-US" sz="1500" b="0" u="none" strike="noStrike">
              <a:solidFill>
                <a:srgbClr val="000000"/>
              </a:solidFill>
              <a:effectLst/>
              <a:uFillTx/>
              <a:latin typeface="Arial"/>
            </a:endParaRPr>
          </a:p>
        </p:txBody>
      </p:sp>
      <p:sp>
        <p:nvSpPr>
          <p:cNvPr id="297" name="Text 38"/>
          <p:cNvSpPr/>
          <p:nvPr/>
        </p:nvSpPr>
        <p:spPr>
          <a:xfrm>
            <a:off x="6611040" y="1710000"/>
            <a:ext cx="4333680" cy="273600"/>
          </a:xfrm>
          <a:prstGeom prst="rect">
            <a:avLst/>
          </a:prstGeom>
          <a:noFill/>
          <a:ln w="0">
            <a:noFill/>
          </a:ln>
        </p:spPr>
        <p:style>
          <a:lnRef idx="0"/>
          <a:fillRef idx="0"/>
          <a:effectRef idx="0"/>
          <a:fontRef idx="minor"/>
        </p:style>
        <p:txBody>
          <a:bodyPr lIns="360" tIns="360" rIns="360" bIns="360" anchor="ctr">
            <a:normAutofit fontScale="92500" lnSpcReduction="9999"/>
          </a:bodyPr>
          <a:p>
            <a:pPr defTabSz="914400">
              <a:lnSpc>
                <a:spcPct val="100000"/>
              </a:lnSpc>
              <a:tabLst>
                <a:tab pos="0" algn="l"/>
              </a:tabLst>
            </a:pPr>
            <a:r>
              <a:rPr lang="en-US" sz="1200" b="0" u="none" strike="noStrike">
                <a:solidFill>
                  <a:srgbClr val="0B1F3A"/>
                </a:solidFill>
                <a:effectLst/>
                <a:uFillTx/>
                <a:latin typeface="Aptos"/>
              </a:rPr>
              <a:t>Walls, pellets, ghost positions, legal moves, power-pellet status.</a:t>
            </a:r>
            <a:endParaRPr lang="en-US" sz="1200" b="0" u="none" strike="noStrike">
              <a:solidFill>
                <a:srgbClr val="000000"/>
              </a:solidFill>
              <a:effectLst/>
              <a:uFillTx/>
              <a:latin typeface="Arial"/>
            </a:endParaRPr>
          </a:p>
        </p:txBody>
      </p:sp>
      <p:sp>
        <p:nvSpPr>
          <p:cNvPr id="298" name="Shape 39"/>
          <p:cNvSpPr/>
          <p:nvPr/>
        </p:nvSpPr>
        <p:spPr>
          <a:xfrm>
            <a:off x="6446520" y="2267640"/>
            <a:ext cx="4662720" cy="867960"/>
          </a:xfrm>
          <a:prstGeom prst="roundRect">
            <a:avLst>
              <a:gd name="adj" fmla="val 6316"/>
            </a:avLst>
          </a:prstGeom>
          <a:solidFill>
            <a:srgbClr val="FFFFFF"/>
          </a:solidFill>
          <a:ln w="12700">
            <a:solidFill>
              <a:srgbClr val="D3DEE9"/>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99" name="Text 40"/>
          <p:cNvSpPr/>
          <p:nvPr/>
        </p:nvSpPr>
        <p:spPr>
          <a:xfrm>
            <a:off x="6611040" y="2414160"/>
            <a:ext cx="433368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048A97"/>
                </a:solidFill>
                <a:effectLst/>
                <a:uFillTx/>
                <a:latin typeface="Aptos"/>
              </a:rPr>
              <a:t>Actions / actuators</a:t>
            </a:r>
            <a:endParaRPr lang="en-US" sz="1500" b="0" u="none" strike="noStrike">
              <a:solidFill>
                <a:srgbClr val="000000"/>
              </a:solidFill>
              <a:effectLst/>
              <a:uFillTx/>
              <a:latin typeface="Arial"/>
            </a:endParaRPr>
          </a:p>
        </p:txBody>
      </p:sp>
      <p:sp>
        <p:nvSpPr>
          <p:cNvPr id="300" name="Text 41"/>
          <p:cNvSpPr/>
          <p:nvPr/>
        </p:nvSpPr>
        <p:spPr>
          <a:xfrm>
            <a:off x="6611040" y="2743200"/>
            <a:ext cx="4333680" cy="273600"/>
          </a:xfrm>
          <a:prstGeom prst="rect">
            <a:avLst/>
          </a:prstGeom>
          <a:noFill/>
          <a:ln w="0">
            <a:noFill/>
          </a:ln>
        </p:spPr>
        <p:style>
          <a:lnRef idx="0"/>
          <a:fillRef idx="0"/>
          <a:effectRef idx="0"/>
          <a:fontRef idx="minor"/>
        </p:style>
        <p:txBody>
          <a:bodyPr lIns="360" tIns="360" rIns="360" bIns="360" anchor="ctr">
            <a:normAutofit fontScale="92500" lnSpcReduction="9999"/>
          </a:bodyPr>
          <a:p>
            <a:pPr defTabSz="914400">
              <a:lnSpc>
                <a:spcPct val="100000"/>
              </a:lnSpc>
              <a:tabLst>
                <a:tab pos="0" algn="l"/>
              </a:tabLst>
            </a:pPr>
            <a:r>
              <a:rPr lang="en-US" sz="1200" b="0" u="none" strike="noStrike">
                <a:solidFill>
                  <a:srgbClr val="0B1F3A"/>
                </a:solidFill>
                <a:effectLst/>
                <a:uFillTx/>
                <a:latin typeface="Aptos"/>
              </a:rPr>
              <a:t>Move left, right, up, or down. Action changes the maze state.</a:t>
            </a:r>
            <a:endParaRPr lang="en-US" sz="1200" b="0" u="none" strike="noStrike">
              <a:solidFill>
                <a:srgbClr val="000000"/>
              </a:solidFill>
              <a:effectLst/>
              <a:uFillTx/>
              <a:latin typeface="Arial"/>
            </a:endParaRPr>
          </a:p>
        </p:txBody>
      </p:sp>
      <p:sp>
        <p:nvSpPr>
          <p:cNvPr id="301" name="Shape 42"/>
          <p:cNvSpPr/>
          <p:nvPr/>
        </p:nvSpPr>
        <p:spPr>
          <a:xfrm>
            <a:off x="6446520" y="3300840"/>
            <a:ext cx="4662720" cy="867960"/>
          </a:xfrm>
          <a:prstGeom prst="roundRect">
            <a:avLst>
              <a:gd name="adj" fmla="val 6316"/>
            </a:avLst>
          </a:prstGeom>
          <a:solidFill>
            <a:srgbClr val="FFFFFF"/>
          </a:solidFill>
          <a:ln w="12700">
            <a:solidFill>
              <a:srgbClr val="D3DEE9"/>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02" name="Text 43"/>
          <p:cNvSpPr/>
          <p:nvPr/>
        </p:nvSpPr>
        <p:spPr>
          <a:xfrm>
            <a:off x="6611040" y="3447360"/>
            <a:ext cx="433368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1B7A45"/>
                </a:solidFill>
                <a:effectLst/>
                <a:uFillTx/>
                <a:latin typeface="Aptos"/>
              </a:rPr>
              <a:t>Performance</a:t>
            </a:r>
            <a:endParaRPr lang="en-US" sz="1500" b="0" u="none" strike="noStrike">
              <a:solidFill>
                <a:srgbClr val="000000"/>
              </a:solidFill>
              <a:effectLst/>
              <a:uFillTx/>
              <a:latin typeface="Arial"/>
            </a:endParaRPr>
          </a:p>
        </p:txBody>
      </p:sp>
      <p:sp>
        <p:nvSpPr>
          <p:cNvPr id="303" name="Text 44"/>
          <p:cNvSpPr/>
          <p:nvPr/>
        </p:nvSpPr>
        <p:spPr>
          <a:xfrm>
            <a:off x="6611040" y="3776400"/>
            <a:ext cx="4333680" cy="273600"/>
          </a:xfrm>
          <a:prstGeom prst="rect">
            <a:avLst/>
          </a:prstGeom>
          <a:noFill/>
          <a:ln w="0">
            <a:noFill/>
          </a:ln>
        </p:spPr>
        <p:style>
          <a:lnRef idx="0"/>
          <a:fillRef idx="0"/>
          <a:effectRef idx="0"/>
          <a:fontRef idx="minor"/>
        </p:style>
        <p:txBody>
          <a:bodyPr lIns="360" tIns="360" rIns="360" bIns="360" anchor="ctr">
            <a:normAutofit fontScale="85000" lnSpcReduction="9999"/>
          </a:bodyPr>
          <a:p>
            <a:pPr defTabSz="914400">
              <a:lnSpc>
                <a:spcPct val="100000"/>
              </a:lnSpc>
              <a:tabLst>
                <a:tab pos="0" algn="l"/>
              </a:tabLst>
            </a:pPr>
            <a:r>
              <a:rPr lang="en-US" sz="1200" b="0" u="none" strike="noStrike">
                <a:solidFill>
                  <a:srgbClr val="0B1F3A"/>
                </a:solidFill>
                <a:effectLst/>
                <a:uFillTx/>
                <a:latin typeface="Aptos"/>
              </a:rPr>
              <a:t>Maximize score; eat pellets; avoid ghosts; use power pellets safely.</a:t>
            </a:r>
            <a:endParaRPr lang="en-US" sz="1200" b="0" u="none" strike="noStrike">
              <a:solidFill>
                <a:srgbClr val="000000"/>
              </a:solidFill>
              <a:effectLst/>
              <a:uFillTx/>
              <a:latin typeface="Arial"/>
            </a:endParaRPr>
          </a:p>
        </p:txBody>
      </p:sp>
      <p:sp>
        <p:nvSpPr>
          <p:cNvPr id="304" name="Shape 45"/>
          <p:cNvSpPr/>
          <p:nvPr/>
        </p:nvSpPr>
        <p:spPr>
          <a:xfrm>
            <a:off x="6446520" y="4334400"/>
            <a:ext cx="4662720" cy="867960"/>
          </a:xfrm>
          <a:prstGeom prst="roundRect">
            <a:avLst>
              <a:gd name="adj" fmla="val 6316"/>
            </a:avLst>
          </a:prstGeom>
          <a:solidFill>
            <a:srgbClr val="FFFFFF"/>
          </a:solidFill>
          <a:ln w="12700">
            <a:solidFill>
              <a:srgbClr val="D3DEE9"/>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05" name="Text 46"/>
          <p:cNvSpPr/>
          <p:nvPr/>
        </p:nvSpPr>
        <p:spPr>
          <a:xfrm>
            <a:off x="6611040" y="4480560"/>
            <a:ext cx="433368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5B35B1"/>
                </a:solidFill>
                <a:effectLst/>
                <a:uFillTx/>
                <a:latin typeface="Aptos"/>
              </a:rPr>
              <a:t>Environment</a:t>
            </a:r>
            <a:endParaRPr lang="en-US" sz="1500" b="0" u="none" strike="noStrike">
              <a:solidFill>
                <a:srgbClr val="000000"/>
              </a:solidFill>
              <a:effectLst/>
              <a:uFillTx/>
              <a:latin typeface="Arial"/>
            </a:endParaRPr>
          </a:p>
        </p:txBody>
      </p:sp>
      <p:sp>
        <p:nvSpPr>
          <p:cNvPr id="306" name="Text 47"/>
          <p:cNvSpPr/>
          <p:nvPr/>
        </p:nvSpPr>
        <p:spPr>
          <a:xfrm>
            <a:off x="6611040" y="4809600"/>
            <a:ext cx="4333680" cy="273600"/>
          </a:xfrm>
          <a:prstGeom prst="rect">
            <a:avLst/>
          </a:prstGeom>
          <a:noFill/>
          <a:ln w="0">
            <a:noFill/>
          </a:ln>
        </p:spPr>
        <p:style>
          <a:lnRef idx="0"/>
          <a:fillRef idx="0"/>
          <a:effectRef idx="0"/>
          <a:fontRef idx="minor"/>
        </p:style>
        <p:txBody>
          <a:bodyPr lIns="360" tIns="360" rIns="360" bIns="360" anchor="ctr">
            <a:normAutofit fontScale="85000" lnSpcReduction="19999"/>
          </a:bodyPr>
          <a:p>
            <a:pPr defTabSz="914400">
              <a:lnSpc>
                <a:spcPct val="100000"/>
              </a:lnSpc>
              <a:tabLst>
                <a:tab pos="0" algn="l"/>
              </a:tabLst>
            </a:pPr>
            <a:r>
              <a:rPr lang="en-US" sz="1200" b="0" u="none" strike="noStrike">
                <a:solidFill>
                  <a:srgbClr val="0B1F3A"/>
                </a:solidFill>
                <a:effectLst/>
                <a:uFillTx/>
                <a:latin typeface="Aptos"/>
              </a:rPr>
              <a:t>Sequential, dynamic, multiagent, discrete grid; partially observable in richer versions.</a:t>
            </a:r>
            <a:endParaRPr lang="en-US" sz="1200" b="0" u="none" strike="noStrike">
              <a:solidFill>
                <a:srgbClr val="000000"/>
              </a:solidFill>
              <a:effectLst/>
              <a:uFillTx/>
              <a:latin typeface="Arial"/>
            </a:endParaRPr>
          </a:p>
        </p:txBody>
      </p:sp>
      <p:sp>
        <p:nvSpPr>
          <p:cNvPr id="307" name="Text 48"/>
          <p:cNvSpPr/>
          <p:nvPr/>
        </p:nvSpPr>
        <p:spPr>
          <a:xfrm>
            <a:off x="777240" y="5833800"/>
            <a:ext cx="10789200" cy="291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700" b="1" u="none" strike="noStrike">
                <a:solidFill>
                  <a:srgbClr val="0B2B5C"/>
                </a:solidFill>
                <a:effectLst/>
                <a:uFillTx/>
                <a:latin typeface="Aptos"/>
              </a:rPr>
              <a:t>Class demo: the autonomous Pac-Man game implements this loop in code.</a:t>
            </a:r>
            <a:endParaRPr lang="en-US" sz="17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6FA"/>
        </a:solidFill>
      </p:bgPr>
    </p:bg>
    <p:spTree>
      <p:nvGrpSpPr>
        <p:cNvPr id="1" name=""/>
        <p:cNvGrpSpPr/>
        <p:nvPr/>
      </p:nvGrpSpPr>
      <p:grpSpPr>
        <a:xfrm>
          <a:off x="0" y="0"/>
          <a:ext cx="0" cy="0"/>
          <a:chOff x="0" y="0"/>
          <a:chExt cx="0" cy="0"/>
        </a:xfrm>
      </p:grpSpPr>
      <p:sp>
        <p:nvSpPr>
          <p:cNvPr id="308" name="Shape 0"/>
          <p:cNvSpPr/>
          <p:nvPr/>
        </p:nvSpPr>
        <p:spPr>
          <a:xfrm>
            <a:off x="0" y="0"/>
            <a:ext cx="12191040" cy="803880"/>
          </a:xfrm>
          <a:prstGeom prst="rect">
            <a:avLst/>
          </a:prstGeom>
          <a:solidFill>
            <a:srgbClr val="0B2B5C"/>
          </a:solidFill>
          <a:ln w="12700">
            <a:solidFill>
              <a:srgbClr val="0B2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09" name="Shape 1"/>
          <p:cNvSpPr/>
          <p:nvPr/>
        </p:nvSpPr>
        <p:spPr>
          <a:xfrm>
            <a:off x="0" y="804600"/>
            <a:ext cx="12191040" cy="72360"/>
          </a:xfrm>
          <a:prstGeom prst="rect">
            <a:avLst/>
          </a:prstGeom>
          <a:solidFill>
            <a:srgbClr val="F5A21B"/>
          </a:solidFill>
          <a:ln w="12700">
            <a:solidFill>
              <a:srgbClr val="F5A21B"/>
            </a:solidFill>
            <a:round/>
          </a:ln>
        </p:spPr>
        <p:style>
          <a:lnRef idx="0"/>
          <a:fillRef idx="0"/>
          <a:effectRef idx="0"/>
          <a:fontRef idx="minor"/>
        </p:style>
        <p:txBody>
          <a:bodyPr lIns="90000" tIns="28080" rIns="90000" bIns="28080" anchor="t">
            <a:noAutofit/>
          </a:bodyPr>
          <a:p>
            <a:endParaRPr lang="en-US" sz="1800" b="0" u="none" strike="noStrike">
              <a:solidFill>
                <a:srgbClr val="000000"/>
              </a:solidFill>
              <a:effectLst/>
              <a:uFillTx/>
              <a:latin typeface="Arial"/>
            </a:endParaRPr>
          </a:p>
        </p:txBody>
      </p:sp>
      <p:sp>
        <p:nvSpPr>
          <p:cNvPr id="310" name="Text 2"/>
          <p:cNvSpPr/>
          <p:nvPr/>
        </p:nvSpPr>
        <p:spPr>
          <a:xfrm>
            <a:off x="475560" y="210240"/>
            <a:ext cx="960048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300" b="1" u="none" strike="noStrike">
                <a:solidFill>
                  <a:srgbClr val="FFFFFF"/>
                </a:solidFill>
                <a:effectLst/>
                <a:uFillTx/>
                <a:latin typeface="Aptos Display"/>
                <a:ea typeface="Aptos Display"/>
              </a:rPr>
              <a:t>2.4 Agent Structure: Architecture + Program</a:t>
            </a:r>
            <a:endParaRPr lang="en-US" sz="2300" b="0" u="none" strike="noStrike">
              <a:solidFill>
                <a:srgbClr val="000000"/>
              </a:solidFill>
              <a:effectLst/>
              <a:uFillTx/>
              <a:latin typeface="Arial"/>
            </a:endParaRPr>
          </a:p>
        </p:txBody>
      </p:sp>
      <p:sp>
        <p:nvSpPr>
          <p:cNvPr id="311" name="Text 3"/>
          <p:cNvSpPr/>
          <p:nvPr/>
        </p:nvSpPr>
        <p:spPr>
          <a:xfrm>
            <a:off x="10241280" y="255960"/>
            <a:ext cx="13708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200" b="0" u="none" strike="noStrike">
                <a:solidFill>
                  <a:srgbClr val="DDE8F2"/>
                </a:solidFill>
                <a:effectLst/>
                <a:uFillTx/>
                <a:latin typeface="Aptos"/>
                <a:ea typeface="Aptos"/>
              </a:rPr>
              <a:t>2.4</a:t>
            </a:r>
            <a:endParaRPr lang="en-US" sz="1200" b="0" u="none" strike="noStrike">
              <a:solidFill>
                <a:srgbClr val="000000"/>
              </a:solidFill>
              <a:effectLst/>
              <a:uFillTx/>
              <a:latin typeface="Arial"/>
            </a:endParaRPr>
          </a:p>
        </p:txBody>
      </p:sp>
      <p:sp>
        <p:nvSpPr>
          <p:cNvPr id="312" name="Text 4"/>
          <p:cNvSpPr/>
          <p:nvPr/>
        </p:nvSpPr>
        <p:spPr>
          <a:xfrm>
            <a:off x="475560" y="6565320"/>
            <a:ext cx="274248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313" name="Text 5"/>
          <p:cNvSpPr/>
          <p:nvPr/>
        </p:nvSpPr>
        <p:spPr>
          <a:xfrm>
            <a:off x="11411640" y="6565320"/>
            <a:ext cx="273600" cy="163800"/>
          </a:xfrm>
          <a:prstGeom prst="rect">
            <a:avLst/>
          </a:prstGeom>
          <a:noFill/>
          <a:ln w="0">
            <a:noFill/>
          </a:ln>
        </p:spPr>
        <p:style>
          <a:lnRef idx="0"/>
          <a:fillRef idx="0"/>
          <a:effectRef idx="0"/>
          <a:fontRef idx="minor"/>
        </p:style>
        <p:txBody>
          <a:bodyPr lIns="0" tIns="0" rIns="0" bIns="0" anchor="ctr">
            <a:noAutofit/>
          </a:bodyPr>
          <a:p>
            <a:r>
              <a:t>14</a:t>
            </a:r>
          </a:p>
        </p:txBody>
      </p:sp>
      <p:sp>
        <p:nvSpPr>
          <p:cNvPr id="314" name="Text 6"/>
          <p:cNvSpPr/>
          <p:nvPr/>
        </p:nvSpPr>
        <p:spPr>
          <a:xfrm>
            <a:off x="914400" y="1143000"/>
            <a:ext cx="10332000" cy="5022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800" b="1" u="none" strike="noStrike">
                <a:solidFill>
                  <a:srgbClr val="0B2B5C"/>
                </a:solidFill>
                <a:effectLst/>
                <a:uFillTx/>
                <a:latin typeface="Aptos"/>
              </a:rPr>
              <a:t>agent = architecture + program</a:t>
            </a:r>
            <a:endParaRPr lang="en-US" sz="2800" b="0" u="none" strike="noStrike">
              <a:solidFill>
                <a:srgbClr val="000000"/>
              </a:solidFill>
              <a:effectLst/>
              <a:uFillTx/>
              <a:latin typeface="Arial"/>
            </a:endParaRPr>
          </a:p>
        </p:txBody>
      </p:sp>
      <p:sp>
        <p:nvSpPr>
          <p:cNvPr id="315" name="Shape 7"/>
          <p:cNvSpPr/>
          <p:nvPr/>
        </p:nvSpPr>
        <p:spPr>
          <a:xfrm>
            <a:off x="914400" y="2057400"/>
            <a:ext cx="3382560" cy="1233720"/>
          </a:xfrm>
          <a:prstGeom prst="roundRect">
            <a:avLst>
              <a:gd name="adj" fmla="val 4444"/>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16" name="Text 8"/>
          <p:cNvSpPr/>
          <p:nvPr/>
        </p:nvSpPr>
        <p:spPr>
          <a:xfrm>
            <a:off x="1078920" y="2203560"/>
            <a:ext cx="305352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2B6CB0"/>
                </a:solidFill>
                <a:effectLst/>
                <a:uFillTx/>
                <a:latin typeface="Aptos"/>
              </a:rPr>
              <a:t>Architecture</a:t>
            </a:r>
            <a:endParaRPr lang="en-US" sz="1800" b="0" u="none" strike="noStrike">
              <a:solidFill>
                <a:srgbClr val="000000"/>
              </a:solidFill>
              <a:effectLst/>
              <a:uFillTx/>
              <a:latin typeface="Arial"/>
            </a:endParaRPr>
          </a:p>
        </p:txBody>
      </p:sp>
      <p:sp>
        <p:nvSpPr>
          <p:cNvPr id="317" name="Text 9"/>
          <p:cNvSpPr/>
          <p:nvPr/>
        </p:nvSpPr>
        <p:spPr>
          <a:xfrm>
            <a:off x="1078920" y="2532960"/>
            <a:ext cx="3053520" cy="63936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300" b="0" u="none" strike="noStrike">
                <a:solidFill>
                  <a:srgbClr val="0B1F3A"/>
                </a:solidFill>
                <a:effectLst/>
                <a:uFillTx/>
                <a:latin typeface="Aptos"/>
              </a:rPr>
              <a:t>Physical or computational platform: sensors, processors, memory, actuators.</a:t>
            </a:r>
            <a:endParaRPr lang="en-US" sz="1300" b="0" u="none" strike="noStrike">
              <a:solidFill>
                <a:srgbClr val="000000"/>
              </a:solidFill>
              <a:effectLst/>
              <a:uFillTx/>
              <a:latin typeface="Arial"/>
            </a:endParaRPr>
          </a:p>
        </p:txBody>
      </p:sp>
      <p:sp>
        <p:nvSpPr>
          <p:cNvPr id="318" name="Shape 10"/>
          <p:cNvSpPr/>
          <p:nvPr/>
        </p:nvSpPr>
        <p:spPr>
          <a:xfrm>
            <a:off x="4434840" y="2057400"/>
            <a:ext cx="3382560" cy="1233720"/>
          </a:xfrm>
          <a:prstGeom prst="roundRect">
            <a:avLst>
              <a:gd name="adj" fmla="val 4444"/>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19" name="Text 11"/>
          <p:cNvSpPr/>
          <p:nvPr/>
        </p:nvSpPr>
        <p:spPr>
          <a:xfrm>
            <a:off x="4599360" y="2203560"/>
            <a:ext cx="305352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048A97"/>
                </a:solidFill>
                <a:effectLst/>
                <a:uFillTx/>
                <a:latin typeface="Aptos"/>
              </a:rPr>
              <a:t>Agent program</a:t>
            </a:r>
            <a:endParaRPr lang="en-US" sz="1800" b="0" u="none" strike="noStrike">
              <a:solidFill>
                <a:srgbClr val="000000"/>
              </a:solidFill>
              <a:effectLst/>
              <a:uFillTx/>
              <a:latin typeface="Arial"/>
            </a:endParaRPr>
          </a:p>
        </p:txBody>
      </p:sp>
      <p:sp>
        <p:nvSpPr>
          <p:cNvPr id="320" name="Text 12"/>
          <p:cNvSpPr/>
          <p:nvPr/>
        </p:nvSpPr>
        <p:spPr>
          <a:xfrm>
            <a:off x="4599360" y="2532960"/>
            <a:ext cx="3053520" cy="63936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300" b="0" u="none" strike="noStrike">
                <a:solidFill>
                  <a:srgbClr val="0B1F3A"/>
                </a:solidFill>
                <a:effectLst/>
                <a:uFillTx/>
                <a:latin typeface="Aptos"/>
              </a:rPr>
              <a:t>Software that receives percepts and returns actions.</a:t>
            </a:r>
            <a:endParaRPr lang="en-US" sz="1300" b="0" u="none" strike="noStrike">
              <a:solidFill>
                <a:srgbClr val="000000"/>
              </a:solidFill>
              <a:effectLst/>
              <a:uFillTx/>
              <a:latin typeface="Arial"/>
            </a:endParaRPr>
          </a:p>
        </p:txBody>
      </p:sp>
      <p:sp>
        <p:nvSpPr>
          <p:cNvPr id="321" name="Shape 13"/>
          <p:cNvSpPr/>
          <p:nvPr/>
        </p:nvSpPr>
        <p:spPr>
          <a:xfrm>
            <a:off x="7955280" y="2057400"/>
            <a:ext cx="3382560" cy="1233720"/>
          </a:xfrm>
          <a:prstGeom prst="roundRect">
            <a:avLst>
              <a:gd name="adj" fmla="val 4444"/>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22" name="Text 14"/>
          <p:cNvSpPr/>
          <p:nvPr/>
        </p:nvSpPr>
        <p:spPr>
          <a:xfrm>
            <a:off x="8119800" y="2203560"/>
            <a:ext cx="305352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5B35B1"/>
                </a:solidFill>
                <a:effectLst/>
                <a:uFillTx/>
                <a:latin typeface="Aptos"/>
              </a:rPr>
              <a:t>Agent function</a:t>
            </a:r>
            <a:endParaRPr lang="en-US" sz="1800" b="0" u="none" strike="noStrike">
              <a:solidFill>
                <a:srgbClr val="000000"/>
              </a:solidFill>
              <a:effectLst/>
              <a:uFillTx/>
              <a:latin typeface="Arial"/>
            </a:endParaRPr>
          </a:p>
        </p:txBody>
      </p:sp>
      <p:sp>
        <p:nvSpPr>
          <p:cNvPr id="323" name="Text 15"/>
          <p:cNvSpPr/>
          <p:nvPr/>
        </p:nvSpPr>
        <p:spPr>
          <a:xfrm>
            <a:off x="8119800" y="2532960"/>
            <a:ext cx="3053520" cy="63936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300" b="0" u="none" strike="noStrike">
                <a:solidFill>
                  <a:srgbClr val="0B1F3A"/>
                </a:solidFill>
                <a:effectLst/>
                <a:uFillTx/>
                <a:latin typeface="Aptos"/>
              </a:rPr>
              <a:t>Behavior implemented by the program: percept sequence -&gt; action.</a:t>
            </a:r>
            <a:endParaRPr lang="en-US" sz="1300" b="0" u="none" strike="noStrike">
              <a:solidFill>
                <a:srgbClr val="000000"/>
              </a:solidFill>
              <a:effectLst/>
              <a:uFillTx/>
              <a:latin typeface="Arial"/>
            </a:endParaRPr>
          </a:p>
        </p:txBody>
      </p:sp>
      <p:sp>
        <p:nvSpPr>
          <p:cNvPr id="324" name="Text 16"/>
          <p:cNvSpPr/>
          <p:nvPr/>
        </p:nvSpPr>
        <p:spPr>
          <a:xfrm>
            <a:off x="960120" y="3977640"/>
            <a:ext cx="4022640" cy="319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1" u="none" strike="noStrike">
                <a:solidFill>
                  <a:srgbClr val="0B2B5C"/>
                </a:solidFill>
                <a:effectLst/>
                <a:uFillTx/>
                <a:latin typeface="Aptos"/>
              </a:rPr>
              <a:t>Why not use a giant lookup table?</a:t>
            </a:r>
            <a:endParaRPr lang="en-US" sz="2000" b="0" u="none" strike="noStrike">
              <a:solidFill>
                <a:srgbClr val="000000"/>
              </a:solidFill>
              <a:effectLst/>
              <a:uFillTx/>
              <a:latin typeface="Arial"/>
            </a:endParaRPr>
          </a:p>
        </p:txBody>
      </p:sp>
      <p:sp>
        <p:nvSpPr>
          <p:cNvPr id="325" name="Text 17"/>
          <p:cNvSpPr/>
          <p:nvPr/>
        </p:nvSpPr>
        <p:spPr>
          <a:xfrm>
            <a:off x="960120" y="4434840"/>
            <a:ext cx="10149120" cy="913680"/>
          </a:xfrm>
          <a:prstGeom prst="rect">
            <a:avLst/>
          </a:prstGeom>
          <a:noFill/>
          <a:ln w="0">
            <a:noFill/>
          </a:ln>
        </p:spPr>
        <p:style>
          <a:lnRef idx="0"/>
          <a:fillRef idx="0"/>
          <a:effectRef idx="0"/>
          <a:fontRef idx="minor"/>
        </p:style>
        <p:txBody>
          <a:bodyPr lIns="720" tIns="720" rIns="720" bIns="720" anchor="ctr">
            <a:normAutofit fontScale="77500" lnSpcReduction="19999"/>
          </a:bodyPr>
          <a:p>
            <a:pPr defTabSz="914400">
              <a:lnSpc>
                <a:spcPct val="100000"/>
              </a:lnSpc>
            </a:pPr>
            <a:r>
              <a:rPr lang="en-US" sz="1600" b="0" u="none" strike="noStrike">
                <a:solidFill>
                  <a:srgbClr val="0B1F3A"/>
                </a:solidFill>
                <a:effectLst/>
                <a:uFillTx/>
                <a:latin typeface="Aptos"/>
                <a:ea typeface="Aptos"/>
              </a:rPr>
              <a:t>Too many percept sequences to store.</a:t>
            </a:r>
            <a:endParaRPr lang="en-US" sz="1600" b="0" u="none" strike="noStrike">
              <a:solidFill>
                <a:srgbClr val="000000"/>
              </a:solidFill>
              <a:effectLst/>
              <a:uFillTx/>
              <a:latin typeface="Arial"/>
            </a:endParaRPr>
          </a:p>
          <a:p>
            <a:pPr defTabSz="914400">
              <a:lnSpc>
                <a:spcPct val="100000"/>
              </a:lnSpc>
            </a:pPr>
            <a:endParaRPr lang="en-US" sz="1600" b="0" u="none" strike="noStrike">
              <a:solidFill>
                <a:srgbClr val="000000"/>
              </a:solidFill>
              <a:effectLst/>
              <a:uFillTx/>
              <a:latin typeface="Arial"/>
            </a:endParaRPr>
          </a:p>
          <a:p>
            <a:pPr defTabSz="914400">
              <a:lnSpc>
                <a:spcPct val="100000"/>
              </a:lnSpc>
            </a:pPr>
            <a:r>
              <a:rPr lang="en-US" sz="1600" b="0" u="none" strike="noStrike">
                <a:solidFill>
                  <a:srgbClr val="0B1F3A"/>
                </a:solidFill>
                <a:effectLst/>
                <a:uFillTx/>
                <a:latin typeface="Aptos"/>
                <a:ea typeface="Aptos"/>
              </a:rPr>
              <a:t>Too much work for the designer to fill in.</a:t>
            </a:r>
            <a:endParaRPr lang="en-US" sz="1600" b="0" u="none" strike="noStrike">
              <a:solidFill>
                <a:srgbClr val="000000"/>
              </a:solidFill>
              <a:effectLst/>
              <a:uFillTx/>
              <a:latin typeface="Arial"/>
            </a:endParaRPr>
          </a:p>
          <a:p>
            <a:pPr defTabSz="914400">
              <a:lnSpc>
                <a:spcPct val="100000"/>
              </a:lnSpc>
            </a:pPr>
            <a:endParaRPr lang="en-US" sz="1600" b="0" u="none" strike="noStrike">
              <a:solidFill>
                <a:srgbClr val="000000"/>
              </a:solidFill>
              <a:effectLst/>
              <a:uFillTx/>
              <a:latin typeface="Arial"/>
            </a:endParaRPr>
          </a:p>
          <a:p>
            <a:pPr defTabSz="914400">
              <a:lnSpc>
                <a:spcPct val="100000"/>
              </a:lnSpc>
            </a:pPr>
            <a:r>
              <a:rPr lang="en-US" sz="1600" b="0" u="none" strike="noStrike">
                <a:solidFill>
                  <a:srgbClr val="0B1F3A"/>
                </a:solidFill>
                <a:effectLst/>
                <a:uFillTx/>
                <a:latin typeface="Aptos"/>
                <a:ea typeface="Aptos"/>
              </a:rPr>
              <a:t>Too much experience for the agent to learn every entry.</a:t>
            </a:r>
            <a:endParaRPr lang="en-US" sz="1600" b="0" u="none" strike="noStrike">
              <a:solidFill>
                <a:srgbClr val="000000"/>
              </a:solidFill>
              <a:effectLst/>
              <a:uFillTx/>
              <a:latin typeface="Arial"/>
            </a:endParaRPr>
          </a:p>
        </p:txBody>
      </p:sp>
      <p:sp>
        <p:nvSpPr>
          <p:cNvPr id="326" name="Text 18"/>
          <p:cNvSpPr/>
          <p:nvPr/>
        </p:nvSpPr>
        <p:spPr>
          <a:xfrm>
            <a:off x="960120" y="5715000"/>
            <a:ext cx="10149120" cy="365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0B2B5C"/>
                </a:solidFill>
                <a:effectLst/>
                <a:uFillTx/>
                <a:latin typeface="Aptos"/>
              </a:rPr>
              <a:t>AI problem: produce rational behavior from a compact program, not a vast table.</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6FA"/>
        </a:solidFill>
      </p:bgPr>
    </p:bg>
    <p:spTree>
      <p:nvGrpSpPr>
        <p:cNvPr id="1" name=""/>
        <p:cNvGrpSpPr/>
        <p:nvPr/>
      </p:nvGrpSpPr>
      <p:grpSpPr>
        <a:xfrm>
          <a:off x="0" y="0"/>
          <a:ext cx="0" cy="0"/>
          <a:chOff x="0" y="0"/>
          <a:chExt cx="0" cy="0"/>
        </a:xfrm>
      </p:grpSpPr>
      <p:sp>
        <p:nvSpPr>
          <p:cNvPr id="327" name="Shape 0"/>
          <p:cNvSpPr/>
          <p:nvPr/>
        </p:nvSpPr>
        <p:spPr>
          <a:xfrm>
            <a:off x="0" y="0"/>
            <a:ext cx="12191040" cy="803880"/>
          </a:xfrm>
          <a:prstGeom prst="rect">
            <a:avLst/>
          </a:prstGeom>
          <a:solidFill>
            <a:srgbClr val="0B2B5C"/>
          </a:solidFill>
          <a:ln w="12700">
            <a:solidFill>
              <a:srgbClr val="0B2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28" name="Shape 1"/>
          <p:cNvSpPr/>
          <p:nvPr/>
        </p:nvSpPr>
        <p:spPr>
          <a:xfrm>
            <a:off x="0" y="804600"/>
            <a:ext cx="12191040" cy="72360"/>
          </a:xfrm>
          <a:prstGeom prst="rect">
            <a:avLst/>
          </a:prstGeom>
          <a:solidFill>
            <a:srgbClr val="F5A21B"/>
          </a:solidFill>
          <a:ln w="12700">
            <a:solidFill>
              <a:srgbClr val="F5A21B"/>
            </a:solidFill>
            <a:round/>
          </a:ln>
        </p:spPr>
        <p:style>
          <a:lnRef idx="0"/>
          <a:fillRef idx="0"/>
          <a:effectRef idx="0"/>
          <a:fontRef idx="minor"/>
        </p:style>
        <p:txBody>
          <a:bodyPr lIns="90000" tIns="28080" rIns="90000" bIns="28080" anchor="t">
            <a:noAutofit/>
          </a:bodyPr>
          <a:p>
            <a:endParaRPr lang="en-US" sz="1800" b="0" u="none" strike="noStrike">
              <a:solidFill>
                <a:srgbClr val="000000"/>
              </a:solidFill>
              <a:effectLst/>
              <a:uFillTx/>
              <a:latin typeface="Arial"/>
            </a:endParaRPr>
          </a:p>
        </p:txBody>
      </p:sp>
      <p:sp>
        <p:nvSpPr>
          <p:cNvPr id="329" name="Text 2"/>
          <p:cNvSpPr/>
          <p:nvPr/>
        </p:nvSpPr>
        <p:spPr>
          <a:xfrm>
            <a:off x="475560" y="210240"/>
            <a:ext cx="960048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300" b="1" u="none" strike="noStrike">
                <a:solidFill>
                  <a:srgbClr val="FFFFFF"/>
                </a:solidFill>
                <a:effectLst/>
                <a:uFillTx/>
                <a:latin typeface="Aptos Display"/>
                <a:ea typeface="Aptos Display"/>
              </a:rPr>
              <a:t>2.4.1 Table-Driven Agent</a:t>
            </a:r>
            <a:endParaRPr lang="en-US" sz="2300" b="0" u="none" strike="noStrike">
              <a:solidFill>
                <a:srgbClr val="000000"/>
              </a:solidFill>
              <a:effectLst/>
              <a:uFillTx/>
              <a:latin typeface="Arial"/>
            </a:endParaRPr>
          </a:p>
        </p:txBody>
      </p:sp>
      <p:sp>
        <p:nvSpPr>
          <p:cNvPr id="330" name="Text 3"/>
          <p:cNvSpPr/>
          <p:nvPr/>
        </p:nvSpPr>
        <p:spPr>
          <a:xfrm>
            <a:off x="10241280" y="255960"/>
            <a:ext cx="13708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200" b="0" u="none" strike="noStrike">
                <a:solidFill>
                  <a:srgbClr val="DDE8F2"/>
                </a:solidFill>
                <a:effectLst/>
                <a:uFillTx/>
                <a:latin typeface="Aptos"/>
                <a:ea typeface="Aptos"/>
              </a:rPr>
              <a:t>2.4.1</a:t>
            </a:r>
            <a:endParaRPr lang="en-US" sz="1200" b="0" u="none" strike="noStrike">
              <a:solidFill>
                <a:srgbClr val="000000"/>
              </a:solidFill>
              <a:effectLst/>
              <a:uFillTx/>
              <a:latin typeface="Arial"/>
            </a:endParaRPr>
          </a:p>
        </p:txBody>
      </p:sp>
      <p:sp>
        <p:nvSpPr>
          <p:cNvPr id="331" name="Text 4"/>
          <p:cNvSpPr/>
          <p:nvPr/>
        </p:nvSpPr>
        <p:spPr>
          <a:xfrm>
            <a:off x="475560" y="6565320"/>
            <a:ext cx="274248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332" name="Text 5"/>
          <p:cNvSpPr/>
          <p:nvPr/>
        </p:nvSpPr>
        <p:spPr>
          <a:xfrm>
            <a:off x="11411640" y="6565320"/>
            <a:ext cx="273600" cy="163800"/>
          </a:xfrm>
          <a:prstGeom prst="rect">
            <a:avLst/>
          </a:prstGeom>
          <a:noFill/>
          <a:ln w="0">
            <a:noFill/>
          </a:ln>
        </p:spPr>
        <p:style>
          <a:lnRef idx="0"/>
          <a:fillRef idx="0"/>
          <a:effectRef idx="0"/>
          <a:fontRef idx="minor"/>
        </p:style>
        <p:txBody>
          <a:bodyPr lIns="0" tIns="0" rIns="0" bIns="0" anchor="ctr">
            <a:noAutofit/>
          </a:bodyPr>
          <a:p>
            <a:r>
              <a:t>15</a:t>
            </a:r>
          </a:p>
        </p:txBody>
      </p:sp>
      <p:sp>
        <p:nvSpPr>
          <p:cNvPr id="333" name="Text 6"/>
          <p:cNvSpPr/>
          <p:nvPr/>
        </p:nvSpPr>
        <p:spPr>
          <a:xfrm>
            <a:off x="731520" y="1051560"/>
            <a:ext cx="10789200" cy="319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0B2B5C"/>
                </a:solidFill>
                <a:effectLst/>
                <a:uFillTx/>
                <a:latin typeface="Aptos"/>
              </a:rPr>
              <a:t>A table-driven agent stores the entire percept sequence and indexes a table of actions.</a:t>
            </a:r>
            <a:endParaRPr lang="en-US" sz="1800" b="0" u="none" strike="noStrike">
              <a:solidFill>
                <a:srgbClr val="000000"/>
              </a:solidFill>
              <a:effectLst/>
              <a:uFillTx/>
              <a:latin typeface="Arial"/>
            </a:endParaRPr>
          </a:p>
        </p:txBody>
      </p:sp>
      <p:pic>
        <p:nvPicPr>
          <p:cNvPr id="334" name="Image 0" descr="/mnt/data/ch2_docx_unzipped/word/media/image6.png"/>
          <p:cNvPicPr/>
          <p:nvPr/>
        </p:nvPicPr>
        <p:blipFill>
          <a:blip r:embed="rId1"/>
          <a:stretch/>
        </p:blipFill>
        <p:spPr>
          <a:xfrm>
            <a:off x="228960" y="1828800"/>
            <a:ext cx="6628680" cy="2514240"/>
          </a:xfrm>
          <a:prstGeom prst="rect">
            <a:avLst/>
          </a:prstGeom>
          <a:noFill/>
          <a:ln w="0">
            <a:noFill/>
          </a:ln>
        </p:spPr>
      </p:pic>
      <p:sp>
        <p:nvSpPr>
          <p:cNvPr id="335" name="Shape 7"/>
          <p:cNvSpPr/>
          <p:nvPr/>
        </p:nvSpPr>
        <p:spPr>
          <a:xfrm>
            <a:off x="7315200" y="1691640"/>
            <a:ext cx="3931200" cy="1142280"/>
          </a:xfrm>
          <a:prstGeom prst="roundRect">
            <a:avLst>
              <a:gd name="adj" fmla="val 4800"/>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36" name="Text 8"/>
          <p:cNvSpPr/>
          <p:nvPr/>
        </p:nvSpPr>
        <p:spPr>
          <a:xfrm>
            <a:off x="7479720" y="1837800"/>
            <a:ext cx="360216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2B6CB0"/>
                </a:solidFill>
                <a:effectLst/>
                <a:uFillTx/>
                <a:latin typeface="Aptos"/>
              </a:rPr>
              <a:t>What it demonstrates</a:t>
            </a:r>
            <a:endParaRPr lang="en-US" sz="1600" b="0" u="none" strike="noStrike">
              <a:solidFill>
                <a:srgbClr val="000000"/>
              </a:solidFill>
              <a:effectLst/>
              <a:uFillTx/>
              <a:latin typeface="Arial"/>
            </a:endParaRPr>
          </a:p>
        </p:txBody>
      </p:sp>
      <p:sp>
        <p:nvSpPr>
          <p:cNvPr id="337" name="Text 9"/>
          <p:cNvSpPr/>
          <p:nvPr/>
        </p:nvSpPr>
        <p:spPr>
          <a:xfrm>
            <a:off x="7479720" y="2167200"/>
            <a:ext cx="3602160" cy="54792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250" b="0" u="none" strike="noStrike">
                <a:solidFill>
                  <a:srgbClr val="0B1F3A"/>
                </a:solidFill>
                <a:effectLst/>
                <a:uFillTx/>
                <a:latin typeface="Aptos"/>
              </a:rPr>
              <a:t>The agent function can be represented explicitly as a mapping from percept history to action.</a:t>
            </a:r>
            <a:endParaRPr lang="en-US" sz="1250" b="0" u="none" strike="noStrike">
              <a:solidFill>
                <a:srgbClr val="000000"/>
              </a:solidFill>
              <a:effectLst/>
              <a:uFillTx/>
              <a:latin typeface="Arial"/>
            </a:endParaRPr>
          </a:p>
        </p:txBody>
      </p:sp>
      <p:sp>
        <p:nvSpPr>
          <p:cNvPr id="338" name="Shape 10"/>
          <p:cNvSpPr/>
          <p:nvPr/>
        </p:nvSpPr>
        <p:spPr>
          <a:xfrm>
            <a:off x="7315200" y="3063240"/>
            <a:ext cx="3931200" cy="1142280"/>
          </a:xfrm>
          <a:prstGeom prst="roundRect">
            <a:avLst>
              <a:gd name="adj" fmla="val 4800"/>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39" name="Text 11"/>
          <p:cNvSpPr/>
          <p:nvPr/>
        </p:nvSpPr>
        <p:spPr>
          <a:xfrm>
            <a:off x="7479720" y="3209400"/>
            <a:ext cx="360216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048A97"/>
                </a:solidFill>
                <a:effectLst/>
                <a:uFillTx/>
                <a:latin typeface="Aptos"/>
              </a:rPr>
              <a:t>Why it matters</a:t>
            </a:r>
            <a:endParaRPr lang="en-US" sz="1600" b="0" u="none" strike="noStrike">
              <a:solidFill>
                <a:srgbClr val="000000"/>
              </a:solidFill>
              <a:effectLst/>
              <a:uFillTx/>
              <a:latin typeface="Arial"/>
            </a:endParaRPr>
          </a:p>
        </p:txBody>
      </p:sp>
      <p:sp>
        <p:nvSpPr>
          <p:cNvPr id="340" name="Text 12"/>
          <p:cNvSpPr/>
          <p:nvPr/>
        </p:nvSpPr>
        <p:spPr>
          <a:xfrm>
            <a:off x="7479720" y="3538800"/>
            <a:ext cx="3602160" cy="54792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250" b="0" u="none" strike="noStrike">
                <a:solidFill>
                  <a:srgbClr val="0B1F3A"/>
                </a:solidFill>
                <a:effectLst/>
                <a:uFillTx/>
                <a:latin typeface="Aptos"/>
              </a:rPr>
              <a:t>It is correct in principle if the table is filled correctly, but it is usually infeasible.</a:t>
            </a:r>
            <a:endParaRPr lang="en-US" sz="1250" b="0" u="none" strike="noStrike">
              <a:solidFill>
                <a:srgbClr val="000000"/>
              </a:solidFill>
              <a:effectLst/>
              <a:uFillTx/>
              <a:latin typeface="Arial"/>
            </a:endParaRPr>
          </a:p>
        </p:txBody>
      </p:sp>
      <p:sp>
        <p:nvSpPr>
          <p:cNvPr id="341" name="Shape 13"/>
          <p:cNvSpPr/>
          <p:nvPr/>
        </p:nvSpPr>
        <p:spPr>
          <a:xfrm>
            <a:off x="7315200" y="4434840"/>
            <a:ext cx="3931200" cy="1142280"/>
          </a:xfrm>
          <a:prstGeom prst="roundRect">
            <a:avLst>
              <a:gd name="adj" fmla="val 4800"/>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42" name="Text 14"/>
          <p:cNvSpPr/>
          <p:nvPr/>
        </p:nvSpPr>
        <p:spPr>
          <a:xfrm>
            <a:off x="7479720" y="4581000"/>
            <a:ext cx="360216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5B35B1"/>
                </a:solidFill>
                <a:effectLst/>
                <a:uFillTx/>
                <a:latin typeface="Aptos"/>
              </a:rPr>
              <a:t>Term to know</a:t>
            </a:r>
            <a:endParaRPr lang="en-US" sz="1600" b="0" u="none" strike="noStrike">
              <a:solidFill>
                <a:srgbClr val="000000"/>
              </a:solidFill>
              <a:effectLst/>
              <a:uFillTx/>
              <a:latin typeface="Arial"/>
            </a:endParaRPr>
          </a:p>
        </p:txBody>
      </p:sp>
      <p:sp>
        <p:nvSpPr>
          <p:cNvPr id="343" name="Text 15"/>
          <p:cNvSpPr/>
          <p:nvPr/>
        </p:nvSpPr>
        <p:spPr>
          <a:xfrm>
            <a:off x="7479720" y="4910400"/>
            <a:ext cx="3602160" cy="54792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250" b="0" u="none" strike="noStrike">
                <a:solidFill>
                  <a:srgbClr val="0B1F3A"/>
                </a:solidFill>
                <a:effectLst/>
                <a:uFillTx/>
                <a:latin typeface="Aptos"/>
              </a:rPr>
              <a:t>Table-driven agent: the simplest conceptual agent program in Section 2.4.1.</a:t>
            </a:r>
            <a:endParaRPr lang="en-US" sz="1250" b="0" u="none" strike="noStrike">
              <a:solidFill>
                <a:srgbClr val="000000"/>
              </a:solidFill>
              <a:effectLst/>
              <a:uFillTx/>
              <a:latin typeface="Arial"/>
            </a:endParaRPr>
          </a:p>
        </p:txBody>
      </p:sp>
      <p:sp>
        <p:nvSpPr>
          <p:cNvPr id="344" name="Text 16"/>
          <p:cNvSpPr/>
          <p:nvPr/>
        </p:nvSpPr>
        <p:spPr>
          <a:xfrm>
            <a:off x="9326880" y="6364080"/>
            <a:ext cx="2376720" cy="163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750" b="0" u="none" strike="noStrike">
                <a:solidFill>
                  <a:srgbClr val="5E7088"/>
                </a:solidFill>
                <a:effectLst/>
                <a:uFillTx/>
                <a:latin typeface="Aptos"/>
              </a:rPr>
              <a:t>Figure 2.7</a:t>
            </a:r>
            <a:endParaRPr lang="en-US" sz="7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6FA"/>
        </a:solidFill>
      </p:bgPr>
    </p:bg>
    <p:spTree>
      <p:nvGrpSpPr>
        <p:cNvPr id="1" name=""/>
        <p:cNvGrpSpPr/>
        <p:nvPr/>
      </p:nvGrpSpPr>
      <p:grpSpPr>
        <a:xfrm>
          <a:off x="0" y="0"/>
          <a:ext cx="0" cy="0"/>
          <a:chOff x="0" y="0"/>
          <a:chExt cx="0" cy="0"/>
        </a:xfrm>
      </p:grpSpPr>
      <p:sp>
        <p:nvSpPr>
          <p:cNvPr id="345" name="Shape 0"/>
          <p:cNvSpPr/>
          <p:nvPr/>
        </p:nvSpPr>
        <p:spPr>
          <a:xfrm>
            <a:off x="0" y="0"/>
            <a:ext cx="12191040" cy="803880"/>
          </a:xfrm>
          <a:prstGeom prst="rect">
            <a:avLst/>
          </a:prstGeom>
          <a:solidFill>
            <a:srgbClr val="0B2B5C"/>
          </a:solidFill>
          <a:ln w="12700">
            <a:solidFill>
              <a:srgbClr val="0B2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46" name="Shape 1"/>
          <p:cNvSpPr/>
          <p:nvPr/>
        </p:nvSpPr>
        <p:spPr>
          <a:xfrm>
            <a:off x="0" y="804600"/>
            <a:ext cx="12191040" cy="72360"/>
          </a:xfrm>
          <a:prstGeom prst="rect">
            <a:avLst/>
          </a:prstGeom>
          <a:solidFill>
            <a:srgbClr val="F5A21B"/>
          </a:solidFill>
          <a:ln w="12700">
            <a:solidFill>
              <a:srgbClr val="F5A21B"/>
            </a:solidFill>
            <a:round/>
          </a:ln>
        </p:spPr>
        <p:style>
          <a:lnRef idx="0"/>
          <a:fillRef idx="0"/>
          <a:effectRef idx="0"/>
          <a:fontRef idx="minor"/>
        </p:style>
        <p:txBody>
          <a:bodyPr lIns="90000" tIns="28080" rIns="90000" bIns="28080" anchor="t">
            <a:noAutofit/>
          </a:bodyPr>
          <a:p>
            <a:endParaRPr lang="en-US" sz="1800" b="0" u="none" strike="noStrike">
              <a:solidFill>
                <a:srgbClr val="000000"/>
              </a:solidFill>
              <a:effectLst/>
              <a:uFillTx/>
              <a:latin typeface="Arial"/>
            </a:endParaRPr>
          </a:p>
        </p:txBody>
      </p:sp>
      <p:sp>
        <p:nvSpPr>
          <p:cNvPr id="347" name="Text 2"/>
          <p:cNvSpPr/>
          <p:nvPr/>
        </p:nvSpPr>
        <p:spPr>
          <a:xfrm>
            <a:off x="475560" y="210240"/>
            <a:ext cx="960048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300" b="1" u="none" strike="noStrike">
                <a:solidFill>
                  <a:srgbClr val="FFFFFF"/>
                </a:solidFill>
                <a:effectLst/>
                <a:uFillTx/>
                <a:latin typeface="Aptos Display"/>
                <a:ea typeface="Aptos Display"/>
              </a:rPr>
              <a:t>Why Table-Driven Agents Fail in Practice</a:t>
            </a:r>
            <a:endParaRPr lang="en-US" sz="2300" b="0" u="none" strike="noStrike">
              <a:solidFill>
                <a:srgbClr val="000000"/>
              </a:solidFill>
              <a:effectLst/>
              <a:uFillTx/>
              <a:latin typeface="Arial"/>
            </a:endParaRPr>
          </a:p>
        </p:txBody>
      </p:sp>
      <p:sp>
        <p:nvSpPr>
          <p:cNvPr id="348" name="Text 3"/>
          <p:cNvSpPr/>
          <p:nvPr/>
        </p:nvSpPr>
        <p:spPr>
          <a:xfrm>
            <a:off x="10241280" y="255960"/>
            <a:ext cx="13708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200" b="0" u="none" strike="noStrike">
                <a:solidFill>
                  <a:srgbClr val="DDE8F2"/>
                </a:solidFill>
                <a:effectLst/>
                <a:uFillTx/>
                <a:latin typeface="Aptos"/>
                <a:ea typeface="Aptos"/>
              </a:rPr>
              <a:t>2.4.1</a:t>
            </a:r>
            <a:endParaRPr lang="en-US" sz="1200" b="0" u="none" strike="noStrike">
              <a:solidFill>
                <a:srgbClr val="000000"/>
              </a:solidFill>
              <a:effectLst/>
              <a:uFillTx/>
              <a:latin typeface="Arial"/>
            </a:endParaRPr>
          </a:p>
        </p:txBody>
      </p:sp>
      <p:sp>
        <p:nvSpPr>
          <p:cNvPr id="349" name="Text 4"/>
          <p:cNvSpPr/>
          <p:nvPr/>
        </p:nvSpPr>
        <p:spPr>
          <a:xfrm>
            <a:off x="475560" y="6565320"/>
            <a:ext cx="274248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350" name="Text 5"/>
          <p:cNvSpPr/>
          <p:nvPr/>
        </p:nvSpPr>
        <p:spPr>
          <a:xfrm>
            <a:off x="11411640" y="6565320"/>
            <a:ext cx="273600" cy="163800"/>
          </a:xfrm>
          <a:prstGeom prst="rect">
            <a:avLst/>
          </a:prstGeom>
          <a:noFill/>
          <a:ln w="0">
            <a:noFill/>
          </a:ln>
        </p:spPr>
        <p:style>
          <a:lnRef idx="0"/>
          <a:fillRef idx="0"/>
          <a:effectRef idx="0"/>
          <a:fontRef idx="minor"/>
        </p:style>
        <p:txBody>
          <a:bodyPr lIns="0" tIns="0" rIns="0" bIns="0" anchor="ctr">
            <a:noAutofit/>
          </a:bodyPr>
          <a:p>
            <a:r>
              <a:t>16</a:t>
            </a:r>
          </a:p>
        </p:txBody>
      </p:sp>
      <p:sp>
        <p:nvSpPr>
          <p:cNvPr id="351" name="Text 6"/>
          <p:cNvSpPr/>
          <p:nvPr/>
        </p:nvSpPr>
        <p:spPr>
          <a:xfrm>
            <a:off x="822960" y="1143000"/>
            <a:ext cx="10514880" cy="365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200" b="1" u="none" strike="noStrike">
                <a:solidFill>
                  <a:srgbClr val="0B2B5C"/>
                </a:solidFill>
                <a:effectLst/>
                <a:uFillTx/>
                <a:latin typeface="Aptos"/>
              </a:rPr>
              <a:t>The lookup table grows with every possible percept sequence.</a:t>
            </a:r>
            <a:endParaRPr lang="en-US" sz="2200" b="0" u="none" strike="noStrike">
              <a:solidFill>
                <a:srgbClr val="000000"/>
              </a:solidFill>
              <a:effectLst/>
              <a:uFillTx/>
              <a:latin typeface="Arial"/>
            </a:endParaRPr>
          </a:p>
        </p:txBody>
      </p:sp>
      <p:sp>
        <p:nvSpPr>
          <p:cNvPr id="352" name="Shape 7"/>
          <p:cNvSpPr/>
          <p:nvPr/>
        </p:nvSpPr>
        <p:spPr>
          <a:xfrm>
            <a:off x="822960" y="2057400"/>
            <a:ext cx="3336840" cy="1416600"/>
          </a:xfrm>
          <a:prstGeom prst="roundRect">
            <a:avLst>
              <a:gd name="adj" fmla="val 3871"/>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53" name="Text 8"/>
          <p:cNvSpPr/>
          <p:nvPr/>
        </p:nvSpPr>
        <p:spPr>
          <a:xfrm>
            <a:off x="987480" y="2203560"/>
            <a:ext cx="300780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A32020"/>
                </a:solidFill>
                <a:effectLst/>
                <a:uFillTx/>
                <a:latin typeface="Aptos"/>
              </a:rPr>
              <a:t>Space problem</a:t>
            </a:r>
            <a:endParaRPr lang="en-US" sz="1700" b="0" u="none" strike="noStrike">
              <a:solidFill>
                <a:srgbClr val="000000"/>
              </a:solidFill>
              <a:effectLst/>
              <a:uFillTx/>
              <a:latin typeface="Arial"/>
            </a:endParaRPr>
          </a:p>
        </p:txBody>
      </p:sp>
      <p:sp>
        <p:nvSpPr>
          <p:cNvPr id="354" name="Text 9"/>
          <p:cNvSpPr/>
          <p:nvPr/>
        </p:nvSpPr>
        <p:spPr>
          <a:xfrm>
            <a:off x="987480" y="2532960"/>
            <a:ext cx="3007800" cy="82224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350" b="0" u="none" strike="noStrike">
                <a:solidFill>
                  <a:srgbClr val="0B1F3A"/>
                </a:solidFill>
                <a:effectLst/>
                <a:uFillTx/>
                <a:latin typeface="Aptos"/>
              </a:rPr>
              <a:t>No physical agent can store every entry for a realistic environment.</a:t>
            </a:r>
            <a:endParaRPr lang="en-US" sz="1350" b="0" u="none" strike="noStrike">
              <a:solidFill>
                <a:srgbClr val="000000"/>
              </a:solidFill>
              <a:effectLst/>
              <a:uFillTx/>
              <a:latin typeface="Arial"/>
            </a:endParaRPr>
          </a:p>
        </p:txBody>
      </p:sp>
      <p:sp>
        <p:nvSpPr>
          <p:cNvPr id="355" name="Shape 10"/>
          <p:cNvSpPr/>
          <p:nvPr/>
        </p:nvSpPr>
        <p:spPr>
          <a:xfrm>
            <a:off x="4617720" y="2057400"/>
            <a:ext cx="3336840" cy="1416600"/>
          </a:xfrm>
          <a:prstGeom prst="roundRect">
            <a:avLst>
              <a:gd name="adj" fmla="val 3871"/>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56" name="Text 11"/>
          <p:cNvSpPr/>
          <p:nvPr/>
        </p:nvSpPr>
        <p:spPr>
          <a:xfrm>
            <a:off x="4782240" y="2203560"/>
            <a:ext cx="300780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F5A21B"/>
                </a:solidFill>
                <a:effectLst/>
                <a:uFillTx/>
                <a:latin typeface="Aptos"/>
              </a:rPr>
              <a:t>Design problem</a:t>
            </a:r>
            <a:endParaRPr lang="en-US" sz="1700" b="0" u="none" strike="noStrike">
              <a:solidFill>
                <a:srgbClr val="000000"/>
              </a:solidFill>
              <a:effectLst/>
              <a:uFillTx/>
              <a:latin typeface="Arial"/>
            </a:endParaRPr>
          </a:p>
        </p:txBody>
      </p:sp>
      <p:sp>
        <p:nvSpPr>
          <p:cNvPr id="357" name="Text 12"/>
          <p:cNvSpPr/>
          <p:nvPr/>
        </p:nvSpPr>
        <p:spPr>
          <a:xfrm>
            <a:off x="4782240" y="2532960"/>
            <a:ext cx="3007800" cy="82224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350" b="0" u="none" strike="noStrike">
                <a:solidFill>
                  <a:srgbClr val="0B1F3A"/>
                </a:solidFill>
                <a:effectLst/>
                <a:uFillTx/>
                <a:latin typeface="Aptos"/>
              </a:rPr>
              <a:t>No designer can fill in the right action for every possible sequence.</a:t>
            </a:r>
            <a:endParaRPr lang="en-US" sz="1350" b="0" u="none" strike="noStrike">
              <a:solidFill>
                <a:srgbClr val="000000"/>
              </a:solidFill>
              <a:effectLst/>
              <a:uFillTx/>
              <a:latin typeface="Arial"/>
            </a:endParaRPr>
          </a:p>
        </p:txBody>
      </p:sp>
      <p:sp>
        <p:nvSpPr>
          <p:cNvPr id="358" name="Shape 13"/>
          <p:cNvSpPr/>
          <p:nvPr/>
        </p:nvSpPr>
        <p:spPr>
          <a:xfrm>
            <a:off x="8412480" y="2057400"/>
            <a:ext cx="3336840" cy="1416600"/>
          </a:xfrm>
          <a:prstGeom prst="roundRect">
            <a:avLst>
              <a:gd name="adj" fmla="val 3871"/>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59" name="Text 14"/>
          <p:cNvSpPr/>
          <p:nvPr/>
        </p:nvSpPr>
        <p:spPr>
          <a:xfrm>
            <a:off x="8577000" y="2203560"/>
            <a:ext cx="300780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5B35B1"/>
                </a:solidFill>
                <a:effectLst/>
                <a:uFillTx/>
                <a:latin typeface="Aptos"/>
              </a:rPr>
              <a:t>Learning problem</a:t>
            </a:r>
            <a:endParaRPr lang="en-US" sz="1700" b="0" u="none" strike="noStrike">
              <a:solidFill>
                <a:srgbClr val="000000"/>
              </a:solidFill>
              <a:effectLst/>
              <a:uFillTx/>
              <a:latin typeface="Arial"/>
            </a:endParaRPr>
          </a:p>
        </p:txBody>
      </p:sp>
      <p:sp>
        <p:nvSpPr>
          <p:cNvPr id="360" name="Text 15"/>
          <p:cNvSpPr/>
          <p:nvPr/>
        </p:nvSpPr>
        <p:spPr>
          <a:xfrm>
            <a:off x="8577000" y="2532960"/>
            <a:ext cx="3007800" cy="82224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350" b="0" u="none" strike="noStrike">
                <a:solidFill>
                  <a:srgbClr val="0B1F3A"/>
                </a:solidFill>
                <a:effectLst/>
                <a:uFillTx/>
                <a:latin typeface="Aptos"/>
              </a:rPr>
              <a:t>No agent can experience every possible percept sequence.</a:t>
            </a:r>
            <a:endParaRPr lang="en-US" sz="1350" b="0" u="none" strike="noStrike">
              <a:solidFill>
                <a:srgbClr val="000000"/>
              </a:solidFill>
              <a:effectLst/>
              <a:uFillTx/>
              <a:latin typeface="Arial"/>
            </a:endParaRPr>
          </a:p>
        </p:txBody>
      </p:sp>
      <p:sp>
        <p:nvSpPr>
          <p:cNvPr id="361" name="Shape 16"/>
          <p:cNvSpPr/>
          <p:nvPr/>
        </p:nvSpPr>
        <p:spPr>
          <a:xfrm>
            <a:off x="1005840" y="4343400"/>
            <a:ext cx="10149840" cy="360"/>
          </a:xfrm>
          <a:prstGeom prst="line">
            <a:avLst/>
          </a:prstGeom>
          <a:ln w="25400">
            <a:solidFill>
              <a:srgbClr val="CBD5E1"/>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362" name="Text 17"/>
          <p:cNvSpPr/>
          <p:nvPr/>
        </p:nvSpPr>
        <p:spPr>
          <a:xfrm>
            <a:off x="1005840" y="4681800"/>
            <a:ext cx="10149120" cy="319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100" b="1" u="none" strike="noStrike">
                <a:solidFill>
                  <a:srgbClr val="0B2B5C"/>
                </a:solidFill>
                <a:effectLst/>
                <a:uFillTx/>
                <a:latin typeface="Aptos"/>
              </a:rPr>
              <a:t>Key challenge for AI</a:t>
            </a:r>
            <a:endParaRPr lang="en-US" sz="2100" b="0" u="none" strike="noStrike">
              <a:solidFill>
                <a:srgbClr val="000000"/>
              </a:solidFill>
              <a:effectLst/>
              <a:uFillTx/>
              <a:latin typeface="Arial"/>
            </a:endParaRPr>
          </a:p>
        </p:txBody>
      </p:sp>
      <p:sp>
        <p:nvSpPr>
          <p:cNvPr id="363" name="Text 18"/>
          <p:cNvSpPr/>
          <p:nvPr/>
        </p:nvSpPr>
        <p:spPr>
          <a:xfrm>
            <a:off x="1005840" y="5120640"/>
            <a:ext cx="10149120" cy="4564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rgbClr val="0B1F3A"/>
                </a:solidFill>
                <a:effectLst/>
                <a:uFillTx/>
                <a:latin typeface="Aptos"/>
              </a:rPr>
              <a:t>Write small programs that produce rational behavior without enumerating every possible history.</a:t>
            </a:r>
            <a:endParaRPr lang="en-U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6FA"/>
        </a:solidFill>
      </p:bgPr>
    </p:bg>
    <p:spTree>
      <p:nvGrpSpPr>
        <p:cNvPr id="1" name=""/>
        <p:cNvGrpSpPr/>
        <p:nvPr/>
      </p:nvGrpSpPr>
      <p:grpSpPr>
        <a:xfrm>
          <a:off x="0" y="0"/>
          <a:ext cx="0" cy="0"/>
          <a:chOff x="0" y="0"/>
          <a:chExt cx="0" cy="0"/>
        </a:xfrm>
      </p:grpSpPr>
      <p:sp>
        <p:nvSpPr>
          <p:cNvPr id="364" name="Shape 0"/>
          <p:cNvSpPr/>
          <p:nvPr/>
        </p:nvSpPr>
        <p:spPr>
          <a:xfrm>
            <a:off x="0" y="0"/>
            <a:ext cx="12191040" cy="803880"/>
          </a:xfrm>
          <a:prstGeom prst="rect">
            <a:avLst/>
          </a:prstGeom>
          <a:solidFill>
            <a:srgbClr val="0B2B5C"/>
          </a:solidFill>
          <a:ln w="12700">
            <a:solidFill>
              <a:srgbClr val="0B2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65" name="Shape 1"/>
          <p:cNvSpPr/>
          <p:nvPr/>
        </p:nvSpPr>
        <p:spPr>
          <a:xfrm>
            <a:off x="0" y="804600"/>
            <a:ext cx="12191040" cy="72360"/>
          </a:xfrm>
          <a:prstGeom prst="rect">
            <a:avLst/>
          </a:prstGeom>
          <a:solidFill>
            <a:srgbClr val="F5A21B"/>
          </a:solidFill>
          <a:ln w="12700">
            <a:solidFill>
              <a:srgbClr val="F5A21B"/>
            </a:solidFill>
            <a:round/>
          </a:ln>
        </p:spPr>
        <p:style>
          <a:lnRef idx="0"/>
          <a:fillRef idx="0"/>
          <a:effectRef idx="0"/>
          <a:fontRef idx="minor"/>
        </p:style>
        <p:txBody>
          <a:bodyPr lIns="90000" tIns="28080" rIns="90000" bIns="28080" anchor="t">
            <a:noAutofit/>
          </a:bodyPr>
          <a:p>
            <a:endParaRPr lang="en-US" sz="1800" b="0" u="none" strike="noStrike">
              <a:solidFill>
                <a:srgbClr val="000000"/>
              </a:solidFill>
              <a:effectLst/>
              <a:uFillTx/>
              <a:latin typeface="Arial"/>
            </a:endParaRPr>
          </a:p>
        </p:txBody>
      </p:sp>
      <p:sp>
        <p:nvSpPr>
          <p:cNvPr id="366" name="Text 2"/>
          <p:cNvSpPr/>
          <p:nvPr/>
        </p:nvSpPr>
        <p:spPr>
          <a:xfrm>
            <a:off x="475560" y="210240"/>
            <a:ext cx="960048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300" b="1" u="none" strike="noStrike">
                <a:solidFill>
                  <a:srgbClr val="FFFFFF"/>
                </a:solidFill>
                <a:effectLst/>
                <a:uFillTx/>
                <a:latin typeface="Aptos Display"/>
                <a:ea typeface="Aptos Display"/>
              </a:rPr>
              <a:t>2.4.2 Simple Reflex Agents: Vacuum Pseudocode</a:t>
            </a:r>
            <a:endParaRPr lang="en-US" sz="2300" b="0" u="none" strike="noStrike">
              <a:solidFill>
                <a:srgbClr val="000000"/>
              </a:solidFill>
              <a:effectLst/>
              <a:uFillTx/>
              <a:latin typeface="Arial"/>
            </a:endParaRPr>
          </a:p>
        </p:txBody>
      </p:sp>
      <p:sp>
        <p:nvSpPr>
          <p:cNvPr id="367" name="Text 3"/>
          <p:cNvSpPr/>
          <p:nvPr/>
        </p:nvSpPr>
        <p:spPr>
          <a:xfrm>
            <a:off x="10241280" y="255960"/>
            <a:ext cx="13708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200" b="0" u="none" strike="noStrike">
                <a:solidFill>
                  <a:srgbClr val="DDE8F2"/>
                </a:solidFill>
                <a:effectLst/>
                <a:uFillTx/>
                <a:latin typeface="Aptos"/>
                <a:ea typeface="Aptos"/>
              </a:rPr>
              <a:t>2.4.2</a:t>
            </a:r>
            <a:endParaRPr lang="en-US" sz="1200" b="0" u="none" strike="noStrike">
              <a:solidFill>
                <a:srgbClr val="000000"/>
              </a:solidFill>
              <a:effectLst/>
              <a:uFillTx/>
              <a:latin typeface="Arial"/>
            </a:endParaRPr>
          </a:p>
        </p:txBody>
      </p:sp>
      <p:sp>
        <p:nvSpPr>
          <p:cNvPr id="368" name="Text 4"/>
          <p:cNvSpPr/>
          <p:nvPr/>
        </p:nvSpPr>
        <p:spPr>
          <a:xfrm>
            <a:off x="475560" y="6565320"/>
            <a:ext cx="274248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369" name="Text 5"/>
          <p:cNvSpPr/>
          <p:nvPr/>
        </p:nvSpPr>
        <p:spPr>
          <a:xfrm>
            <a:off x="11411640" y="6565320"/>
            <a:ext cx="273600" cy="163800"/>
          </a:xfrm>
          <a:prstGeom prst="rect">
            <a:avLst/>
          </a:prstGeom>
          <a:noFill/>
          <a:ln w="0">
            <a:noFill/>
          </a:ln>
        </p:spPr>
        <p:style>
          <a:lnRef idx="0"/>
          <a:fillRef idx="0"/>
          <a:effectRef idx="0"/>
          <a:fontRef idx="minor"/>
        </p:style>
        <p:txBody>
          <a:bodyPr lIns="0" tIns="0" rIns="0" bIns="0" anchor="ctr">
            <a:noAutofit/>
          </a:bodyPr>
          <a:p>
            <a:r>
              <a:t>17</a:t>
            </a:r>
          </a:p>
        </p:txBody>
      </p:sp>
      <p:sp>
        <p:nvSpPr>
          <p:cNvPr id="370" name="Text 6"/>
          <p:cNvSpPr/>
          <p:nvPr/>
        </p:nvSpPr>
        <p:spPr>
          <a:xfrm>
            <a:off x="822960" y="1078920"/>
            <a:ext cx="10514880" cy="319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rgbClr val="0B2B5C"/>
                </a:solidFill>
                <a:effectLst/>
                <a:uFillTx/>
                <a:latin typeface="Aptos"/>
              </a:rPr>
              <a:t>Select an action from the current percept only.</a:t>
            </a:r>
            <a:endParaRPr lang="en-US" sz="2000" b="0" u="none" strike="noStrike">
              <a:solidFill>
                <a:srgbClr val="000000"/>
              </a:solidFill>
              <a:effectLst/>
              <a:uFillTx/>
              <a:latin typeface="Arial"/>
            </a:endParaRPr>
          </a:p>
        </p:txBody>
      </p:sp>
      <p:pic>
        <p:nvPicPr>
          <p:cNvPr id="371" name="Image 0" descr="/mnt/data/ch2_docx_unzipped/word/media/image7.png"/>
          <p:cNvPicPr/>
          <p:nvPr/>
        </p:nvPicPr>
        <p:blipFill>
          <a:blip r:embed="rId1"/>
          <a:stretch/>
        </p:blipFill>
        <p:spPr>
          <a:xfrm>
            <a:off x="868680" y="1645920"/>
            <a:ext cx="6582960" cy="2193840"/>
          </a:xfrm>
          <a:prstGeom prst="rect">
            <a:avLst/>
          </a:prstGeom>
          <a:noFill/>
          <a:ln w="0">
            <a:noFill/>
          </a:ln>
        </p:spPr>
      </p:pic>
      <p:sp>
        <p:nvSpPr>
          <p:cNvPr id="372" name="Shape 7"/>
          <p:cNvSpPr/>
          <p:nvPr/>
        </p:nvSpPr>
        <p:spPr>
          <a:xfrm>
            <a:off x="7589520" y="1691640"/>
            <a:ext cx="3611160" cy="1508040"/>
          </a:xfrm>
          <a:prstGeom prst="roundRect">
            <a:avLst>
              <a:gd name="adj" fmla="val 3636"/>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73" name="Text 8"/>
          <p:cNvSpPr/>
          <p:nvPr/>
        </p:nvSpPr>
        <p:spPr>
          <a:xfrm>
            <a:off x="7754040" y="1837800"/>
            <a:ext cx="328212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1B7A45"/>
                </a:solidFill>
                <a:effectLst/>
                <a:uFillTx/>
                <a:latin typeface="Aptos"/>
              </a:rPr>
              <a:t>Vacuum rule</a:t>
            </a:r>
            <a:endParaRPr lang="en-US" sz="1700" b="0" u="none" strike="noStrike">
              <a:solidFill>
                <a:srgbClr val="000000"/>
              </a:solidFill>
              <a:effectLst/>
              <a:uFillTx/>
              <a:latin typeface="Arial"/>
            </a:endParaRPr>
          </a:p>
        </p:txBody>
      </p:sp>
      <p:sp>
        <p:nvSpPr>
          <p:cNvPr id="374" name="Text 9"/>
          <p:cNvSpPr/>
          <p:nvPr/>
        </p:nvSpPr>
        <p:spPr>
          <a:xfrm>
            <a:off x="7754040" y="2167200"/>
            <a:ext cx="3282120" cy="91368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350" b="0" u="none" strike="noStrike">
                <a:solidFill>
                  <a:srgbClr val="0B1F3A"/>
                </a:solidFill>
                <a:effectLst/>
                <a:uFillTx/>
                <a:latin typeface="Aptos"/>
              </a:rPr>
              <a:t>if status = Dirty then Suck</a:t>
            </a:r>
            <a:endParaRPr lang="en-US" sz="1350" b="0" u="none" strike="noStrike">
              <a:solidFill>
                <a:srgbClr val="000000"/>
              </a:solidFill>
              <a:effectLst/>
              <a:uFillTx/>
              <a:latin typeface="Arial"/>
            </a:endParaRPr>
          </a:p>
          <a:p>
            <a:pPr defTabSz="914400">
              <a:lnSpc>
                <a:spcPct val="100000"/>
              </a:lnSpc>
              <a:tabLst>
                <a:tab pos="0" algn="l"/>
              </a:tabLst>
            </a:pPr>
            <a:r>
              <a:rPr lang="en-US" sz="1350" b="0" u="none" strike="noStrike">
                <a:solidFill>
                  <a:srgbClr val="0B1F3A"/>
                </a:solidFill>
                <a:effectLst/>
                <a:uFillTx/>
                <a:latin typeface="Aptos"/>
              </a:rPr>
              <a:t>else if location = A then Right</a:t>
            </a:r>
            <a:endParaRPr lang="en-US" sz="1350" b="0" u="none" strike="noStrike">
              <a:solidFill>
                <a:srgbClr val="000000"/>
              </a:solidFill>
              <a:effectLst/>
              <a:uFillTx/>
              <a:latin typeface="Arial"/>
            </a:endParaRPr>
          </a:p>
          <a:p>
            <a:pPr defTabSz="914400">
              <a:lnSpc>
                <a:spcPct val="100000"/>
              </a:lnSpc>
              <a:tabLst>
                <a:tab pos="0" algn="l"/>
              </a:tabLst>
            </a:pPr>
            <a:r>
              <a:rPr lang="en-US" sz="1350" b="0" u="none" strike="noStrike">
                <a:solidFill>
                  <a:srgbClr val="0B1F3A"/>
                </a:solidFill>
                <a:effectLst/>
                <a:uFillTx/>
                <a:latin typeface="Aptos"/>
              </a:rPr>
              <a:t>else if location = B then Left</a:t>
            </a:r>
            <a:endParaRPr lang="en-US" sz="1350" b="0" u="none" strike="noStrike">
              <a:solidFill>
                <a:srgbClr val="000000"/>
              </a:solidFill>
              <a:effectLst/>
              <a:uFillTx/>
              <a:latin typeface="Arial"/>
            </a:endParaRPr>
          </a:p>
        </p:txBody>
      </p:sp>
      <p:sp>
        <p:nvSpPr>
          <p:cNvPr id="375" name="Shape 10"/>
          <p:cNvSpPr/>
          <p:nvPr/>
        </p:nvSpPr>
        <p:spPr>
          <a:xfrm>
            <a:off x="7589520" y="3456360"/>
            <a:ext cx="3611160" cy="1416600"/>
          </a:xfrm>
          <a:prstGeom prst="roundRect">
            <a:avLst>
              <a:gd name="adj" fmla="val 3871"/>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76" name="Text 11"/>
          <p:cNvSpPr/>
          <p:nvPr/>
        </p:nvSpPr>
        <p:spPr>
          <a:xfrm>
            <a:off x="7754040" y="3602880"/>
            <a:ext cx="328212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2B6CB0"/>
                </a:solidFill>
                <a:effectLst/>
                <a:uFillTx/>
                <a:latin typeface="Aptos"/>
              </a:rPr>
              <a:t>Why this is reflex</a:t>
            </a:r>
            <a:endParaRPr lang="en-US" sz="1700" b="0" u="none" strike="noStrike">
              <a:solidFill>
                <a:srgbClr val="000000"/>
              </a:solidFill>
              <a:effectLst/>
              <a:uFillTx/>
              <a:latin typeface="Arial"/>
            </a:endParaRPr>
          </a:p>
        </p:txBody>
      </p:sp>
      <p:sp>
        <p:nvSpPr>
          <p:cNvPr id="377" name="Text 12"/>
          <p:cNvSpPr/>
          <p:nvPr/>
        </p:nvSpPr>
        <p:spPr>
          <a:xfrm>
            <a:off x="7754040" y="3931920"/>
            <a:ext cx="3282120" cy="82224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350" b="0" u="none" strike="noStrike">
                <a:solidFill>
                  <a:srgbClr val="0B1F3A"/>
                </a:solidFill>
                <a:effectLst/>
                <a:uFillTx/>
                <a:latin typeface="Aptos"/>
              </a:rPr>
              <a:t>The action depends only on current location and dirt status, not the entire percept history.</a:t>
            </a:r>
            <a:endParaRPr lang="en-US" sz="1350" b="0" u="none" strike="noStrike">
              <a:solidFill>
                <a:srgbClr val="000000"/>
              </a:solidFill>
              <a:effectLst/>
              <a:uFillTx/>
              <a:latin typeface="Arial"/>
            </a:endParaRPr>
          </a:p>
        </p:txBody>
      </p:sp>
      <p:sp>
        <p:nvSpPr>
          <p:cNvPr id="378" name="Text 13"/>
          <p:cNvSpPr/>
          <p:nvPr/>
        </p:nvSpPr>
        <p:spPr>
          <a:xfrm>
            <a:off x="868680" y="5577840"/>
            <a:ext cx="10332000" cy="383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0B2B5C"/>
                </a:solidFill>
                <a:effectLst/>
                <a:uFillTx/>
                <a:latin typeface="Aptos"/>
              </a:rPr>
              <a:t>Strength: fast and compact. Weakness: brittle when the current percept is incomplete.</a:t>
            </a:r>
            <a:endParaRPr lang="en-US" sz="1800" b="0" u="none" strike="noStrike">
              <a:solidFill>
                <a:srgbClr val="000000"/>
              </a:solidFill>
              <a:effectLst/>
              <a:uFillTx/>
              <a:latin typeface="Arial"/>
            </a:endParaRPr>
          </a:p>
        </p:txBody>
      </p:sp>
      <p:sp>
        <p:nvSpPr>
          <p:cNvPr id="379" name="Text 14"/>
          <p:cNvSpPr/>
          <p:nvPr/>
        </p:nvSpPr>
        <p:spPr>
          <a:xfrm>
            <a:off x="9326880" y="6364080"/>
            <a:ext cx="2376720" cy="163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750" b="0" u="none" strike="noStrike">
                <a:solidFill>
                  <a:srgbClr val="5E7088"/>
                </a:solidFill>
                <a:effectLst/>
                <a:uFillTx/>
                <a:latin typeface="Aptos"/>
              </a:rPr>
              <a:t>Figure 2.8</a:t>
            </a:r>
            <a:endParaRPr lang="en-US" sz="7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6FA"/>
        </a:solidFill>
      </p:bgPr>
    </p:bg>
    <p:spTree>
      <p:nvGrpSpPr>
        <p:cNvPr id="1" name=""/>
        <p:cNvGrpSpPr/>
        <p:nvPr/>
      </p:nvGrpSpPr>
      <p:grpSpPr>
        <a:xfrm>
          <a:off x="0" y="0"/>
          <a:ext cx="0" cy="0"/>
          <a:chOff x="0" y="0"/>
          <a:chExt cx="0" cy="0"/>
        </a:xfrm>
      </p:grpSpPr>
      <p:sp>
        <p:nvSpPr>
          <p:cNvPr id="380" name="Shape 0"/>
          <p:cNvSpPr/>
          <p:nvPr/>
        </p:nvSpPr>
        <p:spPr>
          <a:xfrm>
            <a:off x="0" y="0"/>
            <a:ext cx="12191040" cy="803880"/>
          </a:xfrm>
          <a:prstGeom prst="rect">
            <a:avLst/>
          </a:prstGeom>
          <a:solidFill>
            <a:srgbClr val="0B2B5C"/>
          </a:solidFill>
          <a:ln w="12700">
            <a:solidFill>
              <a:srgbClr val="0B2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81" name="Shape 1"/>
          <p:cNvSpPr/>
          <p:nvPr/>
        </p:nvSpPr>
        <p:spPr>
          <a:xfrm>
            <a:off x="0" y="804600"/>
            <a:ext cx="12191040" cy="72360"/>
          </a:xfrm>
          <a:prstGeom prst="rect">
            <a:avLst/>
          </a:prstGeom>
          <a:solidFill>
            <a:srgbClr val="F5A21B"/>
          </a:solidFill>
          <a:ln w="12700">
            <a:solidFill>
              <a:srgbClr val="F5A21B"/>
            </a:solidFill>
            <a:round/>
          </a:ln>
        </p:spPr>
        <p:style>
          <a:lnRef idx="0"/>
          <a:fillRef idx="0"/>
          <a:effectRef idx="0"/>
          <a:fontRef idx="minor"/>
        </p:style>
        <p:txBody>
          <a:bodyPr lIns="90000" tIns="28080" rIns="90000" bIns="28080" anchor="t">
            <a:noAutofit/>
          </a:bodyPr>
          <a:p>
            <a:endParaRPr lang="en-US" sz="1800" b="0" u="none" strike="noStrike">
              <a:solidFill>
                <a:srgbClr val="000000"/>
              </a:solidFill>
              <a:effectLst/>
              <a:uFillTx/>
              <a:latin typeface="Arial"/>
            </a:endParaRPr>
          </a:p>
        </p:txBody>
      </p:sp>
      <p:sp>
        <p:nvSpPr>
          <p:cNvPr id="382" name="Text 2"/>
          <p:cNvSpPr/>
          <p:nvPr/>
        </p:nvSpPr>
        <p:spPr>
          <a:xfrm>
            <a:off x="475560" y="210240"/>
            <a:ext cx="960048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300" b="1" u="none" strike="noStrike">
                <a:solidFill>
                  <a:srgbClr val="FFFFFF"/>
                </a:solidFill>
                <a:effectLst/>
                <a:uFillTx/>
                <a:latin typeface="Aptos Display"/>
                <a:ea typeface="Aptos Display"/>
              </a:rPr>
              <a:t>2.4.2 General Simple Reflex Agent</a:t>
            </a:r>
            <a:endParaRPr lang="en-US" sz="2300" b="0" u="none" strike="noStrike">
              <a:solidFill>
                <a:srgbClr val="000000"/>
              </a:solidFill>
              <a:effectLst/>
              <a:uFillTx/>
              <a:latin typeface="Arial"/>
            </a:endParaRPr>
          </a:p>
        </p:txBody>
      </p:sp>
      <p:sp>
        <p:nvSpPr>
          <p:cNvPr id="383" name="Text 3"/>
          <p:cNvSpPr/>
          <p:nvPr/>
        </p:nvSpPr>
        <p:spPr>
          <a:xfrm>
            <a:off x="10241280" y="255960"/>
            <a:ext cx="13708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200" b="0" u="none" strike="noStrike">
                <a:solidFill>
                  <a:srgbClr val="DDE8F2"/>
                </a:solidFill>
                <a:effectLst/>
                <a:uFillTx/>
                <a:latin typeface="Aptos"/>
                <a:ea typeface="Aptos"/>
              </a:rPr>
              <a:t>2.4.2</a:t>
            </a:r>
            <a:endParaRPr lang="en-US" sz="1200" b="0" u="none" strike="noStrike">
              <a:solidFill>
                <a:srgbClr val="000000"/>
              </a:solidFill>
              <a:effectLst/>
              <a:uFillTx/>
              <a:latin typeface="Arial"/>
            </a:endParaRPr>
          </a:p>
        </p:txBody>
      </p:sp>
      <p:sp>
        <p:nvSpPr>
          <p:cNvPr id="384" name="Text 4"/>
          <p:cNvSpPr/>
          <p:nvPr/>
        </p:nvSpPr>
        <p:spPr>
          <a:xfrm>
            <a:off x="475560" y="6565320"/>
            <a:ext cx="274248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385" name="Text 5"/>
          <p:cNvSpPr/>
          <p:nvPr/>
        </p:nvSpPr>
        <p:spPr>
          <a:xfrm>
            <a:off x="11411640" y="6565320"/>
            <a:ext cx="273600" cy="163800"/>
          </a:xfrm>
          <a:prstGeom prst="rect">
            <a:avLst/>
          </a:prstGeom>
          <a:noFill/>
          <a:ln w="0">
            <a:noFill/>
          </a:ln>
        </p:spPr>
        <p:style>
          <a:lnRef idx="0"/>
          <a:fillRef idx="0"/>
          <a:effectRef idx="0"/>
          <a:fontRef idx="minor"/>
        </p:style>
        <p:txBody>
          <a:bodyPr lIns="0" tIns="0" rIns="0" bIns="0" anchor="ctr">
            <a:noAutofit/>
          </a:bodyPr>
          <a:p>
            <a:r>
              <a:t>18</a:t>
            </a:r>
          </a:p>
        </p:txBody>
      </p:sp>
      <p:pic>
        <p:nvPicPr>
          <p:cNvPr id="386" name="Image 0" descr="/mnt/data/ch2_docx_unzipped/word/media/image8.png"/>
          <p:cNvPicPr/>
          <p:nvPr/>
        </p:nvPicPr>
        <p:blipFill>
          <a:blip r:embed="rId1"/>
          <a:stretch/>
        </p:blipFill>
        <p:spPr>
          <a:xfrm>
            <a:off x="457200" y="1371600"/>
            <a:ext cx="5257440" cy="4138200"/>
          </a:xfrm>
          <a:prstGeom prst="rect">
            <a:avLst/>
          </a:prstGeom>
          <a:noFill/>
          <a:ln w="0">
            <a:noFill/>
          </a:ln>
        </p:spPr>
      </p:pic>
      <p:pic>
        <p:nvPicPr>
          <p:cNvPr id="387" name="Image 1" descr="/mnt/data/ch2_docx_unzipped/word/media/image9.png"/>
          <p:cNvPicPr/>
          <p:nvPr/>
        </p:nvPicPr>
        <p:blipFill>
          <a:blip r:embed="rId2"/>
          <a:stretch/>
        </p:blipFill>
        <p:spPr>
          <a:xfrm>
            <a:off x="6315480" y="1463040"/>
            <a:ext cx="5107680" cy="2376720"/>
          </a:xfrm>
          <a:prstGeom prst="rect">
            <a:avLst/>
          </a:prstGeom>
          <a:noFill/>
          <a:ln w="0">
            <a:noFill/>
          </a:ln>
        </p:spPr>
      </p:pic>
      <p:sp>
        <p:nvSpPr>
          <p:cNvPr id="388" name="Shape 6"/>
          <p:cNvSpPr/>
          <p:nvPr/>
        </p:nvSpPr>
        <p:spPr>
          <a:xfrm>
            <a:off x="6217920" y="4160520"/>
            <a:ext cx="5257080" cy="822240"/>
          </a:xfrm>
          <a:prstGeom prst="roundRect">
            <a:avLst>
              <a:gd name="adj" fmla="val 6667"/>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89" name="Text 7"/>
          <p:cNvSpPr/>
          <p:nvPr/>
        </p:nvSpPr>
        <p:spPr>
          <a:xfrm>
            <a:off x="6382440" y="4306680"/>
            <a:ext cx="492804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048A97"/>
                </a:solidFill>
                <a:effectLst/>
                <a:uFillTx/>
                <a:latin typeface="Aptos"/>
              </a:rPr>
              <a:t>General pattern</a:t>
            </a:r>
            <a:endParaRPr lang="en-US" sz="1600" b="0" u="none" strike="noStrike">
              <a:solidFill>
                <a:srgbClr val="000000"/>
              </a:solidFill>
              <a:effectLst/>
              <a:uFillTx/>
              <a:latin typeface="Arial"/>
            </a:endParaRPr>
          </a:p>
        </p:txBody>
      </p:sp>
      <p:sp>
        <p:nvSpPr>
          <p:cNvPr id="390" name="Text 8"/>
          <p:cNvSpPr/>
          <p:nvPr/>
        </p:nvSpPr>
        <p:spPr>
          <a:xfrm>
            <a:off x="6382440" y="4636080"/>
            <a:ext cx="4928040" cy="227880"/>
          </a:xfrm>
          <a:prstGeom prst="rect">
            <a:avLst/>
          </a:prstGeom>
          <a:noFill/>
          <a:ln w="0">
            <a:noFill/>
          </a:ln>
        </p:spPr>
        <p:style>
          <a:lnRef idx="0"/>
          <a:fillRef idx="0"/>
          <a:effectRef idx="0"/>
          <a:fontRef idx="minor"/>
        </p:style>
        <p:txBody>
          <a:bodyPr lIns="360" tIns="360" rIns="360" bIns="360" anchor="ctr">
            <a:normAutofit fontScale="85000" lnSpcReduction="9999"/>
          </a:bodyPr>
          <a:p>
            <a:pPr defTabSz="914400">
              <a:lnSpc>
                <a:spcPct val="100000"/>
              </a:lnSpc>
              <a:tabLst>
                <a:tab pos="0" algn="l"/>
              </a:tabLst>
            </a:pPr>
            <a:r>
              <a:rPr lang="en-US" sz="1250" b="0" u="none" strike="noStrike">
                <a:solidFill>
                  <a:srgbClr val="0B1F3A"/>
                </a:solidFill>
                <a:effectLst/>
                <a:uFillTx/>
                <a:latin typeface="Aptos"/>
              </a:rPr>
              <a:t>Interpret current percept -&gt; match condition-action rule -&gt; return rule action.</a:t>
            </a:r>
            <a:endParaRPr lang="en-US" sz="1250" b="0" u="none" strike="noStrike">
              <a:solidFill>
                <a:srgbClr val="000000"/>
              </a:solidFill>
              <a:effectLst/>
              <a:uFillTx/>
              <a:latin typeface="Arial"/>
            </a:endParaRPr>
          </a:p>
        </p:txBody>
      </p:sp>
      <p:sp>
        <p:nvSpPr>
          <p:cNvPr id="391" name="Shape 9"/>
          <p:cNvSpPr/>
          <p:nvPr/>
        </p:nvSpPr>
        <p:spPr>
          <a:xfrm>
            <a:off x="6217920" y="5212080"/>
            <a:ext cx="5257080" cy="776520"/>
          </a:xfrm>
          <a:prstGeom prst="roundRect">
            <a:avLst>
              <a:gd name="adj" fmla="val 7059"/>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92" name="Text 10"/>
          <p:cNvSpPr/>
          <p:nvPr/>
        </p:nvSpPr>
        <p:spPr>
          <a:xfrm>
            <a:off x="6382440" y="5358240"/>
            <a:ext cx="492804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A32020"/>
                </a:solidFill>
                <a:effectLst/>
                <a:uFillTx/>
                <a:latin typeface="Aptos"/>
              </a:rPr>
              <a:t>Key limitation</a:t>
            </a:r>
            <a:endParaRPr lang="en-US" sz="1600" b="0" u="none" strike="noStrike">
              <a:solidFill>
                <a:srgbClr val="000000"/>
              </a:solidFill>
              <a:effectLst/>
              <a:uFillTx/>
              <a:latin typeface="Arial"/>
            </a:endParaRPr>
          </a:p>
        </p:txBody>
      </p:sp>
      <p:sp>
        <p:nvSpPr>
          <p:cNvPr id="393" name="Text 11"/>
          <p:cNvSpPr/>
          <p:nvPr/>
        </p:nvSpPr>
        <p:spPr>
          <a:xfrm>
            <a:off x="6382440" y="5687640"/>
            <a:ext cx="4928040" cy="182160"/>
          </a:xfrm>
          <a:prstGeom prst="rect">
            <a:avLst/>
          </a:prstGeom>
          <a:noFill/>
          <a:ln w="0">
            <a:noFill/>
          </a:ln>
        </p:spPr>
        <p:style>
          <a:lnRef idx="0"/>
          <a:fillRef idx="0"/>
          <a:effectRef idx="0"/>
          <a:fontRef idx="minor"/>
        </p:style>
        <p:txBody>
          <a:bodyPr lIns="360" tIns="360" rIns="360" bIns="360" anchor="ctr">
            <a:normAutofit fontScale="77500" lnSpcReduction="19999"/>
          </a:bodyPr>
          <a:p>
            <a:pPr defTabSz="914400">
              <a:lnSpc>
                <a:spcPct val="100000"/>
              </a:lnSpc>
              <a:tabLst>
                <a:tab pos="0" algn="l"/>
              </a:tabLst>
            </a:pPr>
            <a:r>
              <a:rPr lang="en-US" sz="1250" b="0" u="none" strike="noStrike">
                <a:solidFill>
                  <a:srgbClr val="0B1F3A"/>
                </a:solidFill>
                <a:effectLst/>
                <a:uFillTx/>
                <a:latin typeface="Aptos"/>
              </a:rPr>
              <a:t>If the current percept does not reveal enough state, the rule may choose the wrong action.</a:t>
            </a:r>
            <a:endParaRPr lang="en-US" sz="1250" b="0" u="none" strike="noStrike">
              <a:solidFill>
                <a:srgbClr val="000000"/>
              </a:solidFill>
              <a:effectLst/>
              <a:uFillTx/>
              <a:latin typeface="Arial"/>
            </a:endParaRPr>
          </a:p>
        </p:txBody>
      </p:sp>
      <p:sp>
        <p:nvSpPr>
          <p:cNvPr id="394" name="Text 12"/>
          <p:cNvSpPr/>
          <p:nvPr/>
        </p:nvSpPr>
        <p:spPr>
          <a:xfrm>
            <a:off x="9326880" y="6364080"/>
            <a:ext cx="2376720" cy="163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750" b="0" u="none" strike="noStrike">
                <a:solidFill>
                  <a:srgbClr val="5E7088"/>
                </a:solidFill>
                <a:effectLst/>
                <a:uFillTx/>
                <a:latin typeface="Aptos"/>
              </a:rPr>
              <a:t>Figures 2.9 and 2.10</a:t>
            </a:r>
            <a:endParaRPr lang="en-US" sz="7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6FA"/>
        </a:solidFill>
      </p:bgPr>
    </p:bg>
    <p:spTree>
      <p:nvGrpSpPr>
        <p:cNvPr id="1" name=""/>
        <p:cNvGrpSpPr/>
        <p:nvPr/>
      </p:nvGrpSpPr>
      <p:grpSpPr>
        <a:xfrm>
          <a:off x="0" y="0"/>
          <a:ext cx="0" cy="0"/>
          <a:chOff x="0" y="0"/>
          <a:chExt cx="0" cy="0"/>
        </a:xfrm>
      </p:grpSpPr>
      <p:sp>
        <p:nvSpPr>
          <p:cNvPr id="395" name="Shape 0"/>
          <p:cNvSpPr/>
          <p:nvPr/>
        </p:nvSpPr>
        <p:spPr>
          <a:xfrm>
            <a:off x="0" y="0"/>
            <a:ext cx="12191040" cy="803880"/>
          </a:xfrm>
          <a:prstGeom prst="rect">
            <a:avLst/>
          </a:prstGeom>
          <a:solidFill>
            <a:srgbClr val="0B2B5C"/>
          </a:solidFill>
          <a:ln w="12700">
            <a:solidFill>
              <a:srgbClr val="0B2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96" name="Shape 1"/>
          <p:cNvSpPr/>
          <p:nvPr/>
        </p:nvSpPr>
        <p:spPr>
          <a:xfrm>
            <a:off x="0" y="804600"/>
            <a:ext cx="12191040" cy="72360"/>
          </a:xfrm>
          <a:prstGeom prst="rect">
            <a:avLst/>
          </a:prstGeom>
          <a:solidFill>
            <a:srgbClr val="F5A21B"/>
          </a:solidFill>
          <a:ln w="12700">
            <a:solidFill>
              <a:srgbClr val="F5A21B"/>
            </a:solidFill>
            <a:round/>
          </a:ln>
        </p:spPr>
        <p:style>
          <a:lnRef idx="0"/>
          <a:fillRef idx="0"/>
          <a:effectRef idx="0"/>
          <a:fontRef idx="minor"/>
        </p:style>
        <p:txBody>
          <a:bodyPr lIns="90000" tIns="28080" rIns="90000" bIns="28080" anchor="t">
            <a:noAutofit/>
          </a:bodyPr>
          <a:p>
            <a:endParaRPr lang="en-US" sz="1800" b="0" u="none" strike="noStrike">
              <a:solidFill>
                <a:srgbClr val="000000"/>
              </a:solidFill>
              <a:effectLst/>
              <a:uFillTx/>
              <a:latin typeface="Arial"/>
            </a:endParaRPr>
          </a:p>
        </p:txBody>
      </p:sp>
      <p:sp>
        <p:nvSpPr>
          <p:cNvPr id="397" name="Text 2"/>
          <p:cNvSpPr/>
          <p:nvPr/>
        </p:nvSpPr>
        <p:spPr>
          <a:xfrm>
            <a:off x="475560" y="210240"/>
            <a:ext cx="960048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300" b="1" u="none" strike="noStrike">
                <a:solidFill>
                  <a:srgbClr val="FFFFFF"/>
                </a:solidFill>
                <a:effectLst/>
                <a:uFillTx/>
                <a:latin typeface="Aptos Display"/>
                <a:ea typeface="Aptos Display"/>
              </a:rPr>
              <a:t>When Simple Reflex Fails: Partial Observability</a:t>
            </a:r>
            <a:endParaRPr lang="en-US" sz="2300" b="0" u="none" strike="noStrike">
              <a:solidFill>
                <a:srgbClr val="000000"/>
              </a:solidFill>
              <a:effectLst/>
              <a:uFillTx/>
              <a:latin typeface="Arial"/>
            </a:endParaRPr>
          </a:p>
        </p:txBody>
      </p:sp>
      <p:sp>
        <p:nvSpPr>
          <p:cNvPr id="398" name="Text 3"/>
          <p:cNvSpPr/>
          <p:nvPr/>
        </p:nvSpPr>
        <p:spPr>
          <a:xfrm>
            <a:off x="10241280" y="255960"/>
            <a:ext cx="13708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200" b="0" u="none" strike="noStrike">
                <a:solidFill>
                  <a:srgbClr val="DDE8F2"/>
                </a:solidFill>
                <a:effectLst/>
                <a:uFillTx/>
                <a:latin typeface="Aptos"/>
                <a:ea typeface="Aptos"/>
              </a:rPr>
              <a:t>2.4.2</a:t>
            </a:r>
            <a:endParaRPr lang="en-US" sz="1200" b="0" u="none" strike="noStrike">
              <a:solidFill>
                <a:srgbClr val="000000"/>
              </a:solidFill>
              <a:effectLst/>
              <a:uFillTx/>
              <a:latin typeface="Arial"/>
            </a:endParaRPr>
          </a:p>
        </p:txBody>
      </p:sp>
      <p:sp>
        <p:nvSpPr>
          <p:cNvPr id="399" name="Text 4"/>
          <p:cNvSpPr/>
          <p:nvPr/>
        </p:nvSpPr>
        <p:spPr>
          <a:xfrm>
            <a:off x="475560" y="6565320"/>
            <a:ext cx="274248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400" name="Text 5"/>
          <p:cNvSpPr/>
          <p:nvPr/>
        </p:nvSpPr>
        <p:spPr>
          <a:xfrm>
            <a:off x="11411640" y="6565320"/>
            <a:ext cx="273600" cy="163800"/>
          </a:xfrm>
          <a:prstGeom prst="rect">
            <a:avLst/>
          </a:prstGeom>
          <a:noFill/>
          <a:ln w="0">
            <a:noFill/>
          </a:ln>
        </p:spPr>
        <p:style>
          <a:lnRef idx="0"/>
          <a:fillRef idx="0"/>
          <a:effectRef idx="0"/>
          <a:fontRef idx="minor"/>
        </p:style>
        <p:txBody>
          <a:bodyPr lIns="0" tIns="0" rIns="0" bIns="0" anchor="ctr">
            <a:noAutofit/>
          </a:bodyPr>
          <a:p>
            <a:r>
              <a:t>19</a:t>
            </a:r>
          </a:p>
        </p:txBody>
      </p:sp>
      <p:sp>
        <p:nvSpPr>
          <p:cNvPr id="401" name="Shape 6"/>
          <p:cNvSpPr/>
          <p:nvPr/>
        </p:nvSpPr>
        <p:spPr>
          <a:xfrm>
            <a:off x="822960" y="1280160"/>
            <a:ext cx="3291120" cy="1142280"/>
          </a:xfrm>
          <a:prstGeom prst="roundRect">
            <a:avLst>
              <a:gd name="adj" fmla="val 4800"/>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02" name="Text 7"/>
          <p:cNvSpPr/>
          <p:nvPr/>
        </p:nvSpPr>
        <p:spPr>
          <a:xfrm>
            <a:off x="987480" y="1426320"/>
            <a:ext cx="296208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A32020"/>
                </a:solidFill>
                <a:effectLst/>
                <a:uFillTx/>
                <a:latin typeface="Aptos"/>
              </a:rPr>
              <a:t>Problem</a:t>
            </a:r>
            <a:endParaRPr lang="en-US" sz="1800" b="0" u="none" strike="noStrike">
              <a:solidFill>
                <a:srgbClr val="000000"/>
              </a:solidFill>
              <a:effectLst/>
              <a:uFillTx/>
              <a:latin typeface="Arial"/>
            </a:endParaRPr>
          </a:p>
        </p:txBody>
      </p:sp>
      <p:sp>
        <p:nvSpPr>
          <p:cNvPr id="403" name="Text 8"/>
          <p:cNvSpPr/>
          <p:nvPr/>
        </p:nvSpPr>
        <p:spPr>
          <a:xfrm>
            <a:off x="987480" y="1755720"/>
            <a:ext cx="2962080" cy="547920"/>
          </a:xfrm>
          <a:prstGeom prst="rect">
            <a:avLst/>
          </a:prstGeom>
          <a:noFill/>
          <a:ln w="0">
            <a:noFill/>
          </a:ln>
        </p:spPr>
        <p:style>
          <a:lnRef idx="0"/>
          <a:fillRef idx="0"/>
          <a:effectRef idx="0"/>
          <a:fontRef idx="minor"/>
        </p:style>
        <p:txBody>
          <a:bodyPr lIns="360" tIns="360" rIns="360" bIns="360" anchor="ctr">
            <a:normAutofit fontScale="92500" lnSpcReduction="9999"/>
          </a:bodyPr>
          <a:p>
            <a:pPr defTabSz="914400">
              <a:lnSpc>
                <a:spcPct val="100000"/>
              </a:lnSpc>
              <a:tabLst>
                <a:tab pos="0" algn="l"/>
              </a:tabLst>
            </a:pPr>
            <a:r>
              <a:rPr lang="en-US" sz="1350" b="0" u="none" strike="noStrike">
                <a:solidFill>
                  <a:srgbClr val="0B1F3A"/>
                </a:solidFill>
                <a:effectLst/>
                <a:uFillTx/>
                <a:latin typeface="Aptos"/>
              </a:rPr>
              <a:t>The current percept does not contain enough information to choose correctly.</a:t>
            </a:r>
            <a:endParaRPr lang="en-US" sz="1350" b="0" u="none" strike="noStrike">
              <a:solidFill>
                <a:srgbClr val="000000"/>
              </a:solidFill>
              <a:effectLst/>
              <a:uFillTx/>
              <a:latin typeface="Arial"/>
            </a:endParaRPr>
          </a:p>
        </p:txBody>
      </p:sp>
      <p:sp>
        <p:nvSpPr>
          <p:cNvPr id="404" name="Shape 9"/>
          <p:cNvSpPr/>
          <p:nvPr/>
        </p:nvSpPr>
        <p:spPr>
          <a:xfrm>
            <a:off x="4434840" y="1280160"/>
            <a:ext cx="3291120" cy="1142280"/>
          </a:xfrm>
          <a:prstGeom prst="roundRect">
            <a:avLst>
              <a:gd name="adj" fmla="val 4800"/>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05" name="Text 10"/>
          <p:cNvSpPr/>
          <p:nvPr/>
        </p:nvSpPr>
        <p:spPr>
          <a:xfrm>
            <a:off x="4599360" y="1426320"/>
            <a:ext cx="296208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F5A21B"/>
                </a:solidFill>
                <a:effectLst/>
                <a:uFillTx/>
                <a:latin typeface="Aptos"/>
              </a:rPr>
              <a:t>Vacuum example</a:t>
            </a:r>
            <a:endParaRPr lang="en-US" sz="1800" b="0" u="none" strike="noStrike">
              <a:solidFill>
                <a:srgbClr val="000000"/>
              </a:solidFill>
              <a:effectLst/>
              <a:uFillTx/>
              <a:latin typeface="Arial"/>
            </a:endParaRPr>
          </a:p>
        </p:txBody>
      </p:sp>
      <p:sp>
        <p:nvSpPr>
          <p:cNvPr id="406" name="Text 11"/>
          <p:cNvSpPr/>
          <p:nvPr/>
        </p:nvSpPr>
        <p:spPr>
          <a:xfrm>
            <a:off x="4599360" y="1755720"/>
            <a:ext cx="2962080" cy="547920"/>
          </a:xfrm>
          <a:prstGeom prst="rect">
            <a:avLst/>
          </a:prstGeom>
          <a:noFill/>
          <a:ln w="0">
            <a:noFill/>
          </a:ln>
        </p:spPr>
        <p:style>
          <a:lnRef idx="0"/>
          <a:fillRef idx="0"/>
          <a:effectRef idx="0"/>
          <a:fontRef idx="minor"/>
        </p:style>
        <p:txBody>
          <a:bodyPr lIns="360" tIns="360" rIns="360" bIns="360" anchor="ctr">
            <a:normAutofit fontScale="92500" lnSpcReduction="9999"/>
          </a:bodyPr>
          <a:p>
            <a:pPr defTabSz="914400">
              <a:lnSpc>
                <a:spcPct val="100000"/>
              </a:lnSpc>
              <a:tabLst>
                <a:tab pos="0" algn="l"/>
              </a:tabLst>
            </a:pPr>
            <a:r>
              <a:rPr lang="en-US" sz="1350" b="0" u="none" strike="noStrike">
                <a:solidFill>
                  <a:srgbClr val="0B1F3A"/>
                </a:solidFill>
                <a:effectLst/>
                <a:uFillTx/>
                <a:latin typeface="Aptos"/>
              </a:rPr>
              <a:t>If the agent sees only Clean/Dirty but not location, moving Left or Right can loop forever.</a:t>
            </a:r>
            <a:endParaRPr lang="en-US" sz="1350" b="0" u="none" strike="noStrike">
              <a:solidFill>
                <a:srgbClr val="000000"/>
              </a:solidFill>
              <a:effectLst/>
              <a:uFillTx/>
              <a:latin typeface="Arial"/>
            </a:endParaRPr>
          </a:p>
        </p:txBody>
      </p:sp>
      <p:sp>
        <p:nvSpPr>
          <p:cNvPr id="407" name="Shape 12"/>
          <p:cNvSpPr/>
          <p:nvPr/>
        </p:nvSpPr>
        <p:spPr>
          <a:xfrm>
            <a:off x="8046720" y="1280160"/>
            <a:ext cx="3291120" cy="1142280"/>
          </a:xfrm>
          <a:prstGeom prst="roundRect">
            <a:avLst>
              <a:gd name="adj" fmla="val 4800"/>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08" name="Text 13"/>
          <p:cNvSpPr/>
          <p:nvPr/>
        </p:nvSpPr>
        <p:spPr>
          <a:xfrm>
            <a:off x="8211240" y="1426320"/>
            <a:ext cx="296208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5B35B1"/>
                </a:solidFill>
                <a:effectLst/>
                <a:uFillTx/>
                <a:latin typeface="Aptos"/>
              </a:rPr>
              <a:t>Temporary fix</a:t>
            </a:r>
            <a:endParaRPr lang="en-US" sz="1800" b="0" u="none" strike="noStrike">
              <a:solidFill>
                <a:srgbClr val="000000"/>
              </a:solidFill>
              <a:effectLst/>
              <a:uFillTx/>
              <a:latin typeface="Arial"/>
            </a:endParaRPr>
          </a:p>
        </p:txBody>
      </p:sp>
      <p:sp>
        <p:nvSpPr>
          <p:cNvPr id="409" name="Text 14"/>
          <p:cNvSpPr/>
          <p:nvPr/>
        </p:nvSpPr>
        <p:spPr>
          <a:xfrm>
            <a:off x="8211240" y="1755720"/>
            <a:ext cx="2962080" cy="547920"/>
          </a:xfrm>
          <a:prstGeom prst="rect">
            <a:avLst/>
          </a:prstGeom>
          <a:noFill/>
          <a:ln w="0">
            <a:noFill/>
          </a:ln>
        </p:spPr>
        <p:style>
          <a:lnRef idx="0"/>
          <a:fillRef idx="0"/>
          <a:effectRef idx="0"/>
          <a:fontRef idx="minor"/>
        </p:style>
        <p:txBody>
          <a:bodyPr lIns="360" tIns="360" rIns="360" bIns="360" anchor="ctr">
            <a:normAutofit fontScale="92500" lnSpcReduction="9999"/>
          </a:bodyPr>
          <a:p>
            <a:pPr defTabSz="914400">
              <a:lnSpc>
                <a:spcPct val="100000"/>
              </a:lnSpc>
              <a:tabLst>
                <a:tab pos="0" algn="l"/>
              </a:tabLst>
            </a:pPr>
            <a:r>
              <a:rPr lang="en-US" sz="1350" b="0" u="none" strike="noStrike">
                <a:solidFill>
                  <a:srgbClr val="0B1F3A"/>
                </a:solidFill>
                <a:effectLst/>
                <a:uFillTx/>
                <a:latin typeface="Aptos"/>
              </a:rPr>
              <a:t>Randomization can sometimes escape loops, but it is not general intelligence.</a:t>
            </a:r>
            <a:endParaRPr lang="en-US" sz="1350" b="0" u="none" strike="noStrike">
              <a:solidFill>
                <a:srgbClr val="000000"/>
              </a:solidFill>
              <a:effectLst/>
              <a:uFillTx/>
              <a:latin typeface="Arial"/>
            </a:endParaRPr>
          </a:p>
        </p:txBody>
      </p:sp>
      <p:sp>
        <p:nvSpPr>
          <p:cNvPr id="410" name="Text 15"/>
          <p:cNvSpPr/>
          <p:nvPr/>
        </p:nvSpPr>
        <p:spPr>
          <a:xfrm>
            <a:off x="914400" y="3063240"/>
            <a:ext cx="10332000" cy="365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200" b="1" u="none" strike="noStrike">
                <a:solidFill>
                  <a:srgbClr val="0B2B5C"/>
                </a:solidFill>
                <a:effectLst/>
                <a:uFillTx/>
                <a:latin typeface="Aptos"/>
              </a:rPr>
              <a:t>Better solution: maintain internal state or use a model of the world.</a:t>
            </a:r>
            <a:endParaRPr lang="en-US" sz="2200" b="0" u="none" strike="noStrike">
              <a:solidFill>
                <a:srgbClr val="000000"/>
              </a:solidFill>
              <a:effectLst/>
              <a:uFillTx/>
              <a:latin typeface="Arial"/>
            </a:endParaRPr>
          </a:p>
        </p:txBody>
      </p:sp>
      <p:sp>
        <p:nvSpPr>
          <p:cNvPr id="411" name="Shape 16"/>
          <p:cNvSpPr/>
          <p:nvPr/>
        </p:nvSpPr>
        <p:spPr>
          <a:xfrm>
            <a:off x="1645920" y="4160520"/>
            <a:ext cx="1370880" cy="685080"/>
          </a:xfrm>
          <a:prstGeom prst="roundRect">
            <a:avLst>
              <a:gd name="adj" fmla="val 9333"/>
            </a:avLst>
          </a:prstGeom>
          <a:solidFill>
            <a:srgbClr val="2B6CB0"/>
          </a:solidFill>
          <a:ln w="12700">
            <a:solidFill>
              <a:srgbClr val="2B6CB0"/>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12" name="Text 17"/>
          <p:cNvSpPr/>
          <p:nvPr/>
        </p:nvSpPr>
        <p:spPr>
          <a:xfrm>
            <a:off x="1645920" y="4370760"/>
            <a:ext cx="1370880" cy="227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Aptos"/>
              </a:rPr>
              <a:t>percept</a:t>
            </a:r>
            <a:endParaRPr lang="en-US" sz="1400" b="0" u="none" strike="noStrike">
              <a:solidFill>
                <a:srgbClr val="000000"/>
              </a:solidFill>
              <a:effectLst/>
              <a:uFillTx/>
              <a:latin typeface="Arial"/>
            </a:endParaRPr>
          </a:p>
        </p:txBody>
      </p:sp>
      <p:sp>
        <p:nvSpPr>
          <p:cNvPr id="413" name="Shape 18"/>
          <p:cNvSpPr/>
          <p:nvPr/>
        </p:nvSpPr>
        <p:spPr>
          <a:xfrm>
            <a:off x="3108960" y="4507920"/>
            <a:ext cx="731520" cy="360"/>
          </a:xfrm>
          <a:prstGeom prst="line">
            <a:avLst/>
          </a:prstGeom>
          <a:ln w="16510">
            <a:solidFill>
              <a:srgbClr val="667085"/>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414" name="Shape 19"/>
          <p:cNvSpPr/>
          <p:nvPr/>
        </p:nvSpPr>
        <p:spPr>
          <a:xfrm>
            <a:off x="3977640" y="4160520"/>
            <a:ext cx="1370880" cy="685080"/>
          </a:xfrm>
          <a:prstGeom prst="roundRect">
            <a:avLst>
              <a:gd name="adj" fmla="val 9333"/>
            </a:avLst>
          </a:prstGeom>
          <a:solidFill>
            <a:srgbClr val="048A97"/>
          </a:solidFill>
          <a:ln w="12700">
            <a:solidFill>
              <a:srgbClr val="048A97"/>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15" name="Text 20"/>
          <p:cNvSpPr/>
          <p:nvPr/>
        </p:nvSpPr>
        <p:spPr>
          <a:xfrm>
            <a:off x="3977640" y="4370760"/>
            <a:ext cx="1370880" cy="227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Aptos"/>
              </a:rPr>
              <a:t>memory</a:t>
            </a:r>
            <a:endParaRPr lang="en-US" sz="1400" b="0" u="none" strike="noStrike">
              <a:solidFill>
                <a:srgbClr val="000000"/>
              </a:solidFill>
              <a:effectLst/>
              <a:uFillTx/>
              <a:latin typeface="Arial"/>
            </a:endParaRPr>
          </a:p>
        </p:txBody>
      </p:sp>
      <p:sp>
        <p:nvSpPr>
          <p:cNvPr id="416" name="Shape 21"/>
          <p:cNvSpPr/>
          <p:nvPr/>
        </p:nvSpPr>
        <p:spPr>
          <a:xfrm>
            <a:off x="5440680" y="4507920"/>
            <a:ext cx="731520" cy="360"/>
          </a:xfrm>
          <a:prstGeom prst="line">
            <a:avLst/>
          </a:prstGeom>
          <a:ln w="16510">
            <a:solidFill>
              <a:srgbClr val="667085"/>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417" name="Shape 22"/>
          <p:cNvSpPr/>
          <p:nvPr/>
        </p:nvSpPr>
        <p:spPr>
          <a:xfrm>
            <a:off x="6309360" y="4160520"/>
            <a:ext cx="1370880" cy="685080"/>
          </a:xfrm>
          <a:prstGeom prst="roundRect">
            <a:avLst>
              <a:gd name="adj" fmla="val 9333"/>
            </a:avLst>
          </a:prstGeom>
          <a:solidFill>
            <a:srgbClr val="F5A21B"/>
          </a:solidFill>
          <a:ln w="12700">
            <a:solidFill>
              <a:srgbClr val="F5A21B"/>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18" name="Text 23"/>
          <p:cNvSpPr/>
          <p:nvPr/>
        </p:nvSpPr>
        <p:spPr>
          <a:xfrm>
            <a:off x="6309360" y="4370760"/>
            <a:ext cx="1370880" cy="227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Aptos"/>
              </a:rPr>
              <a:t>model</a:t>
            </a:r>
            <a:endParaRPr lang="en-US" sz="1400" b="0" u="none" strike="noStrike">
              <a:solidFill>
                <a:srgbClr val="000000"/>
              </a:solidFill>
              <a:effectLst/>
              <a:uFillTx/>
              <a:latin typeface="Arial"/>
            </a:endParaRPr>
          </a:p>
        </p:txBody>
      </p:sp>
      <p:sp>
        <p:nvSpPr>
          <p:cNvPr id="419" name="Shape 24"/>
          <p:cNvSpPr/>
          <p:nvPr/>
        </p:nvSpPr>
        <p:spPr>
          <a:xfrm>
            <a:off x="7772400" y="4507920"/>
            <a:ext cx="731520" cy="360"/>
          </a:xfrm>
          <a:prstGeom prst="line">
            <a:avLst/>
          </a:prstGeom>
          <a:ln w="16510">
            <a:solidFill>
              <a:srgbClr val="667085"/>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420" name="Shape 25"/>
          <p:cNvSpPr/>
          <p:nvPr/>
        </p:nvSpPr>
        <p:spPr>
          <a:xfrm>
            <a:off x="8641080" y="4160520"/>
            <a:ext cx="1370880" cy="685080"/>
          </a:xfrm>
          <a:prstGeom prst="roundRect">
            <a:avLst>
              <a:gd name="adj" fmla="val 9333"/>
            </a:avLst>
          </a:prstGeom>
          <a:solidFill>
            <a:srgbClr val="1B7A45"/>
          </a:solidFill>
          <a:ln w="12700">
            <a:solidFill>
              <a:srgbClr val="1B7A45"/>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21" name="Text 26"/>
          <p:cNvSpPr/>
          <p:nvPr/>
        </p:nvSpPr>
        <p:spPr>
          <a:xfrm>
            <a:off x="8641080" y="4370760"/>
            <a:ext cx="1370880" cy="227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Aptos"/>
              </a:rPr>
              <a:t>action</a:t>
            </a: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6FA"/>
        </a:solidFill>
      </p:bgPr>
    </p:bg>
    <p:spTree>
      <p:nvGrpSpPr>
        <p:cNvPr id="1" name=""/>
        <p:cNvGrpSpPr/>
        <p:nvPr/>
      </p:nvGrpSpPr>
      <p:grpSpPr>
        <a:xfrm>
          <a:off x="0" y="0"/>
          <a:ext cx="0" cy="0"/>
          <a:chOff x="0" y="0"/>
          <a:chExt cx="0" cy="0"/>
        </a:xfrm>
      </p:grpSpPr>
      <p:sp>
        <p:nvSpPr>
          <p:cNvPr id="422" name="Shape 0"/>
          <p:cNvSpPr/>
          <p:nvPr/>
        </p:nvSpPr>
        <p:spPr>
          <a:xfrm>
            <a:off x="0" y="0"/>
            <a:ext cx="12191040" cy="803880"/>
          </a:xfrm>
          <a:prstGeom prst="rect">
            <a:avLst/>
          </a:prstGeom>
          <a:solidFill>
            <a:srgbClr val="0B2B5C"/>
          </a:solidFill>
          <a:ln w="12700">
            <a:solidFill>
              <a:srgbClr val="0B2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23" name="Shape 1"/>
          <p:cNvSpPr/>
          <p:nvPr/>
        </p:nvSpPr>
        <p:spPr>
          <a:xfrm>
            <a:off x="0" y="804600"/>
            <a:ext cx="12191040" cy="72360"/>
          </a:xfrm>
          <a:prstGeom prst="rect">
            <a:avLst/>
          </a:prstGeom>
          <a:solidFill>
            <a:srgbClr val="F5A21B"/>
          </a:solidFill>
          <a:ln w="12700">
            <a:solidFill>
              <a:srgbClr val="F5A21B"/>
            </a:solidFill>
            <a:round/>
          </a:ln>
        </p:spPr>
        <p:style>
          <a:lnRef idx="0"/>
          <a:fillRef idx="0"/>
          <a:effectRef idx="0"/>
          <a:fontRef idx="minor"/>
        </p:style>
        <p:txBody>
          <a:bodyPr lIns="90000" tIns="28080" rIns="90000" bIns="28080" anchor="t">
            <a:noAutofit/>
          </a:bodyPr>
          <a:p>
            <a:endParaRPr lang="en-US" sz="1800" b="0" u="none" strike="noStrike">
              <a:solidFill>
                <a:srgbClr val="000000"/>
              </a:solidFill>
              <a:effectLst/>
              <a:uFillTx/>
              <a:latin typeface="Arial"/>
            </a:endParaRPr>
          </a:p>
        </p:txBody>
      </p:sp>
      <p:sp>
        <p:nvSpPr>
          <p:cNvPr id="424" name="Text 2"/>
          <p:cNvSpPr/>
          <p:nvPr/>
        </p:nvSpPr>
        <p:spPr>
          <a:xfrm>
            <a:off x="475560" y="210240"/>
            <a:ext cx="960048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300" b="1" u="none" strike="noStrike">
                <a:solidFill>
                  <a:srgbClr val="FFFFFF"/>
                </a:solidFill>
                <a:effectLst/>
                <a:uFillTx/>
                <a:latin typeface="Aptos Display"/>
                <a:ea typeface="Aptos Display"/>
              </a:rPr>
              <a:t>2.4.3 Model-Based Reflex Agents</a:t>
            </a:r>
            <a:endParaRPr lang="en-US" sz="2300" b="0" u="none" strike="noStrike">
              <a:solidFill>
                <a:srgbClr val="000000"/>
              </a:solidFill>
              <a:effectLst/>
              <a:uFillTx/>
              <a:latin typeface="Arial"/>
            </a:endParaRPr>
          </a:p>
        </p:txBody>
      </p:sp>
      <p:sp>
        <p:nvSpPr>
          <p:cNvPr id="425" name="Text 3"/>
          <p:cNvSpPr/>
          <p:nvPr/>
        </p:nvSpPr>
        <p:spPr>
          <a:xfrm>
            <a:off x="10241280" y="255960"/>
            <a:ext cx="13708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200" b="0" u="none" strike="noStrike">
                <a:solidFill>
                  <a:srgbClr val="DDE8F2"/>
                </a:solidFill>
                <a:effectLst/>
                <a:uFillTx/>
                <a:latin typeface="Aptos"/>
                <a:ea typeface="Aptos"/>
              </a:rPr>
              <a:t>2.4.3</a:t>
            </a:r>
            <a:endParaRPr lang="en-US" sz="1200" b="0" u="none" strike="noStrike">
              <a:solidFill>
                <a:srgbClr val="000000"/>
              </a:solidFill>
              <a:effectLst/>
              <a:uFillTx/>
              <a:latin typeface="Arial"/>
            </a:endParaRPr>
          </a:p>
        </p:txBody>
      </p:sp>
      <p:sp>
        <p:nvSpPr>
          <p:cNvPr id="426" name="Text 4"/>
          <p:cNvSpPr/>
          <p:nvPr/>
        </p:nvSpPr>
        <p:spPr>
          <a:xfrm>
            <a:off x="475560" y="6565320"/>
            <a:ext cx="274248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427" name="Text 5"/>
          <p:cNvSpPr/>
          <p:nvPr/>
        </p:nvSpPr>
        <p:spPr>
          <a:xfrm>
            <a:off x="11411640" y="6565320"/>
            <a:ext cx="273600" cy="163800"/>
          </a:xfrm>
          <a:prstGeom prst="rect">
            <a:avLst/>
          </a:prstGeom>
          <a:noFill/>
          <a:ln w="0">
            <a:noFill/>
          </a:ln>
        </p:spPr>
        <p:style>
          <a:lnRef idx="0"/>
          <a:fillRef idx="0"/>
          <a:effectRef idx="0"/>
          <a:fontRef idx="minor"/>
        </p:style>
        <p:txBody>
          <a:bodyPr lIns="0" tIns="0" rIns="0" bIns="0" anchor="ctr">
            <a:noAutofit/>
          </a:bodyPr>
          <a:p>
            <a:r>
              <a:t>20</a:t>
            </a:r>
          </a:p>
        </p:txBody>
      </p:sp>
      <p:sp>
        <p:nvSpPr>
          <p:cNvPr id="428" name="Text 6"/>
          <p:cNvSpPr/>
          <p:nvPr/>
        </p:nvSpPr>
        <p:spPr>
          <a:xfrm>
            <a:off x="777240" y="1078920"/>
            <a:ext cx="10789200" cy="319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rgbClr val="0B2B5C"/>
                </a:solidFill>
                <a:effectLst/>
                <a:uFillTx/>
                <a:latin typeface="Aptos"/>
              </a:rPr>
              <a:t>Maintain internal state: a best guess about what the world is like now.</a:t>
            </a:r>
            <a:endParaRPr lang="en-US" sz="2000" b="0" u="none" strike="noStrike">
              <a:solidFill>
                <a:srgbClr val="000000"/>
              </a:solidFill>
              <a:effectLst/>
              <a:uFillTx/>
              <a:latin typeface="Arial"/>
            </a:endParaRPr>
          </a:p>
        </p:txBody>
      </p:sp>
      <p:pic>
        <p:nvPicPr>
          <p:cNvPr id="429" name="Image 0" descr="/mnt/data/fig2_11_model_based_diagram.png"/>
          <p:cNvPicPr/>
          <p:nvPr/>
        </p:nvPicPr>
        <p:blipFill>
          <a:blip r:embed="rId1"/>
          <a:stretch/>
        </p:blipFill>
        <p:spPr>
          <a:xfrm>
            <a:off x="1052640" y="1600200"/>
            <a:ext cx="5346000" cy="3885480"/>
          </a:xfrm>
          <a:prstGeom prst="rect">
            <a:avLst/>
          </a:prstGeom>
          <a:noFill/>
          <a:ln w="0">
            <a:noFill/>
          </a:ln>
        </p:spPr>
      </p:pic>
      <p:sp>
        <p:nvSpPr>
          <p:cNvPr id="430" name="Shape 7"/>
          <p:cNvSpPr/>
          <p:nvPr/>
        </p:nvSpPr>
        <p:spPr>
          <a:xfrm>
            <a:off x="7086600" y="1691640"/>
            <a:ext cx="4251240" cy="959400"/>
          </a:xfrm>
          <a:prstGeom prst="roundRect">
            <a:avLst>
              <a:gd name="adj" fmla="val 5714"/>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31" name="Text 8"/>
          <p:cNvSpPr/>
          <p:nvPr/>
        </p:nvSpPr>
        <p:spPr>
          <a:xfrm>
            <a:off x="7251120" y="1837800"/>
            <a:ext cx="392220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048A97"/>
                </a:solidFill>
                <a:effectLst/>
                <a:uFillTx/>
                <a:latin typeface="Aptos"/>
              </a:rPr>
              <a:t>Transition model</a:t>
            </a:r>
            <a:endParaRPr lang="en-US" sz="1700" b="0" u="none" strike="noStrike">
              <a:solidFill>
                <a:srgbClr val="000000"/>
              </a:solidFill>
              <a:effectLst/>
              <a:uFillTx/>
              <a:latin typeface="Arial"/>
            </a:endParaRPr>
          </a:p>
        </p:txBody>
      </p:sp>
      <p:sp>
        <p:nvSpPr>
          <p:cNvPr id="432" name="Text 9"/>
          <p:cNvSpPr/>
          <p:nvPr/>
        </p:nvSpPr>
        <p:spPr>
          <a:xfrm>
            <a:off x="7251120" y="2167200"/>
            <a:ext cx="3922200" cy="365040"/>
          </a:xfrm>
          <a:prstGeom prst="rect">
            <a:avLst/>
          </a:prstGeom>
          <a:noFill/>
          <a:ln w="0">
            <a:noFill/>
          </a:ln>
        </p:spPr>
        <p:style>
          <a:lnRef idx="0"/>
          <a:fillRef idx="0"/>
          <a:effectRef idx="0"/>
          <a:fontRef idx="minor"/>
        </p:style>
        <p:txBody>
          <a:bodyPr lIns="360" tIns="360" rIns="360" bIns="360" anchor="ctr">
            <a:normAutofit lnSpcReduction="9999"/>
          </a:bodyPr>
          <a:p>
            <a:pPr defTabSz="914400">
              <a:lnSpc>
                <a:spcPct val="100000"/>
              </a:lnSpc>
              <a:tabLst>
                <a:tab pos="0" algn="l"/>
              </a:tabLst>
            </a:pPr>
            <a:r>
              <a:rPr lang="en-US" sz="1300" b="0" u="none" strike="noStrike">
                <a:solidFill>
                  <a:srgbClr val="0B1F3A"/>
                </a:solidFill>
                <a:effectLst/>
                <a:uFillTx/>
                <a:latin typeface="Aptos"/>
              </a:rPr>
              <a:t>How the world changes over time and how actions affect it.</a:t>
            </a:r>
            <a:endParaRPr lang="en-US" sz="1300" b="0" u="none" strike="noStrike">
              <a:solidFill>
                <a:srgbClr val="000000"/>
              </a:solidFill>
              <a:effectLst/>
              <a:uFillTx/>
              <a:latin typeface="Arial"/>
            </a:endParaRPr>
          </a:p>
        </p:txBody>
      </p:sp>
      <p:sp>
        <p:nvSpPr>
          <p:cNvPr id="433" name="Shape 10"/>
          <p:cNvSpPr/>
          <p:nvPr/>
        </p:nvSpPr>
        <p:spPr>
          <a:xfrm>
            <a:off x="7086600" y="2880360"/>
            <a:ext cx="4251240" cy="959400"/>
          </a:xfrm>
          <a:prstGeom prst="roundRect">
            <a:avLst>
              <a:gd name="adj" fmla="val 5714"/>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34" name="Text 11"/>
          <p:cNvSpPr/>
          <p:nvPr/>
        </p:nvSpPr>
        <p:spPr>
          <a:xfrm>
            <a:off x="7251120" y="3026520"/>
            <a:ext cx="392220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2B6CB0"/>
                </a:solidFill>
                <a:effectLst/>
                <a:uFillTx/>
                <a:latin typeface="Aptos"/>
              </a:rPr>
              <a:t>Sensor model</a:t>
            </a:r>
            <a:endParaRPr lang="en-US" sz="1700" b="0" u="none" strike="noStrike">
              <a:solidFill>
                <a:srgbClr val="000000"/>
              </a:solidFill>
              <a:effectLst/>
              <a:uFillTx/>
              <a:latin typeface="Arial"/>
            </a:endParaRPr>
          </a:p>
        </p:txBody>
      </p:sp>
      <p:sp>
        <p:nvSpPr>
          <p:cNvPr id="435" name="Text 12"/>
          <p:cNvSpPr/>
          <p:nvPr/>
        </p:nvSpPr>
        <p:spPr>
          <a:xfrm>
            <a:off x="7251120" y="3355920"/>
            <a:ext cx="3922200" cy="36504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300" b="0" u="none" strike="noStrike">
                <a:solidFill>
                  <a:srgbClr val="0B1F3A"/>
                </a:solidFill>
                <a:effectLst/>
                <a:uFillTx/>
                <a:latin typeface="Aptos"/>
              </a:rPr>
              <a:t>How world states generate percepts.</a:t>
            </a:r>
            <a:endParaRPr lang="en-US" sz="1300" b="0" u="none" strike="noStrike">
              <a:solidFill>
                <a:srgbClr val="000000"/>
              </a:solidFill>
              <a:effectLst/>
              <a:uFillTx/>
              <a:latin typeface="Arial"/>
            </a:endParaRPr>
          </a:p>
        </p:txBody>
      </p:sp>
      <p:sp>
        <p:nvSpPr>
          <p:cNvPr id="436" name="Shape 13"/>
          <p:cNvSpPr/>
          <p:nvPr/>
        </p:nvSpPr>
        <p:spPr>
          <a:xfrm>
            <a:off x="7086600" y="4069080"/>
            <a:ext cx="4251240" cy="959400"/>
          </a:xfrm>
          <a:prstGeom prst="roundRect">
            <a:avLst>
              <a:gd name="adj" fmla="val 5714"/>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37" name="Text 14"/>
          <p:cNvSpPr/>
          <p:nvPr/>
        </p:nvSpPr>
        <p:spPr>
          <a:xfrm>
            <a:off x="7251120" y="4215240"/>
            <a:ext cx="392220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5B35B1"/>
                </a:solidFill>
                <a:effectLst/>
                <a:uFillTx/>
                <a:latin typeface="Aptos"/>
              </a:rPr>
              <a:t>Internal state</a:t>
            </a:r>
            <a:endParaRPr lang="en-US" sz="1700" b="0" u="none" strike="noStrike">
              <a:solidFill>
                <a:srgbClr val="000000"/>
              </a:solidFill>
              <a:effectLst/>
              <a:uFillTx/>
              <a:latin typeface="Arial"/>
            </a:endParaRPr>
          </a:p>
        </p:txBody>
      </p:sp>
      <p:sp>
        <p:nvSpPr>
          <p:cNvPr id="438" name="Text 15"/>
          <p:cNvSpPr/>
          <p:nvPr/>
        </p:nvSpPr>
        <p:spPr>
          <a:xfrm>
            <a:off x="7251120" y="4544640"/>
            <a:ext cx="3922200" cy="36504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300" b="0" u="none" strike="noStrike">
                <a:solidFill>
                  <a:srgbClr val="0B1F3A"/>
                </a:solidFill>
                <a:effectLst/>
                <a:uFillTx/>
                <a:latin typeface="Aptos"/>
              </a:rPr>
              <a:t>Tracks what is not evident in the current percept.</a:t>
            </a:r>
            <a:endParaRPr lang="en-US" sz="1300" b="0" u="none" strike="noStrike">
              <a:solidFill>
                <a:srgbClr val="000000"/>
              </a:solidFill>
              <a:effectLst/>
              <a:uFillTx/>
              <a:latin typeface="Arial"/>
            </a:endParaRPr>
          </a:p>
        </p:txBody>
      </p:sp>
      <p:sp>
        <p:nvSpPr>
          <p:cNvPr id="439" name="Text 16"/>
          <p:cNvSpPr/>
          <p:nvPr/>
        </p:nvSpPr>
        <p:spPr>
          <a:xfrm>
            <a:off x="9326880" y="6364080"/>
            <a:ext cx="2376720" cy="163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750" b="0" u="none" strike="noStrike">
                <a:solidFill>
                  <a:srgbClr val="5E7088"/>
                </a:solidFill>
                <a:effectLst/>
                <a:uFillTx/>
                <a:latin typeface="Aptos"/>
              </a:rPr>
              <a:t>Figure 2.11</a:t>
            </a:r>
            <a:endParaRPr lang="en-US" sz="7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6FA"/>
        </a:solidFill>
      </p:bgPr>
    </p:bg>
    <p:spTree>
      <p:nvGrpSpPr>
        <p:cNvPr id="1" name=""/>
        <p:cNvGrpSpPr/>
        <p:nvPr/>
      </p:nvGrpSpPr>
      <p:grpSpPr>
        <a:xfrm>
          <a:off x="0" y="0"/>
          <a:ext cx="0" cy="0"/>
          <a:chOff x="0" y="0"/>
          <a:chExt cx="0" cy="0"/>
        </a:xfrm>
      </p:grpSpPr>
      <p:sp>
        <p:nvSpPr>
          <p:cNvPr id="440" name="Shape 0"/>
          <p:cNvSpPr/>
          <p:nvPr/>
        </p:nvSpPr>
        <p:spPr>
          <a:xfrm>
            <a:off x="0" y="0"/>
            <a:ext cx="12191040" cy="803880"/>
          </a:xfrm>
          <a:prstGeom prst="rect">
            <a:avLst/>
          </a:prstGeom>
          <a:solidFill>
            <a:srgbClr val="0B2B5C"/>
          </a:solidFill>
          <a:ln w="12700">
            <a:solidFill>
              <a:srgbClr val="0B2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41" name="Shape 1"/>
          <p:cNvSpPr/>
          <p:nvPr/>
        </p:nvSpPr>
        <p:spPr>
          <a:xfrm>
            <a:off x="0" y="804600"/>
            <a:ext cx="12191040" cy="72360"/>
          </a:xfrm>
          <a:prstGeom prst="rect">
            <a:avLst/>
          </a:prstGeom>
          <a:solidFill>
            <a:srgbClr val="F5A21B"/>
          </a:solidFill>
          <a:ln w="12700">
            <a:solidFill>
              <a:srgbClr val="F5A21B"/>
            </a:solidFill>
            <a:round/>
          </a:ln>
        </p:spPr>
        <p:style>
          <a:lnRef idx="0"/>
          <a:fillRef idx="0"/>
          <a:effectRef idx="0"/>
          <a:fontRef idx="minor"/>
        </p:style>
        <p:txBody>
          <a:bodyPr lIns="90000" tIns="28080" rIns="90000" bIns="28080" anchor="t">
            <a:noAutofit/>
          </a:bodyPr>
          <a:p>
            <a:endParaRPr lang="en-US" sz="1800" b="0" u="none" strike="noStrike">
              <a:solidFill>
                <a:srgbClr val="000000"/>
              </a:solidFill>
              <a:effectLst/>
              <a:uFillTx/>
              <a:latin typeface="Arial"/>
            </a:endParaRPr>
          </a:p>
        </p:txBody>
      </p:sp>
      <p:sp>
        <p:nvSpPr>
          <p:cNvPr id="442" name="Text 2"/>
          <p:cNvSpPr/>
          <p:nvPr/>
        </p:nvSpPr>
        <p:spPr>
          <a:xfrm>
            <a:off x="475560" y="210240"/>
            <a:ext cx="960048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300" b="1" u="none" strike="noStrike">
                <a:solidFill>
                  <a:srgbClr val="FFFFFF"/>
                </a:solidFill>
                <a:effectLst/>
                <a:uFillTx/>
                <a:latin typeface="Aptos Display"/>
                <a:ea typeface="Aptos Display"/>
              </a:rPr>
              <a:t>2.4.3 Model-Based Reflex Agent Pseudocode</a:t>
            </a:r>
            <a:endParaRPr lang="en-US" sz="2300" b="0" u="none" strike="noStrike">
              <a:solidFill>
                <a:srgbClr val="000000"/>
              </a:solidFill>
              <a:effectLst/>
              <a:uFillTx/>
              <a:latin typeface="Arial"/>
            </a:endParaRPr>
          </a:p>
        </p:txBody>
      </p:sp>
      <p:sp>
        <p:nvSpPr>
          <p:cNvPr id="443" name="Text 3"/>
          <p:cNvSpPr/>
          <p:nvPr/>
        </p:nvSpPr>
        <p:spPr>
          <a:xfrm>
            <a:off x="10241280" y="255960"/>
            <a:ext cx="13708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200" b="0" u="none" strike="noStrike">
                <a:solidFill>
                  <a:srgbClr val="DDE8F2"/>
                </a:solidFill>
                <a:effectLst/>
                <a:uFillTx/>
                <a:latin typeface="Aptos"/>
                <a:ea typeface="Aptos"/>
              </a:rPr>
              <a:t>2.4.3</a:t>
            </a:r>
            <a:endParaRPr lang="en-US" sz="1200" b="0" u="none" strike="noStrike">
              <a:solidFill>
                <a:srgbClr val="000000"/>
              </a:solidFill>
              <a:effectLst/>
              <a:uFillTx/>
              <a:latin typeface="Arial"/>
            </a:endParaRPr>
          </a:p>
        </p:txBody>
      </p:sp>
      <p:sp>
        <p:nvSpPr>
          <p:cNvPr id="444" name="Text 4"/>
          <p:cNvSpPr/>
          <p:nvPr/>
        </p:nvSpPr>
        <p:spPr>
          <a:xfrm>
            <a:off x="475560" y="6565320"/>
            <a:ext cx="274248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445" name="Text 5"/>
          <p:cNvSpPr/>
          <p:nvPr/>
        </p:nvSpPr>
        <p:spPr>
          <a:xfrm>
            <a:off x="11411640" y="6565320"/>
            <a:ext cx="273600" cy="163800"/>
          </a:xfrm>
          <a:prstGeom prst="rect">
            <a:avLst/>
          </a:prstGeom>
          <a:noFill/>
          <a:ln w="0">
            <a:noFill/>
          </a:ln>
        </p:spPr>
        <p:style>
          <a:lnRef idx="0"/>
          <a:fillRef idx="0"/>
          <a:effectRef idx="0"/>
          <a:fontRef idx="minor"/>
        </p:style>
        <p:txBody>
          <a:bodyPr lIns="0" tIns="0" rIns="0" bIns="0" anchor="ctr">
            <a:noAutofit/>
          </a:bodyPr>
          <a:p>
            <a:r>
              <a:t>21</a:t>
            </a:r>
          </a:p>
        </p:txBody>
      </p:sp>
      <p:sp>
        <p:nvSpPr>
          <p:cNvPr id="446" name="Text 6"/>
          <p:cNvSpPr/>
          <p:nvPr/>
        </p:nvSpPr>
        <p:spPr>
          <a:xfrm>
            <a:off x="731520" y="1051560"/>
            <a:ext cx="10789200" cy="383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750" b="1" u="none" strike="noStrike">
                <a:solidFill>
                  <a:srgbClr val="0B2B5C"/>
                </a:solidFill>
                <a:effectLst/>
                <a:uFillTx/>
                <a:latin typeface="Aptos"/>
              </a:rPr>
              <a:t>The interesting step is UPDATE-STATE: combine old state, last action, current percept, transition model, and sensor model.</a:t>
            </a:r>
            <a:endParaRPr lang="en-US" sz="1750" b="0" u="none" strike="noStrike">
              <a:solidFill>
                <a:srgbClr val="000000"/>
              </a:solidFill>
              <a:effectLst/>
              <a:uFillTx/>
              <a:latin typeface="Arial"/>
            </a:endParaRPr>
          </a:p>
        </p:txBody>
      </p:sp>
      <p:pic>
        <p:nvPicPr>
          <p:cNvPr id="447" name="Image 0" descr="/mnt/data/fig2_12_model_based_pseudocode.png"/>
          <p:cNvPicPr/>
          <p:nvPr/>
        </p:nvPicPr>
        <p:blipFill>
          <a:blip r:embed="rId1"/>
          <a:stretch/>
        </p:blipFill>
        <p:spPr>
          <a:xfrm>
            <a:off x="2664720" y="1691640"/>
            <a:ext cx="6831360" cy="3382560"/>
          </a:xfrm>
          <a:prstGeom prst="rect">
            <a:avLst/>
          </a:prstGeom>
          <a:noFill/>
          <a:ln w="0">
            <a:noFill/>
          </a:ln>
        </p:spPr>
      </p:pic>
      <p:sp>
        <p:nvSpPr>
          <p:cNvPr id="448" name="Text 7"/>
          <p:cNvSpPr/>
          <p:nvPr/>
        </p:nvSpPr>
        <p:spPr>
          <a:xfrm>
            <a:off x="914400" y="5486400"/>
            <a:ext cx="10332000" cy="383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0B2B5C"/>
                </a:solidFill>
                <a:effectLst/>
                <a:uFillTx/>
                <a:latin typeface="Aptos"/>
              </a:rPr>
              <a:t>Partial observability means exact state may be impossible; the agent still must decide.</a:t>
            </a:r>
            <a:endParaRPr lang="en-US" sz="1800" b="0" u="none" strike="noStrike">
              <a:solidFill>
                <a:srgbClr val="000000"/>
              </a:solidFill>
              <a:effectLst/>
              <a:uFillTx/>
              <a:latin typeface="Arial"/>
            </a:endParaRPr>
          </a:p>
        </p:txBody>
      </p:sp>
      <p:sp>
        <p:nvSpPr>
          <p:cNvPr id="449" name="Text 8"/>
          <p:cNvSpPr/>
          <p:nvPr/>
        </p:nvSpPr>
        <p:spPr>
          <a:xfrm>
            <a:off x="9326880" y="6364080"/>
            <a:ext cx="2376720" cy="163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750" b="0" u="none" strike="noStrike">
                <a:solidFill>
                  <a:srgbClr val="5E7088"/>
                </a:solidFill>
                <a:effectLst/>
                <a:uFillTx/>
                <a:latin typeface="Aptos"/>
              </a:rPr>
              <a:t>Figure 2.12</a:t>
            </a:r>
            <a:endParaRPr lang="en-US" sz="7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6FA"/>
        </a:solidFill>
      </p:bgPr>
    </p:bg>
    <p:spTree>
      <p:nvGrpSpPr>
        <p:cNvPr id="1" name=""/>
        <p:cNvGrpSpPr/>
        <p:nvPr/>
      </p:nvGrpSpPr>
      <p:grpSpPr>
        <a:xfrm>
          <a:off x="0" y="0"/>
          <a:ext cx="0" cy="0"/>
          <a:chOff x="0" y="0"/>
          <a:chExt cx="0" cy="0"/>
        </a:xfrm>
      </p:grpSpPr>
      <p:sp>
        <p:nvSpPr>
          <p:cNvPr id="450" name="Shape 0"/>
          <p:cNvSpPr/>
          <p:nvPr/>
        </p:nvSpPr>
        <p:spPr>
          <a:xfrm>
            <a:off x="0" y="0"/>
            <a:ext cx="12191040" cy="803880"/>
          </a:xfrm>
          <a:prstGeom prst="rect">
            <a:avLst/>
          </a:prstGeom>
          <a:solidFill>
            <a:srgbClr val="0B2B5C"/>
          </a:solidFill>
          <a:ln w="12700">
            <a:solidFill>
              <a:srgbClr val="0B2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51" name="Shape 1"/>
          <p:cNvSpPr/>
          <p:nvPr/>
        </p:nvSpPr>
        <p:spPr>
          <a:xfrm>
            <a:off x="0" y="804600"/>
            <a:ext cx="12191040" cy="72360"/>
          </a:xfrm>
          <a:prstGeom prst="rect">
            <a:avLst/>
          </a:prstGeom>
          <a:solidFill>
            <a:srgbClr val="F5A21B"/>
          </a:solidFill>
          <a:ln w="12700">
            <a:solidFill>
              <a:srgbClr val="F5A21B"/>
            </a:solidFill>
            <a:round/>
          </a:ln>
        </p:spPr>
        <p:style>
          <a:lnRef idx="0"/>
          <a:fillRef idx="0"/>
          <a:effectRef idx="0"/>
          <a:fontRef idx="minor"/>
        </p:style>
        <p:txBody>
          <a:bodyPr lIns="90000" tIns="28080" rIns="90000" bIns="28080" anchor="t">
            <a:noAutofit/>
          </a:bodyPr>
          <a:p>
            <a:endParaRPr lang="en-US" sz="1800" b="0" u="none" strike="noStrike">
              <a:solidFill>
                <a:srgbClr val="000000"/>
              </a:solidFill>
              <a:effectLst/>
              <a:uFillTx/>
              <a:latin typeface="Arial"/>
            </a:endParaRPr>
          </a:p>
        </p:txBody>
      </p:sp>
      <p:sp>
        <p:nvSpPr>
          <p:cNvPr id="452" name="Text 2"/>
          <p:cNvSpPr/>
          <p:nvPr/>
        </p:nvSpPr>
        <p:spPr>
          <a:xfrm>
            <a:off x="475560" y="210240"/>
            <a:ext cx="960048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300" b="1" u="none" strike="noStrike">
                <a:solidFill>
                  <a:srgbClr val="FFFFFF"/>
                </a:solidFill>
                <a:effectLst/>
                <a:uFillTx/>
                <a:latin typeface="Aptos Display"/>
                <a:ea typeface="Aptos Display"/>
              </a:rPr>
              <a:t>2.4.4 Goal-Based Agents</a:t>
            </a:r>
            <a:endParaRPr lang="en-US" sz="2300" b="0" u="none" strike="noStrike">
              <a:solidFill>
                <a:srgbClr val="000000"/>
              </a:solidFill>
              <a:effectLst/>
              <a:uFillTx/>
              <a:latin typeface="Arial"/>
            </a:endParaRPr>
          </a:p>
        </p:txBody>
      </p:sp>
      <p:sp>
        <p:nvSpPr>
          <p:cNvPr id="453" name="Text 3"/>
          <p:cNvSpPr/>
          <p:nvPr/>
        </p:nvSpPr>
        <p:spPr>
          <a:xfrm>
            <a:off x="10241280" y="255960"/>
            <a:ext cx="13708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200" b="0" u="none" strike="noStrike">
                <a:solidFill>
                  <a:srgbClr val="DDE8F2"/>
                </a:solidFill>
                <a:effectLst/>
                <a:uFillTx/>
                <a:latin typeface="Aptos"/>
                <a:ea typeface="Aptos"/>
              </a:rPr>
              <a:t>2.4.4</a:t>
            </a:r>
            <a:endParaRPr lang="en-US" sz="1200" b="0" u="none" strike="noStrike">
              <a:solidFill>
                <a:srgbClr val="000000"/>
              </a:solidFill>
              <a:effectLst/>
              <a:uFillTx/>
              <a:latin typeface="Arial"/>
            </a:endParaRPr>
          </a:p>
        </p:txBody>
      </p:sp>
      <p:sp>
        <p:nvSpPr>
          <p:cNvPr id="454" name="Text 4"/>
          <p:cNvSpPr/>
          <p:nvPr/>
        </p:nvSpPr>
        <p:spPr>
          <a:xfrm>
            <a:off x="475560" y="6565320"/>
            <a:ext cx="274248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455" name="Text 5"/>
          <p:cNvSpPr/>
          <p:nvPr/>
        </p:nvSpPr>
        <p:spPr>
          <a:xfrm>
            <a:off x="11411640" y="6565320"/>
            <a:ext cx="273600" cy="163800"/>
          </a:xfrm>
          <a:prstGeom prst="rect">
            <a:avLst/>
          </a:prstGeom>
          <a:noFill/>
          <a:ln w="0">
            <a:noFill/>
          </a:ln>
        </p:spPr>
        <p:style>
          <a:lnRef idx="0"/>
          <a:fillRef idx="0"/>
          <a:effectRef idx="0"/>
          <a:fontRef idx="minor"/>
        </p:style>
        <p:txBody>
          <a:bodyPr lIns="0" tIns="0" rIns="0" bIns="0" anchor="ctr">
            <a:noAutofit/>
          </a:bodyPr>
          <a:p>
            <a:r>
              <a:t>22</a:t>
            </a:r>
          </a:p>
        </p:txBody>
      </p:sp>
      <p:sp>
        <p:nvSpPr>
          <p:cNvPr id="456" name="Text 6"/>
          <p:cNvSpPr/>
          <p:nvPr/>
        </p:nvSpPr>
        <p:spPr>
          <a:xfrm>
            <a:off x="777240" y="1051560"/>
            <a:ext cx="10789200" cy="319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rgbClr val="0B2B5C"/>
                </a:solidFill>
                <a:effectLst/>
                <a:uFillTx/>
                <a:latin typeface="Aptos"/>
              </a:rPr>
              <a:t>A current state is not enough; the agent also needs a goal.</a:t>
            </a:r>
            <a:endParaRPr lang="en-US" sz="2000" b="0" u="none" strike="noStrike">
              <a:solidFill>
                <a:srgbClr val="000000"/>
              </a:solidFill>
              <a:effectLst/>
              <a:uFillTx/>
              <a:latin typeface="Arial"/>
            </a:endParaRPr>
          </a:p>
        </p:txBody>
      </p:sp>
      <p:pic>
        <p:nvPicPr>
          <p:cNvPr id="457" name="Image 0" descr="/mnt/data/ch2_docx_unzipped/word/media/image11.png"/>
          <p:cNvPicPr/>
          <p:nvPr/>
        </p:nvPicPr>
        <p:blipFill>
          <a:blip r:embed="rId1"/>
          <a:stretch/>
        </p:blipFill>
        <p:spPr>
          <a:xfrm>
            <a:off x="905400" y="1600200"/>
            <a:ext cx="5366880" cy="4114080"/>
          </a:xfrm>
          <a:prstGeom prst="rect">
            <a:avLst/>
          </a:prstGeom>
          <a:noFill/>
          <a:ln w="0">
            <a:noFill/>
          </a:ln>
        </p:spPr>
      </p:pic>
      <p:sp>
        <p:nvSpPr>
          <p:cNvPr id="458" name="Shape 7"/>
          <p:cNvSpPr/>
          <p:nvPr/>
        </p:nvSpPr>
        <p:spPr>
          <a:xfrm>
            <a:off x="6812280" y="1645920"/>
            <a:ext cx="4479840" cy="959400"/>
          </a:xfrm>
          <a:prstGeom prst="roundRect">
            <a:avLst>
              <a:gd name="adj" fmla="val 5714"/>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59" name="Text 8"/>
          <p:cNvSpPr/>
          <p:nvPr/>
        </p:nvSpPr>
        <p:spPr>
          <a:xfrm>
            <a:off x="6976800" y="1792080"/>
            <a:ext cx="415080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048A97"/>
                </a:solidFill>
                <a:effectLst/>
                <a:uFillTx/>
                <a:latin typeface="Aptos"/>
              </a:rPr>
              <a:t>Search / planning</a:t>
            </a:r>
            <a:endParaRPr lang="en-US" sz="1700" b="0" u="none" strike="noStrike">
              <a:solidFill>
                <a:srgbClr val="000000"/>
              </a:solidFill>
              <a:effectLst/>
              <a:uFillTx/>
              <a:latin typeface="Arial"/>
            </a:endParaRPr>
          </a:p>
        </p:txBody>
      </p:sp>
      <p:sp>
        <p:nvSpPr>
          <p:cNvPr id="460" name="Text 9"/>
          <p:cNvSpPr/>
          <p:nvPr/>
        </p:nvSpPr>
        <p:spPr>
          <a:xfrm>
            <a:off x="6976800" y="2121480"/>
            <a:ext cx="4150800" cy="365040"/>
          </a:xfrm>
          <a:prstGeom prst="rect">
            <a:avLst/>
          </a:prstGeom>
          <a:noFill/>
          <a:ln w="0">
            <a:noFill/>
          </a:ln>
        </p:spPr>
        <p:style>
          <a:lnRef idx="0"/>
          <a:fillRef idx="0"/>
          <a:effectRef idx="0"/>
          <a:fontRef idx="minor"/>
        </p:style>
        <p:txBody>
          <a:bodyPr lIns="360" tIns="360" rIns="360" bIns="360" anchor="ctr">
            <a:normAutofit lnSpcReduction="9999"/>
          </a:bodyPr>
          <a:p>
            <a:pPr defTabSz="914400">
              <a:lnSpc>
                <a:spcPct val="100000"/>
              </a:lnSpc>
              <a:tabLst>
                <a:tab pos="0" algn="l"/>
              </a:tabLst>
            </a:pPr>
            <a:r>
              <a:rPr lang="en-US" sz="1300" b="0" u="none" strike="noStrike">
                <a:solidFill>
                  <a:srgbClr val="0B1F3A"/>
                </a:solidFill>
                <a:effectLst/>
                <a:uFillTx/>
                <a:latin typeface="Aptos"/>
              </a:rPr>
              <a:t>Find action sequences that achieve goals. This transitions to Chapters 3-5.</a:t>
            </a:r>
            <a:endParaRPr lang="en-US" sz="1300" b="0" u="none" strike="noStrike">
              <a:solidFill>
                <a:srgbClr val="000000"/>
              </a:solidFill>
              <a:effectLst/>
              <a:uFillTx/>
              <a:latin typeface="Arial"/>
            </a:endParaRPr>
          </a:p>
        </p:txBody>
      </p:sp>
      <p:sp>
        <p:nvSpPr>
          <p:cNvPr id="461" name="Shape 10"/>
          <p:cNvSpPr/>
          <p:nvPr/>
        </p:nvSpPr>
        <p:spPr>
          <a:xfrm>
            <a:off x="6812280" y="2880360"/>
            <a:ext cx="4479840" cy="959400"/>
          </a:xfrm>
          <a:prstGeom prst="roundRect">
            <a:avLst>
              <a:gd name="adj" fmla="val 5714"/>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62" name="Text 11"/>
          <p:cNvSpPr/>
          <p:nvPr/>
        </p:nvSpPr>
        <p:spPr>
          <a:xfrm>
            <a:off x="6976800" y="3026520"/>
            <a:ext cx="415080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1B7A45"/>
                </a:solidFill>
                <a:effectLst/>
                <a:uFillTx/>
                <a:latin typeface="Aptos"/>
              </a:rPr>
              <a:t>Flexibility</a:t>
            </a:r>
            <a:endParaRPr lang="en-US" sz="1700" b="0" u="none" strike="noStrike">
              <a:solidFill>
                <a:srgbClr val="000000"/>
              </a:solidFill>
              <a:effectLst/>
              <a:uFillTx/>
              <a:latin typeface="Arial"/>
            </a:endParaRPr>
          </a:p>
        </p:txBody>
      </p:sp>
      <p:sp>
        <p:nvSpPr>
          <p:cNvPr id="463" name="Text 12"/>
          <p:cNvSpPr/>
          <p:nvPr/>
        </p:nvSpPr>
        <p:spPr>
          <a:xfrm>
            <a:off x="6976800" y="3355920"/>
            <a:ext cx="4150800" cy="365040"/>
          </a:xfrm>
          <a:prstGeom prst="rect">
            <a:avLst/>
          </a:prstGeom>
          <a:noFill/>
          <a:ln w="0">
            <a:noFill/>
          </a:ln>
        </p:spPr>
        <p:style>
          <a:lnRef idx="0"/>
          <a:fillRef idx="0"/>
          <a:effectRef idx="0"/>
          <a:fontRef idx="minor"/>
        </p:style>
        <p:txBody>
          <a:bodyPr lIns="360" tIns="360" rIns="360" bIns="360" anchor="ctr">
            <a:normAutofit lnSpcReduction="9999"/>
          </a:bodyPr>
          <a:p>
            <a:pPr defTabSz="914400">
              <a:lnSpc>
                <a:spcPct val="100000"/>
              </a:lnSpc>
              <a:tabLst>
                <a:tab pos="0" algn="l"/>
              </a:tabLst>
            </a:pPr>
            <a:r>
              <a:rPr lang="en-US" sz="1300" b="0" u="none" strike="noStrike">
                <a:solidFill>
                  <a:srgbClr val="0B1F3A"/>
                </a:solidFill>
                <a:effectLst/>
                <a:uFillTx/>
                <a:latin typeface="Aptos"/>
              </a:rPr>
              <a:t>Change the destination, and the same knowledge can support new behavior.</a:t>
            </a:r>
            <a:endParaRPr lang="en-US" sz="1300" b="0" u="none" strike="noStrike">
              <a:solidFill>
                <a:srgbClr val="000000"/>
              </a:solidFill>
              <a:effectLst/>
              <a:uFillTx/>
              <a:latin typeface="Arial"/>
            </a:endParaRPr>
          </a:p>
        </p:txBody>
      </p:sp>
      <p:sp>
        <p:nvSpPr>
          <p:cNvPr id="464" name="Shape 13"/>
          <p:cNvSpPr/>
          <p:nvPr/>
        </p:nvSpPr>
        <p:spPr>
          <a:xfrm>
            <a:off x="6812280" y="4114800"/>
            <a:ext cx="4479840" cy="959400"/>
          </a:xfrm>
          <a:prstGeom prst="roundRect">
            <a:avLst>
              <a:gd name="adj" fmla="val 5714"/>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65" name="Text 14"/>
          <p:cNvSpPr/>
          <p:nvPr/>
        </p:nvSpPr>
        <p:spPr>
          <a:xfrm>
            <a:off x="6976800" y="4260960"/>
            <a:ext cx="415080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F5A21B"/>
                </a:solidFill>
                <a:effectLst/>
                <a:uFillTx/>
                <a:latin typeface="Aptos"/>
              </a:rPr>
              <a:t>Cost</a:t>
            </a:r>
            <a:endParaRPr lang="en-US" sz="1700" b="0" u="none" strike="noStrike">
              <a:solidFill>
                <a:srgbClr val="000000"/>
              </a:solidFill>
              <a:effectLst/>
              <a:uFillTx/>
              <a:latin typeface="Arial"/>
            </a:endParaRPr>
          </a:p>
        </p:txBody>
      </p:sp>
      <p:sp>
        <p:nvSpPr>
          <p:cNvPr id="466" name="Text 15"/>
          <p:cNvSpPr/>
          <p:nvPr/>
        </p:nvSpPr>
        <p:spPr>
          <a:xfrm>
            <a:off x="6976800" y="4590360"/>
            <a:ext cx="4150800" cy="365040"/>
          </a:xfrm>
          <a:prstGeom prst="rect">
            <a:avLst/>
          </a:prstGeom>
          <a:noFill/>
          <a:ln w="0">
            <a:noFill/>
          </a:ln>
        </p:spPr>
        <p:style>
          <a:lnRef idx="0"/>
          <a:fillRef idx="0"/>
          <a:effectRef idx="0"/>
          <a:fontRef idx="minor"/>
        </p:style>
        <p:txBody>
          <a:bodyPr lIns="360" tIns="360" rIns="360" bIns="360" anchor="ctr">
            <a:normAutofit lnSpcReduction="9999"/>
          </a:bodyPr>
          <a:p>
            <a:pPr defTabSz="914400">
              <a:lnSpc>
                <a:spcPct val="100000"/>
              </a:lnSpc>
              <a:tabLst>
                <a:tab pos="0" algn="l"/>
              </a:tabLst>
            </a:pPr>
            <a:r>
              <a:rPr lang="en-US" sz="1300" b="0" u="none" strike="noStrike">
                <a:solidFill>
                  <a:srgbClr val="0B1F3A"/>
                </a:solidFill>
                <a:effectLst/>
                <a:uFillTx/>
                <a:latin typeface="Aptos"/>
              </a:rPr>
              <a:t>The agent may need to reason about many possible future action sequences.</a:t>
            </a:r>
            <a:endParaRPr lang="en-US" sz="1300" b="0" u="none" strike="noStrike">
              <a:solidFill>
                <a:srgbClr val="000000"/>
              </a:solidFill>
              <a:effectLst/>
              <a:uFillTx/>
              <a:latin typeface="Arial"/>
            </a:endParaRPr>
          </a:p>
        </p:txBody>
      </p:sp>
      <p:sp>
        <p:nvSpPr>
          <p:cNvPr id="467" name="Text 16"/>
          <p:cNvSpPr/>
          <p:nvPr/>
        </p:nvSpPr>
        <p:spPr>
          <a:xfrm>
            <a:off x="9326880" y="6364080"/>
            <a:ext cx="2376720" cy="163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750" b="0" u="none" strike="noStrike">
                <a:solidFill>
                  <a:srgbClr val="5E7088"/>
                </a:solidFill>
                <a:effectLst/>
                <a:uFillTx/>
                <a:latin typeface="Aptos"/>
              </a:rPr>
              <a:t>Figure 2.13</a:t>
            </a:r>
            <a:endParaRPr lang="en-US" sz="7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6FA"/>
        </a:solidFill>
      </p:bgPr>
    </p:bg>
    <p:spTree>
      <p:nvGrpSpPr>
        <p:cNvPr id="1" name=""/>
        <p:cNvGrpSpPr/>
        <p:nvPr/>
      </p:nvGrpSpPr>
      <p:grpSpPr>
        <a:xfrm>
          <a:off x="0" y="0"/>
          <a:ext cx="0" cy="0"/>
          <a:chOff x="0" y="0"/>
          <a:chExt cx="0" cy="0"/>
        </a:xfrm>
      </p:grpSpPr>
      <p:sp>
        <p:nvSpPr>
          <p:cNvPr id="468" name="Shape 0"/>
          <p:cNvSpPr/>
          <p:nvPr/>
        </p:nvSpPr>
        <p:spPr>
          <a:xfrm>
            <a:off x="0" y="0"/>
            <a:ext cx="12191040" cy="803880"/>
          </a:xfrm>
          <a:prstGeom prst="rect">
            <a:avLst/>
          </a:prstGeom>
          <a:solidFill>
            <a:srgbClr val="0B2B5C"/>
          </a:solidFill>
          <a:ln w="12700">
            <a:solidFill>
              <a:srgbClr val="0B2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69" name="Shape 1"/>
          <p:cNvSpPr/>
          <p:nvPr/>
        </p:nvSpPr>
        <p:spPr>
          <a:xfrm>
            <a:off x="0" y="804600"/>
            <a:ext cx="12191040" cy="72360"/>
          </a:xfrm>
          <a:prstGeom prst="rect">
            <a:avLst/>
          </a:prstGeom>
          <a:solidFill>
            <a:srgbClr val="F5A21B"/>
          </a:solidFill>
          <a:ln w="12700">
            <a:solidFill>
              <a:srgbClr val="F5A21B"/>
            </a:solidFill>
            <a:round/>
          </a:ln>
        </p:spPr>
        <p:style>
          <a:lnRef idx="0"/>
          <a:fillRef idx="0"/>
          <a:effectRef idx="0"/>
          <a:fontRef idx="minor"/>
        </p:style>
        <p:txBody>
          <a:bodyPr lIns="90000" tIns="28080" rIns="90000" bIns="28080" anchor="t">
            <a:noAutofit/>
          </a:bodyPr>
          <a:p>
            <a:endParaRPr lang="en-US" sz="1800" b="0" u="none" strike="noStrike">
              <a:solidFill>
                <a:srgbClr val="000000"/>
              </a:solidFill>
              <a:effectLst/>
              <a:uFillTx/>
              <a:latin typeface="Arial"/>
            </a:endParaRPr>
          </a:p>
        </p:txBody>
      </p:sp>
      <p:sp>
        <p:nvSpPr>
          <p:cNvPr id="470" name="Text 2"/>
          <p:cNvSpPr/>
          <p:nvPr/>
        </p:nvSpPr>
        <p:spPr>
          <a:xfrm>
            <a:off x="475560" y="210240"/>
            <a:ext cx="960048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300" b="1" u="none" strike="noStrike">
                <a:solidFill>
                  <a:srgbClr val="FFFFFF"/>
                </a:solidFill>
                <a:effectLst/>
                <a:uFillTx/>
                <a:latin typeface="Aptos Display"/>
                <a:ea typeface="Aptos Display"/>
              </a:rPr>
              <a:t>Planning Video Bridge: Reflex vs. Planning</a:t>
            </a:r>
            <a:endParaRPr lang="en-US" sz="2300" b="0" u="none" strike="noStrike">
              <a:solidFill>
                <a:srgbClr val="000000"/>
              </a:solidFill>
              <a:effectLst/>
              <a:uFillTx/>
              <a:latin typeface="Arial"/>
            </a:endParaRPr>
          </a:p>
        </p:txBody>
      </p:sp>
      <p:sp>
        <p:nvSpPr>
          <p:cNvPr id="471" name="Text 3"/>
          <p:cNvSpPr/>
          <p:nvPr/>
        </p:nvSpPr>
        <p:spPr>
          <a:xfrm>
            <a:off x="10241280" y="255960"/>
            <a:ext cx="13708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200" b="0" u="none" strike="noStrike">
                <a:solidFill>
                  <a:srgbClr val="DDE8F2"/>
                </a:solidFill>
                <a:effectLst/>
                <a:uFillTx/>
                <a:latin typeface="Aptos"/>
                <a:ea typeface="Aptos"/>
              </a:rPr>
              <a:t>Bridge</a:t>
            </a:r>
            <a:endParaRPr lang="en-US" sz="1200" b="0" u="none" strike="noStrike">
              <a:solidFill>
                <a:srgbClr val="000000"/>
              </a:solidFill>
              <a:effectLst/>
              <a:uFillTx/>
              <a:latin typeface="Arial"/>
            </a:endParaRPr>
          </a:p>
        </p:txBody>
      </p:sp>
      <p:sp>
        <p:nvSpPr>
          <p:cNvPr id="472" name="Text 4"/>
          <p:cNvSpPr/>
          <p:nvPr/>
        </p:nvSpPr>
        <p:spPr>
          <a:xfrm>
            <a:off x="475560" y="6565320"/>
            <a:ext cx="274248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473" name="Text 5"/>
          <p:cNvSpPr/>
          <p:nvPr/>
        </p:nvSpPr>
        <p:spPr>
          <a:xfrm>
            <a:off x="11411640" y="6565320"/>
            <a:ext cx="273600" cy="163800"/>
          </a:xfrm>
          <a:prstGeom prst="rect">
            <a:avLst/>
          </a:prstGeom>
          <a:noFill/>
          <a:ln w="0">
            <a:noFill/>
          </a:ln>
        </p:spPr>
        <p:style>
          <a:lnRef idx="0"/>
          <a:fillRef idx="0"/>
          <a:effectRef idx="0"/>
          <a:fontRef idx="minor"/>
        </p:style>
        <p:txBody>
          <a:bodyPr lIns="0" tIns="0" rIns="0" bIns="0" anchor="ctr">
            <a:noAutofit/>
          </a:bodyPr>
          <a:p>
            <a:r>
              <a:t>23</a:t>
            </a:r>
          </a:p>
        </p:txBody>
      </p:sp>
      <p:sp>
        <p:nvSpPr>
          <p:cNvPr id="474" name="Rounded Rectangle 473"/>
          <p:cNvSpPr/>
          <p:nvPr/>
        </p:nvSpPr>
        <p:spPr>
          <a:xfrm>
            <a:off x="777240" y="1170432"/>
            <a:ext cx="4800600" cy="1261872"/>
          </a:xfrm>
          <a:prstGeom prst="roundRect">
            <a:avLst/>
          </a:prstGeom>
          <a:solidFill>
            <a:srgbClr val="FFFFFF"/>
          </a:solidFill>
          <a:ln w="15240">
            <a:solidFill>
              <a:srgbClr val="CE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5" name="TextBox 474"/>
          <p:cNvSpPr txBox="1"/>
          <p:nvPr/>
        </p:nvSpPr>
        <p:spPr>
          <a:xfrm>
            <a:off x="941832" y="1298448"/>
            <a:ext cx="4471416" cy="274320"/>
          </a:xfrm>
          <a:prstGeom prst="rect">
            <a:avLst/>
          </a:prstGeom>
          <a:noFill/>
        </p:spPr>
        <p:txBody>
          <a:bodyPr wrap="none">
            <a:spAutoFit/>
          </a:bodyPr>
          <a:lstStyle/>
          <a:p>
            <a:r>
              <a:rPr b="1" sz="1700">
                <a:solidFill>
                  <a:srgbClr val="2A66B0"/>
                </a:solidFill>
              </a:rPr>
              <a:t>Reflex agent</a:t>
            </a:r>
          </a:p>
        </p:txBody>
      </p:sp>
      <p:sp>
        <p:nvSpPr>
          <p:cNvPr id="476" name="TextBox 475"/>
          <p:cNvSpPr txBox="1"/>
          <p:nvPr/>
        </p:nvSpPr>
        <p:spPr>
          <a:xfrm>
            <a:off x="941832" y="1673352"/>
            <a:ext cx="4471416" cy="667512"/>
          </a:xfrm>
          <a:prstGeom prst="rect">
            <a:avLst/>
          </a:prstGeom>
          <a:noFill/>
        </p:spPr>
        <p:txBody>
          <a:bodyPr wrap="square">
            <a:spAutoFit/>
          </a:bodyPr>
          <a:lstStyle/>
          <a:p>
            <a:r>
              <a:rPr sz="1150">
                <a:solidFill>
                  <a:srgbClr val="162237"/>
                </a:solidFill>
              </a:rPr>
              <a:t>Chooses action from current percept and maybe memory; does not consider future consequences.</a:t>
            </a:r>
          </a:p>
        </p:txBody>
      </p:sp>
      <p:sp>
        <p:nvSpPr>
          <p:cNvPr id="477" name="Rounded Rectangle 476"/>
          <p:cNvSpPr/>
          <p:nvPr/>
        </p:nvSpPr>
        <p:spPr>
          <a:xfrm>
            <a:off x="777240" y="2596896"/>
            <a:ext cx="4800600" cy="1261872"/>
          </a:xfrm>
          <a:prstGeom prst="roundRect">
            <a:avLst/>
          </a:prstGeom>
          <a:solidFill>
            <a:srgbClr val="FFFFFF"/>
          </a:solidFill>
          <a:ln w="15240">
            <a:solidFill>
              <a:srgbClr val="CE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8" name="TextBox 477"/>
          <p:cNvSpPr txBox="1"/>
          <p:nvPr/>
        </p:nvSpPr>
        <p:spPr>
          <a:xfrm>
            <a:off x="941832" y="2724912"/>
            <a:ext cx="4471416" cy="274320"/>
          </a:xfrm>
          <a:prstGeom prst="rect">
            <a:avLst/>
          </a:prstGeom>
          <a:noFill/>
        </p:spPr>
        <p:txBody>
          <a:bodyPr wrap="none">
            <a:spAutoFit/>
          </a:bodyPr>
          <a:lstStyle/>
          <a:p>
            <a:r>
              <a:rPr b="1" sz="1700">
                <a:solidFill>
                  <a:srgbClr val="00848C"/>
                </a:solidFill>
              </a:rPr>
              <a:t>Planning agent</a:t>
            </a:r>
          </a:p>
        </p:txBody>
      </p:sp>
      <p:sp>
        <p:nvSpPr>
          <p:cNvPr id="479" name="TextBox 478"/>
          <p:cNvSpPr txBox="1"/>
          <p:nvPr/>
        </p:nvSpPr>
        <p:spPr>
          <a:xfrm>
            <a:off x="941832" y="3099816"/>
            <a:ext cx="4471416" cy="667512"/>
          </a:xfrm>
          <a:prstGeom prst="rect">
            <a:avLst/>
          </a:prstGeom>
          <a:noFill/>
        </p:spPr>
        <p:txBody>
          <a:bodyPr wrap="square">
            <a:spAutoFit/>
          </a:bodyPr>
          <a:lstStyle/>
          <a:p>
            <a:r>
              <a:rPr sz="1150">
                <a:solidFill>
                  <a:srgbClr val="162237"/>
                </a:solidFill>
              </a:rPr>
              <a:t>Asks “what if?” and chooses actions based on predicted consequences. Must model how the world evolves and must formulate a goal test.</a:t>
            </a:r>
          </a:p>
        </p:txBody>
      </p:sp>
      <p:sp>
        <p:nvSpPr>
          <p:cNvPr id="480" name="Rounded Rectangle 479"/>
          <p:cNvSpPr/>
          <p:nvPr/>
        </p:nvSpPr>
        <p:spPr>
          <a:xfrm>
            <a:off x="777240" y="4023360"/>
            <a:ext cx="4800600" cy="1261872"/>
          </a:xfrm>
          <a:prstGeom prst="roundRect">
            <a:avLst/>
          </a:prstGeom>
          <a:solidFill>
            <a:srgbClr val="FFFFFF"/>
          </a:solidFill>
          <a:ln w="15240">
            <a:solidFill>
              <a:srgbClr val="CE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1" name="TextBox 480"/>
          <p:cNvSpPr txBox="1"/>
          <p:nvPr/>
        </p:nvSpPr>
        <p:spPr>
          <a:xfrm>
            <a:off x="941832" y="4151376"/>
            <a:ext cx="4471416" cy="274320"/>
          </a:xfrm>
          <a:prstGeom prst="rect">
            <a:avLst/>
          </a:prstGeom>
          <a:noFill/>
        </p:spPr>
        <p:txBody>
          <a:bodyPr wrap="none">
            <a:spAutoFit/>
          </a:bodyPr>
          <a:lstStyle/>
          <a:p>
            <a:r>
              <a:rPr b="1" sz="1700">
                <a:solidFill>
                  <a:srgbClr val="1E743E"/>
                </a:solidFill>
              </a:rPr>
              <a:t>Replanning Pac-Man</a:t>
            </a:r>
          </a:p>
        </p:txBody>
      </p:sp>
      <p:sp>
        <p:nvSpPr>
          <p:cNvPr id="482" name="TextBox 481"/>
          <p:cNvSpPr txBox="1"/>
          <p:nvPr/>
        </p:nvSpPr>
        <p:spPr>
          <a:xfrm>
            <a:off x="941832" y="4526280"/>
            <a:ext cx="4471416" cy="667512"/>
          </a:xfrm>
          <a:prstGeom prst="rect">
            <a:avLst/>
          </a:prstGeom>
          <a:noFill/>
        </p:spPr>
        <p:txBody>
          <a:bodyPr wrap="square">
            <a:spAutoFit/>
          </a:bodyPr>
          <a:lstStyle/>
          <a:p>
            <a:r>
              <a:rPr sz="1150">
                <a:solidFill>
                  <a:srgbClr val="162237"/>
                </a:solidFill>
              </a:rPr>
              <a:t>Plans a little way ahead, acts, then replans from the new state. This is different from planning once and executing forever.</a:t>
            </a:r>
          </a:p>
        </p:txBody>
      </p:sp>
      <p:pic>
        <p:nvPicPr>
          <p:cNvPr id="483" name="Picture 482" descr="image.png"/>
          <p:cNvPicPr>
            <a:picLocks noChangeAspect="1"/>
          </p:cNvPicPr>
          <p:nvPr/>
        </p:nvPicPr>
        <p:blipFill>
          <a:blip r:embed="rId1"/>
          <a:stretch>
            <a:fillRect/>
          </a:stretch>
        </p:blipFill>
        <p:spPr>
          <a:xfrm>
            <a:off x="5870448" y="1325880"/>
            <a:ext cx="5074920" cy="4160520"/>
          </a:xfrm>
          <a:prstGeom prst="rect">
            <a:avLst/>
          </a:prstGeom>
        </p:spPr>
      </p:pic>
      <p:sp>
        <p:nvSpPr>
          <p:cNvPr id="484" name="TextBox 483"/>
          <p:cNvSpPr txBox="1"/>
          <p:nvPr/>
        </p:nvSpPr>
        <p:spPr>
          <a:xfrm>
            <a:off x="6053328" y="4983480"/>
            <a:ext cx="4663440" cy="384048"/>
          </a:xfrm>
          <a:prstGeom prst="rect">
            <a:avLst/>
          </a:prstGeom>
          <a:noFill/>
        </p:spPr>
        <p:txBody>
          <a:bodyPr wrap="none">
            <a:spAutoFit/>
          </a:bodyPr>
          <a:lstStyle/>
          <a:p>
            <a:r>
              <a:rPr b="1" sz="1200">
                <a:solidFill>
                  <a:srgbClr val="B8241F"/>
                </a:solidFill>
              </a:rPr>
              <a:t>Key distinction: planning considers how the world WOULD BE, not just how it is now.</a:t>
            </a:r>
          </a:p>
        </p:txBody>
      </p:sp>
      <p:sp>
        <p:nvSpPr>
          <p:cNvPr id="485" name="Rounded Rectangle 484"/>
          <p:cNvSpPr/>
          <p:nvPr/>
        </p:nvSpPr>
        <p:spPr>
          <a:xfrm>
            <a:off x="777240" y="5532120"/>
            <a:ext cx="10716768" cy="731520"/>
          </a:xfrm>
          <a:prstGeom prst="roundRect">
            <a:avLst/>
          </a:prstGeom>
          <a:solidFill>
            <a:srgbClr val="EFF4F9"/>
          </a:solidFill>
          <a:ln w="12700">
            <a:solidFill>
              <a:srgbClr val="CE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6" name="TextBox 485"/>
          <p:cNvSpPr txBox="1"/>
          <p:nvPr/>
        </p:nvSpPr>
        <p:spPr>
          <a:xfrm>
            <a:off x="978408" y="5641848"/>
            <a:ext cx="1828800" cy="237744"/>
          </a:xfrm>
          <a:prstGeom prst="rect">
            <a:avLst/>
          </a:prstGeom>
          <a:noFill/>
        </p:spPr>
        <p:txBody>
          <a:bodyPr wrap="none">
            <a:spAutoFit/>
          </a:bodyPr>
          <a:lstStyle/>
          <a:p>
            <a:r>
              <a:rPr b="1" sz="1150">
                <a:solidFill>
                  <a:srgbClr val="0F2D5B"/>
                </a:solidFill>
              </a:rPr>
              <a:t>Planning distinctions</a:t>
            </a:r>
          </a:p>
        </p:txBody>
      </p:sp>
      <p:sp>
        <p:nvSpPr>
          <p:cNvPr id="487" name="TextBox 486"/>
          <p:cNvSpPr txBox="1"/>
          <p:nvPr/>
        </p:nvSpPr>
        <p:spPr>
          <a:xfrm>
            <a:off x="2743200" y="5641848"/>
            <a:ext cx="8522208" cy="502920"/>
          </a:xfrm>
          <a:prstGeom prst="rect">
            <a:avLst/>
          </a:prstGeom>
          <a:noFill/>
        </p:spPr>
        <p:txBody>
          <a:bodyPr wrap="square">
            <a:spAutoFit/>
          </a:bodyPr>
          <a:lstStyle/>
          <a:p>
            <a:r>
              <a:rPr b="1" sz="1100">
                <a:solidFill>
                  <a:srgbClr val="162237"/>
                </a:solidFill>
              </a:rPr>
              <a:t>Optimal vs. complete planning</a:t>
            </a:r>
            <a:r>
              <a:rPr sz="1100">
                <a:solidFill>
                  <a:srgbClr val="162237"/>
                </a:solidFill>
              </a:rPr>
              <a:t> compares best solution quality vs. guaranteed solution finding.  </a:t>
            </a:r>
            <a:r>
              <a:rPr b="1" sz="1100">
                <a:solidFill>
                  <a:srgbClr val="162237"/>
                </a:solidFill>
              </a:rPr>
              <a:t>Planning vs. replanning</a:t>
            </a:r>
            <a:r>
              <a:rPr sz="1100">
                <a:solidFill>
                  <a:srgbClr val="162237"/>
                </a:solidFill>
              </a:rPr>
              <a:t> compares one long plan vs. repeated look-ahead as the state changes.</a:t>
            </a: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6FA"/>
        </a:solidFill>
      </p:bgPr>
    </p:bg>
    <p:spTree>
      <p:nvGrpSpPr>
        <p:cNvPr id="1" name=""/>
        <p:cNvGrpSpPr/>
        <p:nvPr/>
      </p:nvGrpSpPr>
      <p:grpSpPr>
        <a:xfrm>
          <a:off x="0" y="0"/>
          <a:ext cx="0" cy="0"/>
          <a:chOff x="0" y="0"/>
          <a:chExt cx="0" cy="0"/>
        </a:xfrm>
      </p:grpSpPr>
      <p:sp>
        <p:nvSpPr>
          <p:cNvPr id="492" name="Shape 0"/>
          <p:cNvSpPr/>
          <p:nvPr/>
        </p:nvSpPr>
        <p:spPr>
          <a:xfrm>
            <a:off x="0" y="0"/>
            <a:ext cx="12191040" cy="803880"/>
          </a:xfrm>
          <a:prstGeom prst="rect">
            <a:avLst/>
          </a:prstGeom>
          <a:solidFill>
            <a:srgbClr val="0B2B5C"/>
          </a:solidFill>
          <a:ln w="12700">
            <a:solidFill>
              <a:srgbClr val="0B2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93" name="Shape 1"/>
          <p:cNvSpPr/>
          <p:nvPr/>
        </p:nvSpPr>
        <p:spPr>
          <a:xfrm>
            <a:off x="0" y="804600"/>
            <a:ext cx="12191040" cy="72360"/>
          </a:xfrm>
          <a:prstGeom prst="rect">
            <a:avLst/>
          </a:prstGeom>
          <a:solidFill>
            <a:srgbClr val="F5A21B"/>
          </a:solidFill>
          <a:ln w="12700">
            <a:solidFill>
              <a:srgbClr val="F5A21B"/>
            </a:solidFill>
            <a:round/>
          </a:ln>
        </p:spPr>
        <p:style>
          <a:lnRef idx="0"/>
          <a:fillRef idx="0"/>
          <a:effectRef idx="0"/>
          <a:fontRef idx="minor"/>
        </p:style>
        <p:txBody>
          <a:bodyPr lIns="90000" tIns="28080" rIns="90000" bIns="28080" anchor="t">
            <a:noAutofit/>
          </a:bodyPr>
          <a:p>
            <a:endParaRPr lang="en-US" sz="1800" b="0" u="none" strike="noStrike">
              <a:solidFill>
                <a:srgbClr val="000000"/>
              </a:solidFill>
              <a:effectLst/>
              <a:uFillTx/>
              <a:latin typeface="Arial"/>
            </a:endParaRPr>
          </a:p>
        </p:txBody>
      </p:sp>
      <p:sp>
        <p:nvSpPr>
          <p:cNvPr id="494" name="Text 2"/>
          <p:cNvSpPr/>
          <p:nvPr/>
        </p:nvSpPr>
        <p:spPr>
          <a:xfrm>
            <a:off x="475560" y="210240"/>
            <a:ext cx="960048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300" b="1" u="none" strike="noStrike">
                <a:solidFill>
                  <a:srgbClr val="FFFFFF"/>
                </a:solidFill>
                <a:effectLst/>
                <a:uFillTx/>
                <a:latin typeface="Aptos Display"/>
                <a:ea typeface="Aptos Display"/>
              </a:rPr>
              <a:t>2.4.5 Utility-Based Agents</a:t>
            </a:r>
            <a:endParaRPr lang="en-US" sz="2300" b="0" u="none" strike="noStrike">
              <a:solidFill>
                <a:srgbClr val="000000"/>
              </a:solidFill>
              <a:effectLst/>
              <a:uFillTx/>
              <a:latin typeface="Arial"/>
            </a:endParaRPr>
          </a:p>
        </p:txBody>
      </p:sp>
      <p:sp>
        <p:nvSpPr>
          <p:cNvPr id="495" name="Text 3"/>
          <p:cNvSpPr/>
          <p:nvPr/>
        </p:nvSpPr>
        <p:spPr>
          <a:xfrm>
            <a:off x="10241280" y="255960"/>
            <a:ext cx="13708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200" b="0" u="none" strike="noStrike">
                <a:solidFill>
                  <a:srgbClr val="DDE8F2"/>
                </a:solidFill>
                <a:effectLst/>
                <a:uFillTx/>
                <a:latin typeface="Aptos"/>
                <a:ea typeface="Aptos"/>
              </a:rPr>
              <a:t>2.4.5</a:t>
            </a:r>
            <a:endParaRPr lang="en-US" sz="1200" b="0" u="none" strike="noStrike">
              <a:solidFill>
                <a:srgbClr val="000000"/>
              </a:solidFill>
              <a:effectLst/>
              <a:uFillTx/>
              <a:latin typeface="Arial"/>
            </a:endParaRPr>
          </a:p>
        </p:txBody>
      </p:sp>
      <p:sp>
        <p:nvSpPr>
          <p:cNvPr id="496" name="Text 4"/>
          <p:cNvSpPr/>
          <p:nvPr/>
        </p:nvSpPr>
        <p:spPr>
          <a:xfrm>
            <a:off x="475560" y="6565320"/>
            <a:ext cx="274248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497" name="Text 5"/>
          <p:cNvSpPr/>
          <p:nvPr/>
        </p:nvSpPr>
        <p:spPr>
          <a:xfrm>
            <a:off x="11411640" y="6565320"/>
            <a:ext cx="273600" cy="163800"/>
          </a:xfrm>
          <a:prstGeom prst="rect">
            <a:avLst/>
          </a:prstGeom>
          <a:noFill/>
          <a:ln w="0">
            <a:noFill/>
          </a:ln>
        </p:spPr>
        <p:style>
          <a:lnRef idx="0"/>
          <a:fillRef idx="0"/>
          <a:effectRef idx="0"/>
          <a:fontRef idx="minor"/>
        </p:style>
        <p:txBody>
          <a:bodyPr lIns="0" tIns="0" rIns="0" bIns="0" anchor="ctr">
            <a:noAutofit/>
          </a:bodyPr>
          <a:p>
            <a:r>
              <a:t>24</a:t>
            </a:r>
          </a:p>
        </p:txBody>
      </p:sp>
      <p:sp>
        <p:nvSpPr>
          <p:cNvPr id="498" name="Text 6"/>
          <p:cNvSpPr/>
          <p:nvPr/>
        </p:nvSpPr>
        <p:spPr>
          <a:xfrm>
            <a:off x="777240" y="1051560"/>
            <a:ext cx="10789200" cy="319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rgbClr val="0B2B5C"/>
                </a:solidFill>
                <a:effectLst/>
                <a:uFillTx/>
                <a:latin typeface="Aptos"/>
              </a:rPr>
              <a:t>Goals say whether a state is acceptable; utility ranks how good it is.</a:t>
            </a:r>
            <a:endParaRPr lang="en-US" sz="2000" b="0" u="none" strike="noStrike">
              <a:solidFill>
                <a:srgbClr val="000000"/>
              </a:solidFill>
              <a:effectLst/>
              <a:uFillTx/>
              <a:latin typeface="Arial"/>
            </a:endParaRPr>
          </a:p>
        </p:txBody>
      </p:sp>
      <p:pic>
        <p:nvPicPr>
          <p:cNvPr id="499" name="Image 0" descr="/mnt/data/ch2_docx_unzipped/word/media/image12.png"/>
          <p:cNvPicPr/>
          <p:nvPr/>
        </p:nvPicPr>
        <p:blipFill>
          <a:blip r:embed="rId1"/>
          <a:stretch/>
        </p:blipFill>
        <p:spPr>
          <a:xfrm>
            <a:off x="1205280" y="1600200"/>
            <a:ext cx="4857840" cy="4068360"/>
          </a:xfrm>
          <a:prstGeom prst="rect">
            <a:avLst/>
          </a:prstGeom>
          <a:noFill/>
          <a:ln w="0">
            <a:noFill/>
          </a:ln>
        </p:spPr>
      </p:pic>
      <p:sp>
        <p:nvSpPr>
          <p:cNvPr id="500" name="Shape 7"/>
          <p:cNvSpPr/>
          <p:nvPr/>
        </p:nvSpPr>
        <p:spPr>
          <a:xfrm>
            <a:off x="6903720" y="1645920"/>
            <a:ext cx="4251240" cy="867960"/>
          </a:xfrm>
          <a:prstGeom prst="roundRect">
            <a:avLst>
              <a:gd name="adj" fmla="val 6316"/>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01" name="Text 8"/>
          <p:cNvSpPr/>
          <p:nvPr/>
        </p:nvSpPr>
        <p:spPr>
          <a:xfrm>
            <a:off x="7068240" y="1792080"/>
            <a:ext cx="392220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2B6CB0"/>
                </a:solidFill>
                <a:effectLst/>
                <a:uFillTx/>
                <a:latin typeface="Aptos"/>
              </a:rPr>
              <a:t>Goal-based</a:t>
            </a:r>
            <a:endParaRPr lang="en-US" sz="1700" b="0" u="none" strike="noStrike">
              <a:solidFill>
                <a:srgbClr val="000000"/>
              </a:solidFill>
              <a:effectLst/>
              <a:uFillTx/>
              <a:latin typeface="Arial"/>
            </a:endParaRPr>
          </a:p>
        </p:txBody>
      </p:sp>
      <p:sp>
        <p:nvSpPr>
          <p:cNvPr id="502" name="Text 9"/>
          <p:cNvSpPr/>
          <p:nvPr/>
        </p:nvSpPr>
        <p:spPr>
          <a:xfrm>
            <a:off x="7068240" y="2121480"/>
            <a:ext cx="3922200" cy="273600"/>
          </a:xfrm>
          <a:prstGeom prst="rect">
            <a:avLst/>
          </a:prstGeom>
          <a:noFill/>
          <a:ln w="0">
            <a:noFill/>
          </a:ln>
        </p:spPr>
        <p:style>
          <a:lnRef idx="0"/>
          <a:fillRef idx="0"/>
          <a:effectRef idx="0"/>
          <a:fontRef idx="minor"/>
        </p:style>
        <p:txBody>
          <a:bodyPr lIns="360" tIns="360" rIns="360" bIns="360" anchor="ctr">
            <a:normAutofit fontScale="85000" lnSpcReduction="19999"/>
          </a:bodyPr>
          <a:p>
            <a:pPr defTabSz="914400">
              <a:lnSpc>
                <a:spcPct val="100000"/>
              </a:lnSpc>
              <a:tabLst>
                <a:tab pos="0" algn="l"/>
              </a:tabLst>
            </a:pPr>
            <a:r>
              <a:rPr lang="en-US" sz="1300" b="0" u="none" strike="noStrike">
                <a:solidFill>
                  <a:srgbClr val="0B1F3A"/>
                </a:solidFill>
                <a:effectLst/>
                <a:uFillTx/>
                <a:latin typeface="Aptos"/>
              </a:rPr>
              <a:t>Destination reached?</a:t>
            </a:r>
            <a:endParaRPr lang="en-US" sz="1300" b="0" u="none" strike="noStrike">
              <a:solidFill>
                <a:srgbClr val="000000"/>
              </a:solidFill>
              <a:effectLst/>
              <a:uFillTx/>
              <a:latin typeface="Arial"/>
            </a:endParaRPr>
          </a:p>
          <a:p>
            <a:pPr defTabSz="914400">
              <a:lnSpc>
                <a:spcPct val="100000"/>
              </a:lnSpc>
              <a:tabLst>
                <a:tab pos="0" algn="l"/>
              </a:tabLst>
            </a:pPr>
            <a:r>
              <a:rPr lang="en-US" sz="1300" b="0" u="none" strike="noStrike">
                <a:solidFill>
                  <a:srgbClr val="0B1F3A"/>
                </a:solidFill>
                <a:effectLst/>
                <a:uFillTx/>
                <a:latin typeface="Aptos"/>
              </a:rPr>
              <a:t>Yes or no.</a:t>
            </a:r>
            <a:endParaRPr lang="en-US" sz="1300" b="0" u="none" strike="noStrike">
              <a:solidFill>
                <a:srgbClr val="000000"/>
              </a:solidFill>
              <a:effectLst/>
              <a:uFillTx/>
              <a:latin typeface="Arial"/>
            </a:endParaRPr>
          </a:p>
        </p:txBody>
      </p:sp>
      <p:sp>
        <p:nvSpPr>
          <p:cNvPr id="503" name="Shape 10"/>
          <p:cNvSpPr/>
          <p:nvPr/>
        </p:nvSpPr>
        <p:spPr>
          <a:xfrm>
            <a:off x="6903720" y="2743200"/>
            <a:ext cx="4251240" cy="1005120"/>
          </a:xfrm>
          <a:prstGeom prst="roundRect">
            <a:avLst>
              <a:gd name="adj" fmla="val 5455"/>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04" name="Text 11"/>
          <p:cNvSpPr/>
          <p:nvPr/>
        </p:nvSpPr>
        <p:spPr>
          <a:xfrm>
            <a:off x="7068240" y="2889360"/>
            <a:ext cx="392220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1B7A45"/>
                </a:solidFill>
                <a:effectLst/>
                <a:uFillTx/>
                <a:latin typeface="Aptos"/>
              </a:rPr>
              <a:t>Utility-based</a:t>
            </a:r>
            <a:endParaRPr lang="en-US" sz="1700" b="0" u="none" strike="noStrike">
              <a:solidFill>
                <a:srgbClr val="000000"/>
              </a:solidFill>
              <a:effectLst/>
              <a:uFillTx/>
              <a:latin typeface="Arial"/>
            </a:endParaRPr>
          </a:p>
        </p:txBody>
      </p:sp>
      <p:sp>
        <p:nvSpPr>
          <p:cNvPr id="505" name="Text 12"/>
          <p:cNvSpPr/>
          <p:nvPr/>
        </p:nvSpPr>
        <p:spPr>
          <a:xfrm>
            <a:off x="7068240" y="3218760"/>
            <a:ext cx="3922200" cy="41076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300" b="0" u="none" strike="noStrike">
                <a:solidFill>
                  <a:srgbClr val="0B1F3A"/>
                </a:solidFill>
                <a:effectLst/>
                <a:uFillTx/>
                <a:latin typeface="Aptos"/>
              </a:rPr>
              <a:t>How good is each outcome?</a:t>
            </a:r>
            <a:endParaRPr lang="en-US" sz="1300" b="0" u="none" strike="noStrike">
              <a:solidFill>
                <a:srgbClr val="000000"/>
              </a:solidFill>
              <a:effectLst/>
              <a:uFillTx/>
              <a:latin typeface="Arial"/>
            </a:endParaRPr>
          </a:p>
          <a:p>
            <a:pPr defTabSz="914400">
              <a:lnSpc>
                <a:spcPct val="100000"/>
              </a:lnSpc>
              <a:tabLst>
                <a:tab pos="0" algn="l"/>
              </a:tabLst>
            </a:pPr>
            <a:r>
              <a:rPr lang="en-US" sz="1300" b="0" u="none" strike="noStrike">
                <a:solidFill>
                  <a:srgbClr val="0B1F3A"/>
                </a:solidFill>
                <a:effectLst/>
                <a:uFillTx/>
                <a:latin typeface="Aptos"/>
              </a:rPr>
              <a:t>Fast, safe, comfortable, cheap?</a:t>
            </a:r>
            <a:endParaRPr lang="en-US" sz="1300" b="0" u="none" strike="noStrike">
              <a:solidFill>
                <a:srgbClr val="000000"/>
              </a:solidFill>
              <a:effectLst/>
              <a:uFillTx/>
              <a:latin typeface="Arial"/>
            </a:endParaRPr>
          </a:p>
        </p:txBody>
      </p:sp>
      <p:sp>
        <p:nvSpPr>
          <p:cNvPr id="506" name="Shape 13"/>
          <p:cNvSpPr/>
          <p:nvPr/>
        </p:nvSpPr>
        <p:spPr>
          <a:xfrm>
            <a:off x="6903720" y="3977640"/>
            <a:ext cx="4251240" cy="867960"/>
          </a:xfrm>
          <a:prstGeom prst="roundRect">
            <a:avLst>
              <a:gd name="adj" fmla="val 6316"/>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07" name="Text 14"/>
          <p:cNvSpPr/>
          <p:nvPr/>
        </p:nvSpPr>
        <p:spPr>
          <a:xfrm>
            <a:off x="7068240" y="4123800"/>
            <a:ext cx="392220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5B35B1"/>
                </a:solidFill>
                <a:effectLst/>
                <a:uFillTx/>
                <a:latin typeface="Aptos"/>
              </a:rPr>
              <a:t>Expected utility</a:t>
            </a:r>
            <a:endParaRPr lang="en-US" sz="1700" b="0" u="none" strike="noStrike">
              <a:solidFill>
                <a:srgbClr val="000000"/>
              </a:solidFill>
              <a:effectLst/>
              <a:uFillTx/>
              <a:latin typeface="Arial"/>
            </a:endParaRPr>
          </a:p>
        </p:txBody>
      </p:sp>
      <p:sp>
        <p:nvSpPr>
          <p:cNvPr id="508" name="Text 15"/>
          <p:cNvSpPr/>
          <p:nvPr/>
        </p:nvSpPr>
        <p:spPr>
          <a:xfrm>
            <a:off x="7068240" y="4453200"/>
            <a:ext cx="3922200" cy="273600"/>
          </a:xfrm>
          <a:prstGeom prst="rect">
            <a:avLst/>
          </a:prstGeom>
          <a:noFill/>
          <a:ln w="0">
            <a:noFill/>
          </a:ln>
        </p:spPr>
        <p:style>
          <a:lnRef idx="0"/>
          <a:fillRef idx="0"/>
          <a:effectRef idx="0"/>
          <a:fontRef idx="minor"/>
        </p:style>
        <p:txBody>
          <a:bodyPr lIns="360" tIns="360" rIns="360" bIns="360" anchor="ctr">
            <a:normAutofit fontScale="85000" lnSpcReduction="9999"/>
          </a:bodyPr>
          <a:p>
            <a:pPr defTabSz="914400">
              <a:lnSpc>
                <a:spcPct val="100000"/>
              </a:lnSpc>
              <a:tabLst>
                <a:tab pos="0" algn="l"/>
              </a:tabLst>
            </a:pPr>
            <a:r>
              <a:rPr lang="en-US" sz="1300" b="0" u="none" strike="noStrike">
                <a:solidFill>
                  <a:srgbClr val="0B1F3A"/>
                </a:solidFill>
                <a:effectLst/>
                <a:uFillTx/>
                <a:latin typeface="Aptos"/>
              </a:rPr>
              <a:t>Weigh utility by probability when outcomes are uncertain.</a:t>
            </a:r>
            <a:endParaRPr lang="en-US" sz="1300" b="0" u="none" strike="noStrike">
              <a:solidFill>
                <a:srgbClr val="000000"/>
              </a:solidFill>
              <a:effectLst/>
              <a:uFillTx/>
              <a:latin typeface="Arial"/>
            </a:endParaRPr>
          </a:p>
        </p:txBody>
      </p:sp>
      <p:sp>
        <p:nvSpPr>
          <p:cNvPr id="509" name="Text 16"/>
          <p:cNvSpPr/>
          <p:nvPr/>
        </p:nvSpPr>
        <p:spPr>
          <a:xfrm>
            <a:off x="6903720" y="5285160"/>
            <a:ext cx="4251240" cy="319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700" b="1" u="none" strike="noStrike">
                <a:solidFill>
                  <a:srgbClr val="0B2B5C"/>
                </a:solidFill>
                <a:effectLst/>
                <a:uFillTx/>
                <a:latin typeface="Aptos"/>
              </a:rPr>
              <a:t>Utility handles conflicts and uncertainty.</a:t>
            </a:r>
            <a:endParaRPr lang="en-US" sz="1700" b="0" u="none" strike="noStrike">
              <a:solidFill>
                <a:srgbClr val="000000"/>
              </a:solidFill>
              <a:effectLst/>
              <a:uFillTx/>
              <a:latin typeface="Arial"/>
            </a:endParaRPr>
          </a:p>
        </p:txBody>
      </p:sp>
      <p:sp>
        <p:nvSpPr>
          <p:cNvPr id="510" name="Text 17"/>
          <p:cNvSpPr/>
          <p:nvPr/>
        </p:nvSpPr>
        <p:spPr>
          <a:xfrm>
            <a:off x="9326880" y="6364080"/>
            <a:ext cx="2376720" cy="163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750" b="0" u="none" strike="noStrike">
                <a:solidFill>
                  <a:srgbClr val="5E7088"/>
                </a:solidFill>
                <a:effectLst/>
                <a:uFillTx/>
                <a:latin typeface="Aptos"/>
              </a:rPr>
              <a:t>Figure 2.14</a:t>
            </a:r>
            <a:endParaRPr lang="en-US" sz="7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6FA"/>
        </a:solidFill>
      </p:bgPr>
    </p:bg>
    <p:spTree>
      <p:nvGrpSpPr>
        <p:cNvPr id="1" name=""/>
        <p:cNvGrpSpPr/>
        <p:nvPr/>
      </p:nvGrpSpPr>
      <p:grpSpPr>
        <a:xfrm>
          <a:off x="0" y="0"/>
          <a:ext cx="0" cy="0"/>
          <a:chOff x="0" y="0"/>
          <a:chExt cx="0" cy="0"/>
        </a:xfrm>
      </p:grpSpPr>
      <p:sp>
        <p:nvSpPr>
          <p:cNvPr id="511" name="Shape 0"/>
          <p:cNvSpPr/>
          <p:nvPr/>
        </p:nvSpPr>
        <p:spPr>
          <a:xfrm>
            <a:off x="0" y="0"/>
            <a:ext cx="12191040" cy="803880"/>
          </a:xfrm>
          <a:prstGeom prst="rect">
            <a:avLst/>
          </a:prstGeom>
          <a:solidFill>
            <a:srgbClr val="0B2B5C"/>
          </a:solidFill>
          <a:ln w="12700">
            <a:solidFill>
              <a:srgbClr val="0B2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12" name="Shape 1"/>
          <p:cNvSpPr/>
          <p:nvPr/>
        </p:nvSpPr>
        <p:spPr>
          <a:xfrm>
            <a:off x="0" y="804600"/>
            <a:ext cx="12191040" cy="72360"/>
          </a:xfrm>
          <a:prstGeom prst="rect">
            <a:avLst/>
          </a:prstGeom>
          <a:solidFill>
            <a:srgbClr val="F5A21B"/>
          </a:solidFill>
          <a:ln w="12700">
            <a:solidFill>
              <a:srgbClr val="F5A21B"/>
            </a:solidFill>
            <a:round/>
          </a:ln>
        </p:spPr>
        <p:style>
          <a:lnRef idx="0"/>
          <a:fillRef idx="0"/>
          <a:effectRef idx="0"/>
          <a:fontRef idx="minor"/>
        </p:style>
        <p:txBody>
          <a:bodyPr lIns="90000" tIns="28080" rIns="90000" bIns="28080" anchor="t">
            <a:noAutofit/>
          </a:bodyPr>
          <a:p>
            <a:endParaRPr lang="en-US" sz="1800" b="0" u="none" strike="noStrike">
              <a:solidFill>
                <a:srgbClr val="000000"/>
              </a:solidFill>
              <a:effectLst/>
              <a:uFillTx/>
              <a:latin typeface="Arial"/>
            </a:endParaRPr>
          </a:p>
        </p:txBody>
      </p:sp>
      <p:sp>
        <p:nvSpPr>
          <p:cNvPr id="513" name="Text 2"/>
          <p:cNvSpPr/>
          <p:nvPr/>
        </p:nvSpPr>
        <p:spPr>
          <a:xfrm>
            <a:off x="475560" y="210240"/>
            <a:ext cx="960048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300" b="1" u="none" strike="noStrike">
                <a:solidFill>
                  <a:srgbClr val="FFFFFF"/>
                </a:solidFill>
                <a:effectLst/>
                <a:uFillTx/>
                <a:latin typeface="Aptos Display"/>
                <a:ea typeface="Aptos Display"/>
              </a:rPr>
              <a:t>Utility Handles Tradeoffs and Uncertainty</a:t>
            </a:r>
            <a:endParaRPr lang="en-US" sz="2300" b="0" u="none" strike="noStrike">
              <a:solidFill>
                <a:srgbClr val="000000"/>
              </a:solidFill>
              <a:effectLst/>
              <a:uFillTx/>
              <a:latin typeface="Arial"/>
            </a:endParaRPr>
          </a:p>
        </p:txBody>
      </p:sp>
      <p:sp>
        <p:nvSpPr>
          <p:cNvPr id="514" name="Text 3"/>
          <p:cNvSpPr/>
          <p:nvPr/>
        </p:nvSpPr>
        <p:spPr>
          <a:xfrm>
            <a:off x="10241280" y="255960"/>
            <a:ext cx="13708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200" b="0" u="none" strike="noStrike">
                <a:solidFill>
                  <a:srgbClr val="DDE8F2"/>
                </a:solidFill>
                <a:effectLst/>
                <a:uFillTx/>
                <a:latin typeface="Aptos"/>
                <a:ea typeface="Aptos"/>
              </a:rPr>
              <a:t>2.4.5</a:t>
            </a:r>
            <a:endParaRPr lang="en-US" sz="1200" b="0" u="none" strike="noStrike">
              <a:solidFill>
                <a:srgbClr val="000000"/>
              </a:solidFill>
              <a:effectLst/>
              <a:uFillTx/>
              <a:latin typeface="Arial"/>
            </a:endParaRPr>
          </a:p>
        </p:txBody>
      </p:sp>
      <p:sp>
        <p:nvSpPr>
          <p:cNvPr id="515" name="Text 4"/>
          <p:cNvSpPr/>
          <p:nvPr/>
        </p:nvSpPr>
        <p:spPr>
          <a:xfrm>
            <a:off x="475560" y="6565320"/>
            <a:ext cx="274248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516" name="Text 5"/>
          <p:cNvSpPr/>
          <p:nvPr/>
        </p:nvSpPr>
        <p:spPr>
          <a:xfrm>
            <a:off x="11411640" y="6565320"/>
            <a:ext cx="273600" cy="163800"/>
          </a:xfrm>
          <a:prstGeom prst="rect">
            <a:avLst/>
          </a:prstGeom>
          <a:noFill/>
          <a:ln w="0">
            <a:noFill/>
          </a:ln>
        </p:spPr>
        <p:style>
          <a:lnRef idx="0"/>
          <a:fillRef idx="0"/>
          <a:effectRef idx="0"/>
          <a:fontRef idx="minor"/>
        </p:style>
        <p:txBody>
          <a:bodyPr lIns="0" tIns="0" rIns="0" bIns="0" anchor="ctr">
            <a:noAutofit/>
          </a:bodyPr>
          <a:p>
            <a:r>
              <a:t>25</a:t>
            </a:r>
          </a:p>
        </p:txBody>
      </p:sp>
      <p:sp>
        <p:nvSpPr>
          <p:cNvPr id="517" name="Shape 6"/>
          <p:cNvSpPr/>
          <p:nvPr/>
        </p:nvSpPr>
        <p:spPr>
          <a:xfrm>
            <a:off x="868680" y="1325880"/>
            <a:ext cx="3291120" cy="1233720"/>
          </a:xfrm>
          <a:prstGeom prst="roundRect">
            <a:avLst>
              <a:gd name="adj" fmla="val 4444"/>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18" name="Text 7"/>
          <p:cNvSpPr/>
          <p:nvPr/>
        </p:nvSpPr>
        <p:spPr>
          <a:xfrm>
            <a:off x="1033200" y="1472040"/>
            <a:ext cx="296208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A32020"/>
                </a:solidFill>
                <a:effectLst/>
                <a:uFillTx/>
                <a:latin typeface="Aptos"/>
              </a:rPr>
              <a:t>Conflicting goals</a:t>
            </a:r>
            <a:endParaRPr lang="en-US" sz="1800" b="0" u="none" strike="noStrike">
              <a:solidFill>
                <a:srgbClr val="000000"/>
              </a:solidFill>
              <a:effectLst/>
              <a:uFillTx/>
              <a:latin typeface="Arial"/>
            </a:endParaRPr>
          </a:p>
        </p:txBody>
      </p:sp>
      <p:sp>
        <p:nvSpPr>
          <p:cNvPr id="519" name="Text 8"/>
          <p:cNvSpPr/>
          <p:nvPr/>
        </p:nvSpPr>
        <p:spPr>
          <a:xfrm>
            <a:off x="1033200" y="1801440"/>
            <a:ext cx="2962080" cy="63936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350" b="0" u="none" strike="noStrike">
                <a:solidFill>
                  <a:srgbClr val="0B1F3A"/>
                </a:solidFill>
                <a:effectLst/>
                <a:uFillTx/>
                <a:latin typeface="Aptos"/>
              </a:rPr>
              <a:t>Speed and safety can conflict. Utility specifies the tradeoff.</a:t>
            </a:r>
            <a:endParaRPr lang="en-US" sz="1350" b="0" u="none" strike="noStrike">
              <a:solidFill>
                <a:srgbClr val="000000"/>
              </a:solidFill>
              <a:effectLst/>
              <a:uFillTx/>
              <a:latin typeface="Arial"/>
            </a:endParaRPr>
          </a:p>
        </p:txBody>
      </p:sp>
      <p:sp>
        <p:nvSpPr>
          <p:cNvPr id="520" name="Shape 9"/>
          <p:cNvSpPr/>
          <p:nvPr/>
        </p:nvSpPr>
        <p:spPr>
          <a:xfrm>
            <a:off x="4434840" y="1325880"/>
            <a:ext cx="3291120" cy="1233720"/>
          </a:xfrm>
          <a:prstGeom prst="roundRect">
            <a:avLst>
              <a:gd name="adj" fmla="val 4444"/>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21" name="Text 10"/>
          <p:cNvSpPr/>
          <p:nvPr/>
        </p:nvSpPr>
        <p:spPr>
          <a:xfrm>
            <a:off x="4599360" y="1472040"/>
            <a:ext cx="296208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F5A21B"/>
                </a:solidFill>
                <a:effectLst/>
                <a:uFillTx/>
                <a:latin typeface="Aptos"/>
              </a:rPr>
              <a:t>Uncertain goals</a:t>
            </a:r>
            <a:endParaRPr lang="en-US" sz="1800" b="0" u="none" strike="noStrike">
              <a:solidFill>
                <a:srgbClr val="000000"/>
              </a:solidFill>
              <a:effectLst/>
              <a:uFillTx/>
              <a:latin typeface="Arial"/>
            </a:endParaRPr>
          </a:p>
        </p:txBody>
      </p:sp>
      <p:sp>
        <p:nvSpPr>
          <p:cNvPr id="522" name="Text 11"/>
          <p:cNvSpPr/>
          <p:nvPr/>
        </p:nvSpPr>
        <p:spPr>
          <a:xfrm>
            <a:off x="4599360" y="1801440"/>
            <a:ext cx="2962080" cy="63936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350" b="0" u="none" strike="noStrike">
                <a:solidFill>
                  <a:srgbClr val="0B1F3A"/>
                </a:solidFill>
                <a:effectLst/>
                <a:uFillTx/>
                <a:latin typeface="Aptos"/>
              </a:rPr>
              <a:t>Several outcomes may be possible, none guaranteed.</a:t>
            </a:r>
            <a:endParaRPr lang="en-US" sz="1350" b="0" u="none" strike="noStrike">
              <a:solidFill>
                <a:srgbClr val="000000"/>
              </a:solidFill>
              <a:effectLst/>
              <a:uFillTx/>
              <a:latin typeface="Arial"/>
            </a:endParaRPr>
          </a:p>
        </p:txBody>
      </p:sp>
      <p:sp>
        <p:nvSpPr>
          <p:cNvPr id="523" name="Shape 12"/>
          <p:cNvSpPr/>
          <p:nvPr/>
        </p:nvSpPr>
        <p:spPr>
          <a:xfrm>
            <a:off x="8001000" y="1325880"/>
            <a:ext cx="3291120" cy="1233720"/>
          </a:xfrm>
          <a:prstGeom prst="roundRect">
            <a:avLst>
              <a:gd name="adj" fmla="val 4444"/>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24" name="Text 13"/>
          <p:cNvSpPr/>
          <p:nvPr/>
        </p:nvSpPr>
        <p:spPr>
          <a:xfrm>
            <a:off x="8165520" y="1472040"/>
            <a:ext cx="296208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1B7A45"/>
                </a:solidFill>
                <a:effectLst/>
                <a:uFillTx/>
                <a:latin typeface="Aptos"/>
              </a:rPr>
              <a:t>Expected utility</a:t>
            </a:r>
            <a:endParaRPr lang="en-US" sz="1800" b="0" u="none" strike="noStrike">
              <a:solidFill>
                <a:srgbClr val="000000"/>
              </a:solidFill>
              <a:effectLst/>
              <a:uFillTx/>
              <a:latin typeface="Arial"/>
            </a:endParaRPr>
          </a:p>
        </p:txBody>
      </p:sp>
      <p:sp>
        <p:nvSpPr>
          <p:cNvPr id="525" name="Text 14"/>
          <p:cNvSpPr/>
          <p:nvPr/>
        </p:nvSpPr>
        <p:spPr>
          <a:xfrm>
            <a:off x="8165520" y="1801440"/>
            <a:ext cx="2962080" cy="63936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350" b="0" u="none" strike="noStrike">
                <a:solidFill>
                  <a:srgbClr val="0B1F3A"/>
                </a:solidFill>
                <a:effectLst/>
                <a:uFillTx/>
                <a:latin typeface="Aptos"/>
              </a:rPr>
              <a:t>Likelihood of success is weighed against outcome importance.</a:t>
            </a:r>
            <a:endParaRPr lang="en-US" sz="1350" b="0" u="none" strike="noStrike">
              <a:solidFill>
                <a:srgbClr val="000000"/>
              </a:solidFill>
              <a:effectLst/>
              <a:uFillTx/>
              <a:latin typeface="Arial"/>
            </a:endParaRPr>
          </a:p>
        </p:txBody>
      </p:sp>
      <p:sp>
        <p:nvSpPr>
          <p:cNvPr id="526" name="Text 15"/>
          <p:cNvSpPr/>
          <p:nvPr/>
        </p:nvSpPr>
        <p:spPr>
          <a:xfrm>
            <a:off x="914400" y="3337560"/>
            <a:ext cx="10332000" cy="410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400" b="1" u="none" strike="noStrike">
                <a:solidFill>
                  <a:srgbClr val="0B2B5C"/>
                </a:solidFill>
                <a:effectLst/>
                <a:uFillTx/>
                <a:latin typeface="Aptos"/>
              </a:rPr>
              <a:t>Utility function = internalization of the performance measure</a:t>
            </a:r>
            <a:endParaRPr lang="en-US" sz="2400" b="0" u="none" strike="noStrike">
              <a:solidFill>
                <a:srgbClr val="000000"/>
              </a:solidFill>
              <a:effectLst/>
              <a:uFillTx/>
              <a:latin typeface="Arial"/>
            </a:endParaRPr>
          </a:p>
        </p:txBody>
      </p:sp>
      <p:sp>
        <p:nvSpPr>
          <p:cNvPr id="527" name="Text 16"/>
          <p:cNvSpPr/>
          <p:nvPr/>
        </p:nvSpPr>
        <p:spPr>
          <a:xfrm>
            <a:off x="1097280" y="4160520"/>
            <a:ext cx="9966240" cy="5022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0B1F3A"/>
                </a:solidFill>
                <a:effectLst/>
                <a:uFillTx/>
                <a:latin typeface="Aptos"/>
              </a:rPr>
              <a:t>If the internal utility function and external performance measure agree, maximizing utility supports rational behavior.</a:t>
            </a:r>
            <a:endParaRPr lang="en-US" sz="1800" b="0" u="none" strike="noStrike">
              <a:solidFill>
                <a:srgbClr val="000000"/>
              </a:solidFill>
              <a:effectLst/>
              <a:uFillTx/>
              <a:latin typeface="Arial"/>
            </a:endParaRPr>
          </a:p>
        </p:txBody>
      </p:sp>
      <p:sp>
        <p:nvSpPr>
          <p:cNvPr id="528" name="Text 17"/>
          <p:cNvSpPr/>
          <p:nvPr/>
        </p:nvSpPr>
        <p:spPr>
          <a:xfrm>
            <a:off x="1097280" y="5074920"/>
            <a:ext cx="9966240" cy="319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A32020"/>
                </a:solidFill>
                <a:effectLst/>
                <a:uFillTx/>
                <a:latin typeface="Aptos"/>
              </a:rPr>
              <a:t>Caution: if the utility function is wrong, the agent may optimize the wrong objective.</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6FA"/>
        </a:solidFill>
      </p:bgPr>
    </p:bg>
    <p:spTree>
      <p:nvGrpSpPr>
        <p:cNvPr id="1" name=""/>
        <p:cNvGrpSpPr/>
        <p:nvPr/>
      </p:nvGrpSpPr>
      <p:grpSpPr>
        <a:xfrm>
          <a:off x="0" y="0"/>
          <a:ext cx="0" cy="0"/>
          <a:chOff x="0" y="0"/>
          <a:chExt cx="0" cy="0"/>
        </a:xfrm>
      </p:grpSpPr>
      <p:sp>
        <p:nvSpPr>
          <p:cNvPr id="529" name="Shape 0"/>
          <p:cNvSpPr/>
          <p:nvPr/>
        </p:nvSpPr>
        <p:spPr>
          <a:xfrm>
            <a:off x="0" y="0"/>
            <a:ext cx="12191040" cy="803880"/>
          </a:xfrm>
          <a:prstGeom prst="rect">
            <a:avLst/>
          </a:prstGeom>
          <a:solidFill>
            <a:srgbClr val="0B2B5C"/>
          </a:solidFill>
          <a:ln w="12700">
            <a:solidFill>
              <a:srgbClr val="0B2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30" name="Shape 1"/>
          <p:cNvSpPr/>
          <p:nvPr/>
        </p:nvSpPr>
        <p:spPr>
          <a:xfrm>
            <a:off x="0" y="804600"/>
            <a:ext cx="12191040" cy="72360"/>
          </a:xfrm>
          <a:prstGeom prst="rect">
            <a:avLst/>
          </a:prstGeom>
          <a:solidFill>
            <a:srgbClr val="F5A21B"/>
          </a:solidFill>
          <a:ln w="12700">
            <a:solidFill>
              <a:srgbClr val="F5A21B"/>
            </a:solidFill>
            <a:round/>
          </a:ln>
        </p:spPr>
        <p:style>
          <a:lnRef idx="0"/>
          <a:fillRef idx="0"/>
          <a:effectRef idx="0"/>
          <a:fontRef idx="minor"/>
        </p:style>
        <p:txBody>
          <a:bodyPr lIns="90000" tIns="28080" rIns="90000" bIns="28080" anchor="t">
            <a:noAutofit/>
          </a:bodyPr>
          <a:p>
            <a:endParaRPr lang="en-US" sz="1800" b="0" u="none" strike="noStrike">
              <a:solidFill>
                <a:srgbClr val="000000"/>
              </a:solidFill>
              <a:effectLst/>
              <a:uFillTx/>
              <a:latin typeface="Arial"/>
            </a:endParaRPr>
          </a:p>
        </p:txBody>
      </p:sp>
      <p:sp>
        <p:nvSpPr>
          <p:cNvPr id="531" name="Text 2"/>
          <p:cNvSpPr/>
          <p:nvPr/>
        </p:nvSpPr>
        <p:spPr>
          <a:xfrm>
            <a:off x="475560" y="210240"/>
            <a:ext cx="960048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300" b="1" u="none" strike="noStrike">
                <a:solidFill>
                  <a:srgbClr val="FFFFFF"/>
                </a:solidFill>
                <a:effectLst/>
                <a:uFillTx/>
                <a:latin typeface="Aptos Display"/>
                <a:ea typeface="Aptos Display"/>
              </a:rPr>
              <a:t>2.4.6 Learning Agents</a:t>
            </a:r>
            <a:endParaRPr lang="en-US" sz="2300" b="0" u="none" strike="noStrike">
              <a:solidFill>
                <a:srgbClr val="000000"/>
              </a:solidFill>
              <a:effectLst/>
              <a:uFillTx/>
              <a:latin typeface="Arial"/>
            </a:endParaRPr>
          </a:p>
        </p:txBody>
      </p:sp>
      <p:sp>
        <p:nvSpPr>
          <p:cNvPr id="532" name="Text 3"/>
          <p:cNvSpPr/>
          <p:nvPr/>
        </p:nvSpPr>
        <p:spPr>
          <a:xfrm>
            <a:off x="10241280" y="255960"/>
            <a:ext cx="13708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200" b="0" u="none" strike="noStrike">
                <a:solidFill>
                  <a:srgbClr val="DDE8F2"/>
                </a:solidFill>
                <a:effectLst/>
                <a:uFillTx/>
                <a:latin typeface="Aptos"/>
                <a:ea typeface="Aptos"/>
              </a:rPr>
              <a:t>2.4.6</a:t>
            </a:r>
            <a:endParaRPr lang="en-US" sz="1200" b="0" u="none" strike="noStrike">
              <a:solidFill>
                <a:srgbClr val="000000"/>
              </a:solidFill>
              <a:effectLst/>
              <a:uFillTx/>
              <a:latin typeface="Arial"/>
            </a:endParaRPr>
          </a:p>
        </p:txBody>
      </p:sp>
      <p:sp>
        <p:nvSpPr>
          <p:cNvPr id="533" name="Text 4"/>
          <p:cNvSpPr/>
          <p:nvPr/>
        </p:nvSpPr>
        <p:spPr>
          <a:xfrm>
            <a:off x="475560" y="6565320"/>
            <a:ext cx="274248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534" name="Text 5"/>
          <p:cNvSpPr/>
          <p:nvPr/>
        </p:nvSpPr>
        <p:spPr>
          <a:xfrm>
            <a:off x="11411640" y="6565320"/>
            <a:ext cx="273600" cy="163800"/>
          </a:xfrm>
          <a:prstGeom prst="rect">
            <a:avLst/>
          </a:prstGeom>
          <a:noFill/>
          <a:ln w="0">
            <a:noFill/>
          </a:ln>
        </p:spPr>
        <p:style>
          <a:lnRef idx="0"/>
          <a:fillRef idx="0"/>
          <a:effectRef idx="0"/>
          <a:fontRef idx="minor"/>
        </p:style>
        <p:txBody>
          <a:bodyPr lIns="0" tIns="0" rIns="0" bIns="0" anchor="ctr">
            <a:noAutofit/>
          </a:bodyPr>
          <a:p>
            <a:r>
              <a:t>26</a:t>
            </a:r>
          </a:p>
        </p:txBody>
      </p:sp>
      <p:sp>
        <p:nvSpPr>
          <p:cNvPr id="535" name="Text 6"/>
          <p:cNvSpPr/>
          <p:nvPr/>
        </p:nvSpPr>
        <p:spPr>
          <a:xfrm>
            <a:off x="777240" y="1051560"/>
            <a:ext cx="10789200" cy="319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rgbClr val="0B2B5C"/>
                </a:solidFill>
                <a:effectLst/>
                <a:uFillTx/>
                <a:latin typeface="Aptos"/>
              </a:rPr>
              <a:t>Any agent type can be made into a learning agent.</a:t>
            </a:r>
            <a:endParaRPr lang="en-US" sz="2000" b="0" u="none" strike="noStrike">
              <a:solidFill>
                <a:srgbClr val="000000"/>
              </a:solidFill>
              <a:effectLst/>
              <a:uFillTx/>
              <a:latin typeface="Arial"/>
            </a:endParaRPr>
          </a:p>
        </p:txBody>
      </p:sp>
      <p:pic>
        <p:nvPicPr>
          <p:cNvPr id="536" name="Image 0" descr="/mnt/data/ch2_docx_unzipped/word/media/image13.png"/>
          <p:cNvPicPr/>
          <p:nvPr/>
        </p:nvPicPr>
        <p:blipFill>
          <a:blip r:embed="rId1"/>
          <a:stretch/>
        </p:blipFill>
        <p:spPr>
          <a:xfrm>
            <a:off x="1253880" y="1600200"/>
            <a:ext cx="4761000" cy="4114080"/>
          </a:xfrm>
          <a:prstGeom prst="rect">
            <a:avLst/>
          </a:prstGeom>
          <a:noFill/>
          <a:ln w="0">
            <a:noFill/>
          </a:ln>
        </p:spPr>
      </p:pic>
      <p:sp>
        <p:nvSpPr>
          <p:cNvPr id="537" name="Shape 7"/>
          <p:cNvSpPr/>
          <p:nvPr/>
        </p:nvSpPr>
        <p:spPr>
          <a:xfrm>
            <a:off x="6903720" y="1554480"/>
            <a:ext cx="4251240" cy="712440"/>
          </a:xfrm>
          <a:prstGeom prst="roundRect">
            <a:avLst>
              <a:gd name="adj" fmla="val 7692"/>
            </a:avLst>
          </a:prstGeom>
          <a:solidFill>
            <a:srgbClr val="FFFFFF"/>
          </a:solidFill>
          <a:ln w="12700">
            <a:solidFill>
              <a:srgbClr val="D3DEE9"/>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38" name="Text 8"/>
          <p:cNvSpPr/>
          <p:nvPr/>
        </p:nvSpPr>
        <p:spPr>
          <a:xfrm>
            <a:off x="7068240" y="1700640"/>
            <a:ext cx="392220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2B6CB0"/>
                </a:solidFill>
                <a:effectLst/>
                <a:uFillTx/>
                <a:latin typeface="Aptos"/>
              </a:rPr>
              <a:t>Performance element</a:t>
            </a:r>
            <a:endParaRPr lang="en-US" sz="1600" b="0" u="none" strike="noStrike">
              <a:solidFill>
                <a:srgbClr val="000000"/>
              </a:solidFill>
              <a:effectLst/>
              <a:uFillTx/>
              <a:latin typeface="Arial"/>
            </a:endParaRPr>
          </a:p>
        </p:txBody>
      </p:sp>
      <p:sp>
        <p:nvSpPr>
          <p:cNvPr id="539" name="Text 9"/>
          <p:cNvSpPr/>
          <p:nvPr/>
        </p:nvSpPr>
        <p:spPr>
          <a:xfrm>
            <a:off x="7068240" y="2030040"/>
            <a:ext cx="3922200" cy="118080"/>
          </a:xfrm>
          <a:prstGeom prst="rect">
            <a:avLst/>
          </a:prstGeom>
          <a:noFill/>
          <a:ln w="0">
            <a:noFill/>
          </a:ln>
        </p:spPr>
        <p:style>
          <a:lnRef idx="0"/>
          <a:fillRef idx="0"/>
          <a:effectRef idx="0"/>
          <a:fontRef idx="minor"/>
        </p:style>
        <p:txBody>
          <a:bodyPr lIns="360" tIns="360" rIns="360" bIns="360" anchor="ctr">
            <a:normAutofit fontScale="77500" lnSpcReduction="19999"/>
          </a:bodyPr>
          <a:p>
            <a:pPr defTabSz="914400">
              <a:lnSpc>
                <a:spcPct val="100000"/>
              </a:lnSpc>
              <a:tabLst>
                <a:tab pos="0" algn="l"/>
              </a:tabLst>
            </a:pPr>
            <a:r>
              <a:rPr lang="en-US" sz="1250" b="0" u="none" strike="noStrike">
                <a:solidFill>
                  <a:srgbClr val="0B1F3A"/>
                </a:solidFill>
                <a:effectLst/>
                <a:uFillTx/>
                <a:latin typeface="Aptos"/>
              </a:rPr>
              <a:t>Selects external actions.</a:t>
            </a:r>
            <a:endParaRPr lang="en-US" sz="1250" b="0" u="none" strike="noStrike">
              <a:solidFill>
                <a:srgbClr val="000000"/>
              </a:solidFill>
              <a:effectLst/>
              <a:uFillTx/>
              <a:latin typeface="Arial"/>
            </a:endParaRPr>
          </a:p>
        </p:txBody>
      </p:sp>
      <p:sp>
        <p:nvSpPr>
          <p:cNvPr id="540" name="Shape 10"/>
          <p:cNvSpPr/>
          <p:nvPr/>
        </p:nvSpPr>
        <p:spPr>
          <a:xfrm>
            <a:off x="6903720" y="2487240"/>
            <a:ext cx="4251240" cy="712440"/>
          </a:xfrm>
          <a:prstGeom prst="roundRect">
            <a:avLst>
              <a:gd name="adj" fmla="val 7692"/>
            </a:avLst>
          </a:prstGeom>
          <a:solidFill>
            <a:srgbClr val="FFFFFF"/>
          </a:solidFill>
          <a:ln w="12700">
            <a:solidFill>
              <a:srgbClr val="D3DEE9"/>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41" name="Text 11"/>
          <p:cNvSpPr/>
          <p:nvPr/>
        </p:nvSpPr>
        <p:spPr>
          <a:xfrm>
            <a:off x="7068240" y="2633400"/>
            <a:ext cx="392220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1B7A45"/>
                </a:solidFill>
                <a:effectLst/>
                <a:uFillTx/>
                <a:latin typeface="Aptos"/>
              </a:rPr>
              <a:t>Learning element</a:t>
            </a:r>
            <a:endParaRPr lang="en-US" sz="1600" b="0" u="none" strike="noStrike">
              <a:solidFill>
                <a:srgbClr val="000000"/>
              </a:solidFill>
              <a:effectLst/>
              <a:uFillTx/>
              <a:latin typeface="Arial"/>
            </a:endParaRPr>
          </a:p>
        </p:txBody>
      </p:sp>
      <p:sp>
        <p:nvSpPr>
          <p:cNvPr id="542" name="Text 12"/>
          <p:cNvSpPr/>
          <p:nvPr/>
        </p:nvSpPr>
        <p:spPr>
          <a:xfrm>
            <a:off x="7068240" y="2962800"/>
            <a:ext cx="3922200" cy="118080"/>
          </a:xfrm>
          <a:prstGeom prst="rect">
            <a:avLst/>
          </a:prstGeom>
          <a:noFill/>
          <a:ln w="0">
            <a:noFill/>
          </a:ln>
        </p:spPr>
        <p:style>
          <a:lnRef idx="0"/>
          <a:fillRef idx="0"/>
          <a:effectRef idx="0"/>
          <a:fontRef idx="minor"/>
        </p:style>
        <p:txBody>
          <a:bodyPr lIns="360" tIns="360" rIns="360" bIns="360" anchor="ctr">
            <a:normAutofit fontScale="77500" lnSpcReduction="19999"/>
          </a:bodyPr>
          <a:p>
            <a:pPr defTabSz="914400">
              <a:lnSpc>
                <a:spcPct val="100000"/>
              </a:lnSpc>
              <a:tabLst>
                <a:tab pos="0" algn="l"/>
              </a:tabLst>
            </a:pPr>
            <a:r>
              <a:rPr lang="en-US" sz="1250" b="0" u="none" strike="noStrike">
                <a:solidFill>
                  <a:srgbClr val="0B1F3A"/>
                </a:solidFill>
                <a:effectLst/>
                <a:uFillTx/>
                <a:latin typeface="Aptos"/>
              </a:rPr>
              <a:t>Improves the performance element.</a:t>
            </a:r>
            <a:endParaRPr lang="en-US" sz="1250" b="0" u="none" strike="noStrike">
              <a:solidFill>
                <a:srgbClr val="000000"/>
              </a:solidFill>
              <a:effectLst/>
              <a:uFillTx/>
              <a:latin typeface="Arial"/>
            </a:endParaRPr>
          </a:p>
        </p:txBody>
      </p:sp>
      <p:sp>
        <p:nvSpPr>
          <p:cNvPr id="543" name="Shape 13"/>
          <p:cNvSpPr/>
          <p:nvPr/>
        </p:nvSpPr>
        <p:spPr>
          <a:xfrm>
            <a:off x="6903720" y="3420000"/>
            <a:ext cx="4251240" cy="712440"/>
          </a:xfrm>
          <a:prstGeom prst="roundRect">
            <a:avLst>
              <a:gd name="adj" fmla="val 7692"/>
            </a:avLst>
          </a:prstGeom>
          <a:solidFill>
            <a:srgbClr val="FFFFFF"/>
          </a:solidFill>
          <a:ln w="12700">
            <a:solidFill>
              <a:srgbClr val="D3DEE9"/>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44" name="Text 14"/>
          <p:cNvSpPr/>
          <p:nvPr/>
        </p:nvSpPr>
        <p:spPr>
          <a:xfrm>
            <a:off x="7068240" y="3566160"/>
            <a:ext cx="392220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F5A21B"/>
                </a:solidFill>
                <a:effectLst/>
                <a:uFillTx/>
                <a:latin typeface="Aptos"/>
              </a:rPr>
              <a:t>Critic</a:t>
            </a:r>
            <a:endParaRPr lang="en-US" sz="1600" b="0" u="none" strike="noStrike">
              <a:solidFill>
                <a:srgbClr val="000000"/>
              </a:solidFill>
              <a:effectLst/>
              <a:uFillTx/>
              <a:latin typeface="Arial"/>
            </a:endParaRPr>
          </a:p>
        </p:txBody>
      </p:sp>
      <p:sp>
        <p:nvSpPr>
          <p:cNvPr id="545" name="Text 15"/>
          <p:cNvSpPr/>
          <p:nvPr/>
        </p:nvSpPr>
        <p:spPr>
          <a:xfrm>
            <a:off x="7068240" y="3895200"/>
            <a:ext cx="3922200" cy="118080"/>
          </a:xfrm>
          <a:prstGeom prst="rect">
            <a:avLst/>
          </a:prstGeom>
          <a:noFill/>
          <a:ln w="0">
            <a:noFill/>
          </a:ln>
        </p:spPr>
        <p:style>
          <a:lnRef idx="0"/>
          <a:fillRef idx="0"/>
          <a:effectRef idx="0"/>
          <a:fontRef idx="minor"/>
        </p:style>
        <p:txBody>
          <a:bodyPr lIns="360" tIns="360" rIns="360" bIns="360" anchor="ctr">
            <a:normAutofit fontScale="77500" lnSpcReduction="19999"/>
          </a:bodyPr>
          <a:p>
            <a:pPr defTabSz="914400">
              <a:lnSpc>
                <a:spcPct val="100000"/>
              </a:lnSpc>
              <a:tabLst>
                <a:tab pos="0" algn="l"/>
              </a:tabLst>
            </a:pPr>
            <a:r>
              <a:rPr lang="en-US" sz="1250" b="0" u="none" strike="noStrike">
                <a:solidFill>
                  <a:srgbClr val="0B1F3A"/>
                </a:solidFill>
                <a:effectLst/>
                <a:uFillTx/>
                <a:latin typeface="Aptos"/>
              </a:rPr>
              <a:t>Evaluates behavior against a fixed performance standard.</a:t>
            </a:r>
            <a:endParaRPr lang="en-US" sz="1250" b="0" u="none" strike="noStrike">
              <a:solidFill>
                <a:srgbClr val="000000"/>
              </a:solidFill>
              <a:effectLst/>
              <a:uFillTx/>
              <a:latin typeface="Arial"/>
            </a:endParaRPr>
          </a:p>
        </p:txBody>
      </p:sp>
      <p:sp>
        <p:nvSpPr>
          <p:cNvPr id="546" name="Shape 16"/>
          <p:cNvSpPr/>
          <p:nvPr/>
        </p:nvSpPr>
        <p:spPr>
          <a:xfrm>
            <a:off x="6903720" y="4352400"/>
            <a:ext cx="4251240" cy="712440"/>
          </a:xfrm>
          <a:prstGeom prst="roundRect">
            <a:avLst>
              <a:gd name="adj" fmla="val 7692"/>
            </a:avLst>
          </a:prstGeom>
          <a:solidFill>
            <a:srgbClr val="FFFFFF"/>
          </a:solidFill>
          <a:ln w="12700">
            <a:solidFill>
              <a:srgbClr val="D3DEE9"/>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47" name="Text 17"/>
          <p:cNvSpPr/>
          <p:nvPr/>
        </p:nvSpPr>
        <p:spPr>
          <a:xfrm>
            <a:off x="7068240" y="4498920"/>
            <a:ext cx="392220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5B35B1"/>
                </a:solidFill>
                <a:effectLst/>
                <a:uFillTx/>
                <a:latin typeface="Aptos"/>
              </a:rPr>
              <a:t>Problem generator</a:t>
            </a:r>
            <a:endParaRPr lang="en-US" sz="1600" b="0" u="none" strike="noStrike">
              <a:solidFill>
                <a:srgbClr val="000000"/>
              </a:solidFill>
              <a:effectLst/>
              <a:uFillTx/>
              <a:latin typeface="Arial"/>
            </a:endParaRPr>
          </a:p>
        </p:txBody>
      </p:sp>
      <p:sp>
        <p:nvSpPr>
          <p:cNvPr id="548" name="Text 18"/>
          <p:cNvSpPr/>
          <p:nvPr/>
        </p:nvSpPr>
        <p:spPr>
          <a:xfrm>
            <a:off x="7068240" y="4827960"/>
            <a:ext cx="3922200" cy="118080"/>
          </a:xfrm>
          <a:prstGeom prst="rect">
            <a:avLst/>
          </a:prstGeom>
          <a:noFill/>
          <a:ln w="0">
            <a:noFill/>
          </a:ln>
        </p:spPr>
        <p:style>
          <a:lnRef idx="0"/>
          <a:fillRef idx="0"/>
          <a:effectRef idx="0"/>
          <a:fontRef idx="minor"/>
        </p:style>
        <p:txBody>
          <a:bodyPr lIns="360" tIns="360" rIns="360" bIns="360" anchor="ctr">
            <a:normAutofit fontScale="77500" lnSpcReduction="19999"/>
          </a:bodyPr>
          <a:p>
            <a:pPr defTabSz="914400">
              <a:lnSpc>
                <a:spcPct val="100000"/>
              </a:lnSpc>
              <a:tabLst>
                <a:tab pos="0" algn="l"/>
              </a:tabLst>
            </a:pPr>
            <a:r>
              <a:rPr lang="en-US" sz="1250" b="0" u="none" strike="noStrike">
                <a:solidFill>
                  <a:srgbClr val="0B1F3A"/>
                </a:solidFill>
                <a:effectLst/>
                <a:uFillTx/>
                <a:latin typeface="Aptos"/>
              </a:rPr>
              <a:t>Suggests exploratory actions for informative experience.</a:t>
            </a:r>
            <a:endParaRPr lang="en-US" sz="1250" b="0" u="none" strike="noStrike">
              <a:solidFill>
                <a:srgbClr val="000000"/>
              </a:solidFill>
              <a:effectLst/>
              <a:uFillTx/>
              <a:latin typeface="Arial"/>
            </a:endParaRPr>
          </a:p>
        </p:txBody>
      </p:sp>
      <p:sp>
        <p:nvSpPr>
          <p:cNvPr id="549" name="Text 19"/>
          <p:cNvSpPr/>
          <p:nvPr/>
        </p:nvSpPr>
        <p:spPr>
          <a:xfrm>
            <a:off x="9326880" y="6364080"/>
            <a:ext cx="2376720" cy="163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750" b="0" u="none" strike="noStrike">
                <a:solidFill>
                  <a:srgbClr val="5E7088"/>
                </a:solidFill>
                <a:effectLst/>
                <a:uFillTx/>
                <a:latin typeface="Aptos"/>
              </a:rPr>
              <a:t>Figure 2.15</a:t>
            </a:r>
            <a:endParaRPr lang="en-US" sz="7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6FA"/>
        </a:solidFill>
      </p:bgPr>
    </p:bg>
    <p:spTree>
      <p:nvGrpSpPr>
        <p:cNvPr id="1" name=""/>
        <p:cNvGrpSpPr/>
        <p:nvPr/>
      </p:nvGrpSpPr>
      <p:grpSpPr>
        <a:xfrm>
          <a:off x="0" y="0"/>
          <a:ext cx="0" cy="0"/>
          <a:chOff x="0" y="0"/>
          <a:chExt cx="0" cy="0"/>
        </a:xfrm>
      </p:grpSpPr>
      <p:sp>
        <p:nvSpPr>
          <p:cNvPr id="550" name="Shape 0"/>
          <p:cNvSpPr/>
          <p:nvPr/>
        </p:nvSpPr>
        <p:spPr>
          <a:xfrm>
            <a:off x="0" y="0"/>
            <a:ext cx="12191040" cy="803880"/>
          </a:xfrm>
          <a:prstGeom prst="rect">
            <a:avLst/>
          </a:prstGeom>
          <a:solidFill>
            <a:srgbClr val="0B2B5C"/>
          </a:solidFill>
          <a:ln w="12700">
            <a:solidFill>
              <a:srgbClr val="0B2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51" name="Shape 1"/>
          <p:cNvSpPr/>
          <p:nvPr/>
        </p:nvSpPr>
        <p:spPr>
          <a:xfrm>
            <a:off x="0" y="804600"/>
            <a:ext cx="12191040" cy="72360"/>
          </a:xfrm>
          <a:prstGeom prst="rect">
            <a:avLst/>
          </a:prstGeom>
          <a:solidFill>
            <a:srgbClr val="F5A21B"/>
          </a:solidFill>
          <a:ln w="12700">
            <a:solidFill>
              <a:srgbClr val="F5A21B"/>
            </a:solidFill>
            <a:round/>
          </a:ln>
        </p:spPr>
        <p:style>
          <a:lnRef idx="0"/>
          <a:fillRef idx="0"/>
          <a:effectRef idx="0"/>
          <a:fontRef idx="minor"/>
        </p:style>
        <p:txBody>
          <a:bodyPr lIns="90000" tIns="28080" rIns="90000" bIns="28080" anchor="t">
            <a:noAutofit/>
          </a:bodyPr>
          <a:p>
            <a:endParaRPr lang="en-US" sz="1800" b="0" u="none" strike="noStrike">
              <a:solidFill>
                <a:srgbClr val="000000"/>
              </a:solidFill>
              <a:effectLst/>
              <a:uFillTx/>
              <a:latin typeface="Arial"/>
            </a:endParaRPr>
          </a:p>
        </p:txBody>
      </p:sp>
      <p:sp>
        <p:nvSpPr>
          <p:cNvPr id="552" name="Text 2"/>
          <p:cNvSpPr/>
          <p:nvPr/>
        </p:nvSpPr>
        <p:spPr>
          <a:xfrm>
            <a:off x="475560" y="210240"/>
            <a:ext cx="960048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300" b="1" u="none" strike="noStrike">
                <a:solidFill>
                  <a:srgbClr val="FFFFFF"/>
                </a:solidFill>
                <a:effectLst/>
                <a:uFillTx/>
                <a:latin typeface="Aptos Display"/>
                <a:ea typeface="Aptos Display"/>
              </a:rPr>
              <a:t>Learning Agent Components: What Improves?</a:t>
            </a:r>
            <a:endParaRPr lang="en-US" sz="2300" b="0" u="none" strike="noStrike">
              <a:solidFill>
                <a:srgbClr val="000000"/>
              </a:solidFill>
              <a:effectLst/>
              <a:uFillTx/>
              <a:latin typeface="Arial"/>
            </a:endParaRPr>
          </a:p>
        </p:txBody>
      </p:sp>
      <p:sp>
        <p:nvSpPr>
          <p:cNvPr id="553" name="Text 3"/>
          <p:cNvSpPr/>
          <p:nvPr/>
        </p:nvSpPr>
        <p:spPr>
          <a:xfrm>
            <a:off x="10241280" y="255960"/>
            <a:ext cx="13708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200" b="0" u="none" strike="noStrike">
                <a:solidFill>
                  <a:srgbClr val="DDE8F2"/>
                </a:solidFill>
                <a:effectLst/>
                <a:uFillTx/>
                <a:latin typeface="Aptos"/>
                <a:ea typeface="Aptos"/>
              </a:rPr>
              <a:t>2.4.6</a:t>
            </a:r>
            <a:endParaRPr lang="en-US" sz="1200" b="0" u="none" strike="noStrike">
              <a:solidFill>
                <a:srgbClr val="000000"/>
              </a:solidFill>
              <a:effectLst/>
              <a:uFillTx/>
              <a:latin typeface="Arial"/>
            </a:endParaRPr>
          </a:p>
        </p:txBody>
      </p:sp>
      <p:sp>
        <p:nvSpPr>
          <p:cNvPr id="554" name="Text 4"/>
          <p:cNvSpPr/>
          <p:nvPr/>
        </p:nvSpPr>
        <p:spPr>
          <a:xfrm>
            <a:off x="475560" y="6565320"/>
            <a:ext cx="274248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555" name="Text 5"/>
          <p:cNvSpPr/>
          <p:nvPr/>
        </p:nvSpPr>
        <p:spPr>
          <a:xfrm>
            <a:off x="11411640" y="6565320"/>
            <a:ext cx="273600" cy="163800"/>
          </a:xfrm>
          <a:prstGeom prst="rect">
            <a:avLst/>
          </a:prstGeom>
          <a:noFill/>
          <a:ln w="0">
            <a:noFill/>
          </a:ln>
        </p:spPr>
        <p:style>
          <a:lnRef idx="0"/>
          <a:fillRef idx="0"/>
          <a:effectRef idx="0"/>
          <a:fontRef idx="minor"/>
        </p:style>
        <p:txBody>
          <a:bodyPr lIns="0" tIns="0" rIns="0" bIns="0" anchor="ctr">
            <a:noAutofit/>
          </a:bodyPr>
          <a:p>
            <a:r>
              <a:t>27</a:t>
            </a:r>
          </a:p>
        </p:txBody>
      </p:sp>
      <p:sp>
        <p:nvSpPr>
          <p:cNvPr id="556" name="Shape 6"/>
          <p:cNvSpPr/>
          <p:nvPr/>
        </p:nvSpPr>
        <p:spPr>
          <a:xfrm>
            <a:off x="777240" y="1371600"/>
            <a:ext cx="3199680" cy="1142280"/>
          </a:xfrm>
          <a:prstGeom prst="roundRect">
            <a:avLst>
              <a:gd name="adj" fmla="val 4800"/>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57" name="Text 7"/>
          <p:cNvSpPr/>
          <p:nvPr/>
        </p:nvSpPr>
        <p:spPr>
          <a:xfrm>
            <a:off x="941760" y="1517760"/>
            <a:ext cx="287064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2B6CB0"/>
                </a:solidFill>
                <a:effectLst/>
                <a:uFillTx/>
                <a:latin typeface="Aptos"/>
              </a:rPr>
              <a:t>Performance element</a:t>
            </a:r>
            <a:endParaRPr lang="en-US" sz="1600" b="0" u="none" strike="noStrike">
              <a:solidFill>
                <a:srgbClr val="000000"/>
              </a:solidFill>
              <a:effectLst/>
              <a:uFillTx/>
              <a:latin typeface="Arial"/>
            </a:endParaRPr>
          </a:p>
        </p:txBody>
      </p:sp>
      <p:sp>
        <p:nvSpPr>
          <p:cNvPr id="558" name="Text 8"/>
          <p:cNvSpPr/>
          <p:nvPr/>
        </p:nvSpPr>
        <p:spPr>
          <a:xfrm>
            <a:off x="941760" y="1847160"/>
            <a:ext cx="2870640" cy="54792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300" b="0" u="none" strike="noStrike">
                <a:solidFill>
                  <a:srgbClr val="0B1F3A"/>
                </a:solidFill>
                <a:effectLst/>
                <a:uFillTx/>
                <a:latin typeface="Aptos"/>
              </a:rPr>
              <a:t>What action should I do now?</a:t>
            </a:r>
            <a:endParaRPr lang="en-US" sz="1300" b="0" u="none" strike="noStrike">
              <a:solidFill>
                <a:srgbClr val="000000"/>
              </a:solidFill>
              <a:effectLst/>
              <a:uFillTx/>
              <a:latin typeface="Arial"/>
            </a:endParaRPr>
          </a:p>
        </p:txBody>
      </p:sp>
      <p:sp>
        <p:nvSpPr>
          <p:cNvPr id="559" name="Shape 9"/>
          <p:cNvSpPr/>
          <p:nvPr/>
        </p:nvSpPr>
        <p:spPr>
          <a:xfrm>
            <a:off x="4480560" y="1371600"/>
            <a:ext cx="3199680" cy="1142280"/>
          </a:xfrm>
          <a:prstGeom prst="roundRect">
            <a:avLst>
              <a:gd name="adj" fmla="val 4800"/>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60" name="Text 10"/>
          <p:cNvSpPr/>
          <p:nvPr/>
        </p:nvSpPr>
        <p:spPr>
          <a:xfrm>
            <a:off x="4645080" y="1517760"/>
            <a:ext cx="287064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048A97"/>
                </a:solidFill>
                <a:effectLst/>
                <a:uFillTx/>
                <a:latin typeface="Aptos"/>
              </a:rPr>
              <a:t>Transition model</a:t>
            </a:r>
            <a:endParaRPr lang="en-US" sz="1600" b="0" u="none" strike="noStrike">
              <a:solidFill>
                <a:srgbClr val="000000"/>
              </a:solidFill>
              <a:effectLst/>
              <a:uFillTx/>
              <a:latin typeface="Arial"/>
            </a:endParaRPr>
          </a:p>
        </p:txBody>
      </p:sp>
      <p:sp>
        <p:nvSpPr>
          <p:cNvPr id="561" name="Text 11"/>
          <p:cNvSpPr/>
          <p:nvPr/>
        </p:nvSpPr>
        <p:spPr>
          <a:xfrm>
            <a:off x="4645080" y="1847160"/>
            <a:ext cx="2870640" cy="54792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300" b="0" u="none" strike="noStrike">
                <a:solidFill>
                  <a:srgbClr val="0B1F3A"/>
                </a:solidFill>
                <a:effectLst/>
                <a:uFillTx/>
                <a:latin typeface="Aptos"/>
              </a:rPr>
              <a:t>What do my actions do?</a:t>
            </a:r>
            <a:endParaRPr lang="en-US" sz="1300" b="0" u="none" strike="noStrike">
              <a:solidFill>
                <a:srgbClr val="000000"/>
              </a:solidFill>
              <a:effectLst/>
              <a:uFillTx/>
              <a:latin typeface="Arial"/>
            </a:endParaRPr>
          </a:p>
        </p:txBody>
      </p:sp>
      <p:sp>
        <p:nvSpPr>
          <p:cNvPr id="562" name="Shape 12"/>
          <p:cNvSpPr/>
          <p:nvPr/>
        </p:nvSpPr>
        <p:spPr>
          <a:xfrm>
            <a:off x="8183880" y="1371600"/>
            <a:ext cx="3199680" cy="1142280"/>
          </a:xfrm>
          <a:prstGeom prst="roundRect">
            <a:avLst>
              <a:gd name="adj" fmla="val 4800"/>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63" name="Text 13"/>
          <p:cNvSpPr/>
          <p:nvPr/>
        </p:nvSpPr>
        <p:spPr>
          <a:xfrm>
            <a:off x="8348400" y="1517760"/>
            <a:ext cx="287064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F5A21B"/>
                </a:solidFill>
                <a:effectLst/>
                <a:uFillTx/>
                <a:latin typeface="Aptos"/>
              </a:rPr>
              <a:t>Sensor model</a:t>
            </a:r>
            <a:endParaRPr lang="en-US" sz="1600" b="0" u="none" strike="noStrike">
              <a:solidFill>
                <a:srgbClr val="000000"/>
              </a:solidFill>
              <a:effectLst/>
              <a:uFillTx/>
              <a:latin typeface="Arial"/>
            </a:endParaRPr>
          </a:p>
        </p:txBody>
      </p:sp>
      <p:sp>
        <p:nvSpPr>
          <p:cNvPr id="564" name="Text 14"/>
          <p:cNvSpPr/>
          <p:nvPr/>
        </p:nvSpPr>
        <p:spPr>
          <a:xfrm>
            <a:off x="8348400" y="1847160"/>
            <a:ext cx="2870640" cy="54792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300" b="0" u="none" strike="noStrike">
                <a:solidFill>
                  <a:srgbClr val="0B1F3A"/>
                </a:solidFill>
                <a:effectLst/>
                <a:uFillTx/>
                <a:latin typeface="Aptos"/>
              </a:rPr>
              <a:t>What percepts should I expect?</a:t>
            </a:r>
            <a:endParaRPr lang="en-US" sz="1300" b="0" u="none" strike="noStrike">
              <a:solidFill>
                <a:srgbClr val="000000"/>
              </a:solidFill>
              <a:effectLst/>
              <a:uFillTx/>
              <a:latin typeface="Arial"/>
            </a:endParaRPr>
          </a:p>
        </p:txBody>
      </p:sp>
      <p:sp>
        <p:nvSpPr>
          <p:cNvPr id="565" name="Shape 15"/>
          <p:cNvSpPr/>
          <p:nvPr/>
        </p:nvSpPr>
        <p:spPr>
          <a:xfrm>
            <a:off x="2651760" y="3657600"/>
            <a:ext cx="3474000" cy="1142280"/>
          </a:xfrm>
          <a:prstGeom prst="roundRect">
            <a:avLst>
              <a:gd name="adj" fmla="val 4800"/>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66" name="Text 16"/>
          <p:cNvSpPr/>
          <p:nvPr/>
        </p:nvSpPr>
        <p:spPr>
          <a:xfrm>
            <a:off x="2816280" y="3803760"/>
            <a:ext cx="314496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5B35B1"/>
                </a:solidFill>
                <a:effectLst/>
                <a:uFillTx/>
                <a:latin typeface="Aptos"/>
              </a:rPr>
              <a:t>Utility / rules</a:t>
            </a:r>
            <a:endParaRPr lang="en-US" sz="1600" b="0" u="none" strike="noStrike">
              <a:solidFill>
                <a:srgbClr val="000000"/>
              </a:solidFill>
              <a:effectLst/>
              <a:uFillTx/>
              <a:latin typeface="Arial"/>
            </a:endParaRPr>
          </a:p>
        </p:txBody>
      </p:sp>
      <p:sp>
        <p:nvSpPr>
          <p:cNvPr id="567" name="Text 17"/>
          <p:cNvSpPr/>
          <p:nvPr/>
        </p:nvSpPr>
        <p:spPr>
          <a:xfrm>
            <a:off x="2816280" y="4133160"/>
            <a:ext cx="3144960" cy="54792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300" b="0" u="none" strike="noStrike">
                <a:solidFill>
                  <a:srgbClr val="0B1F3A"/>
                </a:solidFill>
                <a:effectLst/>
                <a:uFillTx/>
                <a:latin typeface="Aptos"/>
              </a:rPr>
              <a:t>What outcomes should I prefer?</a:t>
            </a:r>
            <a:endParaRPr lang="en-US" sz="1300" b="0" u="none" strike="noStrike">
              <a:solidFill>
                <a:srgbClr val="000000"/>
              </a:solidFill>
              <a:effectLst/>
              <a:uFillTx/>
              <a:latin typeface="Arial"/>
            </a:endParaRPr>
          </a:p>
        </p:txBody>
      </p:sp>
      <p:sp>
        <p:nvSpPr>
          <p:cNvPr id="568" name="Shape 18"/>
          <p:cNvSpPr/>
          <p:nvPr/>
        </p:nvSpPr>
        <p:spPr>
          <a:xfrm>
            <a:off x="6583680" y="3657600"/>
            <a:ext cx="3474000" cy="1142280"/>
          </a:xfrm>
          <a:prstGeom prst="roundRect">
            <a:avLst>
              <a:gd name="adj" fmla="val 4800"/>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69" name="Text 19"/>
          <p:cNvSpPr/>
          <p:nvPr/>
        </p:nvSpPr>
        <p:spPr>
          <a:xfrm>
            <a:off x="6748200" y="3803760"/>
            <a:ext cx="314496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1B7A45"/>
                </a:solidFill>
                <a:effectLst/>
                <a:uFillTx/>
                <a:latin typeface="Aptos"/>
              </a:rPr>
              <a:t>Problem generator</a:t>
            </a:r>
            <a:endParaRPr lang="en-US" sz="1600" b="0" u="none" strike="noStrike">
              <a:solidFill>
                <a:srgbClr val="000000"/>
              </a:solidFill>
              <a:effectLst/>
              <a:uFillTx/>
              <a:latin typeface="Arial"/>
            </a:endParaRPr>
          </a:p>
        </p:txBody>
      </p:sp>
      <p:sp>
        <p:nvSpPr>
          <p:cNvPr id="570" name="Text 20"/>
          <p:cNvSpPr/>
          <p:nvPr/>
        </p:nvSpPr>
        <p:spPr>
          <a:xfrm>
            <a:off x="6748200" y="4133160"/>
            <a:ext cx="3144960" cy="54792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300" b="0" u="none" strike="noStrike">
                <a:solidFill>
                  <a:srgbClr val="0B1F3A"/>
                </a:solidFill>
                <a:effectLst/>
                <a:uFillTx/>
                <a:latin typeface="Aptos"/>
              </a:rPr>
              <a:t>What should I explore next?</a:t>
            </a:r>
            <a:endParaRPr lang="en-US" sz="1300" b="0" u="none" strike="noStrike">
              <a:solidFill>
                <a:srgbClr val="000000"/>
              </a:solidFill>
              <a:effectLst/>
              <a:uFillTx/>
              <a:latin typeface="Arial"/>
            </a:endParaRPr>
          </a:p>
        </p:txBody>
      </p:sp>
      <p:sp>
        <p:nvSpPr>
          <p:cNvPr id="571" name="Text 21"/>
          <p:cNvSpPr/>
          <p:nvPr/>
        </p:nvSpPr>
        <p:spPr>
          <a:xfrm>
            <a:off x="868680" y="5504760"/>
            <a:ext cx="10423440" cy="401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900" b="1" u="none" strike="noStrike">
                <a:solidFill>
                  <a:srgbClr val="0B2B5C"/>
                </a:solidFill>
                <a:effectLst/>
                <a:uFillTx/>
                <a:latin typeface="Aptos"/>
              </a:rPr>
              <a:t>Learning modifies agent components to better match feedback and improve performance.</a:t>
            </a:r>
            <a:endParaRPr lang="en-US" sz="1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6FA"/>
        </a:solidFill>
      </p:bgPr>
    </p:bg>
    <p:spTree>
      <p:nvGrpSpPr>
        <p:cNvPr id="1" name=""/>
        <p:cNvGrpSpPr/>
        <p:nvPr/>
      </p:nvGrpSpPr>
      <p:grpSpPr>
        <a:xfrm>
          <a:off x="0" y="0"/>
          <a:ext cx="0" cy="0"/>
          <a:chOff x="0" y="0"/>
          <a:chExt cx="0" cy="0"/>
        </a:xfrm>
      </p:grpSpPr>
      <p:sp>
        <p:nvSpPr>
          <p:cNvPr id="572" name="Shape 0"/>
          <p:cNvSpPr/>
          <p:nvPr/>
        </p:nvSpPr>
        <p:spPr>
          <a:xfrm>
            <a:off x="0" y="0"/>
            <a:ext cx="12191040" cy="803880"/>
          </a:xfrm>
          <a:prstGeom prst="rect">
            <a:avLst/>
          </a:prstGeom>
          <a:solidFill>
            <a:srgbClr val="0B2B5C"/>
          </a:solidFill>
          <a:ln w="12700">
            <a:solidFill>
              <a:srgbClr val="0B2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73" name="Shape 1"/>
          <p:cNvSpPr/>
          <p:nvPr/>
        </p:nvSpPr>
        <p:spPr>
          <a:xfrm>
            <a:off x="0" y="804600"/>
            <a:ext cx="12191040" cy="72360"/>
          </a:xfrm>
          <a:prstGeom prst="rect">
            <a:avLst/>
          </a:prstGeom>
          <a:solidFill>
            <a:srgbClr val="F5A21B"/>
          </a:solidFill>
          <a:ln w="12700">
            <a:solidFill>
              <a:srgbClr val="F5A21B"/>
            </a:solidFill>
            <a:round/>
          </a:ln>
        </p:spPr>
        <p:style>
          <a:lnRef idx="0"/>
          <a:fillRef idx="0"/>
          <a:effectRef idx="0"/>
          <a:fontRef idx="minor"/>
        </p:style>
        <p:txBody>
          <a:bodyPr lIns="90000" tIns="28080" rIns="90000" bIns="28080" anchor="t">
            <a:noAutofit/>
          </a:bodyPr>
          <a:p>
            <a:endParaRPr lang="en-US" sz="1800" b="0" u="none" strike="noStrike">
              <a:solidFill>
                <a:srgbClr val="000000"/>
              </a:solidFill>
              <a:effectLst/>
              <a:uFillTx/>
              <a:latin typeface="Arial"/>
            </a:endParaRPr>
          </a:p>
        </p:txBody>
      </p:sp>
      <p:sp>
        <p:nvSpPr>
          <p:cNvPr id="574" name="Text 2"/>
          <p:cNvSpPr/>
          <p:nvPr/>
        </p:nvSpPr>
        <p:spPr>
          <a:xfrm>
            <a:off x="475560" y="210240"/>
            <a:ext cx="960048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300" b="1" u="none" strike="noStrike">
                <a:solidFill>
                  <a:srgbClr val="FFFFFF"/>
                </a:solidFill>
                <a:effectLst/>
                <a:uFillTx/>
                <a:latin typeface="Aptos Display"/>
                <a:ea typeface="Aptos Display"/>
              </a:rPr>
              <a:t>2.4.7 Representing the World Inside the Agent</a:t>
            </a:r>
            <a:endParaRPr lang="en-US" sz="2300" b="0" u="none" strike="noStrike">
              <a:solidFill>
                <a:srgbClr val="000000"/>
              </a:solidFill>
              <a:effectLst/>
              <a:uFillTx/>
              <a:latin typeface="Arial"/>
            </a:endParaRPr>
          </a:p>
        </p:txBody>
      </p:sp>
      <p:sp>
        <p:nvSpPr>
          <p:cNvPr id="575" name="Text 3"/>
          <p:cNvSpPr/>
          <p:nvPr/>
        </p:nvSpPr>
        <p:spPr>
          <a:xfrm>
            <a:off x="10241280" y="255960"/>
            <a:ext cx="13708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200" b="0" u="none" strike="noStrike">
                <a:solidFill>
                  <a:srgbClr val="DDE8F2"/>
                </a:solidFill>
                <a:effectLst/>
                <a:uFillTx/>
                <a:latin typeface="Aptos"/>
                <a:ea typeface="Aptos"/>
              </a:rPr>
              <a:t>2.4.7</a:t>
            </a:r>
            <a:endParaRPr lang="en-US" sz="1200" b="0" u="none" strike="noStrike">
              <a:solidFill>
                <a:srgbClr val="000000"/>
              </a:solidFill>
              <a:effectLst/>
              <a:uFillTx/>
              <a:latin typeface="Arial"/>
            </a:endParaRPr>
          </a:p>
        </p:txBody>
      </p:sp>
      <p:sp>
        <p:nvSpPr>
          <p:cNvPr id="576" name="Text 4"/>
          <p:cNvSpPr/>
          <p:nvPr/>
        </p:nvSpPr>
        <p:spPr>
          <a:xfrm>
            <a:off x="475560" y="6565320"/>
            <a:ext cx="274248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577" name="Text 5"/>
          <p:cNvSpPr/>
          <p:nvPr/>
        </p:nvSpPr>
        <p:spPr>
          <a:xfrm>
            <a:off x="11411640" y="6565320"/>
            <a:ext cx="273600" cy="163800"/>
          </a:xfrm>
          <a:prstGeom prst="rect">
            <a:avLst/>
          </a:prstGeom>
          <a:noFill/>
          <a:ln w="0">
            <a:noFill/>
          </a:ln>
        </p:spPr>
        <p:style>
          <a:lnRef idx="0"/>
          <a:fillRef idx="0"/>
          <a:effectRef idx="0"/>
          <a:fontRef idx="minor"/>
        </p:style>
        <p:txBody>
          <a:bodyPr lIns="0" tIns="0" rIns="0" bIns="0" anchor="ctr">
            <a:noAutofit/>
          </a:bodyPr>
          <a:p>
            <a:r>
              <a:t>28</a:t>
            </a:r>
          </a:p>
        </p:txBody>
      </p:sp>
      <p:pic>
        <p:nvPicPr>
          <p:cNvPr id="578" name="Image 0" descr="/mnt/data/ch2_docx_unzipped/word/media/image14.png"/>
          <p:cNvPicPr/>
          <p:nvPr/>
        </p:nvPicPr>
        <p:blipFill>
          <a:blip r:embed="rId1"/>
          <a:stretch/>
        </p:blipFill>
        <p:spPr>
          <a:xfrm>
            <a:off x="228600" y="1088280"/>
            <a:ext cx="5749560" cy="3483360"/>
          </a:xfrm>
          <a:prstGeom prst="rect">
            <a:avLst/>
          </a:prstGeom>
          <a:noFill/>
          <a:ln w="0">
            <a:noFill/>
          </a:ln>
        </p:spPr>
      </p:pic>
      <p:sp>
        <p:nvSpPr>
          <p:cNvPr id="579" name="Shape 6"/>
          <p:cNvSpPr/>
          <p:nvPr/>
        </p:nvSpPr>
        <p:spPr>
          <a:xfrm>
            <a:off x="6583680" y="1188720"/>
            <a:ext cx="1599480" cy="2056680"/>
          </a:xfrm>
          <a:prstGeom prst="roundRect">
            <a:avLst>
              <a:gd name="adj" fmla="val 3429"/>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80" name="Text 7"/>
          <p:cNvSpPr/>
          <p:nvPr/>
        </p:nvSpPr>
        <p:spPr>
          <a:xfrm>
            <a:off x="6748200" y="1334880"/>
            <a:ext cx="127044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2B6CB0"/>
                </a:solidFill>
                <a:effectLst/>
                <a:uFillTx/>
                <a:latin typeface="Aptos"/>
              </a:rPr>
              <a:t>Atomic</a:t>
            </a:r>
            <a:endParaRPr lang="en-US" sz="1500" b="0" u="none" strike="noStrike">
              <a:solidFill>
                <a:srgbClr val="000000"/>
              </a:solidFill>
              <a:effectLst/>
              <a:uFillTx/>
              <a:latin typeface="Arial"/>
            </a:endParaRPr>
          </a:p>
        </p:txBody>
      </p:sp>
      <p:sp>
        <p:nvSpPr>
          <p:cNvPr id="581" name="Text 8"/>
          <p:cNvSpPr/>
          <p:nvPr/>
        </p:nvSpPr>
        <p:spPr>
          <a:xfrm>
            <a:off x="6748200" y="1664280"/>
            <a:ext cx="1270440" cy="146232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080" b="0" u="none" strike="noStrike">
                <a:solidFill>
                  <a:srgbClr val="0B1F3A"/>
                </a:solidFill>
                <a:effectLst/>
                <a:uFillTx/>
                <a:latin typeface="Aptos"/>
              </a:rPr>
              <a:t>State is a black box.</a:t>
            </a:r>
            <a:endParaRPr lang="en-US" sz="1080" b="0" u="none" strike="noStrike">
              <a:solidFill>
                <a:srgbClr val="000000"/>
              </a:solidFill>
              <a:effectLst/>
              <a:uFillTx/>
              <a:latin typeface="Arial"/>
            </a:endParaRPr>
          </a:p>
          <a:p>
            <a:pPr defTabSz="914400">
              <a:lnSpc>
                <a:spcPct val="100000"/>
              </a:lnSpc>
              <a:tabLst>
                <a:tab pos="0" algn="l"/>
              </a:tabLst>
            </a:pPr>
            <a:r>
              <a:rPr lang="en-US" sz="1080" b="0" u="none" strike="noStrike">
                <a:solidFill>
                  <a:srgbClr val="0B1F3A"/>
                </a:solidFill>
                <a:effectLst/>
                <a:uFillTx/>
                <a:latin typeface="Aptos"/>
              </a:rPr>
              <a:t>Example: city name only.</a:t>
            </a:r>
            <a:endParaRPr lang="en-US" sz="1080" b="0" u="none" strike="noStrike">
              <a:solidFill>
                <a:srgbClr val="000000"/>
              </a:solidFill>
              <a:effectLst/>
              <a:uFillTx/>
              <a:latin typeface="Arial"/>
            </a:endParaRPr>
          </a:p>
          <a:p>
            <a:pPr defTabSz="914400">
              <a:lnSpc>
                <a:spcPct val="100000"/>
              </a:lnSpc>
              <a:tabLst>
                <a:tab pos="0" algn="l"/>
              </a:tabLst>
            </a:pPr>
            <a:r>
              <a:rPr lang="en-US" sz="1080" b="0" u="none" strike="noStrike">
                <a:solidFill>
                  <a:srgbClr val="0B1F3A"/>
                </a:solidFill>
                <a:effectLst/>
                <a:uFillTx/>
                <a:latin typeface="Aptos"/>
              </a:rPr>
              <a:t>Used in search, games, HMMs, MDPs.</a:t>
            </a:r>
            <a:endParaRPr lang="en-US" sz="1080" b="0" u="none" strike="noStrike">
              <a:solidFill>
                <a:srgbClr val="000000"/>
              </a:solidFill>
              <a:effectLst/>
              <a:uFillTx/>
              <a:latin typeface="Arial"/>
            </a:endParaRPr>
          </a:p>
        </p:txBody>
      </p:sp>
      <p:sp>
        <p:nvSpPr>
          <p:cNvPr id="582" name="Shape 9"/>
          <p:cNvSpPr/>
          <p:nvPr/>
        </p:nvSpPr>
        <p:spPr>
          <a:xfrm>
            <a:off x="8229600" y="1188720"/>
            <a:ext cx="1782360" cy="2056680"/>
          </a:xfrm>
          <a:prstGeom prst="roundRect">
            <a:avLst>
              <a:gd name="adj" fmla="val 3077"/>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83" name="Text 10"/>
          <p:cNvSpPr/>
          <p:nvPr/>
        </p:nvSpPr>
        <p:spPr>
          <a:xfrm>
            <a:off x="8394120" y="1334880"/>
            <a:ext cx="145332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048A97"/>
                </a:solidFill>
                <a:effectLst/>
                <a:uFillTx/>
                <a:latin typeface="Aptos"/>
              </a:rPr>
              <a:t>Factored</a:t>
            </a:r>
            <a:endParaRPr lang="en-US" sz="1500" b="0" u="none" strike="noStrike">
              <a:solidFill>
                <a:srgbClr val="000000"/>
              </a:solidFill>
              <a:effectLst/>
              <a:uFillTx/>
              <a:latin typeface="Arial"/>
            </a:endParaRPr>
          </a:p>
        </p:txBody>
      </p:sp>
      <p:sp>
        <p:nvSpPr>
          <p:cNvPr id="584" name="Text 11"/>
          <p:cNvSpPr/>
          <p:nvPr/>
        </p:nvSpPr>
        <p:spPr>
          <a:xfrm>
            <a:off x="8394120" y="1664280"/>
            <a:ext cx="1453320" cy="146232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080" b="0" u="none" strike="noStrike">
                <a:solidFill>
                  <a:srgbClr val="0B1F3A"/>
                </a:solidFill>
                <a:effectLst/>
                <a:uFillTx/>
                <a:latin typeface="Aptos"/>
              </a:rPr>
              <a:t>State is a set of variables.</a:t>
            </a:r>
            <a:endParaRPr lang="en-US" sz="1080" b="0" u="none" strike="noStrike">
              <a:solidFill>
                <a:srgbClr val="000000"/>
              </a:solidFill>
              <a:effectLst/>
              <a:uFillTx/>
              <a:latin typeface="Arial"/>
            </a:endParaRPr>
          </a:p>
          <a:p>
            <a:pPr defTabSz="914400">
              <a:lnSpc>
                <a:spcPct val="100000"/>
              </a:lnSpc>
              <a:tabLst>
                <a:tab pos="0" algn="l"/>
              </a:tabLst>
            </a:pPr>
            <a:r>
              <a:rPr lang="en-US" sz="1080" b="0" u="none" strike="noStrike">
                <a:solidFill>
                  <a:srgbClr val="0B1F3A"/>
                </a:solidFill>
                <a:effectLst/>
                <a:uFillTx/>
                <a:latin typeface="Aptos"/>
              </a:rPr>
              <a:t>Example: location, fuel, speed, weather.</a:t>
            </a:r>
            <a:endParaRPr lang="en-US" sz="1080" b="0" u="none" strike="noStrike">
              <a:solidFill>
                <a:srgbClr val="000000"/>
              </a:solidFill>
              <a:effectLst/>
              <a:uFillTx/>
              <a:latin typeface="Arial"/>
            </a:endParaRPr>
          </a:p>
          <a:p>
            <a:pPr defTabSz="914400">
              <a:lnSpc>
                <a:spcPct val="100000"/>
              </a:lnSpc>
              <a:tabLst>
                <a:tab pos="0" algn="l"/>
              </a:tabLst>
            </a:pPr>
            <a:r>
              <a:rPr lang="en-US" sz="1080" b="0" u="none" strike="noStrike">
                <a:solidFill>
                  <a:srgbClr val="0B1F3A"/>
                </a:solidFill>
                <a:effectLst/>
                <a:uFillTx/>
                <a:latin typeface="Aptos"/>
              </a:rPr>
              <a:t>Used in CSPs, logic, Bayes nets, planning.</a:t>
            </a:r>
            <a:endParaRPr lang="en-US" sz="1080" b="0" u="none" strike="noStrike">
              <a:solidFill>
                <a:srgbClr val="000000"/>
              </a:solidFill>
              <a:effectLst/>
              <a:uFillTx/>
              <a:latin typeface="Arial"/>
            </a:endParaRPr>
          </a:p>
        </p:txBody>
      </p:sp>
      <p:sp>
        <p:nvSpPr>
          <p:cNvPr id="585" name="Shape 12"/>
          <p:cNvSpPr/>
          <p:nvPr/>
        </p:nvSpPr>
        <p:spPr>
          <a:xfrm>
            <a:off x="10058400" y="1188720"/>
            <a:ext cx="1690920" cy="2056680"/>
          </a:xfrm>
          <a:prstGeom prst="roundRect">
            <a:avLst>
              <a:gd name="adj" fmla="val 3243"/>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86" name="Text 13"/>
          <p:cNvSpPr/>
          <p:nvPr/>
        </p:nvSpPr>
        <p:spPr>
          <a:xfrm>
            <a:off x="10222920" y="1334880"/>
            <a:ext cx="136188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5B35B1"/>
                </a:solidFill>
                <a:effectLst/>
                <a:uFillTx/>
                <a:latin typeface="Aptos"/>
              </a:rPr>
              <a:t>Structured</a:t>
            </a:r>
            <a:endParaRPr lang="en-US" sz="1500" b="0" u="none" strike="noStrike">
              <a:solidFill>
                <a:srgbClr val="000000"/>
              </a:solidFill>
              <a:effectLst/>
              <a:uFillTx/>
              <a:latin typeface="Arial"/>
            </a:endParaRPr>
          </a:p>
        </p:txBody>
      </p:sp>
      <p:sp>
        <p:nvSpPr>
          <p:cNvPr id="587" name="Text 14"/>
          <p:cNvSpPr/>
          <p:nvPr/>
        </p:nvSpPr>
        <p:spPr>
          <a:xfrm>
            <a:off x="10222920" y="1664280"/>
            <a:ext cx="1361880" cy="146232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080" b="0" u="none" strike="noStrike">
                <a:solidFill>
                  <a:srgbClr val="0B1F3A"/>
                </a:solidFill>
                <a:effectLst/>
                <a:uFillTx/>
                <a:latin typeface="Aptos"/>
              </a:rPr>
              <a:t>Objects plus relations.</a:t>
            </a:r>
            <a:endParaRPr lang="en-US" sz="1080" b="0" u="none" strike="noStrike">
              <a:solidFill>
                <a:srgbClr val="000000"/>
              </a:solidFill>
              <a:effectLst/>
              <a:uFillTx/>
              <a:latin typeface="Arial"/>
            </a:endParaRPr>
          </a:p>
          <a:p>
            <a:pPr defTabSz="914400">
              <a:lnSpc>
                <a:spcPct val="100000"/>
              </a:lnSpc>
              <a:tabLst>
                <a:tab pos="0" algn="l"/>
              </a:tabLst>
            </a:pPr>
            <a:r>
              <a:rPr lang="en-US" sz="1080" b="0" u="none" strike="noStrike">
                <a:solidFill>
                  <a:srgbClr val="0B1F3A"/>
                </a:solidFill>
                <a:effectLst/>
                <a:uFillTx/>
                <a:latin typeface="Aptos"/>
              </a:rPr>
              <a:t>Example: truck blocking cow near driveway.</a:t>
            </a:r>
            <a:endParaRPr lang="en-US" sz="1080" b="0" u="none" strike="noStrike">
              <a:solidFill>
                <a:srgbClr val="000000"/>
              </a:solidFill>
              <a:effectLst/>
              <a:uFillTx/>
              <a:latin typeface="Arial"/>
            </a:endParaRPr>
          </a:p>
          <a:p>
            <a:pPr defTabSz="914400">
              <a:lnSpc>
                <a:spcPct val="100000"/>
              </a:lnSpc>
              <a:tabLst>
                <a:tab pos="0" algn="l"/>
              </a:tabLst>
            </a:pPr>
            <a:r>
              <a:rPr lang="en-US" sz="1080" b="0" u="none" strike="noStrike">
                <a:solidFill>
                  <a:srgbClr val="0B1F3A"/>
                </a:solidFill>
                <a:effectLst/>
                <a:uFillTx/>
                <a:latin typeface="Aptos"/>
              </a:rPr>
              <a:t>Used in first-order logic, databases, language.</a:t>
            </a:r>
            <a:endParaRPr lang="en-US" sz="1080" b="0" u="none" strike="noStrike">
              <a:solidFill>
                <a:srgbClr val="000000"/>
              </a:solidFill>
              <a:effectLst/>
              <a:uFillTx/>
              <a:latin typeface="Arial"/>
            </a:endParaRPr>
          </a:p>
        </p:txBody>
      </p:sp>
      <p:sp>
        <p:nvSpPr>
          <p:cNvPr id="588" name="Shape 15"/>
          <p:cNvSpPr/>
          <p:nvPr/>
        </p:nvSpPr>
        <p:spPr>
          <a:xfrm>
            <a:off x="1097280" y="4846320"/>
            <a:ext cx="9875520" cy="360"/>
          </a:xfrm>
          <a:prstGeom prst="line">
            <a:avLst/>
          </a:prstGeom>
          <a:ln w="25400">
            <a:solidFill>
              <a:srgbClr val="F5A21B"/>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589" name="Text 16"/>
          <p:cNvSpPr/>
          <p:nvPr/>
        </p:nvSpPr>
        <p:spPr>
          <a:xfrm>
            <a:off x="1097280" y="5010840"/>
            <a:ext cx="319968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5E7088"/>
                </a:solidFill>
                <a:effectLst/>
                <a:uFillTx/>
                <a:latin typeface="Aptos"/>
              </a:rPr>
              <a:t>less expressive, easier reasoning</a:t>
            </a:r>
            <a:endParaRPr lang="en-US" sz="1200" b="0" u="none" strike="noStrike">
              <a:solidFill>
                <a:srgbClr val="000000"/>
              </a:solidFill>
              <a:effectLst/>
              <a:uFillTx/>
              <a:latin typeface="Arial"/>
            </a:endParaRPr>
          </a:p>
        </p:txBody>
      </p:sp>
      <p:sp>
        <p:nvSpPr>
          <p:cNvPr id="590" name="Text 17"/>
          <p:cNvSpPr/>
          <p:nvPr/>
        </p:nvSpPr>
        <p:spPr>
          <a:xfrm>
            <a:off x="7818120" y="5010840"/>
            <a:ext cx="3199680" cy="227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200" b="0" u="none" strike="noStrike">
                <a:solidFill>
                  <a:srgbClr val="5E7088"/>
                </a:solidFill>
                <a:effectLst/>
                <a:uFillTx/>
                <a:latin typeface="Aptos"/>
              </a:rPr>
              <a:t>more expressive, harder reasoning</a:t>
            </a:r>
            <a:endParaRPr lang="en-US" sz="1200" b="0" u="none" strike="noStrike">
              <a:solidFill>
                <a:srgbClr val="000000"/>
              </a:solidFill>
              <a:effectLst/>
              <a:uFillTx/>
              <a:latin typeface="Arial"/>
            </a:endParaRPr>
          </a:p>
        </p:txBody>
      </p:sp>
      <p:sp>
        <p:nvSpPr>
          <p:cNvPr id="591" name="Text 18"/>
          <p:cNvSpPr/>
          <p:nvPr/>
        </p:nvSpPr>
        <p:spPr>
          <a:xfrm>
            <a:off x="822960" y="5632560"/>
            <a:ext cx="10606320" cy="328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50" b="1" u="none" strike="noStrike">
                <a:solidFill>
                  <a:srgbClr val="0B2B5C"/>
                </a:solidFill>
                <a:effectLst/>
                <a:uFillTx/>
                <a:latin typeface="Aptos"/>
              </a:rPr>
              <a:t>Design choice: enough expressive power for the task, but not more than the agent can reason with efficiently.</a:t>
            </a:r>
            <a:endParaRPr lang="en-US" sz="1650" b="0" u="none" strike="noStrike">
              <a:solidFill>
                <a:srgbClr val="000000"/>
              </a:solidFill>
              <a:effectLst/>
              <a:uFillTx/>
              <a:latin typeface="Arial"/>
            </a:endParaRPr>
          </a:p>
        </p:txBody>
      </p:sp>
      <p:sp>
        <p:nvSpPr>
          <p:cNvPr id="592" name="Text 19"/>
          <p:cNvSpPr/>
          <p:nvPr/>
        </p:nvSpPr>
        <p:spPr>
          <a:xfrm>
            <a:off x="9326880" y="6364080"/>
            <a:ext cx="2376720" cy="163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750" b="0" u="none" strike="noStrike">
                <a:solidFill>
                  <a:srgbClr val="5E7088"/>
                </a:solidFill>
                <a:effectLst/>
                <a:uFillTx/>
                <a:latin typeface="Aptos"/>
              </a:rPr>
              <a:t>Figure 2.16</a:t>
            </a:r>
            <a:endParaRPr lang="en-US" sz="7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6FA"/>
        </a:solidFill>
      </p:bgPr>
    </p:bg>
    <p:spTree>
      <p:nvGrpSpPr>
        <p:cNvPr id="1" name=""/>
        <p:cNvGrpSpPr/>
        <p:nvPr/>
      </p:nvGrpSpPr>
      <p:grpSpPr>
        <a:xfrm>
          <a:off x="0" y="0"/>
          <a:ext cx="0" cy="0"/>
          <a:chOff x="0" y="0"/>
          <a:chExt cx="0" cy="0"/>
        </a:xfrm>
      </p:grpSpPr>
      <p:sp>
        <p:nvSpPr>
          <p:cNvPr id="593" name="Shape 0"/>
          <p:cNvSpPr/>
          <p:nvPr/>
        </p:nvSpPr>
        <p:spPr>
          <a:xfrm>
            <a:off x="0" y="0"/>
            <a:ext cx="12191040" cy="803880"/>
          </a:xfrm>
          <a:prstGeom prst="rect">
            <a:avLst/>
          </a:prstGeom>
          <a:solidFill>
            <a:srgbClr val="0B2B5C"/>
          </a:solidFill>
          <a:ln w="12700">
            <a:solidFill>
              <a:srgbClr val="0B2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94" name="Shape 1"/>
          <p:cNvSpPr/>
          <p:nvPr/>
        </p:nvSpPr>
        <p:spPr>
          <a:xfrm>
            <a:off x="0" y="804600"/>
            <a:ext cx="12191040" cy="72360"/>
          </a:xfrm>
          <a:prstGeom prst="rect">
            <a:avLst/>
          </a:prstGeom>
          <a:solidFill>
            <a:srgbClr val="F5A21B"/>
          </a:solidFill>
          <a:ln w="12700">
            <a:solidFill>
              <a:srgbClr val="F5A21B"/>
            </a:solidFill>
            <a:round/>
          </a:ln>
        </p:spPr>
        <p:style>
          <a:lnRef idx="0"/>
          <a:fillRef idx="0"/>
          <a:effectRef idx="0"/>
          <a:fontRef idx="minor"/>
        </p:style>
        <p:txBody>
          <a:bodyPr lIns="90000" tIns="28080" rIns="90000" bIns="28080" anchor="t">
            <a:noAutofit/>
          </a:bodyPr>
          <a:p>
            <a:endParaRPr lang="en-US" sz="1800" b="0" u="none" strike="noStrike">
              <a:solidFill>
                <a:srgbClr val="000000"/>
              </a:solidFill>
              <a:effectLst/>
              <a:uFillTx/>
              <a:latin typeface="Arial"/>
            </a:endParaRPr>
          </a:p>
        </p:txBody>
      </p:sp>
      <p:sp>
        <p:nvSpPr>
          <p:cNvPr id="595" name="Text 2"/>
          <p:cNvSpPr/>
          <p:nvPr/>
        </p:nvSpPr>
        <p:spPr>
          <a:xfrm>
            <a:off x="475560" y="210240"/>
            <a:ext cx="960048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300" b="1" u="none" strike="noStrike">
                <a:solidFill>
                  <a:srgbClr val="FFFFFF"/>
                </a:solidFill>
                <a:effectLst/>
                <a:uFillTx/>
                <a:latin typeface="Aptos Display"/>
                <a:ea typeface="Aptos Display"/>
              </a:rPr>
              <a:t>All Agent Program Designs in Chapter 2</a:t>
            </a:r>
            <a:endParaRPr lang="en-US" sz="2300" b="0" u="none" strike="noStrike">
              <a:solidFill>
                <a:srgbClr val="000000"/>
              </a:solidFill>
              <a:effectLst/>
              <a:uFillTx/>
              <a:latin typeface="Arial"/>
            </a:endParaRPr>
          </a:p>
        </p:txBody>
      </p:sp>
      <p:sp>
        <p:nvSpPr>
          <p:cNvPr id="596" name="Text 3"/>
          <p:cNvSpPr/>
          <p:nvPr/>
        </p:nvSpPr>
        <p:spPr>
          <a:xfrm>
            <a:off x="10241280" y="255960"/>
            <a:ext cx="13708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200" b="0" u="none" strike="noStrike">
                <a:solidFill>
                  <a:srgbClr val="DDE8F2"/>
                </a:solidFill>
                <a:effectLst/>
                <a:uFillTx/>
                <a:latin typeface="Aptos"/>
                <a:ea typeface="Aptos"/>
              </a:rPr>
              <a:t>Synthesis</a:t>
            </a:r>
            <a:endParaRPr lang="en-US" sz="1200" b="0" u="none" strike="noStrike">
              <a:solidFill>
                <a:srgbClr val="000000"/>
              </a:solidFill>
              <a:effectLst/>
              <a:uFillTx/>
              <a:latin typeface="Arial"/>
            </a:endParaRPr>
          </a:p>
        </p:txBody>
      </p:sp>
      <p:sp>
        <p:nvSpPr>
          <p:cNvPr id="597" name="Text 4"/>
          <p:cNvSpPr/>
          <p:nvPr/>
        </p:nvSpPr>
        <p:spPr>
          <a:xfrm>
            <a:off x="475560" y="6565320"/>
            <a:ext cx="274248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598" name="Text 5"/>
          <p:cNvSpPr/>
          <p:nvPr/>
        </p:nvSpPr>
        <p:spPr>
          <a:xfrm>
            <a:off x="11411640" y="6565320"/>
            <a:ext cx="273600" cy="163800"/>
          </a:xfrm>
          <a:prstGeom prst="rect">
            <a:avLst/>
          </a:prstGeom>
          <a:noFill/>
          <a:ln w="0">
            <a:noFill/>
          </a:ln>
        </p:spPr>
        <p:style>
          <a:lnRef idx="0"/>
          <a:fillRef idx="0"/>
          <a:effectRef idx="0"/>
          <a:fontRef idx="minor"/>
        </p:style>
        <p:txBody>
          <a:bodyPr lIns="0" tIns="0" rIns="0" bIns="0" anchor="ctr">
            <a:noAutofit/>
          </a:bodyPr>
          <a:p>
            <a:r>
              <a:t>29</a:t>
            </a:r>
          </a:p>
        </p:txBody>
      </p:sp>
      <p:sp>
        <p:nvSpPr>
          <p:cNvPr id="599" name="Shape 6"/>
          <p:cNvSpPr/>
          <p:nvPr/>
        </p:nvSpPr>
        <p:spPr>
          <a:xfrm>
            <a:off x="502920" y="1143000"/>
            <a:ext cx="3474000" cy="1416600"/>
          </a:xfrm>
          <a:prstGeom prst="roundRect">
            <a:avLst>
              <a:gd name="adj" fmla="val 3871"/>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00" name="Text 7"/>
          <p:cNvSpPr/>
          <p:nvPr/>
        </p:nvSpPr>
        <p:spPr>
          <a:xfrm>
            <a:off x="667440" y="1289160"/>
            <a:ext cx="314496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A32020"/>
                </a:solidFill>
                <a:effectLst/>
                <a:uFillTx/>
                <a:latin typeface="Aptos"/>
              </a:rPr>
              <a:t>Table-driven</a:t>
            </a:r>
            <a:endParaRPr lang="en-US" sz="1800" b="0" u="none" strike="noStrike">
              <a:solidFill>
                <a:srgbClr val="000000"/>
              </a:solidFill>
              <a:effectLst/>
              <a:uFillTx/>
              <a:latin typeface="Arial"/>
            </a:endParaRPr>
          </a:p>
        </p:txBody>
      </p:sp>
      <p:sp>
        <p:nvSpPr>
          <p:cNvPr id="601" name="Text 8"/>
          <p:cNvSpPr/>
          <p:nvPr/>
        </p:nvSpPr>
        <p:spPr>
          <a:xfrm>
            <a:off x="667440" y="1618560"/>
            <a:ext cx="3144960" cy="82224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300" b="0" u="none" strike="noStrike">
                <a:solidFill>
                  <a:srgbClr val="0B1F3A"/>
                </a:solidFill>
                <a:effectLst/>
                <a:uFillTx/>
                <a:latin typeface="Aptos"/>
              </a:rPr>
              <a:t>Stores percept history and looks up an action in a table.</a:t>
            </a:r>
            <a:endParaRPr lang="en-US" sz="1300" b="0" u="none" strike="noStrike">
              <a:solidFill>
                <a:srgbClr val="000000"/>
              </a:solidFill>
              <a:effectLst/>
              <a:uFillTx/>
              <a:latin typeface="Arial"/>
            </a:endParaRPr>
          </a:p>
        </p:txBody>
      </p:sp>
      <p:sp>
        <p:nvSpPr>
          <p:cNvPr id="602" name="Shape 9"/>
          <p:cNvSpPr/>
          <p:nvPr/>
        </p:nvSpPr>
        <p:spPr>
          <a:xfrm>
            <a:off x="4389120" y="1143000"/>
            <a:ext cx="3474000" cy="1416600"/>
          </a:xfrm>
          <a:prstGeom prst="roundRect">
            <a:avLst>
              <a:gd name="adj" fmla="val 3871"/>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03" name="Text 10"/>
          <p:cNvSpPr/>
          <p:nvPr/>
        </p:nvSpPr>
        <p:spPr>
          <a:xfrm>
            <a:off x="4553640" y="1289160"/>
            <a:ext cx="314496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2B6CB0"/>
                </a:solidFill>
                <a:effectLst/>
                <a:uFillTx/>
                <a:latin typeface="Aptos"/>
              </a:rPr>
              <a:t>Simple reflex</a:t>
            </a:r>
            <a:endParaRPr lang="en-US" sz="1800" b="0" u="none" strike="noStrike">
              <a:solidFill>
                <a:srgbClr val="000000"/>
              </a:solidFill>
              <a:effectLst/>
              <a:uFillTx/>
              <a:latin typeface="Arial"/>
            </a:endParaRPr>
          </a:p>
        </p:txBody>
      </p:sp>
      <p:sp>
        <p:nvSpPr>
          <p:cNvPr id="604" name="Text 11"/>
          <p:cNvSpPr/>
          <p:nvPr/>
        </p:nvSpPr>
        <p:spPr>
          <a:xfrm>
            <a:off x="4553640" y="1618560"/>
            <a:ext cx="3144960" cy="82224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300" b="0" u="none" strike="noStrike">
                <a:solidFill>
                  <a:srgbClr val="0B1F3A"/>
                </a:solidFill>
                <a:effectLst/>
                <a:uFillTx/>
                <a:latin typeface="Aptos"/>
              </a:rPr>
              <a:t>Maps current percept to action using condition-action rules.</a:t>
            </a:r>
            <a:endParaRPr lang="en-US" sz="1300" b="0" u="none" strike="noStrike">
              <a:solidFill>
                <a:srgbClr val="000000"/>
              </a:solidFill>
              <a:effectLst/>
              <a:uFillTx/>
              <a:latin typeface="Arial"/>
            </a:endParaRPr>
          </a:p>
        </p:txBody>
      </p:sp>
      <p:sp>
        <p:nvSpPr>
          <p:cNvPr id="605" name="Shape 12"/>
          <p:cNvSpPr/>
          <p:nvPr/>
        </p:nvSpPr>
        <p:spPr>
          <a:xfrm>
            <a:off x="8275320" y="1143000"/>
            <a:ext cx="3474000" cy="1416600"/>
          </a:xfrm>
          <a:prstGeom prst="roundRect">
            <a:avLst>
              <a:gd name="adj" fmla="val 3871"/>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06" name="Text 13"/>
          <p:cNvSpPr/>
          <p:nvPr/>
        </p:nvSpPr>
        <p:spPr>
          <a:xfrm>
            <a:off x="8439840" y="1289160"/>
            <a:ext cx="314496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048A97"/>
                </a:solidFill>
                <a:effectLst/>
                <a:uFillTx/>
                <a:latin typeface="Aptos"/>
              </a:rPr>
              <a:t>Model-based reflex</a:t>
            </a:r>
            <a:endParaRPr lang="en-US" sz="1800" b="0" u="none" strike="noStrike">
              <a:solidFill>
                <a:srgbClr val="000000"/>
              </a:solidFill>
              <a:effectLst/>
              <a:uFillTx/>
              <a:latin typeface="Arial"/>
            </a:endParaRPr>
          </a:p>
        </p:txBody>
      </p:sp>
      <p:sp>
        <p:nvSpPr>
          <p:cNvPr id="607" name="Text 14"/>
          <p:cNvSpPr/>
          <p:nvPr/>
        </p:nvSpPr>
        <p:spPr>
          <a:xfrm>
            <a:off x="8439840" y="1618560"/>
            <a:ext cx="3144960" cy="82224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300" b="0" u="none" strike="noStrike">
                <a:solidFill>
                  <a:srgbClr val="0B1F3A"/>
                </a:solidFill>
                <a:effectLst/>
                <a:uFillTx/>
                <a:latin typeface="Aptos"/>
              </a:rPr>
              <a:t>Maintains internal state using transition and sensor models.</a:t>
            </a:r>
            <a:endParaRPr lang="en-US" sz="1300" b="0" u="none" strike="noStrike">
              <a:solidFill>
                <a:srgbClr val="000000"/>
              </a:solidFill>
              <a:effectLst/>
              <a:uFillTx/>
              <a:latin typeface="Arial"/>
            </a:endParaRPr>
          </a:p>
        </p:txBody>
      </p:sp>
      <p:sp>
        <p:nvSpPr>
          <p:cNvPr id="608" name="Shape 15"/>
          <p:cNvSpPr/>
          <p:nvPr/>
        </p:nvSpPr>
        <p:spPr>
          <a:xfrm>
            <a:off x="502920" y="3017520"/>
            <a:ext cx="3474000" cy="1416600"/>
          </a:xfrm>
          <a:prstGeom prst="roundRect">
            <a:avLst>
              <a:gd name="adj" fmla="val 3871"/>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09" name="Text 16"/>
          <p:cNvSpPr/>
          <p:nvPr/>
        </p:nvSpPr>
        <p:spPr>
          <a:xfrm>
            <a:off x="667440" y="3163680"/>
            <a:ext cx="314496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F5A21B"/>
                </a:solidFill>
                <a:effectLst/>
                <a:uFillTx/>
                <a:latin typeface="Aptos"/>
              </a:rPr>
              <a:t>Goal-based</a:t>
            </a:r>
            <a:endParaRPr lang="en-US" sz="1800" b="0" u="none" strike="noStrike">
              <a:solidFill>
                <a:srgbClr val="000000"/>
              </a:solidFill>
              <a:effectLst/>
              <a:uFillTx/>
              <a:latin typeface="Arial"/>
            </a:endParaRPr>
          </a:p>
        </p:txBody>
      </p:sp>
      <p:sp>
        <p:nvSpPr>
          <p:cNvPr id="610" name="Text 17"/>
          <p:cNvSpPr/>
          <p:nvPr/>
        </p:nvSpPr>
        <p:spPr>
          <a:xfrm>
            <a:off x="667440" y="3493080"/>
            <a:ext cx="3144960" cy="82224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300" b="0" u="none" strike="noStrike">
                <a:solidFill>
                  <a:srgbClr val="0B1F3A"/>
                </a:solidFill>
                <a:effectLst/>
                <a:uFillTx/>
                <a:latin typeface="Aptos"/>
              </a:rPr>
              <a:t>Chooses actions by reasoning toward goals.</a:t>
            </a:r>
            <a:endParaRPr lang="en-US" sz="1300" b="0" u="none" strike="noStrike">
              <a:solidFill>
                <a:srgbClr val="000000"/>
              </a:solidFill>
              <a:effectLst/>
              <a:uFillTx/>
              <a:latin typeface="Arial"/>
            </a:endParaRPr>
          </a:p>
        </p:txBody>
      </p:sp>
      <p:sp>
        <p:nvSpPr>
          <p:cNvPr id="611" name="Shape 18"/>
          <p:cNvSpPr/>
          <p:nvPr/>
        </p:nvSpPr>
        <p:spPr>
          <a:xfrm>
            <a:off x="4389120" y="3017520"/>
            <a:ext cx="3474000" cy="1416600"/>
          </a:xfrm>
          <a:prstGeom prst="roundRect">
            <a:avLst>
              <a:gd name="adj" fmla="val 3871"/>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12" name="Text 19"/>
          <p:cNvSpPr/>
          <p:nvPr/>
        </p:nvSpPr>
        <p:spPr>
          <a:xfrm>
            <a:off x="4553640" y="3163680"/>
            <a:ext cx="314496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5B35B1"/>
                </a:solidFill>
                <a:effectLst/>
                <a:uFillTx/>
                <a:latin typeface="Aptos"/>
              </a:rPr>
              <a:t>Utility-based</a:t>
            </a:r>
            <a:endParaRPr lang="en-US" sz="1800" b="0" u="none" strike="noStrike">
              <a:solidFill>
                <a:srgbClr val="000000"/>
              </a:solidFill>
              <a:effectLst/>
              <a:uFillTx/>
              <a:latin typeface="Arial"/>
            </a:endParaRPr>
          </a:p>
        </p:txBody>
      </p:sp>
      <p:sp>
        <p:nvSpPr>
          <p:cNvPr id="613" name="Text 20"/>
          <p:cNvSpPr/>
          <p:nvPr/>
        </p:nvSpPr>
        <p:spPr>
          <a:xfrm>
            <a:off x="4553640" y="3493080"/>
            <a:ext cx="3144960" cy="82224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300" b="0" u="none" strike="noStrike">
                <a:solidFill>
                  <a:srgbClr val="0B1F3A"/>
                </a:solidFill>
                <a:effectLst/>
                <a:uFillTx/>
                <a:latin typeface="Aptos"/>
              </a:rPr>
              <a:t>Ranks outcomes and maximizes expected utility.</a:t>
            </a:r>
            <a:endParaRPr lang="en-US" sz="1300" b="0" u="none" strike="noStrike">
              <a:solidFill>
                <a:srgbClr val="000000"/>
              </a:solidFill>
              <a:effectLst/>
              <a:uFillTx/>
              <a:latin typeface="Arial"/>
            </a:endParaRPr>
          </a:p>
        </p:txBody>
      </p:sp>
      <p:sp>
        <p:nvSpPr>
          <p:cNvPr id="614" name="Shape 21"/>
          <p:cNvSpPr/>
          <p:nvPr/>
        </p:nvSpPr>
        <p:spPr>
          <a:xfrm>
            <a:off x="8275320" y="3017520"/>
            <a:ext cx="3474000" cy="1416600"/>
          </a:xfrm>
          <a:prstGeom prst="roundRect">
            <a:avLst>
              <a:gd name="adj" fmla="val 3871"/>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15" name="Text 22"/>
          <p:cNvSpPr/>
          <p:nvPr/>
        </p:nvSpPr>
        <p:spPr>
          <a:xfrm>
            <a:off x="8439840" y="3163680"/>
            <a:ext cx="314496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1B7A45"/>
                </a:solidFill>
                <a:effectLst/>
                <a:uFillTx/>
                <a:latin typeface="Aptos"/>
              </a:rPr>
              <a:t>Learning</a:t>
            </a:r>
            <a:endParaRPr lang="en-US" sz="1800" b="0" u="none" strike="noStrike">
              <a:solidFill>
                <a:srgbClr val="000000"/>
              </a:solidFill>
              <a:effectLst/>
              <a:uFillTx/>
              <a:latin typeface="Arial"/>
            </a:endParaRPr>
          </a:p>
        </p:txBody>
      </p:sp>
      <p:sp>
        <p:nvSpPr>
          <p:cNvPr id="616" name="Text 23"/>
          <p:cNvSpPr/>
          <p:nvPr/>
        </p:nvSpPr>
        <p:spPr>
          <a:xfrm>
            <a:off x="8439840" y="3493080"/>
            <a:ext cx="3144960" cy="82224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300" b="0" u="none" strike="noStrike">
                <a:solidFill>
                  <a:srgbClr val="0B1F3A"/>
                </a:solidFill>
                <a:effectLst/>
                <a:uFillTx/>
                <a:latin typeface="Aptos"/>
              </a:rPr>
              <a:t>Improves components from feedback and experience.</a:t>
            </a:r>
            <a:endParaRPr lang="en-US" sz="1300" b="0" u="none" strike="noStrike">
              <a:solidFill>
                <a:srgbClr val="000000"/>
              </a:solidFill>
              <a:effectLst/>
              <a:uFillTx/>
              <a:latin typeface="Arial"/>
            </a:endParaRPr>
          </a:p>
        </p:txBody>
      </p:sp>
      <p:sp>
        <p:nvSpPr>
          <p:cNvPr id="617" name="Text 24"/>
          <p:cNvSpPr/>
          <p:nvPr/>
        </p:nvSpPr>
        <p:spPr>
          <a:xfrm>
            <a:off x="731520" y="5532120"/>
            <a:ext cx="10789200" cy="346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0B2B5C"/>
                </a:solidFill>
                <a:effectLst/>
                <a:uFillTx/>
                <a:latin typeface="Aptos"/>
              </a:rPr>
              <a:t>These are design patterns, not rigid boxes. Real systems often combine them.</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6FA"/>
        </a:solidFill>
      </p:bgPr>
    </p:bg>
    <p:spTree>
      <p:nvGrpSpPr>
        <p:cNvPr id="1" name=""/>
        <p:cNvGrpSpPr/>
        <p:nvPr/>
      </p:nvGrpSpPr>
      <p:grpSpPr>
        <a:xfrm>
          <a:off x="0" y="0"/>
          <a:ext cx="0" cy="0"/>
          <a:chOff x="0" y="0"/>
          <a:chExt cx="0" cy="0"/>
        </a:xfrm>
      </p:grpSpPr>
      <p:sp>
        <p:nvSpPr>
          <p:cNvPr id="618" name="Shape 0"/>
          <p:cNvSpPr/>
          <p:nvPr/>
        </p:nvSpPr>
        <p:spPr>
          <a:xfrm>
            <a:off x="0" y="0"/>
            <a:ext cx="12191040" cy="803880"/>
          </a:xfrm>
          <a:prstGeom prst="rect">
            <a:avLst/>
          </a:prstGeom>
          <a:solidFill>
            <a:srgbClr val="0B2B5C"/>
          </a:solidFill>
          <a:ln w="12700">
            <a:solidFill>
              <a:srgbClr val="0B2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19" name="Shape 1"/>
          <p:cNvSpPr/>
          <p:nvPr/>
        </p:nvSpPr>
        <p:spPr>
          <a:xfrm>
            <a:off x="0" y="804600"/>
            <a:ext cx="12191040" cy="72360"/>
          </a:xfrm>
          <a:prstGeom prst="rect">
            <a:avLst/>
          </a:prstGeom>
          <a:solidFill>
            <a:srgbClr val="F5A21B"/>
          </a:solidFill>
          <a:ln w="12700">
            <a:solidFill>
              <a:srgbClr val="F5A21B"/>
            </a:solidFill>
            <a:round/>
          </a:ln>
        </p:spPr>
        <p:style>
          <a:lnRef idx="0"/>
          <a:fillRef idx="0"/>
          <a:effectRef idx="0"/>
          <a:fontRef idx="minor"/>
        </p:style>
        <p:txBody>
          <a:bodyPr lIns="90000" tIns="28080" rIns="90000" bIns="28080" anchor="t">
            <a:noAutofit/>
          </a:bodyPr>
          <a:p>
            <a:endParaRPr lang="en-US" sz="1800" b="0" u="none" strike="noStrike">
              <a:solidFill>
                <a:srgbClr val="000000"/>
              </a:solidFill>
              <a:effectLst/>
              <a:uFillTx/>
              <a:latin typeface="Arial"/>
            </a:endParaRPr>
          </a:p>
        </p:txBody>
      </p:sp>
      <p:sp>
        <p:nvSpPr>
          <p:cNvPr id="620" name="Text 2"/>
          <p:cNvSpPr/>
          <p:nvPr/>
        </p:nvSpPr>
        <p:spPr>
          <a:xfrm>
            <a:off x="475560" y="210240"/>
            <a:ext cx="960048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300" b="1" u="none" strike="noStrike">
                <a:solidFill>
                  <a:srgbClr val="FFFFFF"/>
                </a:solidFill>
                <a:effectLst/>
                <a:uFillTx/>
                <a:latin typeface="Aptos Display"/>
                <a:ea typeface="Aptos Display"/>
              </a:rPr>
              <a:t>Choosing an Agent Design from Environment Properties</a:t>
            </a:r>
            <a:endParaRPr lang="en-US" sz="2300" b="0" u="none" strike="noStrike">
              <a:solidFill>
                <a:srgbClr val="000000"/>
              </a:solidFill>
              <a:effectLst/>
              <a:uFillTx/>
              <a:latin typeface="Arial"/>
            </a:endParaRPr>
          </a:p>
        </p:txBody>
      </p:sp>
      <p:sp>
        <p:nvSpPr>
          <p:cNvPr id="621" name="Text 3"/>
          <p:cNvSpPr/>
          <p:nvPr/>
        </p:nvSpPr>
        <p:spPr>
          <a:xfrm>
            <a:off x="10241280" y="255960"/>
            <a:ext cx="13708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200" b="0" u="none" strike="noStrike">
                <a:solidFill>
                  <a:srgbClr val="DDE8F2"/>
                </a:solidFill>
                <a:effectLst/>
                <a:uFillTx/>
                <a:latin typeface="Aptos"/>
                <a:ea typeface="Aptos"/>
              </a:rPr>
              <a:t>Synthesis</a:t>
            </a:r>
            <a:endParaRPr lang="en-US" sz="1200" b="0" u="none" strike="noStrike">
              <a:solidFill>
                <a:srgbClr val="000000"/>
              </a:solidFill>
              <a:effectLst/>
              <a:uFillTx/>
              <a:latin typeface="Arial"/>
            </a:endParaRPr>
          </a:p>
        </p:txBody>
      </p:sp>
      <p:sp>
        <p:nvSpPr>
          <p:cNvPr id="622" name="Text 4"/>
          <p:cNvSpPr/>
          <p:nvPr/>
        </p:nvSpPr>
        <p:spPr>
          <a:xfrm>
            <a:off x="475560" y="6565320"/>
            <a:ext cx="274248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623" name="Text 5"/>
          <p:cNvSpPr/>
          <p:nvPr/>
        </p:nvSpPr>
        <p:spPr>
          <a:xfrm>
            <a:off x="11411640" y="6565320"/>
            <a:ext cx="273600" cy="163800"/>
          </a:xfrm>
          <a:prstGeom prst="rect">
            <a:avLst/>
          </a:prstGeom>
          <a:noFill/>
          <a:ln w="0">
            <a:noFill/>
          </a:ln>
        </p:spPr>
        <p:style>
          <a:lnRef idx="0"/>
          <a:fillRef idx="0"/>
          <a:effectRef idx="0"/>
          <a:fontRef idx="minor"/>
        </p:style>
        <p:txBody>
          <a:bodyPr lIns="0" tIns="0" rIns="0" bIns="0" anchor="ctr">
            <a:noAutofit/>
          </a:bodyPr>
          <a:p>
            <a:r>
              <a:t>30</a:t>
            </a:r>
          </a:p>
        </p:txBody>
      </p:sp>
      <p:sp>
        <p:nvSpPr>
          <p:cNvPr id="624" name="Shape 6"/>
          <p:cNvSpPr/>
          <p:nvPr/>
        </p:nvSpPr>
        <p:spPr>
          <a:xfrm>
            <a:off x="658440" y="1078920"/>
            <a:ext cx="4982760" cy="1005120"/>
          </a:xfrm>
          <a:prstGeom prst="roundRect">
            <a:avLst>
              <a:gd name="adj" fmla="val 5455"/>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25" name="Text 7"/>
          <p:cNvSpPr/>
          <p:nvPr/>
        </p:nvSpPr>
        <p:spPr>
          <a:xfrm>
            <a:off x="822960" y="1225440"/>
            <a:ext cx="465372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50" b="1" u="none" strike="noStrike">
                <a:solidFill>
                  <a:srgbClr val="2B6CB0"/>
                </a:solidFill>
                <a:effectLst/>
                <a:uFillTx/>
                <a:latin typeface="Aptos"/>
              </a:rPr>
              <a:t>Fully observable + simple</a:t>
            </a:r>
            <a:endParaRPr lang="en-US" sz="1550" b="0" u="none" strike="noStrike">
              <a:solidFill>
                <a:srgbClr val="000000"/>
              </a:solidFill>
              <a:effectLst/>
              <a:uFillTx/>
              <a:latin typeface="Arial"/>
            </a:endParaRPr>
          </a:p>
        </p:txBody>
      </p:sp>
      <p:sp>
        <p:nvSpPr>
          <p:cNvPr id="626" name="Text 8"/>
          <p:cNvSpPr/>
          <p:nvPr/>
        </p:nvSpPr>
        <p:spPr>
          <a:xfrm>
            <a:off x="822960" y="1554480"/>
            <a:ext cx="4653720" cy="41076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250" b="0" u="none" strike="noStrike">
                <a:solidFill>
                  <a:srgbClr val="0B1F3A"/>
                </a:solidFill>
                <a:effectLst/>
                <a:uFillTx/>
                <a:latin typeface="Aptos"/>
              </a:rPr>
              <a:t>Simple reflex</a:t>
            </a:r>
            <a:endParaRPr lang="en-US"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0B1F3A"/>
                </a:solidFill>
                <a:effectLst/>
                <a:uFillTx/>
                <a:latin typeface="Aptos"/>
              </a:rPr>
              <a:t>Fast condition-action rules may be enough.</a:t>
            </a:r>
            <a:endParaRPr lang="en-US" sz="1250" b="0" u="none" strike="noStrike">
              <a:solidFill>
                <a:srgbClr val="000000"/>
              </a:solidFill>
              <a:effectLst/>
              <a:uFillTx/>
              <a:latin typeface="Arial"/>
            </a:endParaRPr>
          </a:p>
        </p:txBody>
      </p:sp>
      <p:sp>
        <p:nvSpPr>
          <p:cNvPr id="627" name="Shape 9"/>
          <p:cNvSpPr/>
          <p:nvPr/>
        </p:nvSpPr>
        <p:spPr>
          <a:xfrm>
            <a:off x="6236280" y="1078920"/>
            <a:ext cx="4982760" cy="1005120"/>
          </a:xfrm>
          <a:prstGeom prst="roundRect">
            <a:avLst>
              <a:gd name="adj" fmla="val 5455"/>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28" name="Text 10"/>
          <p:cNvSpPr/>
          <p:nvPr/>
        </p:nvSpPr>
        <p:spPr>
          <a:xfrm>
            <a:off x="6400800" y="1225440"/>
            <a:ext cx="465372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50" b="1" u="none" strike="noStrike">
                <a:solidFill>
                  <a:srgbClr val="048A97"/>
                </a:solidFill>
                <a:effectLst/>
                <a:uFillTx/>
                <a:latin typeface="Aptos"/>
              </a:rPr>
              <a:t>Partially observable</a:t>
            </a:r>
            <a:endParaRPr lang="en-US" sz="1550" b="0" u="none" strike="noStrike">
              <a:solidFill>
                <a:srgbClr val="000000"/>
              </a:solidFill>
              <a:effectLst/>
              <a:uFillTx/>
              <a:latin typeface="Arial"/>
            </a:endParaRPr>
          </a:p>
        </p:txBody>
      </p:sp>
      <p:sp>
        <p:nvSpPr>
          <p:cNvPr id="629" name="Text 11"/>
          <p:cNvSpPr/>
          <p:nvPr/>
        </p:nvSpPr>
        <p:spPr>
          <a:xfrm>
            <a:off x="6400800" y="1554480"/>
            <a:ext cx="4653720" cy="41076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250" b="0" u="none" strike="noStrike">
                <a:solidFill>
                  <a:srgbClr val="0B1F3A"/>
                </a:solidFill>
                <a:effectLst/>
                <a:uFillTx/>
                <a:latin typeface="Aptos"/>
              </a:rPr>
              <a:t>Model-based reflex</a:t>
            </a:r>
            <a:endParaRPr lang="en-US"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0B1F3A"/>
                </a:solidFill>
                <a:effectLst/>
                <a:uFillTx/>
                <a:latin typeface="Aptos"/>
              </a:rPr>
              <a:t>Maintain internal state and update it using models.</a:t>
            </a:r>
            <a:endParaRPr lang="en-US" sz="1250" b="0" u="none" strike="noStrike">
              <a:solidFill>
                <a:srgbClr val="000000"/>
              </a:solidFill>
              <a:effectLst/>
              <a:uFillTx/>
              <a:latin typeface="Arial"/>
            </a:endParaRPr>
          </a:p>
        </p:txBody>
      </p:sp>
      <p:sp>
        <p:nvSpPr>
          <p:cNvPr id="630" name="Shape 12"/>
          <p:cNvSpPr/>
          <p:nvPr/>
        </p:nvSpPr>
        <p:spPr>
          <a:xfrm>
            <a:off x="658440" y="2587680"/>
            <a:ext cx="4982760" cy="1005120"/>
          </a:xfrm>
          <a:prstGeom prst="roundRect">
            <a:avLst>
              <a:gd name="adj" fmla="val 5455"/>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31" name="Text 13"/>
          <p:cNvSpPr/>
          <p:nvPr/>
        </p:nvSpPr>
        <p:spPr>
          <a:xfrm>
            <a:off x="822960" y="2734200"/>
            <a:ext cx="465372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50" b="1" u="none" strike="noStrike">
                <a:solidFill>
                  <a:srgbClr val="F5A21B"/>
                </a:solidFill>
                <a:effectLst/>
                <a:uFillTx/>
                <a:latin typeface="Aptos"/>
              </a:rPr>
              <a:t>Long-term objective</a:t>
            </a:r>
            <a:endParaRPr lang="en-US" sz="1550" b="0" u="none" strike="noStrike">
              <a:solidFill>
                <a:srgbClr val="000000"/>
              </a:solidFill>
              <a:effectLst/>
              <a:uFillTx/>
              <a:latin typeface="Arial"/>
            </a:endParaRPr>
          </a:p>
        </p:txBody>
      </p:sp>
      <p:sp>
        <p:nvSpPr>
          <p:cNvPr id="632" name="Text 14"/>
          <p:cNvSpPr/>
          <p:nvPr/>
        </p:nvSpPr>
        <p:spPr>
          <a:xfrm>
            <a:off x="822960" y="3063240"/>
            <a:ext cx="4653720" cy="41076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250" b="0" u="none" strike="noStrike">
                <a:solidFill>
                  <a:srgbClr val="0B1F3A"/>
                </a:solidFill>
                <a:effectLst/>
                <a:uFillTx/>
                <a:latin typeface="Aptos"/>
              </a:rPr>
              <a:t>Goal-based</a:t>
            </a:r>
            <a:endParaRPr lang="en-US"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0B1F3A"/>
                </a:solidFill>
                <a:effectLst/>
                <a:uFillTx/>
                <a:latin typeface="Aptos"/>
              </a:rPr>
              <a:t>Search or planning over future action sequences.</a:t>
            </a:r>
            <a:endParaRPr lang="en-US" sz="1250" b="0" u="none" strike="noStrike">
              <a:solidFill>
                <a:srgbClr val="000000"/>
              </a:solidFill>
              <a:effectLst/>
              <a:uFillTx/>
              <a:latin typeface="Arial"/>
            </a:endParaRPr>
          </a:p>
        </p:txBody>
      </p:sp>
      <p:sp>
        <p:nvSpPr>
          <p:cNvPr id="633" name="Shape 15"/>
          <p:cNvSpPr/>
          <p:nvPr/>
        </p:nvSpPr>
        <p:spPr>
          <a:xfrm>
            <a:off x="6236280" y="2587680"/>
            <a:ext cx="4982760" cy="1005120"/>
          </a:xfrm>
          <a:prstGeom prst="roundRect">
            <a:avLst>
              <a:gd name="adj" fmla="val 5455"/>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34" name="Text 16"/>
          <p:cNvSpPr/>
          <p:nvPr/>
        </p:nvSpPr>
        <p:spPr>
          <a:xfrm>
            <a:off x="6400800" y="2734200"/>
            <a:ext cx="465372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50" b="1" u="none" strike="noStrike">
                <a:solidFill>
                  <a:srgbClr val="5B35B1"/>
                </a:solidFill>
                <a:effectLst/>
                <a:uFillTx/>
                <a:latin typeface="Aptos"/>
              </a:rPr>
              <a:t>Tradeoffs / uncertainty</a:t>
            </a:r>
            <a:endParaRPr lang="en-US" sz="1550" b="0" u="none" strike="noStrike">
              <a:solidFill>
                <a:srgbClr val="000000"/>
              </a:solidFill>
              <a:effectLst/>
              <a:uFillTx/>
              <a:latin typeface="Arial"/>
            </a:endParaRPr>
          </a:p>
        </p:txBody>
      </p:sp>
      <p:sp>
        <p:nvSpPr>
          <p:cNvPr id="635" name="Text 17"/>
          <p:cNvSpPr/>
          <p:nvPr/>
        </p:nvSpPr>
        <p:spPr>
          <a:xfrm>
            <a:off x="6400800" y="3063240"/>
            <a:ext cx="4653720" cy="41076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250" b="0" u="none" strike="noStrike">
                <a:solidFill>
                  <a:srgbClr val="0B1F3A"/>
                </a:solidFill>
                <a:effectLst/>
                <a:uFillTx/>
                <a:latin typeface="Aptos"/>
              </a:rPr>
              <a:t>Utility-based</a:t>
            </a:r>
            <a:endParaRPr lang="en-US"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0B1F3A"/>
                </a:solidFill>
                <a:effectLst/>
                <a:uFillTx/>
                <a:latin typeface="Aptos"/>
              </a:rPr>
              <a:t>Compare outcomes by expected utility.</a:t>
            </a:r>
            <a:endParaRPr lang="en-US" sz="1250" b="0" u="none" strike="noStrike">
              <a:solidFill>
                <a:srgbClr val="000000"/>
              </a:solidFill>
              <a:effectLst/>
              <a:uFillTx/>
              <a:latin typeface="Arial"/>
            </a:endParaRPr>
          </a:p>
        </p:txBody>
      </p:sp>
      <p:sp>
        <p:nvSpPr>
          <p:cNvPr id="636" name="Shape 18"/>
          <p:cNvSpPr/>
          <p:nvPr/>
        </p:nvSpPr>
        <p:spPr>
          <a:xfrm>
            <a:off x="658440" y="4096440"/>
            <a:ext cx="10789200" cy="1005120"/>
          </a:xfrm>
          <a:prstGeom prst="roundRect">
            <a:avLst>
              <a:gd name="adj" fmla="val 5455"/>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37" name="Text 19"/>
          <p:cNvSpPr/>
          <p:nvPr/>
        </p:nvSpPr>
        <p:spPr>
          <a:xfrm>
            <a:off x="822960" y="4242960"/>
            <a:ext cx="1046016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50" b="1" u="none" strike="noStrike">
                <a:solidFill>
                  <a:srgbClr val="1B7A45"/>
                </a:solidFill>
                <a:effectLst/>
                <a:uFillTx/>
                <a:latin typeface="Aptos"/>
              </a:rPr>
              <a:t>Unknown rules / changing world</a:t>
            </a:r>
            <a:endParaRPr lang="en-US" sz="1550" b="0" u="none" strike="noStrike">
              <a:solidFill>
                <a:srgbClr val="000000"/>
              </a:solidFill>
              <a:effectLst/>
              <a:uFillTx/>
              <a:latin typeface="Arial"/>
            </a:endParaRPr>
          </a:p>
        </p:txBody>
      </p:sp>
      <p:sp>
        <p:nvSpPr>
          <p:cNvPr id="638" name="Text 20"/>
          <p:cNvSpPr/>
          <p:nvPr/>
        </p:nvSpPr>
        <p:spPr>
          <a:xfrm>
            <a:off x="822960" y="4572000"/>
            <a:ext cx="10460160" cy="41076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250" b="0" u="none" strike="noStrike">
                <a:solidFill>
                  <a:srgbClr val="0B1F3A"/>
                </a:solidFill>
                <a:effectLst/>
                <a:uFillTx/>
                <a:latin typeface="Aptos"/>
              </a:rPr>
              <a:t>Learning agent</a:t>
            </a:r>
            <a:endParaRPr lang="en-US"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0B1F3A"/>
                </a:solidFill>
                <a:effectLst/>
                <a:uFillTx/>
                <a:latin typeface="Aptos"/>
              </a:rPr>
              <a:t>Improve model, utility, rules, or policy from feedback.</a:t>
            </a:r>
            <a:endParaRPr lang="en-US" sz="12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6FA"/>
        </a:solidFill>
      </p:bgPr>
    </p:bg>
    <p:spTree>
      <p:nvGrpSpPr>
        <p:cNvPr id="1" name=""/>
        <p:cNvGrpSpPr/>
        <p:nvPr/>
      </p:nvGrpSpPr>
      <p:grpSpPr>
        <a:xfrm>
          <a:off x="0" y="0"/>
          <a:ext cx="0" cy="0"/>
          <a:chOff x="0" y="0"/>
          <a:chExt cx="0" cy="0"/>
        </a:xfrm>
      </p:grpSpPr>
      <p:sp>
        <p:nvSpPr>
          <p:cNvPr id="639" name="Shape 0"/>
          <p:cNvSpPr/>
          <p:nvPr/>
        </p:nvSpPr>
        <p:spPr>
          <a:xfrm>
            <a:off x="0" y="0"/>
            <a:ext cx="12191040" cy="803880"/>
          </a:xfrm>
          <a:prstGeom prst="rect">
            <a:avLst/>
          </a:prstGeom>
          <a:solidFill>
            <a:srgbClr val="0B2B5C"/>
          </a:solidFill>
          <a:ln w="12700">
            <a:solidFill>
              <a:srgbClr val="0B2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40" name="Shape 1"/>
          <p:cNvSpPr/>
          <p:nvPr/>
        </p:nvSpPr>
        <p:spPr>
          <a:xfrm>
            <a:off x="0" y="804600"/>
            <a:ext cx="12191040" cy="72360"/>
          </a:xfrm>
          <a:prstGeom prst="rect">
            <a:avLst/>
          </a:prstGeom>
          <a:solidFill>
            <a:srgbClr val="F5A21B"/>
          </a:solidFill>
          <a:ln w="12700">
            <a:solidFill>
              <a:srgbClr val="F5A21B"/>
            </a:solidFill>
            <a:round/>
          </a:ln>
        </p:spPr>
        <p:style>
          <a:lnRef idx="0"/>
          <a:fillRef idx="0"/>
          <a:effectRef idx="0"/>
          <a:fontRef idx="minor"/>
        </p:style>
        <p:txBody>
          <a:bodyPr lIns="90000" tIns="28080" rIns="90000" bIns="28080" anchor="t">
            <a:noAutofit/>
          </a:bodyPr>
          <a:p>
            <a:endParaRPr lang="en-US" sz="1800" b="0" u="none" strike="noStrike">
              <a:solidFill>
                <a:srgbClr val="000000"/>
              </a:solidFill>
              <a:effectLst/>
              <a:uFillTx/>
              <a:latin typeface="Arial"/>
            </a:endParaRPr>
          </a:p>
        </p:txBody>
      </p:sp>
      <p:sp>
        <p:nvSpPr>
          <p:cNvPr id="641" name="Text 2"/>
          <p:cNvSpPr/>
          <p:nvPr/>
        </p:nvSpPr>
        <p:spPr>
          <a:xfrm>
            <a:off x="475560" y="210240"/>
            <a:ext cx="960048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300" b="1" u="none" strike="noStrike">
                <a:solidFill>
                  <a:srgbClr val="FFFFFF"/>
                </a:solidFill>
                <a:effectLst/>
                <a:uFillTx/>
                <a:latin typeface="Aptos Display"/>
                <a:ea typeface="Aptos Display"/>
              </a:rPr>
              <a:t>Class Activity: Build a PEAS Description</a:t>
            </a:r>
            <a:endParaRPr lang="en-US" sz="2300" b="0" u="none" strike="noStrike">
              <a:solidFill>
                <a:srgbClr val="000000"/>
              </a:solidFill>
              <a:effectLst/>
              <a:uFillTx/>
              <a:latin typeface="Arial"/>
            </a:endParaRPr>
          </a:p>
        </p:txBody>
      </p:sp>
      <p:sp>
        <p:nvSpPr>
          <p:cNvPr id="642" name="Text 3"/>
          <p:cNvSpPr/>
          <p:nvPr/>
        </p:nvSpPr>
        <p:spPr>
          <a:xfrm>
            <a:off x="10241280" y="255960"/>
            <a:ext cx="13708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200" b="0" u="none" strike="noStrike">
                <a:solidFill>
                  <a:srgbClr val="DDE8F2"/>
                </a:solidFill>
                <a:effectLst/>
                <a:uFillTx/>
                <a:latin typeface="Aptos"/>
                <a:ea typeface="Aptos"/>
              </a:rPr>
              <a:t>Activity</a:t>
            </a:r>
            <a:endParaRPr lang="en-US" sz="1200" b="0" u="none" strike="noStrike">
              <a:solidFill>
                <a:srgbClr val="000000"/>
              </a:solidFill>
              <a:effectLst/>
              <a:uFillTx/>
              <a:latin typeface="Arial"/>
            </a:endParaRPr>
          </a:p>
        </p:txBody>
      </p:sp>
      <p:sp>
        <p:nvSpPr>
          <p:cNvPr id="643" name="Text 4"/>
          <p:cNvSpPr/>
          <p:nvPr/>
        </p:nvSpPr>
        <p:spPr>
          <a:xfrm>
            <a:off x="475560" y="6565320"/>
            <a:ext cx="274248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644" name="Text 5"/>
          <p:cNvSpPr/>
          <p:nvPr/>
        </p:nvSpPr>
        <p:spPr>
          <a:xfrm>
            <a:off x="11411640" y="6565320"/>
            <a:ext cx="273600" cy="163800"/>
          </a:xfrm>
          <a:prstGeom prst="rect">
            <a:avLst/>
          </a:prstGeom>
          <a:noFill/>
          <a:ln w="0">
            <a:noFill/>
          </a:ln>
        </p:spPr>
        <p:style>
          <a:lnRef idx="0"/>
          <a:fillRef idx="0"/>
          <a:effectRef idx="0"/>
          <a:fontRef idx="minor"/>
        </p:style>
        <p:txBody>
          <a:bodyPr lIns="0" tIns="0" rIns="0" bIns="0" anchor="ctr">
            <a:noAutofit/>
          </a:bodyPr>
          <a:p>
            <a:r>
              <a:t>31</a:t>
            </a:r>
          </a:p>
        </p:txBody>
      </p:sp>
      <p:sp>
        <p:nvSpPr>
          <p:cNvPr id="645" name="Text 6"/>
          <p:cNvSpPr/>
          <p:nvPr/>
        </p:nvSpPr>
        <p:spPr>
          <a:xfrm>
            <a:off x="777240" y="1069920"/>
            <a:ext cx="10697760" cy="319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rgbClr val="0B2B5C"/>
                </a:solidFill>
                <a:effectLst/>
                <a:uFillTx/>
                <a:latin typeface="Aptos"/>
              </a:rPr>
              <a:t>Choose one system, then fill in PEAS before proposing an algorithm.</a:t>
            </a:r>
            <a:endParaRPr lang="en-US" sz="2000" b="0" u="none" strike="noStrike">
              <a:solidFill>
                <a:srgbClr val="000000"/>
              </a:solidFill>
              <a:effectLst/>
              <a:uFillTx/>
              <a:latin typeface="Arial"/>
            </a:endParaRPr>
          </a:p>
        </p:txBody>
      </p:sp>
      <p:sp>
        <p:nvSpPr>
          <p:cNvPr id="646" name="Shape 7"/>
          <p:cNvSpPr/>
          <p:nvPr/>
        </p:nvSpPr>
        <p:spPr>
          <a:xfrm>
            <a:off x="914400" y="1691640"/>
            <a:ext cx="2239560" cy="383400"/>
          </a:xfrm>
          <a:prstGeom prst="roundRect">
            <a:avLst>
              <a:gd name="adj" fmla="val 23810"/>
            </a:avLst>
          </a:prstGeom>
          <a:solidFill>
            <a:srgbClr val="2B6CB0"/>
          </a:solidFill>
          <a:ln w="12700">
            <a:solidFill>
              <a:srgbClr val="2B6CB0"/>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47" name="Text 8"/>
          <p:cNvSpPr/>
          <p:nvPr/>
        </p:nvSpPr>
        <p:spPr>
          <a:xfrm>
            <a:off x="914400" y="1783080"/>
            <a:ext cx="2239560" cy="182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FFFFFF"/>
                </a:solidFill>
                <a:effectLst/>
                <a:uFillTx/>
                <a:latin typeface="Aptos"/>
              </a:rPr>
              <a:t>Autonomous Pac-Man</a:t>
            </a:r>
            <a:endParaRPr lang="en-US" sz="1200" b="0" u="none" strike="noStrike">
              <a:solidFill>
                <a:srgbClr val="000000"/>
              </a:solidFill>
              <a:effectLst/>
              <a:uFillTx/>
              <a:latin typeface="Arial"/>
            </a:endParaRPr>
          </a:p>
        </p:txBody>
      </p:sp>
      <p:sp>
        <p:nvSpPr>
          <p:cNvPr id="648" name="Shape 9"/>
          <p:cNvSpPr/>
          <p:nvPr/>
        </p:nvSpPr>
        <p:spPr>
          <a:xfrm>
            <a:off x="3657600" y="1691640"/>
            <a:ext cx="2239560" cy="383400"/>
          </a:xfrm>
          <a:prstGeom prst="roundRect">
            <a:avLst>
              <a:gd name="adj" fmla="val 23810"/>
            </a:avLst>
          </a:prstGeom>
          <a:solidFill>
            <a:srgbClr val="048A97"/>
          </a:solidFill>
          <a:ln w="12700">
            <a:solidFill>
              <a:srgbClr val="048A97"/>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49" name="Text 10"/>
          <p:cNvSpPr/>
          <p:nvPr/>
        </p:nvSpPr>
        <p:spPr>
          <a:xfrm>
            <a:off x="3657600" y="1783080"/>
            <a:ext cx="2239560" cy="182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FFFFFF"/>
                </a:solidFill>
                <a:effectLst/>
                <a:uFillTx/>
                <a:latin typeface="Aptos"/>
              </a:rPr>
              <a:t>Campus chatbot</a:t>
            </a:r>
            <a:endParaRPr lang="en-US" sz="1200" b="0" u="none" strike="noStrike">
              <a:solidFill>
                <a:srgbClr val="000000"/>
              </a:solidFill>
              <a:effectLst/>
              <a:uFillTx/>
              <a:latin typeface="Arial"/>
            </a:endParaRPr>
          </a:p>
        </p:txBody>
      </p:sp>
      <p:sp>
        <p:nvSpPr>
          <p:cNvPr id="650" name="Shape 11"/>
          <p:cNvSpPr/>
          <p:nvPr/>
        </p:nvSpPr>
        <p:spPr>
          <a:xfrm>
            <a:off x="6400800" y="1691640"/>
            <a:ext cx="2239560" cy="383400"/>
          </a:xfrm>
          <a:prstGeom prst="roundRect">
            <a:avLst>
              <a:gd name="adj" fmla="val 23810"/>
            </a:avLst>
          </a:prstGeom>
          <a:solidFill>
            <a:srgbClr val="F5A21B"/>
          </a:solidFill>
          <a:ln w="12700">
            <a:solidFill>
              <a:srgbClr val="F5A21B"/>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51" name="Text 12"/>
          <p:cNvSpPr/>
          <p:nvPr/>
        </p:nvSpPr>
        <p:spPr>
          <a:xfrm>
            <a:off x="6400800" y="1783080"/>
            <a:ext cx="2239560" cy="182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FFFFFF"/>
                </a:solidFill>
                <a:effectLst/>
                <a:uFillTx/>
                <a:latin typeface="Aptos"/>
              </a:rPr>
              <a:t>Email phishing triage agent</a:t>
            </a:r>
            <a:endParaRPr lang="en-US" sz="1200" b="0" u="none" strike="noStrike">
              <a:solidFill>
                <a:srgbClr val="000000"/>
              </a:solidFill>
              <a:effectLst/>
              <a:uFillTx/>
              <a:latin typeface="Arial"/>
            </a:endParaRPr>
          </a:p>
        </p:txBody>
      </p:sp>
      <p:sp>
        <p:nvSpPr>
          <p:cNvPr id="652" name="Shape 13"/>
          <p:cNvSpPr/>
          <p:nvPr/>
        </p:nvSpPr>
        <p:spPr>
          <a:xfrm>
            <a:off x="9144000" y="1691640"/>
            <a:ext cx="2239560" cy="383400"/>
          </a:xfrm>
          <a:prstGeom prst="roundRect">
            <a:avLst>
              <a:gd name="adj" fmla="val 23810"/>
            </a:avLst>
          </a:prstGeom>
          <a:solidFill>
            <a:srgbClr val="1B7A45"/>
          </a:solidFill>
          <a:ln w="12700">
            <a:solidFill>
              <a:srgbClr val="1B7A45"/>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53" name="Text 14"/>
          <p:cNvSpPr/>
          <p:nvPr/>
        </p:nvSpPr>
        <p:spPr>
          <a:xfrm>
            <a:off x="9144000" y="1783080"/>
            <a:ext cx="2239560" cy="182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FFFFFF"/>
                </a:solidFill>
                <a:effectLst/>
                <a:uFillTx/>
                <a:latin typeface="Aptos"/>
              </a:rPr>
              <a:t>Robotic delivery cart</a:t>
            </a:r>
            <a:endParaRPr lang="en-US" sz="1200" b="0" u="none" strike="noStrike">
              <a:solidFill>
                <a:srgbClr val="000000"/>
              </a:solidFill>
              <a:effectLst/>
              <a:uFillTx/>
              <a:latin typeface="Arial"/>
            </a:endParaRPr>
          </a:p>
        </p:txBody>
      </p:sp>
      <p:sp>
        <p:nvSpPr>
          <p:cNvPr id="654" name="Shape 15"/>
          <p:cNvSpPr/>
          <p:nvPr/>
        </p:nvSpPr>
        <p:spPr>
          <a:xfrm>
            <a:off x="914400" y="2743200"/>
            <a:ext cx="4754160" cy="867960"/>
          </a:xfrm>
          <a:prstGeom prst="roundRect">
            <a:avLst>
              <a:gd name="adj" fmla="val 6316"/>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55" name="Text 16"/>
          <p:cNvSpPr/>
          <p:nvPr/>
        </p:nvSpPr>
        <p:spPr>
          <a:xfrm>
            <a:off x="1078920" y="2889360"/>
            <a:ext cx="442512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2B6CB0"/>
                </a:solidFill>
                <a:effectLst/>
                <a:uFillTx/>
                <a:latin typeface="Aptos"/>
              </a:rPr>
              <a:t>Performance</a:t>
            </a:r>
            <a:endParaRPr lang="en-US" sz="1600" b="0" u="none" strike="noStrike">
              <a:solidFill>
                <a:srgbClr val="000000"/>
              </a:solidFill>
              <a:effectLst/>
              <a:uFillTx/>
              <a:latin typeface="Arial"/>
            </a:endParaRPr>
          </a:p>
        </p:txBody>
      </p:sp>
      <p:sp>
        <p:nvSpPr>
          <p:cNvPr id="656" name="Text 17"/>
          <p:cNvSpPr/>
          <p:nvPr/>
        </p:nvSpPr>
        <p:spPr>
          <a:xfrm>
            <a:off x="1078920" y="3218760"/>
            <a:ext cx="4425120" cy="27360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250" b="0" u="none" strike="noStrike">
                <a:solidFill>
                  <a:srgbClr val="0B1F3A"/>
                </a:solidFill>
                <a:effectLst/>
                <a:uFillTx/>
                <a:latin typeface="Aptos"/>
              </a:rPr>
              <a:t>Students write 2-3 concrete items.</a:t>
            </a:r>
            <a:endParaRPr lang="en-US" sz="1250" b="0" u="none" strike="noStrike">
              <a:solidFill>
                <a:srgbClr val="000000"/>
              </a:solidFill>
              <a:effectLst/>
              <a:uFillTx/>
              <a:latin typeface="Arial"/>
            </a:endParaRPr>
          </a:p>
        </p:txBody>
      </p:sp>
      <p:sp>
        <p:nvSpPr>
          <p:cNvPr id="657" name="Shape 18"/>
          <p:cNvSpPr/>
          <p:nvPr/>
        </p:nvSpPr>
        <p:spPr>
          <a:xfrm>
            <a:off x="6263640" y="2743200"/>
            <a:ext cx="4754160" cy="867960"/>
          </a:xfrm>
          <a:prstGeom prst="roundRect">
            <a:avLst>
              <a:gd name="adj" fmla="val 6316"/>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58" name="Text 19"/>
          <p:cNvSpPr/>
          <p:nvPr/>
        </p:nvSpPr>
        <p:spPr>
          <a:xfrm>
            <a:off x="6428160" y="2889360"/>
            <a:ext cx="442512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048A97"/>
                </a:solidFill>
                <a:effectLst/>
                <a:uFillTx/>
                <a:latin typeface="Aptos"/>
              </a:rPr>
              <a:t>Environment</a:t>
            </a:r>
            <a:endParaRPr lang="en-US" sz="1600" b="0" u="none" strike="noStrike">
              <a:solidFill>
                <a:srgbClr val="000000"/>
              </a:solidFill>
              <a:effectLst/>
              <a:uFillTx/>
              <a:latin typeface="Arial"/>
            </a:endParaRPr>
          </a:p>
        </p:txBody>
      </p:sp>
      <p:sp>
        <p:nvSpPr>
          <p:cNvPr id="659" name="Text 20"/>
          <p:cNvSpPr/>
          <p:nvPr/>
        </p:nvSpPr>
        <p:spPr>
          <a:xfrm>
            <a:off x="6428160" y="3218760"/>
            <a:ext cx="4425120" cy="27360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250" b="0" u="none" strike="noStrike">
                <a:solidFill>
                  <a:srgbClr val="0B1F3A"/>
                </a:solidFill>
                <a:effectLst/>
                <a:uFillTx/>
                <a:latin typeface="Aptos"/>
              </a:rPr>
              <a:t>Students write 2-3 concrete items.</a:t>
            </a:r>
            <a:endParaRPr lang="en-US" sz="1250" b="0" u="none" strike="noStrike">
              <a:solidFill>
                <a:srgbClr val="000000"/>
              </a:solidFill>
              <a:effectLst/>
              <a:uFillTx/>
              <a:latin typeface="Arial"/>
            </a:endParaRPr>
          </a:p>
        </p:txBody>
      </p:sp>
      <p:sp>
        <p:nvSpPr>
          <p:cNvPr id="660" name="Shape 21"/>
          <p:cNvSpPr/>
          <p:nvPr/>
        </p:nvSpPr>
        <p:spPr>
          <a:xfrm>
            <a:off x="914400" y="3977640"/>
            <a:ext cx="4754160" cy="867960"/>
          </a:xfrm>
          <a:prstGeom prst="roundRect">
            <a:avLst>
              <a:gd name="adj" fmla="val 6316"/>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61" name="Text 22"/>
          <p:cNvSpPr/>
          <p:nvPr/>
        </p:nvSpPr>
        <p:spPr>
          <a:xfrm>
            <a:off x="1078920" y="4123800"/>
            <a:ext cx="442512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F5A21B"/>
                </a:solidFill>
                <a:effectLst/>
                <a:uFillTx/>
                <a:latin typeface="Aptos"/>
              </a:rPr>
              <a:t>Actuators</a:t>
            </a:r>
            <a:endParaRPr lang="en-US" sz="1600" b="0" u="none" strike="noStrike">
              <a:solidFill>
                <a:srgbClr val="000000"/>
              </a:solidFill>
              <a:effectLst/>
              <a:uFillTx/>
              <a:latin typeface="Arial"/>
            </a:endParaRPr>
          </a:p>
        </p:txBody>
      </p:sp>
      <p:sp>
        <p:nvSpPr>
          <p:cNvPr id="662" name="Text 23"/>
          <p:cNvSpPr/>
          <p:nvPr/>
        </p:nvSpPr>
        <p:spPr>
          <a:xfrm>
            <a:off x="1078920" y="4453200"/>
            <a:ext cx="4425120" cy="27360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250" b="0" u="none" strike="noStrike">
                <a:solidFill>
                  <a:srgbClr val="0B1F3A"/>
                </a:solidFill>
                <a:effectLst/>
                <a:uFillTx/>
                <a:latin typeface="Aptos"/>
              </a:rPr>
              <a:t>Students write 2-3 concrete items.</a:t>
            </a:r>
            <a:endParaRPr lang="en-US" sz="1250" b="0" u="none" strike="noStrike">
              <a:solidFill>
                <a:srgbClr val="000000"/>
              </a:solidFill>
              <a:effectLst/>
              <a:uFillTx/>
              <a:latin typeface="Arial"/>
            </a:endParaRPr>
          </a:p>
        </p:txBody>
      </p:sp>
      <p:sp>
        <p:nvSpPr>
          <p:cNvPr id="663" name="Shape 24"/>
          <p:cNvSpPr/>
          <p:nvPr/>
        </p:nvSpPr>
        <p:spPr>
          <a:xfrm>
            <a:off x="6263640" y="3977640"/>
            <a:ext cx="4754160" cy="867960"/>
          </a:xfrm>
          <a:prstGeom prst="roundRect">
            <a:avLst>
              <a:gd name="adj" fmla="val 6316"/>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64" name="Text 25"/>
          <p:cNvSpPr/>
          <p:nvPr/>
        </p:nvSpPr>
        <p:spPr>
          <a:xfrm>
            <a:off x="6428160" y="4123800"/>
            <a:ext cx="442512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1B7A45"/>
                </a:solidFill>
                <a:effectLst/>
                <a:uFillTx/>
                <a:latin typeface="Aptos"/>
              </a:rPr>
              <a:t>Sensors</a:t>
            </a:r>
            <a:endParaRPr lang="en-US" sz="1600" b="0" u="none" strike="noStrike">
              <a:solidFill>
                <a:srgbClr val="000000"/>
              </a:solidFill>
              <a:effectLst/>
              <a:uFillTx/>
              <a:latin typeface="Arial"/>
            </a:endParaRPr>
          </a:p>
        </p:txBody>
      </p:sp>
      <p:sp>
        <p:nvSpPr>
          <p:cNvPr id="665" name="Text 26"/>
          <p:cNvSpPr/>
          <p:nvPr/>
        </p:nvSpPr>
        <p:spPr>
          <a:xfrm>
            <a:off x="6428160" y="4453200"/>
            <a:ext cx="4425120" cy="27360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250" b="0" u="none" strike="noStrike">
                <a:solidFill>
                  <a:srgbClr val="0B1F3A"/>
                </a:solidFill>
                <a:effectLst/>
                <a:uFillTx/>
                <a:latin typeface="Aptos"/>
              </a:rPr>
              <a:t>Students write 2-3 concrete items.</a:t>
            </a:r>
            <a:endParaRPr lang="en-US" sz="1250" b="0" u="none" strike="noStrike">
              <a:solidFill>
                <a:srgbClr val="000000"/>
              </a:solidFill>
              <a:effectLst/>
              <a:uFillTx/>
              <a:latin typeface="Arial"/>
            </a:endParaRPr>
          </a:p>
        </p:txBody>
      </p:sp>
      <p:sp>
        <p:nvSpPr>
          <p:cNvPr id="666" name="Text 27"/>
          <p:cNvSpPr/>
          <p:nvPr/>
        </p:nvSpPr>
        <p:spPr>
          <a:xfrm>
            <a:off x="914400" y="5577840"/>
            <a:ext cx="10332000" cy="291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50" b="1" u="none" strike="noStrike">
                <a:solidFill>
                  <a:srgbClr val="0B2B5C"/>
                </a:solidFill>
                <a:effectLst/>
                <a:uFillTx/>
                <a:latin typeface="Aptos"/>
              </a:rPr>
              <a:t>Instructor checkpoint: if students cannot define PEAS, they are not ready to design the agent.</a:t>
            </a:r>
            <a:endParaRPr lang="en-US" sz="16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6FA"/>
        </a:solidFill>
      </p:bgPr>
    </p:bg>
    <p:spTree>
      <p:nvGrpSpPr>
        <p:cNvPr id="1" name=""/>
        <p:cNvGrpSpPr/>
        <p:nvPr/>
      </p:nvGrpSpPr>
      <p:grpSpPr>
        <a:xfrm>
          <a:off x="0" y="0"/>
          <a:ext cx="0" cy="0"/>
          <a:chOff x="0" y="0"/>
          <a:chExt cx="0" cy="0"/>
        </a:xfrm>
      </p:grpSpPr>
      <p:sp>
        <p:nvSpPr>
          <p:cNvPr id="667" name="Shape 0"/>
          <p:cNvSpPr/>
          <p:nvPr/>
        </p:nvSpPr>
        <p:spPr>
          <a:xfrm>
            <a:off x="0" y="0"/>
            <a:ext cx="12191040" cy="803880"/>
          </a:xfrm>
          <a:prstGeom prst="rect">
            <a:avLst/>
          </a:prstGeom>
          <a:solidFill>
            <a:srgbClr val="0B2B5C"/>
          </a:solidFill>
          <a:ln w="12700">
            <a:solidFill>
              <a:srgbClr val="0B2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68" name="Shape 1"/>
          <p:cNvSpPr/>
          <p:nvPr/>
        </p:nvSpPr>
        <p:spPr>
          <a:xfrm>
            <a:off x="0" y="804600"/>
            <a:ext cx="12191040" cy="72360"/>
          </a:xfrm>
          <a:prstGeom prst="rect">
            <a:avLst/>
          </a:prstGeom>
          <a:solidFill>
            <a:srgbClr val="F5A21B"/>
          </a:solidFill>
          <a:ln w="12700">
            <a:solidFill>
              <a:srgbClr val="F5A21B"/>
            </a:solidFill>
            <a:round/>
          </a:ln>
        </p:spPr>
        <p:style>
          <a:lnRef idx="0"/>
          <a:fillRef idx="0"/>
          <a:effectRef idx="0"/>
          <a:fontRef idx="minor"/>
        </p:style>
        <p:txBody>
          <a:bodyPr lIns="90000" tIns="28080" rIns="90000" bIns="28080" anchor="t">
            <a:noAutofit/>
          </a:bodyPr>
          <a:p>
            <a:endParaRPr lang="en-US" sz="1800" b="0" u="none" strike="noStrike">
              <a:solidFill>
                <a:srgbClr val="000000"/>
              </a:solidFill>
              <a:effectLst/>
              <a:uFillTx/>
              <a:latin typeface="Arial"/>
            </a:endParaRPr>
          </a:p>
        </p:txBody>
      </p:sp>
      <p:sp>
        <p:nvSpPr>
          <p:cNvPr id="669" name="Text 2"/>
          <p:cNvSpPr/>
          <p:nvPr/>
        </p:nvSpPr>
        <p:spPr>
          <a:xfrm>
            <a:off x="475560" y="210240"/>
            <a:ext cx="960048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300" b="1" u="none" strike="noStrike">
                <a:solidFill>
                  <a:srgbClr val="FFFFFF"/>
                </a:solidFill>
                <a:effectLst/>
                <a:uFillTx/>
                <a:latin typeface="Aptos Display"/>
                <a:ea typeface="Aptos Display"/>
              </a:rPr>
              <a:t>Class Demo: Autonomous Pac-Man Agent</a:t>
            </a:r>
            <a:endParaRPr lang="en-US" sz="2300" b="0" u="none" strike="noStrike">
              <a:solidFill>
                <a:srgbClr val="000000"/>
              </a:solidFill>
              <a:effectLst/>
              <a:uFillTx/>
              <a:latin typeface="Arial"/>
            </a:endParaRPr>
          </a:p>
        </p:txBody>
      </p:sp>
      <p:sp>
        <p:nvSpPr>
          <p:cNvPr id="670" name="Text 3"/>
          <p:cNvSpPr/>
          <p:nvPr/>
        </p:nvSpPr>
        <p:spPr>
          <a:xfrm>
            <a:off x="10241280" y="255960"/>
            <a:ext cx="13708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200" b="0" u="none" strike="noStrike">
                <a:solidFill>
                  <a:srgbClr val="DDE8F2"/>
                </a:solidFill>
                <a:effectLst/>
                <a:uFillTx/>
                <a:latin typeface="Aptos"/>
                <a:ea typeface="Aptos"/>
              </a:rPr>
              <a:t>Demo</a:t>
            </a:r>
            <a:endParaRPr lang="en-US" sz="1200" b="0" u="none" strike="noStrike">
              <a:solidFill>
                <a:srgbClr val="000000"/>
              </a:solidFill>
              <a:effectLst/>
              <a:uFillTx/>
              <a:latin typeface="Arial"/>
            </a:endParaRPr>
          </a:p>
        </p:txBody>
      </p:sp>
      <p:sp>
        <p:nvSpPr>
          <p:cNvPr id="671" name="Text 4"/>
          <p:cNvSpPr/>
          <p:nvPr/>
        </p:nvSpPr>
        <p:spPr>
          <a:xfrm>
            <a:off x="475560" y="6565320"/>
            <a:ext cx="274248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672" name="Text 5"/>
          <p:cNvSpPr/>
          <p:nvPr/>
        </p:nvSpPr>
        <p:spPr>
          <a:xfrm>
            <a:off x="11411640" y="6565320"/>
            <a:ext cx="273600" cy="163800"/>
          </a:xfrm>
          <a:prstGeom prst="rect">
            <a:avLst/>
          </a:prstGeom>
          <a:noFill/>
          <a:ln w="0">
            <a:noFill/>
          </a:ln>
        </p:spPr>
        <p:style>
          <a:lnRef idx="0"/>
          <a:fillRef idx="0"/>
          <a:effectRef idx="0"/>
          <a:fontRef idx="minor"/>
        </p:style>
        <p:txBody>
          <a:bodyPr lIns="0" tIns="0" rIns="0" bIns="0" anchor="ctr">
            <a:noAutofit/>
          </a:bodyPr>
          <a:p>
            <a:r>
              <a:t>32</a:t>
            </a:r>
          </a:p>
        </p:txBody>
      </p:sp>
      <p:sp>
        <p:nvSpPr>
          <p:cNvPr id="673" name="Text 6"/>
          <p:cNvSpPr/>
          <p:nvPr/>
        </p:nvSpPr>
        <p:spPr>
          <a:xfrm>
            <a:off x="731520" y="1051560"/>
            <a:ext cx="10789200" cy="319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rgbClr val="0B2B5C"/>
                </a:solidFill>
                <a:effectLst/>
                <a:uFillTx/>
                <a:latin typeface="Aptos"/>
              </a:rPr>
              <a:t>Use the game to make the Chapter 2 vocabulary operational.</a:t>
            </a:r>
            <a:endParaRPr lang="en-US" sz="2000" b="0" u="none" strike="noStrike">
              <a:solidFill>
                <a:srgbClr val="000000"/>
              </a:solidFill>
              <a:effectLst/>
              <a:uFillTx/>
              <a:latin typeface="Arial"/>
            </a:endParaRPr>
          </a:p>
        </p:txBody>
      </p:sp>
      <p:sp>
        <p:nvSpPr>
          <p:cNvPr id="674" name="Shape 7"/>
          <p:cNvSpPr/>
          <p:nvPr/>
        </p:nvSpPr>
        <p:spPr>
          <a:xfrm>
            <a:off x="1097280" y="1783080"/>
            <a:ext cx="9966240" cy="410760"/>
          </a:xfrm>
          <a:prstGeom prst="roundRect">
            <a:avLst>
              <a:gd name="adj" fmla="val 11111"/>
            </a:avLst>
          </a:prstGeom>
          <a:solidFill>
            <a:srgbClr val="EAF2FB"/>
          </a:solidFill>
          <a:ln w="12700">
            <a:solidFill>
              <a:srgbClr val="D0D9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75" name="Text 8"/>
          <p:cNvSpPr/>
          <p:nvPr/>
        </p:nvSpPr>
        <p:spPr>
          <a:xfrm>
            <a:off x="1325880" y="1883520"/>
            <a:ext cx="9509040" cy="200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50" b="1" u="none" strike="noStrike">
                <a:solidFill>
                  <a:srgbClr val="0B1F3A"/>
                </a:solidFill>
                <a:effectLst/>
                <a:uFillTx/>
                <a:latin typeface="Aptos"/>
              </a:rPr>
              <a:t>What are the percepts?</a:t>
            </a:r>
            <a:endParaRPr lang="en-US" sz="1550" b="0" u="none" strike="noStrike">
              <a:solidFill>
                <a:srgbClr val="000000"/>
              </a:solidFill>
              <a:effectLst/>
              <a:uFillTx/>
              <a:latin typeface="Arial"/>
            </a:endParaRPr>
          </a:p>
        </p:txBody>
      </p:sp>
      <p:sp>
        <p:nvSpPr>
          <p:cNvPr id="676" name="Shape 9"/>
          <p:cNvSpPr/>
          <p:nvPr/>
        </p:nvSpPr>
        <p:spPr>
          <a:xfrm>
            <a:off x="1097280" y="2468880"/>
            <a:ext cx="9966240" cy="410760"/>
          </a:xfrm>
          <a:prstGeom prst="roundRect">
            <a:avLst>
              <a:gd name="adj" fmla="val 11111"/>
            </a:avLst>
          </a:prstGeom>
          <a:solidFill>
            <a:srgbClr val="FFFFFF"/>
          </a:solidFill>
          <a:ln w="12700">
            <a:solidFill>
              <a:srgbClr val="D0D9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77" name="Text 10"/>
          <p:cNvSpPr/>
          <p:nvPr/>
        </p:nvSpPr>
        <p:spPr>
          <a:xfrm>
            <a:off x="1325880" y="2569320"/>
            <a:ext cx="9509040" cy="200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50" b="1" u="none" strike="noStrike">
                <a:solidFill>
                  <a:srgbClr val="0B1F3A"/>
                </a:solidFill>
                <a:effectLst/>
                <a:uFillTx/>
                <a:latin typeface="Aptos"/>
              </a:rPr>
              <a:t>What actions can the agent return?</a:t>
            </a:r>
            <a:endParaRPr lang="en-US" sz="1550" b="0" u="none" strike="noStrike">
              <a:solidFill>
                <a:srgbClr val="000000"/>
              </a:solidFill>
              <a:effectLst/>
              <a:uFillTx/>
              <a:latin typeface="Arial"/>
            </a:endParaRPr>
          </a:p>
        </p:txBody>
      </p:sp>
      <p:sp>
        <p:nvSpPr>
          <p:cNvPr id="678" name="Shape 11"/>
          <p:cNvSpPr/>
          <p:nvPr/>
        </p:nvSpPr>
        <p:spPr>
          <a:xfrm>
            <a:off x="1097280" y="3154680"/>
            <a:ext cx="9966240" cy="410760"/>
          </a:xfrm>
          <a:prstGeom prst="roundRect">
            <a:avLst>
              <a:gd name="adj" fmla="val 11111"/>
            </a:avLst>
          </a:prstGeom>
          <a:solidFill>
            <a:srgbClr val="EAF2FB"/>
          </a:solidFill>
          <a:ln w="12700">
            <a:solidFill>
              <a:srgbClr val="D0D9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79" name="Text 12"/>
          <p:cNvSpPr/>
          <p:nvPr/>
        </p:nvSpPr>
        <p:spPr>
          <a:xfrm>
            <a:off x="1325880" y="3255120"/>
            <a:ext cx="9509040" cy="200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50" b="1" u="none" strike="noStrike">
                <a:solidFill>
                  <a:srgbClr val="0B1F3A"/>
                </a:solidFill>
                <a:effectLst/>
                <a:uFillTx/>
                <a:latin typeface="Aptos"/>
              </a:rPr>
              <a:t>What is the performance measure?</a:t>
            </a:r>
            <a:endParaRPr lang="en-US" sz="1550" b="0" u="none" strike="noStrike">
              <a:solidFill>
                <a:srgbClr val="000000"/>
              </a:solidFill>
              <a:effectLst/>
              <a:uFillTx/>
              <a:latin typeface="Arial"/>
            </a:endParaRPr>
          </a:p>
        </p:txBody>
      </p:sp>
      <p:sp>
        <p:nvSpPr>
          <p:cNvPr id="680" name="Shape 13"/>
          <p:cNvSpPr/>
          <p:nvPr/>
        </p:nvSpPr>
        <p:spPr>
          <a:xfrm>
            <a:off x="1097280" y="3840480"/>
            <a:ext cx="9966240" cy="410760"/>
          </a:xfrm>
          <a:prstGeom prst="roundRect">
            <a:avLst>
              <a:gd name="adj" fmla="val 11111"/>
            </a:avLst>
          </a:prstGeom>
          <a:solidFill>
            <a:srgbClr val="FFFFFF"/>
          </a:solidFill>
          <a:ln w="12700">
            <a:solidFill>
              <a:srgbClr val="D0D9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81" name="Text 14"/>
          <p:cNvSpPr/>
          <p:nvPr/>
        </p:nvSpPr>
        <p:spPr>
          <a:xfrm>
            <a:off x="1325880" y="3940920"/>
            <a:ext cx="9509040" cy="200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50" b="1" u="none" strike="noStrike">
                <a:solidFill>
                  <a:srgbClr val="0B1F3A"/>
                </a:solidFill>
                <a:effectLst/>
                <a:uFillTx/>
                <a:latin typeface="Aptos"/>
              </a:rPr>
              <a:t>Does it use memory or only current state?</a:t>
            </a:r>
            <a:endParaRPr lang="en-US" sz="1550" b="0" u="none" strike="noStrike">
              <a:solidFill>
                <a:srgbClr val="000000"/>
              </a:solidFill>
              <a:effectLst/>
              <a:uFillTx/>
              <a:latin typeface="Arial"/>
            </a:endParaRPr>
          </a:p>
        </p:txBody>
      </p:sp>
      <p:sp>
        <p:nvSpPr>
          <p:cNvPr id="682" name="Shape 15"/>
          <p:cNvSpPr/>
          <p:nvPr/>
        </p:nvSpPr>
        <p:spPr>
          <a:xfrm>
            <a:off x="1097280" y="4526280"/>
            <a:ext cx="9966240" cy="410760"/>
          </a:xfrm>
          <a:prstGeom prst="roundRect">
            <a:avLst>
              <a:gd name="adj" fmla="val 11111"/>
            </a:avLst>
          </a:prstGeom>
          <a:solidFill>
            <a:srgbClr val="EAF2FB"/>
          </a:solidFill>
          <a:ln w="12700">
            <a:solidFill>
              <a:srgbClr val="D0D9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83" name="Text 16"/>
          <p:cNvSpPr/>
          <p:nvPr/>
        </p:nvSpPr>
        <p:spPr>
          <a:xfrm>
            <a:off x="1325880" y="4626720"/>
            <a:ext cx="9509040" cy="200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50" b="1" u="none" strike="noStrike">
                <a:solidFill>
                  <a:srgbClr val="0B1F3A"/>
                </a:solidFill>
                <a:effectLst/>
                <a:uFillTx/>
                <a:latin typeface="Aptos"/>
              </a:rPr>
              <a:t>Is it reflex, model-based, goal-based, utility-based, or mixed?</a:t>
            </a:r>
            <a:endParaRPr lang="en-US" sz="1550" b="0" u="none" strike="noStrike">
              <a:solidFill>
                <a:srgbClr val="000000"/>
              </a:solidFill>
              <a:effectLst/>
              <a:uFillTx/>
              <a:latin typeface="Arial"/>
            </a:endParaRPr>
          </a:p>
        </p:txBody>
      </p:sp>
      <p:sp>
        <p:nvSpPr>
          <p:cNvPr id="684" name="Text 17"/>
          <p:cNvSpPr/>
          <p:nvPr/>
        </p:nvSpPr>
        <p:spPr>
          <a:xfrm>
            <a:off x="822960" y="5596200"/>
            <a:ext cx="10606320" cy="365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0B2B5C"/>
                </a:solidFill>
                <a:effectLst/>
                <a:uFillTx/>
                <a:latin typeface="Aptos"/>
              </a:rPr>
              <a:t>Transition: search algorithms are one way to make goal-based agents act rationally.</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6FA"/>
        </a:solidFill>
      </p:bgPr>
    </p:bg>
    <p:spTree>
      <p:nvGrpSpPr>
        <p:cNvPr id="1" name=""/>
        <p:cNvGrpSpPr/>
        <p:nvPr/>
      </p:nvGrpSpPr>
      <p:grpSpPr>
        <a:xfrm>
          <a:off x="0" y="0"/>
          <a:ext cx="0" cy="0"/>
          <a:chOff x="0" y="0"/>
          <a:chExt cx="0" cy="0"/>
        </a:xfrm>
      </p:grpSpPr>
      <p:sp>
        <p:nvSpPr>
          <p:cNvPr id="685" name="Shape 0"/>
          <p:cNvSpPr/>
          <p:nvPr/>
        </p:nvSpPr>
        <p:spPr>
          <a:xfrm>
            <a:off x="0" y="0"/>
            <a:ext cx="12191040" cy="803880"/>
          </a:xfrm>
          <a:prstGeom prst="rect">
            <a:avLst/>
          </a:prstGeom>
          <a:solidFill>
            <a:srgbClr val="0B2B5C"/>
          </a:solidFill>
          <a:ln w="12700">
            <a:solidFill>
              <a:srgbClr val="0B2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86" name="Shape 1"/>
          <p:cNvSpPr/>
          <p:nvPr/>
        </p:nvSpPr>
        <p:spPr>
          <a:xfrm>
            <a:off x="0" y="804600"/>
            <a:ext cx="12191040" cy="72360"/>
          </a:xfrm>
          <a:prstGeom prst="rect">
            <a:avLst/>
          </a:prstGeom>
          <a:solidFill>
            <a:srgbClr val="F5A21B"/>
          </a:solidFill>
          <a:ln w="12700">
            <a:solidFill>
              <a:srgbClr val="F5A21B"/>
            </a:solidFill>
            <a:round/>
          </a:ln>
        </p:spPr>
        <p:style>
          <a:lnRef idx="0"/>
          <a:fillRef idx="0"/>
          <a:effectRef idx="0"/>
          <a:fontRef idx="minor"/>
        </p:style>
        <p:txBody>
          <a:bodyPr lIns="90000" tIns="28080" rIns="90000" bIns="28080" anchor="t">
            <a:noAutofit/>
          </a:bodyPr>
          <a:p>
            <a:endParaRPr lang="en-US" sz="1800" b="0" u="none" strike="noStrike">
              <a:solidFill>
                <a:srgbClr val="000000"/>
              </a:solidFill>
              <a:effectLst/>
              <a:uFillTx/>
              <a:latin typeface="Arial"/>
            </a:endParaRPr>
          </a:p>
        </p:txBody>
      </p:sp>
      <p:sp>
        <p:nvSpPr>
          <p:cNvPr id="687" name="Text 2"/>
          <p:cNvSpPr/>
          <p:nvPr/>
        </p:nvSpPr>
        <p:spPr>
          <a:xfrm>
            <a:off x="475560" y="210240"/>
            <a:ext cx="960048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300" b="1" u="none" strike="noStrike">
                <a:solidFill>
                  <a:srgbClr val="FFFFFF"/>
                </a:solidFill>
                <a:effectLst/>
                <a:uFillTx/>
                <a:latin typeface="Aptos Display"/>
                <a:ea typeface="Aptos Display"/>
              </a:rPr>
              <a:t>How the Planning Video Fits Your Lecture</a:t>
            </a:r>
            <a:endParaRPr lang="en-US" sz="2300" b="0" u="none" strike="noStrike">
              <a:solidFill>
                <a:srgbClr val="000000"/>
              </a:solidFill>
              <a:effectLst/>
              <a:uFillTx/>
              <a:latin typeface="Arial"/>
            </a:endParaRPr>
          </a:p>
        </p:txBody>
      </p:sp>
      <p:sp>
        <p:nvSpPr>
          <p:cNvPr id="688" name="Text 3"/>
          <p:cNvSpPr/>
          <p:nvPr/>
        </p:nvSpPr>
        <p:spPr>
          <a:xfrm>
            <a:off x="10241280" y="255960"/>
            <a:ext cx="13708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200" b="0" u="none" strike="noStrike">
                <a:solidFill>
                  <a:srgbClr val="DDE8F2"/>
                </a:solidFill>
                <a:effectLst/>
                <a:uFillTx/>
                <a:latin typeface="Aptos"/>
                <a:ea typeface="Aptos"/>
              </a:rPr>
              <a:t>Video</a:t>
            </a:r>
            <a:endParaRPr lang="en-US" sz="1200" b="0" u="none" strike="noStrike">
              <a:solidFill>
                <a:srgbClr val="000000"/>
              </a:solidFill>
              <a:effectLst/>
              <a:uFillTx/>
              <a:latin typeface="Arial"/>
            </a:endParaRPr>
          </a:p>
        </p:txBody>
      </p:sp>
      <p:sp>
        <p:nvSpPr>
          <p:cNvPr id="689" name="Text 4"/>
          <p:cNvSpPr/>
          <p:nvPr/>
        </p:nvSpPr>
        <p:spPr>
          <a:xfrm>
            <a:off x="475560" y="6565320"/>
            <a:ext cx="274248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690" name="Text 5"/>
          <p:cNvSpPr/>
          <p:nvPr/>
        </p:nvSpPr>
        <p:spPr>
          <a:xfrm>
            <a:off x="11411640" y="6565320"/>
            <a:ext cx="273600" cy="163800"/>
          </a:xfrm>
          <a:prstGeom prst="rect">
            <a:avLst/>
          </a:prstGeom>
          <a:noFill/>
          <a:ln w="0">
            <a:noFill/>
          </a:ln>
        </p:spPr>
        <p:style>
          <a:lnRef idx="0"/>
          <a:fillRef idx="0"/>
          <a:effectRef idx="0"/>
          <a:fontRef idx="minor"/>
        </p:style>
        <p:txBody>
          <a:bodyPr lIns="0" tIns="0" rIns="0" bIns="0" anchor="ctr">
            <a:noAutofit/>
          </a:bodyPr>
          <a:p>
            <a:r>
              <a:t>33</a:t>
            </a:r>
          </a:p>
        </p:txBody>
      </p:sp>
      <p:sp>
        <p:nvSpPr>
          <p:cNvPr id="691" name="Shape 6"/>
          <p:cNvSpPr/>
          <p:nvPr/>
        </p:nvSpPr>
        <p:spPr>
          <a:xfrm>
            <a:off x="868680" y="1325880"/>
            <a:ext cx="4937040" cy="1325160"/>
          </a:xfrm>
          <a:prstGeom prst="roundRect">
            <a:avLst>
              <a:gd name="adj" fmla="val 4138"/>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92" name="Text 7"/>
          <p:cNvSpPr/>
          <p:nvPr/>
        </p:nvSpPr>
        <p:spPr>
          <a:xfrm>
            <a:off x="1033200" y="1472040"/>
            <a:ext cx="460800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1B7A45"/>
                </a:solidFill>
                <a:effectLst/>
                <a:uFillTx/>
                <a:latin typeface="Aptos"/>
              </a:rPr>
              <a:t>Use for Chapter 2</a:t>
            </a:r>
            <a:endParaRPr lang="en-US" sz="1800" b="0" u="none" strike="noStrike">
              <a:solidFill>
                <a:srgbClr val="000000"/>
              </a:solidFill>
              <a:effectLst/>
              <a:uFillTx/>
              <a:latin typeface="Arial"/>
            </a:endParaRPr>
          </a:p>
        </p:txBody>
      </p:sp>
      <p:sp>
        <p:nvSpPr>
          <p:cNvPr id="693" name="Text 8"/>
          <p:cNvSpPr/>
          <p:nvPr/>
        </p:nvSpPr>
        <p:spPr>
          <a:xfrm>
            <a:off x="1033200" y="1801440"/>
            <a:ext cx="4608000" cy="73080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350" b="0" u="none" strike="noStrike">
                <a:solidFill>
                  <a:srgbClr val="0B1F3A"/>
                </a:solidFill>
                <a:effectLst/>
                <a:uFillTx/>
                <a:latin typeface="Aptos"/>
              </a:rPr>
              <a:t>1:19-10:05: agents that plan, reflex agents, Pac-Man examples, planning versus replanning.</a:t>
            </a:r>
            <a:endParaRPr lang="en-US" sz="1350" b="0" u="none" strike="noStrike">
              <a:solidFill>
                <a:srgbClr val="000000"/>
              </a:solidFill>
              <a:effectLst/>
              <a:uFillTx/>
              <a:latin typeface="Arial"/>
            </a:endParaRPr>
          </a:p>
        </p:txBody>
      </p:sp>
      <p:sp>
        <p:nvSpPr>
          <p:cNvPr id="694" name="Shape 9"/>
          <p:cNvSpPr/>
          <p:nvPr/>
        </p:nvSpPr>
        <p:spPr>
          <a:xfrm>
            <a:off x="6355080" y="1325880"/>
            <a:ext cx="4937040" cy="1325160"/>
          </a:xfrm>
          <a:prstGeom prst="roundRect">
            <a:avLst>
              <a:gd name="adj" fmla="val 4138"/>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95" name="Text 10"/>
          <p:cNvSpPr/>
          <p:nvPr/>
        </p:nvSpPr>
        <p:spPr>
          <a:xfrm>
            <a:off x="6519600" y="1472040"/>
            <a:ext cx="460800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F5A21B"/>
                </a:solidFill>
                <a:effectLst/>
                <a:uFillTx/>
                <a:latin typeface="Aptos"/>
              </a:rPr>
              <a:t>Save for Chapter 3</a:t>
            </a:r>
            <a:endParaRPr lang="en-US" sz="1800" b="0" u="none" strike="noStrike">
              <a:solidFill>
                <a:srgbClr val="000000"/>
              </a:solidFill>
              <a:effectLst/>
              <a:uFillTx/>
              <a:latin typeface="Arial"/>
            </a:endParaRPr>
          </a:p>
        </p:txBody>
      </p:sp>
      <p:sp>
        <p:nvSpPr>
          <p:cNvPr id="696" name="Text 11"/>
          <p:cNvSpPr/>
          <p:nvPr/>
        </p:nvSpPr>
        <p:spPr>
          <a:xfrm>
            <a:off x="6519600" y="1801440"/>
            <a:ext cx="4608000" cy="73080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350" b="0" u="none" strike="noStrike">
                <a:solidFill>
                  <a:srgbClr val="0B1F3A"/>
                </a:solidFill>
                <a:effectLst/>
                <a:uFillTx/>
                <a:latin typeface="Aptos"/>
              </a:rPr>
              <a:t>After ~11:48: search problem formulation, state spaces, search trees, DFS, BFS, UCS.</a:t>
            </a:r>
            <a:endParaRPr lang="en-US" sz="1350" b="0" u="none" strike="noStrike">
              <a:solidFill>
                <a:srgbClr val="000000"/>
              </a:solidFill>
              <a:effectLst/>
              <a:uFillTx/>
              <a:latin typeface="Arial"/>
            </a:endParaRPr>
          </a:p>
        </p:txBody>
      </p:sp>
      <p:sp>
        <p:nvSpPr>
          <p:cNvPr id="697" name="Shape 12"/>
          <p:cNvSpPr/>
          <p:nvPr/>
        </p:nvSpPr>
        <p:spPr>
          <a:xfrm>
            <a:off x="1508760" y="3246120"/>
            <a:ext cx="9143280" cy="1233720"/>
          </a:xfrm>
          <a:prstGeom prst="roundRect">
            <a:avLst>
              <a:gd name="adj" fmla="val 4444"/>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98" name="Text 13"/>
          <p:cNvSpPr/>
          <p:nvPr/>
        </p:nvSpPr>
        <p:spPr>
          <a:xfrm>
            <a:off x="1673280" y="3392280"/>
            <a:ext cx="881424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2B6CB0"/>
                </a:solidFill>
                <a:effectLst/>
                <a:uFillTx/>
                <a:latin typeface="Aptos"/>
              </a:rPr>
              <a:t>Teaching boundary</a:t>
            </a:r>
            <a:endParaRPr lang="en-US" sz="1800" b="0" u="none" strike="noStrike">
              <a:solidFill>
                <a:srgbClr val="000000"/>
              </a:solidFill>
              <a:effectLst/>
              <a:uFillTx/>
              <a:latin typeface="Arial"/>
            </a:endParaRPr>
          </a:p>
        </p:txBody>
      </p:sp>
      <p:sp>
        <p:nvSpPr>
          <p:cNvPr id="699" name="Text 14"/>
          <p:cNvSpPr/>
          <p:nvPr/>
        </p:nvSpPr>
        <p:spPr>
          <a:xfrm>
            <a:off x="1673280" y="3721680"/>
            <a:ext cx="8814240" cy="63936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400" b="0" u="none" strike="noStrike">
                <a:solidFill>
                  <a:srgbClr val="0B1F3A"/>
                </a:solidFill>
                <a:effectLst/>
                <a:uFillTx/>
                <a:latin typeface="Aptos"/>
              </a:rPr>
              <a:t>Chapter 2 explains what a goal-based agent is. Chapter 3 explains how search implements it.</a:t>
            </a:r>
            <a:endParaRPr lang="en-US" sz="1400" b="0" u="none" strike="noStrike">
              <a:solidFill>
                <a:srgbClr val="000000"/>
              </a:solidFill>
              <a:effectLst/>
              <a:uFillTx/>
              <a:latin typeface="Arial"/>
            </a:endParaRPr>
          </a:p>
        </p:txBody>
      </p:sp>
      <p:sp>
        <p:nvSpPr>
          <p:cNvPr id="700" name="Text 15"/>
          <p:cNvSpPr/>
          <p:nvPr/>
        </p:nvSpPr>
        <p:spPr>
          <a:xfrm>
            <a:off x="914400" y="5257800"/>
            <a:ext cx="10332000" cy="319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700" b="1" u="none" strike="noStrike">
                <a:solidFill>
                  <a:srgbClr val="0B2B5C"/>
                </a:solidFill>
                <a:effectLst/>
                <a:uFillTx/>
                <a:latin typeface="Aptos"/>
              </a:rPr>
              <a:t>Recommended use: play the first segment as a bridge, then stop before the full search algorithms.</a:t>
            </a:r>
            <a:endParaRPr lang="en-US" sz="17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6FA"/>
        </a:solidFill>
      </p:bgPr>
    </p:bg>
    <p:spTree>
      <p:nvGrpSpPr>
        <p:cNvPr id="1" name=""/>
        <p:cNvGrpSpPr/>
        <p:nvPr/>
      </p:nvGrpSpPr>
      <p:grpSpPr>
        <a:xfrm>
          <a:off x="0" y="0"/>
          <a:ext cx="0" cy="0"/>
          <a:chOff x="0" y="0"/>
          <a:chExt cx="0" cy="0"/>
        </a:xfrm>
      </p:grpSpPr>
      <p:sp>
        <p:nvSpPr>
          <p:cNvPr id="701" name="Shape 0"/>
          <p:cNvSpPr/>
          <p:nvPr/>
        </p:nvSpPr>
        <p:spPr>
          <a:xfrm>
            <a:off x="0" y="0"/>
            <a:ext cx="12191040" cy="803880"/>
          </a:xfrm>
          <a:prstGeom prst="rect">
            <a:avLst/>
          </a:prstGeom>
          <a:solidFill>
            <a:srgbClr val="0B2B5C"/>
          </a:solidFill>
          <a:ln w="12700">
            <a:solidFill>
              <a:srgbClr val="0B2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702" name="Shape 1"/>
          <p:cNvSpPr/>
          <p:nvPr/>
        </p:nvSpPr>
        <p:spPr>
          <a:xfrm>
            <a:off x="0" y="804600"/>
            <a:ext cx="12191040" cy="72360"/>
          </a:xfrm>
          <a:prstGeom prst="rect">
            <a:avLst/>
          </a:prstGeom>
          <a:solidFill>
            <a:srgbClr val="F5A21B"/>
          </a:solidFill>
          <a:ln w="12700">
            <a:solidFill>
              <a:srgbClr val="F5A21B"/>
            </a:solidFill>
            <a:round/>
          </a:ln>
        </p:spPr>
        <p:style>
          <a:lnRef idx="0"/>
          <a:fillRef idx="0"/>
          <a:effectRef idx="0"/>
          <a:fontRef idx="minor"/>
        </p:style>
        <p:txBody>
          <a:bodyPr lIns="90000" tIns="28080" rIns="90000" bIns="28080" anchor="t">
            <a:noAutofit/>
          </a:bodyPr>
          <a:p>
            <a:endParaRPr lang="en-US" sz="1800" b="0" u="none" strike="noStrike">
              <a:solidFill>
                <a:srgbClr val="000000"/>
              </a:solidFill>
              <a:effectLst/>
              <a:uFillTx/>
              <a:latin typeface="Arial"/>
            </a:endParaRPr>
          </a:p>
        </p:txBody>
      </p:sp>
      <p:sp>
        <p:nvSpPr>
          <p:cNvPr id="703" name="Text 2"/>
          <p:cNvSpPr/>
          <p:nvPr/>
        </p:nvSpPr>
        <p:spPr>
          <a:xfrm>
            <a:off x="475560" y="210240"/>
            <a:ext cx="960048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300" b="1" u="none" strike="noStrike">
                <a:solidFill>
                  <a:srgbClr val="FFFFFF"/>
                </a:solidFill>
                <a:effectLst/>
                <a:uFillTx/>
                <a:latin typeface="Aptos Display"/>
                <a:ea typeface="Aptos Display"/>
              </a:rPr>
              <a:t>Chapter 2 Takeaways</a:t>
            </a:r>
            <a:endParaRPr lang="en-US" sz="2300" b="0" u="none" strike="noStrike">
              <a:solidFill>
                <a:srgbClr val="000000"/>
              </a:solidFill>
              <a:effectLst/>
              <a:uFillTx/>
              <a:latin typeface="Arial"/>
            </a:endParaRPr>
          </a:p>
        </p:txBody>
      </p:sp>
      <p:sp>
        <p:nvSpPr>
          <p:cNvPr id="704" name="Text 3"/>
          <p:cNvSpPr/>
          <p:nvPr/>
        </p:nvSpPr>
        <p:spPr>
          <a:xfrm>
            <a:off x="10241280" y="255960"/>
            <a:ext cx="13708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200" b="0" u="none" strike="noStrike">
                <a:solidFill>
                  <a:srgbClr val="DDE8F2"/>
                </a:solidFill>
                <a:effectLst/>
                <a:uFillTx/>
                <a:latin typeface="Aptos"/>
                <a:ea typeface="Aptos"/>
              </a:rPr>
              <a:t>Summary</a:t>
            </a:r>
            <a:endParaRPr lang="en-US" sz="1200" b="0" u="none" strike="noStrike">
              <a:solidFill>
                <a:srgbClr val="000000"/>
              </a:solidFill>
              <a:effectLst/>
              <a:uFillTx/>
              <a:latin typeface="Arial"/>
            </a:endParaRPr>
          </a:p>
        </p:txBody>
      </p:sp>
      <p:sp>
        <p:nvSpPr>
          <p:cNvPr id="705" name="Text 4"/>
          <p:cNvSpPr/>
          <p:nvPr/>
        </p:nvSpPr>
        <p:spPr>
          <a:xfrm>
            <a:off x="475560" y="6565320"/>
            <a:ext cx="274248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706" name="Text 5"/>
          <p:cNvSpPr/>
          <p:nvPr/>
        </p:nvSpPr>
        <p:spPr>
          <a:xfrm>
            <a:off x="11411640" y="6565320"/>
            <a:ext cx="273600" cy="163800"/>
          </a:xfrm>
          <a:prstGeom prst="rect">
            <a:avLst/>
          </a:prstGeom>
          <a:noFill/>
          <a:ln w="0">
            <a:noFill/>
          </a:ln>
        </p:spPr>
        <p:style>
          <a:lnRef idx="0"/>
          <a:fillRef idx="0"/>
          <a:effectRef idx="0"/>
          <a:fontRef idx="minor"/>
        </p:style>
        <p:txBody>
          <a:bodyPr lIns="0" tIns="0" rIns="0" bIns="0" anchor="ctr">
            <a:noAutofit/>
          </a:bodyPr>
          <a:p>
            <a:r>
              <a:t>34</a:t>
            </a:r>
          </a:p>
        </p:txBody>
      </p:sp>
      <p:sp>
        <p:nvSpPr>
          <p:cNvPr id="707" name="Text 6"/>
          <p:cNvSpPr/>
          <p:nvPr/>
        </p:nvSpPr>
        <p:spPr>
          <a:xfrm>
            <a:off x="868680" y="1234440"/>
            <a:ext cx="10514880" cy="3108240"/>
          </a:xfrm>
          <a:prstGeom prst="rect">
            <a:avLst/>
          </a:prstGeom>
          <a:noFill/>
          <a:ln w="0">
            <a:noFill/>
          </a:ln>
        </p:spPr>
        <p:style>
          <a:lnRef idx="0"/>
          <a:fillRef idx="0"/>
          <a:effectRef idx="0"/>
          <a:fontRef idx="minor"/>
        </p:style>
        <p:txBody>
          <a:bodyPr lIns="720" tIns="720" rIns="720" bIns="720" anchor="ctr">
            <a:normAutofit lnSpcReduction="9999"/>
          </a:bodyPr>
          <a:p>
            <a:pPr defTabSz="914400">
              <a:lnSpc>
                <a:spcPct val="100000"/>
              </a:lnSpc>
            </a:pPr>
            <a:r>
              <a:rPr lang="en-US" sz="1700" b="0" u="none" strike="noStrike">
                <a:solidFill>
                  <a:srgbClr val="0B1F3A"/>
                </a:solidFill>
                <a:effectLst/>
                <a:uFillTx/>
                <a:latin typeface="Aptos"/>
                <a:ea typeface="Aptos"/>
              </a:rPr>
              <a:t>An agent perceives an environment through sensors and acts through actuators.</a:t>
            </a:r>
            <a:endParaRPr lang="en-US" sz="1700" b="0" u="none" strike="noStrike">
              <a:solidFill>
                <a:srgbClr val="000000"/>
              </a:solidFill>
              <a:effectLst/>
              <a:uFillTx/>
              <a:latin typeface="Arial"/>
            </a:endParaRPr>
          </a:p>
          <a:p>
            <a:pPr defTabSz="914400">
              <a:lnSpc>
                <a:spcPct val="100000"/>
              </a:lnSpc>
            </a:pPr>
            <a:endParaRPr lang="en-US" sz="1700" b="0" u="none" strike="noStrike">
              <a:solidFill>
                <a:srgbClr val="000000"/>
              </a:solidFill>
              <a:effectLst/>
              <a:uFillTx/>
              <a:latin typeface="Arial"/>
            </a:endParaRPr>
          </a:p>
          <a:p>
            <a:pPr defTabSz="914400">
              <a:lnSpc>
                <a:spcPct val="100000"/>
              </a:lnSpc>
            </a:pPr>
            <a:r>
              <a:rPr lang="en-US" sz="1700" b="0" u="none" strike="noStrike">
                <a:solidFill>
                  <a:srgbClr val="0B1F3A"/>
                </a:solidFill>
                <a:effectLst/>
                <a:uFillTx/>
                <a:latin typeface="Aptos"/>
                <a:ea typeface="Aptos"/>
              </a:rPr>
              <a:t>A rational agent maximizes expected performance, not hindsight perfection.</a:t>
            </a:r>
            <a:endParaRPr lang="en-US" sz="1700" b="0" u="none" strike="noStrike">
              <a:solidFill>
                <a:srgbClr val="000000"/>
              </a:solidFill>
              <a:effectLst/>
              <a:uFillTx/>
              <a:latin typeface="Arial"/>
            </a:endParaRPr>
          </a:p>
          <a:p>
            <a:pPr defTabSz="914400">
              <a:lnSpc>
                <a:spcPct val="100000"/>
              </a:lnSpc>
            </a:pPr>
            <a:endParaRPr lang="en-US" sz="1700" b="0" u="none" strike="noStrike">
              <a:solidFill>
                <a:srgbClr val="000000"/>
              </a:solidFill>
              <a:effectLst/>
              <a:uFillTx/>
              <a:latin typeface="Arial"/>
            </a:endParaRPr>
          </a:p>
          <a:p>
            <a:pPr defTabSz="914400">
              <a:lnSpc>
                <a:spcPct val="100000"/>
              </a:lnSpc>
            </a:pPr>
            <a:r>
              <a:rPr lang="en-US" sz="1700" b="0" u="none" strike="noStrike">
                <a:solidFill>
                  <a:srgbClr val="0B1F3A"/>
                </a:solidFill>
                <a:effectLst/>
                <a:uFillTx/>
                <a:latin typeface="Aptos"/>
                <a:ea typeface="Aptos"/>
              </a:rPr>
              <a:t>PEAS specifies the task: performance, environment, actuators, sensors.</a:t>
            </a:r>
            <a:endParaRPr lang="en-US" sz="1700" b="0" u="none" strike="noStrike">
              <a:solidFill>
                <a:srgbClr val="000000"/>
              </a:solidFill>
              <a:effectLst/>
              <a:uFillTx/>
              <a:latin typeface="Arial"/>
            </a:endParaRPr>
          </a:p>
          <a:p>
            <a:pPr defTabSz="914400">
              <a:lnSpc>
                <a:spcPct val="100000"/>
              </a:lnSpc>
            </a:pPr>
            <a:endParaRPr lang="en-US" sz="1700" b="0" u="none" strike="noStrike">
              <a:solidFill>
                <a:srgbClr val="000000"/>
              </a:solidFill>
              <a:effectLst/>
              <a:uFillTx/>
              <a:latin typeface="Arial"/>
            </a:endParaRPr>
          </a:p>
          <a:p>
            <a:pPr defTabSz="914400">
              <a:lnSpc>
                <a:spcPct val="100000"/>
              </a:lnSpc>
            </a:pPr>
            <a:r>
              <a:rPr lang="en-US" sz="1700" b="0" u="none" strike="noStrike">
                <a:solidFill>
                  <a:srgbClr val="0B1F3A"/>
                </a:solidFill>
                <a:effectLst/>
                <a:uFillTx/>
                <a:latin typeface="Aptos"/>
                <a:ea typeface="Aptos"/>
              </a:rPr>
              <a:t>Environment properties determine which agent design is appropriate.</a:t>
            </a:r>
            <a:endParaRPr lang="en-US" sz="1700" b="0" u="none" strike="noStrike">
              <a:solidFill>
                <a:srgbClr val="000000"/>
              </a:solidFill>
              <a:effectLst/>
              <a:uFillTx/>
              <a:latin typeface="Arial"/>
            </a:endParaRPr>
          </a:p>
          <a:p>
            <a:pPr defTabSz="914400">
              <a:lnSpc>
                <a:spcPct val="100000"/>
              </a:lnSpc>
            </a:pPr>
            <a:endParaRPr lang="en-US" sz="1700" b="0" u="none" strike="noStrike">
              <a:solidFill>
                <a:srgbClr val="000000"/>
              </a:solidFill>
              <a:effectLst/>
              <a:uFillTx/>
              <a:latin typeface="Arial"/>
            </a:endParaRPr>
          </a:p>
          <a:p>
            <a:pPr defTabSz="914400">
              <a:lnSpc>
                <a:spcPct val="100000"/>
              </a:lnSpc>
            </a:pPr>
            <a:r>
              <a:rPr lang="en-US" sz="1700" b="0" u="none" strike="noStrike">
                <a:solidFill>
                  <a:srgbClr val="0B1F3A"/>
                </a:solidFill>
                <a:effectLst/>
                <a:uFillTx/>
                <a:latin typeface="Aptos"/>
                <a:ea typeface="Aptos"/>
              </a:rPr>
              <a:t>Agent programs include table-driven, simple reflex, model-based, goal-based, utility-based, and learning agents.</a:t>
            </a:r>
            <a:endParaRPr lang="en-US" sz="1700" b="0" u="none" strike="noStrike">
              <a:solidFill>
                <a:srgbClr val="000000"/>
              </a:solidFill>
              <a:effectLst/>
              <a:uFillTx/>
              <a:latin typeface="Arial"/>
            </a:endParaRPr>
          </a:p>
          <a:p>
            <a:pPr defTabSz="914400">
              <a:lnSpc>
                <a:spcPct val="100000"/>
              </a:lnSpc>
            </a:pPr>
            <a:endParaRPr lang="en-US" sz="1700" b="0" u="none" strike="noStrike">
              <a:solidFill>
                <a:srgbClr val="000000"/>
              </a:solidFill>
              <a:effectLst/>
              <a:uFillTx/>
              <a:latin typeface="Arial"/>
            </a:endParaRPr>
          </a:p>
          <a:p>
            <a:pPr defTabSz="914400">
              <a:lnSpc>
                <a:spcPct val="100000"/>
              </a:lnSpc>
            </a:pPr>
            <a:r>
              <a:rPr lang="en-US" sz="1700" b="0" u="none" strike="noStrike">
                <a:solidFill>
                  <a:srgbClr val="0B1F3A"/>
                </a:solidFill>
                <a:effectLst/>
                <a:uFillTx/>
                <a:latin typeface="Aptos"/>
                <a:ea typeface="Aptos"/>
              </a:rPr>
              <a:t>Representations determine what the agent can express and how hard reasoning becomes.</a:t>
            </a:r>
            <a:endParaRPr lang="en-US" sz="1700" b="0" u="none" strike="noStrike">
              <a:solidFill>
                <a:srgbClr val="000000"/>
              </a:solidFill>
              <a:effectLst/>
              <a:uFillTx/>
              <a:latin typeface="Arial"/>
            </a:endParaRPr>
          </a:p>
        </p:txBody>
      </p:sp>
      <p:sp>
        <p:nvSpPr>
          <p:cNvPr id="708" name="Shape 7"/>
          <p:cNvSpPr/>
          <p:nvPr/>
        </p:nvSpPr>
        <p:spPr>
          <a:xfrm>
            <a:off x="914400" y="4892040"/>
            <a:ext cx="10332720" cy="360"/>
          </a:xfrm>
          <a:prstGeom prst="line">
            <a:avLst/>
          </a:prstGeom>
          <a:ln w="25400">
            <a:solidFill>
              <a:srgbClr val="F5A21B"/>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709" name="Text 8"/>
          <p:cNvSpPr/>
          <p:nvPr/>
        </p:nvSpPr>
        <p:spPr>
          <a:xfrm>
            <a:off x="868680" y="5440680"/>
            <a:ext cx="10514880" cy="383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50" b="1" u="none" strike="noStrike">
                <a:solidFill>
                  <a:srgbClr val="0B2B5C"/>
                </a:solidFill>
                <a:effectLst/>
                <a:uFillTx/>
                <a:latin typeface="Aptos"/>
              </a:rPr>
              <a:t>Define the agent -&gt; Specify the task -&gt; Classify the environment -&gt; Choose the design</a:t>
            </a:r>
            <a:endParaRPr lang="en-US" sz="1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pitchFamily="0" charset="1"/>
        <a:ea typeface=""/>
        <a:cs typeface=""/>
      </a:majorFont>
      <a:minorFont>
        <a:latin typeface="Apto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50</TotalTime>
  <Application>LibreOffice/26.2.4.2$Linux_X86_64 LibreOffice_project/620$Build-2</Application>
  <AppVersion>15.0000</AppVersion>
  <Words>0</Words>
  <Paragraphs>0</Paragraphs>
  <Company>CSU Channel Islands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2026-07-31T02:27:29Z</dcterms:created>
  <dc:creator>COMP 469</dc:creator>
  <dc:description/>
  <dc:language>en-US</dc:language>
  <cp:lastModifiedBy/>
  <dcterms:modified xsi:type="dcterms:W3CDTF">2026-07-30T23:21:51Z</dcterms:modified>
  <cp:revision>12</cp:revision>
  <dc:subject>Chapter 2 Intelligent Agents</dc:subject>
  <dc:title>COMP 469 Chapter 2: Intelligent Agents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34</vt:i4>
  </property>
  <property fmtid="{D5CDD505-2E9C-101B-9397-08002B2CF9AE}" pid="3" name="PresentationFormat">
    <vt:lpwstr>On-screen Show (16:9)</vt:lpwstr>
  </property>
  <property fmtid="{D5CDD505-2E9C-101B-9397-08002B2CF9AE}" pid="4" name="Slides">
    <vt:i4>34</vt:i4>
  </property>
</Properties>
</file>