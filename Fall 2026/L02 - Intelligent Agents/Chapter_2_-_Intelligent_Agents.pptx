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Lst>
  <p:notesMasterIdLst>
    <p:notesMasterId r:id="rId55"/>
  </p:notesMasterIdLst>
  <p:sldIdLst>
    <p:sldId id="307"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8108" autoAdjust="0"/>
  </p:normalViewPr>
  <p:slideViewPr>
    <p:cSldViewPr snapToGrid="0">
      <p:cViewPr varScale="1">
        <p:scale>
          <a:sx n="92" d="100"/>
          <a:sy n="92" d="100"/>
        </p:scale>
        <p:origin x="76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defTabSz="914400">
              <a:lnSpc>
                <a:spcPct val="90000"/>
              </a:lnSpc>
              <a:tabLst>
                <a:tab pos="0" algn="l"/>
              </a:tabLst>
            </a:pPr>
            <a:r>
              <a:rPr lang="en-US" sz="1800" b="0" u="none" strike="noStrike">
                <a:solidFill>
                  <a:schemeClr val="dk1"/>
                </a:solidFill>
                <a:effectLst/>
                <a:uFillTx/>
                <a:latin typeface="Aptos"/>
              </a:rPr>
              <a:t>Click to move the slide</a:t>
            </a:r>
          </a:p>
        </p:txBody>
      </p:sp>
      <p:sp>
        <p:nvSpPr>
          <p:cNvPr id="1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1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13"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4"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15"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A96BC95-9F5C-433D-9CF0-615C03E81685}"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  ·  Chapter 2 cover</a:t>
            </a:r>
          </a:p>
          <a:p>
            <a:pPr indent="0" algn="l">
              <a:lnSpc>
                <a:spcPct val="100000"/>
              </a:lnSpc>
              <a:buNone/>
            </a:pPr>
            <a:r>
              <a:rPr lang="en-US" sz="1150" b="0" i="0" u="none" strike="noStrike" dirty="0">
                <a:solidFill>
                  <a:srgbClr val="595959"/>
                </a:solidFill>
                <a:effectLst/>
                <a:uFillTx/>
                <a:latin typeface="Arial"/>
              </a:rPr>
              <a:t>Suggested time: 1 minutes  ·  Running total: 1 min  ·  Chapter alignment: Chapter opening</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(Intelligent Agents).</a:t>
            </a:r>
          </a:p>
          <a:p>
            <a:pPr indent="0" algn="l">
              <a:lnSpc>
                <a:spcPct val="100000"/>
              </a:lnSpc>
              <a:buNone/>
            </a:pPr>
            <a:r>
              <a:rPr lang="en-US" sz="1150" b="0" i="0" u="none" strike="noStrike" dirty="0">
                <a:solidFill>
                  <a:srgbClr val="595959"/>
                </a:solidFill>
                <a:effectLst/>
                <a:uFillTx/>
                <a:latin typeface="Arial"/>
              </a:rPr>
              <a:t>Objectives drawn from the deck roadmap on slide 5.</a:t>
            </a:r>
          </a:p>
        </p:txBody>
      </p:sp>
      <p:sp>
        <p:nvSpPr>
          <p:cNvPr id="4" name="Slide Number Placeholder 3"/>
          <p:cNvSpPr>
            <a:spLocks noGrp="1"/>
          </p:cNvSpPr>
          <p:nvPr>
            <p:ph type="sldNum" idx="3"/>
          </p:nvPr>
        </p:nvSpPr>
        <p:spPr/>
        <p:txBody>
          <a:bodyPr/>
          <a:lstStyle/>
          <a:p>
            <a:pPr indent="0" algn="r">
              <a:buNone/>
            </a:pPr>
            <a:fld id="{2A96BC95-9F5C-433D-9CF0-615C03E81685}" type="slidenum">
              <a:rPr lang="en-US" sz="1400" b="0" u="none" strike="noStrike" smtClean="0">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97163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 name="PlaceHolder 1"/>
          <p:cNvSpPr>
            <a:spLocks noGrp="1" noRot="1" noChangeAspect="1"/>
          </p:cNvSpPr>
          <p:nvPr>
            <p:ph type="sldImg"/>
          </p:nvPr>
        </p:nvSpPr>
        <p:spPr>
          <a:xfrm>
            <a:off x="685800" y="1143000"/>
            <a:ext cx="5484813" cy="3084513"/>
          </a:xfrm>
          <a:prstGeom prst="rect">
            <a:avLst/>
          </a:prstGeom>
          <a:ln w="0">
            <a:noFill/>
          </a:ln>
        </p:spPr>
      </p:sp>
      <p:sp>
        <p:nvSpPr>
          <p:cNvPr id="136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  ·  Chapter 2: Intelligent Agents</a:t>
            </a:r>
          </a:p>
          <a:p>
            <a:pPr indent="0" algn="l">
              <a:lnSpc>
                <a:spcPct val="100000"/>
              </a:lnSpc>
              <a:buNone/>
            </a:pPr>
            <a:r>
              <a:rPr lang="en-US" sz="1150" b="0" i="0" u="none" strike="noStrike" dirty="0">
                <a:solidFill>
                  <a:srgbClr val="595959"/>
                </a:solidFill>
                <a:effectLst/>
                <a:uFillTx/>
                <a:latin typeface="Arial"/>
              </a:rPr>
              <a:t>Suggested time: 2 minutes  ·  Running total: 3 min  ·  Chapter alignment: Chapter introduction and Section 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will begin with a quick capability question that reveals why the environment matters so much.</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introduction and Section 2.1.</a:t>
            </a:r>
          </a:p>
        </p:txBody>
      </p:sp>
      <p:sp>
        <p:nvSpPr>
          <p:cNvPr id="1368" name="PlaceHolder 3"/>
          <p:cNvSpPr>
            <a:spLocks noGrp="1"/>
          </p:cNvSpPr>
          <p:nvPr>
            <p:ph type="sldNum" idx="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E62CD8D-5BEF-4739-A6E6-56508D147A23}"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9" name="PlaceHolder 1"/>
          <p:cNvSpPr>
            <a:spLocks noGrp="1" noRot="1" noChangeAspect="1"/>
          </p:cNvSpPr>
          <p:nvPr>
            <p:ph type="sldImg"/>
          </p:nvPr>
        </p:nvSpPr>
        <p:spPr>
          <a:xfrm>
            <a:off x="685800" y="1143000"/>
            <a:ext cx="5484813" cy="3084513"/>
          </a:xfrm>
          <a:prstGeom prst="rect">
            <a:avLst/>
          </a:prstGeom>
          <a:ln w="0">
            <a:noFill/>
          </a:ln>
        </p:spPr>
      </p:sp>
      <p:sp>
        <p:nvSpPr>
          <p:cNvPr id="137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  ·  What Can AI Do?</a:t>
            </a:r>
          </a:p>
          <a:p>
            <a:pPr indent="0" algn="l">
              <a:lnSpc>
                <a:spcPct val="100000"/>
              </a:lnSpc>
              <a:buNone/>
            </a:pPr>
            <a:r>
              <a:rPr lang="en-US" sz="1150" b="0" i="0" u="none" strike="noStrike" dirty="0">
                <a:solidFill>
                  <a:srgbClr val="595959"/>
                </a:solidFill>
                <a:effectLst/>
                <a:uFillTx/>
                <a:latin typeface="Arial"/>
              </a:rPr>
              <a:t>Suggested time: 4 minutes  ·  Running total: 7 min  ·  Chapter alignment: Motivating task environments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To evaluate these systems consistently, the course adopts the rational-agent perspective.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introduction; lecture deck warm-up framing.</a:t>
            </a:r>
          </a:p>
        </p:txBody>
      </p:sp>
      <p:sp>
        <p:nvSpPr>
          <p:cNvPr id="1371" name="PlaceHolder 3"/>
          <p:cNvSpPr>
            <a:spLocks noGrp="1"/>
          </p:cNvSpPr>
          <p:nvPr>
            <p:ph type="sldNum" idx="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67BC25B-DE23-4C2D-BD04-21309B05B6B2}"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 name="PlaceHolder 1"/>
          <p:cNvSpPr>
            <a:spLocks noGrp="1" noRot="1" noChangeAspect="1"/>
          </p:cNvSpPr>
          <p:nvPr>
            <p:ph type="sldImg"/>
          </p:nvPr>
        </p:nvSpPr>
        <p:spPr>
          <a:xfrm>
            <a:off x="685800" y="1143000"/>
            <a:ext cx="5484813" cy="3084513"/>
          </a:xfrm>
          <a:prstGeom prst="rect">
            <a:avLst/>
          </a:prstGeom>
          <a:ln w="0">
            <a:noFill/>
          </a:ln>
        </p:spPr>
      </p:sp>
      <p:sp>
        <p:nvSpPr>
          <p:cNvPr id="137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  ·  A Rational-Agent Perspective</a:t>
            </a:r>
          </a:p>
          <a:p>
            <a:pPr indent="0" algn="l">
              <a:lnSpc>
                <a:spcPct val="100000"/>
              </a:lnSpc>
              <a:buNone/>
            </a:pPr>
            <a:r>
              <a:rPr lang="en-US" sz="1150" b="0" i="0" u="none" strike="noStrike" dirty="0">
                <a:solidFill>
                  <a:srgbClr val="595959"/>
                </a:solidFill>
                <a:effectLst/>
                <a:uFillTx/>
                <a:latin typeface="Arial"/>
              </a:rPr>
              <a:t>Suggested time: 3 minutes  ·  Running total: 10 min  ·  Chapter alignment: Bridge from Chapter 1 to Chapter 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roadmap shows how we move from this perspective to concrete agent designs.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Chapters 1 and 2.</a:t>
            </a:r>
          </a:p>
        </p:txBody>
      </p:sp>
      <p:sp>
        <p:nvSpPr>
          <p:cNvPr id="1374" name="PlaceHolder 3"/>
          <p:cNvSpPr>
            <a:spLocks noGrp="1"/>
          </p:cNvSpPr>
          <p:nvPr>
            <p:ph type="sldNum" idx="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C5ED3F7-BFC0-4C3A-912F-36AB1409D9C4}"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 name="PlaceHolder 1"/>
          <p:cNvSpPr>
            <a:spLocks noGrp="1" noRot="1" noChangeAspect="1"/>
          </p:cNvSpPr>
          <p:nvPr>
            <p:ph type="sldImg"/>
          </p:nvPr>
        </p:nvSpPr>
        <p:spPr>
          <a:xfrm>
            <a:off x="685800" y="1143000"/>
            <a:ext cx="5484813" cy="3084513"/>
          </a:xfrm>
          <a:prstGeom prst="rect">
            <a:avLst/>
          </a:prstGeom>
          <a:ln w="0">
            <a:noFill/>
          </a:ln>
        </p:spPr>
      </p:sp>
      <p:sp>
        <p:nvSpPr>
          <p:cNvPr id="137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5  ·  2.0 Roadmap: From Agent Loop to Agent Design</a:t>
            </a:r>
          </a:p>
          <a:p>
            <a:pPr indent="0" algn="l">
              <a:lnSpc>
                <a:spcPct val="100000"/>
              </a:lnSpc>
              <a:buNone/>
            </a:pPr>
            <a:r>
              <a:rPr lang="en-US" sz="1150" b="0" i="0" u="none" strike="noStrike" dirty="0">
                <a:solidFill>
                  <a:srgbClr val="595959"/>
                </a:solidFill>
                <a:effectLst/>
                <a:uFillTx/>
                <a:latin typeface="Arial"/>
              </a:rPr>
              <a:t>Suggested time: 2 minutes  ·  Running total: 12 min  ·  Chapter alignment: Lecture roadmap</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will now define the perceive-act loop formally.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structure.</a:t>
            </a:r>
          </a:p>
        </p:txBody>
      </p:sp>
      <p:sp>
        <p:nvSpPr>
          <p:cNvPr id="1377" name="PlaceHolder 3"/>
          <p:cNvSpPr>
            <a:spLocks noGrp="1"/>
          </p:cNvSpPr>
          <p:nvPr>
            <p:ph type="sldNum" idx="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C34A1C1-AB98-4B2F-B84A-DD59A85E0AF3}"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8" name="PlaceHolder 1"/>
          <p:cNvSpPr>
            <a:spLocks noGrp="1" noRot="1" noChangeAspect="1"/>
          </p:cNvSpPr>
          <p:nvPr>
            <p:ph type="sldImg"/>
          </p:nvPr>
        </p:nvSpPr>
        <p:spPr>
          <a:xfrm>
            <a:off x="685800" y="1143000"/>
            <a:ext cx="5486400" cy="3086100"/>
          </a:xfrm>
          <a:prstGeom prst="rect">
            <a:avLst/>
          </a:prstGeom>
          <a:ln w="0">
            <a:noFill/>
          </a:ln>
        </p:spPr>
      </p:sp>
      <p:sp>
        <p:nvSpPr>
          <p:cNvPr id="137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6  ·  2.1 Agents and Environments: The Perceive-Act Loop</a:t>
            </a:r>
          </a:p>
          <a:p>
            <a:pPr indent="0" algn="l">
              <a:lnSpc>
                <a:spcPct val="100000"/>
              </a:lnSpc>
              <a:buNone/>
            </a:pPr>
            <a:r>
              <a:rPr lang="en-US" sz="1150" b="0" i="0" u="none" strike="noStrike" dirty="0">
                <a:solidFill>
                  <a:srgbClr val="595959"/>
                </a:solidFill>
                <a:effectLst/>
                <a:uFillTx/>
                <a:latin typeface="Arial"/>
              </a:rPr>
              <a:t>Suggested time: 4 minutes  ·  Running total: 16 min  ·  Chapter alignment: Section 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To describe the agent's behavior precisely, we need the terms percept, percept sequence, agent function, and agent program.</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2.1 and Figure 2.1.</a:t>
            </a:r>
          </a:p>
        </p:txBody>
      </p:sp>
      <p:sp>
        <p:nvSpPr>
          <p:cNvPr id="1380" name="PlaceHolder 3"/>
          <p:cNvSpPr>
            <a:spLocks noGrp="1"/>
          </p:cNvSpPr>
          <p:nvPr>
            <p:ph type="sldNum" idx="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171C2EB-21E6-49AB-8C2C-B01A1A5C1C95}"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1" name="PlaceHolder 1"/>
          <p:cNvSpPr>
            <a:spLocks noGrp="1" noRot="1" noChangeAspect="1"/>
          </p:cNvSpPr>
          <p:nvPr>
            <p:ph type="sldImg"/>
          </p:nvPr>
        </p:nvSpPr>
        <p:spPr>
          <a:xfrm>
            <a:off x="685800" y="1143000"/>
            <a:ext cx="5484813" cy="3084513"/>
          </a:xfrm>
          <a:prstGeom prst="rect">
            <a:avLst/>
          </a:prstGeom>
          <a:ln w="0">
            <a:noFill/>
          </a:ln>
        </p:spPr>
      </p:sp>
      <p:sp>
        <p:nvSpPr>
          <p:cNvPr id="138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7  ·  2.1 From Percepts to Agent Functions</a:t>
            </a:r>
          </a:p>
          <a:p>
            <a:pPr indent="0" algn="l">
              <a:lnSpc>
                <a:spcPct val="100000"/>
              </a:lnSpc>
              <a:buNone/>
            </a:pPr>
            <a:r>
              <a:rPr lang="en-US" sz="1150" b="0" i="0" u="none" strike="noStrike" dirty="0">
                <a:solidFill>
                  <a:srgbClr val="595959"/>
                </a:solidFill>
                <a:effectLst/>
                <a:uFillTx/>
                <a:latin typeface="Arial"/>
              </a:rPr>
              <a:t>Suggested time: 4 minutes  ·  Running total: 20 min  ·  Chapter alignment: Section 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Now that behavior can be described, we need a standard for deciding whether the behavior is good.</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2.1.</a:t>
            </a:r>
          </a:p>
        </p:txBody>
      </p:sp>
      <p:sp>
        <p:nvSpPr>
          <p:cNvPr id="1383" name="PlaceHolder 3"/>
          <p:cNvSpPr>
            <a:spLocks noGrp="1"/>
          </p:cNvSpPr>
          <p:nvPr>
            <p:ph type="sldNum" idx="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51C8388-C9B2-43B4-B2F9-DC0AD25A37CA}"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4" name="PlaceHolder 1"/>
          <p:cNvSpPr>
            <a:spLocks noGrp="1" noRot="1" noChangeAspect="1"/>
          </p:cNvSpPr>
          <p:nvPr>
            <p:ph type="sldImg"/>
          </p:nvPr>
        </p:nvSpPr>
        <p:spPr>
          <a:xfrm>
            <a:off x="685800" y="1143000"/>
            <a:ext cx="5484813" cy="3084513"/>
          </a:xfrm>
          <a:prstGeom prst="rect">
            <a:avLst/>
          </a:prstGeom>
          <a:ln w="0">
            <a:noFill/>
          </a:ln>
        </p:spPr>
      </p:sp>
      <p:sp>
        <p:nvSpPr>
          <p:cNvPr id="138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8  ·  2.1 The Vacuum World and Its Agent Function</a:t>
            </a:r>
          </a:p>
          <a:p>
            <a:pPr indent="0" algn="l">
              <a:lnSpc>
                <a:spcPct val="100000"/>
              </a:lnSpc>
              <a:buNone/>
            </a:pPr>
            <a:r>
              <a:rPr lang="en-US" sz="1150" b="0" i="0" u="none" strike="noStrike" dirty="0">
                <a:solidFill>
                  <a:srgbClr val="595959"/>
                </a:solidFill>
                <a:effectLst/>
                <a:uFillTx/>
                <a:latin typeface="Arial"/>
              </a:rPr>
              <a:t>Suggested time: 4 minutes  ·  Running total: 24 min  ·  Chapter alignment: Section 2.1, Figures 2.2 and 2.3</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To say which column is the right one, we need a standard for judging behaviour.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2.1, Figures 2.2 and 2.3.</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 name="PlaceHolder 1"/>
          <p:cNvSpPr>
            <a:spLocks noGrp="1" noRot="1" noChangeAspect="1"/>
          </p:cNvSpPr>
          <p:nvPr>
            <p:ph type="sldImg"/>
          </p:nvPr>
        </p:nvSpPr>
        <p:spPr>
          <a:xfrm>
            <a:off x="685800" y="1143000"/>
            <a:ext cx="5484813" cy="3084513"/>
          </a:xfrm>
          <a:prstGeom prst="rect">
            <a:avLst/>
          </a:prstGeom>
          <a:ln w="0">
            <a:noFill/>
          </a:ln>
        </p:spPr>
      </p:sp>
      <p:sp>
        <p:nvSpPr>
          <p:cNvPr id="138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9  ·  2.2 Good Behavior: Rationality Is Expected Performance</a:t>
            </a:r>
          </a:p>
          <a:p>
            <a:pPr indent="0" algn="l">
              <a:lnSpc>
                <a:spcPct val="100000"/>
              </a:lnSpc>
              <a:buNone/>
            </a:pPr>
            <a:r>
              <a:rPr lang="en-US" sz="1150" b="0" i="0" u="none" strike="noStrike" dirty="0">
                <a:solidFill>
                  <a:srgbClr val="595959"/>
                </a:solidFill>
                <a:effectLst/>
                <a:uFillTx/>
                <a:latin typeface="Arial"/>
              </a:rPr>
              <a:t>Suggested time: 5 minutes  ·  Running total: 29 min  ·  Chapter alignment: Sections 2.2.1 and 2.2.2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Because rational agents optimize what we specify, the design of the performance measure is critical.</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2.2.1 and 2.2.2.</a:t>
            </a:r>
          </a:p>
        </p:txBody>
      </p:sp>
      <p:sp>
        <p:nvSpPr>
          <p:cNvPr id="1388" name="PlaceHolder 3"/>
          <p:cNvSpPr>
            <a:spLocks noGrp="1"/>
          </p:cNvSpPr>
          <p:nvPr>
            <p:ph type="sldNum" idx="1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1F23561-7929-481B-B15B-786F6E02B375}"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 name="PlaceHolder 1"/>
          <p:cNvSpPr>
            <a:spLocks noGrp="1" noRot="1" noChangeAspect="1"/>
          </p:cNvSpPr>
          <p:nvPr>
            <p:ph type="sldImg"/>
          </p:nvPr>
        </p:nvSpPr>
        <p:spPr>
          <a:xfrm>
            <a:off x="685800" y="1143000"/>
            <a:ext cx="5484813" cy="3084513"/>
          </a:xfrm>
          <a:prstGeom prst="rect">
            <a:avLst/>
          </a:prstGeom>
          <a:ln w="0">
            <a:noFill/>
          </a:ln>
        </p:spPr>
      </p:sp>
      <p:sp>
        <p:nvSpPr>
          <p:cNvPr id="139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10  ·  2.2 Rational? Only Under Stated Assumptions</a:t>
            </a:r>
          </a:p>
          <a:p>
            <a:pPr indent="0" algn="l">
              <a:lnSpc>
                <a:spcPct val="100000"/>
              </a:lnSpc>
              <a:buNone/>
            </a:pPr>
            <a:r>
              <a:rPr lang="en-US" sz="1150" b="0" i="0" u="none" strike="noStrike" dirty="0">
                <a:solidFill>
                  <a:srgbClr val="595959"/>
                </a:solidFill>
                <a:effectLst/>
                <a:uFillTx/>
                <a:latin typeface="Arial"/>
              </a:rPr>
              <a:t>Suggested time: 5 minutes  ·  Running total: 34 min  ·  Chapter alignment: Section 2.2.2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Because rational agents optimize exactly what we specify, the design of the performance measure deserves its own scrutiny.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2.2.2; Exercise 2.VACR.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1" name="PlaceHolder 1"/>
          <p:cNvSpPr>
            <a:spLocks noGrp="1" noRot="1" noChangeAspect="1"/>
          </p:cNvSpPr>
          <p:nvPr>
            <p:ph type="sldImg"/>
          </p:nvPr>
        </p:nvSpPr>
        <p:spPr>
          <a:xfrm>
            <a:off x="685800" y="1143000"/>
            <a:ext cx="5484813" cy="3084513"/>
          </a:xfrm>
          <a:prstGeom prst="rect">
            <a:avLst/>
          </a:prstGeom>
          <a:ln w="0">
            <a:noFill/>
          </a:ln>
        </p:spPr>
      </p:sp>
      <p:sp>
        <p:nvSpPr>
          <p:cNvPr id="139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11  ·  2.2 Performance Measures: Be Careful What You Ask For</a:t>
            </a:r>
          </a:p>
          <a:p>
            <a:pPr indent="0" algn="l">
              <a:lnSpc>
                <a:spcPct val="100000"/>
              </a:lnSpc>
              <a:buNone/>
            </a:pPr>
            <a:r>
              <a:rPr lang="en-US" sz="1150" b="0" i="0" u="none" strike="noStrike" dirty="0">
                <a:solidFill>
                  <a:srgbClr val="595959"/>
                </a:solidFill>
                <a:effectLst/>
                <a:uFillTx/>
                <a:latin typeface="Arial"/>
              </a:rPr>
              <a:t>Suggested time: 4 minutes  ·  Running total: 38 min  ·  Chapter alignment: Section 2.2.1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A well-designed objective is necessary, but rationality still does not require perfect knowledge of the future.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2.2.1; Chapter 1 value-alignment discussion.</a:t>
            </a:r>
          </a:p>
        </p:txBody>
      </p:sp>
      <p:sp>
        <p:nvSpPr>
          <p:cNvPr id="1393" name="PlaceHolder 3"/>
          <p:cNvSpPr>
            <a:spLocks noGrp="1"/>
          </p:cNvSpPr>
          <p:nvPr>
            <p:ph type="sldNum" idx="1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5B02162-58B1-49E5-AAFB-F3189063FD36}"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 name="PlaceHolder 1"/>
          <p:cNvSpPr>
            <a:spLocks noGrp="1" noRot="1" noChangeAspect="1"/>
          </p:cNvSpPr>
          <p:nvPr>
            <p:ph type="sldImg"/>
          </p:nvPr>
        </p:nvSpPr>
        <p:spPr>
          <a:xfrm>
            <a:off x="685800" y="1143000"/>
            <a:ext cx="5484813" cy="3084513"/>
          </a:xfrm>
          <a:prstGeom prst="rect">
            <a:avLst/>
          </a:prstGeom>
          <a:ln w="0">
            <a:noFill/>
          </a:ln>
        </p:spPr>
      </p:sp>
      <p:sp>
        <p:nvSpPr>
          <p:cNvPr id="139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12  ·  2.2.1 Consequentialism and the Trouble with Averages</a:t>
            </a:r>
          </a:p>
          <a:p>
            <a:pPr indent="0" algn="l">
              <a:lnSpc>
                <a:spcPct val="100000"/>
              </a:lnSpc>
              <a:buNone/>
            </a:pPr>
            <a:r>
              <a:rPr lang="en-US" sz="1150" b="0" i="0" u="none" strike="noStrike" dirty="0">
                <a:solidFill>
                  <a:srgbClr val="595959"/>
                </a:solidFill>
                <a:effectLst/>
                <a:uFillTx/>
                <a:latin typeface="Arial"/>
              </a:rPr>
              <a:t>Suggested time: 4 minutes  ·  Running total: 42 min  ·  Chapter alignment: Section 2.2.1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6" name="PlaceHolder 1"/>
          <p:cNvSpPr>
            <a:spLocks noGrp="1" noRot="1" noChangeAspect="1"/>
          </p:cNvSpPr>
          <p:nvPr>
            <p:ph type="sldImg"/>
          </p:nvPr>
        </p:nvSpPr>
        <p:spPr>
          <a:xfrm>
            <a:off x="685800" y="1143000"/>
            <a:ext cx="5484813" cy="3084513"/>
          </a:xfrm>
          <a:prstGeom prst="rect">
            <a:avLst/>
          </a:prstGeom>
          <a:ln w="0">
            <a:noFill/>
          </a:ln>
        </p:spPr>
      </p:sp>
      <p:sp>
        <p:nvSpPr>
          <p:cNvPr id="139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13  ·  2.2 Rationality Is Not Omniscience</a:t>
            </a:r>
          </a:p>
          <a:p>
            <a:pPr indent="0" algn="l">
              <a:lnSpc>
                <a:spcPct val="100000"/>
              </a:lnSpc>
              <a:buNone/>
            </a:pPr>
            <a:r>
              <a:rPr lang="en-US" sz="1150" b="0" i="0" u="none" strike="noStrike" dirty="0">
                <a:solidFill>
                  <a:srgbClr val="595959"/>
                </a:solidFill>
                <a:effectLst/>
                <a:uFillTx/>
                <a:latin typeface="Arial"/>
              </a:rPr>
              <a:t>Suggested time: 5 minutes  ·  Running total: 47 min  ·  Chapter alignment: Section 2.2.3</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To design such an agent, we must first specify the task environment completely enough to know what success and available interaction mean.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2.2.3.</a:t>
            </a:r>
          </a:p>
        </p:txBody>
      </p:sp>
      <p:sp>
        <p:nvSpPr>
          <p:cNvPr id="1398" name="PlaceHolder 3"/>
          <p:cNvSpPr>
            <a:spLocks noGrp="1"/>
          </p:cNvSpPr>
          <p:nvPr>
            <p:ph type="sldNum" idx="1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85D04F2-3F37-4F1E-B208-3E67B36CD993}"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9" name="PlaceHolder 1"/>
          <p:cNvSpPr>
            <a:spLocks noGrp="1" noRot="1" noChangeAspect="1"/>
          </p:cNvSpPr>
          <p:nvPr>
            <p:ph type="sldImg"/>
          </p:nvPr>
        </p:nvSpPr>
        <p:spPr>
          <a:xfrm>
            <a:off x="685800" y="1143000"/>
            <a:ext cx="5484813" cy="3084513"/>
          </a:xfrm>
          <a:prstGeom prst="rect">
            <a:avLst/>
          </a:prstGeom>
          <a:ln w="0">
            <a:noFill/>
          </a:ln>
        </p:spPr>
      </p:sp>
      <p:sp>
        <p:nvSpPr>
          <p:cNvPr id="140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14  ·  2.2.3 Three Cautionary Agents</a:t>
            </a:r>
          </a:p>
          <a:p>
            <a:pPr indent="0" algn="l">
              <a:lnSpc>
                <a:spcPct val="100000"/>
              </a:lnSpc>
              <a:buNone/>
            </a:pPr>
            <a:r>
              <a:rPr lang="en-US" sz="1150" b="0" i="0" u="none" strike="noStrike" dirty="0">
                <a:solidFill>
                  <a:srgbClr val="595959"/>
                </a:solidFill>
                <a:effectLst/>
                <a:uFillTx/>
                <a:latin typeface="Arial"/>
              </a:rPr>
              <a:t>Suggested time: 5 minutes  ·  Running total: 52 min  ·  Chapter alignment: Section 2.2.3</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With rationality defined, we can specify the task an agent is meant to solve.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2.2.3.</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 name="PlaceHolder 1"/>
          <p:cNvSpPr>
            <a:spLocks noGrp="1" noRot="1" noChangeAspect="1"/>
          </p:cNvSpPr>
          <p:nvPr>
            <p:ph type="sldImg"/>
          </p:nvPr>
        </p:nvSpPr>
        <p:spPr>
          <a:xfrm>
            <a:off x="685800" y="1143000"/>
            <a:ext cx="5484813" cy="3084513"/>
          </a:xfrm>
          <a:prstGeom prst="rect">
            <a:avLst/>
          </a:prstGeom>
          <a:ln w="0">
            <a:noFill/>
          </a:ln>
        </p:spPr>
      </p:sp>
      <p:sp>
        <p:nvSpPr>
          <p:cNvPr id="140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15  ·  2.3.1 PEAS: Specify the Task Before Designing the Agent</a:t>
            </a:r>
          </a:p>
          <a:p>
            <a:pPr indent="0" algn="l">
              <a:lnSpc>
                <a:spcPct val="100000"/>
              </a:lnSpc>
              <a:buNone/>
            </a:pPr>
            <a:r>
              <a:rPr lang="en-US" sz="1150" b="0" i="0" u="none" strike="noStrike" dirty="0">
                <a:solidFill>
                  <a:srgbClr val="595959"/>
                </a:solidFill>
                <a:effectLst/>
                <a:uFillTx/>
                <a:latin typeface="Arial"/>
              </a:rPr>
              <a:t>Suggested time: 6 minutes  ·  Running total: 58 min  ·  Chapter alignment: Section 2.3.1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shows that the same PEAS structure applies to very different physical and software agents.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2.3.1 and Figure 2.4.</a:t>
            </a:r>
          </a:p>
        </p:txBody>
      </p:sp>
      <p:sp>
        <p:nvSpPr>
          <p:cNvPr id="1403" name="PlaceHolder 3"/>
          <p:cNvSpPr>
            <a:spLocks noGrp="1"/>
          </p:cNvSpPr>
          <p:nvPr>
            <p:ph type="sldNum" idx="1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F5D0334-BEC7-4E19-9106-A1C444F88D2B}"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 name="PlaceHolder 1"/>
          <p:cNvSpPr>
            <a:spLocks noGrp="1" noRot="1" noChangeAspect="1"/>
          </p:cNvSpPr>
          <p:nvPr>
            <p:ph type="sldImg"/>
          </p:nvPr>
        </p:nvSpPr>
        <p:spPr>
          <a:xfrm>
            <a:off x="685800" y="1143000"/>
            <a:ext cx="5484813" cy="3084513"/>
          </a:xfrm>
          <a:prstGeom prst="rect">
            <a:avLst/>
          </a:prstGeom>
          <a:ln w="0">
            <a:noFill/>
          </a:ln>
        </p:spPr>
      </p:sp>
      <p:sp>
        <p:nvSpPr>
          <p:cNvPr id="140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16  ·  2.3.1 PEAS Examples: Agent Types and Task Environments</a:t>
            </a:r>
          </a:p>
          <a:p>
            <a:pPr indent="0" algn="l">
              <a:lnSpc>
                <a:spcPct val="100000"/>
              </a:lnSpc>
              <a:buNone/>
            </a:pPr>
            <a:r>
              <a:rPr lang="en-US" sz="1150" b="0" i="0" u="none" strike="noStrike" dirty="0">
                <a:solidFill>
                  <a:srgbClr val="595959"/>
                </a:solidFill>
                <a:effectLst/>
                <a:uFillTx/>
                <a:latin typeface="Arial"/>
              </a:rPr>
              <a:t>Suggested time: 6 minutes  ·  Running total: 64 min  ·  Chapter alignment: Section 2.3.1 and Figure 2.5</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Once the task is specified, the next step is to classify the environment along dimensions that determine the difficulty of agent design.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2.3.1 and Figure 2.5.</a:t>
            </a:r>
          </a:p>
        </p:txBody>
      </p:sp>
      <p:sp>
        <p:nvSpPr>
          <p:cNvPr id="1406" name="PlaceHolder 3"/>
          <p:cNvSpPr>
            <a:spLocks noGrp="1"/>
          </p:cNvSpPr>
          <p:nvPr>
            <p:ph type="sldNum" idx="1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F6ACC57-25BF-4481-B54F-B5501E17E659}"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7" name="PlaceHolder 1"/>
          <p:cNvSpPr>
            <a:spLocks noGrp="1" noRot="1" noChangeAspect="1"/>
          </p:cNvSpPr>
          <p:nvPr>
            <p:ph type="sldImg"/>
          </p:nvPr>
        </p:nvSpPr>
        <p:spPr>
          <a:xfrm>
            <a:off x="685800" y="1143000"/>
            <a:ext cx="5484813" cy="3084513"/>
          </a:xfrm>
          <a:prstGeom prst="rect">
            <a:avLst/>
          </a:prstGeom>
          <a:ln w="0">
            <a:noFill/>
          </a:ln>
        </p:spPr>
      </p:sp>
      <p:sp>
        <p:nvSpPr>
          <p:cNvPr id="140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17  ·  2.3.2 Task Environment Properties</a:t>
            </a:r>
          </a:p>
          <a:p>
            <a:pPr indent="0" algn="l">
              <a:lnSpc>
                <a:spcPct val="100000"/>
              </a:lnSpc>
              <a:buNone/>
            </a:pPr>
            <a:r>
              <a:rPr lang="en-US" sz="1150" b="0" i="0" u="none" strike="noStrike" dirty="0">
                <a:solidFill>
                  <a:srgbClr val="595959"/>
                </a:solidFill>
                <a:effectLst/>
                <a:uFillTx/>
                <a:latin typeface="Arial"/>
              </a:rPr>
              <a:t>Suggested time: 9 minutes  ·  Running total: 73 min  ·  Chapter alignment: Section 2.3.2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Pac-Man gives us a compact environment in which many of these properties are visible at once.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2.3.2 and Figure 2.6.</a:t>
            </a:r>
          </a:p>
        </p:txBody>
      </p:sp>
      <p:sp>
        <p:nvSpPr>
          <p:cNvPr id="1409" name="PlaceHolder 3"/>
          <p:cNvSpPr>
            <a:spLocks noGrp="1"/>
          </p:cNvSpPr>
          <p:nvPr>
            <p:ph type="sldNum" idx="1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406C4A7-A3E0-495F-BDCD-24A7E85105D6}"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 name="PlaceHolder 1"/>
          <p:cNvSpPr>
            <a:spLocks noGrp="1" noRot="1" noChangeAspect="1"/>
          </p:cNvSpPr>
          <p:nvPr>
            <p:ph type="sldImg"/>
          </p:nvPr>
        </p:nvSpPr>
        <p:spPr>
          <a:xfrm>
            <a:off x="685800" y="1143000"/>
            <a:ext cx="5484813" cy="3084513"/>
          </a:xfrm>
          <a:prstGeom prst="rect">
            <a:avLst/>
          </a:prstGeom>
          <a:ln w="0">
            <a:noFill/>
          </a:ln>
        </p:spPr>
      </p:sp>
      <p:sp>
        <p:nvSpPr>
          <p:cNvPr id="141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18  ·  2.3.2 Reading the Fine Print on Three Dimensions</a:t>
            </a:r>
          </a:p>
          <a:p>
            <a:pPr indent="0" algn="l">
              <a:lnSpc>
                <a:spcPct val="100000"/>
              </a:lnSpc>
              <a:buNone/>
            </a:pPr>
            <a:r>
              <a:rPr lang="en-US" sz="1150" b="0" i="0" u="none" strike="noStrike" dirty="0">
                <a:solidFill>
                  <a:srgbClr val="595959"/>
                </a:solidFill>
                <a:effectLst/>
                <a:uFillTx/>
                <a:latin typeface="Arial"/>
              </a:rPr>
              <a:t>Suggested time: 5 minutes  ·  Running total: 78 min  ·  Chapter alignment: Section 2.3.2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One pair of dimensions gets confused so often that it deserves its own slide.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2.3.2.</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 name="PlaceHolder 1"/>
          <p:cNvSpPr>
            <a:spLocks noGrp="1" noRot="1" noChangeAspect="1"/>
          </p:cNvSpPr>
          <p:nvPr>
            <p:ph type="sldImg"/>
          </p:nvPr>
        </p:nvSpPr>
        <p:spPr>
          <a:xfrm>
            <a:off x="685800" y="1143000"/>
            <a:ext cx="5484813" cy="3084513"/>
          </a:xfrm>
          <a:prstGeom prst="rect">
            <a:avLst/>
          </a:prstGeom>
          <a:ln w="0">
            <a:noFill/>
          </a:ln>
        </p:spPr>
      </p:sp>
      <p:sp>
        <p:nvSpPr>
          <p:cNvPr id="141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19  ·  2.3.2 Known Is Not the Same as Observable</a:t>
            </a:r>
          </a:p>
          <a:p>
            <a:pPr indent="0" algn="l">
              <a:lnSpc>
                <a:spcPct val="100000"/>
              </a:lnSpc>
              <a:buNone/>
            </a:pPr>
            <a:r>
              <a:rPr lang="en-US" sz="1150" b="0" i="0" u="none" strike="noStrike" dirty="0">
                <a:solidFill>
                  <a:srgbClr val="595959"/>
                </a:solidFill>
                <a:effectLst/>
                <a:uFillTx/>
                <a:latin typeface="Arial"/>
              </a:rPr>
              <a:t>Suggested time: 4 minutes  ·  Running total: 82 min  ·  Chapter alignment: Section 2.3.2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With the task specified and the environment classified, we can finally look inside the agent.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2.3.2.</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 name="PlaceHolder 1"/>
          <p:cNvSpPr>
            <a:spLocks noGrp="1" noRot="1" noChangeAspect="1"/>
          </p:cNvSpPr>
          <p:nvPr>
            <p:ph type="sldImg"/>
          </p:nvPr>
        </p:nvSpPr>
        <p:spPr>
          <a:xfrm>
            <a:off x="685800" y="1143000"/>
            <a:ext cx="5486400" cy="3086100"/>
          </a:xfrm>
          <a:prstGeom prst="rect">
            <a:avLst/>
          </a:prstGeom>
          <a:ln w="0">
            <a:noFill/>
          </a:ln>
        </p:spPr>
      </p:sp>
      <p:sp>
        <p:nvSpPr>
          <p:cNvPr id="141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20  ·  Pac-Man as a Chapter 2 Agent</a:t>
            </a:r>
          </a:p>
          <a:p>
            <a:pPr indent="0" algn="l">
              <a:lnSpc>
                <a:spcPct val="100000"/>
              </a:lnSpc>
              <a:buNone/>
            </a:pPr>
            <a:r>
              <a:rPr lang="en-US" sz="1150" b="0" i="0" u="none" strike="noStrike" dirty="0">
                <a:solidFill>
                  <a:srgbClr val="595959"/>
                </a:solidFill>
                <a:effectLst/>
                <a:uFillTx/>
                <a:latin typeface="Arial"/>
              </a:rPr>
              <a:t>Suggested time: 4 minutes  ·  Running total: 86 min  ·  Chapter alignment: Running example across Sections 2.1-2.4</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Before we move inside the agent, we will stress-test a simple reflex Pac-Man program in two maze levels and use its failures to motivate stronger designs.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2.1-2.4; lecture deck Pac-Man example.</a:t>
            </a:r>
          </a:p>
        </p:txBody>
      </p:sp>
      <p:sp>
        <p:nvSpPr>
          <p:cNvPr id="1416" name="PlaceHolder 3"/>
          <p:cNvSpPr>
            <a:spLocks noGrp="1"/>
          </p:cNvSpPr>
          <p:nvPr>
            <p:ph type="sldNum" idx="1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60F0101-BAC8-4665-B9EA-3D4165FC56F4}"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21  ·  Pac-Man Simple Reflex Demo — Level 1</a:t>
            </a:r>
          </a:p>
          <a:p>
            <a:pPr indent="0" algn="l">
              <a:lnSpc>
                <a:spcPct val="100000"/>
              </a:lnSpc>
              <a:buNone/>
            </a:pPr>
            <a:r>
              <a:rPr lang="en-US" sz="1150" b="0" i="0" u="none" strike="noStrike" dirty="0">
                <a:solidFill>
                  <a:srgbClr val="595959"/>
                </a:solidFill>
                <a:effectLst/>
                <a:uFillTx/>
                <a:latin typeface="Arial"/>
              </a:rPr>
              <a:t>Suggested time: 3 minutes  ·  Running total: 89 min  ·  Chapter alignment: Section 2.4.2; simple reflex agents and motivation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Level 2 keeps the same basic agent design but adds detours and branches, making the architectural limitation much harder to hide.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Embedded Pac-Man simple-reflex demonstration in this deck.</a:t>
            </a:r>
          </a:p>
          <a:p>
            <a:pPr indent="0" algn="l">
              <a:lnSpc>
                <a:spcPct val="100000"/>
              </a:lnSpc>
              <a:buNone/>
            </a:pPr>
            <a:r>
              <a:rPr lang="en-US" sz="1150" b="0" i="0" u="none" strike="noStrike" dirty="0">
                <a:solidFill>
                  <a:srgbClr val="595959"/>
                </a:solidFill>
                <a:effectLst/>
                <a:uFillTx/>
                <a:latin typeface="Arial"/>
              </a:rPr>
              <a:t>AIMA 4e, Section 2.4.2.</a:t>
            </a:r>
          </a:p>
        </p:txBody>
      </p:sp>
      <p:sp>
        <p:nvSpPr>
          <p:cNvPr id="4" name="Slide Number Placeholder 3"/>
          <p:cNvSpPr>
            <a:spLocks noGrp="1"/>
          </p:cNvSpPr>
          <p:nvPr>
            <p:ph type="sldNum" idx="3"/>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22  ·  Pac-Man Simple Reflex Demo — Level 2</a:t>
            </a:r>
          </a:p>
          <a:p>
            <a:pPr indent="0" algn="l">
              <a:lnSpc>
                <a:spcPct val="100000"/>
              </a:lnSpc>
              <a:buNone/>
            </a:pPr>
            <a:r>
              <a:rPr lang="en-US" sz="1150" b="0" i="0" u="none" strike="noStrike" dirty="0">
                <a:solidFill>
                  <a:srgbClr val="595959"/>
                </a:solidFill>
                <a:effectLst/>
                <a:uFillTx/>
                <a:latin typeface="Arial"/>
              </a:rPr>
              <a:t>Suggested time: 4 minutes  ·  Running total: 93 min  ·  Chapter alignment: Section 2.4.2; limitations of simple reflex behavior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separates the root architectural problem from the search algorithm that could be used inside a stronger agent.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Embedded Pac-Man simple-reflex demonstration in this deck.</a:t>
            </a:r>
          </a:p>
          <a:p>
            <a:pPr indent="0" algn="l">
              <a:lnSpc>
                <a:spcPct val="100000"/>
              </a:lnSpc>
              <a:buNone/>
            </a:pPr>
            <a:r>
              <a:rPr lang="en-US" sz="1150" b="0" i="0" u="none" strike="noStrike" dirty="0">
                <a:solidFill>
                  <a:srgbClr val="595959"/>
                </a:solidFill>
                <a:effectLst/>
                <a:uFillTx/>
                <a:latin typeface="Arial"/>
              </a:rPr>
              <a:t>AIMA 4e, Sections 2.3.2 and 2.4.2.</a:t>
            </a:r>
          </a:p>
        </p:txBody>
      </p:sp>
      <p:sp>
        <p:nvSpPr>
          <p:cNvPr id="4" name="Slide Number Placeholder 3"/>
          <p:cNvSpPr>
            <a:spLocks noGrp="1"/>
          </p:cNvSpPr>
          <p:nvPr>
            <p:ph type="sldNum" idx="3"/>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7" name="PlaceHolder 1"/>
          <p:cNvSpPr>
            <a:spLocks noGrp="1" noRot="1" noChangeAspect="1"/>
          </p:cNvSpPr>
          <p:nvPr>
            <p:ph type="sldImg"/>
          </p:nvPr>
        </p:nvSpPr>
        <p:spPr>
          <a:xfrm>
            <a:off x="0" y="763588"/>
            <a:ext cx="0" cy="0"/>
          </a:xfrm>
          <a:prstGeom prst="rect">
            <a:avLst/>
          </a:prstGeom>
          <a:ln w="0">
            <a:noFill/>
          </a:ln>
        </p:spPr>
      </p:sp>
      <p:sp>
        <p:nvSpPr>
          <p:cNvPr id="1418" name="PlaceHolder 2"/>
          <p:cNvSpPr>
            <a:spLocks noGrp="1"/>
          </p:cNvSpPr>
          <p:nvPr>
            <p:ph type="body"/>
          </p:nvPr>
        </p:nvSpPr>
        <p:spPr>
          <a:xfrm>
            <a:off x="777240" y="4777560"/>
            <a:ext cx="6217200" cy="452556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23  ·  What breaks in Levels 1 and 2</a:t>
            </a:r>
          </a:p>
          <a:p>
            <a:pPr indent="0" algn="l">
              <a:lnSpc>
                <a:spcPct val="100000"/>
              </a:lnSpc>
              <a:buNone/>
            </a:pPr>
            <a:r>
              <a:rPr lang="en-US" sz="1150" b="0" i="0" u="none" strike="noStrike" dirty="0">
                <a:solidFill>
                  <a:srgbClr val="595959"/>
                </a:solidFill>
                <a:effectLst/>
                <a:uFillTx/>
                <a:latin typeface="Arial"/>
              </a:rPr>
              <a:t>Suggested time: 5 minutes  ·  Running total: 98 min  ·  Chapter alignment: Sections 2.4.2 and 2.4.4; bridge from reflex behavior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Even after we add BFS as a planner, several limitations remain, especially once the world becomes dynamic or the objective is richer than minimum number of moves.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2.4.2 and 2.4.4; search terminology used here as a</a:t>
            </a:r>
          </a:p>
          <a:p>
            <a:pPr indent="0" algn="l">
              <a:lnSpc>
                <a:spcPct val="100000"/>
              </a:lnSpc>
              <a:buNone/>
            </a:pPr>
            <a:r>
              <a:rPr lang="en-US" sz="1150" b="0" i="0" u="none" strike="noStrike" dirty="0">
                <a:solidFill>
                  <a:srgbClr val="595959"/>
                </a:solidFill>
                <a:effectLst/>
                <a:uFillTx/>
                <a:latin typeface="Arial"/>
              </a:rPr>
              <a:t>forward reference to the next unit.</a:t>
            </a:r>
          </a:p>
          <a:p>
            <a:pPr indent="0" algn="l">
              <a:lnSpc>
                <a:spcPct val="100000"/>
              </a:lnSpc>
              <a:buNone/>
            </a:pPr>
            <a:r>
              <a:rPr lang="en-US" sz="1150" b="0" i="0" u="none" strike="noStrike" dirty="0">
                <a:solidFill>
                  <a:srgbClr val="595959"/>
                </a:solidFill>
                <a:effectLst/>
                <a:uFillTx/>
                <a:latin typeface="Arial"/>
              </a:rPr>
              <a:t>Pac-Man demonstrations and analysis on this slide.</a:t>
            </a:r>
          </a:p>
        </p:txBody>
      </p:sp>
      <p:sp>
        <p:nvSpPr>
          <p:cNvPr id="1419" name="PlaceHolder 3"/>
          <p:cNvSpPr>
            <a:spLocks noGrp="1"/>
          </p:cNvSpPr>
          <p:nvPr>
            <p:ph type="sldNum" idx="17"/>
          </p:nvPr>
        </p:nvSpPr>
        <p:spPr>
          <a:xfrm>
            <a:off x="4399200" y="9555480"/>
            <a:ext cx="3372480" cy="50220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C483039-C438-4438-84BB-262BDF4526EF}" type="slidenum">
              <a:rPr lang="en-US" sz="1400" b="0" u="none" strike="noStrike">
                <a:solidFill>
                  <a:srgbClr val="000000"/>
                </a:solidFill>
                <a:effectLst/>
                <a:uFillTx/>
                <a:latin typeface="Times New Roman"/>
                <a:ea typeface="+mn-ea"/>
              </a:rPr>
              <a:t>23</a:t>
            </a:fld>
            <a:endParaRPr lang="en-US" sz="14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 name="PlaceHolder 1"/>
          <p:cNvSpPr>
            <a:spLocks noGrp="1" noRot="1" noChangeAspect="1"/>
          </p:cNvSpPr>
          <p:nvPr>
            <p:ph type="sldImg"/>
          </p:nvPr>
        </p:nvSpPr>
        <p:spPr>
          <a:xfrm>
            <a:off x="0" y="763588"/>
            <a:ext cx="0" cy="0"/>
          </a:xfrm>
          <a:prstGeom prst="rect">
            <a:avLst/>
          </a:prstGeom>
          <a:ln w="0">
            <a:noFill/>
          </a:ln>
        </p:spPr>
      </p:sp>
      <p:sp>
        <p:nvSpPr>
          <p:cNvPr id="1421" name="PlaceHolder 2"/>
          <p:cNvSpPr>
            <a:spLocks noGrp="1"/>
          </p:cNvSpPr>
          <p:nvPr>
            <p:ph type="body"/>
          </p:nvPr>
        </p:nvSpPr>
        <p:spPr>
          <a:xfrm>
            <a:off x="777240" y="4777560"/>
            <a:ext cx="6217200" cy="452556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24  ·  BFS helps with reachability, but it is still limited</a:t>
            </a:r>
          </a:p>
          <a:p>
            <a:pPr indent="0" algn="l">
              <a:lnSpc>
                <a:spcPct val="100000"/>
              </a:lnSpc>
              <a:buNone/>
            </a:pPr>
            <a:r>
              <a:rPr lang="en-US" sz="1150" b="0" i="0" u="none" strike="noStrike" dirty="0">
                <a:solidFill>
                  <a:srgbClr val="595959"/>
                </a:solidFill>
                <a:effectLst/>
                <a:uFillTx/>
                <a:latin typeface="Arial"/>
              </a:rPr>
              <a:t>Suggested time: 5 minutes  ·  Running total: 103 min  ·  Chapter alignment: Section 2.4.4; forward reference to search and</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With that motivation in place, we can now formalize what sits inside an agent: the architecture that provides capabilities and the program that maps percepts to actions.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2.4.4; BFS details are a forward reference to the</a:t>
            </a:r>
          </a:p>
          <a:p>
            <a:pPr indent="0" algn="l">
              <a:lnSpc>
                <a:spcPct val="100000"/>
              </a:lnSpc>
              <a:buNone/>
            </a:pPr>
            <a:r>
              <a:rPr lang="en-US" sz="1150" b="0" i="0" u="none" strike="noStrike" dirty="0">
                <a:solidFill>
                  <a:srgbClr val="595959"/>
                </a:solidFill>
                <a:effectLst/>
                <a:uFillTx/>
                <a:latin typeface="Arial"/>
              </a:rPr>
              <a:t>search chapters.</a:t>
            </a:r>
          </a:p>
          <a:p>
            <a:pPr indent="0" algn="l">
              <a:lnSpc>
                <a:spcPct val="100000"/>
              </a:lnSpc>
              <a:buNone/>
            </a:pPr>
            <a:r>
              <a:rPr lang="en-US" sz="1150" b="0" i="0" u="none" strike="noStrike" dirty="0">
                <a:solidFill>
                  <a:srgbClr val="595959"/>
                </a:solidFill>
                <a:effectLst/>
                <a:uFillTx/>
                <a:latin typeface="Arial"/>
              </a:rPr>
              <a:t>Pac-Man demonstration analysis in this deck.</a:t>
            </a:r>
          </a:p>
        </p:txBody>
      </p:sp>
      <p:sp>
        <p:nvSpPr>
          <p:cNvPr id="1422" name="PlaceHolder 3"/>
          <p:cNvSpPr>
            <a:spLocks noGrp="1"/>
          </p:cNvSpPr>
          <p:nvPr>
            <p:ph type="sldNum" idx="18"/>
          </p:nvPr>
        </p:nvSpPr>
        <p:spPr>
          <a:xfrm>
            <a:off x="4399200" y="9555480"/>
            <a:ext cx="3372480" cy="50220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CBDFECD2-E23F-4FA0-9D30-8024CECB011D}" type="slidenum">
              <a:rPr lang="en-US" sz="1400" b="0" u="none" strike="noStrike">
                <a:solidFill>
                  <a:srgbClr val="000000"/>
                </a:solidFill>
                <a:effectLst/>
                <a:uFillTx/>
                <a:latin typeface="Times New Roman"/>
                <a:ea typeface="+mn-ea"/>
              </a:rPr>
              <a:t>24</a:t>
            </a:fld>
            <a:endParaRPr lang="en-US" sz="14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 name="PlaceHolder 1"/>
          <p:cNvSpPr>
            <a:spLocks noGrp="1" noRot="1" noChangeAspect="1"/>
          </p:cNvSpPr>
          <p:nvPr>
            <p:ph type="sldImg"/>
          </p:nvPr>
        </p:nvSpPr>
        <p:spPr>
          <a:xfrm>
            <a:off x="685800" y="1143000"/>
            <a:ext cx="5486400" cy="3086100"/>
          </a:xfrm>
          <a:prstGeom prst="rect">
            <a:avLst/>
          </a:prstGeom>
          <a:ln w="0">
            <a:noFill/>
          </a:ln>
        </p:spPr>
      </p:sp>
      <p:sp>
        <p:nvSpPr>
          <p:cNvPr id="142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25  ·  2.4 Agent Structure: Architecture + Program</a:t>
            </a:r>
          </a:p>
          <a:p>
            <a:pPr indent="0" algn="l">
              <a:lnSpc>
                <a:spcPct val="100000"/>
              </a:lnSpc>
              <a:buNone/>
            </a:pPr>
            <a:r>
              <a:rPr lang="en-US" sz="1150" b="0" i="0" u="none" strike="noStrike" dirty="0">
                <a:solidFill>
                  <a:srgbClr val="595959"/>
                </a:solidFill>
                <a:effectLst/>
                <a:uFillTx/>
                <a:latin typeface="Arial"/>
              </a:rPr>
              <a:t>Suggested time: 4 minutes  ·  Running total: 107 min  ·  Chapter alignment: Sections 2.4 and 2.4.1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table-driven agent is our conceptual baseline for implementing an agent function.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2.4 and 2.4.1.</a:t>
            </a:r>
          </a:p>
        </p:txBody>
      </p:sp>
      <p:sp>
        <p:nvSpPr>
          <p:cNvPr id="1425" name="PlaceHolder 3"/>
          <p:cNvSpPr>
            <a:spLocks noGrp="1"/>
          </p:cNvSpPr>
          <p:nvPr>
            <p:ph type="sldNum" idx="1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5E415A9-C29F-4D26-8CB4-3086102597F3}"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 name="PlaceHolder 1"/>
          <p:cNvSpPr>
            <a:spLocks noGrp="1" noRot="1" noChangeAspect="1"/>
          </p:cNvSpPr>
          <p:nvPr>
            <p:ph type="sldImg"/>
          </p:nvPr>
        </p:nvSpPr>
        <p:spPr>
          <a:xfrm>
            <a:off x="685800" y="1143000"/>
            <a:ext cx="5484813" cy="3084513"/>
          </a:xfrm>
          <a:prstGeom prst="rect">
            <a:avLst/>
          </a:prstGeom>
          <a:ln w="0">
            <a:noFill/>
          </a:ln>
        </p:spPr>
      </p:sp>
      <p:sp>
        <p:nvSpPr>
          <p:cNvPr id="142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26  ·  2.4.1 Table-Driven Agent</a:t>
            </a:r>
          </a:p>
          <a:p>
            <a:pPr indent="0" algn="l">
              <a:lnSpc>
                <a:spcPct val="100000"/>
              </a:lnSpc>
              <a:buNone/>
            </a:pPr>
            <a:r>
              <a:rPr lang="en-US" sz="1150" b="0" i="0" u="none" strike="noStrike" dirty="0">
                <a:solidFill>
                  <a:srgbClr val="595959"/>
                </a:solidFill>
                <a:effectLst/>
                <a:uFillTx/>
                <a:latin typeface="Arial"/>
              </a:rPr>
              <a:t>Suggested time: 5 minutes  ·  Running total: 112 min  ·  Chapter alignment: Section 2.4.1 and Figure 2.7</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explains why this correct-in-principle design fails as an engineering solution.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2.4.1 and Figure 2.7.</a:t>
            </a:r>
          </a:p>
        </p:txBody>
      </p:sp>
      <p:sp>
        <p:nvSpPr>
          <p:cNvPr id="1428" name="PlaceHolder 3"/>
          <p:cNvSpPr>
            <a:spLocks noGrp="1"/>
          </p:cNvSpPr>
          <p:nvPr>
            <p:ph type="sldNum" idx="2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BC501BC-67C3-4A48-86AB-5E925DAFDA0F}"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 name="PlaceHolder 1"/>
          <p:cNvSpPr>
            <a:spLocks noGrp="1" noRot="1" noChangeAspect="1"/>
          </p:cNvSpPr>
          <p:nvPr>
            <p:ph type="sldImg"/>
          </p:nvPr>
        </p:nvSpPr>
        <p:spPr>
          <a:xfrm>
            <a:off x="685800" y="1143000"/>
            <a:ext cx="5484813" cy="3084513"/>
          </a:xfrm>
          <a:prstGeom prst="rect">
            <a:avLst/>
          </a:prstGeom>
          <a:ln w="0">
            <a:noFill/>
          </a:ln>
        </p:spPr>
      </p:sp>
      <p:sp>
        <p:nvSpPr>
          <p:cNvPr id="143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27  ·  Why Table-Driven Agents Fail in Practice</a:t>
            </a:r>
          </a:p>
          <a:p>
            <a:pPr indent="0" algn="l">
              <a:lnSpc>
                <a:spcPct val="100000"/>
              </a:lnSpc>
              <a:buNone/>
            </a:pPr>
            <a:r>
              <a:rPr lang="en-US" sz="1150" b="0" i="0" u="none" strike="noStrike" dirty="0">
                <a:solidFill>
                  <a:srgbClr val="595959"/>
                </a:solidFill>
                <a:effectLst/>
                <a:uFillTx/>
                <a:latin typeface="Arial"/>
              </a:rPr>
              <a:t>Suggested time: 4 minutes  ·  Running total: 116 min  ·  Chapter alignment: Section 2.4.1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simplest compact alternative is a reflex agent that uses condition-action rules.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2.4.1.</a:t>
            </a:r>
          </a:p>
        </p:txBody>
      </p:sp>
      <p:sp>
        <p:nvSpPr>
          <p:cNvPr id="1431" name="PlaceHolder 3"/>
          <p:cNvSpPr>
            <a:spLocks noGrp="1"/>
          </p:cNvSpPr>
          <p:nvPr>
            <p:ph type="sldNum" idx="2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09FC01D-F856-4989-9251-CB1D7A53A84A}"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 name="PlaceHolder 1"/>
          <p:cNvSpPr>
            <a:spLocks noGrp="1" noRot="1" noChangeAspect="1"/>
          </p:cNvSpPr>
          <p:nvPr>
            <p:ph type="sldImg"/>
          </p:nvPr>
        </p:nvSpPr>
        <p:spPr>
          <a:xfrm>
            <a:off x="685800" y="1143000"/>
            <a:ext cx="5484813" cy="3084513"/>
          </a:xfrm>
          <a:prstGeom prst="rect">
            <a:avLst/>
          </a:prstGeom>
          <a:ln w="0">
            <a:noFill/>
          </a:ln>
        </p:spPr>
      </p:sp>
      <p:sp>
        <p:nvSpPr>
          <p:cNvPr id="143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28  ·  2.4.1 The Numbers Behind the Failure</a:t>
            </a:r>
          </a:p>
          <a:p>
            <a:pPr indent="0" algn="l">
              <a:lnSpc>
                <a:spcPct val="100000"/>
              </a:lnSpc>
              <a:buNone/>
            </a:pPr>
            <a:r>
              <a:rPr lang="en-US" sz="1150" b="0" i="0" u="none" strike="noStrike" dirty="0">
                <a:solidFill>
                  <a:srgbClr val="595959"/>
                </a:solidFill>
                <a:effectLst/>
                <a:uFillTx/>
                <a:latin typeface="Arial"/>
              </a:rPr>
              <a:t>Suggested time: 4 minutes  ·  Running total: 120 min  ·  Chapter alignment: Section 2.4.1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first and smallest such program is the simple reflex agent.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2.4.1.</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 name="PlaceHolder 1"/>
          <p:cNvSpPr>
            <a:spLocks noGrp="1" noRot="1" noChangeAspect="1"/>
          </p:cNvSpPr>
          <p:nvPr>
            <p:ph type="sldImg"/>
          </p:nvPr>
        </p:nvSpPr>
        <p:spPr>
          <a:xfrm>
            <a:off x="685800" y="1143000"/>
            <a:ext cx="5484813" cy="3084513"/>
          </a:xfrm>
          <a:prstGeom prst="rect">
            <a:avLst/>
          </a:prstGeom>
          <a:ln w="0">
            <a:noFill/>
          </a:ln>
        </p:spPr>
      </p:sp>
      <p:sp>
        <p:nvSpPr>
          <p:cNvPr id="143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29  ·  2.4.2 Simple Reflex Agents: Vacuum Pseudocode</a:t>
            </a:r>
          </a:p>
          <a:p>
            <a:pPr indent="0" algn="l">
              <a:lnSpc>
                <a:spcPct val="100000"/>
              </a:lnSpc>
              <a:buNone/>
            </a:pPr>
            <a:r>
              <a:rPr lang="en-US" sz="1150" b="0" i="0" u="none" strike="noStrike" dirty="0">
                <a:solidFill>
                  <a:srgbClr val="595959"/>
                </a:solidFill>
                <a:effectLst/>
                <a:uFillTx/>
                <a:latin typeface="Arial"/>
              </a:rPr>
              <a:t>Suggested time: 5 minutes  ·  Running total: 125 min  ·  Chapter alignment: Section 2.4.2 and Figure 2.8</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A general simple reflex architecture separates percept interpretation from rule matching.</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2.4.2 and Figure 2.8.</a:t>
            </a:r>
          </a:p>
        </p:txBody>
      </p:sp>
      <p:sp>
        <p:nvSpPr>
          <p:cNvPr id="1436" name="PlaceHolder 3"/>
          <p:cNvSpPr>
            <a:spLocks noGrp="1"/>
          </p:cNvSpPr>
          <p:nvPr>
            <p:ph type="sldNum" idx="2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B73E41-A6B8-442C-B7F5-FAD8C8925EAA}"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7" name="PlaceHolder 1"/>
          <p:cNvSpPr>
            <a:spLocks noGrp="1" noRot="1" noChangeAspect="1"/>
          </p:cNvSpPr>
          <p:nvPr>
            <p:ph type="sldImg"/>
          </p:nvPr>
        </p:nvSpPr>
        <p:spPr>
          <a:xfrm>
            <a:off x="685800" y="1143000"/>
            <a:ext cx="5486400" cy="3086100"/>
          </a:xfrm>
          <a:prstGeom prst="rect">
            <a:avLst/>
          </a:prstGeom>
          <a:ln w="0">
            <a:noFill/>
          </a:ln>
        </p:spPr>
      </p:sp>
      <p:sp>
        <p:nvSpPr>
          <p:cNvPr id="143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30  ·  2.4.2 General Simple Reflex Agent</a:t>
            </a:r>
          </a:p>
          <a:p>
            <a:pPr indent="0" algn="l">
              <a:lnSpc>
                <a:spcPct val="100000"/>
              </a:lnSpc>
              <a:buNone/>
            </a:pPr>
            <a:r>
              <a:rPr lang="en-US" sz="1150" b="0" i="0" u="none" strike="noStrike" dirty="0">
                <a:solidFill>
                  <a:srgbClr val="595959"/>
                </a:solidFill>
                <a:effectLst/>
                <a:uFillTx/>
                <a:latin typeface="Arial"/>
              </a:rPr>
              <a:t>Suggested time: 5 minutes  ·  Running total: 130 min  ·  Chapter alignment: Section 2.4.2 and Figures 2.9-2.10</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Partial observability exposes the central limitation of simple reflex behavior.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2.4.2 and Figures 2.9-2.10.</a:t>
            </a:r>
          </a:p>
        </p:txBody>
      </p:sp>
      <p:sp>
        <p:nvSpPr>
          <p:cNvPr id="1439" name="PlaceHolder 3"/>
          <p:cNvSpPr>
            <a:spLocks noGrp="1"/>
          </p:cNvSpPr>
          <p:nvPr>
            <p:ph type="sldNum" idx="2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A9A893C-0F29-4F43-B010-A05EE61B62F9}"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 name="PlaceHolder 1"/>
          <p:cNvSpPr>
            <a:spLocks noGrp="1" noRot="1" noChangeAspect="1"/>
          </p:cNvSpPr>
          <p:nvPr>
            <p:ph type="sldImg"/>
          </p:nvPr>
        </p:nvSpPr>
        <p:spPr>
          <a:xfrm>
            <a:off x="685800" y="1143000"/>
            <a:ext cx="5484813" cy="3084513"/>
          </a:xfrm>
          <a:prstGeom prst="rect">
            <a:avLst/>
          </a:prstGeom>
          <a:ln w="0">
            <a:noFill/>
          </a:ln>
        </p:spPr>
      </p:sp>
      <p:sp>
        <p:nvSpPr>
          <p:cNvPr id="144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31  ·  2.4.2 Condition--Action Rules: Power and Limits</a:t>
            </a:r>
          </a:p>
          <a:p>
            <a:pPr indent="0" algn="l">
              <a:lnSpc>
                <a:spcPct val="100000"/>
              </a:lnSpc>
              <a:buNone/>
            </a:pPr>
            <a:r>
              <a:rPr lang="en-US" sz="1150" b="0" i="0" u="none" strike="noStrike" dirty="0">
                <a:solidFill>
                  <a:srgbClr val="595959"/>
                </a:solidFill>
                <a:effectLst/>
                <a:uFillTx/>
                <a:latin typeface="Arial"/>
              </a:rPr>
              <a:t>Suggested time: 4 minutes  ·  Running total: 134 min  ·  Chapter alignment: Section 2.4.2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works through the vacuum version of this failure in detail, and then we build the fix: an agent that keeps internal state.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2.4.2.</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2" name="PlaceHolder 1"/>
          <p:cNvSpPr>
            <a:spLocks noGrp="1" noRot="1" noChangeAspect="1"/>
          </p:cNvSpPr>
          <p:nvPr>
            <p:ph type="sldImg"/>
          </p:nvPr>
        </p:nvSpPr>
        <p:spPr>
          <a:xfrm>
            <a:off x="685800" y="1143000"/>
            <a:ext cx="5486400" cy="3086100"/>
          </a:xfrm>
          <a:prstGeom prst="rect">
            <a:avLst/>
          </a:prstGeom>
          <a:ln w="0">
            <a:noFill/>
          </a:ln>
        </p:spPr>
      </p:sp>
      <p:sp>
        <p:nvSpPr>
          <p:cNvPr id="144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32  ·  When Simple Reflex Fails: Partial Observability</a:t>
            </a:r>
          </a:p>
          <a:p>
            <a:pPr indent="0" algn="l">
              <a:lnSpc>
                <a:spcPct val="100000"/>
              </a:lnSpc>
              <a:buNone/>
            </a:pPr>
            <a:r>
              <a:rPr lang="en-US" sz="1150" b="0" i="0" u="none" strike="noStrike" dirty="0">
                <a:solidFill>
                  <a:srgbClr val="595959"/>
                </a:solidFill>
                <a:effectLst/>
                <a:uFillTx/>
                <a:latin typeface="Arial"/>
              </a:rPr>
              <a:t>Suggested time: 4 minutes  ·  Running total: 138 min  ·  Chapter alignment: Section 2.4.2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Model-based agents use internal state plus models of the world and sensors.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2.4.2.</a:t>
            </a:r>
          </a:p>
        </p:txBody>
      </p:sp>
      <p:sp>
        <p:nvSpPr>
          <p:cNvPr id="1444" name="PlaceHolder 3"/>
          <p:cNvSpPr>
            <a:spLocks noGrp="1"/>
          </p:cNvSpPr>
          <p:nvPr>
            <p:ph type="sldNum" idx="2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9231CEF-4DC2-443C-8693-61A464C26244}"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5" name="PlaceHolder 1"/>
          <p:cNvSpPr>
            <a:spLocks noGrp="1" noRot="1" noChangeAspect="1"/>
          </p:cNvSpPr>
          <p:nvPr>
            <p:ph type="sldImg"/>
          </p:nvPr>
        </p:nvSpPr>
        <p:spPr>
          <a:xfrm>
            <a:off x="685800" y="1143000"/>
            <a:ext cx="5486400" cy="3086100"/>
          </a:xfrm>
          <a:prstGeom prst="rect">
            <a:avLst/>
          </a:prstGeom>
          <a:ln w="0">
            <a:noFill/>
          </a:ln>
        </p:spPr>
      </p:sp>
      <p:sp>
        <p:nvSpPr>
          <p:cNvPr id="144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33  ·  2.4.3 Model-Based Reflex Agents</a:t>
            </a:r>
          </a:p>
          <a:p>
            <a:pPr indent="0" algn="l">
              <a:lnSpc>
                <a:spcPct val="100000"/>
              </a:lnSpc>
              <a:buNone/>
            </a:pPr>
            <a:r>
              <a:rPr lang="en-US" sz="1150" b="0" i="0" u="none" strike="noStrike" dirty="0">
                <a:solidFill>
                  <a:srgbClr val="595959"/>
                </a:solidFill>
                <a:effectLst/>
                <a:uFillTx/>
                <a:latin typeface="Arial"/>
              </a:rPr>
              <a:t>Suggested time: 6 minutes  ·  Running total: 144 min  ·  Chapter alignment: Section 2.4.3 and Figure 2.11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pseudocode shows exactly where state, action history, and models enter the decision loop.</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2.4.3 and Figure 2.11.</a:t>
            </a:r>
          </a:p>
        </p:txBody>
      </p:sp>
      <p:sp>
        <p:nvSpPr>
          <p:cNvPr id="1447" name="PlaceHolder 3"/>
          <p:cNvSpPr>
            <a:spLocks noGrp="1"/>
          </p:cNvSpPr>
          <p:nvPr>
            <p:ph type="sldNum" idx="2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CAFC221-E14A-4530-8649-3B02E26AE78E}"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8" name="PlaceHolder 1"/>
          <p:cNvSpPr>
            <a:spLocks noGrp="1" noRot="1" noChangeAspect="1"/>
          </p:cNvSpPr>
          <p:nvPr>
            <p:ph type="sldImg"/>
          </p:nvPr>
        </p:nvSpPr>
        <p:spPr>
          <a:xfrm>
            <a:off x="685800" y="1143000"/>
            <a:ext cx="5484813" cy="3084513"/>
          </a:xfrm>
          <a:prstGeom prst="rect">
            <a:avLst/>
          </a:prstGeom>
          <a:ln w="0">
            <a:noFill/>
          </a:ln>
        </p:spPr>
      </p:sp>
      <p:sp>
        <p:nvSpPr>
          <p:cNvPr id="144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34  ·  2.4.3 Model-Based Reflex Agent Pseudocode</a:t>
            </a:r>
          </a:p>
          <a:p>
            <a:pPr indent="0" algn="l">
              <a:lnSpc>
                <a:spcPct val="100000"/>
              </a:lnSpc>
              <a:buNone/>
            </a:pPr>
            <a:r>
              <a:rPr lang="en-US" sz="1150" b="0" i="0" u="none" strike="noStrike" dirty="0">
                <a:solidFill>
                  <a:srgbClr val="595959"/>
                </a:solidFill>
                <a:effectLst/>
                <a:uFillTx/>
                <a:latin typeface="Arial"/>
              </a:rPr>
              <a:t>Suggested time: 6 minutes  ·  Running total: 150 min  ·  Chapter alignment: Section 2.4.3 and Figure 2.12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Internal state tells the agent where it believes it is; a goal tells the agent where it wants to go.</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2.4.3 and Figure 2.12.</a:t>
            </a:r>
          </a:p>
        </p:txBody>
      </p:sp>
      <p:sp>
        <p:nvSpPr>
          <p:cNvPr id="1450" name="PlaceHolder 3"/>
          <p:cNvSpPr>
            <a:spLocks noGrp="1"/>
          </p:cNvSpPr>
          <p:nvPr>
            <p:ph type="sldNum" idx="2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B495026-4464-4BF8-85AD-E20C18AA007B}"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1" name="PlaceHolder 1"/>
          <p:cNvSpPr>
            <a:spLocks noGrp="1" noRot="1" noChangeAspect="1"/>
          </p:cNvSpPr>
          <p:nvPr>
            <p:ph type="sldImg"/>
          </p:nvPr>
        </p:nvSpPr>
        <p:spPr>
          <a:xfrm>
            <a:off x="685800" y="1143000"/>
            <a:ext cx="5486400" cy="3086100"/>
          </a:xfrm>
          <a:prstGeom prst="rect">
            <a:avLst/>
          </a:prstGeom>
          <a:ln w="0">
            <a:noFill/>
          </a:ln>
        </p:spPr>
      </p:sp>
      <p:sp>
        <p:nvSpPr>
          <p:cNvPr id="145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35  ·  2.4.4 Goal-Based Agents</a:t>
            </a:r>
          </a:p>
          <a:p>
            <a:pPr indent="0" algn="l">
              <a:lnSpc>
                <a:spcPct val="100000"/>
              </a:lnSpc>
              <a:buNone/>
            </a:pPr>
            <a:r>
              <a:rPr lang="en-US" sz="1150" b="0" i="0" u="none" strike="noStrike" dirty="0">
                <a:solidFill>
                  <a:srgbClr val="595959"/>
                </a:solidFill>
                <a:effectLst/>
                <a:uFillTx/>
                <a:latin typeface="Arial"/>
              </a:rPr>
              <a:t>Suggested time: 6 minutes  ·  Running total: 156 min  ·  Chapter alignment: Section 2.4.4 and Figure 2.13</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planning video makes the difference between reaction and look-ahead behavior visible.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2.4.4 and Figure 2.13.</a:t>
            </a:r>
          </a:p>
        </p:txBody>
      </p:sp>
      <p:sp>
        <p:nvSpPr>
          <p:cNvPr id="1453" name="PlaceHolder 3"/>
          <p:cNvSpPr>
            <a:spLocks noGrp="1"/>
          </p:cNvSpPr>
          <p:nvPr>
            <p:ph type="sldNum" idx="2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21B8E69-CC47-45FC-91D1-3676C19B1031}"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 name="PlaceHolder 1"/>
          <p:cNvSpPr>
            <a:spLocks noGrp="1" noRot="1" noChangeAspect="1"/>
          </p:cNvSpPr>
          <p:nvPr>
            <p:ph type="sldImg"/>
          </p:nvPr>
        </p:nvSpPr>
        <p:spPr>
          <a:xfrm>
            <a:off x="685800" y="1143000"/>
            <a:ext cx="5486400" cy="3086100"/>
          </a:xfrm>
          <a:prstGeom prst="rect">
            <a:avLst/>
          </a:prstGeom>
          <a:ln w="0">
            <a:noFill/>
          </a:ln>
        </p:spPr>
      </p:sp>
      <p:sp>
        <p:nvSpPr>
          <p:cNvPr id="145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36  ·  Planning Video Bridge: Reflex vs. Planning</a:t>
            </a:r>
          </a:p>
          <a:p>
            <a:pPr indent="0" algn="l">
              <a:lnSpc>
                <a:spcPct val="100000"/>
              </a:lnSpc>
              <a:buNone/>
            </a:pPr>
            <a:r>
              <a:rPr lang="en-US" sz="1150" b="0" i="0" u="none" strike="noStrike" dirty="0">
                <a:solidFill>
                  <a:srgbClr val="595959"/>
                </a:solidFill>
                <a:effectLst/>
                <a:uFillTx/>
                <a:latin typeface="Arial"/>
              </a:rPr>
              <a:t>Suggested time: 7 minutes  ·  Running total: 163 min  ·  Chapter alignment: Goal-based agents and transition to search</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Goals tell the agent what counts as success, but they do not rank multiple successful outcomes. Utility provides that ranking.</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Planning video transcript, approximately 1:19-10:05.</a:t>
            </a:r>
          </a:p>
          <a:p>
            <a:pPr indent="0" algn="l">
              <a:lnSpc>
                <a:spcPct val="100000"/>
              </a:lnSpc>
              <a:buNone/>
            </a:pPr>
            <a:r>
              <a:rPr lang="en-US" sz="1150" b="0" i="0" u="none" strike="noStrike" dirty="0">
                <a:solidFill>
                  <a:srgbClr val="595959"/>
                </a:solidFill>
                <a:effectLst/>
                <a:uFillTx/>
                <a:latin typeface="Arial"/>
              </a:rPr>
              <a:t>AIMA Chapter 2, Section 2.4.4.</a:t>
            </a:r>
          </a:p>
        </p:txBody>
      </p:sp>
      <p:sp>
        <p:nvSpPr>
          <p:cNvPr id="1456" name="PlaceHolder 3"/>
          <p:cNvSpPr>
            <a:spLocks noGrp="1"/>
          </p:cNvSpPr>
          <p:nvPr>
            <p:ph type="sldNum" idx="2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2E1D11A-0B86-47D8-B806-A54C533FAA44}"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7" name="PlaceHolder 1"/>
          <p:cNvSpPr>
            <a:spLocks noGrp="1" noRot="1" noChangeAspect="1"/>
          </p:cNvSpPr>
          <p:nvPr>
            <p:ph type="sldImg"/>
          </p:nvPr>
        </p:nvSpPr>
        <p:spPr>
          <a:xfrm>
            <a:off x="685800" y="1143000"/>
            <a:ext cx="5486400" cy="3086100"/>
          </a:xfrm>
          <a:prstGeom prst="rect">
            <a:avLst/>
          </a:prstGeom>
          <a:ln w="0">
            <a:noFill/>
          </a:ln>
        </p:spPr>
      </p:sp>
      <p:sp>
        <p:nvSpPr>
          <p:cNvPr id="145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37  ·  2.4.5 Utility-Based Agents</a:t>
            </a:r>
          </a:p>
          <a:p>
            <a:pPr indent="0" algn="l">
              <a:lnSpc>
                <a:spcPct val="100000"/>
              </a:lnSpc>
              <a:buNone/>
            </a:pPr>
            <a:r>
              <a:rPr lang="en-US" sz="1150" b="0" i="0" u="none" strike="noStrike" dirty="0">
                <a:solidFill>
                  <a:srgbClr val="595959"/>
                </a:solidFill>
                <a:effectLst/>
                <a:uFillTx/>
                <a:latin typeface="Arial"/>
              </a:rPr>
              <a:t>Suggested time: 6 minutes  ·  Running total: 169 min  ·  Chapter alignment: Section 2.4.5 and Figure 2.14</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focuses on the two main reasons utility is more expressive than goals: tradeoffs and uncertainty.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2.4.5 and Figure 2.14.</a:t>
            </a:r>
          </a:p>
        </p:txBody>
      </p:sp>
      <p:sp>
        <p:nvSpPr>
          <p:cNvPr id="1459" name="PlaceHolder 3"/>
          <p:cNvSpPr>
            <a:spLocks noGrp="1"/>
          </p:cNvSpPr>
          <p:nvPr>
            <p:ph type="sldNum" idx="2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366EF3A-EF07-4E01-BE0A-1CC8CE5C6DB7}"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0" name="PlaceHolder 1"/>
          <p:cNvSpPr>
            <a:spLocks noGrp="1" noRot="1" noChangeAspect="1"/>
          </p:cNvSpPr>
          <p:nvPr>
            <p:ph type="sldImg"/>
          </p:nvPr>
        </p:nvSpPr>
        <p:spPr>
          <a:xfrm>
            <a:off x="685800" y="1143000"/>
            <a:ext cx="5484813" cy="3084513"/>
          </a:xfrm>
          <a:prstGeom prst="rect">
            <a:avLst/>
          </a:prstGeom>
          <a:ln w="0">
            <a:noFill/>
          </a:ln>
        </p:spPr>
      </p:sp>
      <p:sp>
        <p:nvSpPr>
          <p:cNvPr id="146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38  ·  Utility Handles Tradeoffs and Uncertainty</a:t>
            </a:r>
          </a:p>
          <a:p>
            <a:pPr indent="0" algn="l">
              <a:lnSpc>
                <a:spcPct val="100000"/>
              </a:lnSpc>
              <a:buNone/>
            </a:pPr>
            <a:r>
              <a:rPr lang="en-US" sz="1150" b="0" i="0" u="none" strike="noStrike" dirty="0">
                <a:solidFill>
                  <a:srgbClr val="595959"/>
                </a:solidFill>
                <a:effectLst/>
                <a:uFillTx/>
                <a:latin typeface="Arial"/>
              </a:rPr>
              <a:t>Suggested time: 5 minutes  ·  Running total: 174 min  ·  Chapter alignment: Section 2.4.5</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So far, every design assumes that the agent's rules, models, goals, or utility already exist. Learning explains how those components can improve.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2.4.5.</a:t>
            </a:r>
          </a:p>
        </p:txBody>
      </p:sp>
      <p:sp>
        <p:nvSpPr>
          <p:cNvPr id="1462" name="PlaceHolder 3"/>
          <p:cNvSpPr>
            <a:spLocks noGrp="1"/>
          </p:cNvSpPr>
          <p:nvPr>
            <p:ph type="sldNum" idx="3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DD5D127-696D-4DCD-BC3D-667710BE8BFC}"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3" name="PlaceHolder 1"/>
          <p:cNvSpPr>
            <a:spLocks noGrp="1" noRot="1" noChangeAspect="1"/>
          </p:cNvSpPr>
          <p:nvPr>
            <p:ph type="sldImg"/>
          </p:nvPr>
        </p:nvSpPr>
        <p:spPr>
          <a:xfrm>
            <a:off x="685800" y="1143000"/>
            <a:ext cx="5486400" cy="3086100"/>
          </a:xfrm>
          <a:prstGeom prst="rect">
            <a:avLst/>
          </a:prstGeom>
          <a:ln w="0">
            <a:noFill/>
          </a:ln>
        </p:spPr>
      </p:sp>
      <p:sp>
        <p:nvSpPr>
          <p:cNvPr id="146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39  ·  2.4.6 Learning Agents</a:t>
            </a:r>
          </a:p>
          <a:p>
            <a:pPr indent="0" algn="l">
              <a:lnSpc>
                <a:spcPct val="100000"/>
              </a:lnSpc>
              <a:buNone/>
            </a:pPr>
            <a:r>
              <a:rPr lang="en-US" sz="1150" b="0" i="0" u="none" strike="noStrike" dirty="0">
                <a:solidFill>
                  <a:srgbClr val="595959"/>
                </a:solidFill>
                <a:effectLst/>
                <a:uFillTx/>
                <a:latin typeface="Arial"/>
              </a:rPr>
              <a:t>Suggested time: 7 minutes  ·  Running total: 181 min  ·  Chapter alignment: Section 2.4.6 and Figure 2.15</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asks exactly which internal components a learning process can modify.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2.4.6 and Figure 2.15.</a:t>
            </a:r>
          </a:p>
        </p:txBody>
      </p:sp>
      <p:sp>
        <p:nvSpPr>
          <p:cNvPr id="1465" name="PlaceHolder 3"/>
          <p:cNvSpPr>
            <a:spLocks noGrp="1"/>
          </p:cNvSpPr>
          <p:nvPr>
            <p:ph type="sldNum" idx="3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960FA01-0152-4EC7-BB9C-53D4C81078FF}"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6" name="PlaceHolder 1"/>
          <p:cNvSpPr>
            <a:spLocks noGrp="1" noRot="1" noChangeAspect="1"/>
          </p:cNvSpPr>
          <p:nvPr>
            <p:ph type="sldImg"/>
          </p:nvPr>
        </p:nvSpPr>
        <p:spPr>
          <a:xfrm>
            <a:off x="685800" y="1143000"/>
            <a:ext cx="5484813" cy="3084513"/>
          </a:xfrm>
          <a:prstGeom prst="rect">
            <a:avLst/>
          </a:prstGeom>
          <a:ln w="0">
            <a:noFill/>
          </a:ln>
        </p:spPr>
      </p:sp>
      <p:sp>
        <p:nvSpPr>
          <p:cNvPr id="146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40  ·  Learning Agent Components: What Improves?</a:t>
            </a:r>
          </a:p>
          <a:p>
            <a:pPr indent="0" algn="l">
              <a:lnSpc>
                <a:spcPct val="100000"/>
              </a:lnSpc>
              <a:buNone/>
            </a:pPr>
            <a:r>
              <a:rPr lang="en-US" sz="1150" b="0" i="0" u="none" strike="noStrike" dirty="0">
                <a:solidFill>
                  <a:srgbClr val="595959"/>
                </a:solidFill>
                <a:effectLst/>
                <a:uFillTx/>
                <a:latin typeface="Arial"/>
              </a:rPr>
              <a:t>Suggested time: 6 minutes  ·  Running total: 187 min  ·  Chapter alignment: Section 2.4.6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Learning and reasoning both depend on how the agent represents states, attributes, objects, and relationships.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2.4.6.</a:t>
            </a:r>
          </a:p>
        </p:txBody>
      </p:sp>
      <p:sp>
        <p:nvSpPr>
          <p:cNvPr id="1468" name="PlaceHolder 3"/>
          <p:cNvSpPr>
            <a:spLocks noGrp="1"/>
          </p:cNvSpPr>
          <p:nvPr>
            <p:ph type="sldNum" idx="3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E0AF53A-F55E-4526-B4DD-109D31155600}"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9" name="PlaceHolder 1"/>
          <p:cNvSpPr>
            <a:spLocks noGrp="1" noRot="1" noChangeAspect="1"/>
          </p:cNvSpPr>
          <p:nvPr>
            <p:ph type="sldImg"/>
          </p:nvPr>
        </p:nvSpPr>
        <p:spPr>
          <a:xfrm>
            <a:off x="685800" y="1143000"/>
            <a:ext cx="5484813" cy="3084513"/>
          </a:xfrm>
          <a:prstGeom prst="rect">
            <a:avLst/>
          </a:prstGeom>
          <a:ln w="0">
            <a:noFill/>
          </a:ln>
        </p:spPr>
      </p:sp>
      <p:sp>
        <p:nvSpPr>
          <p:cNvPr id="147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41  ·  2.4.6 Turing's Bet and the Fixed Standard</a:t>
            </a:r>
          </a:p>
          <a:p>
            <a:pPr indent="0" algn="l">
              <a:lnSpc>
                <a:spcPct val="100000"/>
              </a:lnSpc>
              <a:buNone/>
            </a:pPr>
            <a:r>
              <a:rPr lang="en-US" sz="1150" b="0" i="0" u="none" strike="noStrike" dirty="0">
                <a:solidFill>
                  <a:srgbClr val="595959"/>
                </a:solidFill>
                <a:effectLst/>
                <a:uFillTx/>
                <a:latin typeface="Arial"/>
              </a:rPr>
              <a:t>Suggested time: 5 minutes  ·  Running total: 192 min  ·  Chapter alignment: Section 2.4.6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We have the four components of a learning agent. This slide is about why three of them are shaped the way they are.</a:t>
            </a:r>
          </a:p>
          <a:p>
            <a:pPr indent="0" algn="l">
              <a:lnSpc>
                <a:spcPct val="100000"/>
              </a:lnSpc>
              <a:buNone/>
            </a:pPr>
            <a:r>
              <a:rPr lang="en-US" sz="1400" b="0" i="0" u="none" strike="noStrike" dirty="0">
                <a:solidFill>
                  <a:srgbClr val="000000"/>
                </a:solidFill>
                <a:effectLst/>
                <a:uFillTx/>
                <a:latin typeface="Arial"/>
              </a:rPr>
              <a:t>Start with Turing, because it frames the whole enterprise. In his 1950 paper he seriously considered hand-programming an intelligent machine, estimated how much labour that would take, and concluded that some more expeditious method seemed desirable. His proposal was to build machines that learn and then teach them. That is now the preferred route to state-of-the-art systems across most of AI, and it is worth telling students that the idea is more than seventy-five years old.</a:t>
            </a:r>
          </a:p>
          <a:p>
            <a:pPr indent="0" algn="l">
              <a:lnSpc>
                <a:spcPct val="100000"/>
              </a:lnSpc>
              <a:buNone/>
            </a:pPr>
            <a:r>
              <a:rPr lang="en-US" sz="1400" b="0" i="0" u="none" strike="noStrike" dirty="0">
                <a:solidFill>
                  <a:srgbClr val="000000"/>
                </a:solidFill>
                <a:effectLst/>
                <a:uFillTx/>
                <a:latin typeface="Arial"/>
              </a:rPr>
              <a:t>Now the critic, and this is the conceptually important one. The critic tells the learning element how well the agent is doing against a performance standard, and the standard has to be fixed. Why? Because percepts by themselves carry no verdict. A chess program can receive a percept indicating that it has checkmated its opponent; nothing in that percept says checkmating is good. The standard supplies that. And it must sit conceptually outside the agent, because an agent that could modify its own standard could always succeed by lowering the bar. When students later meet reward hacking, this is the slide to point back to.</a:t>
            </a:r>
          </a:p>
          <a:p>
            <a:pPr indent="0" algn="l">
              <a:lnSpc>
                <a:spcPct val="100000"/>
              </a:lnSpc>
              <a:buNone/>
            </a:pPr>
            <a:r>
              <a:rPr lang="en-US" sz="1400" b="0" i="0" u="none" strike="noStrike" dirty="0">
                <a:solidFill>
                  <a:srgbClr val="000000"/>
                </a:solidFill>
                <a:effectLst/>
                <a:uFillTx/>
                <a:latin typeface="Arial"/>
              </a:rPr>
              <a:t>The problem generator gets Galileo. Dropping rocks from the tower at Pisa had no value in itself — he was not trying to break the rocks, and he was certainly not trying to modify the brains of any pedestrians below. He was trying to modify his own brain by getting a better theory of motion. That is exactly the problem generator's job: propose actions that look suboptimal by current knowledge because they will produce informative experience. If the performance element always got its way, the agent would keep doing whatever is currently best and never discover anything better.</a:t>
            </a:r>
          </a:p>
          <a:p>
            <a:pPr indent="0" algn="l">
              <a:lnSpc>
                <a:spcPct val="100000"/>
              </a:lnSpc>
              <a:buNone/>
            </a:pPr>
            <a:r>
              <a:rPr lang="en-US" sz="1400" b="0" i="0" u="none" strike="noStrike" dirty="0">
                <a:solidFill>
                  <a:srgbClr val="000000"/>
                </a:solidFill>
                <a:effectLst/>
                <a:uFillTx/>
                <a:latin typeface="Arial"/>
              </a:rPr>
              <a:t>The third card is about where information for learning comes from. The taxi that shakes its passengers up receives no tips, and the external standard has to tell it that lost tips are a negative contribution, at which point it can learn that violent manoeuvres do not serve it. The taxi that sounds its horn continuously to warn pedestrians observes people covering their ears, using bad language, and occasionally cutting the wires to the horn — human behaviour that is evidence about human preferences. In this sense the performance standard singles out part of the incoming percept as reward or penalty. Pain and hunger in animals are hard-wired versions of the same mechanism.</a:t>
            </a:r>
          </a:p>
          <a:p>
            <a:pPr indent="0" algn="l">
              <a:lnSpc>
                <a:spcPct val="100000"/>
              </a:lnSpc>
              <a:buNone/>
            </a:pPr>
            <a:r>
              <a:rPr lang="en-US" sz="1400" b="0" i="0" u="none" strike="noStrike" dirty="0">
                <a:solidFill>
                  <a:srgbClr val="000000"/>
                </a:solidFill>
                <a:effectLst/>
                <a:uFillTx/>
                <a:latin typeface="Arial"/>
              </a:rPr>
              <a:t>One asymmetry to close on, on the bottom line: improving the model components so they match reality is almost always a good idea regardless of the external standard. Improving a reflex rule or a utility function is not — that specifically requires information from the standard, because there is no other way to know which behaviour was better.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That covers how components improve. The last question is how they represent the world in the first place.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2.4.6; Turing (1950).</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 name="PlaceHolder 1"/>
          <p:cNvSpPr>
            <a:spLocks noGrp="1" noRot="1" noChangeAspect="1"/>
          </p:cNvSpPr>
          <p:nvPr>
            <p:ph type="sldImg"/>
          </p:nvPr>
        </p:nvSpPr>
        <p:spPr>
          <a:xfrm>
            <a:off x="685800" y="1143000"/>
            <a:ext cx="5484813" cy="3084513"/>
          </a:xfrm>
          <a:prstGeom prst="rect">
            <a:avLst/>
          </a:prstGeom>
          <a:ln w="0">
            <a:noFill/>
          </a:ln>
        </p:spPr>
      </p:sp>
      <p:sp>
        <p:nvSpPr>
          <p:cNvPr id="147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42  ·  2.4.7 Representing the World Inside the Agent</a:t>
            </a:r>
          </a:p>
          <a:p>
            <a:pPr indent="0" algn="l">
              <a:lnSpc>
                <a:spcPct val="100000"/>
              </a:lnSpc>
              <a:buNone/>
            </a:pPr>
            <a:r>
              <a:rPr lang="en-US" sz="1150" b="0" i="0" u="none" strike="noStrike" dirty="0">
                <a:solidFill>
                  <a:srgbClr val="595959"/>
                </a:solidFill>
                <a:effectLst/>
                <a:uFillTx/>
                <a:latin typeface="Arial"/>
              </a:rPr>
              <a:t>Suggested time: 7 minutes  ·  Running total: 199 min  ·  Chapter alignment: Section 2.4.7 and Figure 2.16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can now compare all of the agent program designs in one view.</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2.4.7 and Figure 2.16.</a:t>
            </a:r>
          </a:p>
        </p:txBody>
      </p:sp>
      <p:sp>
        <p:nvSpPr>
          <p:cNvPr id="1473" name="PlaceHolder 3"/>
          <p:cNvSpPr>
            <a:spLocks noGrp="1"/>
          </p:cNvSpPr>
          <p:nvPr>
            <p:ph type="sldNum" idx="3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87913C2-3398-49F6-9A6C-C51FFBC5FD52}"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 name="PlaceHolder 1"/>
          <p:cNvSpPr>
            <a:spLocks noGrp="1" noRot="1" noChangeAspect="1"/>
          </p:cNvSpPr>
          <p:nvPr>
            <p:ph type="sldImg"/>
          </p:nvPr>
        </p:nvSpPr>
        <p:spPr>
          <a:xfrm>
            <a:off x="685800" y="1143000"/>
            <a:ext cx="5484813" cy="3084513"/>
          </a:xfrm>
          <a:prstGeom prst="rect">
            <a:avLst/>
          </a:prstGeom>
          <a:ln w="0">
            <a:noFill/>
          </a:ln>
        </p:spPr>
      </p:sp>
      <p:sp>
        <p:nvSpPr>
          <p:cNvPr id="147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43  ·  2.4.7 Expressiveness Has a Price</a:t>
            </a:r>
          </a:p>
          <a:p>
            <a:pPr indent="0" algn="l">
              <a:lnSpc>
                <a:spcPct val="100000"/>
              </a:lnSpc>
              <a:buNone/>
            </a:pPr>
            <a:r>
              <a:rPr lang="en-US" sz="1150" b="0" i="0" u="none" strike="noStrike" dirty="0">
                <a:solidFill>
                  <a:srgbClr val="595959"/>
                </a:solidFill>
                <a:effectLst/>
                <a:uFillTx/>
                <a:latin typeface="Arial"/>
              </a:rPr>
              <a:t>Suggested time: 3 minutes  ·  Running total: 202 min  ·  Chapter alignment: Section 2.4.7</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There is a second, independent representation axis that the chapter mentions only briefly and that turns out to matter enormously.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2.4.7.</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 name="PlaceHolder 1"/>
          <p:cNvSpPr>
            <a:spLocks noGrp="1" noRot="1" noChangeAspect="1"/>
          </p:cNvSpPr>
          <p:nvPr>
            <p:ph type="sldImg"/>
          </p:nvPr>
        </p:nvSpPr>
        <p:spPr>
          <a:xfrm>
            <a:off x="685800" y="1143000"/>
            <a:ext cx="5484813" cy="3084513"/>
          </a:xfrm>
          <a:prstGeom prst="rect">
            <a:avLst/>
          </a:prstGeom>
          <a:ln w="0">
            <a:noFill/>
          </a:ln>
        </p:spPr>
      </p:sp>
      <p:sp>
        <p:nvSpPr>
          <p:cNvPr id="147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44  ·  2.4.7 Localist and Distributed Representations</a:t>
            </a:r>
          </a:p>
          <a:p>
            <a:pPr indent="0" algn="l">
              <a:lnSpc>
                <a:spcPct val="100000"/>
              </a:lnSpc>
              <a:buNone/>
            </a:pPr>
            <a:r>
              <a:rPr lang="en-US" sz="1150" b="0" i="0" u="none" strike="noStrike" dirty="0">
                <a:solidFill>
                  <a:srgbClr val="595959"/>
                </a:solidFill>
                <a:effectLst/>
                <a:uFillTx/>
                <a:latin typeface="Arial"/>
              </a:rPr>
              <a:t>Suggested time: 3 minutes  ·  Running total: 205 min  ·  Chapter alignment: Section 2.4.7</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That completes the chapter's technical content. Before the summary, it is worth seeing where these ideas came from.</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2.4.7.</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8" name="PlaceHolder 1"/>
          <p:cNvSpPr>
            <a:spLocks noGrp="1" noRot="1" noChangeAspect="1"/>
          </p:cNvSpPr>
          <p:nvPr>
            <p:ph type="sldImg"/>
          </p:nvPr>
        </p:nvSpPr>
        <p:spPr>
          <a:xfrm>
            <a:off x="685800" y="1143000"/>
            <a:ext cx="5484813" cy="3084513"/>
          </a:xfrm>
          <a:prstGeom prst="rect">
            <a:avLst/>
          </a:prstGeom>
          <a:ln w="0">
            <a:noFill/>
          </a:ln>
        </p:spPr>
      </p:sp>
      <p:sp>
        <p:nvSpPr>
          <p:cNvPr id="147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45  ·  All Agent Program Designs in Chapter 2</a:t>
            </a:r>
          </a:p>
          <a:p>
            <a:pPr indent="0" algn="l">
              <a:lnSpc>
                <a:spcPct val="100000"/>
              </a:lnSpc>
              <a:buNone/>
            </a:pPr>
            <a:r>
              <a:rPr lang="en-US" sz="1150" b="0" i="0" u="none" strike="noStrike" dirty="0">
                <a:solidFill>
                  <a:srgbClr val="595959"/>
                </a:solidFill>
                <a:effectLst/>
                <a:uFillTx/>
                <a:latin typeface="Arial"/>
              </a:rPr>
              <a:t>Suggested time: 5 minutes  ·  Running total: 210 min  ·  Chapter alignment: Synthesis of Sections 2.4.1-2.4.6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environment properties tell us which of these design capabilities are necessary.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2.4.1-2.4.6.</a:t>
            </a:r>
          </a:p>
        </p:txBody>
      </p:sp>
      <p:sp>
        <p:nvSpPr>
          <p:cNvPr id="1480" name="PlaceHolder 3"/>
          <p:cNvSpPr>
            <a:spLocks noGrp="1"/>
          </p:cNvSpPr>
          <p:nvPr>
            <p:ph type="sldNum" idx="3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033F8C2-057B-49D0-B2CC-F52BD4936C03}" type="slidenum">
              <a:rPr lang="en-US" sz="1200" b="0" u="none" strike="noStrike">
                <a:solidFill>
                  <a:schemeClr val="dk1"/>
                </a:solidFill>
                <a:effectLst/>
                <a:uFillTx/>
                <a:latin typeface="+mn-lt"/>
                <a:ea typeface="+mn-ea"/>
              </a:rPr>
              <a:t>45</a:t>
            </a:fld>
            <a:endParaRPr lang="en-US" sz="1200" b="0" u="none" strike="noStrike">
              <a:solidFill>
                <a:srgbClr val="000000"/>
              </a:solidFill>
              <a:effectLst/>
              <a:uFillTx/>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1" name="PlaceHolder 1"/>
          <p:cNvSpPr>
            <a:spLocks noGrp="1" noRot="1" noChangeAspect="1"/>
          </p:cNvSpPr>
          <p:nvPr>
            <p:ph type="sldImg"/>
          </p:nvPr>
        </p:nvSpPr>
        <p:spPr>
          <a:xfrm>
            <a:off x="685800" y="1143000"/>
            <a:ext cx="5484813" cy="3084513"/>
          </a:xfrm>
          <a:prstGeom prst="rect">
            <a:avLst/>
          </a:prstGeom>
          <a:ln w="0">
            <a:noFill/>
          </a:ln>
        </p:spPr>
      </p:sp>
      <p:sp>
        <p:nvSpPr>
          <p:cNvPr id="148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46  ·  Choosing an Agent Design from Environment Properties</a:t>
            </a:r>
          </a:p>
          <a:p>
            <a:pPr indent="0" algn="l">
              <a:lnSpc>
                <a:spcPct val="100000"/>
              </a:lnSpc>
              <a:buNone/>
            </a:pPr>
            <a:r>
              <a:rPr lang="en-US" sz="1150" b="0" i="0" u="none" strike="noStrike" dirty="0">
                <a:solidFill>
                  <a:srgbClr val="595959"/>
                </a:solidFill>
                <a:effectLst/>
                <a:uFillTx/>
                <a:latin typeface="Arial"/>
              </a:rPr>
              <a:t>Suggested time: 6 minutes  ·  Running total: 216 min  ·  Chapter alignment: Synthesis of Sections 2.3 and 2.4</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PEAS activity lets students apply this workflow before proposing an algorithm.</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2.3 and 2.4.</a:t>
            </a:r>
          </a:p>
        </p:txBody>
      </p:sp>
      <p:sp>
        <p:nvSpPr>
          <p:cNvPr id="1483" name="PlaceHolder 3"/>
          <p:cNvSpPr>
            <a:spLocks noGrp="1"/>
          </p:cNvSpPr>
          <p:nvPr>
            <p:ph type="sldNum" idx="3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8FB10B9-9962-4AF0-8D3F-DB657E98BC57}" type="slidenum">
              <a:rPr lang="en-US" sz="1200" b="0" u="none" strike="noStrike">
                <a:solidFill>
                  <a:schemeClr val="dk1"/>
                </a:solidFill>
                <a:effectLst/>
                <a:uFillTx/>
                <a:latin typeface="+mn-lt"/>
                <a:ea typeface="+mn-ea"/>
              </a:rPr>
              <a:t>46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 name="PlaceHolder 1"/>
          <p:cNvSpPr>
            <a:spLocks noGrp="1" noRot="1" noChangeAspect="1"/>
          </p:cNvSpPr>
          <p:nvPr>
            <p:ph type="sldImg"/>
          </p:nvPr>
        </p:nvSpPr>
        <p:spPr>
          <a:xfrm>
            <a:off x="685800" y="1143000"/>
            <a:ext cx="5484813" cy="3084513"/>
          </a:xfrm>
          <a:prstGeom prst="rect">
            <a:avLst/>
          </a:prstGeom>
          <a:ln w="0">
            <a:noFill/>
          </a:ln>
        </p:spPr>
      </p:sp>
      <p:sp>
        <p:nvSpPr>
          <p:cNvPr id="148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47  ·  Class Activity: Build a PEAS Description</a:t>
            </a:r>
          </a:p>
          <a:p>
            <a:pPr indent="0" algn="l">
              <a:lnSpc>
                <a:spcPct val="100000"/>
              </a:lnSpc>
              <a:buNone/>
            </a:pPr>
            <a:r>
              <a:rPr lang="en-US" sz="1150" b="0" i="0" u="none" strike="noStrike" dirty="0">
                <a:solidFill>
                  <a:srgbClr val="595959"/>
                </a:solidFill>
                <a:effectLst/>
                <a:uFillTx/>
                <a:latin typeface="Arial"/>
              </a:rPr>
              <a:t>Suggested time: 12 minutes  ·  Running total: 228 min  ·  Chapter alignment: Applied Section 2.3.1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will now apply the same vocabulary to the autonomous Pac-Man program used in the class demonstration.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2.3.1; lecture deck activity.</a:t>
            </a:r>
          </a:p>
        </p:txBody>
      </p:sp>
      <p:sp>
        <p:nvSpPr>
          <p:cNvPr id="1486" name="PlaceHolder 3"/>
          <p:cNvSpPr>
            <a:spLocks noGrp="1"/>
          </p:cNvSpPr>
          <p:nvPr>
            <p:ph type="sldNum" idx="3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879195-7CB5-4641-84E4-52754EFCE681}" type="slidenum">
              <a:rPr lang="en-US" sz="1200" b="0" u="none" strike="noStrike">
                <a:solidFill>
                  <a:schemeClr val="dk1"/>
                </a:solidFill>
                <a:effectLst/>
                <a:uFillTx/>
                <a:latin typeface="+mn-lt"/>
                <a:ea typeface="+mn-ea"/>
              </a:rPr>
              <a:t>47</a:t>
            </a:fld>
            <a:endParaRPr lang="en-US"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7" name="PlaceHolder 1"/>
          <p:cNvSpPr>
            <a:spLocks noGrp="1" noRot="1" noChangeAspect="1"/>
          </p:cNvSpPr>
          <p:nvPr>
            <p:ph type="sldImg"/>
          </p:nvPr>
        </p:nvSpPr>
        <p:spPr>
          <a:xfrm>
            <a:off x="685800" y="1143000"/>
            <a:ext cx="5484813" cy="3084513"/>
          </a:xfrm>
          <a:prstGeom prst="rect">
            <a:avLst/>
          </a:prstGeom>
          <a:ln w="0">
            <a:noFill/>
          </a:ln>
        </p:spPr>
      </p:sp>
      <p:sp>
        <p:nvSpPr>
          <p:cNvPr id="148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48  ·  Class Demo: Autonomous Pac-Man Agent</a:t>
            </a:r>
          </a:p>
          <a:p>
            <a:pPr indent="0" algn="l">
              <a:lnSpc>
                <a:spcPct val="100000"/>
              </a:lnSpc>
              <a:buNone/>
            </a:pPr>
            <a:r>
              <a:rPr lang="en-US" sz="1150" b="0" i="0" u="none" strike="noStrike" dirty="0">
                <a:solidFill>
                  <a:srgbClr val="595959"/>
                </a:solidFill>
                <a:effectLst/>
                <a:uFillTx/>
                <a:latin typeface="Arial"/>
              </a:rPr>
              <a:t>Suggested time: 10 minutes  ·  Running total: 238 min  ·  Chapter alignment: Applied Sections 2.1-2.4.6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Next, we will connect the live Pac-Man behavior to the specific Python agent files that implement the Chapter 2 agent designs.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2.1-2.4.6; autonomous Pac-Man classroom code.</a:t>
            </a:r>
          </a:p>
        </p:txBody>
      </p:sp>
      <p:sp>
        <p:nvSpPr>
          <p:cNvPr id="1489" name="PlaceHolder 3"/>
          <p:cNvSpPr>
            <a:spLocks noGrp="1"/>
          </p:cNvSpPr>
          <p:nvPr>
            <p:ph type="sldNum" idx="3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EA1619B-1EA4-4D4C-B44F-3F3AD03946DB}" type="slidenum">
              <a:rPr lang="en-US" sz="1200" b="0" u="none" strike="noStrike">
                <a:solidFill>
                  <a:schemeClr val="dk1"/>
                </a:solidFill>
                <a:effectLst/>
                <a:uFillTx/>
                <a:latin typeface="+mn-lt"/>
                <a:ea typeface="+mn-ea"/>
              </a:rPr>
              <a:t>48</a:t>
            </a:fld>
            <a:endParaRPr lang="en-US" sz="12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0" name="PlaceHolder 1"/>
          <p:cNvSpPr>
            <a:spLocks noGrp="1" noRot="1" noChangeAspect="1"/>
          </p:cNvSpPr>
          <p:nvPr>
            <p:ph type="sldImg"/>
          </p:nvPr>
        </p:nvSpPr>
        <p:spPr>
          <a:xfrm>
            <a:off x="0" y="763588"/>
            <a:ext cx="0" cy="0"/>
          </a:xfrm>
          <a:prstGeom prst="rect">
            <a:avLst/>
          </a:prstGeom>
          <a:ln w="0">
            <a:noFill/>
          </a:ln>
        </p:spPr>
      </p:sp>
      <p:sp>
        <p:nvSpPr>
          <p:cNvPr id="1491" name="PlaceHolder 2"/>
          <p:cNvSpPr>
            <a:spLocks noGrp="1"/>
          </p:cNvSpPr>
          <p:nvPr>
            <p:ph type="body"/>
          </p:nvPr>
        </p:nvSpPr>
        <p:spPr>
          <a:xfrm>
            <a:off x="777240" y="4777560"/>
            <a:ext cx="6217200" cy="452556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49  ·  Live Code Demo: Five Chapter 2 Agent Programs</a:t>
            </a:r>
          </a:p>
          <a:p>
            <a:pPr indent="0" algn="l">
              <a:lnSpc>
                <a:spcPct val="100000"/>
              </a:lnSpc>
              <a:buNone/>
            </a:pPr>
            <a:r>
              <a:rPr lang="en-US" sz="1150" b="0" i="0" u="none" strike="noStrike" dirty="0">
                <a:solidFill>
                  <a:srgbClr val="595959"/>
                </a:solidFill>
                <a:effectLst/>
                <a:uFillTx/>
                <a:latin typeface="Arial"/>
              </a:rPr>
              <a:t>Suggested time: 10 minutes  ·  Running total: 248 min  ·  Chapter alignment: Live demonstration files; Section 2.4 agent program</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After the code demonstration, we will return to the planning video boundary and separate Chapter 2 concepts from Chapter 3 algorithms.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Uploaded files: pacman_chapter2_engine.py and 01-05 *_agent_ch2.py.</a:t>
            </a:r>
          </a:p>
          <a:p>
            <a:pPr indent="0" algn="l">
              <a:lnSpc>
                <a:spcPct val="100000"/>
              </a:lnSpc>
              <a:buNone/>
            </a:pPr>
            <a:r>
              <a:rPr lang="en-US" sz="1150" b="0" i="0" u="none" strike="noStrike" dirty="0">
                <a:solidFill>
                  <a:srgbClr val="595959"/>
                </a:solidFill>
                <a:effectLst/>
                <a:uFillTx/>
                <a:latin typeface="Arial"/>
              </a:rPr>
              <a:t>AIMA Chapter 2, Sections 2.4.1-2.4.6.</a:t>
            </a:r>
          </a:p>
        </p:txBody>
      </p:sp>
      <p:sp>
        <p:nvSpPr>
          <p:cNvPr id="1492" name="PlaceHolder 3"/>
          <p:cNvSpPr>
            <a:spLocks noGrp="1"/>
          </p:cNvSpPr>
          <p:nvPr>
            <p:ph type="sldNum" idx="38"/>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7004DEB-C0C6-401B-9683-854D7E4BFF51}" type="slidenum">
              <a:rPr lang="en-US" sz="1400" b="0" u="none" strike="noStrike">
                <a:solidFill>
                  <a:srgbClr val="000000"/>
                </a:solidFill>
                <a:effectLst/>
                <a:uFillTx/>
                <a:latin typeface="Times New Roman"/>
              </a:rPr>
              <a:t>49</a:t>
            </a:fld>
            <a:endParaRPr lang="en-US" sz="14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3" name="PlaceHolder 1"/>
          <p:cNvSpPr>
            <a:spLocks noGrp="1" noRot="1" noChangeAspect="1"/>
          </p:cNvSpPr>
          <p:nvPr>
            <p:ph type="sldImg"/>
          </p:nvPr>
        </p:nvSpPr>
        <p:spPr>
          <a:xfrm>
            <a:off x="685800" y="1143000"/>
            <a:ext cx="5484813" cy="3084513"/>
          </a:xfrm>
          <a:prstGeom prst="rect">
            <a:avLst/>
          </a:prstGeom>
          <a:ln w="0">
            <a:noFill/>
          </a:ln>
        </p:spPr>
      </p:sp>
      <p:sp>
        <p:nvSpPr>
          <p:cNvPr id="149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50  ·  How the Planning Video Fits This Chapter</a:t>
            </a:r>
          </a:p>
          <a:p>
            <a:pPr indent="0" algn="l">
              <a:lnSpc>
                <a:spcPct val="100000"/>
              </a:lnSpc>
              <a:buNone/>
            </a:pPr>
            <a:r>
              <a:rPr lang="en-US" sz="1150" b="0" i="0" u="none" strike="noStrike" dirty="0">
                <a:solidFill>
                  <a:srgbClr val="595959"/>
                </a:solidFill>
                <a:effectLst/>
                <a:uFillTx/>
                <a:latin typeface="Arial"/>
              </a:rPr>
              <a:t>Suggested time: 2 minutes  ·  Running total: 250 min  ·  Chapter alignment: Chapter boundary and course sequencing</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will close by compressing the chapter into a small set of design rules.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Planning video transcript, approximately 1:19 onward.</a:t>
            </a:r>
          </a:p>
          <a:p>
            <a:pPr indent="0" algn="l">
              <a:lnSpc>
                <a:spcPct val="100000"/>
              </a:lnSpc>
              <a:buNone/>
            </a:pPr>
            <a:r>
              <a:rPr lang="en-US" sz="1150" b="0" i="0" u="none" strike="noStrike" dirty="0">
                <a:solidFill>
                  <a:srgbClr val="595959"/>
                </a:solidFill>
                <a:effectLst/>
                <a:uFillTx/>
                <a:latin typeface="Arial"/>
              </a:rPr>
              <a:t>AIMA 4e, Section 2.4.4.</a:t>
            </a:r>
          </a:p>
        </p:txBody>
      </p:sp>
      <p:sp>
        <p:nvSpPr>
          <p:cNvPr id="1495" name="PlaceHolder 3"/>
          <p:cNvSpPr>
            <a:spLocks noGrp="1"/>
          </p:cNvSpPr>
          <p:nvPr>
            <p:ph type="sldNum" idx="3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1B1B84F-5B3E-4B8B-85E9-EBC5AC7136D7}" type="slidenum">
              <a:rPr lang="en-US" sz="1200" b="0" u="none" strike="noStrike">
                <a:solidFill>
                  <a:schemeClr val="dk1"/>
                </a:solidFill>
                <a:effectLst/>
                <a:uFillTx/>
                <a:latin typeface="+mn-lt"/>
                <a:ea typeface="+mn-ea"/>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6" name="PlaceHolder 1"/>
          <p:cNvSpPr>
            <a:spLocks noGrp="1" noRot="1" noChangeAspect="1"/>
          </p:cNvSpPr>
          <p:nvPr>
            <p:ph type="sldImg"/>
          </p:nvPr>
        </p:nvSpPr>
        <p:spPr>
          <a:xfrm>
            <a:off x="685800" y="1143000"/>
            <a:ext cx="5484813" cy="3084513"/>
          </a:xfrm>
          <a:prstGeom prst="rect">
            <a:avLst/>
          </a:prstGeom>
          <a:ln w="0">
            <a:noFill/>
          </a:ln>
        </p:spPr>
      </p:sp>
      <p:sp>
        <p:nvSpPr>
          <p:cNvPr id="149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51  ·  Where These Ideas Came From</a:t>
            </a:r>
          </a:p>
          <a:p>
            <a:pPr indent="0" algn="l">
              <a:lnSpc>
                <a:spcPct val="100000"/>
              </a:lnSpc>
              <a:buNone/>
            </a:pPr>
            <a:r>
              <a:rPr lang="en-US" sz="1150" b="0" i="0" u="none" strike="noStrike" dirty="0">
                <a:solidFill>
                  <a:srgbClr val="595959"/>
                </a:solidFill>
                <a:effectLst/>
                <a:uFillTx/>
                <a:latin typeface="Arial"/>
              </a:rPr>
              <a:t>Suggested time: 3 minutes  ·  Running total: 253 min  ·  Chapter alignment: Bibliographical and Historical Notes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That is the chapter. Let us collect the points you should be able to use.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Bibliographical and Historical Notes.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 name="PlaceHolder 1"/>
          <p:cNvSpPr>
            <a:spLocks noGrp="1" noRot="1" noChangeAspect="1"/>
          </p:cNvSpPr>
          <p:nvPr>
            <p:ph type="sldImg"/>
          </p:nvPr>
        </p:nvSpPr>
        <p:spPr>
          <a:xfrm>
            <a:off x="685800" y="1143000"/>
            <a:ext cx="5486400" cy="3086100"/>
          </a:xfrm>
          <a:prstGeom prst="rect">
            <a:avLst/>
          </a:prstGeom>
          <a:ln w="0">
            <a:noFill/>
          </a:ln>
        </p:spPr>
      </p:sp>
      <p:sp>
        <p:nvSpPr>
          <p:cNvPr id="149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a:bodyPr>
          <a:lstStyle/>
          <a:p>
            <a:pPr indent="0" algn="l">
              <a:lnSpc>
                <a:spcPct val="100000"/>
              </a:lnSpc>
              <a:buNone/>
            </a:pPr>
            <a:r>
              <a:rPr lang="en-US" sz="1400" b="1" i="0" u="none" strike="noStrike" dirty="0">
                <a:solidFill>
                  <a:srgbClr val="1F4E79"/>
                </a:solidFill>
                <a:effectLst/>
                <a:uFillTx/>
                <a:latin typeface="Arial"/>
              </a:rPr>
              <a:t>SLIDE 52  ·  Chapter 2 Takeaways</a:t>
            </a:r>
          </a:p>
          <a:p>
            <a:pPr indent="0" algn="l">
              <a:lnSpc>
                <a:spcPct val="100000"/>
              </a:lnSpc>
              <a:buNone/>
            </a:pPr>
            <a:r>
              <a:rPr lang="en-US" sz="1150" b="0" i="0" u="none" strike="noStrike" dirty="0">
                <a:solidFill>
                  <a:srgbClr val="595959"/>
                </a:solidFill>
                <a:effectLst/>
                <a:uFillTx/>
                <a:latin typeface="Arial"/>
              </a:rPr>
              <a:t>Suggested time: 4 minutes  ·  Running total: 257 min  ·  Chapter alignment: Chapter summary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summary.</a:t>
            </a:r>
          </a:p>
        </p:txBody>
      </p:sp>
      <p:sp>
        <p:nvSpPr>
          <p:cNvPr id="1500" name="PlaceHolder 3"/>
          <p:cNvSpPr>
            <a:spLocks noGrp="1"/>
          </p:cNvSpPr>
          <p:nvPr>
            <p:ph type="sldNum" idx="4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0C47AB4-B796-42C9-80C3-995C48F94745}" type="slidenum">
              <a:rPr lang="en-US" sz="1200" b="0" u="none" strike="noStrike">
                <a:solidFill>
                  <a:schemeClr val="dk1"/>
                </a:solidFill>
                <a:effectLst/>
                <a:uFillTx/>
                <a:latin typeface="+mn-lt"/>
                <a:ea typeface="+mn-ea"/>
              </a:rPr>
              <a:t>52</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722160"/>
            <a:ext cx="10971360" cy="24732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1800" b="0" u="none" strike="noStrike">
                <a:solidFill>
                  <a:schemeClr val="dk1"/>
                </a:solidFill>
                <a:effectLst/>
                <a:uFillTx/>
                <a:latin typeface="Aptos"/>
              </a:defRPr>
            </a:lvl1pPr>
          </a:lstStyle>
          <a:p>
            <a:pPr indent="0" algn="l" defTabSz="914400">
              <a:lnSpc>
                <a:spcPct val="90000"/>
              </a:lnSpc>
              <a:buNone/>
              <a:tabLst>
                <a:tab pos="0" algn="l"/>
              </a:tabLst>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1800" b="0" u="none" strike="noStrike">
                <a:solidFill>
                  <a:schemeClr val="dk1"/>
                </a:solidFill>
                <a:effectLst/>
                <a:uFillTx/>
                <a:latin typeface="Aptos"/>
              </a:defRPr>
            </a:lvl1pPr>
          </a:lstStyle>
          <a:p>
            <a:pPr indent="0" algn="l" defTabSz="914400">
              <a:lnSpc>
                <a:spcPct val="90000"/>
              </a:lnSpc>
              <a:buNone/>
              <a:tabLst>
                <a:tab pos="0" algn="l"/>
              </a:tabLst>
            </a:pPr>
            <a:r>
              <a:rPr lang="en-US" sz="1800" b="0" u="none" strike="noStrike">
                <a:solidFill>
                  <a:schemeClr val="dk1"/>
                </a:solidFill>
                <a:effectLst/>
                <a:uFillTx/>
                <a:latin typeface="Aptos"/>
              </a:rPr>
              <a:t>Click to edit the title text format</a:t>
            </a:r>
          </a:p>
        </p:txBody>
      </p:sp>
      <p:sp>
        <p:nvSpPr>
          <p:cNvPr id="5"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defTabSz="914400">
              <a:lnSpc>
                <a:spcPct val="90000"/>
              </a:lnSpc>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324000" algn="l"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DEFAUL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efault 2">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722160"/>
            <a:ext cx="10971360" cy="24732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1800" b="0" u="none" strike="noStrike">
                <a:solidFill>
                  <a:srgbClr val="000000"/>
                </a:solidFill>
                <a:effectLst/>
                <a:uFillTx/>
                <a:latin typeface="Arial"/>
                <a:ea typeface="DejaVu Sans"/>
              </a:defRPr>
            </a:lvl1pPr>
          </a:lstStyle>
          <a:p>
            <a:pPr indent="0" algn="l" defTabSz="914400">
              <a:lnSpc>
                <a:spcPct val="90000"/>
              </a:lnSpc>
              <a:buNone/>
              <a:tabLst>
                <a:tab pos="0" algn="l"/>
              </a:tabLst>
            </a:pPr>
            <a:r>
              <a:rPr lang="en-US" sz="1800" b="0" u="none" strike="noStrike">
                <a:solidFill>
                  <a:srgbClr val="000000"/>
                </a:solidFill>
                <a:effectLst/>
                <a:uFillTx/>
                <a:latin typeface="Arial"/>
                <a:ea typeface="DejaVu Sans"/>
              </a:rPr>
              <a:t>Click to edit the title text format</a:t>
            </a:r>
            <a:endParaRPr lang="en-US" sz="1800" b="0" u="none" strike="noStrike">
              <a:solidFill>
                <a:srgbClr val="000000"/>
              </a:solidFill>
              <a:effectLst/>
              <a:uFillTx/>
              <a:latin typeface="Arial"/>
            </a:endParaRPr>
          </a:p>
        </p:txBody>
      </p:sp>
      <p:sp>
        <p:nvSpPr>
          <p:cNvPr id="9"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rgbClr val="000000"/>
                </a:solidFill>
                <a:effectLst/>
                <a:uFillTx/>
                <a:latin typeface="Arial"/>
                <a:ea typeface="DejaVu Sans"/>
              </a:defRPr>
            </a:lvl1pPr>
            <a:lvl2pPr lvl="1" algn="l" defTabSz="914400">
              <a:lnSpc>
                <a:spcPct val="90000"/>
              </a:lnSpc>
              <a:spcBef>
                <a:spcPts val="1134"/>
              </a:spcBef>
              <a:buClr>
                <a:srgbClr val="000000"/>
              </a:buClr>
              <a:buSzPct val="75000"/>
              <a:buFont typeface="Symbol" charset="2"/>
              <a:buChar char=""/>
              <a:defRPr lang="en-US" sz="2800" b="0" u="none" strike="noStrike">
                <a:solidFill>
                  <a:srgbClr val="000000"/>
                </a:solidFill>
                <a:effectLst/>
                <a:uFillTx/>
                <a:latin typeface="Arial"/>
                <a:ea typeface="DejaVu Sans"/>
              </a:defRPr>
            </a:lvl2pPr>
            <a:lvl3pPr lvl="2" algn="l" defTabSz="914400">
              <a:lnSpc>
                <a:spcPct val="90000"/>
              </a:lnSpc>
              <a:spcBef>
                <a:spcPts val="850"/>
              </a:spcBef>
              <a:buClr>
                <a:srgbClr val="000000"/>
              </a:buClr>
              <a:buSzPct val="45000"/>
              <a:buFont typeface="Wingdings" charset="2"/>
              <a:buChar char=""/>
              <a:defRPr lang="en-US" sz="2400" b="0" u="none" strike="noStrike">
                <a:solidFill>
                  <a:srgbClr val="000000"/>
                </a:solidFill>
                <a:effectLst/>
                <a:uFillTx/>
                <a:latin typeface="Arial"/>
                <a:ea typeface="DejaVu Sans"/>
              </a:defRPr>
            </a:lvl3pPr>
            <a:lvl4pPr lvl="3" algn="l" defTabSz="914400">
              <a:lnSpc>
                <a:spcPct val="90000"/>
              </a:lnSpc>
              <a:spcBef>
                <a:spcPts val="567"/>
              </a:spcBef>
              <a:buClr>
                <a:srgbClr val="000000"/>
              </a:buClr>
              <a:buSzPct val="75000"/>
              <a:buFont typeface="Symbol" charset="2"/>
              <a:buChar char=""/>
              <a:defRPr lang="en-US" sz="2000" b="0" u="none" strike="noStrike">
                <a:solidFill>
                  <a:srgbClr val="000000"/>
                </a:solidFill>
                <a:effectLst/>
                <a:uFillTx/>
                <a:latin typeface="Arial"/>
                <a:ea typeface="DejaVu Sans"/>
              </a:defRPr>
            </a:lvl4pPr>
            <a:lvl5pPr lvl="4"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Arial"/>
                <a:ea typeface="DejaVu Sans"/>
              </a:defRPr>
            </a:lvl5pPr>
            <a:lvl6pPr lvl="5"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Arial"/>
                <a:ea typeface="DejaVu Sans"/>
              </a:defRPr>
            </a:lvl6pPr>
            <a:lvl7pPr lvl="6"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Arial"/>
                <a:ea typeface="DejaVu Sans"/>
              </a:defRPr>
            </a:lvl7pPr>
          </a:lstStyle>
          <a:p>
            <a:pPr marL="432000" indent="-324000" algn="l" defTabSz="914400">
              <a:lnSpc>
                <a:spcPct val="90000"/>
              </a:lnSpc>
              <a:spcBef>
                <a:spcPts val="1417"/>
              </a:spcBef>
              <a:buClr>
                <a:srgbClr val="000000"/>
              </a:buClr>
              <a:buSzPct val="45000"/>
              <a:buFont typeface="Wingdings" charset="2"/>
              <a:buChar char=""/>
            </a:pPr>
            <a:r>
              <a:rPr lang="en-US" sz="3200" b="0" u="none" strike="noStrike">
                <a:solidFill>
                  <a:srgbClr val="000000"/>
                </a:solidFill>
                <a:effectLst/>
                <a:uFillTx/>
                <a:latin typeface="Arial"/>
                <a:ea typeface="DejaVu Sans"/>
              </a:rPr>
              <a:t>Click to edit the outline text format</a:t>
            </a:r>
            <a:endParaRPr lang="en-US" sz="3200" b="0" u="none" strike="noStrike">
              <a:solidFill>
                <a:srgbClr val="000000"/>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en-US" sz="2800" b="0" u="none" strike="noStrike">
                <a:solidFill>
                  <a:srgbClr val="000000"/>
                </a:solidFill>
                <a:effectLst/>
                <a:uFillTx/>
                <a:latin typeface="Arial"/>
                <a:ea typeface="DejaVu Sans"/>
              </a:rPr>
              <a:t>Second Outline Level</a:t>
            </a:r>
            <a:endParaRPr lang="en-US" sz="2800" b="0" u="none" strike="noStrike">
              <a:solidFill>
                <a:srgbClr val="000000"/>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en-US" sz="2400" b="0" u="none" strike="noStrike">
                <a:solidFill>
                  <a:srgbClr val="000000"/>
                </a:solidFill>
                <a:effectLst/>
                <a:uFillTx/>
                <a:latin typeface="Arial"/>
                <a:ea typeface="DejaVu Sans"/>
              </a:rPr>
              <a:t>Third Outline Level</a:t>
            </a:r>
            <a:endParaRPr lang="en-US" sz="2400" b="0" u="none" strike="noStrike">
              <a:solidFill>
                <a:srgbClr val="000000"/>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rgbClr val="000000"/>
                </a:solidFill>
                <a:effectLst/>
                <a:uFillTx/>
                <a:latin typeface="Arial"/>
                <a:ea typeface="DejaVu Sans"/>
              </a:rPr>
              <a:t>Fourth Outline Level</a:t>
            </a:r>
            <a:endParaRPr lang="en-US" sz="2000" b="0" u="none" strike="noStrike">
              <a:solidFill>
                <a:srgbClr val="000000"/>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Arial"/>
                <a:ea typeface="DejaVu Sans"/>
              </a:rPr>
              <a:t>Fifth Outline Level</a:t>
            </a:r>
            <a:endParaRPr lang="en-US" sz="2000" b="0" u="none" strike="noStrike">
              <a:solidFill>
                <a:srgbClr val="000000"/>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Arial"/>
                <a:ea typeface="DejaVu Sans"/>
              </a:rPr>
              <a:t>Sixth Outline Level</a:t>
            </a:r>
            <a:endParaRPr lang="en-US" sz="2000" b="0" u="none" strike="noStrike">
              <a:solidFill>
                <a:srgbClr val="000000"/>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Arial"/>
                <a:ea typeface="DejaVu Sans"/>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11"/>
          <p:cNvSpPr/>
          <p:nvPr/>
        </p:nvSpPr>
        <p:spPr>
          <a:xfrm>
            <a:off x="0" y="0"/>
            <a:ext cx="12190680" cy="6856920"/>
          </a:xfrm>
          <a:prstGeom prst="rect">
            <a:avLst/>
          </a:prstGeom>
          <a:solidFill>
            <a:srgbClr val="F2F6FA"/>
          </a:solidFill>
          <a:ln w="12700">
            <a:solidFill>
              <a:srgbClr val="F2F6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Shape 12"/>
          <p:cNvSpPr/>
          <p:nvPr/>
        </p:nvSpPr>
        <p:spPr>
          <a:xfrm>
            <a:off x="0" y="0"/>
            <a:ext cx="12190680" cy="105048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 name="Shape 13"/>
          <p:cNvSpPr/>
          <p:nvPr/>
        </p:nvSpPr>
        <p:spPr>
          <a:xfrm>
            <a:off x="0" y="1051560"/>
            <a:ext cx="12190680" cy="8136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 name="Text 14"/>
          <p:cNvSpPr/>
          <p:nvPr/>
        </p:nvSpPr>
        <p:spPr>
          <a:xfrm>
            <a:off x="685800" y="311040"/>
            <a:ext cx="830000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800" b="1" i="0" u="none" strike="noStrike">
                <a:solidFill>
                  <a:srgbClr val="FFFFFF"/>
                </a:solidFill>
                <a:effectLst/>
                <a:uFillTx/>
                <a:latin typeface="Aptos"/>
                <a:ea typeface="Aptos"/>
              </a:rPr>
              <a:t>AI COMP 469  ·  Introduction to Artificial Intelligence</a:t>
            </a:r>
            <a:endParaRPr lang="en-US" sz="1200" b="0" u="none" strike="noStrike">
              <a:solidFill>
                <a:srgbClr val="000000"/>
              </a:solidFill>
              <a:effectLst/>
              <a:uFillTx/>
              <a:latin typeface="Arial"/>
            </a:endParaRPr>
          </a:p>
        </p:txBody>
      </p:sp>
      <p:sp>
        <p:nvSpPr>
          <p:cNvPr id="15" name="Shape 15"/>
          <p:cNvSpPr/>
          <p:nvPr/>
        </p:nvSpPr>
        <p:spPr>
          <a:xfrm>
            <a:off x="9220000" y="168000"/>
            <a:ext cx="2420000" cy="714480"/>
          </a:xfrm>
          <a:prstGeom prst="roundRect">
            <a:avLst>
              <a:gd name="adj" fmla="val 1400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 name="Text 17"/>
          <p:cNvSpPr/>
          <p:nvPr/>
        </p:nvSpPr>
        <p:spPr>
          <a:xfrm>
            <a:off x="685800" y="1560000"/>
            <a:ext cx="4000000" cy="38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2400" b="1" i="0" u="none" strike="noStrike" spc="180">
                <a:solidFill>
                  <a:srgbClr val="2B6CB0"/>
                </a:solidFill>
                <a:effectLst/>
                <a:uFillTx/>
                <a:latin typeface="Aptos"/>
                <a:ea typeface="Aptos"/>
              </a:rPr>
              <a:t>CHAPTER 2</a:t>
            </a:r>
            <a:endParaRPr lang="en-US" sz="1200" b="0" u="none" strike="noStrike">
              <a:solidFill>
                <a:srgbClr val="000000"/>
              </a:solidFill>
              <a:effectLst/>
              <a:uFillTx/>
              <a:latin typeface="Arial"/>
            </a:endParaRPr>
          </a:p>
        </p:txBody>
      </p:sp>
      <p:sp>
        <p:nvSpPr>
          <p:cNvPr id="18" name="Text 18"/>
          <p:cNvSpPr/>
          <p:nvPr/>
        </p:nvSpPr>
        <p:spPr>
          <a:xfrm>
            <a:off x="685800" y="1990000"/>
            <a:ext cx="6400000" cy="8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92000"/>
              </a:lnSpc>
              <a:tabLst>
                <a:tab pos="0" algn="l"/>
              </a:tabLst>
            </a:pPr>
            <a:r>
              <a:rPr lang="en-US" sz="5400" b="1" i="0" u="none" strike="noStrike">
                <a:solidFill>
                  <a:srgbClr val="0B1F3A"/>
                </a:solidFill>
                <a:effectLst/>
                <a:uFillTx/>
                <a:latin typeface="Aptos Display"/>
                <a:ea typeface="Aptos Display"/>
              </a:rPr>
              <a:t>INTELLIGENT</a:t>
            </a:r>
            <a:endParaRPr lang="en-US" sz="1200" b="0" u="none" strike="noStrike">
              <a:solidFill>
                <a:srgbClr val="000000"/>
              </a:solidFill>
              <a:effectLst/>
              <a:uFillTx/>
              <a:latin typeface="Arial"/>
            </a:endParaRPr>
          </a:p>
        </p:txBody>
      </p:sp>
      <p:sp>
        <p:nvSpPr>
          <p:cNvPr id="19" name="Text 19"/>
          <p:cNvSpPr/>
          <p:nvPr/>
        </p:nvSpPr>
        <p:spPr>
          <a:xfrm>
            <a:off x="685800" y="2740000"/>
            <a:ext cx="6400000" cy="8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92000"/>
              </a:lnSpc>
              <a:tabLst>
                <a:tab pos="0" algn="l"/>
              </a:tabLst>
            </a:pPr>
            <a:r>
              <a:rPr lang="en-US" sz="5400" b="1" i="0" u="none" strike="noStrike">
                <a:solidFill>
                  <a:srgbClr val="0B1F3A"/>
                </a:solidFill>
                <a:effectLst/>
                <a:uFillTx/>
                <a:latin typeface="Aptos Display"/>
                <a:ea typeface="Aptos Display"/>
              </a:rPr>
              <a:t>AGENTS</a:t>
            </a:r>
            <a:endParaRPr lang="en-US" sz="1200" b="0" u="none" strike="noStrike">
              <a:solidFill>
                <a:srgbClr val="000000"/>
              </a:solidFill>
              <a:effectLst/>
              <a:uFillTx/>
              <a:latin typeface="Arial"/>
            </a:endParaRPr>
          </a:p>
        </p:txBody>
      </p:sp>
      <p:sp>
        <p:nvSpPr>
          <p:cNvPr id="20" name="Shape 20"/>
          <p:cNvSpPr/>
          <p:nvPr/>
        </p:nvSpPr>
        <p:spPr>
          <a:xfrm>
            <a:off x="685800" y="3690000"/>
            <a:ext cx="760000" cy="66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 name="Text 21"/>
          <p:cNvSpPr/>
          <p:nvPr/>
        </p:nvSpPr>
        <p:spPr>
          <a:xfrm>
            <a:off x="685800" y="3880000"/>
            <a:ext cx="6100000" cy="8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l" defTabSz="914400">
              <a:lnSpc>
                <a:spcPct val="130000"/>
              </a:lnSpc>
              <a:tabLst>
                <a:tab pos="0" algn="l"/>
              </a:tabLst>
            </a:pPr>
            <a:r>
              <a:rPr lang="en-US" sz="1400" b="0" i="0" u="none" strike="noStrike">
                <a:solidFill>
                  <a:srgbClr val="5E7088"/>
                </a:solidFill>
                <a:effectLst/>
                <a:uFillTx/>
                <a:latin typeface="Aptos"/>
                <a:ea typeface="Aptos"/>
              </a:rPr>
              <a:t>This chapter builds the framework the rest of the course runs on: what an agent is, what makes its behavior rational, and how the task environment decides which agent design fits.</a:t>
            </a:r>
            <a:endParaRPr lang="en-US" sz="1200" b="0" u="none" strike="noStrike">
              <a:solidFill>
                <a:srgbClr val="000000"/>
              </a:solidFill>
              <a:effectLst/>
              <a:uFillTx/>
              <a:latin typeface="Arial"/>
            </a:endParaRPr>
          </a:p>
        </p:txBody>
      </p:sp>
      <p:sp>
        <p:nvSpPr>
          <p:cNvPr id="22" name="Shape 22"/>
          <p:cNvSpPr/>
          <p:nvPr/>
        </p:nvSpPr>
        <p:spPr>
          <a:xfrm>
            <a:off x="9250000" y="1540000"/>
            <a:ext cx="800000" cy="800000"/>
          </a:xfrm>
          <a:prstGeom prst="ellipse">
            <a:avLst/>
          </a:prstGeom>
          <a:solidFill>
            <a:srgbClr val="2B6CB0"/>
          </a:solidFill>
          <a:ln w="12700">
            <a:solidFill>
              <a:srgbClr val="2B6CB0"/>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 name="Text 23"/>
          <p:cNvSpPr/>
          <p:nvPr/>
        </p:nvSpPr>
        <p:spPr>
          <a:xfrm>
            <a:off x="9250000" y="1780520"/>
            <a:ext cx="8000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i="0" u="none" strike="noStrike">
                <a:solidFill>
                  <a:srgbClr val="FFFFFF"/>
                </a:solidFill>
                <a:effectLst/>
                <a:uFillTx/>
                <a:latin typeface="Aptos"/>
                <a:ea typeface="Aptos"/>
              </a:rPr>
              <a:t>Sense</a:t>
            </a:r>
            <a:endParaRPr lang="en-US" sz="1200" b="0" u="none" strike="noStrike">
              <a:solidFill>
                <a:srgbClr val="000000"/>
              </a:solidFill>
              <a:effectLst/>
              <a:uFillTx/>
              <a:latin typeface="Arial"/>
            </a:endParaRPr>
          </a:p>
        </p:txBody>
      </p:sp>
      <p:sp>
        <p:nvSpPr>
          <p:cNvPr id="24" name="Shape 24"/>
          <p:cNvSpPr/>
          <p:nvPr/>
        </p:nvSpPr>
        <p:spPr>
          <a:xfrm>
            <a:off x="9510000" y="2400000"/>
            <a:ext cx="280000" cy="200000"/>
          </a:xfrm>
          <a:prstGeom prst="downArrow">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 name="Shape 25"/>
          <p:cNvSpPr/>
          <p:nvPr/>
        </p:nvSpPr>
        <p:spPr>
          <a:xfrm>
            <a:off x="9250000" y="2660000"/>
            <a:ext cx="800000" cy="800000"/>
          </a:xfrm>
          <a:prstGeom prst="ellipse">
            <a:avLst/>
          </a:prstGeom>
          <a:solidFill>
            <a:srgbClr val="048A97"/>
          </a:solidFill>
          <a:ln w="12700">
            <a:solidFill>
              <a:srgbClr val="048A97"/>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 name="Text 26"/>
          <p:cNvSpPr/>
          <p:nvPr/>
        </p:nvSpPr>
        <p:spPr>
          <a:xfrm>
            <a:off x="9250000" y="2900520"/>
            <a:ext cx="8000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i="0" u="none" strike="noStrike">
                <a:solidFill>
                  <a:srgbClr val="FFFFFF"/>
                </a:solidFill>
                <a:effectLst/>
                <a:uFillTx/>
                <a:latin typeface="Aptos"/>
                <a:ea typeface="Aptos"/>
              </a:rPr>
              <a:t>Decide</a:t>
            </a:r>
            <a:endParaRPr lang="en-US" sz="1200" b="0" u="none" strike="noStrike">
              <a:solidFill>
                <a:srgbClr val="000000"/>
              </a:solidFill>
              <a:effectLst/>
              <a:uFillTx/>
              <a:latin typeface="Arial"/>
            </a:endParaRPr>
          </a:p>
        </p:txBody>
      </p:sp>
      <p:sp>
        <p:nvSpPr>
          <p:cNvPr id="27" name="Shape 27"/>
          <p:cNvSpPr/>
          <p:nvPr/>
        </p:nvSpPr>
        <p:spPr>
          <a:xfrm>
            <a:off x="9510000" y="3520000"/>
            <a:ext cx="280000" cy="200000"/>
          </a:xfrm>
          <a:prstGeom prst="downArrow">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 name="Shape 28"/>
          <p:cNvSpPr/>
          <p:nvPr/>
        </p:nvSpPr>
        <p:spPr>
          <a:xfrm>
            <a:off x="9250000" y="3780000"/>
            <a:ext cx="800000" cy="800000"/>
          </a:xfrm>
          <a:prstGeom prst="ellipse">
            <a:avLst/>
          </a:prstGeom>
          <a:solidFill>
            <a:srgbClr val="1B7A45"/>
          </a:solidFill>
          <a:ln w="12700">
            <a:solidFill>
              <a:srgbClr val="1B7A45"/>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 name="Text 29"/>
          <p:cNvSpPr/>
          <p:nvPr/>
        </p:nvSpPr>
        <p:spPr>
          <a:xfrm>
            <a:off x="9250000" y="4020520"/>
            <a:ext cx="8000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i="0" u="none" strike="noStrike">
                <a:solidFill>
                  <a:srgbClr val="FFFFFF"/>
                </a:solidFill>
                <a:effectLst/>
                <a:uFillTx/>
                <a:latin typeface="Aptos"/>
                <a:ea typeface="Aptos"/>
              </a:rPr>
              <a:t>Act</a:t>
            </a:r>
            <a:endParaRPr lang="en-US" sz="1200" b="0" u="none" strike="noStrike">
              <a:solidFill>
                <a:srgbClr val="000000"/>
              </a:solidFill>
              <a:effectLst/>
              <a:uFillTx/>
              <a:latin typeface="Arial"/>
            </a:endParaRPr>
          </a:p>
        </p:txBody>
      </p:sp>
      <p:sp>
        <p:nvSpPr>
          <p:cNvPr id="30" name="Shape 30"/>
          <p:cNvSpPr/>
          <p:nvPr/>
        </p:nvSpPr>
        <p:spPr>
          <a:xfrm>
            <a:off x="685800" y="4780000"/>
            <a:ext cx="10819080" cy="1540000"/>
          </a:xfrm>
          <a:prstGeom prst="roundRect">
            <a:avLst>
              <a:gd name="adj" fmla="val 7000"/>
            </a:avLst>
          </a:prstGeom>
          <a:solidFill>
            <a:srgbClr val="0B1F3A"/>
          </a:solidFill>
          <a:ln w="12700">
            <a:solidFill>
              <a:srgbClr val="0B1F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 name="Text 31"/>
          <p:cNvSpPr/>
          <p:nvPr/>
        </p:nvSpPr>
        <p:spPr>
          <a:xfrm>
            <a:off x="985800" y="5110000"/>
            <a:ext cx="2200000" cy="3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300" b="1" i="0" u="none" strike="noStrike" spc="200">
                <a:solidFill>
                  <a:srgbClr val="FFFFFF"/>
                </a:solidFill>
                <a:effectLst/>
                <a:uFillTx/>
                <a:latin typeface="Aptos"/>
                <a:ea typeface="Aptos"/>
              </a:rPr>
              <a:t>IN THIS CHAPTER</a:t>
            </a:r>
            <a:endParaRPr lang="en-US" sz="1200" b="0" u="none" strike="noStrike">
              <a:solidFill>
                <a:srgbClr val="000000"/>
              </a:solidFill>
              <a:effectLst/>
              <a:uFillTx/>
              <a:latin typeface="Arial"/>
            </a:endParaRPr>
          </a:p>
        </p:txBody>
      </p:sp>
      <p:sp>
        <p:nvSpPr>
          <p:cNvPr id="32" name="Text 32"/>
          <p:cNvSpPr/>
          <p:nvPr/>
        </p:nvSpPr>
        <p:spPr>
          <a:xfrm>
            <a:off x="985800" y="5480000"/>
            <a:ext cx="2200000" cy="3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050" b="0" i="0" u="none" strike="noStrike">
                <a:solidFill>
                  <a:srgbClr val="F5A21B"/>
                </a:solidFill>
                <a:effectLst/>
                <a:uFillTx/>
                <a:latin typeface="Aptos"/>
                <a:ea typeface="Aptos"/>
              </a:rPr>
              <a:t>Russell &amp; Norvig, AIMA 4e</a:t>
            </a:r>
            <a:endParaRPr lang="en-US" sz="1200" b="0" u="none" strike="noStrike">
              <a:solidFill>
                <a:srgbClr val="000000"/>
              </a:solidFill>
              <a:effectLst/>
              <a:uFillTx/>
              <a:latin typeface="Arial"/>
            </a:endParaRPr>
          </a:p>
        </p:txBody>
      </p:sp>
      <p:sp>
        <p:nvSpPr>
          <p:cNvPr id="33" name="Shape 33"/>
          <p:cNvSpPr/>
          <p:nvPr/>
        </p:nvSpPr>
        <p:spPr>
          <a:xfrm>
            <a:off x="3635800" y="506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 name="Text 34"/>
          <p:cNvSpPr/>
          <p:nvPr/>
        </p:nvSpPr>
        <p:spPr>
          <a:xfrm>
            <a:off x="3845800" y="498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Define agents: percepts, agent functions, agent programs</a:t>
            </a:r>
            <a:endParaRPr lang="en-US" sz="1200" b="0" u="none" strike="noStrike">
              <a:solidFill>
                <a:srgbClr val="000000"/>
              </a:solidFill>
              <a:effectLst/>
              <a:uFillTx/>
              <a:latin typeface="Arial"/>
            </a:endParaRPr>
          </a:p>
        </p:txBody>
      </p:sp>
      <p:sp>
        <p:nvSpPr>
          <p:cNvPr id="35" name="Shape 35"/>
          <p:cNvSpPr/>
          <p:nvPr/>
        </p:nvSpPr>
        <p:spPr>
          <a:xfrm>
            <a:off x="3635800" y="531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 name="Text 36"/>
          <p:cNvSpPr/>
          <p:nvPr/>
        </p:nvSpPr>
        <p:spPr>
          <a:xfrm>
            <a:off x="3845800" y="523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Judge rationality against a stated performance measure</a:t>
            </a:r>
            <a:endParaRPr lang="en-US" sz="1200" b="0" u="none" strike="noStrike">
              <a:solidFill>
                <a:srgbClr val="000000"/>
              </a:solidFill>
              <a:effectLst/>
              <a:uFillTx/>
              <a:latin typeface="Arial"/>
            </a:endParaRPr>
          </a:p>
        </p:txBody>
      </p:sp>
      <p:sp>
        <p:nvSpPr>
          <p:cNvPr id="37" name="Shape 37"/>
          <p:cNvSpPr/>
          <p:nvPr/>
        </p:nvSpPr>
        <p:spPr>
          <a:xfrm>
            <a:off x="3635800" y="556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38"/>
          <p:cNvSpPr/>
          <p:nvPr/>
        </p:nvSpPr>
        <p:spPr>
          <a:xfrm>
            <a:off x="3845800" y="548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Specify tasks with PEAS; classify task environments</a:t>
            </a:r>
            <a:endParaRPr lang="en-US" sz="1200" b="0" u="none" strike="noStrike">
              <a:solidFill>
                <a:srgbClr val="000000"/>
              </a:solidFill>
              <a:effectLst/>
              <a:uFillTx/>
              <a:latin typeface="Arial"/>
            </a:endParaRPr>
          </a:p>
        </p:txBody>
      </p:sp>
      <p:sp>
        <p:nvSpPr>
          <p:cNvPr id="39" name="Shape 39"/>
          <p:cNvSpPr/>
          <p:nvPr/>
        </p:nvSpPr>
        <p:spPr>
          <a:xfrm>
            <a:off x="3635800" y="581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 name="Text 40"/>
          <p:cNvSpPr/>
          <p:nvPr/>
        </p:nvSpPr>
        <p:spPr>
          <a:xfrm>
            <a:off x="3845800" y="573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Compare reflex, model-based, goal-based, utility-based agents</a:t>
            </a:r>
            <a:endParaRPr lang="en-US" sz="1200" b="0" u="none" strike="noStrike">
              <a:solidFill>
                <a:srgbClr val="000000"/>
              </a:solidFill>
              <a:effectLst/>
              <a:uFillTx/>
              <a:latin typeface="Arial"/>
            </a:endParaRPr>
          </a:p>
        </p:txBody>
      </p:sp>
      <p:sp>
        <p:nvSpPr>
          <p:cNvPr id="41" name="Shape 41"/>
          <p:cNvSpPr/>
          <p:nvPr/>
        </p:nvSpPr>
        <p:spPr>
          <a:xfrm>
            <a:off x="3635800" y="606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 name="Text 42"/>
          <p:cNvSpPr/>
          <p:nvPr/>
        </p:nvSpPr>
        <p:spPr>
          <a:xfrm>
            <a:off x="3845800" y="598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Add learning; choose atomic, factored, or structured state</a:t>
            </a:r>
            <a:endParaRPr lang="en-US" sz="1200" b="0" u="none" strike="noStrike">
              <a:solidFill>
                <a:srgbClr val="000000"/>
              </a:solidFill>
              <a:effectLst/>
              <a:uFillTx/>
              <a:latin typeface="Arial"/>
            </a:endParaRPr>
          </a:p>
        </p:txBody>
      </p:sp>
      <p:sp>
        <p:nvSpPr>
          <p:cNvPr id="43" name="Shape 43"/>
          <p:cNvSpPr/>
          <p:nvPr/>
        </p:nvSpPr>
        <p:spPr>
          <a:xfrm>
            <a:off x="9445800" y="5060000"/>
            <a:ext cx="11000" cy="980000"/>
          </a:xfrm>
          <a:prstGeom prst="rect">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 name="Text 44"/>
          <p:cNvSpPr/>
          <p:nvPr/>
        </p:nvSpPr>
        <p:spPr>
          <a:xfrm>
            <a:off x="9665800" y="5080000"/>
            <a:ext cx="1720000" cy="9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l" defTabSz="914400">
              <a:lnSpc>
                <a:spcPct val="126000"/>
              </a:lnSpc>
              <a:tabLst>
                <a:tab pos="0" algn="l"/>
              </a:tabLst>
            </a:pPr>
            <a:r>
              <a:rPr lang="en-US" sz="1200" b="0" i="1" u="none" strike="noStrike">
                <a:solidFill>
                  <a:srgbClr val="FFFFFF"/>
                </a:solidFill>
                <a:effectLst/>
                <a:uFillTx/>
                <a:latin typeface="Aptos"/>
                <a:ea typeface="Aptos"/>
              </a:rPr>
              <a:t>Core question: how should an agent choose actions in an environment?</a:t>
            </a:r>
            <a:endParaRPr lang="en-US" sz="1200" b="0" u="none" strike="noStrike">
              <a:solidFill>
                <a:srgbClr val="000000"/>
              </a:solidFill>
              <a:effectLst/>
              <a:uFillTx/>
              <a:latin typeface="Arial"/>
            </a:endParaRPr>
          </a:p>
        </p:txBody>
      </p:sp>
      <p:sp>
        <p:nvSpPr>
          <p:cNvPr id="45" name="Shape 45"/>
          <p:cNvSpPr/>
          <p:nvPr/>
        </p:nvSpPr>
        <p:spPr>
          <a:xfrm>
            <a:off x="0" y="6456000"/>
            <a:ext cx="12190680" cy="400920"/>
          </a:xfrm>
          <a:prstGeom prst="rect">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 name="Text 46"/>
          <p:cNvSpPr/>
          <p:nvPr/>
        </p:nvSpPr>
        <p:spPr>
          <a:xfrm>
            <a:off x="685800" y="6540000"/>
            <a:ext cx="3000000" cy="24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100" b="1" i="0" u="none" strike="noStrike" spc="120">
                <a:solidFill>
                  <a:srgbClr val="FFFFFF"/>
                </a:solidFill>
                <a:effectLst/>
                <a:uFillTx/>
                <a:latin typeface="Aptos"/>
                <a:ea typeface="Aptos"/>
              </a:rPr>
              <a:t>AI COMP 469</a:t>
            </a:r>
            <a:endParaRPr lang="en-US" sz="1200" b="0" u="none" strike="noStrike">
              <a:solidFill>
                <a:srgbClr val="000000"/>
              </a:solidFill>
              <a:effectLst/>
              <a:uFillTx/>
              <a:latin typeface="Arial"/>
            </a:endParaRPr>
          </a:p>
        </p:txBody>
      </p:sp>
      <p:sp>
        <p:nvSpPr>
          <p:cNvPr id="47" name="Text 47"/>
          <p:cNvSpPr/>
          <p:nvPr/>
        </p:nvSpPr>
        <p:spPr>
          <a:xfrm>
            <a:off x="7904880" y="6540000"/>
            <a:ext cx="3600000" cy="24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1" i="0" u="none" strike="noStrike" spc="120">
                <a:solidFill>
                  <a:srgbClr val="FFFFFF"/>
                </a:solidFill>
                <a:effectLst/>
                <a:uFillTx/>
                <a:latin typeface="Aptos"/>
                <a:ea typeface="Aptos"/>
              </a:rPr>
              <a:t>CSU CHANNEL ISLANDS</a:t>
            </a:r>
            <a:endParaRPr lang="en-US" sz="1200" b="0" u="none" strike="noStrike">
              <a:solidFill>
                <a:srgbClr val="000000"/>
              </a:solidFill>
              <a:effectLst/>
              <a:uFillTx/>
              <a:latin typeface="Arial"/>
            </a:endParaRPr>
          </a:p>
        </p:txBody>
      </p:sp>
      <p:pic>
        <p:nvPicPr>
          <p:cNvPr id="2" name="Picture 1" descr="CSUCI unveils refreshed brand identity rooted in opportunity, connection and a distinctive sense of place – Amigos805.com">
            <a:extLst>
              <a:ext uri="{FF2B5EF4-FFF2-40B4-BE49-F238E27FC236}">
                <a16:creationId xmlns:a16="http://schemas.microsoft.com/office/drawing/2014/main" id="{4E0FD2E4-8D9D-372A-E242-ACAB8D80B333}"/>
              </a:ext>
            </a:extLst>
          </p:cNvPr>
          <p:cNvPicPr>
            <a:picLocks noChangeAspect="1"/>
          </p:cNvPicPr>
          <p:nvPr/>
        </p:nvPicPr>
        <p:blipFill>
          <a:blip r:embed="rId3"/>
          <a:stretch>
            <a:fillRect/>
          </a:stretch>
        </p:blipFill>
        <p:spPr>
          <a:xfrm>
            <a:off x="9849667" y="219106"/>
            <a:ext cx="1160666" cy="6463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6" name="Shape 0"/>
          <p:cNvSpPr/>
          <p:nvPr/>
        </p:nvSpPr>
        <p:spPr>
          <a:xfrm>
            <a:off x="0" y="0"/>
            <a:ext cx="12190680" cy="6856920"/>
          </a:xfrm>
          <a:prstGeom prst="rect">
            <a:avLst/>
          </a:prstGeom>
          <a:solidFill>
            <a:srgbClr val="F2F6FA"/>
          </a:solidFill>
          <a:ln w="12700">
            <a:solidFill>
              <a:srgbClr val="F2F6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 name="Shape 1"/>
          <p:cNvSpPr/>
          <p:nvPr/>
        </p:nvSpPr>
        <p:spPr>
          <a:xfrm>
            <a:off x="0" y="0"/>
            <a:ext cx="12190680" cy="105048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 name="Shape 2"/>
          <p:cNvSpPr/>
          <p:nvPr/>
        </p:nvSpPr>
        <p:spPr>
          <a:xfrm>
            <a:off x="0" y="1051560"/>
            <a:ext cx="12190680" cy="8136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000000"/>
              </a:solidFill>
              <a:effectLst/>
              <a:uFillTx/>
              <a:latin typeface="Arial"/>
            </a:endParaRPr>
          </a:p>
        </p:txBody>
      </p:sp>
      <p:sp>
        <p:nvSpPr>
          <p:cNvPr id="19" name="Text 3"/>
          <p:cNvSpPr/>
          <p:nvPr/>
        </p:nvSpPr>
        <p:spPr>
          <a:xfrm>
            <a:off x="685800" y="311040"/>
            <a:ext cx="201060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Aptos"/>
              </a:rPr>
              <a:t>COMP 469</a:t>
            </a:r>
            <a:endParaRPr lang="en-US" sz="2000" b="0" u="none" strike="noStrike">
              <a:solidFill>
                <a:srgbClr val="000000"/>
              </a:solidFill>
              <a:effectLst/>
              <a:uFillTx/>
              <a:latin typeface="Arial"/>
            </a:endParaRPr>
          </a:p>
        </p:txBody>
      </p:sp>
      <p:sp>
        <p:nvSpPr>
          <p:cNvPr id="20" name="Text 4"/>
          <p:cNvSpPr/>
          <p:nvPr/>
        </p:nvSpPr>
        <p:spPr>
          <a:xfrm>
            <a:off x="685800" y="1828800"/>
            <a:ext cx="9874440" cy="63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u="none" strike="noStrike">
                <a:solidFill>
                  <a:srgbClr val="0B1F3A"/>
                </a:solidFill>
                <a:effectLst/>
                <a:uFillTx/>
                <a:latin typeface="Aptos Display"/>
                <a:ea typeface="Aptos Display"/>
              </a:rPr>
              <a:t>Chapter 2: Intelligent Agents</a:t>
            </a:r>
            <a:endParaRPr lang="en-US" sz="3600" b="0" u="none" strike="noStrike">
              <a:solidFill>
                <a:srgbClr val="000000"/>
              </a:solidFill>
              <a:effectLst/>
              <a:uFillTx/>
              <a:latin typeface="Arial"/>
            </a:endParaRPr>
          </a:p>
        </p:txBody>
      </p:sp>
      <p:sp>
        <p:nvSpPr>
          <p:cNvPr id="21" name="Text 5"/>
          <p:cNvSpPr/>
          <p:nvPr/>
        </p:nvSpPr>
        <p:spPr>
          <a:xfrm>
            <a:off x="713160" y="2541960"/>
            <a:ext cx="74970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5E7088"/>
                </a:solidFill>
                <a:effectLst/>
                <a:uFillTx/>
                <a:latin typeface="Aptos"/>
              </a:rPr>
              <a:t>CSU Channel Islands · Department of Computer Science</a:t>
            </a:r>
            <a:endParaRPr lang="en-US" sz="1500" b="0" u="none" strike="noStrike">
              <a:solidFill>
                <a:srgbClr val="000000"/>
              </a:solidFill>
              <a:effectLst/>
              <a:uFillTx/>
              <a:latin typeface="Arial"/>
            </a:endParaRPr>
          </a:p>
        </p:txBody>
      </p:sp>
      <p:sp>
        <p:nvSpPr>
          <p:cNvPr id="22" name="Shape 6"/>
          <p:cNvSpPr/>
          <p:nvPr/>
        </p:nvSpPr>
        <p:spPr>
          <a:xfrm>
            <a:off x="960120" y="3886200"/>
            <a:ext cx="1553400" cy="1553400"/>
          </a:xfrm>
          <a:prstGeom prst="ellipse">
            <a:avLst/>
          </a:prstGeom>
          <a:solidFill>
            <a:srgbClr val="2B6CB0"/>
          </a:solidFill>
          <a:ln w="12700">
            <a:solidFill>
              <a:srgbClr val="2B6CB0"/>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 name="Text 7"/>
          <p:cNvSpPr/>
          <p:nvPr/>
        </p:nvSpPr>
        <p:spPr>
          <a:xfrm>
            <a:off x="960120" y="4370760"/>
            <a:ext cx="1553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Sense</a:t>
            </a:r>
            <a:endParaRPr lang="en-US" sz="1800" b="0" u="none" strike="noStrike">
              <a:solidFill>
                <a:srgbClr val="000000"/>
              </a:solidFill>
              <a:effectLst/>
              <a:uFillTx/>
              <a:latin typeface="Arial"/>
            </a:endParaRPr>
          </a:p>
        </p:txBody>
      </p:sp>
      <p:sp>
        <p:nvSpPr>
          <p:cNvPr id="24" name="Shape 8"/>
          <p:cNvSpPr/>
          <p:nvPr/>
        </p:nvSpPr>
        <p:spPr>
          <a:xfrm>
            <a:off x="2834640" y="4370760"/>
            <a:ext cx="1233360" cy="593280"/>
          </a:xfrm>
          <a:prstGeom prst="chevron">
            <a:avLst>
              <a:gd name="adj" fmla="val 5000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 name="Shape 9"/>
          <p:cNvSpPr/>
          <p:nvPr/>
        </p:nvSpPr>
        <p:spPr>
          <a:xfrm>
            <a:off x="4343400" y="3886200"/>
            <a:ext cx="1553400" cy="1553400"/>
          </a:xfrm>
          <a:prstGeom prst="ellipse">
            <a:avLst/>
          </a:prstGeom>
          <a:solidFill>
            <a:srgbClr val="048A97"/>
          </a:solidFill>
          <a:ln w="12700">
            <a:solidFill>
              <a:srgbClr val="048A97"/>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 name="Text 10"/>
          <p:cNvSpPr/>
          <p:nvPr/>
        </p:nvSpPr>
        <p:spPr>
          <a:xfrm>
            <a:off x="4343400" y="4370760"/>
            <a:ext cx="1553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Decide</a:t>
            </a:r>
            <a:endParaRPr lang="en-US" sz="1800" b="0" u="none" strike="noStrike">
              <a:solidFill>
                <a:srgbClr val="000000"/>
              </a:solidFill>
              <a:effectLst/>
              <a:uFillTx/>
              <a:latin typeface="Arial"/>
            </a:endParaRPr>
          </a:p>
        </p:txBody>
      </p:sp>
      <p:sp>
        <p:nvSpPr>
          <p:cNvPr id="27" name="Shape 11"/>
          <p:cNvSpPr/>
          <p:nvPr/>
        </p:nvSpPr>
        <p:spPr>
          <a:xfrm>
            <a:off x="6217920" y="4370760"/>
            <a:ext cx="1233360" cy="593280"/>
          </a:xfrm>
          <a:prstGeom prst="chevron">
            <a:avLst>
              <a:gd name="adj" fmla="val 5000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Shape 12"/>
          <p:cNvSpPr/>
          <p:nvPr/>
        </p:nvSpPr>
        <p:spPr>
          <a:xfrm>
            <a:off x="7818120" y="3886200"/>
            <a:ext cx="1553400" cy="1553400"/>
          </a:xfrm>
          <a:prstGeom prst="ellipse">
            <a:avLst/>
          </a:prstGeom>
          <a:solidFill>
            <a:srgbClr val="1B7A45"/>
          </a:solidFill>
          <a:ln w="12700">
            <a:solidFill>
              <a:srgbClr val="1B7A45"/>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 name="Text 13"/>
          <p:cNvSpPr/>
          <p:nvPr/>
        </p:nvSpPr>
        <p:spPr>
          <a:xfrm>
            <a:off x="7818120" y="4370760"/>
            <a:ext cx="1553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Act</a:t>
            </a:r>
            <a:endParaRPr lang="en-US" sz="1800" b="0" u="none" strike="noStrike">
              <a:solidFill>
                <a:srgbClr val="000000"/>
              </a:solidFill>
              <a:effectLst/>
              <a:uFillTx/>
              <a:latin typeface="Arial"/>
            </a:endParaRPr>
          </a:p>
        </p:txBody>
      </p:sp>
      <p:sp>
        <p:nvSpPr>
          <p:cNvPr id="30" name="Text 14"/>
          <p:cNvSpPr/>
          <p:nvPr/>
        </p:nvSpPr>
        <p:spPr>
          <a:xfrm>
            <a:off x="713160" y="5916240"/>
            <a:ext cx="10880280" cy="30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Core question: how should an agent choose actions in an environment?</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3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What Can AI Do?</a:t>
            </a:r>
            <a:endParaRPr lang="en-US" sz="2300" b="0" u="none" strike="noStrike">
              <a:solidFill>
                <a:srgbClr val="000000"/>
              </a:solidFill>
              <a:effectLst/>
              <a:uFillTx/>
              <a:latin typeface="Arial"/>
            </a:endParaRPr>
          </a:p>
        </p:txBody>
      </p:sp>
      <p:sp>
        <p:nvSpPr>
          <p:cNvPr id="3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Warm-up</a:t>
            </a:r>
            <a:endParaRPr lang="en-US" sz="1200" b="0" u="none" strike="noStrike">
              <a:solidFill>
                <a:srgbClr val="000000"/>
              </a:solidFill>
              <a:effectLst/>
              <a:uFillTx/>
              <a:latin typeface="Arial"/>
            </a:endParaRPr>
          </a:p>
        </p:txBody>
      </p:sp>
      <p:sp>
        <p:nvSpPr>
          <p:cNvPr id="3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a:t>
            </a:r>
            <a:endParaRPr lang="en-US" sz="1800" b="0" u="none" strike="noStrike">
              <a:solidFill>
                <a:srgbClr val="000000"/>
              </a:solidFill>
              <a:effectLst/>
              <a:uFillTx/>
              <a:latin typeface="Arial"/>
            </a:endParaRPr>
          </a:p>
        </p:txBody>
      </p:sp>
      <p:sp>
        <p:nvSpPr>
          <p:cNvPr id="37" name="Shape 6"/>
          <p:cNvSpPr/>
          <p:nvPr/>
        </p:nvSpPr>
        <p:spPr>
          <a:xfrm>
            <a:off x="658440" y="1234440"/>
            <a:ext cx="3016440" cy="1964880"/>
          </a:xfrm>
          <a:prstGeom prst="roundRect">
            <a:avLst>
              <a:gd name="adj" fmla="val 2791"/>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 name="Text 7"/>
          <p:cNvSpPr/>
          <p:nvPr/>
        </p:nvSpPr>
        <p:spPr>
          <a:xfrm>
            <a:off x="822960" y="1380600"/>
            <a:ext cx="26874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Reliable in formal worlds</a:t>
            </a:r>
            <a:endParaRPr lang="en-US" sz="1500" b="0" u="none" strike="noStrike">
              <a:solidFill>
                <a:srgbClr val="000000"/>
              </a:solidFill>
              <a:effectLst/>
              <a:uFillTx/>
              <a:latin typeface="Arial"/>
            </a:endParaRPr>
          </a:p>
        </p:txBody>
      </p:sp>
      <p:sp>
        <p:nvSpPr>
          <p:cNvPr id="39" name="Text 8"/>
          <p:cNvSpPr/>
          <p:nvPr/>
        </p:nvSpPr>
        <p:spPr>
          <a:xfrm>
            <a:off x="822960" y="1710000"/>
            <a:ext cx="2687400" cy="1370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Win at chess or Go</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Translate speech</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Classify images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Answer structured questions</a:t>
            </a:r>
            <a:endParaRPr lang="en-US" sz="1250" b="0" u="none" strike="noStrike">
              <a:solidFill>
                <a:srgbClr val="000000"/>
              </a:solidFill>
              <a:effectLst/>
              <a:uFillTx/>
              <a:latin typeface="Arial"/>
            </a:endParaRPr>
          </a:p>
        </p:txBody>
      </p:sp>
      <p:sp>
        <p:nvSpPr>
          <p:cNvPr id="40" name="Shape 9"/>
          <p:cNvSpPr/>
          <p:nvPr/>
        </p:nvSpPr>
        <p:spPr>
          <a:xfrm>
            <a:off x="3886200" y="1234440"/>
            <a:ext cx="3793680" cy="1964880"/>
          </a:xfrm>
          <a:prstGeom prst="roundRect">
            <a:avLst>
              <a:gd name="adj" fmla="val 2791"/>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 name="Text 10"/>
          <p:cNvSpPr/>
          <p:nvPr/>
        </p:nvSpPr>
        <p:spPr>
          <a:xfrm>
            <a:off x="4050720" y="1380600"/>
            <a:ext cx="34646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A32020"/>
                </a:solidFill>
                <a:effectLst/>
                <a:uFillTx/>
                <a:latin typeface="Aptos"/>
              </a:rPr>
              <a:t>Harder in open worlds</a:t>
            </a:r>
            <a:endParaRPr lang="en-US" sz="1500" b="0" u="none" strike="noStrike">
              <a:solidFill>
                <a:srgbClr val="000000"/>
              </a:solidFill>
              <a:effectLst/>
              <a:uFillTx/>
              <a:latin typeface="Arial"/>
            </a:endParaRPr>
          </a:p>
        </p:txBody>
      </p:sp>
      <p:sp>
        <p:nvSpPr>
          <p:cNvPr id="42" name="Text 11"/>
          <p:cNvSpPr/>
          <p:nvPr/>
        </p:nvSpPr>
        <p:spPr>
          <a:xfrm>
            <a:off x="4050720" y="1710000"/>
            <a:ext cx="3464640" cy="1370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Drive safely in all conditions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Unload any dishwasher in any home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Buy groceries in a physical store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Act with incomplete information</a:t>
            </a:r>
            <a:endParaRPr lang="en-US" sz="1250" b="0" u="none" strike="noStrike">
              <a:solidFill>
                <a:srgbClr val="000000"/>
              </a:solidFill>
              <a:effectLst/>
              <a:uFillTx/>
              <a:latin typeface="Arial"/>
            </a:endParaRPr>
          </a:p>
        </p:txBody>
      </p:sp>
      <p:sp>
        <p:nvSpPr>
          <p:cNvPr id="43" name="Shape 12"/>
          <p:cNvSpPr/>
          <p:nvPr/>
        </p:nvSpPr>
        <p:spPr>
          <a:xfrm>
            <a:off x="7900560" y="1234440"/>
            <a:ext cx="3565080" cy="1964880"/>
          </a:xfrm>
          <a:prstGeom prst="roundRect">
            <a:avLst>
              <a:gd name="adj" fmla="val 2791"/>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 name="Text 13"/>
          <p:cNvSpPr/>
          <p:nvPr/>
        </p:nvSpPr>
        <p:spPr>
          <a:xfrm>
            <a:off x="8065080" y="1380600"/>
            <a:ext cx="32360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A better question to ask</a:t>
            </a:r>
            <a:endParaRPr lang="en-US" sz="1500" b="0" u="none" strike="noStrike">
              <a:solidFill>
                <a:srgbClr val="000000"/>
              </a:solidFill>
              <a:effectLst/>
              <a:uFillTx/>
              <a:latin typeface="Arial"/>
            </a:endParaRPr>
          </a:p>
        </p:txBody>
      </p:sp>
      <p:sp>
        <p:nvSpPr>
          <p:cNvPr id="45" name="Text 14"/>
          <p:cNvSpPr/>
          <p:nvPr/>
        </p:nvSpPr>
        <p:spPr>
          <a:xfrm>
            <a:off x="8065080" y="1710000"/>
            <a:ext cx="3236040" cy="1370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Do not ask only whether AI “can” do something. Ask what the environment is, what the agent can perceive, what actions are available, and how success is measured.</a:t>
            </a:r>
            <a:endParaRPr lang="en-US" sz="1250" b="0" u="none" strike="noStrike">
              <a:solidFill>
                <a:srgbClr val="000000"/>
              </a:solidFill>
              <a:effectLst/>
              <a:uFillTx/>
              <a:latin typeface="Arial"/>
            </a:endParaRPr>
          </a:p>
        </p:txBody>
      </p:sp>
      <p:sp>
        <p:nvSpPr>
          <p:cNvPr id="46" name="Shape 15"/>
          <p:cNvSpPr/>
          <p:nvPr/>
        </p:nvSpPr>
        <p:spPr>
          <a:xfrm>
            <a:off x="1005840" y="4297680"/>
            <a:ext cx="10241280" cy="360"/>
          </a:xfrm>
          <a:prstGeom prst="line">
            <a:avLst/>
          </a:prstGeom>
          <a:ln w="254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 name="Text 16"/>
          <p:cNvSpPr/>
          <p:nvPr/>
        </p:nvSpPr>
        <p:spPr>
          <a:xfrm>
            <a:off x="1005840" y="4526280"/>
            <a:ext cx="1024020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300" b="1" u="none" strike="noStrike">
                <a:solidFill>
                  <a:srgbClr val="0B2B5C"/>
                </a:solidFill>
                <a:effectLst/>
                <a:uFillTx/>
                <a:latin typeface="Aptos"/>
              </a:rPr>
              <a:t>Task difficulty depends on environment structure.</a:t>
            </a:r>
            <a:endParaRPr lang="en-US" sz="2300" b="0" u="none" strike="noStrike">
              <a:solidFill>
                <a:srgbClr val="000000"/>
              </a:solidFill>
              <a:effectLst/>
              <a:uFillTx/>
              <a:latin typeface="Arial"/>
            </a:endParaRPr>
          </a:p>
        </p:txBody>
      </p:sp>
      <p:sp>
        <p:nvSpPr>
          <p:cNvPr id="48" name="Text 17"/>
          <p:cNvSpPr/>
          <p:nvPr/>
        </p:nvSpPr>
        <p:spPr>
          <a:xfrm>
            <a:off x="1005840" y="5010840"/>
            <a:ext cx="102402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0" u="none" strike="noStrike">
                <a:solidFill>
                  <a:srgbClr val="5E7088"/>
                </a:solidFill>
                <a:effectLst/>
                <a:uFillTx/>
                <a:latin typeface="Aptos"/>
              </a:rPr>
              <a:t>Pick one task from each column and name the property that makes it easy or hard.</a:t>
            </a:r>
            <a:endParaRPr lang="en-US" sz="13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4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5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A Rational-Agent Perspective</a:t>
            </a:r>
            <a:endParaRPr lang="en-US" sz="2300" b="0" u="none" strike="noStrike">
              <a:solidFill>
                <a:srgbClr val="000000"/>
              </a:solidFill>
              <a:effectLst/>
              <a:uFillTx/>
              <a:latin typeface="Arial"/>
            </a:endParaRPr>
          </a:p>
        </p:txBody>
      </p:sp>
      <p:sp>
        <p:nvSpPr>
          <p:cNvPr id="5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Framing</a:t>
            </a:r>
            <a:endParaRPr lang="en-US" sz="1200" b="0" u="none" strike="noStrike">
              <a:solidFill>
                <a:srgbClr val="000000"/>
              </a:solidFill>
              <a:effectLst/>
              <a:uFillTx/>
              <a:latin typeface="Arial"/>
            </a:endParaRPr>
          </a:p>
        </p:txBody>
      </p:sp>
      <p:sp>
        <p:nvSpPr>
          <p:cNvPr id="5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a:t>
            </a:r>
            <a:endParaRPr lang="en-US" sz="1800" b="0" u="none" strike="noStrike">
              <a:solidFill>
                <a:srgbClr val="000000"/>
              </a:solidFill>
              <a:effectLst/>
              <a:uFillTx/>
              <a:latin typeface="Arial"/>
            </a:endParaRPr>
          </a:p>
        </p:txBody>
      </p:sp>
      <p:sp>
        <p:nvSpPr>
          <p:cNvPr id="55" name="Text 6"/>
          <p:cNvSpPr/>
          <p:nvPr/>
        </p:nvSpPr>
        <p:spPr>
          <a:xfrm>
            <a:off x="777240" y="1234440"/>
            <a:ext cx="594252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B1F3A"/>
                </a:solidFill>
                <a:effectLst/>
                <a:uFillTx/>
                <a:latin typeface="Aptos"/>
              </a:rPr>
              <a:t>Should we make machines that...</a:t>
            </a:r>
            <a:endParaRPr lang="en-US" sz="2100" b="0" u="none" strike="noStrike">
              <a:solidFill>
                <a:srgbClr val="000000"/>
              </a:solidFill>
              <a:effectLst/>
              <a:uFillTx/>
              <a:latin typeface="Arial"/>
            </a:endParaRPr>
          </a:p>
        </p:txBody>
      </p:sp>
      <p:sp>
        <p:nvSpPr>
          <p:cNvPr id="56" name="Shape 7"/>
          <p:cNvSpPr/>
          <p:nvPr/>
        </p:nvSpPr>
        <p:spPr>
          <a:xfrm>
            <a:off x="960120" y="187452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 name="Text 8"/>
          <p:cNvSpPr/>
          <p:nvPr/>
        </p:nvSpPr>
        <p:spPr>
          <a:xfrm>
            <a:off x="1124640" y="202068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6DA3D9"/>
                </a:solidFill>
                <a:effectLst/>
                <a:uFillTx/>
                <a:latin typeface="Aptos"/>
              </a:rPr>
              <a:t>Think like people</a:t>
            </a:r>
            <a:endParaRPr lang="en-US" sz="1900" b="0" u="none" strike="noStrike">
              <a:solidFill>
                <a:srgbClr val="000000"/>
              </a:solidFill>
              <a:effectLst/>
              <a:uFillTx/>
              <a:latin typeface="Arial"/>
            </a:endParaRPr>
          </a:p>
        </p:txBody>
      </p:sp>
      <p:sp>
        <p:nvSpPr>
          <p:cNvPr id="58" name="Text 9"/>
          <p:cNvSpPr/>
          <p:nvPr/>
        </p:nvSpPr>
        <p:spPr>
          <a:xfrm>
            <a:off x="1124640" y="235008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human thought process</a:t>
            </a:r>
            <a:endParaRPr lang="en-US" sz="1400" b="0" u="none" strike="noStrike">
              <a:solidFill>
                <a:srgbClr val="000000"/>
              </a:solidFill>
              <a:effectLst/>
              <a:uFillTx/>
              <a:latin typeface="Arial"/>
            </a:endParaRPr>
          </a:p>
        </p:txBody>
      </p:sp>
      <p:sp>
        <p:nvSpPr>
          <p:cNvPr id="59" name="Shape 10"/>
          <p:cNvSpPr/>
          <p:nvPr/>
        </p:nvSpPr>
        <p:spPr>
          <a:xfrm>
            <a:off x="6400800" y="187452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0" name="Text 11"/>
          <p:cNvSpPr/>
          <p:nvPr/>
        </p:nvSpPr>
        <p:spPr>
          <a:xfrm>
            <a:off x="6565320" y="202068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048A97"/>
                </a:solidFill>
                <a:effectLst/>
                <a:uFillTx/>
                <a:latin typeface="Aptos"/>
              </a:rPr>
              <a:t>Think rationally</a:t>
            </a:r>
            <a:endParaRPr lang="en-US" sz="1900" b="0" u="none" strike="noStrike">
              <a:solidFill>
                <a:srgbClr val="000000"/>
              </a:solidFill>
              <a:effectLst/>
              <a:uFillTx/>
              <a:latin typeface="Arial"/>
            </a:endParaRPr>
          </a:p>
        </p:txBody>
      </p:sp>
      <p:sp>
        <p:nvSpPr>
          <p:cNvPr id="61" name="Text 12"/>
          <p:cNvSpPr/>
          <p:nvPr/>
        </p:nvSpPr>
        <p:spPr>
          <a:xfrm>
            <a:off x="6565320" y="235008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formal reasoning</a:t>
            </a:r>
            <a:endParaRPr lang="en-US" sz="1400" b="0" u="none" strike="noStrike">
              <a:solidFill>
                <a:srgbClr val="000000"/>
              </a:solidFill>
              <a:effectLst/>
              <a:uFillTx/>
              <a:latin typeface="Arial"/>
            </a:endParaRPr>
          </a:p>
        </p:txBody>
      </p:sp>
      <p:sp>
        <p:nvSpPr>
          <p:cNvPr id="62" name="Shape 13"/>
          <p:cNvSpPr/>
          <p:nvPr/>
        </p:nvSpPr>
        <p:spPr>
          <a:xfrm>
            <a:off x="960120" y="384048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 name="Text 14"/>
          <p:cNvSpPr/>
          <p:nvPr/>
        </p:nvSpPr>
        <p:spPr>
          <a:xfrm>
            <a:off x="1124640" y="398664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5B35B1"/>
                </a:solidFill>
                <a:effectLst/>
                <a:uFillTx/>
                <a:latin typeface="Aptos"/>
              </a:rPr>
              <a:t>Act like people</a:t>
            </a:r>
            <a:endParaRPr lang="en-US" sz="1900" b="0" u="none" strike="noStrike">
              <a:solidFill>
                <a:srgbClr val="000000"/>
              </a:solidFill>
              <a:effectLst/>
              <a:uFillTx/>
              <a:latin typeface="Arial"/>
            </a:endParaRPr>
          </a:p>
        </p:txBody>
      </p:sp>
      <p:sp>
        <p:nvSpPr>
          <p:cNvPr id="64" name="Text 15"/>
          <p:cNvSpPr/>
          <p:nvPr/>
        </p:nvSpPr>
        <p:spPr>
          <a:xfrm>
            <a:off x="1124640" y="431604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human-like behavior</a:t>
            </a:r>
            <a:endParaRPr lang="en-US" sz="1400" b="0" u="none" strike="noStrike">
              <a:solidFill>
                <a:srgbClr val="000000"/>
              </a:solidFill>
              <a:effectLst/>
              <a:uFillTx/>
              <a:latin typeface="Arial"/>
            </a:endParaRPr>
          </a:p>
        </p:txBody>
      </p:sp>
      <p:sp>
        <p:nvSpPr>
          <p:cNvPr id="65" name="Shape 16"/>
          <p:cNvSpPr/>
          <p:nvPr/>
        </p:nvSpPr>
        <p:spPr>
          <a:xfrm>
            <a:off x="6400800" y="384048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6" name="Text 17"/>
          <p:cNvSpPr/>
          <p:nvPr/>
        </p:nvSpPr>
        <p:spPr>
          <a:xfrm>
            <a:off x="6565320" y="398664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1B7A45"/>
                </a:solidFill>
                <a:effectLst/>
                <a:uFillTx/>
                <a:latin typeface="Aptos"/>
              </a:rPr>
              <a:t>Act rationally</a:t>
            </a:r>
            <a:endParaRPr lang="en-US" sz="1900" b="0" u="none" strike="noStrike">
              <a:solidFill>
                <a:srgbClr val="000000"/>
              </a:solidFill>
              <a:effectLst/>
              <a:uFillTx/>
              <a:latin typeface="Arial"/>
            </a:endParaRPr>
          </a:p>
        </p:txBody>
      </p:sp>
      <p:sp>
        <p:nvSpPr>
          <p:cNvPr id="67" name="Text 18"/>
          <p:cNvSpPr/>
          <p:nvPr/>
        </p:nvSpPr>
        <p:spPr>
          <a:xfrm>
            <a:off x="6565320" y="431604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choose effective actions</a:t>
            </a:r>
            <a:endParaRPr lang="en-US" sz="1400" b="0" u="none" strike="noStrike">
              <a:solidFill>
                <a:srgbClr val="000000"/>
              </a:solidFill>
              <a:effectLst/>
              <a:uFillTx/>
              <a:latin typeface="Arial"/>
            </a:endParaRPr>
          </a:p>
        </p:txBody>
      </p:sp>
      <p:sp>
        <p:nvSpPr>
          <p:cNvPr id="68" name="Shape 19"/>
          <p:cNvSpPr/>
          <p:nvPr/>
        </p:nvSpPr>
        <p:spPr>
          <a:xfrm>
            <a:off x="6236280" y="3730680"/>
            <a:ext cx="4735440" cy="1443600"/>
          </a:xfrm>
          <a:prstGeom prst="roundRect">
            <a:avLst>
              <a:gd name="adj" fmla="val 4430"/>
            </a:avLst>
          </a:prstGeom>
          <a:noFill/>
          <a:ln w="381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6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7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2.0 Roadmap: From Agent Loop to Agent Design</a:t>
            </a:r>
            <a:endParaRPr lang="en-US" sz="2300" b="0" u="none" strike="noStrike">
              <a:solidFill>
                <a:srgbClr val="000000"/>
              </a:solidFill>
              <a:effectLst/>
              <a:uFillTx/>
              <a:latin typeface="Arial"/>
            </a:endParaRPr>
          </a:p>
        </p:txBody>
      </p:sp>
      <p:sp>
        <p:nvSpPr>
          <p:cNvPr id="7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Roadmap</a:t>
            </a:r>
            <a:endParaRPr lang="en-US" sz="1200" b="0" u="none" strike="noStrike">
              <a:solidFill>
                <a:srgbClr val="000000"/>
              </a:solidFill>
              <a:effectLst/>
              <a:uFillTx/>
              <a:latin typeface="Arial"/>
            </a:endParaRPr>
          </a:p>
        </p:txBody>
      </p:sp>
      <p:sp>
        <p:nvSpPr>
          <p:cNvPr id="7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a:t>
            </a:r>
            <a:endParaRPr lang="en-US" sz="1800" b="0" u="none" strike="noStrike">
              <a:solidFill>
                <a:srgbClr val="000000"/>
              </a:solidFill>
              <a:effectLst/>
              <a:uFillTx/>
              <a:latin typeface="Arial"/>
            </a:endParaRPr>
          </a:p>
        </p:txBody>
      </p:sp>
      <p:sp>
        <p:nvSpPr>
          <p:cNvPr id="75" name="Shape 6"/>
          <p:cNvSpPr/>
          <p:nvPr/>
        </p:nvSpPr>
        <p:spPr>
          <a:xfrm>
            <a:off x="502920" y="123444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 name="Text 7"/>
          <p:cNvSpPr/>
          <p:nvPr/>
        </p:nvSpPr>
        <p:spPr>
          <a:xfrm>
            <a:off x="667440" y="13806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Agent loop</a:t>
            </a:r>
            <a:endParaRPr lang="en-US" sz="1800" b="0" u="none" strike="noStrike">
              <a:solidFill>
                <a:srgbClr val="000000"/>
              </a:solidFill>
              <a:effectLst/>
              <a:uFillTx/>
              <a:latin typeface="Arial"/>
            </a:endParaRPr>
          </a:p>
        </p:txBody>
      </p:sp>
      <p:sp>
        <p:nvSpPr>
          <p:cNvPr id="77" name="Text 8"/>
          <p:cNvSpPr/>
          <p:nvPr/>
        </p:nvSpPr>
        <p:spPr>
          <a:xfrm>
            <a:off x="667440" y="171000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percepts -&gt; action</a:t>
            </a:r>
            <a:endParaRPr lang="en-US" sz="1300" b="0" u="none" strike="noStrike">
              <a:solidFill>
                <a:srgbClr val="000000"/>
              </a:solidFill>
              <a:effectLst/>
              <a:uFillTx/>
              <a:latin typeface="Arial"/>
            </a:endParaRPr>
          </a:p>
        </p:txBody>
      </p:sp>
      <p:sp>
        <p:nvSpPr>
          <p:cNvPr id="78" name="Shape 9"/>
          <p:cNvSpPr/>
          <p:nvPr/>
        </p:nvSpPr>
        <p:spPr>
          <a:xfrm>
            <a:off x="4297680" y="123444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 name="Text 10"/>
          <p:cNvSpPr/>
          <p:nvPr/>
        </p:nvSpPr>
        <p:spPr>
          <a:xfrm>
            <a:off x="4462200" y="13806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48A97"/>
                </a:solidFill>
                <a:effectLst/>
                <a:uFillTx/>
                <a:latin typeface="Aptos"/>
              </a:rPr>
              <a:t>Rationality</a:t>
            </a:r>
            <a:endParaRPr lang="en-US" sz="1800" b="0" u="none" strike="noStrike">
              <a:solidFill>
                <a:srgbClr val="000000"/>
              </a:solidFill>
              <a:effectLst/>
              <a:uFillTx/>
              <a:latin typeface="Arial"/>
            </a:endParaRPr>
          </a:p>
        </p:txBody>
      </p:sp>
      <p:sp>
        <p:nvSpPr>
          <p:cNvPr id="80" name="Text 11"/>
          <p:cNvSpPr/>
          <p:nvPr/>
        </p:nvSpPr>
        <p:spPr>
          <a:xfrm>
            <a:off x="4462200" y="171000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expected performance</a:t>
            </a:r>
            <a:endParaRPr lang="en-US" sz="1300" b="0" u="none" strike="noStrike">
              <a:solidFill>
                <a:srgbClr val="000000"/>
              </a:solidFill>
              <a:effectLst/>
              <a:uFillTx/>
              <a:latin typeface="Arial"/>
            </a:endParaRPr>
          </a:p>
        </p:txBody>
      </p:sp>
      <p:sp>
        <p:nvSpPr>
          <p:cNvPr id="81" name="Shape 12"/>
          <p:cNvSpPr/>
          <p:nvPr/>
        </p:nvSpPr>
        <p:spPr>
          <a:xfrm>
            <a:off x="8092440" y="123444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 name="Text 13"/>
          <p:cNvSpPr/>
          <p:nvPr/>
        </p:nvSpPr>
        <p:spPr>
          <a:xfrm>
            <a:off x="8256960" y="13806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PEAS</a:t>
            </a:r>
            <a:endParaRPr lang="en-US" sz="1800" b="0" u="none" strike="noStrike">
              <a:solidFill>
                <a:srgbClr val="000000"/>
              </a:solidFill>
              <a:effectLst/>
              <a:uFillTx/>
              <a:latin typeface="Arial"/>
            </a:endParaRPr>
          </a:p>
        </p:txBody>
      </p:sp>
      <p:sp>
        <p:nvSpPr>
          <p:cNvPr id="83" name="Text 14"/>
          <p:cNvSpPr/>
          <p:nvPr/>
        </p:nvSpPr>
        <p:spPr>
          <a:xfrm>
            <a:off x="8256960" y="171000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task specification</a:t>
            </a:r>
            <a:endParaRPr lang="en-US" sz="1300" b="0" u="none" strike="noStrike">
              <a:solidFill>
                <a:srgbClr val="000000"/>
              </a:solidFill>
              <a:effectLst/>
              <a:uFillTx/>
              <a:latin typeface="Arial"/>
            </a:endParaRPr>
          </a:p>
        </p:txBody>
      </p:sp>
      <p:sp>
        <p:nvSpPr>
          <p:cNvPr id="84" name="Shape 15"/>
          <p:cNvSpPr/>
          <p:nvPr/>
        </p:nvSpPr>
        <p:spPr>
          <a:xfrm>
            <a:off x="502920" y="278892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 name="Text 16"/>
          <p:cNvSpPr/>
          <p:nvPr/>
        </p:nvSpPr>
        <p:spPr>
          <a:xfrm>
            <a:off x="667440" y="293508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Environment</a:t>
            </a:r>
            <a:endParaRPr lang="en-US" sz="1800" b="0" u="none" strike="noStrike">
              <a:solidFill>
                <a:srgbClr val="000000"/>
              </a:solidFill>
              <a:effectLst/>
              <a:uFillTx/>
              <a:latin typeface="Arial"/>
            </a:endParaRPr>
          </a:p>
        </p:txBody>
      </p:sp>
      <p:sp>
        <p:nvSpPr>
          <p:cNvPr id="86" name="Text 17"/>
          <p:cNvSpPr/>
          <p:nvPr/>
        </p:nvSpPr>
        <p:spPr>
          <a:xfrm>
            <a:off x="667440" y="326448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makes it hard</a:t>
            </a:r>
            <a:endParaRPr lang="en-US" sz="1300" b="0" u="none" strike="noStrike">
              <a:solidFill>
                <a:srgbClr val="000000"/>
              </a:solidFill>
              <a:effectLst/>
              <a:uFillTx/>
              <a:latin typeface="Arial"/>
            </a:endParaRPr>
          </a:p>
        </p:txBody>
      </p:sp>
      <p:sp>
        <p:nvSpPr>
          <p:cNvPr id="87" name="Shape 18"/>
          <p:cNvSpPr/>
          <p:nvPr/>
        </p:nvSpPr>
        <p:spPr>
          <a:xfrm>
            <a:off x="4297680" y="278892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Text 19"/>
          <p:cNvSpPr/>
          <p:nvPr/>
        </p:nvSpPr>
        <p:spPr>
          <a:xfrm>
            <a:off x="4462200" y="293508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Agent types</a:t>
            </a:r>
            <a:endParaRPr lang="en-US" sz="1800" b="0" u="none" strike="noStrike">
              <a:solidFill>
                <a:srgbClr val="000000"/>
              </a:solidFill>
              <a:effectLst/>
              <a:uFillTx/>
              <a:latin typeface="Arial"/>
            </a:endParaRPr>
          </a:p>
        </p:txBody>
      </p:sp>
      <p:sp>
        <p:nvSpPr>
          <p:cNvPr id="89" name="Text 20"/>
          <p:cNvSpPr/>
          <p:nvPr/>
        </p:nvSpPr>
        <p:spPr>
          <a:xfrm>
            <a:off x="4462200" y="326448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table-driven -&gt; learning</a:t>
            </a:r>
            <a:endParaRPr lang="en-US" sz="1300" b="0" u="none" strike="noStrike">
              <a:solidFill>
                <a:srgbClr val="000000"/>
              </a:solidFill>
              <a:effectLst/>
              <a:uFillTx/>
              <a:latin typeface="Arial"/>
            </a:endParaRPr>
          </a:p>
        </p:txBody>
      </p:sp>
      <p:sp>
        <p:nvSpPr>
          <p:cNvPr id="90" name="Shape 21"/>
          <p:cNvSpPr/>
          <p:nvPr/>
        </p:nvSpPr>
        <p:spPr>
          <a:xfrm>
            <a:off x="8092440" y="278892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 name="Text 22"/>
          <p:cNvSpPr/>
          <p:nvPr/>
        </p:nvSpPr>
        <p:spPr>
          <a:xfrm>
            <a:off x="8256960" y="293508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Representation</a:t>
            </a:r>
            <a:endParaRPr lang="en-US" sz="1800" b="0" u="none" strike="noStrike">
              <a:solidFill>
                <a:srgbClr val="000000"/>
              </a:solidFill>
              <a:effectLst/>
              <a:uFillTx/>
              <a:latin typeface="Arial"/>
            </a:endParaRPr>
          </a:p>
        </p:txBody>
      </p:sp>
      <p:sp>
        <p:nvSpPr>
          <p:cNvPr id="92" name="Text 23"/>
          <p:cNvSpPr/>
          <p:nvPr/>
        </p:nvSpPr>
        <p:spPr>
          <a:xfrm>
            <a:off x="8256960" y="326448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how the world is encoded</a:t>
            </a:r>
            <a:endParaRPr lang="en-US" sz="1300" b="0" u="none" strike="noStrike">
              <a:solidFill>
                <a:srgbClr val="000000"/>
              </a:solidFill>
              <a:effectLst/>
              <a:uFillTx/>
              <a:latin typeface="Arial"/>
            </a:endParaRPr>
          </a:p>
        </p:txBody>
      </p:sp>
      <p:sp>
        <p:nvSpPr>
          <p:cNvPr id="93" name="Text 24"/>
          <p:cNvSpPr/>
          <p:nvPr/>
        </p:nvSpPr>
        <p:spPr>
          <a:xfrm>
            <a:off x="685800" y="4892040"/>
            <a:ext cx="1088028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How the chapter builds: intuition -&gt; formal model -&gt; environment classification -&gt; agent architecture -&gt; demo.</a:t>
            </a:r>
            <a:endParaRPr lang="en-US" sz="18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4"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6"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2.1 Agents and Environments: The Perceive-Act Loop</a:t>
            </a:r>
            <a:endParaRPr lang="en-US" sz="2300" b="0" u="none" strike="noStrike">
              <a:solidFill>
                <a:srgbClr val="000000"/>
              </a:solidFill>
              <a:effectLst/>
              <a:uFillTx/>
              <a:latin typeface="Arial"/>
            </a:endParaRPr>
          </a:p>
        </p:txBody>
      </p:sp>
      <p:sp>
        <p:nvSpPr>
          <p:cNvPr id="97"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98"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9"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5</a:t>
            </a:r>
            <a:endParaRPr lang="en-US" sz="1800" b="0" u="none" strike="noStrike">
              <a:solidFill>
                <a:srgbClr val="000000"/>
              </a:solidFill>
              <a:effectLst/>
              <a:uFillTx/>
              <a:latin typeface="Arial"/>
            </a:endParaRPr>
          </a:p>
        </p:txBody>
      </p:sp>
      <p:sp>
        <p:nvSpPr>
          <p:cNvPr id="100" name="Text 9"/>
          <p:cNvSpPr/>
          <p:nvPr/>
        </p:nvSpPr>
        <p:spPr>
          <a:xfrm>
            <a:off x="1883160" y="2715840"/>
            <a:ext cx="607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01" name="Text 18"/>
          <p:cNvSpPr/>
          <p:nvPr/>
        </p:nvSpPr>
        <p:spPr>
          <a:xfrm>
            <a:off x="7818120" y="1371600"/>
            <a:ext cx="34736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a:solidFill>
                  <a:srgbClr val="0B2B5C"/>
                </a:solidFill>
                <a:effectLst/>
                <a:uFillTx/>
                <a:latin typeface="Aptos"/>
              </a:rPr>
              <a:t>Examples of Actuators</a:t>
            </a:r>
            <a:endParaRPr lang="en-US" sz="2000" b="0" u="none" strike="noStrike" dirty="0">
              <a:solidFill>
                <a:srgbClr val="000000"/>
              </a:solidFill>
              <a:effectLst/>
              <a:uFillTx/>
              <a:latin typeface="Arial"/>
            </a:endParaRPr>
          </a:p>
        </p:txBody>
      </p:sp>
      <p:sp>
        <p:nvSpPr>
          <p:cNvPr id="102" name="Text 19"/>
          <p:cNvSpPr/>
          <p:nvPr/>
        </p:nvSpPr>
        <p:spPr>
          <a:xfrm>
            <a:off x="7818120" y="1874520"/>
            <a:ext cx="3747960" cy="12333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77500" lnSpcReduction="20000"/>
          </a:bodyPr>
          <a:lstStyle/>
          <a:p>
            <a:pPr defTabSz="914400">
              <a:lnSpc>
                <a:spcPct val="100000"/>
              </a:lnSpc>
            </a:pPr>
            <a:r>
              <a:rPr lang="en-US" sz="2100" b="0" u="none" strike="noStrike">
                <a:solidFill>
                  <a:srgbClr val="0B1F3A"/>
                </a:solidFill>
                <a:effectLst/>
                <a:uFillTx/>
                <a:latin typeface="Aptos"/>
                <a:ea typeface="Aptos"/>
              </a:rPr>
              <a:t>Human: eyes/ears -&gt; hands/voice</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Robot: camera/lidar -&gt; motors</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Software: packets/input -&gt; files/network</a:t>
            </a:r>
            <a:endParaRPr lang="en-US" sz="2100" b="0" u="none" strike="noStrike">
              <a:solidFill>
                <a:srgbClr val="000000"/>
              </a:solidFill>
              <a:effectLst/>
              <a:uFillTx/>
              <a:latin typeface="Arial"/>
            </a:endParaRPr>
          </a:p>
        </p:txBody>
      </p:sp>
      <p:pic>
        <p:nvPicPr>
          <p:cNvPr id="103" name="Image 0" descr="/mnt/data/ch2_docx_unzipped/word/media/image1.png"/>
          <p:cNvPicPr/>
          <p:nvPr/>
        </p:nvPicPr>
        <p:blipFill>
          <a:blip r:embed="rId3"/>
          <a:stretch/>
        </p:blipFill>
        <p:spPr>
          <a:xfrm>
            <a:off x="970560" y="1143000"/>
            <a:ext cx="5886720" cy="4239720"/>
          </a:xfrm>
          <a:prstGeom prst="rect">
            <a:avLst/>
          </a:prstGeom>
          <a:noFill/>
          <a:ln w="0">
            <a:noFill/>
          </a:ln>
        </p:spPr>
      </p:pic>
      <p:sp>
        <p:nvSpPr>
          <p:cNvPr id="104" name="Text 20"/>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a:t>
            </a:r>
            <a:endParaRPr lang="en-US" sz="7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5"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6"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7"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2.1 From Percepts to Agent Functions</a:t>
            </a:r>
            <a:endParaRPr lang="en-US" sz="2300" b="0" u="none" strike="noStrike">
              <a:solidFill>
                <a:srgbClr val="000000"/>
              </a:solidFill>
              <a:effectLst/>
              <a:uFillTx/>
              <a:latin typeface="Arial"/>
            </a:endParaRPr>
          </a:p>
        </p:txBody>
      </p:sp>
      <p:sp>
        <p:nvSpPr>
          <p:cNvPr id="108"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109"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10"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6</a:t>
            </a:r>
            <a:endParaRPr lang="en-US" sz="1800" b="0" u="none" strike="noStrike">
              <a:solidFill>
                <a:srgbClr val="000000"/>
              </a:solidFill>
              <a:effectLst/>
              <a:uFillTx/>
              <a:latin typeface="Arial"/>
            </a:endParaRPr>
          </a:p>
        </p:txBody>
      </p:sp>
      <p:sp>
        <p:nvSpPr>
          <p:cNvPr id="111" name="Shape 6"/>
          <p:cNvSpPr/>
          <p:nvPr/>
        </p:nvSpPr>
        <p:spPr>
          <a:xfrm>
            <a:off x="65844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 name="Text 7"/>
          <p:cNvSpPr/>
          <p:nvPr/>
        </p:nvSpPr>
        <p:spPr>
          <a:xfrm>
            <a:off x="82296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Percept</a:t>
            </a:r>
            <a:endParaRPr lang="en-US" sz="1500" b="0" u="none" strike="noStrike">
              <a:solidFill>
                <a:srgbClr val="000000"/>
              </a:solidFill>
              <a:effectLst/>
              <a:uFillTx/>
              <a:latin typeface="Arial"/>
            </a:endParaRPr>
          </a:p>
        </p:txBody>
      </p:sp>
      <p:sp>
        <p:nvSpPr>
          <p:cNvPr id="113" name="Text 8"/>
          <p:cNvSpPr/>
          <p:nvPr/>
        </p:nvSpPr>
        <p:spPr>
          <a:xfrm>
            <a:off x="82296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Current sensor content.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Example: current Pac-Man tile, nearby wall, visible ghost.</a:t>
            </a:r>
            <a:endParaRPr lang="en-US" sz="1250" b="0" u="none" strike="noStrike">
              <a:solidFill>
                <a:srgbClr val="000000"/>
              </a:solidFill>
              <a:effectLst/>
              <a:uFillTx/>
              <a:latin typeface="Arial"/>
            </a:endParaRPr>
          </a:p>
        </p:txBody>
      </p:sp>
      <p:sp>
        <p:nvSpPr>
          <p:cNvPr id="114" name="Shape 9"/>
          <p:cNvSpPr/>
          <p:nvPr/>
        </p:nvSpPr>
        <p:spPr>
          <a:xfrm>
            <a:off x="345636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 name="Text 10"/>
          <p:cNvSpPr/>
          <p:nvPr/>
        </p:nvSpPr>
        <p:spPr>
          <a:xfrm>
            <a:off x="362088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Percept sequence</a:t>
            </a:r>
            <a:endParaRPr lang="en-US" sz="1500" b="0" u="none" strike="noStrike">
              <a:solidFill>
                <a:srgbClr val="000000"/>
              </a:solidFill>
              <a:effectLst/>
              <a:uFillTx/>
              <a:latin typeface="Arial"/>
            </a:endParaRPr>
          </a:p>
        </p:txBody>
      </p:sp>
      <p:sp>
        <p:nvSpPr>
          <p:cNvPr id="116" name="Text 11"/>
          <p:cNvSpPr/>
          <p:nvPr/>
        </p:nvSpPr>
        <p:spPr>
          <a:xfrm>
            <a:off x="362088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Complete history of everything the agent has perceived.</a:t>
            </a:r>
            <a:endParaRPr lang="en-US" sz="1250" b="0" u="none" strike="noStrike">
              <a:solidFill>
                <a:srgbClr val="000000"/>
              </a:solidFill>
              <a:effectLst/>
              <a:uFillTx/>
              <a:latin typeface="Arial"/>
            </a:endParaRPr>
          </a:p>
        </p:txBody>
      </p:sp>
      <p:sp>
        <p:nvSpPr>
          <p:cNvPr id="117" name="Shape 12"/>
          <p:cNvSpPr/>
          <p:nvPr/>
        </p:nvSpPr>
        <p:spPr>
          <a:xfrm>
            <a:off x="626364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 name="Text 13"/>
          <p:cNvSpPr/>
          <p:nvPr/>
        </p:nvSpPr>
        <p:spPr>
          <a:xfrm>
            <a:off x="642816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Agent function</a:t>
            </a:r>
            <a:endParaRPr lang="en-US" sz="1500" b="0" u="none" strike="noStrike">
              <a:solidFill>
                <a:srgbClr val="000000"/>
              </a:solidFill>
              <a:effectLst/>
              <a:uFillTx/>
              <a:latin typeface="Arial"/>
            </a:endParaRPr>
          </a:p>
        </p:txBody>
      </p:sp>
      <p:sp>
        <p:nvSpPr>
          <p:cNvPr id="119" name="Text 14"/>
          <p:cNvSpPr/>
          <p:nvPr/>
        </p:nvSpPr>
        <p:spPr>
          <a:xfrm>
            <a:off x="642816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Abstract mapping:</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percept sequence -&gt; action</a:t>
            </a:r>
            <a:endParaRPr lang="en-US" sz="1250" b="0" u="none" strike="noStrike">
              <a:solidFill>
                <a:srgbClr val="000000"/>
              </a:solidFill>
              <a:effectLst/>
              <a:uFillTx/>
              <a:latin typeface="Arial"/>
            </a:endParaRPr>
          </a:p>
        </p:txBody>
      </p:sp>
      <p:sp>
        <p:nvSpPr>
          <p:cNvPr id="120" name="Shape 15"/>
          <p:cNvSpPr/>
          <p:nvPr/>
        </p:nvSpPr>
        <p:spPr>
          <a:xfrm>
            <a:off x="907092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 name="Text 16"/>
          <p:cNvSpPr/>
          <p:nvPr/>
        </p:nvSpPr>
        <p:spPr>
          <a:xfrm>
            <a:off x="923544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Agent program</a:t>
            </a:r>
            <a:endParaRPr lang="en-US" sz="1500" b="0" u="none" strike="noStrike">
              <a:solidFill>
                <a:srgbClr val="000000"/>
              </a:solidFill>
              <a:effectLst/>
              <a:uFillTx/>
              <a:latin typeface="Arial"/>
            </a:endParaRPr>
          </a:p>
        </p:txBody>
      </p:sp>
      <p:sp>
        <p:nvSpPr>
          <p:cNvPr id="122" name="Text 17"/>
          <p:cNvSpPr/>
          <p:nvPr/>
        </p:nvSpPr>
        <p:spPr>
          <a:xfrm>
            <a:off x="923544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Concrete implementation running on an architecture.</a:t>
            </a:r>
            <a:endParaRPr lang="en-US" sz="1250" b="0" u="none" strike="noStrike">
              <a:solidFill>
                <a:srgbClr val="000000"/>
              </a:solidFill>
              <a:effectLst/>
              <a:uFillTx/>
              <a:latin typeface="Arial"/>
            </a:endParaRPr>
          </a:p>
        </p:txBody>
      </p:sp>
      <p:sp>
        <p:nvSpPr>
          <p:cNvPr id="123" name="Shape 18"/>
          <p:cNvSpPr/>
          <p:nvPr/>
        </p:nvSpPr>
        <p:spPr>
          <a:xfrm>
            <a:off x="1920240" y="3246120"/>
            <a:ext cx="8046720" cy="360"/>
          </a:xfrm>
          <a:prstGeom prst="line">
            <a:avLst/>
          </a:prstGeom>
          <a:ln w="25400">
            <a:solidFill>
              <a:srgbClr val="F5A21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4" name="Text 19"/>
          <p:cNvSpPr/>
          <p:nvPr/>
        </p:nvSpPr>
        <p:spPr>
          <a:xfrm>
            <a:off x="2148840" y="2834640"/>
            <a:ext cx="21020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1F3A"/>
                </a:solidFill>
                <a:effectLst/>
                <a:uFillTx/>
                <a:latin typeface="Aptos"/>
              </a:rPr>
              <a:t>percept sequence</a:t>
            </a:r>
            <a:endParaRPr lang="en-US" sz="1400" b="0" u="none" strike="noStrike">
              <a:solidFill>
                <a:srgbClr val="000000"/>
              </a:solidFill>
              <a:effectLst/>
              <a:uFillTx/>
              <a:latin typeface="Arial"/>
            </a:endParaRPr>
          </a:p>
        </p:txBody>
      </p:sp>
      <p:sp>
        <p:nvSpPr>
          <p:cNvPr id="125" name="Text 20"/>
          <p:cNvSpPr/>
          <p:nvPr/>
        </p:nvSpPr>
        <p:spPr>
          <a:xfrm>
            <a:off x="8046720" y="2834640"/>
            <a:ext cx="1279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1F3A"/>
                </a:solidFill>
                <a:effectLst/>
                <a:uFillTx/>
                <a:latin typeface="Aptos"/>
              </a:rPr>
              <a:t>action</a:t>
            </a:r>
            <a:endParaRPr lang="en-US" sz="1400" b="0" u="none" strike="noStrike">
              <a:solidFill>
                <a:srgbClr val="000000"/>
              </a:solidFill>
              <a:effectLst/>
              <a:uFillTx/>
              <a:latin typeface="Arial"/>
            </a:endParaRPr>
          </a:p>
        </p:txBody>
      </p:sp>
      <p:sp>
        <p:nvSpPr>
          <p:cNvPr id="126" name="Text 21"/>
          <p:cNvSpPr/>
          <p:nvPr/>
        </p:nvSpPr>
        <p:spPr>
          <a:xfrm>
            <a:off x="1051560" y="4116240"/>
            <a:ext cx="3889717"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dirty="0">
                <a:solidFill>
                  <a:srgbClr val="FF0000"/>
                </a:solidFill>
                <a:effectLst/>
                <a:uFillTx/>
                <a:latin typeface="Aptos"/>
              </a:rPr>
              <a:t>Do not confuse these two:</a:t>
            </a:r>
            <a:endParaRPr lang="en-US" sz="1900" b="0" u="none" strike="noStrike" dirty="0">
              <a:solidFill>
                <a:srgbClr val="FF0000"/>
              </a:solidFill>
              <a:effectLst/>
              <a:uFillTx/>
              <a:latin typeface="Arial"/>
            </a:endParaRPr>
          </a:p>
        </p:txBody>
      </p:sp>
      <p:sp>
        <p:nvSpPr>
          <p:cNvPr id="127" name="Text 22"/>
          <p:cNvSpPr/>
          <p:nvPr/>
        </p:nvSpPr>
        <p:spPr>
          <a:xfrm>
            <a:off x="1051560" y="4443840"/>
            <a:ext cx="9965880" cy="712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u="none" strike="noStrike" dirty="0">
                <a:solidFill>
                  <a:schemeClr val="accent6"/>
                </a:solidFill>
                <a:effectLst/>
                <a:uFillTx/>
                <a:latin typeface="Aptos"/>
              </a:rPr>
              <a:t>Agent function </a:t>
            </a:r>
            <a:r>
              <a:rPr lang="en-US" sz="1700" b="0" u="none" strike="noStrike" dirty="0">
                <a:solidFill>
                  <a:srgbClr val="0B1F3A"/>
                </a:solidFill>
                <a:effectLst/>
                <a:uFillTx/>
                <a:latin typeface="Aptos"/>
              </a:rPr>
              <a:t>= external mathematical description of behavior</a:t>
            </a:r>
            <a:endParaRPr lang="en-US" sz="1700" b="0" u="none" strike="noStrike" dirty="0">
              <a:solidFill>
                <a:srgbClr val="000000"/>
              </a:solidFill>
              <a:effectLst/>
              <a:uFillTx/>
              <a:latin typeface="Arial"/>
            </a:endParaRPr>
          </a:p>
          <a:p>
            <a:pPr defTabSz="914400">
              <a:lnSpc>
                <a:spcPct val="100000"/>
              </a:lnSpc>
              <a:tabLst>
                <a:tab pos="0" algn="l"/>
              </a:tabLst>
            </a:pPr>
            <a:r>
              <a:rPr lang="en-US" sz="1700" b="0" u="none" strike="noStrike" dirty="0">
                <a:solidFill>
                  <a:schemeClr val="accent6"/>
                </a:solidFill>
                <a:effectLst/>
                <a:uFillTx/>
                <a:latin typeface="Aptos"/>
              </a:rPr>
              <a:t>Agent program </a:t>
            </a:r>
            <a:r>
              <a:rPr lang="en-US" sz="1700" b="0" u="none" strike="noStrike" dirty="0">
                <a:solidFill>
                  <a:srgbClr val="0B1F3A"/>
                </a:solidFill>
                <a:effectLst/>
                <a:uFillTx/>
                <a:latin typeface="Aptos"/>
              </a:rPr>
              <a:t>= internal code that receives current percept and returns an action</a:t>
            </a:r>
            <a:endParaRPr lang="en-US" sz="1700" b="0" u="none" strike="noStrike" dirty="0">
              <a:solidFill>
                <a:srgbClr val="000000"/>
              </a:solidFill>
              <a:effectLst/>
              <a:uFillTx/>
              <a:latin typeface="Arial"/>
            </a:endParaRPr>
          </a:p>
        </p:txBody>
      </p:sp>
      <p:sp>
        <p:nvSpPr>
          <p:cNvPr id="128" name="Text 23"/>
          <p:cNvSpPr/>
          <p:nvPr/>
        </p:nvSpPr>
        <p:spPr>
          <a:xfrm>
            <a:off x="1051560" y="5669280"/>
            <a:ext cx="996588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Chapter 2 problem: produce rational behavior from a compact program, not a vast lookup table.</a:t>
            </a:r>
            <a:endParaRPr lang="en-US" sz="18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9"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31"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2.1 The Vacuum World and Its Agent Function</a:t>
            </a:r>
            <a:endParaRPr lang="en-US" sz="2300" b="0" u="none" strike="noStrike">
              <a:solidFill>
                <a:srgbClr val="000000"/>
              </a:solidFill>
              <a:effectLst/>
              <a:uFillTx/>
              <a:latin typeface="Arial"/>
            </a:endParaRPr>
          </a:p>
        </p:txBody>
      </p:sp>
      <p:sp>
        <p:nvSpPr>
          <p:cNvPr id="132"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133" name="Shape 5"/>
          <p:cNvSpPr/>
          <p:nvPr/>
        </p:nvSpPr>
        <p:spPr>
          <a:xfrm>
            <a:off x="868680" y="1188720"/>
            <a:ext cx="5074560" cy="3702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Text 6"/>
          <p:cNvSpPr/>
          <p:nvPr/>
        </p:nvSpPr>
        <p:spPr>
          <a:xfrm>
            <a:off x="1033200" y="13348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B2B5C"/>
                </a:solidFill>
                <a:effectLst/>
                <a:uFillTx/>
                <a:latin typeface="Aptos"/>
                <a:ea typeface="Aptos"/>
              </a:rPr>
              <a:t>Figure 2.2 — Two squares, A and B</a:t>
            </a:r>
            <a:endParaRPr lang="en-US" sz="1600" b="0" u="none" strike="noStrike">
              <a:solidFill>
                <a:srgbClr val="000000"/>
              </a:solidFill>
              <a:effectLst/>
              <a:uFillTx/>
              <a:latin typeface="Arial"/>
            </a:endParaRPr>
          </a:p>
        </p:txBody>
      </p:sp>
      <p:sp>
        <p:nvSpPr>
          <p:cNvPr id="135" name="Shape 7"/>
          <p:cNvSpPr/>
          <p:nvPr/>
        </p:nvSpPr>
        <p:spPr>
          <a:xfrm>
            <a:off x="1325880" y="1828800"/>
            <a:ext cx="1919880" cy="1462680"/>
          </a:xfrm>
          <a:prstGeom prst="rect">
            <a:avLst/>
          </a:prstGeom>
          <a:solidFill>
            <a:srgbClr val="EDF3F9"/>
          </a:solidFill>
          <a:ln w="1905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 name="Shape 8"/>
          <p:cNvSpPr/>
          <p:nvPr/>
        </p:nvSpPr>
        <p:spPr>
          <a:xfrm>
            <a:off x="3566160" y="1828800"/>
            <a:ext cx="1919880" cy="1462680"/>
          </a:xfrm>
          <a:prstGeom prst="rect">
            <a:avLst/>
          </a:prstGeom>
          <a:solidFill>
            <a:srgbClr val="EDF3F9"/>
          </a:solidFill>
          <a:ln w="1905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 name="Text 9"/>
          <p:cNvSpPr/>
          <p:nvPr/>
        </p:nvSpPr>
        <p:spPr>
          <a:xfrm>
            <a:off x="1325880" y="18745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2B5C"/>
                </a:solidFill>
                <a:effectLst/>
                <a:uFillTx/>
                <a:latin typeface="Aptos"/>
                <a:ea typeface="Aptos"/>
              </a:rPr>
              <a:t>A</a:t>
            </a:r>
            <a:endParaRPr lang="en-US" sz="1400" b="0" u="none" strike="noStrike">
              <a:solidFill>
                <a:srgbClr val="000000"/>
              </a:solidFill>
              <a:effectLst/>
              <a:uFillTx/>
              <a:latin typeface="Arial"/>
            </a:endParaRPr>
          </a:p>
        </p:txBody>
      </p:sp>
      <p:sp>
        <p:nvSpPr>
          <p:cNvPr id="138" name="Text 10"/>
          <p:cNvSpPr/>
          <p:nvPr/>
        </p:nvSpPr>
        <p:spPr>
          <a:xfrm>
            <a:off x="3566160" y="18745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2B5C"/>
                </a:solidFill>
                <a:effectLst/>
                <a:uFillTx/>
                <a:latin typeface="Aptos"/>
                <a:ea typeface="Aptos"/>
              </a:rPr>
              <a:t>B</a:t>
            </a:r>
            <a:endParaRPr lang="en-US" sz="1400" b="0" u="none" strike="noStrike">
              <a:solidFill>
                <a:srgbClr val="000000"/>
              </a:solidFill>
              <a:effectLst/>
              <a:uFillTx/>
              <a:latin typeface="Arial"/>
            </a:endParaRPr>
          </a:p>
        </p:txBody>
      </p:sp>
      <p:sp>
        <p:nvSpPr>
          <p:cNvPr id="139" name="Shape 11"/>
          <p:cNvSpPr/>
          <p:nvPr/>
        </p:nvSpPr>
        <p:spPr>
          <a:xfrm>
            <a:off x="1874520" y="2377440"/>
            <a:ext cx="822600" cy="658080"/>
          </a:xfrm>
          <a:prstGeom prst="roundRect">
            <a:avLst>
              <a:gd name="adj" fmla="val 25000"/>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0" name="Text 12"/>
          <p:cNvSpPr/>
          <p:nvPr/>
        </p:nvSpPr>
        <p:spPr>
          <a:xfrm>
            <a:off x="1874520" y="2377440"/>
            <a:ext cx="8226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Aptos"/>
                <a:ea typeface="Aptos"/>
              </a:rPr>
              <a:t>agent</a:t>
            </a:r>
            <a:endParaRPr lang="en-US" sz="900" b="0" u="none" strike="noStrike">
              <a:solidFill>
                <a:srgbClr val="000000"/>
              </a:solidFill>
              <a:effectLst/>
              <a:uFillTx/>
              <a:latin typeface="Arial"/>
            </a:endParaRPr>
          </a:p>
        </p:txBody>
      </p:sp>
      <p:sp>
        <p:nvSpPr>
          <p:cNvPr id="141" name="Shape 13"/>
          <p:cNvSpPr/>
          <p:nvPr/>
        </p:nvSpPr>
        <p:spPr>
          <a:xfrm>
            <a:off x="3977640" y="246888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2" name="Shape 14"/>
          <p:cNvSpPr/>
          <p:nvPr/>
        </p:nvSpPr>
        <p:spPr>
          <a:xfrm>
            <a:off x="4434840" y="278892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3" name="Shape 15"/>
          <p:cNvSpPr/>
          <p:nvPr/>
        </p:nvSpPr>
        <p:spPr>
          <a:xfrm>
            <a:off x="4892040" y="242316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4" name="Shape 16"/>
          <p:cNvSpPr/>
          <p:nvPr/>
        </p:nvSpPr>
        <p:spPr>
          <a:xfrm>
            <a:off x="4206240" y="292608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Text 17"/>
          <p:cNvSpPr/>
          <p:nvPr/>
        </p:nvSpPr>
        <p:spPr>
          <a:xfrm>
            <a:off x="3566160" y="299916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6B5326"/>
                </a:solidFill>
                <a:effectLst/>
                <a:uFillTx/>
                <a:latin typeface="Aptos"/>
                <a:ea typeface="Aptos"/>
              </a:rPr>
              <a:t>dirt</a:t>
            </a:r>
            <a:endParaRPr lang="en-US" sz="1000" b="0" u="none" strike="noStrike">
              <a:solidFill>
                <a:srgbClr val="000000"/>
              </a:solidFill>
              <a:effectLst/>
              <a:uFillTx/>
              <a:latin typeface="Arial"/>
            </a:endParaRPr>
          </a:p>
        </p:txBody>
      </p:sp>
      <p:sp>
        <p:nvSpPr>
          <p:cNvPr id="146" name="Text 18"/>
          <p:cNvSpPr/>
          <p:nvPr/>
        </p:nvSpPr>
        <p:spPr>
          <a:xfrm>
            <a:off x="1033200" y="3474720"/>
            <a:ext cx="47455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0B2B5C"/>
                </a:solidFill>
                <a:effectLst/>
                <a:uFillTx/>
                <a:latin typeface="Aptos"/>
                <a:ea typeface="Aptos"/>
              </a:rPr>
              <a:t>One agent function: </a:t>
            </a:r>
            <a:r>
              <a:rPr lang="en-US" sz="1300" b="0" u="none" strike="noStrike">
                <a:solidFill>
                  <a:srgbClr val="0B1F3A"/>
                </a:solidFill>
                <a:effectLst/>
                <a:uFillTx/>
                <a:latin typeface="Aptos"/>
                <a:ea typeface="Aptos"/>
              </a:rPr>
              <a:t>if the current square is dirty, then Suck; otherwise move to the other square.</a:t>
            </a:r>
            <a:endParaRPr lang="en-US" sz="1300" b="0" u="none" strike="noStrike">
              <a:solidFill>
                <a:srgbClr val="000000"/>
              </a:solidFill>
              <a:effectLst/>
              <a:uFillTx/>
              <a:latin typeface="Arial"/>
            </a:endParaRPr>
          </a:p>
        </p:txBody>
      </p:sp>
      <p:sp>
        <p:nvSpPr>
          <p:cNvPr id="147" name="Text 19"/>
          <p:cNvSpPr/>
          <p:nvPr/>
        </p:nvSpPr>
        <p:spPr>
          <a:xfrm>
            <a:off x="1033200" y="4133160"/>
            <a:ext cx="47455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u="none" strike="noStrike">
                <a:solidFill>
                  <a:srgbClr val="5E7088"/>
                </a:solidFill>
                <a:effectLst/>
                <a:uFillTx/>
                <a:latin typeface="Aptos"/>
                <a:ea typeface="Aptos"/>
              </a:rPr>
              <a:t>Percepts: </a:t>
            </a:r>
            <a:r>
              <a:rPr lang="en-US" sz="1200" b="0" u="none" strike="noStrike">
                <a:solidFill>
                  <a:srgbClr val="0B1F3A"/>
                </a:solidFill>
                <a:effectLst/>
                <a:uFillTx/>
                <a:latin typeface="Aptos"/>
                <a:ea typeface="Aptos"/>
              </a:rPr>
              <a:t>which square, and whether it is dirty.</a:t>
            </a:r>
            <a:endParaRPr lang="en-US" sz="1200" b="0" u="none" strike="noStrike">
              <a:solidFill>
                <a:srgbClr val="000000"/>
              </a:solidFill>
              <a:effectLst/>
              <a:uFillTx/>
              <a:latin typeface="Arial"/>
            </a:endParaRPr>
          </a:p>
          <a:p>
            <a:pPr defTabSz="914400">
              <a:lnSpc>
                <a:spcPct val="100000"/>
              </a:lnSpc>
              <a:spcBef>
                <a:spcPts val="300"/>
              </a:spcBef>
              <a:tabLst>
                <a:tab pos="0" algn="l"/>
              </a:tabLst>
            </a:pPr>
            <a:r>
              <a:rPr lang="en-US" sz="1200" b="1" u="none" strike="noStrike">
                <a:solidFill>
                  <a:srgbClr val="5E7088"/>
                </a:solidFill>
                <a:effectLst/>
                <a:uFillTx/>
                <a:latin typeface="Aptos"/>
                <a:ea typeface="Aptos"/>
              </a:rPr>
              <a:t>Actions: </a:t>
            </a:r>
            <a:r>
              <a:rPr lang="en-US" sz="1200" b="0" u="none" strike="noStrike">
                <a:solidFill>
                  <a:srgbClr val="0B1F3A"/>
                </a:solidFill>
                <a:effectLst/>
                <a:uFillTx/>
                <a:latin typeface="Aptos"/>
                <a:ea typeface="Aptos"/>
              </a:rPr>
              <a:t>Left, Right, and Suck; NoOp is added in some variants.  The agent starts in A.</a:t>
            </a:r>
            <a:endParaRPr lang="en-US" sz="1200" b="0" u="none" strike="noStrike">
              <a:solidFill>
                <a:srgbClr val="000000"/>
              </a:solidFill>
              <a:effectLst/>
              <a:uFillTx/>
              <a:latin typeface="Arial"/>
            </a:endParaRPr>
          </a:p>
        </p:txBody>
      </p:sp>
      <p:sp>
        <p:nvSpPr>
          <p:cNvPr id="148" name="Shape 20"/>
          <p:cNvSpPr/>
          <p:nvPr/>
        </p:nvSpPr>
        <p:spPr>
          <a:xfrm>
            <a:off x="6217920" y="1188720"/>
            <a:ext cx="5074560" cy="3702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9" name="Text 21"/>
          <p:cNvSpPr/>
          <p:nvPr/>
        </p:nvSpPr>
        <p:spPr>
          <a:xfrm>
            <a:off x="6382440" y="13348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B2B5C"/>
                </a:solidFill>
                <a:effectLst/>
                <a:uFillTx/>
                <a:latin typeface="Aptos"/>
                <a:ea typeface="Aptos"/>
              </a:rPr>
              <a:t>Figure 2.3 — Partial tabulation</a:t>
            </a:r>
            <a:endParaRPr lang="en-US" sz="1600" b="0" u="none" strike="noStrike">
              <a:solidFill>
                <a:srgbClr val="000000"/>
              </a:solidFill>
              <a:effectLst/>
              <a:uFillTx/>
              <a:latin typeface="Arial"/>
            </a:endParaRPr>
          </a:p>
        </p:txBody>
      </p:sp>
      <p:sp>
        <p:nvSpPr>
          <p:cNvPr id="150" name="Shape 22"/>
          <p:cNvSpPr/>
          <p:nvPr/>
        </p:nvSpPr>
        <p:spPr>
          <a:xfrm>
            <a:off x="6382440" y="1700640"/>
            <a:ext cx="4745520" cy="310680"/>
          </a:xfrm>
          <a:prstGeom prst="roundRect">
            <a:avLst>
              <a:gd name="adj" fmla="val 12000"/>
            </a:avLst>
          </a:prstGeom>
          <a:solidFill>
            <a:srgbClr val="E4ECF5"/>
          </a:solidFill>
          <a:ln w="12700">
            <a:solidFill>
              <a:srgbClr val="E4E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1" name="Text 23"/>
          <p:cNvSpPr/>
          <p:nvPr/>
        </p:nvSpPr>
        <p:spPr>
          <a:xfrm>
            <a:off x="6492240" y="1700640"/>
            <a:ext cx="3245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0B2B5C"/>
                </a:solidFill>
                <a:effectLst/>
                <a:uFillTx/>
                <a:latin typeface="Aptos"/>
                <a:ea typeface="Aptos"/>
              </a:rPr>
              <a:t>Percept sequence</a:t>
            </a:r>
            <a:endParaRPr lang="en-US" sz="1150" b="0" u="none" strike="noStrike">
              <a:solidFill>
                <a:srgbClr val="000000"/>
              </a:solidFill>
              <a:effectLst/>
              <a:uFillTx/>
              <a:latin typeface="Arial"/>
            </a:endParaRPr>
          </a:p>
        </p:txBody>
      </p:sp>
      <p:sp>
        <p:nvSpPr>
          <p:cNvPr id="152" name="Text 24"/>
          <p:cNvSpPr/>
          <p:nvPr/>
        </p:nvSpPr>
        <p:spPr>
          <a:xfrm>
            <a:off x="9829800" y="1700640"/>
            <a:ext cx="12981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0B2B5C"/>
                </a:solidFill>
                <a:effectLst/>
                <a:uFillTx/>
                <a:latin typeface="Aptos"/>
                <a:ea typeface="Aptos"/>
              </a:rPr>
              <a:t>Action</a:t>
            </a:r>
            <a:endParaRPr lang="en-US" sz="1150" b="0" u="none" strike="noStrike">
              <a:solidFill>
                <a:srgbClr val="000000"/>
              </a:solidFill>
              <a:effectLst/>
              <a:uFillTx/>
              <a:latin typeface="Arial"/>
            </a:endParaRPr>
          </a:p>
        </p:txBody>
      </p:sp>
      <p:sp>
        <p:nvSpPr>
          <p:cNvPr id="153" name="Text 25"/>
          <p:cNvSpPr/>
          <p:nvPr/>
        </p:nvSpPr>
        <p:spPr>
          <a:xfrm>
            <a:off x="6492240" y="210312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Clean]</a:t>
            </a:r>
            <a:endParaRPr lang="en-US" sz="1200" b="0" u="none" strike="noStrike">
              <a:solidFill>
                <a:srgbClr val="000000"/>
              </a:solidFill>
              <a:effectLst/>
              <a:uFillTx/>
              <a:latin typeface="Arial"/>
            </a:endParaRPr>
          </a:p>
        </p:txBody>
      </p:sp>
      <p:sp>
        <p:nvSpPr>
          <p:cNvPr id="154" name="Text 26"/>
          <p:cNvSpPr/>
          <p:nvPr/>
        </p:nvSpPr>
        <p:spPr>
          <a:xfrm>
            <a:off x="9829800" y="210312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Right</a:t>
            </a:r>
            <a:endParaRPr lang="en-US" sz="1200" b="0" u="none" strike="noStrike">
              <a:solidFill>
                <a:srgbClr val="000000"/>
              </a:solidFill>
              <a:effectLst/>
              <a:uFillTx/>
              <a:latin typeface="Arial"/>
            </a:endParaRPr>
          </a:p>
        </p:txBody>
      </p:sp>
      <p:sp>
        <p:nvSpPr>
          <p:cNvPr id="155" name="Shape 27"/>
          <p:cNvSpPr/>
          <p:nvPr/>
        </p:nvSpPr>
        <p:spPr>
          <a:xfrm>
            <a:off x="6382440" y="2432160"/>
            <a:ext cx="4745520" cy="328680"/>
          </a:xfrm>
          <a:prstGeom prst="rect">
            <a:avLst/>
          </a:prstGeom>
          <a:solidFill>
            <a:srgbClr val="F7FAFD"/>
          </a:solidFill>
          <a:ln w="12700">
            <a:solidFill>
              <a:srgbClr val="F7FA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6" name="Text 28"/>
          <p:cNvSpPr/>
          <p:nvPr/>
        </p:nvSpPr>
        <p:spPr>
          <a:xfrm>
            <a:off x="6492240" y="246888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Dirty]</a:t>
            </a:r>
            <a:endParaRPr lang="en-US" sz="1200" b="0" u="none" strike="noStrike">
              <a:solidFill>
                <a:srgbClr val="000000"/>
              </a:solidFill>
              <a:effectLst/>
              <a:uFillTx/>
              <a:latin typeface="Arial"/>
            </a:endParaRPr>
          </a:p>
        </p:txBody>
      </p:sp>
      <p:sp>
        <p:nvSpPr>
          <p:cNvPr id="157" name="Text 29"/>
          <p:cNvSpPr/>
          <p:nvPr/>
        </p:nvSpPr>
        <p:spPr>
          <a:xfrm>
            <a:off x="9829800" y="246888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Suck</a:t>
            </a:r>
            <a:endParaRPr lang="en-US" sz="1200" b="0" u="none" strike="noStrike">
              <a:solidFill>
                <a:srgbClr val="000000"/>
              </a:solidFill>
              <a:effectLst/>
              <a:uFillTx/>
              <a:latin typeface="Arial"/>
            </a:endParaRPr>
          </a:p>
        </p:txBody>
      </p:sp>
      <p:sp>
        <p:nvSpPr>
          <p:cNvPr id="158" name="Text 30"/>
          <p:cNvSpPr/>
          <p:nvPr/>
        </p:nvSpPr>
        <p:spPr>
          <a:xfrm>
            <a:off x="6492240" y="283464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[B, Clean]</a:t>
            </a:r>
            <a:endParaRPr lang="en-US" sz="1200" b="0" u="none" strike="noStrike">
              <a:solidFill>
                <a:srgbClr val="000000"/>
              </a:solidFill>
              <a:effectLst/>
              <a:uFillTx/>
              <a:latin typeface="Arial"/>
            </a:endParaRPr>
          </a:p>
        </p:txBody>
      </p:sp>
      <p:sp>
        <p:nvSpPr>
          <p:cNvPr id="159" name="Text 31"/>
          <p:cNvSpPr/>
          <p:nvPr/>
        </p:nvSpPr>
        <p:spPr>
          <a:xfrm>
            <a:off x="9829800" y="283464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Left</a:t>
            </a:r>
            <a:endParaRPr lang="en-US" sz="1200" b="0" u="none" strike="noStrike">
              <a:solidFill>
                <a:srgbClr val="000000"/>
              </a:solidFill>
              <a:effectLst/>
              <a:uFillTx/>
              <a:latin typeface="Arial"/>
            </a:endParaRPr>
          </a:p>
        </p:txBody>
      </p:sp>
      <p:sp>
        <p:nvSpPr>
          <p:cNvPr id="160" name="Shape 32"/>
          <p:cNvSpPr/>
          <p:nvPr/>
        </p:nvSpPr>
        <p:spPr>
          <a:xfrm>
            <a:off x="6382440" y="3163680"/>
            <a:ext cx="4745520" cy="328680"/>
          </a:xfrm>
          <a:prstGeom prst="rect">
            <a:avLst/>
          </a:prstGeom>
          <a:solidFill>
            <a:srgbClr val="F7FAFD"/>
          </a:solidFill>
          <a:ln w="12700">
            <a:solidFill>
              <a:srgbClr val="F7FA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1" name="Text 33"/>
          <p:cNvSpPr/>
          <p:nvPr/>
        </p:nvSpPr>
        <p:spPr>
          <a:xfrm>
            <a:off x="6492240" y="320040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[B, Dirty]</a:t>
            </a:r>
            <a:endParaRPr lang="en-US" sz="1200" b="0" u="none" strike="noStrike">
              <a:solidFill>
                <a:srgbClr val="000000"/>
              </a:solidFill>
              <a:effectLst/>
              <a:uFillTx/>
              <a:latin typeface="Arial"/>
            </a:endParaRPr>
          </a:p>
        </p:txBody>
      </p:sp>
      <p:sp>
        <p:nvSpPr>
          <p:cNvPr id="162" name="Text 34"/>
          <p:cNvSpPr/>
          <p:nvPr/>
        </p:nvSpPr>
        <p:spPr>
          <a:xfrm>
            <a:off x="9829800" y="320040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Suck</a:t>
            </a:r>
            <a:endParaRPr lang="en-US" sz="1200" b="0" u="none" strike="noStrike">
              <a:solidFill>
                <a:srgbClr val="000000"/>
              </a:solidFill>
              <a:effectLst/>
              <a:uFillTx/>
              <a:latin typeface="Arial"/>
            </a:endParaRPr>
          </a:p>
        </p:txBody>
      </p:sp>
      <p:sp>
        <p:nvSpPr>
          <p:cNvPr id="163" name="Text 35"/>
          <p:cNvSpPr/>
          <p:nvPr/>
        </p:nvSpPr>
        <p:spPr>
          <a:xfrm>
            <a:off x="6492240" y="356616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Clean], [A, Clean]</a:t>
            </a:r>
            <a:endParaRPr lang="en-US" sz="1200" b="0" u="none" strike="noStrike">
              <a:solidFill>
                <a:srgbClr val="000000"/>
              </a:solidFill>
              <a:effectLst/>
              <a:uFillTx/>
              <a:latin typeface="Arial"/>
            </a:endParaRPr>
          </a:p>
        </p:txBody>
      </p:sp>
      <p:sp>
        <p:nvSpPr>
          <p:cNvPr id="164" name="Text 36"/>
          <p:cNvSpPr/>
          <p:nvPr/>
        </p:nvSpPr>
        <p:spPr>
          <a:xfrm>
            <a:off x="9829800" y="356616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Right</a:t>
            </a:r>
            <a:endParaRPr lang="en-US" sz="1200" b="0" u="none" strike="noStrike">
              <a:solidFill>
                <a:srgbClr val="000000"/>
              </a:solidFill>
              <a:effectLst/>
              <a:uFillTx/>
              <a:latin typeface="Arial"/>
            </a:endParaRPr>
          </a:p>
        </p:txBody>
      </p:sp>
      <p:sp>
        <p:nvSpPr>
          <p:cNvPr id="165" name="Shape 37"/>
          <p:cNvSpPr/>
          <p:nvPr/>
        </p:nvSpPr>
        <p:spPr>
          <a:xfrm>
            <a:off x="6382440" y="3895200"/>
            <a:ext cx="4745520" cy="328680"/>
          </a:xfrm>
          <a:prstGeom prst="rect">
            <a:avLst/>
          </a:prstGeom>
          <a:solidFill>
            <a:srgbClr val="F7FAFD"/>
          </a:solidFill>
          <a:ln w="12700">
            <a:solidFill>
              <a:srgbClr val="F7FA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6" name="Text 38"/>
          <p:cNvSpPr/>
          <p:nvPr/>
        </p:nvSpPr>
        <p:spPr>
          <a:xfrm>
            <a:off x="6492240" y="393192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Clean], [A, Dirty]</a:t>
            </a:r>
            <a:endParaRPr lang="en-US" sz="1200" b="0" u="none" strike="noStrike">
              <a:solidFill>
                <a:srgbClr val="000000"/>
              </a:solidFill>
              <a:effectLst/>
              <a:uFillTx/>
              <a:latin typeface="Arial"/>
            </a:endParaRPr>
          </a:p>
        </p:txBody>
      </p:sp>
      <p:sp>
        <p:nvSpPr>
          <p:cNvPr id="167" name="Text 39"/>
          <p:cNvSpPr/>
          <p:nvPr/>
        </p:nvSpPr>
        <p:spPr>
          <a:xfrm>
            <a:off x="9829800" y="393192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Suck</a:t>
            </a:r>
            <a:endParaRPr lang="en-US" sz="1200" b="0" u="none" strike="noStrike">
              <a:solidFill>
                <a:srgbClr val="000000"/>
              </a:solidFill>
              <a:effectLst/>
              <a:uFillTx/>
              <a:latin typeface="Arial"/>
            </a:endParaRPr>
          </a:p>
        </p:txBody>
      </p:sp>
      <p:sp>
        <p:nvSpPr>
          <p:cNvPr id="168" name="Text 40"/>
          <p:cNvSpPr/>
          <p:nvPr/>
        </p:nvSpPr>
        <p:spPr>
          <a:xfrm>
            <a:off x="6492240" y="4316040"/>
            <a:ext cx="4480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5E7088"/>
                </a:solidFill>
                <a:effectLst/>
                <a:uFillTx/>
                <a:latin typeface="Aptos"/>
                <a:ea typeface="Aptos"/>
              </a:rPr>
              <a:t>⋮                                    ⋮</a:t>
            </a:r>
            <a:endParaRPr lang="en-US" sz="1200" b="0" u="none" strike="noStrike">
              <a:solidFill>
                <a:srgbClr val="000000"/>
              </a:solidFill>
              <a:effectLst/>
              <a:uFillTx/>
              <a:latin typeface="Arial"/>
            </a:endParaRPr>
          </a:p>
        </p:txBody>
      </p:sp>
      <p:sp>
        <p:nvSpPr>
          <p:cNvPr id="169" name="Text 41"/>
          <p:cNvSpPr/>
          <p:nvPr/>
        </p:nvSpPr>
        <p:spPr>
          <a:xfrm>
            <a:off x="914400" y="51390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ea typeface="Aptos"/>
              </a:rPr>
              <a:t>Fill the right-hand column differently and you have a different agent</a:t>
            </a:r>
            <a:endParaRPr lang="en-US" sz="2000" b="0" u="none" strike="noStrike">
              <a:solidFill>
                <a:srgbClr val="000000"/>
              </a:solidFill>
              <a:effectLst/>
              <a:uFillTx/>
              <a:latin typeface="Arial"/>
            </a:endParaRPr>
          </a:p>
        </p:txBody>
      </p:sp>
      <p:sp>
        <p:nvSpPr>
          <p:cNvPr id="170" name="Text 42"/>
          <p:cNvSpPr/>
          <p:nvPr/>
        </p:nvSpPr>
        <p:spPr>
          <a:xfrm>
            <a:off x="1005840" y="5614560"/>
            <a:ext cx="101494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Bound the percept sequence at length T and the table still needs |P| + |P|² + … + |P|ᵀ rows. The tabulation is an external description of behavior; the agent program is what we actually have to write.</a:t>
            </a:r>
            <a:endParaRPr lang="en-US" sz="1400" b="0" u="none" strike="noStrike">
              <a:solidFill>
                <a:srgbClr val="000000"/>
              </a:solidFill>
              <a:effectLst/>
              <a:uFillTx/>
              <a:latin typeface="Arial"/>
            </a:endParaRPr>
          </a:p>
        </p:txBody>
      </p:sp>
      <p:sp>
        <p:nvSpPr>
          <p:cNvPr id="171" name="Text 43"/>
          <p:cNvSpPr/>
          <p:nvPr/>
        </p:nvSpPr>
        <p:spPr>
          <a:xfrm>
            <a:off x="475560" y="630936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a:solidFill>
                  <a:srgbClr val="5E7088"/>
                </a:solidFill>
                <a:effectLst/>
                <a:uFillTx/>
                <a:latin typeface="Aptos"/>
                <a:ea typeface="Aptos"/>
              </a:rPr>
              <a:t>Figures 2.2 and 2.3</a:t>
            </a:r>
            <a:endParaRPr lang="en-US" sz="1000" b="0" u="none" strike="noStrike">
              <a:solidFill>
                <a:srgbClr val="000000"/>
              </a:solidFill>
              <a:effectLst/>
              <a:uFillTx/>
              <a:latin typeface="Arial"/>
            </a:endParaRPr>
          </a:p>
        </p:txBody>
      </p:sp>
      <p:sp>
        <p:nvSpPr>
          <p:cNvPr id="172" name="Text 4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73" name="Text 4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7</a:t>
            </a:r>
            <a:endParaRPr lang="en-US" sz="8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74"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5"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76"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2.2 Good Behavior: Rationality Is Expected Performance</a:t>
            </a:r>
            <a:endParaRPr lang="en-US" sz="2300" b="0" u="none" strike="noStrike">
              <a:solidFill>
                <a:srgbClr val="000000"/>
              </a:solidFill>
              <a:effectLst/>
              <a:uFillTx/>
              <a:latin typeface="Arial"/>
            </a:endParaRPr>
          </a:p>
        </p:txBody>
      </p:sp>
      <p:sp>
        <p:nvSpPr>
          <p:cNvPr id="177"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78"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79"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8</a:t>
            </a:r>
            <a:endParaRPr lang="en-US" sz="1800" b="0" u="none" strike="noStrike">
              <a:solidFill>
                <a:srgbClr val="000000"/>
              </a:solidFill>
              <a:effectLst/>
              <a:uFillTx/>
              <a:latin typeface="Arial"/>
            </a:endParaRPr>
          </a:p>
        </p:txBody>
      </p:sp>
      <p:sp>
        <p:nvSpPr>
          <p:cNvPr id="180" name="Text 6"/>
          <p:cNvSpPr/>
          <p:nvPr/>
        </p:nvSpPr>
        <p:spPr>
          <a:xfrm>
            <a:off x="777240" y="1143000"/>
            <a:ext cx="10697400" cy="41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rPr>
              <a:t>A rational agent selects the action expected to maximize its performance measure.</a:t>
            </a:r>
            <a:endParaRPr lang="en-US" sz="2100" b="0" u="none" strike="noStrike">
              <a:solidFill>
                <a:srgbClr val="000000"/>
              </a:solidFill>
              <a:effectLst/>
              <a:uFillTx/>
              <a:latin typeface="Arial"/>
            </a:endParaRPr>
          </a:p>
        </p:txBody>
      </p:sp>
      <p:sp>
        <p:nvSpPr>
          <p:cNvPr id="181" name="Shape 7"/>
          <p:cNvSpPr/>
          <p:nvPr/>
        </p:nvSpPr>
        <p:spPr>
          <a:xfrm>
            <a:off x="914400" y="196596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2" name="Text 8"/>
          <p:cNvSpPr/>
          <p:nvPr/>
        </p:nvSpPr>
        <p:spPr>
          <a:xfrm>
            <a:off x="1078920" y="211212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Performance measure</a:t>
            </a:r>
            <a:endParaRPr lang="en-US" sz="1700" b="0" u="none" strike="noStrike">
              <a:solidFill>
                <a:srgbClr val="000000"/>
              </a:solidFill>
              <a:effectLst/>
              <a:uFillTx/>
              <a:latin typeface="Arial"/>
            </a:endParaRPr>
          </a:p>
        </p:txBody>
      </p:sp>
      <p:sp>
        <p:nvSpPr>
          <p:cNvPr id="183" name="Text 9"/>
          <p:cNvSpPr/>
          <p:nvPr/>
        </p:nvSpPr>
        <p:spPr>
          <a:xfrm>
            <a:off x="1078920" y="244152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counts as success?</a:t>
            </a:r>
            <a:endParaRPr lang="en-US" sz="1300" b="0" u="none" strike="noStrike">
              <a:solidFill>
                <a:srgbClr val="000000"/>
              </a:solidFill>
              <a:effectLst/>
              <a:uFillTx/>
              <a:latin typeface="Arial"/>
            </a:endParaRPr>
          </a:p>
        </p:txBody>
      </p:sp>
      <p:sp>
        <p:nvSpPr>
          <p:cNvPr id="184" name="Shape 10"/>
          <p:cNvSpPr/>
          <p:nvPr/>
        </p:nvSpPr>
        <p:spPr>
          <a:xfrm>
            <a:off x="6172200" y="196596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5" name="Text 11"/>
          <p:cNvSpPr/>
          <p:nvPr/>
        </p:nvSpPr>
        <p:spPr>
          <a:xfrm>
            <a:off x="6336720" y="211212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48A97"/>
                </a:solidFill>
                <a:effectLst/>
                <a:uFillTx/>
                <a:latin typeface="Aptos"/>
              </a:rPr>
              <a:t>Prior knowledge</a:t>
            </a:r>
            <a:endParaRPr lang="en-US" sz="1700" b="0" u="none" strike="noStrike">
              <a:solidFill>
                <a:srgbClr val="000000"/>
              </a:solidFill>
              <a:effectLst/>
              <a:uFillTx/>
              <a:latin typeface="Arial"/>
            </a:endParaRPr>
          </a:p>
        </p:txBody>
      </p:sp>
      <p:sp>
        <p:nvSpPr>
          <p:cNvPr id="186" name="Text 12"/>
          <p:cNvSpPr/>
          <p:nvPr/>
        </p:nvSpPr>
        <p:spPr>
          <a:xfrm>
            <a:off x="6336720" y="244152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does the agent already know?</a:t>
            </a:r>
            <a:endParaRPr lang="en-US" sz="1300" b="0" u="none" strike="noStrike">
              <a:solidFill>
                <a:srgbClr val="000000"/>
              </a:solidFill>
              <a:effectLst/>
              <a:uFillTx/>
              <a:latin typeface="Arial"/>
            </a:endParaRPr>
          </a:p>
        </p:txBody>
      </p:sp>
      <p:sp>
        <p:nvSpPr>
          <p:cNvPr id="187" name="Shape 13"/>
          <p:cNvSpPr/>
          <p:nvPr/>
        </p:nvSpPr>
        <p:spPr>
          <a:xfrm>
            <a:off x="914400" y="338328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8" name="Text 14"/>
          <p:cNvSpPr/>
          <p:nvPr/>
        </p:nvSpPr>
        <p:spPr>
          <a:xfrm>
            <a:off x="1078920" y="352944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rPr>
              <a:t>Available actions</a:t>
            </a:r>
            <a:endParaRPr lang="en-US" sz="1700" b="0" u="none" strike="noStrike">
              <a:solidFill>
                <a:srgbClr val="000000"/>
              </a:solidFill>
              <a:effectLst/>
              <a:uFillTx/>
              <a:latin typeface="Arial"/>
            </a:endParaRPr>
          </a:p>
        </p:txBody>
      </p:sp>
      <p:sp>
        <p:nvSpPr>
          <p:cNvPr id="189" name="Text 15"/>
          <p:cNvSpPr/>
          <p:nvPr/>
        </p:nvSpPr>
        <p:spPr>
          <a:xfrm>
            <a:off x="1078920" y="385884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can the agent actually do?</a:t>
            </a:r>
            <a:endParaRPr lang="en-US" sz="1300" b="0" u="none" strike="noStrike">
              <a:solidFill>
                <a:srgbClr val="000000"/>
              </a:solidFill>
              <a:effectLst/>
              <a:uFillTx/>
              <a:latin typeface="Arial"/>
            </a:endParaRPr>
          </a:p>
        </p:txBody>
      </p:sp>
      <p:sp>
        <p:nvSpPr>
          <p:cNvPr id="190" name="Shape 16"/>
          <p:cNvSpPr/>
          <p:nvPr/>
        </p:nvSpPr>
        <p:spPr>
          <a:xfrm>
            <a:off x="6172200" y="338328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1" name="Text 17"/>
          <p:cNvSpPr/>
          <p:nvPr/>
        </p:nvSpPr>
        <p:spPr>
          <a:xfrm>
            <a:off x="6336720" y="352944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Percept sequence</a:t>
            </a:r>
            <a:endParaRPr lang="en-US" sz="1700" b="0" u="none" strike="noStrike">
              <a:solidFill>
                <a:srgbClr val="000000"/>
              </a:solidFill>
              <a:effectLst/>
              <a:uFillTx/>
              <a:latin typeface="Arial"/>
            </a:endParaRPr>
          </a:p>
        </p:txBody>
      </p:sp>
      <p:sp>
        <p:nvSpPr>
          <p:cNvPr id="192" name="Text 18"/>
          <p:cNvSpPr/>
          <p:nvPr/>
        </p:nvSpPr>
        <p:spPr>
          <a:xfrm>
            <a:off x="6336720" y="385884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evidence has it observed?</a:t>
            </a:r>
            <a:endParaRPr lang="en-US" sz="1300" b="0" u="none" strike="noStrike">
              <a:solidFill>
                <a:srgbClr val="000000"/>
              </a:solidFill>
              <a:effectLst/>
              <a:uFillTx/>
              <a:latin typeface="Arial"/>
            </a:endParaRPr>
          </a:p>
        </p:txBody>
      </p:sp>
      <p:sp>
        <p:nvSpPr>
          <p:cNvPr id="193" name="Text 19"/>
          <p:cNvSpPr/>
          <p:nvPr/>
        </p:nvSpPr>
        <p:spPr>
          <a:xfrm>
            <a:off x="914400" y="5166360"/>
            <a:ext cx="10331640" cy="43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rPr>
              <a:t>Rationality is not hindsight perfection. It uses evidence available at the time.</a:t>
            </a:r>
            <a:endParaRPr lang="en-US" sz="19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94"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5"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96"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2.2 Rational? Only Under Stated Assumptions</a:t>
            </a:r>
            <a:endParaRPr lang="en-US" sz="2300" b="0" u="none" strike="noStrike">
              <a:solidFill>
                <a:srgbClr val="000000"/>
              </a:solidFill>
              <a:effectLst/>
              <a:uFillTx/>
              <a:latin typeface="Arial"/>
            </a:endParaRPr>
          </a:p>
        </p:txBody>
      </p:sp>
      <p:sp>
        <p:nvSpPr>
          <p:cNvPr id="197"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98" name="Shape 5"/>
          <p:cNvSpPr/>
          <p:nvPr/>
        </p:nvSpPr>
        <p:spPr>
          <a:xfrm>
            <a:off x="868680" y="1188720"/>
            <a:ext cx="5074560" cy="342864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9" name="Text 6"/>
          <p:cNvSpPr/>
          <p:nvPr/>
        </p:nvSpPr>
        <p:spPr>
          <a:xfrm>
            <a:off x="1033200" y="13366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ea typeface="Aptos"/>
              </a:rPr>
              <a:t>What makes this agent rational</a:t>
            </a:r>
            <a:endParaRPr lang="en-US" sz="1700" b="0" u="none" strike="noStrike">
              <a:solidFill>
                <a:srgbClr val="000000"/>
              </a:solidFill>
              <a:effectLst/>
              <a:uFillTx/>
              <a:latin typeface="Arial"/>
            </a:endParaRPr>
          </a:p>
        </p:txBody>
      </p:sp>
      <p:sp>
        <p:nvSpPr>
          <p:cNvPr id="200" name="Text 7"/>
          <p:cNvSpPr/>
          <p:nvPr/>
        </p:nvSpPr>
        <p:spPr>
          <a:xfrm>
            <a:off x="1033200" y="1666080"/>
            <a:ext cx="4745520" cy="2819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dirty="0">
                <a:solidFill>
                  <a:srgbClr val="0070C0"/>
                </a:solidFill>
                <a:effectLst/>
                <a:uFillTx/>
                <a:latin typeface="Aptos"/>
                <a:ea typeface="Aptos"/>
              </a:rPr>
              <a:t>Performance: </a:t>
            </a:r>
            <a:r>
              <a:rPr lang="en-US" sz="1300" b="0" u="none" strike="noStrike" dirty="0">
                <a:solidFill>
                  <a:srgbClr val="0B1F3A"/>
                </a:solidFill>
                <a:effectLst/>
                <a:uFillTx/>
                <a:latin typeface="Aptos"/>
                <a:ea typeface="Aptos"/>
              </a:rPr>
              <a:t>one point for each clean square at each time step, over a lifetime of 1000 steps.</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The geography is known in advance, but the dirt distribution and the starting square are not.</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Clean squares stay clean; Suck cleans the current square; moving into a wall leaves the agent where it is.</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The only actions are Right, Left, and Suck, and the agent perceives its location and dirt status correctly.</a:t>
            </a:r>
            <a:endParaRPr lang="en-US" sz="1300" b="0" u="none" strike="noStrike" dirty="0">
              <a:solidFill>
                <a:srgbClr val="000000"/>
              </a:solidFill>
              <a:effectLst/>
              <a:uFillTx/>
              <a:latin typeface="Arial"/>
            </a:endParaRPr>
          </a:p>
        </p:txBody>
      </p:sp>
      <p:sp>
        <p:nvSpPr>
          <p:cNvPr id="201" name="Shape 8"/>
          <p:cNvSpPr/>
          <p:nvPr/>
        </p:nvSpPr>
        <p:spPr>
          <a:xfrm>
            <a:off x="6217920" y="1188720"/>
            <a:ext cx="5074560" cy="342864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2" name="Text 9"/>
          <p:cNvSpPr/>
          <p:nvPr/>
        </p:nvSpPr>
        <p:spPr>
          <a:xfrm>
            <a:off x="6382440" y="13366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ea typeface="Aptos"/>
              </a:rPr>
              <a:t>Change one line and it is irrational</a:t>
            </a:r>
            <a:endParaRPr lang="en-US" sz="1700" b="0" u="none" strike="noStrike">
              <a:solidFill>
                <a:srgbClr val="000000"/>
              </a:solidFill>
              <a:effectLst/>
              <a:uFillTx/>
              <a:latin typeface="Arial"/>
            </a:endParaRPr>
          </a:p>
        </p:txBody>
      </p:sp>
      <p:sp>
        <p:nvSpPr>
          <p:cNvPr id="203" name="Text 10"/>
          <p:cNvSpPr/>
          <p:nvPr/>
        </p:nvSpPr>
        <p:spPr>
          <a:xfrm>
            <a:off x="6382440" y="1666080"/>
            <a:ext cx="4745520" cy="2819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dirty="0">
                <a:solidFill>
                  <a:srgbClr val="0070C0"/>
                </a:solidFill>
                <a:effectLst/>
                <a:uFillTx/>
                <a:latin typeface="Aptos"/>
                <a:ea typeface="Aptos"/>
              </a:rPr>
              <a:t>Penalize each movement: </a:t>
            </a:r>
            <a:r>
              <a:rPr lang="en-US" sz="1300" b="0" u="none" strike="noStrike" dirty="0">
                <a:solidFill>
                  <a:srgbClr val="0B1F3A"/>
                </a:solidFill>
                <a:effectLst/>
                <a:uFillTx/>
                <a:latin typeface="Aptos"/>
                <a:ea typeface="Aptos"/>
              </a:rPr>
              <a:t>once the floor is clean the agent oscillates forever and bleeds points. Add </a:t>
            </a:r>
            <a:r>
              <a:rPr lang="en-US" sz="1300" b="0" u="none" strike="noStrike" dirty="0" err="1">
                <a:solidFill>
                  <a:srgbClr val="0B1F3A"/>
                </a:solidFill>
                <a:effectLst/>
                <a:uFillTx/>
                <a:latin typeface="Aptos"/>
                <a:ea typeface="Aptos"/>
              </a:rPr>
              <a:t>NoOp</a:t>
            </a:r>
            <a:r>
              <a:rPr lang="en-US" sz="1300" b="0" u="none" strike="noStrike" dirty="0">
                <a:solidFill>
                  <a:srgbClr val="0B1F3A"/>
                </a:solidFill>
                <a:effectLst/>
                <a:uFillTx/>
                <a:latin typeface="Aptos"/>
                <a:ea typeface="Aptos"/>
              </a:rPr>
              <a:t> and stopping becomes the rational choice.</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Let clean squares become dirty again: it must go back and re-check them periodically.</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Hide the geography: it now has to explore before it can clean efficiently.</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Remove the location sensor: [Clean] no longer tells it whether to go Left or Right.</a:t>
            </a:r>
            <a:endParaRPr lang="en-US" sz="1300" b="0" u="none" strike="noStrike" dirty="0">
              <a:solidFill>
                <a:srgbClr val="000000"/>
              </a:solidFill>
              <a:effectLst/>
              <a:uFillTx/>
              <a:latin typeface="Arial"/>
            </a:endParaRPr>
          </a:p>
        </p:txBody>
      </p:sp>
      <p:sp>
        <p:nvSpPr>
          <p:cNvPr id="204" name="Text 11"/>
          <p:cNvSpPr/>
          <p:nvPr/>
        </p:nvSpPr>
        <p:spPr>
          <a:xfrm>
            <a:off x="914400" y="48920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ea typeface="Aptos"/>
              </a:rPr>
              <a:t>Rationality is a relation, not a property of the program</a:t>
            </a:r>
            <a:endParaRPr lang="en-US" sz="2200" b="0" u="none" strike="noStrike">
              <a:solidFill>
                <a:srgbClr val="000000"/>
              </a:solidFill>
              <a:effectLst/>
              <a:uFillTx/>
              <a:latin typeface="Arial"/>
            </a:endParaRPr>
          </a:p>
        </p:txBody>
      </p:sp>
      <p:sp>
        <p:nvSpPr>
          <p:cNvPr id="205" name="Text 12"/>
          <p:cNvSpPr/>
          <p:nvPr/>
        </p:nvSpPr>
        <p:spPr>
          <a:xfrm>
            <a:off x="1005840" y="5394960"/>
            <a:ext cx="101494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dirty="0">
                <a:solidFill>
                  <a:srgbClr val="0B1F3A"/>
                </a:solidFill>
                <a:effectLst/>
                <a:uFillTx/>
                <a:latin typeface="Aptos"/>
                <a:ea typeface="Aptos"/>
              </a:rPr>
              <a:t>The same four lines of code are rational under the left column and irrational under the right. Nothing about the code changed — the performance measure, the prior knowledge, the action set, or the percepts did.</a:t>
            </a:r>
            <a:endParaRPr lang="en-US" sz="1400" b="0" u="none" strike="noStrike" dirty="0">
              <a:solidFill>
                <a:srgbClr val="000000"/>
              </a:solidFill>
              <a:effectLst/>
              <a:uFillTx/>
              <a:latin typeface="Arial"/>
            </a:endParaRPr>
          </a:p>
          <a:p>
            <a:pPr algn="ctr" defTabSz="914400">
              <a:lnSpc>
                <a:spcPct val="100000"/>
              </a:lnSpc>
              <a:spcBef>
                <a:spcPts val="499"/>
              </a:spcBef>
              <a:tabLst>
                <a:tab pos="0" algn="l"/>
              </a:tabLst>
            </a:pPr>
            <a:r>
              <a:rPr lang="en-US" sz="1400" b="0" u="none" strike="noStrike" dirty="0">
                <a:solidFill>
                  <a:srgbClr val="0B1F3A"/>
                </a:solidFill>
                <a:effectLst/>
                <a:uFillTx/>
                <a:latin typeface="Aptos"/>
                <a:ea typeface="Aptos"/>
              </a:rPr>
              <a:t>Exercise 2.VACR asks you to design agents for each of these variants.</a:t>
            </a:r>
            <a:endParaRPr lang="en-US" sz="1400" b="0" u="none" strike="noStrike" dirty="0">
              <a:solidFill>
                <a:srgbClr val="000000"/>
              </a:solidFill>
              <a:effectLst/>
              <a:uFillTx/>
              <a:latin typeface="Arial"/>
            </a:endParaRPr>
          </a:p>
        </p:txBody>
      </p:sp>
      <p:sp>
        <p:nvSpPr>
          <p:cNvPr id="206" name="Text 13"/>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207" name="Text 14"/>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9</a:t>
            </a:r>
            <a:endParaRPr lang="en-US" sz="8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0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21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2.2 Performance Measures: Be Careful What You Ask For</a:t>
            </a:r>
            <a:endParaRPr lang="en-US" sz="2300" b="0" u="none" strike="noStrike">
              <a:solidFill>
                <a:srgbClr val="000000"/>
              </a:solidFill>
              <a:effectLst/>
              <a:uFillTx/>
              <a:latin typeface="Arial"/>
            </a:endParaRPr>
          </a:p>
        </p:txBody>
      </p:sp>
      <p:sp>
        <p:nvSpPr>
          <p:cNvPr id="21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21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1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10</a:t>
            </a:r>
            <a:endParaRPr lang="en-US" sz="1800" b="0" u="none" strike="noStrike">
              <a:solidFill>
                <a:srgbClr val="000000"/>
              </a:solidFill>
              <a:effectLst/>
              <a:uFillTx/>
              <a:latin typeface="Arial"/>
            </a:endParaRPr>
          </a:p>
        </p:txBody>
      </p:sp>
      <p:sp>
        <p:nvSpPr>
          <p:cNvPr id="214" name="Shape 6"/>
          <p:cNvSpPr/>
          <p:nvPr/>
        </p:nvSpPr>
        <p:spPr>
          <a:xfrm>
            <a:off x="868680" y="1234440"/>
            <a:ext cx="4845240" cy="1827720"/>
          </a:xfrm>
          <a:prstGeom prst="roundRect">
            <a:avLst>
              <a:gd name="adj" fmla="val 30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5" name="Text 7"/>
          <p:cNvSpPr/>
          <p:nvPr/>
        </p:nvSpPr>
        <p:spPr>
          <a:xfrm>
            <a:off x="1033200" y="1380600"/>
            <a:ext cx="4516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A32020"/>
                </a:solidFill>
                <a:effectLst/>
                <a:uFillTx/>
                <a:latin typeface="Aptos"/>
              </a:rPr>
              <a:t>Bad measure</a:t>
            </a:r>
            <a:endParaRPr lang="en-US" sz="2000" b="0" u="none" strike="noStrike">
              <a:solidFill>
                <a:srgbClr val="000000"/>
              </a:solidFill>
              <a:effectLst/>
              <a:uFillTx/>
              <a:latin typeface="Arial"/>
            </a:endParaRPr>
          </a:p>
        </p:txBody>
      </p:sp>
      <p:sp>
        <p:nvSpPr>
          <p:cNvPr id="216" name="Text 8"/>
          <p:cNvSpPr/>
          <p:nvPr/>
        </p:nvSpPr>
        <p:spPr>
          <a:xfrm>
            <a:off x="1033200" y="1710000"/>
            <a:ext cx="4516200" cy="1233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u="none" strike="noStrike">
                <a:solidFill>
                  <a:srgbClr val="0B1F3A"/>
                </a:solidFill>
                <a:effectLst/>
                <a:uFillTx/>
                <a:latin typeface="Aptos"/>
              </a:rPr>
              <a:t>Reward the vacuum for amount of dirt cleaned.</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Failure mode: dump dirt, clean it, dump it again.</a:t>
            </a:r>
            <a:endParaRPr lang="en-US" sz="1500" b="0" u="none" strike="noStrike">
              <a:solidFill>
                <a:srgbClr val="000000"/>
              </a:solidFill>
              <a:effectLst/>
              <a:uFillTx/>
              <a:latin typeface="Arial"/>
            </a:endParaRPr>
          </a:p>
        </p:txBody>
      </p:sp>
      <p:sp>
        <p:nvSpPr>
          <p:cNvPr id="217" name="Shape 9"/>
          <p:cNvSpPr/>
          <p:nvPr/>
        </p:nvSpPr>
        <p:spPr>
          <a:xfrm>
            <a:off x="6446520" y="1234440"/>
            <a:ext cx="4845240" cy="1827720"/>
          </a:xfrm>
          <a:prstGeom prst="roundRect">
            <a:avLst>
              <a:gd name="adj" fmla="val 30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8" name="Text 10"/>
          <p:cNvSpPr/>
          <p:nvPr/>
        </p:nvSpPr>
        <p:spPr>
          <a:xfrm>
            <a:off x="6611040" y="1380600"/>
            <a:ext cx="4516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1B7A45"/>
                </a:solidFill>
                <a:effectLst/>
                <a:uFillTx/>
                <a:latin typeface="Aptos"/>
              </a:rPr>
              <a:t>Better measure</a:t>
            </a:r>
            <a:endParaRPr lang="en-US" sz="2000" b="0" u="none" strike="noStrike">
              <a:solidFill>
                <a:srgbClr val="000000"/>
              </a:solidFill>
              <a:effectLst/>
              <a:uFillTx/>
              <a:latin typeface="Arial"/>
            </a:endParaRPr>
          </a:p>
        </p:txBody>
      </p:sp>
      <p:sp>
        <p:nvSpPr>
          <p:cNvPr id="219" name="Text 11"/>
          <p:cNvSpPr/>
          <p:nvPr/>
        </p:nvSpPr>
        <p:spPr>
          <a:xfrm>
            <a:off x="6611040" y="1710000"/>
            <a:ext cx="4516200" cy="1233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u="none" strike="noStrike">
                <a:solidFill>
                  <a:srgbClr val="0B1F3A"/>
                </a:solidFill>
                <a:effectLst/>
                <a:uFillTx/>
                <a:latin typeface="Aptos"/>
              </a:rPr>
              <a:t>Reward clean squares over time.</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Measure the environment outcome, not the agent’s visible effort.</a:t>
            </a:r>
            <a:endParaRPr lang="en-US" sz="1500" b="0" u="none" strike="noStrike">
              <a:solidFill>
                <a:srgbClr val="000000"/>
              </a:solidFill>
              <a:effectLst/>
              <a:uFillTx/>
              <a:latin typeface="Arial"/>
            </a:endParaRPr>
          </a:p>
        </p:txBody>
      </p:sp>
      <p:sp>
        <p:nvSpPr>
          <p:cNvPr id="220" name="Shape 12"/>
          <p:cNvSpPr/>
          <p:nvPr/>
        </p:nvSpPr>
        <p:spPr>
          <a:xfrm>
            <a:off x="5742360" y="1874520"/>
            <a:ext cx="547560" cy="547560"/>
          </a:xfrm>
          <a:prstGeom prst="chevron">
            <a:avLst>
              <a:gd name="adj" fmla="val 5000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1" name="Text 13"/>
          <p:cNvSpPr/>
          <p:nvPr/>
        </p:nvSpPr>
        <p:spPr>
          <a:xfrm>
            <a:off x="868680" y="3977640"/>
            <a:ext cx="104230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rPr>
              <a:t>General lesson</a:t>
            </a:r>
            <a:endParaRPr lang="en-US" sz="2200" b="0" u="none" strike="noStrike">
              <a:solidFill>
                <a:srgbClr val="000000"/>
              </a:solidFill>
              <a:effectLst/>
              <a:uFillTx/>
              <a:latin typeface="Arial"/>
            </a:endParaRPr>
          </a:p>
        </p:txBody>
      </p:sp>
      <p:sp>
        <p:nvSpPr>
          <p:cNvPr id="222" name="Text 14"/>
          <p:cNvSpPr/>
          <p:nvPr/>
        </p:nvSpPr>
        <p:spPr>
          <a:xfrm>
            <a:off x="1143000" y="4507920"/>
            <a:ext cx="987444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1F3A"/>
                </a:solidFill>
                <a:effectLst/>
                <a:uFillTx/>
                <a:latin typeface="Aptos"/>
              </a:rPr>
              <a:t>Design performance measures according to what you actually want achieved in the environment.</a:t>
            </a:r>
            <a:endParaRPr lang="en-US" sz="2000" b="0" u="none" strike="noStrike">
              <a:solidFill>
                <a:srgbClr val="000000"/>
              </a:solidFill>
              <a:effectLst/>
              <a:uFillTx/>
              <a:latin typeface="Arial"/>
            </a:endParaRPr>
          </a:p>
        </p:txBody>
      </p:sp>
      <p:sp>
        <p:nvSpPr>
          <p:cNvPr id="223" name="Text 15"/>
          <p:cNvSpPr/>
          <p:nvPr/>
        </p:nvSpPr>
        <p:spPr>
          <a:xfrm>
            <a:off x="1143000" y="5212080"/>
            <a:ext cx="98744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0" u="none" strike="noStrike">
                <a:solidFill>
                  <a:srgbClr val="5E7088"/>
                </a:solidFill>
                <a:effectLst/>
                <a:uFillTx/>
                <a:latin typeface="Aptos"/>
              </a:rPr>
              <a:t>Connection to Chapter 1: wrong objectives create the King Midas / value-alignment problem.</a:t>
            </a:r>
            <a:endParaRPr lang="en-US" sz="14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24"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5"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226"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2.2.1 Consequentialism and the Trouble with Averages</a:t>
            </a:r>
            <a:endParaRPr lang="en-US" sz="2300" b="0" u="none" strike="noStrike">
              <a:solidFill>
                <a:srgbClr val="000000"/>
              </a:solidFill>
              <a:effectLst/>
              <a:uFillTx/>
              <a:latin typeface="Arial"/>
            </a:endParaRPr>
          </a:p>
        </p:txBody>
      </p:sp>
      <p:sp>
        <p:nvSpPr>
          <p:cNvPr id="227"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2.2.1</a:t>
            </a:r>
            <a:endParaRPr lang="en-US" sz="1200" b="0" u="none" strike="noStrike">
              <a:solidFill>
                <a:srgbClr val="000000"/>
              </a:solidFill>
              <a:effectLst/>
              <a:uFillTx/>
              <a:latin typeface="Arial"/>
            </a:endParaRPr>
          </a:p>
        </p:txBody>
      </p:sp>
      <p:sp>
        <p:nvSpPr>
          <p:cNvPr id="228" name="Shape 5"/>
          <p:cNvSpPr/>
          <p:nvPr/>
        </p:nvSpPr>
        <p:spPr>
          <a:xfrm>
            <a:off x="868680" y="1097280"/>
            <a:ext cx="10423800" cy="11700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9" name="Text 6"/>
          <p:cNvSpPr/>
          <p:nvPr/>
        </p:nvSpPr>
        <p:spPr>
          <a:xfrm>
            <a:off x="1033200" y="1245240"/>
            <a:ext cx="100947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ea typeface="Aptos"/>
              </a:rPr>
              <a:t>Consequentialism</a:t>
            </a:r>
            <a:endParaRPr lang="en-US" sz="1700" b="0" u="none" strike="noStrike">
              <a:solidFill>
                <a:srgbClr val="000000"/>
              </a:solidFill>
              <a:effectLst/>
              <a:uFillTx/>
              <a:latin typeface="Arial"/>
            </a:endParaRPr>
          </a:p>
        </p:txBody>
      </p:sp>
      <p:sp>
        <p:nvSpPr>
          <p:cNvPr id="230" name="Text 7"/>
          <p:cNvSpPr/>
          <p:nvPr/>
        </p:nvSpPr>
        <p:spPr>
          <a:xfrm>
            <a:off x="1033200" y="1574640"/>
            <a:ext cx="10094760" cy="561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Moral philosophy offers several accounts of the right thing to do. AI has largely adopted one: judge an agent by its consequences. Actions drive the environment through a sequence of states, and the performance measure scores that sequence.</a:t>
            </a:r>
            <a:endParaRPr lang="en-US" sz="1300" b="0" u="none" strike="noStrike">
              <a:solidFill>
                <a:srgbClr val="000000"/>
              </a:solidFill>
              <a:effectLst/>
              <a:uFillTx/>
              <a:latin typeface="Arial"/>
            </a:endParaRPr>
          </a:p>
        </p:txBody>
      </p:sp>
      <p:sp>
        <p:nvSpPr>
          <p:cNvPr id="231" name="Shape 8"/>
          <p:cNvSpPr/>
          <p:nvPr/>
        </p:nvSpPr>
        <p:spPr>
          <a:xfrm>
            <a:off x="868680" y="2359080"/>
            <a:ext cx="5074560" cy="1416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2" name="Text 9"/>
          <p:cNvSpPr/>
          <p:nvPr/>
        </p:nvSpPr>
        <p:spPr>
          <a:xfrm>
            <a:off x="1033200" y="250740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ea typeface="Aptos"/>
              </a:rPr>
              <a:t>Agent A — steady mediocrity</a:t>
            </a:r>
            <a:endParaRPr lang="en-US" sz="1600" b="0" u="none" strike="noStrike">
              <a:solidFill>
                <a:srgbClr val="000000"/>
              </a:solidFill>
              <a:effectLst/>
              <a:uFillTx/>
              <a:latin typeface="Arial"/>
            </a:endParaRPr>
          </a:p>
        </p:txBody>
      </p:sp>
      <p:sp>
        <p:nvSpPr>
          <p:cNvPr id="233" name="Text 10"/>
          <p:cNvSpPr/>
          <p:nvPr/>
        </p:nvSpPr>
        <p:spPr>
          <a:xfrm>
            <a:off x="1033200" y="2836440"/>
            <a:ext cx="4745520" cy="80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Cleans at a moderate level, continuously, for the whole shift. Never impressive, never absent.</a:t>
            </a:r>
            <a:endParaRPr lang="en-US" sz="1300" b="0" u="none" strike="noStrike">
              <a:solidFill>
                <a:srgbClr val="000000"/>
              </a:solidFill>
              <a:effectLst/>
              <a:uFillTx/>
              <a:latin typeface="Arial"/>
            </a:endParaRPr>
          </a:p>
        </p:txBody>
      </p:sp>
      <p:sp>
        <p:nvSpPr>
          <p:cNvPr id="234" name="Shape 11"/>
          <p:cNvSpPr/>
          <p:nvPr/>
        </p:nvSpPr>
        <p:spPr>
          <a:xfrm>
            <a:off x="6217920" y="2359080"/>
            <a:ext cx="5074560" cy="1416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5" name="Text 12"/>
          <p:cNvSpPr/>
          <p:nvPr/>
        </p:nvSpPr>
        <p:spPr>
          <a:xfrm>
            <a:off x="6382440" y="250740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ea typeface="Aptos"/>
              </a:rPr>
              <a:t>Agent B — bursts and long breaks</a:t>
            </a:r>
            <a:endParaRPr lang="en-US" sz="1600" b="0" u="none" strike="noStrike">
              <a:solidFill>
                <a:srgbClr val="000000"/>
              </a:solidFill>
              <a:effectLst/>
              <a:uFillTx/>
              <a:latin typeface="Arial"/>
            </a:endParaRPr>
          </a:p>
        </p:txBody>
      </p:sp>
      <p:sp>
        <p:nvSpPr>
          <p:cNvPr id="236" name="Text 13"/>
          <p:cNvSpPr/>
          <p:nvPr/>
        </p:nvSpPr>
        <p:spPr>
          <a:xfrm>
            <a:off x="6382440" y="2836440"/>
            <a:ext cx="4745520" cy="80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Cleans energetically, then rests for long stretches. Spectacular in bursts, absent in between.</a:t>
            </a:r>
            <a:endParaRPr lang="en-US" sz="1300" b="0" u="none" strike="noStrike">
              <a:solidFill>
                <a:srgbClr val="000000"/>
              </a:solidFill>
              <a:effectLst/>
              <a:uFillTx/>
              <a:latin typeface="Arial"/>
            </a:endParaRPr>
          </a:p>
        </p:txBody>
      </p:sp>
      <p:sp>
        <p:nvSpPr>
          <p:cNvPr id="237" name="Text 14"/>
          <p:cNvSpPr/>
          <p:nvPr/>
        </p:nvSpPr>
        <p:spPr>
          <a:xfrm>
            <a:off x="914400" y="39866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ea typeface="Aptos"/>
              </a:rPr>
              <a:t>Identical average cleanliness. Which one do you want?</a:t>
            </a:r>
            <a:endParaRPr lang="en-US" sz="2100" b="0" u="none" strike="noStrike">
              <a:solidFill>
                <a:srgbClr val="000000"/>
              </a:solidFill>
              <a:effectLst/>
              <a:uFillTx/>
              <a:latin typeface="Arial"/>
            </a:endParaRPr>
          </a:p>
        </p:txBody>
      </p:sp>
      <p:sp>
        <p:nvSpPr>
          <p:cNvPr id="238" name="Text 15"/>
          <p:cNvSpPr/>
          <p:nvPr/>
        </p:nvSpPr>
        <p:spPr>
          <a:xfrm>
            <a:off x="1005840" y="4480560"/>
            <a:ext cx="1014948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A reckless life of highs and lows, or a safe but humdrum existence? An economy where everyone lives in moderate poverty, or one where some live in plenty and others very poorly? An average hides the question rather than answering it.</a:t>
            </a:r>
            <a:endParaRPr lang="en-US" sz="1400" b="0" u="none" strike="noStrike">
              <a:solidFill>
                <a:srgbClr val="000000"/>
              </a:solidFill>
              <a:effectLst/>
              <a:uFillTx/>
              <a:latin typeface="Arial"/>
            </a:endParaRPr>
          </a:p>
        </p:txBody>
      </p:sp>
      <p:sp>
        <p:nvSpPr>
          <p:cNvPr id="239" name="Shape 16"/>
          <p:cNvSpPr/>
          <p:nvPr/>
        </p:nvSpPr>
        <p:spPr>
          <a:xfrm>
            <a:off x="868680" y="5303520"/>
            <a:ext cx="10423800" cy="959760"/>
          </a:xfrm>
          <a:prstGeom prst="roundRect">
            <a:avLst>
              <a:gd name="adj" fmla="val 4444"/>
            </a:avLst>
          </a:prstGeom>
          <a:solidFill>
            <a:srgbClr val="FDF3E3"/>
          </a:solidFill>
          <a:ln w="12700">
            <a:solidFill>
              <a:srgbClr val="F0D9A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0" name="Text 17"/>
          <p:cNvSpPr/>
          <p:nvPr/>
        </p:nvSpPr>
        <p:spPr>
          <a:xfrm>
            <a:off x="1097280" y="5449680"/>
            <a:ext cx="9966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A32020"/>
                </a:solidFill>
                <a:effectLst/>
                <a:uFillTx/>
                <a:latin typeface="Aptos"/>
                <a:ea typeface="Aptos"/>
              </a:rPr>
              <a:t>And the measure itself may be unknown. </a:t>
            </a:r>
            <a:r>
              <a:rPr lang="en-US" sz="1400" b="0" u="none" strike="noStrike">
                <a:solidFill>
                  <a:srgbClr val="0B1F3A"/>
                </a:solidFill>
                <a:effectLst/>
                <a:uFillTx/>
                <a:latin typeface="Aptos"/>
                <a:ea typeface="Aptos"/>
              </a:rPr>
              <a:t>One piece of software ships to many users, and we cannot anticipate each one's preferences. That argues for agents that stay uncertain about the true objective and learn it over time (Chapters 16, 18, 22).</a:t>
            </a:r>
            <a:endParaRPr lang="en-US" sz="1400" b="0" u="none" strike="noStrike">
              <a:solidFill>
                <a:srgbClr val="000000"/>
              </a:solidFill>
              <a:effectLst/>
              <a:uFillTx/>
              <a:latin typeface="Arial"/>
            </a:endParaRPr>
          </a:p>
        </p:txBody>
      </p:sp>
      <p:sp>
        <p:nvSpPr>
          <p:cNvPr id="241" name="Text 18"/>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242" name="Text 19"/>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11</a:t>
            </a:r>
            <a:endParaRPr lang="en-US" sz="85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4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24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2.2 Rationality Is Not Omniscience</a:t>
            </a:r>
            <a:endParaRPr lang="en-US" sz="2300" b="0" u="none" strike="noStrike">
              <a:solidFill>
                <a:srgbClr val="000000"/>
              </a:solidFill>
              <a:effectLst/>
              <a:uFillTx/>
              <a:latin typeface="Arial"/>
            </a:endParaRPr>
          </a:p>
        </p:txBody>
      </p:sp>
      <p:sp>
        <p:nvSpPr>
          <p:cNvPr id="24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24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4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12</a:t>
            </a:r>
            <a:endParaRPr lang="en-US" sz="1800" b="0" u="none" strike="noStrike">
              <a:solidFill>
                <a:srgbClr val="000000"/>
              </a:solidFill>
              <a:effectLst/>
              <a:uFillTx/>
              <a:latin typeface="Arial"/>
            </a:endParaRPr>
          </a:p>
        </p:txBody>
      </p:sp>
      <p:sp>
        <p:nvSpPr>
          <p:cNvPr id="249" name="Shape 6"/>
          <p:cNvSpPr/>
          <p:nvPr/>
        </p:nvSpPr>
        <p:spPr>
          <a:xfrm>
            <a:off x="731520" y="1234440"/>
            <a:ext cx="356508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0" name="Text 7"/>
          <p:cNvSpPr/>
          <p:nvPr/>
        </p:nvSpPr>
        <p:spPr>
          <a:xfrm>
            <a:off x="896040" y="1380600"/>
            <a:ext cx="32360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Omniscience</a:t>
            </a:r>
            <a:endParaRPr lang="en-US" sz="1800" b="0" u="none" strike="noStrike">
              <a:solidFill>
                <a:srgbClr val="000000"/>
              </a:solidFill>
              <a:effectLst/>
              <a:uFillTx/>
              <a:latin typeface="Arial"/>
            </a:endParaRPr>
          </a:p>
        </p:txBody>
      </p:sp>
      <p:sp>
        <p:nvSpPr>
          <p:cNvPr id="251" name="Text 8"/>
          <p:cNvSpPr/>
          <p:nvPr/>
        </p:nvSpPr>
        <p:spPr>
          <a:xfrm>
            <a:off x="896040" y="1710000"/>
            <a:ext cx="323604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Knows the actual outcome of every action. Impossible in realistic environments.</a:t>
            </a:r>
            <a:endParaRPr lang="en-US" sz="1300" b="0" u="none" strike="noStrike">
              <a:solidFill>
                <a:srgbClr val="000000"/>
              </a:solidFill>
              <a:effectLst/>
              <a:uFillTx/>
              <a:latin typeface="Arial"/>
            </a:endParaRPr>
          </a:p>
        </p:txBody>
      </p:sp>
      <p:sp>
        <p:nvSpPr>
          <p:cNvPr id="252" name="Shape 9"/>
          <p:cNvSpPr/>
          <p:nvPr/>
        </p:nvSpPr>
        <p:spPr>
          <a:xfrm>
            <a:off x="4526280" y="1234440"/>
            <a:ext cx="356508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3" name="Text 10"/>
          <p:cNvSpPr/>
          <p:nvPr/>
        </p:nvSpPr>
        <p:spPr>
          <a:xfrm>
            <a:off x="4690800" y="1380600"/>
            <a:ext cx="32360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Rationality</a:t>
            </a:r>
            <a:endParaRPr lang="en-US" sz="1800" b="0" u="none" strike="noStrike">
              <a:solidFill>
                <a:srgbClr val="000000"/>
              </a:solidFill>
              <a:effectLst/>
              <a:uFillTx/>
              <a:latin typeface="Arial"/>
            </a:endParaRPr>
          </a:p>
        </p:txBody>
      </p:sp>
      <p:sp>
        <p:nvSpPr>
          <p:cNvPr id="254" name="Text 11"/>
          <p:cNvSpPr/>
          <p:nvPr/>
        </p:nvSpPr>
        <p:spPr>
          <a:xfrm>
            <a:off x="4690800" y="1710000"/>
            <a:ext cx="323604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Chooses the action with best expected performance from available evidence.</a:t>
            </a:r>
            <a:endParaRPr lang="en-US" sz="1300" b="0" u="none" strike="noStrike">
              <a:solidFill>
                <a:srgbClr val="000000"/>
              </a:solidFill>
              <a:effectLst/>
              <a:uFillTx/>
              <a:latin typeface="Arial"/>
            </a:endParaRPr>
          </a:p>
        </p:txBody>
      </p:sp>
      <p:sp>
        <p:nvSpPr>
          <p:cNvPr id="255" name="Shape 12"/>
          <p:cNvSpPr/>
          <p:nvPr/>
        </p:nvSpPr>
        <p:spPr>
          <a:xfrm>
            <a:off x="8321040" y="1234440"/>
            <a:ext cx="310788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6" name="Text 13"/>
          <p:cNvSpPr/>
          <p:nvPr/>
        </p:nvSpPr>
        <p:spPr>
          <a:xfrm>
            <a:off x="8485560" y="1380600"/>
            <a:ext cx="2778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Autonomy</a:t>
            </a:r>
            <a:endParaRPr lang="en-US" sz="1800" b="0" u="none" strike="noStrike">
              <a:solidFill>
                <a:srgbClr val="000000"/>
              </a:solidFill>
              <a:effectLst/>
              <a:uFillTx/>
              <a:latin typeface="Arial"/>
            </a:endParaRPr>
          </a:p>
        </p:txBody>
      </p:sp>
      <p:sp>
        <p:nvSpPr>
          <p:cNvPr id="257" name="Text 14"/>
          <p:cNvSpPr/>
          <p:nvPr/>
        </p:nvSpPr>
        <p:spPr>
          <a:xfrm>
            <a:off x="8485560" y="1710000"/>
            <a:ext cx="277884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Learns from percepts rather than depending only on designer assumptions.</a:t>
            </a:r>
            <a:endParaRPr lang="en-US" sz="1300" b="0" u="none" strike="noStrike">
              <a:solidFill>
                <a:srgbClr val="000000"/>
              </a:solidFill>
              <a:effectLst/>
              <a:uFillTx/>
              <a:latin typeface="Arial"/>
            </a:endParaRPr>
          </a:p>
        </p:txBody>
      </p:sp>
      <p:sp>
        <p:nvSpPr>
          <p:cNvPr id="258" name="Shape 15"/>
          <p:cNvSpPr/>
          <p:nvPr/>
        </p:nvSpPr>
        <p:spPr>
          <a:xfrm>
            <a:off x="1554480" y="3794760"/>
            <a:ext cx="1141920" cy="1141920"/>
          </a:xfrm>
          <a:prstGeom prst="ellipse">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9" name="Text 16"/>
          <p:cNvSpPr/>
          <p:nvPr/>
        </p:nvSpPr>
        <p:spPr>
          <a:xfrm>
            <a:off x="155448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Look</a:t>
            </a:r>
            <a:endParaRPr lang="en-US" sz="1400" b="0" u="none" strike="noStrike">
              <a:solidFill>
                <a:srgbClr val="000000"/>
              </a:solidFill>
              <a:effectLst/>
              <a:uFillTx/>
              <a:latin typeface="Arial"/>
            </a:endParaRPr>
          </a:p>
        </p:txBody>
      </p:sp>
      <p:sp>
        <p:nvSpPr>
          <p:cNvPr id="260" name="Shape 17"/>
          <p:cNvSpPr/>
          <p:nvPr/>
        </p:nvSpPr>
        <p:spPr>
          <a:xfrm>
            <a:off x="2788920" y="4361400"/>
            <a:ext cx="1051560" cy="360"/>
          </a:xfrm>
          <a:prstGeom prst="line">
            <a:avLst/>
          </a:prstGeom>
          <a:ln w="1778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1" name="Shape 18"/>
          <p:cNvSpPr/>
          <p:nvPr/>
        </p:nvSpPr>
        <p:spPr>
          <a:xfrm>
            <a:off x="3977640" y="3794760"/>
            <a:ext cx="1141920" cy="1141920"/>
          </a:xfrm>
          <a:prstGeom prst="ellipse">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2" name="Text 19"/>
          <p:cNvSpPr/>
          <p:nvPr/>
        </p:nvSpPr>
        <p:spPr>
          <a:xfrm>
            <a:off x="397764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Learn</a:t>
            </a:r>
            <a:endParaRPr lang="en-US" sz="1400" b="0" u="none" strike="noStrike">
              <a:solidFill>
                <a:srgbClr val="000000"/>
              </a:solidFill>
              <a:effectLst/>
              <a:uFillTx/>
              <a:latin typeface="Arial"/>
            </a:endParaRPr>
          </a:p>
        </p:txBody>
      </p:sp>
      <p:sp>
        <p:nvSpPr>
          <p:cNvPr id="263" name="Shape 20"/>
          <p:cNvSpPr/>
          <p:nvPr/>
        </p:nvSpPr>
        <p:spPr>
          <a:xfrm>
            <a:off x="5212080" y="4361400"/>
            <a:ext cx="1051560" cy="360"/>
          </a:xfrm>
          <a:prstGeom prst="line">
            <a:avLst/>
          </a:prstGeom>
          <a:ln w="1778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4" name="Shape 21"/>
          <p:cNvSpPr/>
          <p:nvPr/>
        </p:nvSpPr>
        <p:spPr>
          <a:xfrm>
            <a:off x="6400800" y="3794760"/>
            <a:ext cx="1141920" cy="114192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5" name="Text 22"/>
          <p:cNvSpPr/>
          <p:nvPr/>
        </p:nvSpPr>
        <p:spPr>
          <a:xfrm>
            <a:off x="640080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Act</a:t>
            </a:r>
            <a:endParaRPr lang="en-US" sz="1400" b="0" u="none" strike="noStrike">
              <a:solidFill>
                <a:srgbClr val="000000"/>
              </a:solidFill>
              <a:effectLst/>
              <a:uFillTx/>
              <a:latin typeface="Arial"/>
            </a:endParaRPr>
          </a:p>
        </p:txBody>
      </p:sp>
      <p:sp>
        <p:nvSpPr>
          <p:cNvPr id="266" name="Shape 23"/>
          <p:cNvSpPr/>
          <p:nvPr/>
        </p:nvSpPr>
        <p:spPr>
          <a:xfrm>
            <a:off x="7635240" y="4361400"/>
            <a:ext cx="1051560" cy="360"/>
          </a:xfrm>
          <a:prstGeom prst="line">
            <a:avLst/>
          </a:prstGeom>
          <a:ln w="1778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7" name="Shape 24"/>
          <p:cNvSpPr/>
          <p:nvPr/>
        </p:nvSpPr>
        <p:spPr>
          <a:xfrm>
            <a:off x="8823960" y="3794760"/>
            <a:ext cx="1141920" cy="1141920"/>
          </a:xfrm>
          <a:prstGeom prst="ellipse">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8" name="Text 25"/>
          <p:cNvSpPr/>
          <p:nvPr/>
        </p:nvSpPr>
        <p:spPr>
          <a:xfrm>
            <a:off x="882396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Improve</a:t>
            </a:r>
            <a:endParaRPr lang="en-US" sz="1400" b="0" u="none" strike="noStrike">
              <a:solidFill>
                <a:srgbClr val="000000"/>
              </a:solidFill>
              <a:effectLst/>
              <a:uFillTx/>
              <a:latin typeface="Arial"/>
            </a:endParaRPr>
          </a:p>
        </p:txBody>
      </p:sp>
      <p:sp>
        <p:nvSpPr>
          <p:cNvPr id="269" name="Text 26"/>
          <p:cNvSpPr/>
          <p:nvPr/>
        </p:nvSpPr>
        <p:spPr>
          <a:xfrm>
            <a:off x="914400" y="5257800"/>
            <a:ext cx="10331640" cy="41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Information gathering is rational when better percepts improve later decisions.</a:t>
            </a:r>
            <a:endParaRPr lang="en-US" sz="18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70"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1"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272"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2.2.3 Three Cautionary Agents</a:t>
            </a:r>
            <a:endParaRPr lang="en-US" sz="2300" b="0" u="none" strike="noStrike">
              <a:solidFill>
                <a:srgbClr val="000000"/>
              </a:solidFill>
              <a:effectLst/>
              <a:uFillTx/>
              <a:latin typeface="Arial"/>
            </a:endParaRPr>
          </a:p>
        </p:txBody>
      </p:sp>
      <p:sp>
        <p:nvSpPr>
          <p:cNvPr id="273"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2.2.3</a:t>
            </a:r>
            <a:endParaRPr lang="en-US" sz="1200" b="0" u="none" strike="noStrike">
              <a:solidFill>
                <a:srgbClr val="000000"/>
              </a:solidFill>
              <a:effectLst/>
              <a:uFillTx/>
              <a:latin typeface="Arial"/>
            </a:endParaRPr>
          </a:p>
        </p:txBody>
      </p:sp>
      <p:sp>
        <p:nvSpPr>
          <p:cNvPr id="274" name="Shape 5"/>
          <p:cNvSpPr/>
          <p:nvPr/>
        </p:nvSpPr>
        <p:spPr>
          <a:xfrm>
            <a:off x="868680" y="1188720"/>
            <a:ext cx="3291480" cy="35200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5" name="Text 6"/>
          <p:cNvSpPr/>
          <p:nvPr/>
        </p:nvSpPr>
        <p:spPr>
          <a:xfrm>
            <a:off x="1033200" y="1334880"/>
            <a:ext cx="2962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ea typeface="Aptos"/>
              </a:rPr>
              <a:t>The cargo door</a:t>
            </a:r>
            <a:endParaRPr lang="en-US" sz="1800" b="0" u="none" strike="noStrike">
              <a:solidFill>
                <a:srgbClr val="000000"/>
              </a:solidFill>
              <a:effectLst/>
              <a:uFillTx/>
              <a:latin typeface="Arial"/>
            </a:endParaRPr>
          </a:p>
        </p:txBody>
      </p:sp>
      <p:sp>
        <p:nvSpPr>
          <p:cNvPr id="276" name="Text 7"/>
          <p:cNvSpPr/>
          <p:nvPr/>
        </p:nvSpPr>
        <p:spPr>
          <a:xfrm>
            <a:off x="1033200" y="1719000"/>
            <a:ext cx="296244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You see a friend across an empty street and start to cross. At 33,000 feet a cargo door falls off a passing airliner and flattens you. Your obituary will not read “Idiot attempts to cross street.”</a:t>
            </a:r>
            <a:endParaRPr lang="en-US" sz="1300" b="0" u="none" strike="noStrike">
              <a:solidFill>
                <a:srgbClr val="000000"/>
              </a:solidFill>
              <a:effectLst/>
              <a:uFillTx/>
              <a:latin typeface="Arial"/>
            </a:endParaRPr>
          </a:p>
        </p:txBody>
      </p:sp>
      <p:sp>
        <p:nvSpPr>
          <p:cNvPr id="277" name="Shape 8"/>
          <p:cNvSpPr/>
          <p:nvPr/>
        </p:nvSpPr>
        <p:spPr>
          <a:xfrm>
            <a:off x="1033200" y="3429000"/>
            <a:ext cx="2962440" cy="1115280"/>
          </a:xfrm>
          <a:prstGeom prst="roundRect">
            <a:avLst>
              <a:gd name="adj" fmla="val 9000"/>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8" name="Text 9"/>
          <p:cNvSpPr/>
          <p:nvPr/>
        </p:nvSpPr>
        <p:spPr>
          <a:xfrm>
            <a:off x="1161360" y="3502080"/>
            <a:ext cx="2706120" cy="96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a:solidFill>
                  <a:srgbClr val="0B2B5C"/>
                </a:solidFill>
                <a:effectLst/>
                <a:uFillTx/>
                <a:latin typeface="Aptos"/>
                <a:ea typeface="Aptos"/>
              </a:rPr>
              <a:t>Rationality maximizes expected performance; perfection maximizes actual performance.</a:t>
            </a:r>
            <a:endParaRPr lang="en-US" sz="1200" b="0" u="none" strike="noStrike">
              <a:solidFill>
                <a:srgbClr val="000000"/>
              </a:solidFill>
              <a:effectLst/>
              <a:uFillTx/>
              <a:latin typeface="Arial"/>
            </a:endParaRPr>
          </a:p>
        </p:txBody>
      </p:sp>
      <p:sp>
        <p:nvSpPr>
          <p:cNvPr id="279" name="Shape 10"/>
          <p:cNvSpPr/>
          <p:nvPr/>
        </p:nvSpPr>
        <p:spPr>
          <a:xfrm>
            <a:off x="4434840" y="1188720"/>
            <a:ext cx="3291480" cy="35200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0" name="Text 11"/>
          <p:cNvSpPr/>
          <p:nvPr/>
        </p:nvSpPr>
        <p:spPr>
          <a:xfrm>
            <a:off x="4599360" y="1334880"/>
            <a:ext cx="2962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ea typeface="Aptos"/>
              </a:rPr>
              <a:t>The dung beetle</a:t>
            </a:r>
            <a:endParaRPr lang="en-US" sz="1800" b="0" u="none" strike="noStrike">
              <a:solidFill>
                <a:srgbClr val="000000"/>
              </a:solidFill>
              <a:effectLst/>
              <a:uFillTx/>
              <a:latin typeface="Arial"/>
            </a:endParaRPr>
          </a:p>
        </p:txBody>
      </p:sp>
      <p:sp>
        <p:nvSpPr>
          <p:cNvPr id="281" name="Text 12"/>
          <p:cNvSpPr/>
          <p:nvPr/>
        </p:nvSpPr>
        <p:spPr>
          <a:xfrm>
            <a:off x="4599360" y="1719000"/>
            <a:ext cx="296244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It fetches a ball of dung to plug its nest. Take the ball away en route and it pantomimes the plugging anyway, never noticing the ball is gone. Evolution built the assumption in.</a:t>
            </a:r>
            <a:endParaRPr lang="en-US" sz="1300" b="0" u="none" strike="noStrike">
              <a:solidFill>
                <a:srgbClr val="000000"/>
              </a:solidFill>
              <a:effectLst/>
              <a:uFillTx/>
              <a:latin typeface="Arial"/>
            </a:endParaRPr>
          </a:p>
        </p:txBody>
      </p:sp>
      <p:sp>
        <p:nvSpPr>
          <p:cNvPr id="282" name="Shape 13"/>
          <p:cNvSpPr/>
          <p:nvPr/>
        </p:nvSpPr>
        <p:spPr>
          <a:xfrm>
            <a:off x="4599360" y="3429000"/>
            <a:ext cx="2962440" cy="1115280"/>
          </a:xfrm>
          <a:prstGeom prst="roundRect">
            <a:avLst>
              <a:gd name="adj" fmla="val 9000"/>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3" name="Text 14"/>
          <p:cNvSpPr/>
          <p:nvPr/>
        </p:nvSpPr>
        <p:spPr>
          <a:xfrm>
            <a:off x="4727520" y="3502080"/>
            <a:ext cx="2706120" cy="96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a:solidFill>
                  <a:srgbClr val="0B2B5C"/>
                </a:solidFill>
                <a:effectLst/>
                <a:uFillTx/>
                <a:latin typeface="Aptos"/>
                <a:ea typeface="Aptos"/>
              </a:rPr>
              <a:t>No learning, so a violated assumption produces confidently wrong behavior.</a:t>
            </a:r>
            <a:endParaRPr lang="en-US" sz="1200" b="0" u="none" strike="noStrike">
              <a:solidFill>
                <a:srgbClr val="000000"/>
              </a:solidFill>
              <a:effectLst/>
              <a:uFillTx/>
              <a:latin typeface="Arial"/>
            </a:endParaRPr>
          </a:p>
        </p:txBody>
      </p:sp>
      <p:sp>
        <p:nvSpPr>
          <p:cNvPr id="284" name="Shape 15"/>
          <p:cNvSpPr/>
          <p:nvPr/>
        </p:nvSpPr>
        <p:spPr>
          <a:xfrm>
            <a:off x="8001000" y="1188720"/>
            <a:ext cx="3291480" cy="35200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5" name="Text 16"/>
          <p:cNvSpPr/>
          <p:nvPr/>
        </p:nvSpPr>
        <p:spPr>
          <a:xfrm>
            <a:off x="8165520" y="1334880"/>
            <a:ext cx="2962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ea typeface="Aptos"/>
              </a:rPr>
              <a:t>The sphex wasp</a:t>
            </a:r>
            <a:endParaRPr lang="en-US" sz="1800" b="0" u="none" strike="noStrike">
              <a:solidFill>
                <a:srgbClr val="000000"/>
              </a:solidFill>
              <a:effectLst/>
              <a:uFillTx/>
              <a:latin typeface="Arial"/>
            </a:endParaRPr>
          </a:p>
        </p:txBody>
      </p:sp>
      <p:sp>
        <p:nvSpPr>
          <p:cNvPr id="286" name="Text 17"/>
          <p:cNvSpPr/>
          <p:nvPr/>
        </p:nvSpPr>
        <p:spPr>
          <a:xfrm>
            <a:off x="8165520" y="1719000"/>
            <a:ext cx="296244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It drags a caterpillar to the burrow, steps inside to check, then drags it in. Nudge the caterpillar a few inches during the check and it restarts the drag step — dozens of times in a row.</a:t>
            </a:r>
            <a:endParaRPr lang="en-US" sz="1300" b="0" u="none" strike="noStrike">
              <a:solidFill>
                <a:srgbClr val="000000"/>
              </a:solidFill>
              <a:effectLst/>
              <a:uFillTx/>
              <a:latin typeface="Arial"/>
            </a:endParaRPr>
          </a:p>
        </p:txBody>
      </p:sp>
      <p:sp>
        <p:nvSpPr>
          <p:cNvPr id="287" name="Shape 18"/>
          <p:cNvSpPr/>
          <p:nvPr/>
        </p:nvSpPr>
        <p:spPr>
          <a:xfrm>
            <a:off x="8165520" y="3429000"/>
            <a:ext cx="2962440" cy="1115280"/>
          </a:xfrm>
          <a:prstGeom prst="roundRect">
            <a:avLst>
              <a:gd name="adj" fmla="val 9000"/>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8" name="Text 19"/>
          <p:cNvSpPr/>
          <p:nvPr/>
        </p:nvSpPr>
        <p:spPr>
          <a:xfrm>
            <a:off x="8293680" y="3502080"/>
            <a:ext cx="2706120" cy="96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a:solidFill>
                  <a:srgbClr val="0B2B5C"/>
                </a:solidFill>
                <a:effectLst/>
                <a:uFillTx/>
                <a:latin typeface="Aptos"/>
                <a:ea typeface="Aptos"/>
              </a:rPr>
              <a:t>It cannot notice that its own innate plan is failing, so it cannot change it.</a:t>
            </a:r>
            <a:endParaRPr lang="en-US" sz="1200" b="0" u="none" strike="noStrike">
              <a:solidFill>
                <a:srgbClr val="000000"/>
              </a:solidFill>
              <a:effectLst/>
              <a:uFillTx/>
              <a:latin typeface="Arial"/>
            </a:endParaRPr>
          </a:p>
        </p:txBody>
      </p:sp>
      <p:sp>
        <p:nvSpPr>
          <p:cNvPr id="289" name="Text 20"/>
          <p:cNvSpPr/>
          <p:nvPr/>
        </p:nvSpPr>
        <p:spPr>
          <a:xfrm>
            <a:off x="914400" y="498348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ea typeface="Aptos"/>
              </a:rPr>
              <a:t>Autonomy: learn enough to compensate for partial or wrong prior knowledge</a:t>
            </a:r>
            <a:endParaRPr lang="en-US" sz="2100" b="0" u="none" strike="noStrike">
              <a:solidFill>
                <a:srgbClr val="000000"/>
              </a:solidFill>
              <a:effectLst/>
              <a:uFillTx/>
              <a:latin typeface="Arial"/>
            </a:endParaRPr>
          </a:p>
        </p:txBody>
      </p:sp>
      <p:sp>
        <p:nvSpPr>
          <p:cNvPr id="290" name="Text 21"/>
          <p:cNvSpPr/>
          <p:nvPr/>
        </p:nvSpPr>
        <p:spPr>
          <a:xfrm>
            <a:off x="1005840" y="5486400"/>
            <a:ext cx="101494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Complete autonomy is rarely required from the start — an agent with no experience would have to act at random. Give it initial knowledge and the ability to learn, and after enough experience its behavior becomes effectively independent of what it was told at design time.</a:t>
            </a:r>
            <a:endParaRPr lang="en-US" sz="1400" b="0" u="none" strike="noStrike">
              <a:solidFill>
                <a:srgbClr val="000000"/>
              </a:solidFill>
              <a:effectLst/>
              <a:uFillTx/>
              <a:latin typeface="Arial"/>
            </a:endParaRPr>
          </a:p>
        </p:txBody>
      </p:sp>
      <p:sp>
        <p:nvSpPr>
          <p:cNvPr id="291" name="Text 22"/>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292" name="Text 23"/>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13</a:t>
            </a:r>
            <a:endParaRPr lang="en-US" sz="8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9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29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2.3.1 PEAS: Specify the Task Before Designing the Agent</a:t>
            </a:r>
            <a:endParaRPr lang="en-US" sz="2300" b="0" u="none" strike="noStrike">
              <a:solidFill>
                <a:srgbClr val="000000"/>
              </a:solidFill>
              <a:effectLst/>
              <a:uFillTx/>
              <a:latin typeface="Arial"/>
            </a:endParaRPr>
          </a:p>
        </p:txBody>
      </p:sp>
      <p:sp>
        <p:nvSpPr>
          <p:cNvPr id="29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29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9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14</a:t>
            </a:r>
            <a:endParaRPr lang="en-US" sz="1800" b="0" u="none" strike="noStrike">
              <a:solidFill>
                <a:srgbClr val="000000"/>
              </a:solidFill>
              <a:effectLst/>
              <a:uFillTx/>
              <a:latin typeface="Arial"/>
            </a:endParaRPr>
          </a:p>
        </p:txBody>
      </p:sp>
      <p:sp>
        <p:nvSpPr>
          <p:cNvPr id="299" name="Text 6"/>
          <p:cNvSpPr/>
          <p:nvPr/>
        </p:nvSpPr>
        <p:spPr>
          <a:xfrm>
            <a:off x="777240" y="1078920"/>
            <a:ext cx="10697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rPr>
              <a:t>PEAS = Performance measure, Environment, Actuators, Sensors</a:t>
            </a:r>
            <a:endParaRPr lang="en-US" sz="2100" b="0" u="none" strike="noStrike">
              <a:solidFill>
                <a:srgbClr val="000000"/>
              </a:solidFill>
              <a:effectLst/>
              <a:uFillTx/>
              <a:latin typeface="Arial"/>
            </a:endParaRPr>
          </a:p>
        </p:txBody>
      </p:sp>
      <p:sp>
        <p:nvSpPr>
          <p:cNvPr id="300" name="Shape 7"/>
          <p:cNvSpPr/>
          <p:nvPr/>
        </p:nvSpPr>
        <p:spPr>
          <a:xfrm>
            <a:off x="704160" y="1828800"/>
            <a:ext cx="684720" cy="684720"/>
          </a:xfrm>
          <a:prstGeom prst="ellipse">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1" name="Text 8"/>
          <p:cNvSpPr/>
          <p:nvPr/>
        </p:nvSpPr>
        <p:spPr>
          <a:xfrm>
            <a:off x="70416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P</a:t>
            </a:r>
            <a:endParaRPr lang="en-US" sz="1800" b="0" u="none" strike="noStrike">
              <a:solidFill>
                <a:srgbClr val="000000"/>
              </a:solidFill>
              <a:effectLst/>
              <a:uFillTx/>
              <a:latin typeface="Arial"/>
            </a:endParaRPr>
          </a:p>
        </p:txBody>
      </p:sp>
      <p:sp>
        <p:nvSpPr>
          <p:cNvPr id="302" name="Shape 9"/>
          <p:cNvSpPr/>
          <p:nvPr/>
        </p:nvSpPr>
        <p:spPr>
          <a:xfrm>
            <a:off x="65844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3" name="Text 10"/>
          <p:cNvSpPr/>
          <p:nvPr/>
        </p:nvSpPr>
        <p:spPr>
          <a:xfrm>
            <a:off x="82296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304" name="Text 11"/>
          <p:cNvSpPr/>
          <p:nvPr/>
        </p:nvSpPr>
        <p:spPr>
          <a:xfrm>
            <a:off x="82296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Safe, fast, legal, comfortable trip; minimize time/cost; maximize profit</a:t>
            </a:r>
            <a:endParaRPr lang="en-US" sz="1250" b="0" u="none" strike="noStrike">
              <a:solidFill>
                <a:srgbClr val="000000"/>
              </a:solidFill>
              <a:effectLst/>
              <a:uFillTx/>
              <a:latin typeface="Arial"/>
            </a:endParaRPr>
          </a:p>
        </p:txBody>
      </p:sp>
      <p:sp>
        <p:nvSpPr>
          <p:cNvPr id="305" name="Shape 12"/>
          <p:cNvSpPr/>
          <p:nvPr/>
        </p:nvSpPr>
        <p:spPr>
          <a:xfrm>
            <a:off x="3584520" y="1828800"/>
            <a:ext cx="684720" cy="684720"/>
          </a:xfrm>
          <a:prstGeom prst="ellipse">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6" name="Text 13"/>
          <p:cNvSpPr/>
          <p:nvPr/>
        </p:nvSpPr>
        <p:spPr>
          <a:xfrm>
            <a:off x="358452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E</a:t>
            </a:r>
            <a:endParaRPr lang="en-US" sz="1800" b="0" u="none" strike="noStrike">
              <a:solidFill>
                <a:srgbClr val="000000"/>
              </a:solidFill>
              <a:effectLst/>
              <a:uFillTx/>
              <a:latin typeface="Arial"/>
            </a:endParaRPr>
          </a:p>
        </p:txBody>
      </p:sp>
      <p:sp>
        <p:nvSpPr>
          <p:cNvPr id="307" name="Shape 14"/>
          <p:cNvSpPr/>
          <p:nvPr/>
        </p:nvSpPr>
        <p:spPr>
          <a:xfrm>
            <a:off x="353880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8" name="Text 15"/>
          <p:cNvSpPr/>
          <p:nvPr/>
        </p:nvSpPr>
        <p:spPr>
          <a:xfrm>
            <a:off x="370332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309" name="Text 16"/>
          <p:cNvSpPr/>
          <p:nvPr/>
        </p:nvSpPr>
        <p:spPr>
          <a:xfrm>
            <a:off x="370332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Roads, traffic, pedestrians, weather, passengers, police, construction</a:t>
            </a:r>
            <a:endParaRPr lang="en-US" sz="1250" b="0" u="none" strike="noStrike">
              <a:solidFill>
                <a:srgbClr val="000000"/>
              </a:solidFill>
              <a:effectLst/>
              <a:uFillTx/>
              <a:latin typeface="Arial"/>
            </a:endParaRPr>
          </a:p>
        </p:txBody>
      </p:sp>
      <p:sp>
        <p:nvSpPr>
          <p:cNvPr id="310" name="Shape 17"/>
          <p:cNvSpPr/>
          <p:nvPr/>
        </p:nvSpPr>
        <p:spPr>
          <a:xfrm>
            <a:off x="6464880" y="1828800"/>
            <a:ext cx="684720" cy="68472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1" name="Text 18"/>
          <p:cNvSpPr/>
          <p:nvPr/>
        </p:nvSpPr>
        <p:spPr>
          <a:xfrm>
            <a:off x="646488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A</a:t>
            </a:r>
            <a:endParaRPr lang="en-US" sz="1800" b="0" u="none" strike="noStrike">
              <a:solidFill>
                <a:srgbClr val="000000"/>
              </a:solidFill>
              <a:effectLst/>
              <a:uFillTx/>
              <a:latin typeface="Arial"/>
            </a:endParaRPr>
          </a:p>
        </p:txBody>
      </p:sp>
      <p:sp>
        <p:nvSpPr>
          <p:cNvPr id="312" name="Shape 19"/>
          <p:cNvSpPr/>
          <p:nvPr/>
        </p:nvSpPr>
        <p:spPr>
          <a:xfrm>
            <a:off x="641916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3" name="Text 20"/>
          <p:cNvSpPr/>
          <p:nvPr/>
        </p:nvSpPr>
        <p:spPr>
          <a:xfrm>
            <a:off x="658368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314" name="Text 21"/>
          <p:cNvSpPr/>
          <p:nvPr/>
        </p:nvSpPr>
        <p:spPr>
          <a:xfrm>
            <a:off x="658368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Steering, accelerator, brake, signals, horn, display, speech</a:t>
            </a:r>
            <a:endParaRPr lang="en-US" sz="1250" b="0" u="none" strike="noStrike">
              <a:solidFill>
                <a:srgbClr val="000000"/>
              </a:solidFill>
              <a:effectLst/>
              <a:uFillTx/>
              <a:latin typeface="Arial"/>
            </a:endParaRPr>
          </a:p>
        </p:txBody>
      </p:sp>
      <p:sp>
        <p:nvSpPr>
          <p:cNvPr id="315" name="Shape 22"/>
          <p:cNvSpPr/>
          <p:nvPr/>
        </p:nvSpPr>
        <p:spPr>
          <a:xfrm>
            <a:off x="9345240" y="1828800"/>
            <a:ext cx="684720" cy="684720"/>
          </a:xfrm>
          <a:prstGeom prst="ellipse">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6" name="Text 23"/>
          <p:cNvSpPr/>
          <p:nvPr/>
        </p:nvSpPr>
        <p:spPr>
          <a:xfrm>
            <a:off x="934524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S</a:t>
            </a:r>
            <a:endParaRPr lang="en-US" sz="1800" b="0" u="none" strike="noStrike">
              <a:solidFill>
                <a:srgbClr val="000000"/>
              </a:solidFill>
              <a:effectLst/>
              <a:uFillTx/>
              <a:latin typeface="Arial"/>
            </a:endParaRPr>
          </a:p>
        </p:txBody>
      </p:sp>
      <p:sp>
        <p:nvSpPr>
          <p:cNvPr id="317" name="Shape 24"/>
          <p:cNvSpPr/>
          <p:nvPr/>
        </p:nvSpPr>
        <p:spPr>
          <a:xfrm>
            <a:off x="929952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8" name="Text 25"/>
          <p:cNvSpPr/>
          <p:nvPr/>
        </p:nvSpPr>
        <p:spPr>
          <a:xfrm>
            <a:off x="946404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319" name="Text 26"/>
          <p:cNvSpPr/>
          <p:nvPr/>
        </p:nvSpPr>
        <p:spPr>
          <a:xfrm>
            <a:off x="946404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Cameras, lidar, radar, GPS, speedometer, engine sensors, voice/touch input</a:t>
            </a:r>
            <a:endParaRPr lang="en-US" sz="1250" b="0" u="none" strike="noStrike">
              <a:solidFill>
                <a:srgbClr val="000000"/>
              </a:solidFill>
              <a:effectLst/>
              <a:uFillTx/>
              <a:latin typeface="Arial"/>
            </a:endParaRPr>
          </a:p>
        </p:txBody>
      </p:sp>
      <p:pic>
        <p:nvPicPr>
          <p:cNvPr id="320" name="Image 0" descr="/mnt/data/ch2_docx_unzipped/word/media/image3.png"/>
          <p:cNvPicPr/>
          <p:nvPr/>
        </p:nvPicPr>
        <p:blipFill>
          <a:blip r:embed="rId3"/>
          <a:stretch/>
        </p:blipFill>
        <p:spPr>
          <a:xfrm>
            <a:off x="3217679" y="4207680"/>
            <a:ext cx="5020885" cy="1845720"/>
          </a:xfrm>
          <a:prstGeom prst="rect">
            <a:avLst/>
          </a:prstGeom>
          <a:noFill/>
          <a:ln w="0">
            <a:noFill/>
          </a:ln>
        </p:spPr>
      </p:pic>
      <p:sp>
        <p:nvSpPr>
          <p:cNvPr id="321" name="Text 27"/>
          <p:cNvSpPr/>
          <p:nvPr/>
        </p:nvSpPr>
        <p:spPr>
          <a:xfrm>
            <a:off x="703620" y="6058440"/>
            <a:ext cx="10697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dirty="0">
                <a:solidFill>
                  <a:srgbClr val="0B2B5C"/>
                </a:solidFill>
                <a:effectLst/>
                <a:uFillTx/>
                <a:latin typeface="Aptos"/>
              </a:rPr>
              <a:t>Design rule: specify the task environment as fully as possible first.</a:t>
            </a:r>
            <a:endParaRPr lang="en-US" sz="1800" b="0" u="none" strike="noStrike" dirty="0">
              <a:solidFill>
                <a:srgbClr val="000000"/>
              </a:solidFill>
              <a:effectLst/>
              <a:uFillTx/>
              <a:latin typeface="Arial"/>
            </a:endParaRPr>
          </a:p>
        </p:txBody>
      </p:sp>
      <p:sp>
        <p:nvSpPr>
          <p:cNvPr id="322" name="Text 2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2.4</a:t>
            </a:r>
            <a:endParaRPr lang="en-US" sz="7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2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32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2.3.1 PEAS Examples: Agent Types and Task Environments</a:t>
            </a:r>
            <a:endParaRPr lang="en-US" sz="2300" b="0" u="none" strike="noStrike">
              <a:solidFill>
                <a:srgbClr val="000000"/>
              </a:solidFill>
              <a:effectLst/>
              <a:uFillTx/>
              <a:latin typeface="Arial"/>
            </a:endParaRPr>
          </a:p>
        </p:txBody>
      </p:sp>
      <p:sp>
        <p:nvSpPr>
          <p:cNvPr id="32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32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2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15</a:t>
            </a:r>
            <a:endParaRPr lang="en-US" sz="1800" b="0" u="none" strike="noStrike">
              <a:solidFill>
                <a:srgbClr val="000000"/>
              </a:solidFill>
              <a:effectLst/>
              <a:uFillTx/>
              <a:latin typeface="Arial"/>
            </a:endParaRPr>
          </a:p>
        </p:txBody>
      </p:sp>
      <p:sp>
        <p:nvSpPr>
          <p:cNvPr id="329" name="Text 6"/>
          <p:cNvSpPr/>
          <p:nvPr/>
        </p:nvSpPr>
        <p:spPr>
          <a:xfrm>
            <a:off x="685800" y="1060560"/>
            <a:ext cx="1088028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50" b="1" u="none" strike="noStrike">
                <a:solidFill>
                  <a:srgbClr val="0B2B5C"/>
                </a:solidFill>
                <a:effectLst/>
                <a:uFillTx/>
                <a:latin typeface="Aptos"/>
              </a:rPr>
              <a:t>PEAS forces the designer to specify success, the world, available actions, and perceptual inputs before choosing an algorithm.</a:t>
            </a:r>
            <a:endParaRPr lang="en-US" sz="1750" b="0" u="none" strike="noStrike">
              <a:solidFill>
                <a:srgbClr val="000000"/>
              </a:solidFill>
              <a:effectLst/>
              <a:uFillTx/>
              <a:latin typeface="Arial"/>
            </a:endParaRPr>
          </a:p>
        </p:txBody>
      </p:sp>
      <p:pic>
        <p:nvPicPr>
          <p:cNvPr id="330" name="Image 0" descr="/mnt/data/ch2_docx_unzipped/word/media/image4.png"/>
          <p:cNvPicPr/>
          <p:nvPr/>
        </p:nvPicPr>
        <p:blipFill>
          <a:blip r:embed="rId3"/>
          <a:stretch/>
        </p:blipFill>
        <p:spPr>
          <a:xfrm>
            <a:off x="3657600" y="1691640"/>
            <a:ext cx="4692600" cy="4056120"/>
          </a:xfrm>
          <a:prstGeom prst="rect">
            <a:avLst/>
          </a:prstGeom>
          <a:noFill/>
          <a:ln w="0">
            <a:noFill/>
          </a:ln>
        </p:spPr>
      </p:pic>
      <p:sp>
        <p:nvSpPr>
          <p:cNvPr id="331" name="Text 7"/>
          <p:cNvSpPr/>
          <p:nvPr/>
        </p:nvSpPr>
        <p:spPr>
          <a:xfrm>
            <a:off x="822960" y="5806440"/>
            <a:ext cx="10560240" cy="30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Design checkpoint: if PEAS is vague, the agent design will be vague.</a:t>
            </a:r>
            <a:endParaRPr lang="en-US" sz="1800" b="0" u="none" strike="noStrike">
              <a:solidFill>
                <a:srgbClr val="000000"/>
              </a:solidFill>
              <a:effectLst/>
              <a:uFillTx/>
              <a:latin typeface="Arial"/>
            </a:endParaRPr>
          </a:p>
        </p:txBody>
      </p:sp>
      <p:sp>
        <p:nvSpPr>
          <p:cNvPr id="332" name="Text 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2.5</a:t>
            </a:r>
            <a:endParaRPr lang="en-US" sz="75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3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33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2.3.2 Task Environment Properties</a:t>
            </a:r>
            <a:endParaRPr lang="en-US" sz="2300" b="0" u="none" strike="noStrike">
              <a:solidFill>
                <a:srgbClr val="000000"/>
              </a:solidFill>
              <a:effectLst/>
              <a:uFillTx/>
              <a:latin typeface="Arial"/>
            </a:endParaRPr>
          </a:p>
        </p:txBody>
      </p:sp>
      <p:sp>
        <p:nvSpPr>
          <p:cNvPr id="33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33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3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16</a:t>
            </a:r>
            <a:endParaRPr lang="en-US" sz="1800" b="0" u="none" strike="noStrike">
              <a:solidFill>
                <a:srgbClr val="000000"/>
              </a:solidFill>
              <a:effectLst/>
              <a:uFillTx/>
              <a:latin typeface="Arial"/>
            </a:endParaRPr>
          </a:p>
        </p:txBody>
      </p:sp>
      <p:sp>
        <p:nvSpPr>
          <p:cNvPr id="339" name="Shape 6"/>
          <p:cNvSpPr/>
          <p:nvPr/>
        </p:nvSpPr>
        <p:spPr>
          <a:xfrm>
            <a:off x="50292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0" name="Text 7"/>
          <p:cNvSpPr/>
          <p:nvPr/>
        </p:nvSpPr>
        <p:spPr>
          <a:xfrm>
            <a:off x="66744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Observable</a:t>
            </a:r>
            <a:endParaRPr lang="en-US" sz="1500" b="0" u="none" strike="noStrike">
              <a:solidFill>
                <a:srgbClr val="000000"/>
              </a:solidFill>
              <a:effectLst/>
              <a:uFillTx/>
              <a:latin typeface="Arial"/>
            </a:endParaRPr>
          </a:p>
        </p:txBody>
      </p:sp>
      <p:sp>
        <p:nvSpPr>
          <p:cNvPr id="341" name="Text 8"/>
          <p:cNvSpPr/>
          <p:nvPr/>
        </p:nvSpPr>
        <p:spPr>
          <a:xfrm>
            <a:off x="66744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Fully  &lt;-&gt;  Partially</a:t>
            </a:r>
            <a:endParaRPr lang="en-US" sz="1150" b="0" u="none" strike="noStrike">
              <a:solidFill>
                <a:srgbClr val="000000"/>
              </a:solidFill>
              <a:effectLst/>
              <a:uFillTx/>
              <a:latin typeface="Arial"/>
            </a:endParaRPr>
          </a:p>
        </p:txBody>
      </p:sp>
      <p:sp>
        <p:nvSpPr>
          <p:cNvPr id="342" name="Shape 9"/>
          <p:cNvSpPr/>
          <p:nvPr/>
        </p:nvSpPr>
        <p:spPr>
          <a:xfrm>
            <a:off x="338328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3" name="Text 10"/>
          <p:cNvSpPr/>
          <p:nvPr/>
        </p:nvSpPr>
        <p:spPr>
          <a:xfrm>
            <a:off x="354780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Agents</a:t>
            </a:r>
            <a:endParaRPr lang="en-US" sz="1500" b="0" u="none" strike="noStrike">
              <a:solidFill>
                <a:srgbClr val="000000"/>
              </a:solidFill>
              <a:effectLst/>
              <a:uFillTx/>
              <a:latin typeface="Arial"/>
            </a:endParaRPr>
          </a:p>
        </p:txBody>
      </p:sp>
      <p:sp>
        <p:nvSpPr>
          <p:cNvPr id="344" name="Text 11"/>
          <p:cNvSpPr/>
          <p:nvPr/>
        </p:nvSpPr>
        <p:spPr>
          <a:xfrm>
            <a:off x="354780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Single  &lt;-&gt;  Multi</a:t>
            </a:r>
            <a:endParaRPr lang="en-US" sz="1150" b="0" u="none" strike="noStrike">
              <a:solidFill>
                <a:srgbClr val="000000"/>
              </a:solidFill>
              <a:effectLst/>
              <a:uFillTx/>
              <a:latin typeface="Arial"/>
            </a:endParaRPr>
          </a:p>
        </p:txBody>
      </p:sp>
      <p:sp>
        <p:nvSpPr>
          <p:cNvPr id="345" name="Shape 12"/>
          <p:cNvSpPr/>
          <p:nvPr/>
        </p:nvSpPr>
        <p:spPr>
          <a:xfrm>
            <a:off x="626364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6" name="Text 13"/>
          <p:cNvSpPr/>
          <p:nvPr/>
        </p:nvSpPr>
        <p:spPr>
          <a:xfrm>
            <a:off x="642816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5A21B"/>
                </a:solidFill>
                <a:effectLst/>
                <a:uFillTx/>
                <a:latin typeface="Aptos"/>
              </a:rPr>
              <a:t>Transition</a:t>
            </a:r>
            <a:endParaRPr lang="en-US" sz="1500" b="0" u="none" strike="noStrike">
              <a:solidFill>
                <a:srgbClr val="000000"/>
              </a:solidFill>
              <a:effectLst/>
              <a:uFillTx/>
              <a:latin typeface="Arial"/>
            </a:endParaRPr>
          </a:p>
        </p:txBody>
      </p:sp>
      <p:sp>
        <p:nvSpPr>
          <p:cNvPr id="347" name="Text 14"/>
          <p:cNvSpPr/>
          <p:nvPr/>
        </p:nvSpPr>
        <p:spPr>
          <a:xfrm>
            <a:off x="642816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Deterministic  &lt;-&gt;  Nondeterministic / stochastic</a:t>
            </a:r>
            <a:endParaRPr lang="en-US" sz="1150" b="0" u="none" strike="noStrike">
              <a:solidFill>
                <a:srgbClr val="000000"/>
              </a:solidFill>
              <a:effectLst/>
              <a:uFillTx/>
              <a:latin typeface="Arial"/>
            </a:endParaRPr>
          </a:p>
        </p:txBody>
      </p:sp>
      <p:sp>
        <p:nvSpPr>
          <p:cNvPr id="348" name="Shape 15"/>
          <p:cNvSpPr/>
          <p:nvPr/>
        </p:nvSpPr>
        <p:spPr>
          <a:xfrm>
            <a:off x="914400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9" name="Text 16"/>
          <p:cNvSpPr/>
          <p:nvPr/>
        </p:nvSpPr>
        <p:spPr>
          <a:xfrm>
            <a:off x="930852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Episodes</a:t>
            </a:r>
            <a:endParaRPr lang="en-US" sz="1500" b="0" u="none" strike="noStrike">
              <a:solidFill>
                <a:srgbClr val="000000"/>
              </a:solidFill>
              <a:effectLst/>
              <a:uFillTx/>
              <a:latin typeface="Arial"/>
            </a:endParaRPr>
          </a:p>
        </p:txBody>
      </p:sp>
      <p:sp>
        <p:nvSpPr>
          <p:cNvPr id="350" name="Text 17"/>
          <p:cNvSpPr/>
          <p:nvPr/>
        </p:nvSpPr>
        <p:spPr>
          <a:xfrm>
            <a:off x="930852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Episodic  &lt;-&gt;  Sequential</a:t>
            </a:r>
            <a:endParaRPr lang="en-US" sz="1150" b="0" u="none" strike="noStrike">
              <a:solidFill>
                <a:srgbClr val="000000"/>
              </a:solidFill>
              <a:effectLst/>
              <a:uFillTx/>
              <a:latin typeface="Arial"/>
            </a:endParaRPr>
          </a:p>
        </p:txBody>
      </p:sp>
      <p:sp>
        <p:nvSpPr>
          <p:cNvPr id="351" name="Shape 18"/>
          <p:cNvSpPr/>
          <p:nvPr/>
        </p:nvSpPr>
        <p:spPr>
          <a:xfrm>
            <a:off x="502920" y="269748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2" name="Text 19"/>
          <p:cNvSpPr/>
          <p:nvPr/>
        </p:nvSpPr>
        <p:spPr>
          <a:xfrm>
            <a:off x="667440" y="284364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A32020"/>
                </a:solidFill>
                <a:effectLst/>
                <a:uFillTx/>
                <a:latin typeface="Aptos"/>
              </a:rPr>
              <a:t>Time</a:t>
            </a:r>
            <a:endParaRPr lang="en-US" sz="1500" b="0" u="none" strike="noStrike">
              <a:solidFill>
                <a:srgbClr val="000000"/>
              </a:solidFill>
              <a:effectLst/>
              <a:uFillTx/>
              <a:latin typeface="Arial"/>
            </a:endParaRPr>
          </a:p>
        </p:txBody>
      </p:sp>
      <p:sp>
        <p:nvSpPr>
          <p:cNvPr id="353" name="Text 20"/>
          <p:cNvSpPr/>
          <p:nvPr/>
        </p:nvSpPr>
        <p:spPr>
          <a:xfrm>
            <a:off x="667440" y="317304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Static  &lt;-&gt;  Dynamic / semidynamic</a:t>
            </a:r>
            <a:endParaRPr lang="en-US" sz="1150" b="0" u="none" strike="noStrike">
              <a:solidFill>
                <a:srgbClr val="000000"/>
              </a:solidFill>
              <a:effectLst/>
              <a:uFillTx/>
              <a:latin typeface="Arial"/>
            </a:endParaRPr>
          </a:p>
        </p:txBody>
      </p:sp>
      <p:sp>
        <p:nvSpPr>
          <p:cNvPr id="354" name="Shape 21"/>
          <p:cNvSpPr/>
          <p:nvPr/>
        </p:nvSpPr>
        <p:spPr>
          <a:xfrm>
            <a:off x="3383280" y="269748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5" name="Text 22"/>
          <p:cNvSpPr/>
          <p:nvPr/>
        </p:nvSpPr>
        <p:spPr>
          <a:xfrm>
            <a:off x="3547800" y="284364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State/action</a:t>
            </a:r>
            <a:endParaRPr lang="en-US" sz="1500" b="0" u="none" strike="noStrike">
              <a:solidFill>
                <a:srgbClr val="000000"/>
              </a:solidFill>
              <a:effectLst/>
              <a:uFillTx/>
              <a:latin typeface="Arial"/>
            </a:endParaRPr>
          </a:p>
        </p:txBody>
      </p:sp>
      <p:sp>
        <p:nvSpPr>
          <p:cNvPr id="356" name="Text 23"/>
          <p:cNvSpPr/>
          <p:nvPr/>
        </p:nvSpPr>
        <p:spPr>
          <a:xfrm>
            <a:off x="3547800" y="317304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Discrete  &lt;-&gt;  Continuous</a:t>
            </a:r>
            <a:endParaRPr lang="en-US" sz="1150" b="0" u="none" strike="noStrike">
              <a:solidFill>
                <a:srgbClr val="000000"/>
              </a:solidFill>
              <a:effectLst/>
              <a:uFillTx/>
              <a:latin typeface="Arial"/>
            </a:endParaRPr>
          </a:p>
        </p:txBody>
      </p:sp>
      <p:sp>
        <p:nvSpPr>
          <p:cNvPr id="357" name="Shape 24"/>
          <p:cNvSpPr/>
          <p:nvPr/>
        </p:nvSpPr>
        <p:spPr>
          <a:xfrm>
            <a:off x="6263640" y="269748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8" name="Text 25"/>
          <p:cNvSpPr/>
          <p:nvPr/>
        </p:nvSpPr>
        <p:spPr>
          <a:xfrm>
            <a:off x="6428160" y="284364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B2B5C"/>
                </a:solidFill>
                <a:effectLst/>
                <a:uFillTx/>
                <a:latin typeface="Aptos"/>
              </a:rPr>
              <a:t>Knowledge</a:t>
            </a:r>
            <a:endParaRPr lang="en-US" sz="1500" b="0" u="none" strike="noStrike">
              <a:solidFill>
                <a:srgbClr val="000000"/>
              </a:solidFill>
              <a:effectLst/>
              <a:uFillTx/>
              <a:latin typeface="Arial"/>
            </a:endParaRPr>
          </a:p>
        </p:txBody>
      </p:sp>
      <p:sp>
        <p:nvSpPr>
          <p:cNvPr id="359" name="Text 26"/>
          <p:cNvSpPr/>
          <p:nvPr/>
        </p:nvSpPr>
        <p:spPr>
          <a:xfrm>
            <a:off x="6428160" y="317304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Known  &lt;-&gt;  Unknown</a:t>
            </a:r>
            <a:endParaRPr lang="en-US" sz="1150" b="0" u="none" strike="noStrike">
              <a:solidFill>
                <a:srgbClr val="000000"/>
              </a:solidFill>
              <a:effectLst/>
              <a:uFillTx/>
              <a:latin typeface="Arial"/>
            </a:endParaRPr>
          </a:p>
        </p:txBody>
      </p:sp>
      <p:pic>
        <p:nvPicPr>
          <p:cNvPr id="360" name="Image 0" descr="/mnt/data/ch2_docx_unzipped/word/media/image5.png"/>
          <p:cNvPicPr/>
          <p:nvPr/>
        </p:nvPicPr>
        <p:blipFill>
          <a:blip r:embed="rId3"/>
          <a:stretch/>
        </p:blipFill>
        <p:spPr>
          <a:xfrm>
            <a:off x="3657599" y="3886200"/>
            <a:ext cx="4554071" cy="2477880"/>
          </a:xfrm>
          <a:prstGeom prst="rect">
            <a:avLst/>
          </a:prstGeom>
          <a:noFill/>
          <a:ln w="0">
            <a:noFill/>
          </a:ln>
        </p:spPr>
      </p:pic>
      <p:sp>
        <p:nvSpPr>
          <p:cNvPr id="361" name="Text 27"/>
          <p:cNvSpPr/>
          <p:nvPr/>
        </p:nvSpPr>
        <p:spPr>
          <a:xfrm>
            <a:off x="502920" y="6227460"/>
            <a:ext cx="108802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50" b="1" u="none" strike="noStrike" dirty="0">
                <a:solidFill>
                  <a:srgbClr val="0B2B5C"/>
                </a:solidFill>
                <a:effectLst/>
                <a:uFillTx/>
                <a:latin typeface="Aptos"/>
              </a:rPr>
              <a:t>Hardest case: partially observable, multiagent, nondeterministic, sequential, dynamic, continuous, unknown.</a:t>
            </a:r>
            <a:endParaRPr lang="en-US" sz="1550" b="0" u="none" strike="noStrike" dirty="0">
              <a:solidFill>
                <a:srgbClr val="000000"/>
              </a:solidFill>
              <a:effectLst/>
              <a:uFillTx/>
              <a:latin typeface="Arial"/>
            </a:endParaRPr>
          </a:p>
        </p:txBody>
      </p:sp>
      <p:sp>
        <p:nvSpPr>
          <p:cNvPr id="362" name="Text 2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2.6</a:t>
            </a:r>
            <a:endParaRPr lang="en-US" sz="75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63"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4"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365"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2.3.2 Reading the Fine Print on Three Dimensions</a:t>
            </a:r>
            <a:endParaRPr lang="en-US" sz="2300" b="0" u="none" strike="noStrike">
              <a:solidFill>
                <a:srgbClr val="000000"/>
              </a:solidFill>
              <a:effectLst/>
              <a:uFillTx/>
              <a:latin typeface="Arial"/>
            </a:endParaRPr>
          </a:p>
        </p:txBody>
      </p:sp>
      <p:sp>
        <p:nvSpPr>
          <p:cNvPr id="366"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367" name="Shape 5"/>
          <p:cNvSpPr/>
          <p:nvPr/>
        </p:nvSpPr>
        <p:spPr>
          <a:xfrm>
            <a:off x="868680" y="1188720"/>
            <a:ext cx="3291480" cy="31543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8" name="Text 6"/>
          <p:cNvSpPr/>
          <p:nvPr/>
        </p:nvSpPr>
        <p:spPr>
          <a:xfrm>
            <a:off x="1033200" y="1334880"/>
            <a:ext cx="29624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u="none" strike="noStrike">
                <a:solidFill>
                  <a:srgbClr val="2B6CB0"/>
                </a:solidFill>
                <a:effectLst/>
                <a:uFillTx/>
                <a:latin typeface="Aptos"/>
                <a:ea typeface="Aptos"/>
              </a:rPr>
              <a:t>Nondeterministic vs. stochastic</a:t>
            </a:r>
            <a:endParaRPr lang="en-US" sz="1700" b="0" u="none" strike="noStrike">
              <a:solidFill>
                <a:srgbClr val="000000"/>
              </a:solidFill>
              <a:effectLst/>
              <a:uFillTx/>
              <a:latin typeface="Arial"/>
            </a:endParaRPr>
          </a:p>
        </p:txBody>
      </p:sp>
      <p:sp>
        <p:nvSpPr>
          <p:cNvPr id="369" name="Text 7"/>
          <p:cNvSpPr/>
          <p:nvPr/>
        </p:nvSpPr>
        <p:spPr>
          <a:xfrm>
            <a:off x="1033200" y="1993320"/>
            <a:ext cx="2962440" cy="219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Both mean the next state is not guaranteed. The chapter reserves stochastic for models that quantify the uncertainty — “a 25% chance of rain.” Nondeterministic means the possibilities are listed without probabilities — “there is a chance of rain.”</a:t>
            </a:r>
            <a:endParaRPr lang="en-US" sz="1300" b="0" u="none" strike="noStrike">
              <a:solidFill>
                <a:srgbClr val="000000"/>
              </a:solidFill>
              <a:effectLst/>
              <a:uFillTx/>
              <a:latin typeface="Arial"/>
            </a:endParaRPr>
          </a:p>
        </p:txBody>
      </p:sp>
      <p:sp>
        <p:nvSpPr>
          <p:cNvPr id="370" name="Shape 8"/>
          <p:cNvSpPr/>
          <p:nvPr/>
        </p:nvSpPr>
        <p:spPr>
          <a:xfrm>
            <a:off x="4434840" y="1188720"/>
            <a:ext cx="3291480" cy="31543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1" name="Text 9"/>
          <p:cNvSpPr/>
          <p:nvPr/>
        </p:nvSpPr>
        <p:spPr>
          <a:xfrm>
            <a:off x="4599360" y="1334880"/>
            <a:ext cx="29624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u="none" strike="noStrike">
                <a:solidFill>
                  <a:srgbClr val="048A97"/>
                </a:solidFill>
                <a:effectLst/>
                <a:uFillTx/>
                <a:latin typeface="Aptos"/>
                <a:ea typeface="Aptos"/>
              </a:rPr>
              <a:t>Competitive vs. cooperative</a:t>
            </a:r>
            <a:endParaRPr lang="en-US" sz="1700" b="0" u="none" strike="noStrike">
              <a:solidFill>
                <a:srgbClr val="000000"/>
              </a:solidFill>
              <a:effectLst/>
              <a:uFillTx/>
              <a:latin typeface="Arial"/>
            </a:endParaRPr>
          </a:p>
        </p:txBody>
      </p:sp>
      <p:sp>
        <p:nvSpPr>
          <p:cNvPr id="372" name="Text 10"/>
          <p:cNvSpPr/>
          <p:nvPr/>
        </p:nvSpPr>
        <p:spPr>
          <a:xfrm>
            <a:off x="4599360" y="1993320"/>
            <a:ext cx="2962440" cy="219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Treat B as an agent when B's performance measure depends on A's behavior. In chess B's gain is A's loss, so it is competitive. For taxis, avoiding collisions raises everyone's score — cooperative, yet still competitive over one parking space.</a:t>
            </a:r>
            <a:endParaRPr lang="en-US" sz="1300" b="0" u="none" strike="noStrike">
              <a:solidFill>
                <a:srgbClr val="000000"/>
              </a:solidFill>
              <a:effectLst/>
              <a:uFillTx/>
              <a:latin typeface="Arial"/>
            </a:endParaRPr>
          </a:p>
        </p:txBody>
      </p:sp>
      <p:sp>
        <p:nvSpPr>
          <p:cNvPr id="373" name="Shape 11"/>
          <p:cNvSpPr/>
          <p:nvPr/>
        </p:nvSpPr>
        <p:spPr>
          <a:xfrm>
            <a:off x="8001000" y="1188720"/>
            <a:ext cx="3291480" cy="31543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4" name="Text 12"/>
          <p:cNvSpPr/>
          <p:nvPr/>
        </p:nvSpPr>
        <p:spPr>
          <a:xfrm>
            <a:off x="8165520" y="1334880"/>
            <a:ext cx="29624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u="none" strike="noStrike">
                <a:solidFill>
                  <a:srgbClr val="5B35B1"/>
                </a:solidFill>
                <a:effectLst/>
                <a:uFillTx/>
                <a:latin typeface="Aptos"/>
                <a:ea typeface="Aptos"/>
              </a:rPr>
              <a:t>Effectively fully observable</a:t>
            </a:r>
            <a:endParaRPr lang="en-US" sz="1700" b="0" u="none" strike="noStrike">
              <a:solidFill>
                <a:srgbClr val="000000"/>
              </a:solidFill>
              <a:effectLst/>
              <a:uFillTx/>
              <a:latin typeface="Arial"/>
            </a:endParaRPr>
          </a:p>
        </p:txBody>
      </p:sp>
      <p:sp>
        <p:nvSpPr>
          <p:cNvPr id="375" name="Text 13"/>
          <p:cNvSpPr/>
          <p:nvPr/>
        </p:nvSpPr>
        <p:spPr>
          <a:xfrm>
            <a:off x="8165520" y="1993320"/>
            <a:ext cx="2962440" cy="219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Sensors need not capture the entire state, only everything relevant to the choice of action, and relevance depends on the performance measure. With no sensors at all the environment is unobservable — and goals may still be achievable (Chapter 4).</a:t>
            </a:r>
            <a:endParaRPr lang="en-US" sz="1300" b="0" u="none" strike="noStrike">
              <a:solidFill>
                <a:srgbClr val="000000"/>
              </a:solidFill>
              <a:effectLst/>
              <a:uFillTx/>
              <a:latin typeface="Arial"/>
            </a:endParaRPr>
          </a:p>
        </p:txBody>
      </p:sp>
      <p:sp>
        <p:nvSpPr>
          <p:cNvPr id="376" name="Shape 14"/>
          <p:cNvSpPr/>
          <p:nvPr/>
        </p:nvSpPr>
        <p:spPr>
          <a:xfrm>
            <a:off x="868680" y="4617720"/>
            <a:ext cx="10423800" cy="86832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7" name="Text 15"/>
          <p:cNvSpPr/>
          <p:nvPr/>
        </p:nvSpPr>
        <p:spPr>
          <a:xfrm>
            <a:off x="1097280" y="4754880"/>
            <a:ext cx="99666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50" b="1" u="none" strike="noStrike">
                <a:solidFill>
                  <a:srgbClr val="0B2B5C"/>
                </a:solidFill>
                <a:effectLst/>
                <a:uFillTx/>
                <a:latin typeface="Aptos"/>
                <a:ea typeface="Aptos"/>
              </a:rPr>
              <a:t>One more: semidynamic. </a:t>
            </a:r>
            <a:r>
              <a:rPr lang="en-US" sz="1450" b="0" u="none" strike="noStrike">
                <a:solidFill>
                  <a:srgbClr val="0B1F3A"/>
                </a:solidFill>
                <a:effectLst/>
                <a:uFillTx/>
                <a:latin typeface="Aptos"/>
                <a:ea typeface="Aptos"/>
              </a:rPr>
              <a:t>The world holds still while you think, but your score does not. Chess with a clock. Crossword puzzles are simply static.</a:t>
            </a:r>
            <a:endParaRPr lang="en-US" sz="1450" b="0" u="none" strike="noStrike">
              <a:solidFill>
                <a:srgbClr val="000000"/>
              </a:solidFill>
              <a:effectLst/>
              <a:uFillTx/>
              <a:latin typeface="Arial"/>
            </a:endParaRPr>
          </a:p>
        </p:txBody>
      </p:sp>
      <p:sp>
        <p:nvSpPr>
          <p:cNvPr id="378" name="Text 16"/>
          <p:cNvSpPr/>
          <p:nvPr/>
        </p:nvSpPr>
        <p:spPr>
          <a:xfrm>
            <a:off x="1005840" y="5715000"/>
            <a:ext cx="10149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5E7088"/>
                </a:solidFill>
                <a:effectLst/>
                <a:uFillTx/>
                <a:latin typeface="Aptos"/>
                <a:ea typeface="Aptos"/>
              </a:rPr>
              <a:t>Classifying an environment is an argument you have to defend, not a label you look up. Expect to justify the one you pick.</a:t>
            </a:r>
            <a:endParaRPr lang="en-US" sz="1400" b="0" u="none" strike="noStrike">
              <a:solidFill>
                <a:srgbClr val="000000"/>
              </a:solidFill>
              <a:effectLst/>
              <a:uFillTx/>
              <a:latin typeface="Arial"/>
            </a:endParaRPr>
          </a:p>
        </p:txBody>
      </p:sp>
      <p:sp>
        <p:nvSpPr>
          <p:cNvPr id="379" name="Text 17"/>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380" name="Text 18"/>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17</a:t>
            </a:r>
            <a:endParaRPr lang="en-US" sz="85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81"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2"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383"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2.3.2 Known Is Not the Same as Observable</a:t>
            </a:r>
            <a:endParaRPr lang="en-US" sz="2300" b="0" u="none" strike="noStrike">
              <a:solidFill>
                <a:srgbClr val="000000"/>
              </a:solidFill>
              <a:effectLst/>
              <a:uFillTx/>
              <a:latin typeface="Arial"/>
            </a:endParaRPr>
          </a:p>
        </p:txBody>
      </p:sp>
      <p:sp>
        <p:nvSpPr>
          <p:cNvPr id="384"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385" name="Text 5"/>
          <p:cNvSpPr/>
          <p:nvPr/>
        </p:nvSpPr>
        <p:spPr>
          <a:xfrm>
            <a:off x="2468880" y="1115640"/>
            <a:ext cx="4297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0B2B5C"/>
                </a:solidFill>
                <a:effectLst/>
                <a:uFillTx/>
                <a:latin typeface="Aptos"/>
                <a:ea typeface="Aptos"/>
              </a:rPr>
              <a:t>Fully observable</a:t>
            </a:r>
            <a:endParaRPr lang="en-US" sz="1500" b="0" u="none" strike="noStrike">
              <a:solidFill>
                <a:srgbClr val="000000"/>
              </a:solidFill>
              <a:effectLst/>
              <a:uFillTx/>
              <a:latin typeface="Arial"/>
            </a:endParaRPr>
          </a:p>
        </p:txBody>
      </p:sp>
      <p:sp>
        <p:nvSpPr>
          <p:cNvPr id="386" name="Text 6"/>
          <p:cNvSpPr/>
          <p:nvPr/>
        </p:nvSpPr>
        <p:spPr>
          <a:xfrm>
            <a:off x="6903720" y="1115640"/>
            <a:ext cx="4297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0B2B5C"/>
                </a:solidFill>
                <a:effectLst/>
                <a:uFillTx/>
                <a:latin typeface="Aptos"/>
                <a:ea typeface="Aptos"/>
              </a:rPr>
              <a:t>Partially observable</a:t>
            </a:r>
            <a:endParaRPr lang="en-US" sz="1500" b="0" u="none" strike="noStrike">
              <a:solidFill>
                <a:srgbClr val="000000"/>
              </a:solidFill>
              <a:effectLst/>
              <a:uFillTx/>
              <a:latin typeface="Arial"/>
            </a:endParaRPr>
          </a:p>
        </p:txBody>
      </p:sp>
      <p:sp>
        <p:nvSpPr>
          <p:cNvPr id="387" name="Shape 7"/>
          <p:cNvSpPr/>
          <p:nvPr/>
        </p:nvSpPr>
        <p:spPr>
          <a:xfrm>
            <a:off x="2468880" y="14814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8" name="Text 8"/>
          <p:cNvSpPr/>
          <p:nvPr/>
        </p:nvSpPr>
        <p:spPr>
          <a:xfrm>
            <a:off x="2651760" y="16275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ea typeface="Aptos"/>
              </a:rPr>
              <a:t>Chess</a:t>
            </a:r>
            <a:endParaRPr lang="en-US" sz="1700" b="0" u="none" strike="noStrike">
              <a:solidFill>
                <a:srgbClr val="000000"/>
              </a:solidFill>
              <a:effectLst/>
              <a:uFillTx/>
              <a:latin typeface="Arial"/>
            </a:endParaRPr>
          </a:p>
        </p:txBody>
      </p:sp>
      <p:sp>
        <p:nvSpPr>
          <p:cNvPr id="389" name="Text 9"/>
          <p:cNvSpPr/>
          <p:nvPr/>
        </p:nvSpPr>
        <p:spPr>
          <a:xfrm>
            <a:off x="2651760" y="20116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The rules are given and the whole board is in front of you.</a:t>
            </a:r>
            <a:endParaRPr lang="en-US" sz="1300" b="0" u="none" strike="noStrike">
              <a:solidFill>
                <a:srgbClr val="000000"/>
              </a:solidFill>
              <a:effectLst/>
              <a:uFillTx/>
              <a:latin typeface="Arial"/>
            </a:endParaRPr>
          </a:p>
        </p:txBody>
      </p:sp>
      <p:sp>
        <p:nvSpPr>
          <p:cNvPr id="390" name="Shape 10"/>
          <p:cNvSpPr/>
          <p:nvPr/>
        </p:nvSpPr>
        <p:spPr>
          <a:xfrm>
            <a:off x="6903720" y="14814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1" name="Text 11"/>
          <p:cNvSpPr/>
          <p:nvPr/>
        </p:nvSpPr>
        <p:spPr>
          <a:xfrm>
            <a:off x="7086600" y="16275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ea typeface="Aptos"/>
              </a:rPr>
              <a:t>Solitaire</a:t>
            </a:r>
            <a:endParaRPr lang="en-US" sz="1700" b="0" u="none" strike="noStrike">
              <a:solidFill>
                <a:srgbClr val="000000"/>
              </a:solidFill>
              <a:effectLst/>
              <a:uFillTx/>
              <a:latin typeface="Arial"/>
            </a:endParaRPr>
          </a:p>
        </p:txBody>
      </p:sp>
      <p:sp>
        <p:nvSpPr>
          <p:cNvPr id="392" name="Text 12"/>
          <p:cNvSpPr/>
          <p:nvPr/>
        </p:nvSpPr>
        <p:spPr>
          <a:xfrm>
            <a:off x="7086600" y="20116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You know the rules perfectly, but you cannot see the cards that have not been turned over.</a:t>
            </a:r>
            <a:endParaRPr lang="en-US" sz="1300" b="0" u="none" strike="noStrike">
              <a:solidFill>
                <a:srgbClr val="000000"/>
              </a:solidFill>
              <a:effectLst/>
              <a:uFillTx/>
              <a:latin typeface="Arial"/>
            </a:endParaRPr>
          </a:p>
        </p:txBody>
      </p:sp>
      <p:sp>
        <p:nvSpPr>
          <p:cNvPr id="393" name="Shape 13"/>
          <p:cNvSpPr/>
          <p:nvPr/>
        </p:nvSpPr>
        <p:spPr>
          <a:xfrm>
            <a:off x="2468880" y="33102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4" name="Text 14"/>
          <p:cNvSpPr/>
          <p:nvPr/>
        </p:nvSpPr>
        <p:spPr>
          <a:xfrm>
            <a:off x="2651760" y="34563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ea typeface="Aptos"/>
              </a:rPr>
              <a:t>A new video game</a:t>
            </a:r>
            <a:endParaRPr lang="en-US" sz="1700" b="0" u="none" strike="noStrike">
              <a:solidFill>
                <a:srgbClr val="000000"/>
              </a:solidFill>
              <a:effectLst/>
              <a:uFillTx/>
              <a:latin typeface="Arial"/>
            </a:endParaRPr>
          </a:p>
        </p:txBody>
      </p:sp>
      <p:sp>
        <p:nvSpPr>
          <p:cNvPr id="395" name="Text 15"/>
          <p:cNvSpPr/>
          <p:nvPr/>
        </p:nvSpPr>
        <p:spPr>
          <a:xfrm>
            <a:off x="2651760" y="38404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The screen shows the entire game state, and you still have no idea what the buttons do until you press them.</a:t>
            </a:r>
            <a:endParaRPr lang="en-US" sz="1300" b="0" u="none" strike="noStrike">
              <a:solidFill>
                <a:srgbClr val="000000"/>
              </a:solidFill>
              <a:effectLst/>
              <a:uFillTx/>
              <a:latin typeface="Arial"/>
            </a:endParaRPr>
          </a:p>
        </p:txBody>
      </p:sp>
      <p:sp>
        <p:nvSpPr>
          <p:cNvPr id="396" name="Shape 16"/>
          <p:cNvSpPr/>
          <p:nvPr/>
        </p:nvSpPr>
        <p:spPr>
          <a:xfrm>
            <a:off x="6903720" y="33102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7" name="Text 17"/>
          <p:cNvSpPr/>
          <p:nvPr/>
        </p:nvSpPr>
        <p:spPr>
          <a:xfrm>
            <a:off x="7086600" y="34563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ea typeface="Aptos"/>
              </a:rPr>
              <a:t>A rental car abroad</a:t>
            </a:r>
            <a:endParaRPr lang="en-US" sz="1700" b="0" u="none" strike="noStrike">
              <a:solidFill>
                <a:srgbClr val="000000"/>
              </a:solidFill>
              <a:effectLst/>
              <a:uFillTx/>
              <a:latin typeface="Arial"/>
            </a:endParaRPr>
          </a:p>
        </p:txBody>
      </p:sp>
      <p:sp>
        <p:nvSpPr>
          <p:cNvPr id="398" name="Text 18"/>
          <p:cNvSpPr/>
          <p:nvPr/>
        </p:nvSpPr>
        <p:spPr>
          <a:xfrm>
            <a:off x="7086600" y="38404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Unfamiliar geography, different traffic laws, other drivers whose intentions you cannot see, and nervous passengers.</a:t>
            </a:r>
            <a:endParaRPr lang="en-US" sz="1300" b="0" u="none" strike="noStrike">
              <a:solidFill>
                <a:srgbClr val="000000"/>
              </a:solidFill>
              <a:effectLst/>
              <a:uFillTx/>
              <a:latin typeface="Arial"/>
            </a:endParaRPr>
          </a:p>
        </p:txBody>
      </p:sp>
      <p:sp>
        <p:nvSpPr>
          <p:cNvPr id="399" name="Shape 19"/>
          <p:cNvSpPr/>
          <p:nvPr/>
        </p:nvSpPr>
        <p:spPr>
          <a:xfrm>
            <a:off x="868680" y="1481400"/>
            <a:ext cx="1416960" cy="1691280"/>
          </a:xfrm>
          <a:prstGeom prst="roundRect">
            <a:avLst>
              <a:gd name="adj" fmla="val 4444"/>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0" name="Text 20"/>
          <p:cNvSpPr/>
          <p:nvPr/>
        </p:nvSpPr>
        <p:spPr>
          <a:xfrm>
            <a:off x="868680" y="1481400"/>
            <a:ext cx="14169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Known</a:t>
            </a:r>
            <a:endParaRPr lang="en-US" sz="1600" b="0" u="none" strike="noStrike">
              <a:solidFill>
                <a:srgbClr val="000000"/>
              </a:solidFill>
              <a:effectLst/>
              <a:uFillTx/>
              <a:latin typeface="Arial"/>
            </a:endParaRPr>
          </a:p>
        </p:txBody>
      </p:sp>
      <p:sp>
        <p:nvSpPr>
          <p:cNvPr id="401" name="Shape 21"/>
          <p:cNvSpPr/>
          <p:nvPr/>
        </p:nvSpPr>
        <p:spPr>
          <a:xfrm>
            <a:off x="868680" y="3310200"/>
            <a:ext cx="1416960" cy="1691280"/>
          </a:xfrm>
          <a:prstGeom prst="roundRect">
            <a:avLst>
              <a:gd name="adj" fmla="val 4444"/>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2" name="Text 22"/>
          <p:cNvSpPr/>
          <p:nvPr/>
        </p:nvSpPr>
        <p:spPr>
          <a:xfrm>
            <a:off x="868680" y="3310200"/>
            <a:ext cx="14169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Unknown</a:t>
            </a:r>
            <a:endParaRPr lang="en-US" sz="1600" b="0" u="none" strike="noStrike">
              <a:solidFill>
                <a:srgbClr val="000000"/>
              </a:solidFill>
              <a:effectLst/>
              <a:uFillTx/>
              <a:latin typeface="Arial"/>
            </a:endParaRPr>
          </a:p>
        </p:txBody>
      </p:sp>
      <p:sp>
        <p:nvSpPr>
          <p:cNvPr id="403" name="Text 23"/>
          <p:cNvSpPr/>
          <p:nvPr/>
        </p:nvSpPr>
        <p:spPr>
          <a:xfrm>
            <a:off x="914400" y="52304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Known/unknown describes the designer's grip on the rules, not the sensors</a:t>
            </a:r>
            <a:endParaRPr lang="en-US" sz="1900" b="0" u="none" strike="noStrike">
              <a:solidFill>
                <a:srgbClr val="000000"/>
              </a:solidFill>
              <a:effectLst/>
              <a:uFillTx/>
              <a:latin typeface="Arial"/>
            </a:endParaRPr>
          </a:p>
        </p:txBody>
      </p:sp>
      <p:sp>
        <p:nvSpPr>
          <p:cNvPr id="404" name="Text 24"/>
          <p:cNvSpPr/>
          <p:nvPr/>
        </p:nvSpPr>
        <p:spPr>
          <a:xfrm>
            <a:off x="1005840" y="5687640"/>
            <a:ext cx="10149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In an unknown environment the agent has to learn how the world works before it can decide well. And as we saw, the performance measure itself can be unknown — which quietly turns the task into a multiagent one, with the user as the other agent.</a:t>
            </a:r>
            <a:endParaRPr lang="en-US" sz="1400" b="0" u="none" strike="noStrike">
              <a:solidFill>
                <a:srgbClr val="000000"/>
              </a:solidFill>
              <a:effectLst/>
              <a:uFillTx/>
              <a:latin typeface="Arial"/>
            </a:endParaRPr>
          </a:p>
        </p:txBody>
      </p:sp>
      <p:sp>
        <p:nvSpPr>
          <p:cNvPr id="405" name="Text 25"/>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406" name="Text 26"/>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18</a:t>
            </a:r>
            <a:endParaRPr lang="en-US" sz="85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407"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8"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409"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Pac-Man as a Chapter 2 Agent</a:t>
            </a:r>
            <a:endParaRPr lang="en-US" sz="2300" b="0" u="none" strike="noStrike">
              <a:solidFill>
                <a:srgbClr val="000000"/>
              </a:solidFill>
              <a:effectLst/>
              <a:uFillTx/>
              <a:latin typeface="Arial"/>
            </a:endParaRPr>
          </a:p>
        </p:txBody>
      </p:sp>
      <p:sp>
        <p:nvSpPr>
          <p:cNvPr id="410"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Example</a:t>
            </a:r>
            <a:endParaRPr lang="en-US" sz="1200" b="0" u="none" strike="noStrike">
              <a:solidFill>
                <a:srgbClr val="000000"/>
              </a:solidFill>
              <a:effectLst/>
              <a:uFillTx/>
              <a:latin typeface="Arial"/>
            </a:endParaRPr>
          </a:p>
        </p:txBody>
      </p:sp>
      <p:sp>
        <p:nvSpPr>
          <p:cNvPr id="411"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12"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19</a:t>
            </a:r>
            <a:endParaRPr lang="en-US" sz="1800" b="0" u="none" strike="noStrike">
              <a:solidFill>
                <a:srgbClr val="000000"/>
              </a:solidFill>
              <a:effectLst/>
              <a:uFillTx/>
              <a:latin typeface="Arial"/>
            </a:endParaRPr>
          </a:p>
        </p:txBody>
      </p:sp>
      <p:sp>
        <p:nvSpPr>
          <p:cNvPr id="413" name="Shape 36"/>
          <p:cNvSpPr/>
          <p:nvPr/>
        </p:nvSpPr>
        <p:spPr>
          <a:xfrm>
            <a:off x="6446520" y="123444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4" name="Text 37"/>
          <p:cNvSpPr/>
          <p:nvPr/>
        </p:nvSpPr>
        <p:spPr>
          <a:xfrm>
            <a:off x="6611040" y="138060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Sensors / percepts</a:t>
            </a:r>
            <a:endParaRPr lang="en-US" sz="1500" b="0" u="none" strike="noStrike">
              <a:solidFill>
                <a:srgbClr val="000000"/>
              </a:solidFill>
              <a:effectLst/>
              <a:uFillTx/>
              <a:latin typeface="Arial"/>
            </a:endParaRPr>
          </a:p>
        </p:txBody>
      </p:sp>
      <p:sp>
        <p:nvSpPr>
          <p:cNvPr id="415" name="Text 38"/>
          <p:cNvSpPr/>
          <p:nvPr/>
        </p:nvSpPr>
        <p:spPr>
          <a:xfrm>
            <a:off x="6611040" y="17100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a:solidFill>
                  <a:srgbClr val="0B1F3A"/>
                </a:solidFill>
                <a:effectLst/>
                <a:uFillTx/>
                <a:latin typeface="Aptos"/>
              </a:rPr>
              <a:t>Walls, pellets, ghost positions, legal moves, power-pellet status.</a:t>
            </a:r>
            <a:endParaRPr lang="en-US" sz="1200" b="0" u="none" strike="noStrike">
              <a:solidFill>
                <a:srgbClr val="000000"/>
              </a:solidFill>
              <a:effectLst/>
              <a:uFillTx/>
              <a:latin typeface="Arial"/>
            </a:endParaRPr>
          </a:p>
        </p:txBody>
      </p:sp>
      <p:sp>
        <p:nvSpPr>
          <p:cNvPr id="416" name="Shape 39"/>
          <p:cNvSpPr/>
          <p:nvPr/>
        </p:nvSpPr>
        <p:spPr>
          <a:xfrm>
            <a:off x="6446520" y="226764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7" name="Text 40"/>
          <p:cNvSpPr/>
          <p:nvPr/>
        </p:nvSpPr>
        <p:spPr>
          <a:xfrm>
            <a:off x="6611040" y="241416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Actions / actuators</a:t>
            </a:r>
            <a:endParaRPr lang="en-US" sz="1500" b="0" u="none" strike="noStrike">
              <a:solidFill>
                <a:srgbClr val="000000"/>
              </a:solidFill>
              <a:effectLst/>
              <a:uFillTx/>
              <a:latin typeface="Arial"/>
            </a:endParaRPr>
          </a:p>
        </p:txBody>
      </p:sp>
      <p:sp>
        <p:nvSpPr>
          <p:cNvPr id="418" name="Text 41"/>
          <p:cNvSpPr/>
          <p:nvPr/>
        </p:nvSpPr>
        <p:spPr>
          <a:xfrm>
            <a:off x="6611040" y="27432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a:solidFill>
                  <a:srgbClr val="0B1F3A"/>
                </a:solidFill>
                <a:effectLst/>
                <a:uFillTx/>
                <a:latin typeface="Aptos"/>
              </a:rPr>
              <a:t>Move left, right, up, or down. Action changes the maze state.</a:t>
            </a:r>
            <a:endParaRPr lang="en-US" sz="1200" b="0" u="none" strike="noStrike">
              <a:solidFill>
                <a:srgbClr val="000000"/>
              </a:solidFill>
              <a:effectLst/>
              <a:uFillTx/>
              <a:latin typeface="Arial"/>
            </a:endParaRPr>
          </a:p>
        </p:txBody>
      </p:sp>
      <p:sp>
        <p:nvSpPr>
          <p:cNvPr id="419" name="Shape 42"/>
          <p:cNvSpPr/>
          <p:nvPr/>
        </p:nvSpPr>
        <p:spPr>
          <a:xfrm>
            <a:off x="6446520" y="330084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0" name="Text 43"/>
          <p:cNvSpPr/>
          <p:nvPr/>
        </p:nvSpPr>
        <p:spPr>
          <a:xfrm>
            <a:off x="6611040" y="344736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Performance</a:t>
            </a:r>
            <a:endParaRPr lang="en-US" sz="1500" b="0" u="none" strike="noStrike">
              <a:solidFill>
                <a:srgbClr val="000000"/>
              </a:solidFill>
              <a:effectLst/>
              <a:uFillTx/>
              <a:latin typeface="Arial"/>
            </a:endParaRPr>
          </a:p>
        </p:txBody>
      </p:sp>
      <p:sp>
        <p:nvSpPr>
          <p:cNvPr id="421" name="Text 44"/>
          <p:cNvSpPr/>
          <p:nvPr/>
        </p:nvSpPr>
        <p:spPr>
          <a:xfrm>
            <a:off x="6611040" y="37764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a:bodyPr>
          <a:lstStyle/>
          <a:p>
            <a:pPr defTabSz="914400">
              <a:lnSpc>
                <a:spcPct val="100000"/>
              </a:lnSpc>
              <a:tabLst>
                <a:tab pos="0" algn="l"/>
              </a:tabLst>
            </a:pPr>
            <a:r>
              <a:rPr lang="en-US" sz="1200" b="0" u="none" strike="noStrike">
                <a:solidFill>
                  <a:srgbClr val="0B1F3A"/>
                </a:solidFill>
                <a:effectLst/>
                <a:uFillTx/>
                <a:latin typeface="Aptos"/>
              </a:rPr>
              <a:t>Maximize score; eat pellets; avoid ghosts; use power pellets safely.</a:t>
            </a:r>
            <a:endParaRPr lang="en-US" sz="1200" b="0" u="none" strike="noStrike">
              <a:solidFill>
                <a:srgbClr val="000000"/>
              </a:solidFill>
              <a:effectLst/>
              <a:uFillTx/>
              <a:latin typeface="Arial"/>
            </a:endParaRPr>
          </a:p>
        </p:txBody>
      </p:sp>
      <p:sp>
        <p:nvSpPr>
          <p:cNvPr id="422" name="Shape 45"/>
          <p:cNvSpPr/>
          <p:nvPr/>
        </p:nvSpPr>
        <p:spPr>
          <a:xfrm>
            <a:off x="6446520" y="433440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3" name="Text 46"/>
          <p:cNvSpPr/>
          <p:nvPr/>
        </p:nvSpPr>
        <p:spPr>
          <a:xfrm>
            <a:off x="6611040" y="448056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Environment</a:t>
            </a:r>
            <a:endParaRPr lang="en-US" sz="1500" b="0" u="none" strike="noStrike">
              <a:solidFill>
                <a:srgbClr val="000000"/>
              </a:solidFill>
              <a:effectLst/>
              <a:uFillTx/>
              <a:latin typeface="Arial"/>
            </a:endParaRPr>
          </a:p>
        </p:txBody>
      </p:sp>
      <p:sp>
        <p:nvSpPr>
          <p:cNvPr id="424" name="Text 47"/>
          <p:cNvSpPr/>
          <p:nvPr/>
        </p:nvSpPr>
        <p:spPr>
          <a:xfrm>
            <a:off x="6611040" y="48096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19999"/>
          </a:bodyPr>
          <a:lstStyle/>
          <a:p>
            <a:pPr defTabSz="914400">
              <a:lnSpc>
                <a:spcPct val="100000"/>
              </a:lnSpc>
              <a:tabLst>
                <a:tab pos="0" algn="l"/>
              </a:tabLst>
            </a:pPr>
            <a:r>
              <a:rPr lang="en-US" sz="1200" b="0" u="none" strike="noStrike">
                <a:solidFill>
                  <a:srgbClr val="0B1F3A"/>
                </a:solidFill>
                <a:effectLst/>
                <a:uFillTx/>
                <a:latin typeface="Aptos"/>
              </a:rPr>
              <a:t>Sequential, multiagent, discrete, deterministic, known; dynamic in real-time play. Partially observable in richer versions.</a:t>
            </a:r>
            <a:endParaRPr lang="en-US" sz="1200" b="0" u="none" strike="noStrike">
              <a:solidFill>
                <a:srgbClr val="000000"/>
              </a:solidFill>
              <a:effectLst/>
              <a:uFillTx/>
              <a:latin typeface="Arial"/>
            </a:endParaRPr>
          </a:p>
        </p:txBody>
      </p:sp>
      <p:sp>
        <p:nvSpPr>
          <p:cNvPr id="425" name="Text 48"/>
          <p:cNvSpPr/>
          <p:nvPr/>
        </p:nvSpPr>
        <p:spPr>
          <a:xfrm>
            <a:off x="777240" y="5833800"/>
            <a:ext cx="1078884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rPr>
              <a:t>In the class demo, the autonomous Pac-Man game implements this loop in code.</a:t>
            </a:r>
            <a:endParaRPr lang="en-US" sz="1700" b="0" u="none" strike="noStrike">
              <a:solidFill>
                <a:srgbClr val="000000"/>
              </a:solidFill>
              <a:effectLst/>
              <a:uFillTx/>
              <a:latin typeface="Arial"/>
            </a:endParaRPr>
          </a:p>
        </p:txBody>
      </p:sp>
      <p:pic>
        <p:nvPicPr>
          <p:cNvPr id="426" name="Picture 2"/>
          <p:cNvPicPr/>
          <p:nvPr/>
        </p:nvPicPr>
        <p:blipFill>
          <a:blip r:embed="rId3"/>
          <a:stretch/>
        </p:blipFill>
        <p:spPr>
          <a:xfrm>
            <a:off x="896400" y="1530000"/>
            <a:ext cx="4848480" cy="2638440"/>
          </a:xfrm>
          <a:prstGeom prst="rect">
            <a:avLst/>
          </a:prstGeom>
          <a:noFill/>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52000"/>
          </a:schemeClr>
        </a:solidFill>
        <a:effectLst/>
      </p:bgPr>
    </p:bg>
    <p:spTree>
      <p:nvGrpSpPr>
        <p:cNvPr id="1" name=""/>
        <p:cNvGrpSpPr/>
        <p:nvPr/>
      </p:nvGrpSpPr>
      <p:grpSpPr>
        <a:xfrm>
          <a:off x="0" y="0"/>
          <a:ext cx="0" cy="0"/>
          <a:chOff x="0" y="0"/>
          <a:chExt cx="0" cy="0"/>
        </a:xfrm>
      </p:grpSpPr>
      <p:pic>
        <p:nvPicPr>
          <p:cNvPr id="427" name="Picture 426">
            <a:hlinkClick r:id="" action="ppaction://media"/>
          </p:cNvPr>
          <p:cNvPicPr/>
          <p:nvPr>
            <a:videoFile r:link="rId2"/>
            <p:extLst>
              <p:ext uri="{DAA4B4D4-6D71-4841-9C94-3DE7FCFB9230}">
                <p14:media xmlns:p14="http://schemas.microsoft.com/office/powerpoint/2010/main" r:embed="rId1"/>
              </p:ext>
            </p:extLst>
          </p:nvPr>
        </p:nvPicPr>
        <p:blipFill>
          <a:blip r:embed="rId5"/>
          <a:stretch>
            <a:fillRect/>
          </a:stretch>
        </p:blipFill>
        <p:spPr>
          <a:xfrm>
            <a:off x="2809800" y="1200240"/>
            <a:ext cx="6571800" cy="4781160"/>
          </a:xfrm>
          <a:prstGeom prst="rect">
            <a:avLst/>
          </a:prstGeom>
          <a:ln w="0">
            <a:noFill/>
          </a:ln>
        </p:spPr>
      </p:pic>
      <p:sp>
        <p:nvSpPr>
          <p:cNvPr id="2" name="TextBox 1">
            <a:extLst>
              <a:ext uri="{FF2B5EF4-FFF2-40B4-BE49-F238E27FC236}">
                <a16:creationId xmlns:a16="http://schemas.microsoft.com/office/drawing/2014/main" id="{88F27CBB-7B8C-ABCD-0D5C-04287250BD95}"/>
              </a:ext>
            </a:extLst>
          </p:cNvPr>
          <p:cNvSpPr txBox="1"/>
          <p:nvPr/>
        </p:nvSpPr>
        <p:spPr>
          <a:xfrm>
            <a:off x="3491345" y="467591"/>
            <a:ext cx="4557658" cy="369332"/>
          </a:xfrm>
          <a:prstGeom prst="rect">
            <a:avLst/>
          </a:prstGeom>
          <a:noFill/>
        </p:spPr>
        <p:txBody>
          <a:bodyPr wrap="none" rtlCol="0">
            <a:spAutoFit/>
          </a:bodyPr>
          <a:lstStyle/>
          <a:p>
            <a:r>
              <a:rPr lang="en-US" b="1" dirty="0">
                <a:solidFill>
                  <a:srgbClr val="1F4E79"/>
                </a:solidFill>
                <a:latin typeface="Arial"/>
              </a:rPr>
              <a:t>Pac-Man Simple Reflex Demo — Level 1</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mediacall" fill="hold" nodeType="clickEffect">
                                  <p:stCondLst>
                                    <p:cond delay="0"/>
                                  </p:stCondLst>
                                  <p:childTnLst>
                                    <p:cmd type="call" cmd="playFrom(0.0)">
                                      <p:cBhvr>
                                        <p:cTn id="6" dur="23383" fill="hold"/>
                                        <p:tgtEl>
                                          <p:spTgt spid="42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p:stCondLst>
                    <p:cond delay="indefinite"/>
                  </p:stCondLst>
                </p:cTn>
                <p:tgtEl>
                  <p:spTgt spid="427"/>
                </p:tgtEl>
              </p:cMediaNode>
            </p:video>
            <p:seq>
              <p:cTn id="8" restart="whenNotActive" fill="hold" nodeType="interactiveSeq">
                <p:stCondLst>
                  <p:cond evt="onClick" delay="0">
                    <p:tgtEl>
                      <p:spTgt spid="427"/>
                    </p:tgtEl>
                  </p:cond>
                </p:stCondLst>
                <p:childTnLst>
                  <p:par>
                    <p:cTn id="9" fill="hold">
                      <p:stCondLst>
                        <p:cond evt="onClick" delay="0">
                          <p:tgtEl>
                            <p:spTgt spid="427"/>
                          </p:tgtEl>
                        </p:cond>
                      </p:stCondLst>
                      <p:childTnLst>
                        <p:par>
                          <p:cTn id="10" fill="hold">
                            <p:stCondLst>
                              <p:cond delay="0"/>
                            </p:stCondLst>
                            <p:childTnLst>
                              <p:par>
                                <p:cTn id="11" presetID="0" presetClass="mediacall" fill="hold" nodeType="clickEffect">
                                  <p:stCondLst>
                                    <p:cond delay="0"/>
                                  </p:stCondLst>
                                  <p:childTnLst>
                                    <p:cmd type="call" cmd="play">
                                      <p:cBhvr>
                                        <p:cTn id="12" dur="1" fill="hold">
                                          <p:stCondLst>
                                            <p:cond delay="0"/>
                                          </p:stCondLst>
                                        </p:cTn>
                                        <p:tgtEl>
                                          <p:spTgt spid="4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52000"/>
          </a:schemeClr>
        </a:solidFill>
        <a:effectLst/>
      </p:bgPr>
    </p:bg>
    <p:spTree>
      <p:nvGrpSpPr>
        <p:cNvPr id="1" name=""/>
        <p:cNvGrpSpPr/>
        <p:nvPr/>
      </p:nvGrpSpPr>
      <p:grpSpPr>
        <a:xfrm>
          <a:off x="0" y="0"/>
          <a:ext cx="0" cy="0"/>
          <a:chOff x="0" y="0"/>
          <a:chExt cx="0" cy="0"/>
        </a:xfrm>
      </p:grpSpPr>
      <p:pic>
        <p:nvPicPr>
          <p:cNvPr id="428" name="Picture 427">
            <a:hlinkClick r:id="" action="ppaction://media"/>
          </p:cNvPr>
          <p:cNvPicPr/>
          <p:nvPr>
            <a:videoFile r:link="rId2"/>
            <p:extLst>
              <p:ext uri="{DAA4B4D4-6D71-4841-9C94-3DE7FCFB9230}">
                <p14:media xmlns:p14="http://schemas.microsoft.com/office/powerpoint/2010/main" r:embed="rId1"/>
              </p:ext>
            </p:extLst>
          </p:nvPr>
        </p:nvPicPr>
        <p:blipFill>
          <a:blip r:embed="rId5"/>
          <a:stretch>
            <a:fillRect/>
          </a:stretch>
        </p:blipFill>
        <p:spPr>
          <a:xfrm>
            <a:off x="2764020" y="794700"/>
            <a:ext cx="6663960" cy="5268600"/>
          </a:xfrm>
          <a:prstGeom prst="rect">
            <a:avLst/>
          </a:prstGeom>
          <a:ln w="0">
            <a:noFill/>
          </a:ln>
        </p:spPr>
      </p:pic>
      <p:sp>
        <p:nvSpPr>
          <p:cNvPr id="2" name="TextBox 1">
            <a:extLst>
              <a:ext uri="{FF2B5EF4-FFF2-40B4-BE49-F238E27FC236}">
                <a16:creationId xmlns:a16="http://schemas.microsoft.com/office/drawing/2014/main" id="{E2507337-DBA7-5DF1-09ED-C7AE71272480}"/>
              </a:ext>
            </a:extLst>
          </p:cNvPr>
          <p:cNvSpPr txBox="1"/>
          <p:nvPr/>
        </p:nvSpPr>
        <p:spPr>
          <a:xfrm>
            <a:off x="3817171" y="228600"/>
            <a:ext cx="4557658" cy="369332"/>
          </a:xfrm>
          <a:prstGeom prst="rect">
            <a:avLst/>
          </a:prstGeom>
          <a:noFill/>
        </p:spPr>
        <p:txBody>
          <a:bodyPr wrap="none" rtlCol="0">
            <a:spAutoFit/>
          </a:bodyPr>
          <a:lstStyle/>
          <a:p>
            <a:r>
              <a:rPr lang="en-US" b="1" dirty="0">
                <a:solidFill>
                  <a:srgbClr val="1F4E79"/>
                </a:solidFill>
                <a:latin typeface="Arial"/>
              </a:rPr>
              <a:t>Pac-Man Simple Reflex Demo — Level 2</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mediacall" fill="hold" nodeType="clickEffect">
                                  <p:stCondLst>
                                    <p:cond delay="0"/>
                                  </p:stCondLst>
                                  <p:childTnLst>
                                    <p:cmd type="call" cmd="playFrom(0.0)">
                                      <p:cBhvr>
                                        <p:cTn id="6" dur="50133" fill="hold"/>
                                        <p:tgtEl>
                                          <p:spTgt spid="4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p:stCondLst>
                    <p:cond delay="indefinite"/>
                  </p:stCondLst>
                </p:cTn>
                <p:tgtEl>
                  <p:spTgt spid="428"/>
                </p:tgtEl>
              </p:cMediaNode>
            </p:video>
            <p:seq>
              <p:cTn id="8" restart="whenNotActive" fill="hold" nodeType="interactiveSeq">
                <p:stCondLst>
                  <p:cond evt="onClick" delay="0">
                    <p:tgtEl>
                      <p:spTgt spid="428"/>
                    </p:tgtEl>
                  </p:cond>
                </p:stCondLst>
                <p:childTnLst>
                  <p:par>
                    <p:cTn id="9" fill="hold">
                      <p:stCondLst>
                        <p:cond evt="onClick" delay="0">
                          <p:tgtEl>
                            <p:spTgt spid="428"/>
                          </p:tgtEl>
                        </p:cond>
                      </p:stCondLst>
                      <p:childTnLst>
                        <p:par>
                          <p:cTn id="10" fill="hold">
                            <p:stCondLst>
                              <p:cond delay="0"/>
                            </p:stCondLst>
                            <p:childTnLst>
                              <p:par>
                                <p:cTn id="11" presetClass="mediacall" fill="hold" nodeType="clickEffect">
                                  <p:stCondLst>
                                    <p:cond delay="0"/>
                                  </p:stCondLst>
                                  <p:childTnLst>
                                    <p:cmd type="call" cmd="togglePause">
                                      <p:cBhvr>
                                        <p:cTn id="12" dur="1" fill="hold"/>
                                        <p:tgtEl>
                                          <p:spTgt spid="4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Shape 0"/>
          <p:cNvSpPr/>
          <p:nvPr/>
        </p:nvSpPr>
        <p:spPr>
          <a:xfrm>
            <a:off x="0" y="0"/>
            <a:ext cx="12191400" cy="6857640"/>
          </a:xfrm>
          <a:prstGeom prst="rect">
            <a:avLst/>
          </a:prstGeom>
          <a:solidFill>
            <a:srgbClr val="F7F9FC"/>
          </a:solidFill>
          <a:ln w="12700">
            <a:solidFill>
              <a:srgbClr val="F7F9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0" name="Shape 1"/>
          <p:cNvSpPr/>
          <p:nvPr/>
        </p:nvSpPr>
        <p:spPr>
          <a:xfrm>
            <a:off x="502920" y="384120"/>
            <a:ext cx="959760" cy="6372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chemeClr val="dk1"/>
              </a:solidFill>
              <a:effectLst/>
              <a:uFillTx/>
              <a:latin typeface="Aptos"/>
            </a:endParaRPr>
          </a:p>
        </p:txBody>
      </p:sp>
      <p:sp>
        <p:nvSpPr>
          <p:cNvPr id="431" name="Text 2"/>
          <p:cNvSpPr/>
          <p:nvPr/>
        </p:nvSpPr>
        <p:spPr>
          <a:xfrm>
            <a:off x="502920" y="567000"/>
            <a:ext cx="10606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32033"/>
                </a:solidFill>
                <a:effectLst/>
                <a:uFillTx/>
                <a:latin typeface="Aptos Display"/>
                <a:ea typeface="Aptos Display"/>
              </a:rPr>
              <a:t>What breaks in Levels 1 and 2</a:t>
            </a:r>
            <a:endParaRPr lang="en-US" sz="2800" b="0" u="none" strike="noStrike">
              <a:solidFill>
                <a:srgbClr val="000000"/>
              </a:solidFill>
              <a:effectLst/>
              <a:uFillTx/>
              <a:latin typeface="Arial"/>
            </a:endParaRPr>
          </a:p>
        </p:txBody>
      </p:sp>
      <p:sp>
        <p:nvSpPr>
          <p:cNvPr id="432" name="Text 3"/>
          <p:cNvSpPr/>
          <p:nvPr/>
        </p:nvSpPr>
        <p:spPr>
          <a:xfrm>
            <a:off x="511920" y="1078920"/>
            <a:ext cx="960084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5B6B7B"/>
                </a:solidFill>
                <a:effectLst/>
                <a:uFillTx/>
                <a:latin typeface="Aptos"/>
                <a:ea typeface="Aptos"/>
              </a:rPr>
              <a:t>The agent sees adjacent percepts only; it does not build a route to remaining food.</a:t>
            </a:r>
            <a:endParaRPr lang="en-US" sz="1250" b="0" u="none" strike="noStrike">
              <a:solidFill>
                <a:srgbClr val="000000"/>
              </a:solidFill>
              <a:effectLst/>
              <a:uFillTx/>
              <a:latin typeface="Arial"/>
            </a:endParaRPr>
          </a:p>
        </p:txBody>
      </p:sp>
      <p:sp>
        <p:nvSpPr>
          <p:cNvPr id="433" name="Text 4"/>
          <p:cNvSpPr/>
          <p:nvPr/>
        </p:nvSpPr>
        <p:spPr>
          <a:xfrm>
            <a:off x="658440" y="1490400"/>
            <a:ext cx="2880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50" b="1" u="none" strike="noStrike">
                <a:solidFill>
                  <a:srgbClr val="132033"/>
                </a:solidFill>
                <a:effectLst/>
                <a:uFillTx/>
                <a:latin typeface="Aptos"/>
              </a:rPr>
              <a:t>Level 1: simple corridor plus hidden lower route</a:t>
            </a:r>
            <a:endParaRPr lang="en-US" sz="1050" b="0" u="none" strike="noStrike">
              <a:solidFill>
                <a:srgbClr val="000000"/>
              </a:solidFill>
              <a:effectLst/>
              <a:uFillTx/>
              <a:latin typeface="Arial"/>
            </a:endParaRPr>
          </a:p>
        </p:txBody>
      </p:sp>
      <p:sp>
        <p:nvSpPr>
          <p:cNvPr id="434" name="Shape 5"/>
          <p:cNvSpPr/>
          <p:nvPr/>
        </p:nvSpPr>
        <p:spPr>
          <a:xfrm>
            <a:off x="594360" y="1664280"/>
            <a:ext cx="2381760" cy="772200"/>
          </a:xfrm>
          <a:prstGeom prst="roundRect">
            <a:avLst>
              <a:gd name="adj" fmla="val 4734"/>
            </a:avLst>
          </a:prstGeom>
          <a:solidFill>
            <a:srgbClr val="FFFFFF"/>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5" name="Shape 6"/>
          <p:cNvSpPr/>
          <p:nvPr/>
        </p:nvSpPr>
        <p:spPr>
          <a:xfrm>
            <a:off x="6584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6" name="Shape 7"/>
          <p:cNvSpPr/>
          <p:nvPr/>
        </p:nvSpPr>
        <p:spPr>
          <a:xfrm>
            <a:off x="7909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7" name="Shape 8"/>
          <p:cNvSpPr/>
          <p:nvPr/>
        </p:nvSpPr>
        <p:spPr>
          <a:xfrm>
            <a:off x="9234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8" name="Shape 9"/>
          <p:cNvSpPr/>
          <p:nvPr/>
        </p:nvSpPr>
        <p:spPr>
          <a:xfrm>
            <a:off x="10562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9" name="Shape 10"/>
          <p:cNvSpPr/>
          <p:nvPr/>
        </p:nvSpPr>
        <p:spPr>
          <a:xfrm>
            <a:off x="11887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0" name="Shape 11"/>
          <p:cNvSpPr/>
          <p:nvPr/>
        </p:nvSpPr>
        <p:spPr>
          <a:xfrm>
            <a:off x="13212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1" name="Shape 12"/>
          <p:cNvSpPr/>
          <p:nvPr/>
        </p:nvSpPr>
        <p:spPr>
          <a:xfrm>
            <a:off x="14540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2" name="Shape 13"/>
          <p:cNvSpPr/>
          <p:nvPr/>
        </p:nvSpPr>
        <p:spPr>
          <a:xfrm>
            <a:off x="15865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3" name="Shape 14"/>
          <p:cNvSpPr/>
          <p:nvPr/>
        </p:nvSpPr>
        <p:spPr>
          <a:xfrm>
            <a:off x="17190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4" name="Shape 15"/>
          <p:cNvSpPr/>
          <p:nvPr/>
        </p:nvSpPr>
        <p:spPr>
          <a:xfrm>
            <a:off x="18518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5" name="Shape 16"/>
          <p:cNvSpPr/>
          <p:nvPr/>
        </p:nvSpPr>
        <p:spPr>
          <a:xfrm>
            <a:off x="19843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6" name="Shape 17"/>
          <p:cNvSpPr/>
          <p:nvPr/>
        </p:nvSpPr>
        <p:spPr>
          <a:xfrm>
            <a:off x="21168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7" name="Shape 18"/>
          <p:cNvSpPr/>
          <p:nvPr/>
        </p:nvSpPr>
        <p:spPr>
          <a:xfrm>
            <a:off x="224928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8" name="Shape 19"/>
          <p:cNvSpPr/>
          <p:nvPr/>
        </p:nvSpPr>
        <p:spPr>
          <a:xfrm>
            <a:off x="23821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9" name="Shape 20"/>
          <p:cNvSpPr/>
          <p:nvPr/>
        </p:nvSpPr>
        <p:spPr>
          <a:xfrm>
            <a:off x="25146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0" name="Shape 21"/>
          <p:cNvSpPr/>
          <p:nvPr/>
        </p:nvSpPr>
        <p:spPr>
          <a:xfrm>
            <a:off x="264708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1" name="Shape 22"/>
          <p:cNvSpPr/>
          <p:nvPr/>
        </p:nvSpPr>
        <p:spPr>
          <a:xfrm>
            <a:off x="27799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2" name="Shape 23"/>
          <p:cNvSpPr/>
          <p:nvPr/>
        </p:nvSpPr>
        <p:spPr>
          <a:xfrm>
            <a:off x="658440" y="185184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3" name="Shape 24"/>
          <p:cNvSpPr/>
          <p:nvPr/>
        </p:nvSpPr>
        <p:spPr>
          <a:xfrm>
            <a:off x="7909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4" name="Shape 25"/>
          <p:cNvSpPr/>
          <p:nvPr/>
        </p:nvSpPr>
        <p:spPr>
          <a:xfrm>
            <a:off x="804240" y="1864800"/>
            <a:ext cx="102960" cy="102960"/>
          </a:xfrm>
          <a:prstGeom prst="ellipse">
            <a:avLst/>
          </a:prstGeom>
          <a:solidFill>
            <a:srgbClr val="FACC15"/>
          </a:solidFill>
          <a:ln w="6350">
            <a:solidFill>
              <a:srgbClr val="D97706"/>
            </a:solidFill>
            <a:round/>
          </a:ln>
        </p:spPr>
        <p:style>
          <a:lnRef idx="0">
            <a:scrgbClr r="0" g="0" b="0"/>
          </a:lnRef>
          <a:fillRef idx="0">
            <a:scrgbClr r="0" g="0" b="0"/>
          </a:fillRef>
          <a:effectRef idx="0">
            <a:scrgbClr r="0" g="0" b="0"/>
          </a:effectRef>
          <a:fontRef idx="minor"/>
        </p:style>
        <p:txBody>
          <a:bodyPr lIns="90000" tIns="27720" rIns="90000" bIns="27720" anchor="t">
            <a:noAutofit/>
          </a:bodyPr>
          <a:lstStyle/>
          <a:p>
            <a:endParaRPr lang="en-US" sz="1800" b="0" u="none" strike="noStrike">
              <a:solidFill>
                <a:schemeClr val="dk1"/>
              </a:solidFill>
              <a:effectLst/>
              <a:uFillTx/>
              <a:latin typeface="Aptos"/>
            </a:endParaRPr>
          </a:p>
        </p:txBody>
      </p:sp>
      <p:sp>
        <p:nvSpPr>
          <p:cNvPr id="455" name="Shape 26"/>
          <p:cNvSpPr/>
          <p:nvPr/>
        </p:nvSpPr>
        <p:spPr>
          <a:xfrm>
            <a:off x="9234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6" name="Shape 27"/>
          <p:cNvSpPr/>
          <p:nvPr/>
        </p:nvSpPr>
        <p:spPr>
          <a:xfrm>
            <a:off x="97272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57" name="Shape 28"/>
          <p:cNvSpPr/>
          <p:nvPr/>
        </p:nvSpPr>
        <p:spPr>
          <a:xfrm>
            <a:off x="105624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8" name="Shape 29"/>
          <p:cNvSpPr/>
          <p:nvPr/>
        </p:nvSpPr>
        <p:spPr>
          <a:xfrm>
            <a:off x="11052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59" name="Shape 30"/>
          <p:cNvSpPr/>
          <p:nvPr/>
        </p:nvSpPr>
        <p:spPr>
          <a:xfrm>
            <a:off x="11887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0" name="Shape 31"/>
          <p:cNvSpPr/>
          <p:nvPr/>
        </p:nvSpPr>
        <p:spPr>
          <a:xfrm>
            <a:off x="12376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1" name="Shape 32"/>
          <p:cNvSpPr/>
          <p:nvPr/>
        </p:nvSpPr>
        <p:spPr>
          <a:xfrm>
            <a:off x="13212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2" name="Shape 33"/>
          <p:cNvSpPr/>
          <p:nvPr/>
        </p:nvSpPr>
        <p:spPr>
          <a:xfrm>
            <a:off x="137052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3" name="Shape 34"/>
          <p:cNvSpPr/>
          <p:nvPr/>
        </p:nvSpPr>
        <p:spPr>
          <a:xfrm>
            <a:off x="145404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4" name="Shape 35"/>
          <p:cNvSpPr/>
          <p:nvPr/>
        </p:nvSpPr>
        <p:spPr>
          <a:xfrm>
            <a:off x="15030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5" name="Shape 36"/>
          <p:cNvSpPr/>
          <p:nvPr/>
        </p:nvSpPr>
        <p:spPr>
          <a:xfrm>
            <a:off x="15865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6" name="Shape 37"/>
          <p:cNvSpPr/>
          <p:nvPr/>
        </p:nvSpPr>
        <p:spPr>
          <a:xfrm>
            <a:off x="16354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7" name="Shape 38"/>
          <p:cNvSpPr/>
          <p:nvPr/>
        </p:nvSpPr>
        <p:spPr>
          <a:xfrm>
            <a:off x="17190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8" name="Shape 39"/>
          <p:cNvSpPr/>
          <p:nvPr/>
        </p:nvSpPr>
        <p:spPr>
          <a:xfrm>
            <a:off x="176796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9" name="Shape 40"/>
          <p:cNvSpPr/>
          <p:nvPr/>
        </p:nvSpPr>
        <p:spPr>
          <a:xfrm>
            <a:off x="185184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0" name="Shape 41"/>
          <p:cNvSpPr/>
          <p:nvPr/>
        </p:nvSpPr>
        <p:spPr>
          <a:xfrm>
            <a:off x="19008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1" name="Shape 42"/>
          <p:cNvSpPr/>
          <p:nvPr/>
        </p:nvSpPr>
        <p:spPr>
          <a:xfrm>
            <a:off x="19843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2" name="Shape 43"/>
          <p:cNvSpPr/>
          <p:nvPr/>
        </p:nvSpPr>
        <p:spPr>
          <a:xfrm>
            <a:off x="20332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3" name="Shape 44"/>
          <p:cNvSpPr/>
          <p:nvPr/>
        </p:nvSpPr>
        <p:spPr>
          <a:xfrm>
            <a:off x="21168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4" name="Shape 45"/>
          <p:cNvSpPr/>
          <p:nvPr/>
        </p:nvSpPr>
        <p:spPr>
          <a:xfrm>
            <a:off x="216576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5" name="Shape 46"/>
          <p:cNvSpPr/>
          <p:nvPr/>
        </p:nvSpPr>
        <p:spPr>
          <a:xfrm>
            <a:off x="224928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6" name="Shape 47"/>
          <p:cNvSpPr/>
          <p:nvPr/>
        </p:nvSpPr>
        <p:spPr>
          <a:xfrm>
            <a:off x="22986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7" name="Shape 48"/>
          <p:cNvSpPr/>
          <p:nvPr/>
        </p:nvSpPr>
        <p:spPr>
          <a:xfrm>
            <a:off x="23821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8" name="Shape 49"/>
          <p:cNvSpPr/>
          <p:nvPr/>
        </p:nvSpPr>
        <p:spPr>
          <a:xfrm>
            <a:off x="24310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9" name="Shape 50"/>
          <p:cNvSpPr/>
          <p:nvPr/>
        </p:nvSpPr>
        <p:spPr>
          <a:xfrm>
            <a:off x="25146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0" name="Shape 51"/>
          <p:cNvSpPr/>
          <p:nvPr/>
        </p:nvSpPr>
        <p:spPr>
          <a:xfrm>
            <a:off x="256356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81" name="Shape 52"/>
          <p:cNvSpPr/>
          <p:nvPr/>
        </p:nvSpPr>
        <p:spPr>
          <a:xfrm>
            <a:off x="264708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2" name="Shape 53"/>
          <p:cNvSpPr/>
          <p:nvPr/>
        </p:nvSpPr>
        <p:spPr>
          <a:xfrm>
            <a:off x="26964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83" name="Shape 54"/>
          <p:cNvSpPr/>
          <p:nvPr/>
        </p:nvSpPr>
        <p:spPr>
          <a:xfrm>
            <a:off x="2779920" y="185184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4" name="Shape 55"/>
          <p:cNvSpPr/>
          <p:nvPr/>
        </p:nvSpPr>
        <p:spPr>
          <a:xfrm>
            <a:off x="6584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5" name="Shape 56"/>
          <p:cNvSpPr/>
          <p:nvPr/>
        </p:nvSpPr>
        <p:spPr>
          <a:xfrm>
            <a:off x="790920" y="198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6" name="Shape 57"/>
          <p:cNvSpPr/>
          <p:nvPr/>
        </p:nvSpPr>
        <p:spPr>
          <a:xfrm>
            <a:off x="839880" y="203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87" name="Shape 58"/>
          <p:cNvSpPr/>
          <p:nvPr/>
        </p:nvSpPr>
        <p:spPr>
          <a:xfrm>
            <a:off x="9234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8" name="Shape 59"/>
          <p:cNvSpPr/>
          <p:nvPr/>
        </p:nvSpPr>
        <p:spPr>
          <a:xfrm>
            <a:off x="10562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9" name="Shape 60"/>
          <p:cNvSpPr/>
          <p:nvPr/>
        </p:nvSpPr>
        <p:spPr>
          <a:xfrm>
            <a:off x="11887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0" name="Shape 61"/>
          <p:cNvSpPr/>
          <p:nvPr/>
        </p:nvSpPr>
        <p:spPr>
          <a:xfrm>
            <a:off x="13212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1" name="Shape 62"/>
          <p:cNvSpPr/>
          <p:nvPr/>
        </p:nvSpPr>
        <p:spPr>
          <a:xfrm>
            <a:off x="14540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2" name="Shape 63"/>
          <p:cNvSpPr/>
          <p:nvPr/>
        </p:nvSpPr>
        <p:spPr>
          <a:xfrm>
            <a:off x="15865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3" name="Shape 64"/>
          <p:cNvSpPr/>
          <p:nvPr/>
        </p:nvSpPr>
        <p:spPr>
          <a:xfrm>
            <a:off x="17190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4" name="Shape 65"/>
          <p:cNvSpPr/>
          <p:nvPr/>
        </p:nvSpPr>
        <p:spPr>
          <a:xfrm>
            <a:off x="18518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5" name="Shape 66"/>
          <p:cNvSpPr/>
          <p:nvPr/>
        </p:nvSpPr>
        <p:spPr>
          <a:xfrm>
            <a:off x="19843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6" name="Shape 67"/>
          <p:cNvSpPr/>
          <p:nvPr/>
        </p:nvSpPr>
        <p:spPr>
          <a:xfrm>
            <a:off x="21168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7" name="Shape 68"/>
          <p:cNvSpPr/>
          <p:nvPr/>
        </p:nvSpPr>
        <p:spPr>
          <a:xfrm>
            <a:off x="224928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8" name="Shape 69"/>
          <p:cNvSpPr/>
          <p:nvPr/>
        </p:nvSpPr>
        <p:spPr>
          <a:xfrm>
            <a:off x="23821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9" name="Shape 70"/>
          <p:cNvSpPr/>
          <p:nvPr/>
        </p:nvSpPr>
        <p:spPr>
          <a:xfrm>
            <a:off x="25146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0" name="Shape 71"/>
          <p:cNvSpPr/>
          <p:nvPr/>
        </p:nvSpPr>
        <p:spPr>
          <a:xfrm>
            <a:off x="2647080" y="198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1" name="Shape 72"/>
          <p:cNvSpPr/>
          <p:nvPr/>
        </p:nvSpPr>
        <p:spPr>
          <a:xfrm>
            <a:off x="2696400" y="203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02" name="Shape 73"/>
          <p:cNvSpPr/>
          <p:nvPr/>
        </p:nvSpPr>
        <p:spPr>
          <a:xfrm>
            <a:off x="27799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3" name="Shape 74"/>
          <p:cNvSpPr/>
          <p:nvPr/>
        </p:nvSpPr>
        <p:spPr>
          <a:xfrm>
            <a:off x="658440" y="211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4" name="Shape 75"/>
          <p:cNvSpPr/>
          <p:nvPr/>
        </p:nvSpPr>
        <p:spPr>
          <a:xfrm>
            <a:off x="7909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5" name="Shape 76"/>
          <p:cNvSpPr/>
          <p:nvPr/>
        </p:nvSpPr>
        <p:spPr>
          <a:xfrm>
            <a:off x="8398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06" name="Shape 77"/>
          <p:cNvSpPr/>
          <p:nvPr/>
        </p:nvSpPr>
        <p:spPr>
          <a:xfrm>
            <a:off x="9234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7" name="Shape 78"/>
          <p:cNvSpPr/>
          <p:nvPr/>
        </p:nvSpPr>
        <p:spPr>
          <a:xfrm>
            <a:off x="97272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08" name="Shape 79"/>
          <p:cNvSpPr/>
          <p:nvPr/>
        </p:nvSpPr>
        <p:spPr>
          <a:xfrm>
            <a:off x="105624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9" name="Shape 80"/>
          <p:cNvSpPr/>
          <p:nvPr/>
        </p:nvSpPr>
        <p:spPr>
          <a:xfrm>
            <a:off x="11052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0" name="Shape 81"/>
          <p:cNvSpPr/>
          <p:nvPr/>
        </p:nvSpPr>
        <p:spPr>
          <a:xfrm>
            <a:off x="11887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1" name="Shape 82"/>
          <p:cNvSpPr/>
          <p:nvPr/>
        </p:nvSpPr>
        <p:spPr>
          <a:xfrm>
            <a:off x="1217880" y="2145960"/>
            <a:ext cx="72720" cy="72720"/>
          </a:xfrm>
          <a:prstGeom prst="ellipse">
            <a:avLst/>
          </a:prstGeom>
          <a:solidFill>
            <a:srgbClr val="38BDF8"/>
          </a:solidFill>
          <a:ln w="12700">
            <a:solidFill>
              <a:srgbClr val="38BDF8">
                <a:alpha val="0"/>
              </a:srgbClr>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chemeClr val="dk1"/>
              </a:solidFill>
              <a:effectLst/>
              <a:uFillTx/>
              <a:latin typeface="Aptos"/>
            </a:endParaRPr>
          </a:p>
        </p:txBody>
      </p:sp>
      <p:sp>
        <p:nvSpPr>
          <p:cNvPr id="512" name="Shape 83"/>
          <p:cNvSpPr/>
          <p:nvPr/>
        </p:nvSpPr>
        <p:spPr>
          <a:xfrm>
            <a:off x="13212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3" name="Shape 84"/>
          <p:cNvSpPr/>
          <p:nvPr/>
        </p:nvSpPr>
        <p:spPr>
          <a:xfrm>
            <a:off x="137052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4" name="Shape 85"/>
          <p:cNvSpPr/>
          <p:nvPr/>
        </p:nvSpPr>
        <p:spPr>
          <a:xfrm>
            <a:off x="145404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5" name="Shape 86"/>
          <p:cNvSpPr/>
          <p:nvPr/>
        </p:nvSpPr>
        <p:spPr>
          <a:xfrm>
            <a:off x="15030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6" name="Shape 87"/>
          <p:cNvSpPr/>
          <p:nvPr/>
        </p:nvSpPr>
        <p:spPr>
          <a:xfrm>
            <a:off x="15865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7" name="Shape 88"/>
          <p:cNvSpPr/>
          <p:nvPr/>
        </p:nvSpPr>
        <p:spPr>
          <a:xfrm>
            <a:off x="16354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8" name="Shape 89"/>
          <p:cNvSpPr/>
          <p:nvPr/>
        </p:nvSpPr>
        <p:spPr>
          <a:xfrm>
            <a:off x="17190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9" name="Shape 90"/>
          <p:cNvSpPr/>
          <p:nvPr/>
        </p:nvSpPr>
        <p:spPr>
          <a:xfrm>
            <a:off x="176796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0" name="Shape 91"/>
          <p:cNvSpPr/>
          <p:nvPr/>
        </p:nvSpPr>
        <p:spPr>
          <a:xfrm>
            <a:off x="185184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1" name="Shape 92"/>
          <p:cNvSpPr/>
          <p:nvPr/>
        </p:nvSpPr>
        <p:spPr>
          <a:xfrm>
            <a:off x="19008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2" name="Shape 93"/>
          <p:cNvSpPr/>
          <p:nvPr/>
        </p:nvSpPr>
        <p:spPr>
          <a:xfrm>
            <a:off x="19843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3" name="Shape 94"/>
          <p:cNvSpPr/>
          <p:nvPr/>
        </p:nvSpPr>
        <p:spPr>
          <a:xfrm>
            <a:off x="20332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4" name="Shape 95"/>
          <p:cNvSpPr/>
          <p:nvPr/>
        </p:nvSpPr>
        <p:spPr>
          <a:xfrm>
            <a:off x="21168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5" name="Shape 96"/>
          <p:cNvSpPr/>
          <p:nvPr/>
        </p:nvSpPr>
        <p:spPr>
          <a:xfrm>
            <a:off x="216576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6" name="Shape 97"/>
          <p:cNvSpPr/>
          <p:nvPr/>
        </p:nvSpPr>
        <p:spPr>
          <a:xfrm>
            <a:off x="224928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7" name="Shape 98"/>
          <p:cNvSpPr/>
          <p:nvPr/>
        </p:nvSpPr>
        <p:spPr>
          <a:xfrm>
            <a:off x="2278440" y="2145960"/>
            <a:ext cx="72720" cy="72720"/>
          </a:xfrm>
          <a:prstGeom prst="ellipse">
            <a:avLst/>
          </a:prstGeom>
          <a:solidFill>
            <a:srgbClr val="38BDF8"/>
          </a:solidFill>
          <a:ln w="12700">
            <a:solidFill>
              <a:srgbClr val="38BDF8">
                <a:alpha val="0"/>
              </a:srgbClr>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chemeClr val="dk1"/>
              </a:solidFill>
              <a:effectLst/>
              <a:uFillTx/>
              <a:latin typeface="Aptos"/>
            </a:endParaRPr>
          </a:p>
        </p:txBody>
      </p:sp>
      <p:sp>
        <p:nvSpPr>
          <p:cNvPr id="528" name="Shape 99"/>
          <p:cNvSpPr/>
          <p:nvPr/>
        </p:nvSpPr>
        <p:spPr>
          <a:xfrm>
            <a:off x="23821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9" name="Shape 100"/>
          <p:cNvSpPr/>
          <p:nvPr/>
        </p:nvSpPr>
        <p:spPr>
          <a:xfrm>
            <a:off x="24310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30" name="Shape 101"/>
          <p:cNvSpPr/>
          <p:nvPr/>
        </p:nvSpPr>
        <p:spPr>
          <a:xfrm>
            <a:off x="25146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1" name="Shape 102"/>
          <p:cNvSpPr/>
          <p:nvPr/>
        </p:nvSpPr>
        <p:spPr>
          <a:xfrm>
            <a:off x="256356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32" name="Shape 103"/>
          <p:cNvSpPr/>
          <p:nvPr/>
        </p:nvSpPr>
        <p:spPr>
          <a:xfrm>
            <a:off x="264708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3" name="Shape 104"/>
          <p:cNvSpPr/>
          <p:nvPr/>
        </p:nvSpPr>
        <p:spPr>
          <a:xfrm>
            <a:off x="26964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34" name="Shape 105"/>
          <p:cNvSpPr/>
          <p:nvPr/>
        </p:nvSpPr>
        <p:spPr>
          <a:xfrm>
            <a:off x="2779920" y="211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5" name="Shape 106"/>
          <p:cNvSpPr/>
          <p:nvPr/>
        </p:nvSpPr>
        <p:spPr>
          <a:xfrm>
            <a:off x="6584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6" name="Shape 107"/>
          <p:cNvSpPr/>
          <p:nvPr/>
        </p:nvSpPr>
        <p:spPr>
          <a:xfrm>
            <a:off x="7909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7" name="Shape 108"/>
          <p:cNvSpPr/>
          <p:nvPr/>
        </p:nvSpPr>
        <p:spPr>
          <a:xfrm>
            <a:off x="9234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8" name="Shape 109"/>
          <p:cNvSpPr/>
          <p:nvPr/>
        </p:nvSpPr>
        <p:spPr>
          <a:xfrm>
            <a:off x="10562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9" name="Shape 110"/>
          <p:cNvSpPr/>
          <p:nvPr/>
        </p:nvSpPr>
        <p:spPr>
          <a:xfrm>
            <a:off x="11887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0" name="Shape 111"/>
          <p:cNvSpPr/>
          <p:nvPr/>
        </p:nvSpPr>
        <p:spPr>
          <a:xfrm>
            <a:off x="13212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1" name="Shape 112"/>
          <p:cNvSpPr/>
          <p:nvPr/>
        </p:nvSpPr>
        <p:spPr>
          <a:xfrm>
            <a:off x="14540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2" name="Shape 113"/>
          <p:cNvSpPr/>
          <p:nvPr/>
        </p:nvSpPr>
        <p:spPr>
          <a:xfrm>
            <a:off x="15865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3" name="Shape 114"/>
          <p:cNvSpPr/>
          <p:nvPr/>
        </p:nvSpPr>
        <p:spPr>
          <a:xfrm>
            <a:off x="17190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4" name="Shape 115"/>
          <p:cNvSpPr/>
          <p:nvPr/>
        </p:nvSpPr>
        <p:spPr>
          <a:xfrm>
            <a:off x="18518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5" name="Shape 116"/>
          <p:cNvSpPr/>
          <p:nvPr/>
        </p:nvSpPr>
        <p:spPr>
          <a:xfrm>
            <a:off x="19843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6" name="Shape 117"/>
          <p:cNvSpPr/>
          <p:nvPr/>
        </p:nvSpPr>
        <p:spPr>
          <a:xfrm>
            <a:off x="21168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7" name="Shape 118"/>
          <p:cNvSpPr/>
          <p:nvPr/>
        </p:nvSpPr>
        <p:spPr>
          <a:xfrm>
            <a:off x="224928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8" name="Shape 119"/>
          <p:cNvSpPr/>
          <p:nvPr/>
        </p:nvSpPr>
        <p:spPr>
          <a:xfrm>
            <a:off x="23821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9" name="Shape 120"/>
          <p:cNvSpPr/>
          <p:nvPr/>
        </p:nvSpPr>
        <p:spPr>
          <a:xfrm>
            <a:off x="25146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0" name="Shape 121"/>
          <p:cNvSpPr/>
          <p:nvPr/>
        </p:nvSpPr>
        <p:spPr>
          <a:xfrm>
            <a:off x="264708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1" name="Shape 122"/>
          <p:cNvSpPr/>
          <p:nvPr/>
        </p:nvSpPr>
        <p:spPr>
          <a:xfrm>
            <a:off x="27799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2" name="Text 123"/>
          <p:cNvSpPr/>
          <p:nvPr/>
        </p:nvSpPr>
        <p:spPr>
          <a:xfrm>
            <a:off x="658440" y="3200400"/>
            <a:ext cx="2880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50" b="1" u="none" strike="noStrike">
                <a:solidFill>
                  <a:srgbClr val="132033"/>
                </a:solidFill>
                <a:effectLst/>
                <a:uFillTx/>
                <a:latin typeface="Aptos"/>
              </a:rPr>
              <a:t>Level 2: detours and branches require planning</a:t>
            </a:r>
            <a:endParaRPr lang="en-US" sz="1050" b="0" u="none" strike="noStrike">
              <a:solidFill>
                <a:srgbClr val="000000"/>
              </a:solidFill>
              <a:effectLst/>
              <a:uFillTx/>
              <a:latin typeface="Arial"/>
            </a:endParaRPr>
          </a:p>
        </p:txBody>
      </p:sp>
      <p:sp>
        <p:nvSpPr>
          <p:cNvPr id="553" name="Shape 124"/>
          <p:cNvSpPr/>
          <p:nvPr/>
        </p:nvSpPr>
        <p:spPr>
          <a:xfrm>
            <a:off x="594360" y="3374280"/>
            <a:ext cx="2381760" cy="1037520"/>
          </a:xfrm>
          <a:prstGeom prst="roundRect">
            <a:avLst>
              <a:gd name="adj" fmla="val 3524"/>
            </a:avLst>
          </a:prstGeom>
          <a:solidFill>
            <a:srgbClr val="FFFFFF"/>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4" name="Shape 125"/>
          <p:cNvSpPr/>
          <p:nvPr/>
        </p:nvSpPr>
        <p:spPr>
          <a:xfrm>
            <a:off x="6584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5" name="Shape 126"/>
          <p:cNvSpPr/>
          <p:nvPr/>
        </p:nvSpPr>
        <p:spPr>
          <a:xfrm>
            <a:off x="7909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6" name="Shape 127"/>
          <p:cNvSpPr/>
          <p:nvPr/>
        </p:nvSpPr>
        <p:spPr>
          <a:xfrm>
            <a:off x="9234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7" name="Shape 128"/>
          <p:cNvSpPr/>
          <p:nvPr/>
        </p:nvSpPr>
        <p:spPr>
          <a:xfrm>
            <a:off x="10562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8" name="Shape 129"/>
          <p:cNvSpPr/>
          <p:nvPr/>
        </p:nvSpPr>
        <p:spPr>
          <a:xfrm>
            <a:off x="11887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9" name="Shape 130"/>
          <p:cNvSpPr/>
          <p:nvPr/>
        </p:nvSpPr>
        <p:spPr>
          <a:xfrm>
            <a:off x="13212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0" name="Shape 131"/>
          <p:cNvSpPr/>
          <p:nvPr/>
        </p:nvSpPr>
        <p:spPr>
          <a:xfrm>
            <a:off x="14540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1" name="Shape 132"/>
          <p:cNvSpPr/>
          <p:nvPr/>
        </p:nvSpPr>
        <p:spPr>
          <a:xfrm>
            <a:off x="15865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2" name="Shape 133"/>
          <p:cNvSpPr/>
          <p:nvPr/>
        </p:nvSpPr>
        <p:spPr>
          <a:xfrm>
            <a:off x="17190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3" name="Shape 134"/>
          <p:cNvSpPr/>
          <p:nvPr/>
        </p:nvSpPr>
        <p:spPr>
          <a:xfrm>
            <a:off x="18518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4" name="Shape 135"/>
          <p:cNvSpPr/>
          <p:nvPr/>
        </p:nvSpPr>
        <p:spPr>
          <a:xfrm>
            <a:off x="19843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5" name="Shape 136"/>
          <p:cNvSpPr/>
          <p:nvPr/>
        </p:nvSpPr>
        <p:spPr>
          <a:xfrm>
            <a:off x="21168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6" name="Shape 137"/>
          <p:cNvSpPr/>
          <p:nvPr/>
        </p:nvSpPr>
        <p:spPr>
          <a:xfrm>
            <a:off x="224928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7" name="Shape 138"/>
          <p:cNvSpPr/>
          <p:nvPr/>
        </p:nvSpPr>
        <p:spPr>
          <a:xfrm>
            <a:off x="23821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8" name="Shape 139"/>
          <p:cNvSpPr/>
          <p:nvPr/>
        </p:nvSpPr>
        <p:spPr>
          <a:xfrm>
            <a:off x="25146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9" name="Shape 140"/>
          <p:cNvSpPr/>
          <p:nvPr/>
        </p:nvSpPr>
        <p:spPr>
          <a:xfrm>
            <a:off x="264708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0" name="Shape 141"/>
          <p:cNvSpPr/>
          <p:nvPr/>
        </p:nvSpPr>
        <p:spPr>
          <a:xfrm>
            <a:off x="27799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1" name="Shape 142"/>
          <p:cNvSpPr/>
          <p:nvPr/>
        </p:nvSpPr>
        <p:spPr>
          <a:xfrm>
            <a:off x="658440" y="35614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2" name="Shape 143"/>
          <p:cNvSpPr/>
          <p:nvPr/>
        </p:nvSpPr>
        <p:spPr>
          <a:xfrm>
            <a:off x="7909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3" name="Shape 144"/>
          <p:cNvSpPr/>
          <p:nvPr/>
        </p:nvSpPr>
        <p:spPr>
          <a:xfrm>
            <a:off x="804240" y="3574800"/>
            <a:ext cx="102960" cy="102960"/>
          </a:xfrm>
          <a:prstGeom prst="ellipse">
            <a:avLst/>
          </a:prstGeom>
          <a:solidFill>
            <a:srgbClr val="FACC15"/>
          </a:solidFill>
          <a:ln w="6350">
            <a:solidFill>
              <a:srgbClr val="D97706"/>
            </a:solidFill>
            <a:round/>
          </a:ln>
        </p:spPr>
        <p:style>
          <a:lnRef idx="0">
            <a:scrgbClr r="0" g="0" b="0"/>
          </a:lnRef>
          <a:fillRef idx="0">
            <a:scrgbClr r="0" g="0" b="0"/>
          </a:fillRef>
          <a:effectRef idx="0">
            <a:scrgbClr r="0" g="0" b="0"/>
          </a:effectRef>
          <a:fontRef idx="minor"/>
        </p:style>
        <p:txBody>
          <a:bodyPr lIns="90000" tIns="27720" rIns="90000" bIns="27720" anchor="t">
            <a:noAutofit/>
          </a:bodyPr>
          <a:lstStyle/>
          <a:p>
            <a:endParaRPr lang="en-US" sz="1800" b="0" u="none" strike="noStrike">
              <a:solidFill>
                <a:schemeClr val="dk1"/>
              </a:solidFill>
              <a:effectLst/>
              <a:uFillTx/>
              <a:latin typeface="Aptos"/>
            </a:endParaRPr>
          </a:p>
        </p:txBody>
      </p:sp>
      <p:sp>
        <p:nvSpPr>
          <p:cNvPr id="574" name="Shape 145"/>
          <p:cNvSpPr/>
          <p:nvPr/>
        </p:nvSpPr>
        <p:spPr>
          <a:xfrm>
            <a:off x="9234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5" name="Shape 146"/>
          <p:cNvSpPr/>
          <p:nvPr/>
        </p:nvSpPr>
        <p:spPr>
          <a:xfrm>
            <a:off x="97272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76" name="Shape 147"/>
          <p:cNvSpPr/>
          <p:nvPr/>
        </p:nvSpPr>
        <p:spPr>
          <a:xfrm>
            <a:off x="105624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7" name="Shape 148"/>
          <p:cNvSpPr/>
          <p:nvPr/>
        </p:nvSpPr>
        <p:spPr>
          <a:xfrm>
            <a:off x="11052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78" name="Shape 149"/>
          <p:cNvSpPr/>
          <p:nvPr/>
        </p:nvSpPr>
        <p:spPr>
          <a:xfrm>
            <a:off x="11887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9" name="Shape 150"/>
          <p:cNvSpPr/>
          <p:nvPr/>
        </p:nvSpPr>
        <p:spPr>
          <a:xfrm>
            <a:off x="12376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0" name="Shape 151"/>
          <p:cNvSpPr/>
          <p:nvPr/>
        </p:nvSpPr>
        <p:spPr>
          <a:xfrm>
            <a:off x="13212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1" name="Shape 152"/>
          <p:cNvSpPr/>
          <p:nvPr/>
        </p:nvSpPr>
        <p:spPr>
          <a:xfrm>
            <a:off x="137052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2" name="Shape 153"/>
          <p:cNvSpPr/>
          <p:nvPr/>
        </p:nvSpPr>
        <p:spPr>
          <a:xfrm>
            <a:off x="145404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3" name="Shape 154"/>
          <p:cNvSpPr/>
          <p:nvPr/>
        </p:nvSpPr>
        <p:spPr>
          <a:xfrm>
            <a:off x="15030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4" name="Shape 155"/>
          <p:cNvSpPr/>
          <p:nvPr/>
        </p:nvSpPr>
        <p:spPr>
          <a:xfrm>
            <a:off x="15865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5" name="Shape 156"/>
          <p:cNvSpPr/>
          <p:nvPr/>
        </p:nvSpPr>
        <p:spPr>
          <a:xfrm>
            <a:off x="16354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6" name="Shape 157"/>
          <p:cNvSpPr/>
          <p:nvPr/>
        </p:nvSpPr>
        <p:spPr>
          <a:xfrm>
            <a:off x="17190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7" name="Shape 158"/>
          <p:cNvSpPr/>
          <p:nvPr/>
        </p:nvSpPr>
        <p:spPr>
          <a:xfrm>
            <a:off x="176796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8" name="Shape 159"/>
          <p:cNvSpPr/>
          <p:nvPr/>
        </p:nvSpPr>
        <p:spPr>
          <a:xfrm>
            <a:off x="185184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9" name="Shape 160"/>
          <p:cNvSpPr/>
          <p:nvPr/>
        </p:nvSpPr>
        <p:spPr>
          <a:xfrm>
            <a:off x="19008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0" name="Shape 161"/>
          <p:cNvSpPr/>
          <p:nvPr/>
        </p:nvSpPr>
        <p:spPr>
          <a:xfrm>
            <a:off x="19843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1" name="Shape 162"/>
          <p:cNvSpPr/>
          <p:nvPr/>
        </p:nvSpPr>
        <p:spPr>
          <a:xfrm>
            <a:off x="20332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2" name="Shape 163"/>
          <p:cNvSpPr/>
          <p:nvPr/>
        </p:nvSpPr>
        <p:spPr>
          <a:xfrm>
            <a:off x="21168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3" name="Shape 164"/>
          <p:cNvSpPr/>
          <p:nvPr/>
        </p:nvSpPr>
        <p:spPr>
          <a:xfrm>
            <a:off x="216576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4" name="Shape 165"/>
          <p:cNvSpPr/>
          <p:nvPr/>
        </p:nvSpPr>
        <p:spPr>
          <a:xfrm>
            <a:off x="224928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5" name="Shape 166"/>
          <p:cNvSpPr/>
          <p:nvPr/>
        </p:nvSpPr>
        <p:spPr>
          <a:xfrm>
            <a:off x="22986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6" name="Shape 167"/>
          <p:cNvSpPr/>
          <p:nvPr/>
        </p:nvSpPr>
        <p:spPr>
          <a:xfrm>
            <a:off x="23821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7" name="Shape 168"/>
          <p:cNvSpPr/>
          <p:nvPr/>
        </p:nvSpPr>
        <p:spPr>
          <a:xfrm>
            <a:off x="24310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8" name="Shape 169"/>
          <p:cNvSpPr/>
          <p:nvPr/>
        </p:nvSpPr>
        <p:spPr>
          <a:xfrm>
            <a:off x="25146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9" name="Shape 170"/>
          <p:cNvSpPr/>
          <p:nvPr/>
        </p:nvSpPr>
        <p:spPr>
          <a:xfrm>
            <a:off x="256356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00" name="Shape 171"/>
          <p:cNvSpPr/>
          <p:nvPr/>
        </p:nvSpPr>
        <p:spPr>
          <a:xfrm>
            <a:off x="264708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1" name="Shape 172"/>
          <p:cNvSpPr/>
          <p:nvPr/>
        </p:nvSpPr>
        <p:spPr>
          <a:xfrm>
            <a:off x="26964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02" name="Shape 173"/>
          <p:cNvSpPr/>
          <p:nvPr/>
        </p:nvSpPr>
        <p:spPr>
          <a:xfrm>
            <a:off x="2779920" y="35614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3" name="Shape 174"/>
          <p:cNvSpPr/>
          <p:nvPr/>
        </p:nvSpPr>
        <p:spPr>
          <a:xfrm>
            <a:off x="6584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4" name="Shape 175"/>
          <p:cNvSpPr/>
          <p:nvPr/>
        </p:nvSpPr>
        <p:spPr>
          <a:xfrm>
            <a:off x="7909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5" name="Shape 176"/>
          <p:cNvSpPr/>
          <p:nvPr/>
        </p:nvSpPr>
        <p:spPr>
          <a:xfrm>
            <a:off x="9234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6" name="Shape 177"/>
          <p:cNvSpPr/>
          <p:nvPr/>
        </p:nvSpPr>
        <p:spPr>
          <a:xfrm>
            <a:off x="10562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7" name="Shape 178"/>
          <p:cNvSpPr/>
          <p:nvPr/>
        </p:nvSpPr>
        <p:spPr>
          <a:xfrm>
            <a:off x="11887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8" name="Shape 179"/>
          <p:cNvSpPr/>
          <p:nvPr/>
        </p:nvSpPr>
        <p:spPr>
          <a:xfrm>
            <a:off x="1321200" y="369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9" name="Shape 180"/>
          <p:cNvSpPr/>
          <p:nvPr/>
        </p:nvSpPr>
        <p:spPr>
          <a:xfrm>
            <a:off x="1370520" y="374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10" name="Shape 181"/>
          <p:cNvSpPr/>
          <p:nvPr/>
        </p:nvSpPr>
        <p:spPr>
          <a:xfrm>
            <a:off x="14540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1" name="Shape 182"/>
          <p:cNvSpPr/>
          <p:nvPr/>
        </p:nvSpPr>
        <p:spPr>
          <a:xfrm>
            <a:off x="15865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2" name="Shape 183"/>
          <p:cNvSpPr/>
          <p:nvPr/>
        </p:nvSpPr>
        <p:spPr>
          <a:xfrm>
            <a:off x="17190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3" name="Shape 184"/>
          <p:cNvSpPr/>
          <p:nvPr/>
        </p:nvSpPr>
        <p:spPr>
          <a:xfrm>
            <a:off x="18518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4" name="Shape 185"/>
          <p:cNvSpPr/>
          <p:nvPr/>
        </p:nvSpPr>
        <p:spPr>
          <a:xfrm>
            <a:off x="19843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5" name="Shape 186"/>
          <p:cNvSpPr/>
          <p:nvPr/>
        </p:nvSpPr>
        <p:spPr>
          <a:xfrm>
            <a:off x="21168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6" name="Shape 187"/>
          <p:cNvSpPr/>
          <p:nvPr/>
        </p:nvSpPr>
        <p:spPr>
          <a:xfrm>
            <a:off x="224928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7" name="Shape 188"/>
          <p:cNvSpPr/>
          <p:nvPr/>
        </p:nvSpPr>
        <p:spPr>
          <a:xfrm>
            <a:off x="23821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8" name="Shape 189"/>
          <p:cNvSpPr/>
          <p:nvPr/>
        </p:nvSpPr>
        <p:spPr>
          <a:xfrm>
            <a:off x="25146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9" name="Shape 190"/>
          <p:cNvSpPr/>
          <p:nvPr/>
        </p:nvSpPr>
        <p:spPr>
          <a:xfrm>
            <a:off x="2647080" y="369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0" name="Shape 191"/>
          <p:cNvSpPr/>
          <p:nvPr/>
        </p:nvSpPr>
        <p:spPr>
          <a:xfrm>
            <a:off x="2696400" y="374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1" name="Shape 192"/>
          <p:cNvSpPr/>
          <p:nvPr/>
        </p:nvSpPr>
        <p:spPr>
          <a:xfrm>
            <a:off x="27799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2" name="Shape 193"/>
          <p:cNvSpPr/>
          <p:nvPr/>
        </p:nvSpPr>
        <p:spPr>
          <a:xfrm>
            <a:off x="65844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3" name="Shape 194"/>
          <p:cNvSpPr/>
          <p:nvPr/>
        </p:nvSpPr>
        <p:spPr>
          <a:xfrm>
            <a:off x="7909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4" name="Shape 195"/>
          <p:cNvSpPr/>
          <p:nvPr/>
        </p:nvSpPr>
        <p:spPr>
          <a:xfrm>
            <a:off x="8398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5" name="Shape 196"/>
          <p:cNvSpPr/>
          <p:nvPr/>
        </p:nvSpPr>
        <p:spPr>
          <a:xfrm>
            <a:off x="9234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6" name="Shape 197"/>
          <p:cNvSpPr/>
          <p:nvPr/>
        </p:nvSpPr>
        <p:spPr>
          <a:xfrm>
            <a:off x="97272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7" name="Shape 198"/>
          <p:cNvSpPr/>
          <p:nvPr/>
        </p:nvSpPr>
        <p:spPr>
          <a:xfrm>
            <a:off x="105624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8" name="Shape 199"/>
          <p:cNvSpPr/>
          <p:nvPr/>
        </p:nvSpPr>
        <p:spPr>
          <a:xfrm>
            <a:off x="11052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9" name="Shape 200"/>
          <p:cNvSpPr/>
          <p:nvPr/>
        </p:nvSpPr>
        <p:spPr>
          <a:xfrm>
            <a:off x="118872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0" name="Shape 201"/>
          <p:cNvSpPr/>
          <p:nvPr/>
        </p:nvSpPr>
        <p:spPr>
          <a:xfrm>
            <a:off x="13212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1" name="Shape 202"/>
          <p:cNvSpPr/>
          <p:nvPr/>
        </p:nvSpPr>
        <p:spPr>
          <a:xfrm>
            <a:off x="137052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2" name="Shape 203"/>
          <p:cNvSpPr/>
          <p:nvPr/>
        </p:nvSpPr>
        <p:spPr>
          <a:xfrm>
            <a:off x="145404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3" name="Shape 204"/>
          <p:cNvSpPr/>
          <p:nvPr/>
        </p:nvSpPr>
        <p:spPr>
          <a:xfrm>
            <a:off x="15030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4" name="Shape 205"/>
          <p:cNvSpPr/>
          <p:nvPr/>
        </p:nvSpPr>
        <p:spPr>
          <a:xfrm>
            <a:off x="15865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5" name="Shape 206"/>
          <p:cNvSpPr/>
          <p:nvPr/>
        </p:nvSpPr>
        <p:spPr>
          <a:xfrm>
            <a:off x="16354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6" name="Shape 207"/>
          <p:cNvSpPr/>
          <p:nvPr/>
        </p:nvSpPr>
        <p:spPr>
          <a:xfrm>
            <a:off x="171900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7" name="Shape 208"/>
          <p:cNvSpPr/>
          <p:nvPr/>
        </p:nvSpPr>
        <p:spPr>
          <a:xfrm>
            <a:off x="185184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8" name="Shape 209"/>
          <p:cNvSpPr/>
          <p:nvPr/>
        </p:nvSpPr>
        <p:spPr>
          <a:xfrm>
            <a:off x="19008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9" name="Shape 210"/>
          <p:cNvSpPr/>
          <p:nvPr/>
        </p:nvSpPr>
        <p:spPr>
          <a:xfrm>
            <a:off x="19843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0" name="Shape 211"/>
          <p:cNvSpPr/>
          <p:nvPr/>
        </p:nvSpPr>
        <p:spPr>
          <a:xfrm>
            <a:off x="20332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1" name="Shape 212"/>
          <p:cNvSpPr/>
          <p:nvPr/>
        </p:nvSpPr>
        <p:spPr>
          <a:xfrm>
            <a:off x="21168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2" name="Shape 213"/>
          <p:cNvSpPr/>
          <p:nvPr/>
        </p:nvSpPr>
        <p:spPr>
          <a:xfrm>
            <a:off x="216576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3" name="Shape 214"/>
          <p:cNvSpPr/>
          <p:nvPr/>
        </p:nvSpPr>
        <p:spPr>
          <a:xfrm>
            <a:off x="224928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4" name="Shape 215"/>
          <p:cNvSpPr/>
          <p:nvPr/>
        </p:nvSpPr>
        <p:spPr>
          <a:xfrm>
            <a:off x="22986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5" name="Shape 216"/>
          <p:cNvSpPr/>
          <p:nvPr/>
        </p:nvSpPr>
        <p:spPr>
          <a:xfrm>
            <a:off x="23821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6" name="Shape 217"/>
          <p:cNvSpPr/>
          <p:nvPr/>
        </p:nvSpPr>
        <p:spPr>
          <a:xfrm>
            <a:off x="24310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7" name="Shape 218"/>
          <p:cNvSpPr/>
          <p:nvPr/>
        </p:nvSpPr>
        <p:spPr>
          <a:xfrm>
            <a:off x="25146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8" name="Shape 219"/>
          <p:cNvSpPr/>
          <p:nvPr/>
        </p:nvSpPr>
        <p:spPr>
          <a:xfrm>
            <a:off x="256356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9" name="Shape 220"/>
          <p:cNvSpPr/>
          <p:nvPr/>
        </p:nvSpPr>
        <p:spPr>
          <a:xfrm>
            <a:off x="264708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0" name="Shape 221"/>
          <p:cNvSpPr/>
          <p:nvPr/>
        </p:nvSpPr>
        <p:spPr>
          <a:xfrm>
            <a:off x="26964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51" name="Shape 222"/>
          <p:cNvSpPr/>
          <p:nvPr/>
        </p:nvSpPr>
        <p:spPr>
          <a:xfrm>
            <a:off x="277992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2" name="Shape 223"/>
          <p:cNvSpPr/>
          <p:nvPr/>
        </p:nvSpPr>
        <p:spPr>
          <a:xfrm>
            <a:off x="65844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3" name="Shape 224"/>
          <p:cNvSpPr/>
          <p:nvPr/>
        </p:nvSpPr>
        <p:spPr>
          <a:xfrm>
            <a:off x="7909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4" name="Shape 225"/>
          <p:cNvSpPr/>
          <p:nvPr/>
        </p:nvSpPr>
        <p:spPr>
          <a:xfrm>
            <a:off x="9234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5" name="Shape 226"/>
          <p:cNvSpPr/>
          <p:nvPr/>
        </p:nvSpPr>
        <p:spPr>
          <a:xfrm>
            <a:off x="1056240" y="39592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6" name="Shape 227"/>
          <p:cNvSpPr/>
          <p:nvPr/>
        </p:nvSpPr>
        <p:spPr>
          <a:xfrm>
            <a:off x="1105200" y="400824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57" name="Shape 228"/>
          <p:cNvSpPr/>
          <p:nvPr/>
        </p:nvSpPr>
        <p:spPr>
          <a:xfrm>
            <a:off x="11887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8" name="Shape 229"/>
          <p:cNvSpPr/>
          <p:nvPr/>
        </p:nvSpPr>
        <p:spPr>
          <a:xfrm>
            <a:off x="13212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9" name="Shape 230"/>
          <p:cNvSpPr/>
          <p:nvPr/>
        </p:nvSpPr>
        <p:spPr>
          <a:xfrm>
            <a:off x="145404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0" name="Shape 231"/>
          <p:cNvSpPr/>
          <p:nvPr/>
        </p:nvSpPr>
        <p:spPr>
          <a:xfrm>
            <a:off x="15865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1" name="Shape 232"/>
          <p:cNvSpPr/>
          <p:nvPr/>
        </p:nvSpPr>
        <p:spPr>
          <a:xfrm>
            <a:off x="17190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2" name="Shape 233"/>
          <p:cNvSpPr/>
          <p:nvPr/>
        </p:nvSpPr>
        <p:spPr>
          <a:xfrm>
            <a:off x="1851840" y="39592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3" name="Shape 234"/>
          <p:cNvSpPr/>
          <p:nvPr/>
        </p:nvSpPr>
        <p:spPr>
          <a:xfrm>
            <a:off x="1900800" y="400824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64" name="Shape 235"/>
          <p:cNvSpPr/>
          <p:nvPr/>
        </p:nvSpPr>
        <p:spPr>
          <a:xfrm>
            <a:off x="19843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5" name="Shape 236"/>
          <p:cNvSpPr/>
          <p:nvPr/>
        </p:nvSpPr>
        <p:spPr>
          <a:xfrm>
            <a:off x="21168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6" name="Shape 237"/>
          <p:cNvSpPr/>
          <p:nvPr/>
        </p:nvSpPr>
        <p:spPr>
          <a:xfrm>
            <a:off x="224928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7" name="Shape 238"/>
          <p:cNvSpPr/>
          <p:nvPr/>
        </p:nvSpPr>
        <p:spPr>
          <a:xfrm>
            <a:off x="23821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8" name="Shape 239"/>
          <p:cNvSpPr/>
          <p:nvPr/>
        </p:nvSpPr>
        <p:spPr>
          <a:xfrm>
            <a:off x="25146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9" name="Shape 240"/>
          <p:cNvSpPr/>
          <p:nvPr/>
        </p:nvSpPr>
        <p:spPr>
          <a:xfrm>
            <a:off x="2647080" y="39592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0" name="Shape 241"/>
          <p:cNvSpPr/>
          <p:nvPr/>
        </p:nvSpPr>
        <p:spPr>
          <a:xfrm>
            <a:off x="2696400" y="400824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1" name="Shape 242"/>
          <p:cNvSpPr/>
          <p:nvPr/>
        </p:nvSpPr>
        <p:spPr>
          <a:xfrm>
            <a:off x="27799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2" name="Shape 243"/>
          <p:cNvSpPr/>
          <p:nvPr/>
        </p:nvSpPr>
        <p:spPr>
          <a:xfrm>
            <a:off x="658440" y="40921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3" name="Shape 244"/>
          <p:cNvSpPr/>
          <p:nvPr/>
        </p:nvSpPr>
        <p:spPr>
          <a:xfrm>
            <a:off x="7909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4" name="Shape 245"/>
          <p:cNvSpPr/>
          <p:nvPr/>
        </p:nvSpPr>
        <p:spPr>
          <a:xfrm>
            <a:off x="8398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5" name="Shape 246"/>
          <p:cNvSpPr/>
          <p:nvPr/>
        </p:nvSpPr>
        <p:spPr>
          <a:xfrm>
            <a:off x="9234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6" name="Shape 247"/>
          <p:cNvSpPr/>
          <p:nvPr/>
        </p:nvSpPr>
        <p:spPr>
          <a:xfrm>
            <a:off x="97272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7" name="Shape 248"/>
          <p:cNvSpPr/>
          <p:nvPr/>
        </p:nvSpPr>
        <p:spPr>
          <a:xfrm>
            <a:off x="105624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8" name="Shape 249"/>
          <p:cNvSpPr/>
          <p:nvPr/>
        </p:nvSpPr>
        <p:spPr>
          <a:xfrm>
            <a:off x="11052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9" name="Shape 250"/>
          <p:cNvSpPr/>
          <p:nvPr/>
        </p:nvSpPr>
        <p:spPr>
          <a:xfrm>
            <a:off x="11887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0" name="Shape 251"/>
          <p:cNvSpPr/>
          <p:nvPr/>
        </p:nvSpPr>
        <p:spPr>
          <a:xfrm>
            <a:off x="12376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1" name="Shape 252"/>
          <p:cNvSpPr/>
          <p:nvPr/>
        </p:nvSpPr>
        <p:spPr>
          <a:xfrm>
            <a:off x="13212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2" name="Shape 253"/>
          <p:cNvSpPr/>
          <p:nvPr/>
        </p:nvSpPr>
        <p:spPr>
          <a:xfrm>
            <a:off x="137052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3" name="Shape 254"/>
          <p:cNvSpPr/>
          <p:nvPr/>
        </p:nvSpPr>
        <p:spPr>
          <a:xfrm>
            <a:off x="145404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4" name="Shape 255"/>
          <p:cNvSpPr/>
          <p:nvPr/>
        </p:nvSpPr>
        <p:spPr>
          <a:xfrm>
            <a:off x="15030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5" name="Shape 256"/>
          <p:cNvSpPr/>
          <p:nvPr/>
        </p:nvSpPr>
        <p:spPr>
          <a:xfrm>
            <a:off x="15865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6" name="Shape 257"/>
          <p:cNvSpPr/>
          <p:nvPr/>
        </p:nvSpPr>
        <p:spPr>
          <a:xfrm>
            <a:off x="16354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7" name="Shape 258"/>
          <p:cNvSpPr/>
          <p:nvPr/>
        </p:nvSpPr>
        <p:spPr>
          <a:xfrm>
            <a:off x="17190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8" name="Shape 259"/>
          <p:cNvSpPr/>
          <p:nvPr/>
        </p:nvSpPr>
        <p:spPr>
          <a:xfrm>
            <a:off x="176796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9" name="Shape 260"/>
          <p:cNvSpPr/>
          <p:nvPr/>
        </p:nvSpPr>
        <p:spPr>
          <a:xfrm>
            <a:off x="185184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0" name="Shape 261"/>
          <p:cNvSpPr/>
          <p:nvPr/>
        </p:nvSpPr>
        <p:spPr>
          <a:xfrm>
            <a:off x="19008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1" name="Shape 262"/>
          <p:cNvSpPr/>
          <p:nvPr/>
        </p:nvSpPr>
        <p:spPr>
          <a:xfrm>
            <a:off x="19843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2" name="Shape 263"/>
          <p:cNvSpPr/>
          <p:nvPr/>
        </p:nvSpPr>
        <p:spPr>
          <a:xfrm>
            <a:off x="20332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3" name="Shape 264"/>
          <p:cNvSpPr/>
          <p:nvPr/>
        </p:nvSpPr>
        <p:spPr>
          <a:xfrm>
            <a:off x="21168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4" name="Shape 265"/>
          <p:cNvSpPr/>
          <p:nvPr/>
        </p:nvSpPr>
        <p:spPr>
          <a:xfrm>
            <a:off x="216576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5" name="Shape 266"/>
          <p:cNvSpPr/>
          <p:nvPr/>
        </p:nvSpPr>
        <p:spPr>
          <a:xfrm>
            <a:off x="224928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6" name="Shape 267"/>
          <p:cNvSpPr/>
          <p:nvPr/>
        </p:nvSpPr>
        <p:spPr>
          <a:xfrm>
            <a:off x="22986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7" name="Shape 268"/>
          <p:cNvSpPr/>
          <p:nvPr/>
        </p:nvSpPr>
        <p:spPr>
          <a:xfrm>
            <a:off x="23821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8" name="Shape 269"/>
          <p:cNvSpPr/>
          <p:nvPr/>
        </p:nvSpPr>
        <p:spPr>
          <a:xfrm>
            <a:off x="24310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9" name="Shape 270"/>
          <p:cNvSpPr/>
          <p:nvPr/>
        </p:nvSpPr>
        <p:spPr>
          <a:xfrm>
            <a:off x="25146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0" name="Shape 271"/>
          <p:cNvSpPr/>
          <p:nvPr/>
        </p:nvSpPr>
        <p:spPr>
          <a:xfrm>
            <a:off x="256356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701" name="Shape 272"/>
          <p:cNvSpPr/>
          <p:nvPr/>
        </p:nvSpPr>
        <p:spPr>
          <a:xfrm>
            <a:off x="264708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2" name="Shape 273"/>
          <p:cNvSpPr/>
          <p:nvPr/>
        </p:nvSpPr>
        <p:spPr>
          <a:xfrm>
            <a:off x="26964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703" name="Shape 274"/>
          <p:cNvSpPr/>
          <p:nvPr/>
        </p:nvSpPr>
        <p:spPr>
          <a:xfrm>
            <a:off x="2779920" y="40921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4" name="Shape 275"/>
          <p:cNvSpPr/>
          <p:nvPr/>
        </p:nvSpPr>
        <p:spPr>
          <a:xfrm>
            <a:off x="6584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5" name="Shape 276"/>
          <p:cNvSpPr/>
          <p:nvPr/>
        </p:nvSpPr>
        <p:spPr>
          <a:xfrm>
            <a:off x="7909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6" name="Shape 277"/>
          <p:cNvSpPr/>
          <p:nvPr/>
        </p:nvSpPr>
        <p:spPr>
          <a:xfrm>
            <a:off x="9234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7" name="Shape 278"/>
          <p:cNvSpPr/>
          <p:nvPr/>
        </p:nvSpPr>
        <p:spPr>
          <a:xfrm>
            <a:off x="10562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8" name="Shape 279"/>
          <p:cNvSpPr/>
          <p:nvPr/>
        </p:nvSpPr>
        <p:spPr>
          <a:xfrm>
            <a:off x="11887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9" name="Shape 280"/>
          <p:cNvSpPr/>
          <p:nvPr/>
        </p:nvSpPr>
        <p:spPr>
          <a:xfrm>
            <a:off x="13212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0" name="Shape 281"/>
          <p:cNvSpPr/>
          <p:nvPr/>
        </p:nvSpPr>
        <p:spPr>
          <a:xfrm>
            <a:off x="14540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1" name="Shape 282"/>
          <p:cNvSpPr/>
          <p:nvPr/>
        </p:nvSpPr>
        <p:spPr>
          <a:xfrm>
            <a:off x="15865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2" name="Shape 283"/>
          <p:cNvSpPr/>
          <p:nvPr/>
        </p:nvSpPr>
        <p:spPr>
          <a:xfrm>
            <a:off x="17190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3" name="Shape 284"/>
          <p:cNvSpPr/>
          <p:nvPr/>
        </p:nvSpPr>
        <p:spPr>
          <a:xfrm>
            <a:off x="18518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4" name="Shape 285"/>
          <p:cNvSpPr/>
          <p:nvPr/>
        </p:nvSpPr>
        <p:spPr>
          <a:xfrm>
            <a:off x="19843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5" name="Shape 286"/>
          <p:cNvSpPr/>
          <p:nvPr/>
        </p:nvSpPr>
        <p:spPr>
          <a:xfrm>
            <a:off x="21168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6" name="Shape 287"/>
          <p:cNvSpPr/>
          <p:nvPr/>
        </p:nvSpPr>
        <p:spPr>
          <a:xfrm>
            <a:off x="224928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7" name="Shape 288"/>
          <p:cNvSpPr/>
          <p:nvPr/>
        </p:nvSpPr>
        <p:spPr>
          <a:xfrm>
            <a:off x="23821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8" name="Shape 289"/>
          <p:cNvSpPr/>
          <p:nvPr/>
        </p:nvSpPr>
        <p:spPr>
          <a:xfrm>
            <a:off x="25146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9" name="Shape 290"/>
          <p:cNvSpPr/>
          <p:nvPr/>
        </p:nvSpPr>
        <p:spPr>
          <a:xfrm>
            <a:off x="264708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0" name="Shape 291"/>
          <p:cNvSpPr/>
          <p:nvPr/>
        </p:nvSpPr>
        <p:spPr>
          <a:xfrm>
            <a:off x="27799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1" name="Shape 292"/>
          <p:cNvSpPr/>
          <p:nvPr/>
        </p:nvSpPr>
        <p:spPr>
          <a:xfrm>
            <a:off x="4069080" y="1508760"/>
            <a:ext cx="3062880" cy="1389600"/>
          </a:xfrm>
          <a:prstGeom prst="roundRect">
            <a:avLst>
              <a:gd name="adj" fmla="val 5263"/>
            </a:avLst>
          </a:prstGeom>
          <a:solidFill>
            <a:srgbClr val="FFF7F7"/>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2" name="Shape 293"/>
          <p:cNvSpPr/>
          <p:nvPr/>
        </p:nvSpPr>
        <p:spPr>
          <a:xfrm>
            <a:off x="4069080" y="1508760"/>
            <a:ext cx="63720" cy="1389600"/>
          </a:xfrm>
          <a:prstGeom prst="rect">
            <a:avLst/>
          </a:prstGeom>
          <a:solidFill>
            <a:srgbClr val="DC2626"/>
          </a:solidFill>
          <a:ln w="12700">
            <a:solidFill>
              <a:srgbClr val="DC2626">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3" name="Text 294"/>
          <p:cNvSpPr/>
          <p:nvPr/>
        </p:nvSpPr>
        <p:spPr>
          <a:xfrm>
            <a:off x="4270320" y="1673280"/>
            <a:ext cx="2697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Observed issue</a:t>
            </a:r>
            <a:endParaRPr lang="en-US" sz="1350" b="0" u="none" strike="noStrike">
              <a:solidFill>
                <a:srgbClr val="000000"/>
              </a:solidFill>
              <a:effectLst/>
              <a:uFillTx/>
              <a:latin typeface="Arial"/>
            </a:endParaRPr>
          </a:p>
        </p:txBody>
      </p:sp>
      <p:sp>
        <p:nvSpPr>
          <p:cNvPr id="724" name="Text 295"/>
          <p:cNvSpPr/>
          <p:nvPr/>
        </p:nvSpPr>
        <p:spPr>
          <a:xfrm>
            <a:off x="4270320" y="1984320"/>
            <a:ext cx="2697120" cy="822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The rules eat adjacent pellets and then continue or pick the first legal action. Once food is not adjacent, the agent has no search frontier, no map of unvisited corridors, and no target.</a:t>
            </a:r>
            <a:endParaRPr lang="en-US" sz="1050" b="0" u="none" strike="noStrike">
              <a:solidFill>
                <a:srgbClr val="000000"/>
              </a:solidFill>
              <a:effectLst/>
              <a:uFillTx/>
              <a:latin typeface="Arial"/>
            </a:endParaRPr>
          </a:p>
        </p:txBody>
      </p:sp>
      <p:sp>
        <p:nvSpPr>
          <p:cNvPr id="725" name="Shape 296"/>
          <p:cNvSpPr/>
          <p:nvPr/>
        </p:nvSpPr>
        <p:spPr>
          <a:xfrm>
            <a:off x="4069080" y="3127320"/>
            <a:ext cx="3062880" cy="1298160"/>
          </a:xfrm>
          <a:prstGeom prst="roundRect">
            <a:avLst>
              <a:gd name="adj" fmla="val 5634"/>
            </a:avLst>
          </a:prstGeom>
          <a:solidFill>
            <a:srgbClr val="F8FBFF"/>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6" name="Shape 297"/>
          <p:cNvSpPr/>
          <p:nvPr/>
        </p:nvSpPr>
        <p:spPr>
          <a:xfrm>
            <a:off x="4069080" y="3127320"/>
            <a:ext cx="63720" cy="129816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7" name="Text 298"/>
          <p:cNvSpPr/>
          <p:nvPr/>
        </p:nvSpPr>
        <p:spPr>
          <a:xfrm>
            <a:off x="4270320" y="3291840"/>
            <a:ext cx="2697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Why this is not a BFS failure</a:t>
            </a:r>
            <a:endParaRPr lang="en-US" sz="1350" b="0" u="none" strike="noStrike">
              <a:solidFill>
                <a:srgbClr val="000000"/>
              </a:solidFill>
              <a:effectLst/>
              <a:uFillTx/>
              <a:latin typeface="Arial"/>
            </a:endParaRPr>
          </a:p>
        </p:txBody>
      </p:sp>
      <p:sp>
        <p:nvSpPr>
          <p:cNvPr id="728" name="Text 299"/>
          <p:cNvSpPr/>
          <p:nvPr/>
        </p:nvSpPr>
        <p:spPr>
          <a:xfrm>
            <a:off x="4270320" y="3602880"/>
            <a:ext cx="269712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Breadth-first search is never called in this script. The failure is caused by the Simple Reflex design: current percept -&gt; ordered rule -&gt; action.</a:t>
            </a:r>
            <a:endParaRPr lang="en-US" sz="1050" b="0" u="none" strike="noStrike">
              <a:solidFill>
                <a:srgbClr val="000000"/>
              </a:solidFill>
              <a:effectLst/>
              <a:uFillTx/>
              <a:latin typeface="Arial"/>
            </a:endParaRPr>
          </a:p>
        </p:txBody>
      </p:sp>
      <p:sp>
        <p:nvSpPr>
          <p:cNvPr id="729" name="Shape 300"/>
          <p:cNvSpPr/>
          <p:nvPr/>
        </p:nvSpPr>
        <p:spPr>
          <a:xfrm>
            <a:off x="7452360" y="1508760"/>
            <a:ext cx="3977280" cy="1389600"/>
          </a:xfrm>
          <a:prstGeom prst="roundRect">
            <a:avLst>
              <a:gd name="adj" fmla="val 5263"/>
            </a:avLst>
          </a:prstGeom>
          <a:solidFill>
            <a:srgbClr val="F7FFF9"/>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0" name="Shape 301"/>
          <p:cNvSpPr/>
          <p:nvPr/>
        </p:nvSpPr>
        <p:spPr>
          <a:xfrm>
            <a:off x="7452360" y="1508760"/>
            <a:ext cx="63720" cy="1389600"/>
          </a:xfrm>
          <a:prstGeom prst="rect">
            <a:avLst/>
          </a:prstGeom>
          <a:solidFill>
            <a:srgbClr val="16A34A"/>
          </a:solidFill>
          <a:ln w="12700">
            <a:solidFill>
              <a:srgbClr val="16A34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1" name="Text 302"/>
          <p:cNvSpPr/>
          <p:nvPr/>
        </p:nvSpPr>
        <p:spPr>
          <a:xfrm>
            <a:off x="7653600" y="1673280"/>
            <a:ext cx="3611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What BFS would add</a:t>
            </a:r>
            <a:endParaRPr lang="en-US" sz="1350" b="0" u="none" strike="noStrike">
              <a:solidFill>
                <a:srgbClr val="000000"/>
              </a:solidFill>
              <a:effectLst/>
              <a:uFillTx/>
              <a:latin typeface="Arial"/>
            </a:endParaRPr>
          </a:p>
        </p:txBody>
      </p:sp>
      <p:sp>
        <p:nvSpPr>
          <p:cNvPr id="732" name="Text 303"/>
          <p:cNvSpPr/>
          <p:nvPr/>
        </p:nvSpPr>
        <p:spPr>
          <a:xfrm>
            <a:off x="7653600" y="1984320"/>
            <a:ext cx="3611520" cy="822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BFS could expand reachable grid states from Pac-Man and return the shortest path to a selected pellet, including routes that initially move away from the pellet.</a:t>
            </a:r>
            <a:endParaRPr lang="en-US" sz="1050" b="0" u="none" strike="noStrike">
              <a:solidFill>
                <a:srgbClr val="000000"/>
              </a:solidFill>
              <a:effectLst/>
              <a:uFillTx/>
              <a:latin typeface="Arial"/>
            </a:endParaRPr>
          </a:p>
        </p:txBody>
      </p:sp>
      <p:sp>
        <p:nvSpPr>
          <p:cNvPr id="733" name="Shape 304"/>
          <p:cNvSpPr/>
          <p:nvPr/>
        </p:nvSpPr>
        <p:spPr>
          <a:xfrm>
            <a:off x="7452360" y="3127320"/>
            <a:ext cx="3977280" cy="1298160"/>
          </a:xfrm>
          <a:prstGeom prst="roundRect">
            <a:avLst>
              <a:gd name="adj" fmla="val 5634"/>
            </a:avLst>
          </a:prstGeom>
          <a:solidFill>
            <a:srgbClr val="FFFBEB"/>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4" name="Shape 305"/>
          <p:cNvSpPr/>
          <p:nvPr/>
        </p:nvSpPr>
        <p:spPr>
          <a:xfrm>
            <a:off x="7452360" y="3127320"/>
            <a:ext cx="63720" cy="1298160"/>
          </a:xfrm>
          <a:prstGeom prst="rect">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5" name="Text 306"/>
          <p:cNvSpPr/>
          <p:nvPr/>
        </p:nvSpPr>
        <p:spPr>
          <a:xfrm>
            <a:off x="7653600" y="3291840"/>
            <a:ext cx="3611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Remaining risk</a:t>
            </a:r>
            <a:endParaRPr lang="en-US" sz="1350" b="0" u="none" strike="noStrike">
              <a:solidFill>
                <a:srgbClr val="000000"/>
              </a:solidFill>
              <a:effectLst/>
              <a:uFillTx/>
              <a:latin typeface="Arial"/>
            </a:endParaRPr>
          </a:p>
        </p:txBody>
      </p:sp>
      <p:sp>
        <p:nvSpPr>
          <p:cNvPr id="736" name="Text 307"/>
          <p:cNvSpPr/>
          <p:nvPr/>
        </p:nvSpPr>
        <p:spPr>
          <a:xfrm>
            <a:off x="7653600" y="3602880"/>
            <a:ext cx="361152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Even with BFS, the agent still needs a state definition, a goal policy, and replanning when ghosts or pellets change. Otherwise BFS only solves the static shortest-path subproblem.</a:t>
            </a:r>
            <a:endParaRPr lang="en-US" sz="1050" b="0" u="none" strike="noStrike">
              <a:solidFill>
                <a:srgbClr val="000000"/>
              </a:solidFill>
              <a:effectLst/>
              <a:uFillTx/>
              <a:latin typeface="Arial"/>
            </a:endParaRPr>
          </a:p>
        </p:txBody>
      </p:sp>
      <p:sp>
        <p:nvSpPr>
          <p:cNvPr id="737" name="Shape 308"/>
          <p:cNvSpPr/>
          <p:nvPr/>
        </p:nvSpPr>
        <p:spPr>
          <a:xfrm>
            <a:off x="4069080" y="5047560"/>
            <a:ext cx="3108600" cy="310680"/>
          </a:xfrm>
          <a:prstGeom prst="roundRect">
            <a:avLst>
              <a:gd name="adj" fmla="val 23529"/>
            </a:avLst>
          </a:prstGeom>
          <a:solidFill>
            <a:srgbClr val="DC2626"/>
          </a:solidFill>
          <a:ln w="12700">
            <a:solidFill>
              <a:srgbClr val="DC2626">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8" name="Text 309"/>
          <p:cNvSpPr/>
          <p:nvPr/>
        </p:nvSpPr>
        <p:spPr>
          <a:xfrm>
            <a:off x="4160520" y="5115960"/>
            <a:ext cx="2925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ptos"/>
              </a:rPr>
              <a:t>Root cause: no memory / no model / no goal</a:t>
            </a:r>
            <a:endParaRPr lang="en-US" sz="950" b="0" u="none" strike="noStrike">
              <a:solidFill>
                <a:srgbClr val="000000"/>
              </a:solidFill>
              <a:effectLst/>
              <a:uFillTx/>
              <a:latin typeface="Arial"/>
            </a:endParaRPr>
          </a:p>
        </p:txBody>
      </p:sp>
      <p:sp>
        <p:nvSpPr>
          <p:cNvPr id="739" name="Shape 310"/>
          <p:cNvSpPr/>
          <p:nvPr/>
        </p:nvSpPr>
        <p:spPr>
          <a:xfrm>
            <a:off x="7452360" y="5047560"/>
            <a:ext cx="3492720" cy="310680"/>
          </a:xfrm>
          <a:prstGeom prst="roundRect">
            <a:avLst>
              <a:gd name="adj" fmla="val 23529"/>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40" name="Text 311"/>
          <p:cNvSpPr/>
          <p:nvPr/>
        </p:nvSpPr>
        <p:spPr>
          <a:xfrm>
            <a:off x="7543800" y="5115960"/>
            <a:ext cx="33098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ptos"/>
              </a:rPr>
              <a:t>BFS adds route search, not intelligence by itself</a:t>
            </a:r>
            <a:endParaRPr lang="en-US" sz="950" b="0" u="none" strike="noStrike">
              <a:solidFill>
                <a:srgbClr val="000000"/>
              </a:solidFill>
              <a:effectLst/>
              <a:uFillTx/>
              <a:latin typeface="Arial"/>
            </a:endParaRPr>
          </a:p>
        </p:txBody>
      </p:sp>
      <p:sp>
        <p:nvSpPr>
          <p:cNvPr id="77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7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22</a:t>
            </a:r>
            <a:endParaRPr lang="en-US" sz="18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Shape 0"/>
          <p:cNvSpPr/>
          <p:nvPr/>
        </p:nvSpPr>
        <p:spPr>
          <a:xfrm>
            <a:off x="0" y="0"/>
            <a:ext cx="12191400" cy="6857640"/>
          </a:xfrm>
          <a:prstGeom prst="rect">
            <a:avLst/>
          </a:prstGeom>
          <a:solidFill>
            <a:srgbClr val="F7F9FC"/>
          </a:solidFill>
          <a:ln w="12700">
            <a:solidFill>
              <a:srgbClr val="F7F9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42" name="Shape 1"/>
          <p:cNvSpPr/>
          <p:nvPr/>
        </p:nvSpPr>
        <p:spPr>
          <a:xfrm>
            <a:off x="502920" y="384120"/>
            <a:ext cx="959760" cy="6372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chemeClr val="dk1"/>
              </a:solidFill>
              <a:effectLst/>
              <a:uFillTx/>
              <a:latin typeface="Aptos"/>
            </a:endParaRPr>
          </a:p>
        </p:txBody>
      </p:sp>
      <p:sp>
        <p:nvSpPr>
          <p:cNvPr id="743" name="Text 2"/>
          <p:cNvSpPr/>
          <p:nvPr/>
        </p:nvSpPr>
        <p:spPr>
          <a:xfrm>
            <a:off x="502920" y="567000"/>
            <a:ext cx="10606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32033"/>
                </a:solidFill>
                <a:effectLst/>
                <a:uFillTx/>
                <a:latin typeface="Aptos Display"/>
                <a:ea typeface="Aptos Display"/>
              </a:rPr>
              <a:t>BFS helps with reachability, but it is still limited</a:t>
            </a:r>
            <a:endParaRPr lang="en-US" sz="2800" b="0" u="none" strike="noStrike">
              <a:solidFill>
                <a:srgbClr val="000000"/>
              </a:solidFill>
              <a:effectLst/>
              <a:uFillTx/>
              <a:latin typeface="Arial"/>
            </a:endParaRPr>
          </a:p>
        </p:txBody>
      </p:sp>
      <p:sp>
        <p:nvSpPr>
          <p:cNvPr id="744" name="Text 3"/>
          <p:cNvSpPr/>
          <p:nvPr/>
        </p:nvSpPr>
        <p:spPr>
          <a:xfrm>
            <a:off x="511920" y="1078920"/>
            <a:ext cx="960084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5B6B7B"/>
                </a:solidFill>
                <a:effectLst/>
                <a:uFillTx/>
                <a:latin typeface="Aptos"/>
                <a:ea typeface="Aptos"/>
              </a:rPr>
              <a:t>Use BFS as a planner inside a model-based or goal-based agent, not as a replacement for the agent architecture.</a:t>
            </a:r>
            <a:endParaRPr lang="en-US" sz="1250" b="0" u="none" strike="noStrike">
              <a:solidFill>
                <a:srgbClr val="000000"/>
              </a:solidFill>
              <a:effectLst/>
              <a:uFillTx/>
              <a:latin typeface="Arial"/>
            </a:endParaRPr>
          </a:p>
        </p:txBody>
      </p:sp>
      <p:sp>
        <p:nvSpPr>
          <p:cNvPr id="745" name="Shape 4"/>
          <p:cNvSpPr/>
          <p:nvPr/>
        </p:nvSpPr>
        <p:spPr>
          <a:xfrm>
            <a:off x="239544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6" name="Shape 5"/>
          <p:cNvSpPr/>
          <p:nvPr/>
        </p:nvSpPr>
        <p:spPr>
          <a:xfrm>
            <a:off x="431568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7" name="Shape 6"/>
          <p:cNvSpPr/>
          <p:nvPr/>
        </p:nvSpPr>
        <p:spPr>
          <a:xfrm>
            <a:off x="623592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8" name="Shape 7"/>
          <p:cNvSpPr/>
          <p:nvPr/>
        </p:nvSpPr>
        <p:spPr>
          <a:xfrm>
            <a:off x="815616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9" name="Shape 8"/>
          <p:cNvSpPr/>
          <p:nvPr/>
        </p:nvSpPr>
        <p:spPr>
          <a:xfrm>
            <a:off x="658440" y="1472040"/>
            <a:ext cx="1737000" cy="987120"/>
          </a:xfrm>
          <a:prstGeom prst="roundRect">
            <a:avLst>
              <a:gd name="adj" fmla="val 7407"/>
            </a:avLst>
          </a:prstGeom>
          <a:solidFill>
            <a:srgbClr val="FFFF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0" name="Text 9"/>
          <p:cNvSpPr/>
          <p:nvPr/>
        </p:nvSpPr>
        <p:spPr>
          <a:xfrm>
            <a:off x="731520" y="1581840"/>
            <a:ext cx="159084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Grid state</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(position, walls, food)</a:t>
            </a:r>
            <a:endParaRPr lang="en-US" sz="1200" b="0" u="none" strike="noStrike">
              <a:solidFill>
                <a:srgbClr val="000000"/>
              </a:solidFill>
              <a:effectLst/>
              <a:uFillTx/>
              <a:latin typeface="Arial"/>
            </a:endParaRPr>
          </a:p>
        </p:txBody>
      </p:sp>
      <p:sp>
        <p:nvSpPr>
          <p:cNvPr id="751" name="Shape 10"/>
          <p:cNvSpPr/>
          <p:nvPr/>
        </p:nvSpPr>
        <p:spPr>
          <a:xfrm>
            <a:off x="2971800" y="1472040"/>
            <a:ext cx="1343880" cy="987120"/>
          </a:xfrm>
          <a:prstGeom prst="roundRect">
            <a:avLst>
              <a:gd name="adj" fmla="val 7407"/>
            </a:avLst>
          </a:prstGeom>
          <a:solidFill>
            <a:srgbClr val="EEF2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2" name="Text 11"/>
          <p:cNvSpPr/>
          <p:nvPr/>
        </p:nvSpPr>
        <p:spPr>
          <a:xfrm>
            <a:off x="3044880" y="1581840"/>
            <a:ext cx="1197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Queue frontier</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level by level</a:t>
            </a:r>
            <a:endParaRPr lang="en-US" sz="1200" b="0" u="none" strike="noStrike">
              <a:solidFill>
                <a:srgbClr val="000000"/>
              </a:solidFill>
              <a:effectLst/>
              <a:uFillTx/>
              <a:latin typeface="Arial"/>
            </a:endParaRPr>
          </a:p>
        </p:txBody>
      </p:sp>
      <p:sp>
        <p:nvSpPr>
          <p:cNvPr id="753" name="Shape 12"/>
          <p:cNvSpPr/>
          <p:nvPr/>
        </p:nvSpPr>
        <p:spPr>
          <a:xfrm>
            <a:off x="4892040" y="1472040"/>
            <a:ext cx="1343880" cy="987120"/>
          </a:xfrm>
          <a:prstGeom prst="roundRect">
            <a:avLst>
              <a:gd name="adj" fmla="val 7407"/>
            </a:avLst>
          </a:prstGeom>
          <a:solidFill>
            <a:srgbClr val="FFFF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4" name="Text 13"/>
          <p:cNvSpPr/>
          <p:nvPr/>
        </p:nvSpPr>
        <p:spPr>
          <a:xfrm>
            <a:off x="4965120" y="1581840"/>
            <a:ext cx="1197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Visited set</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avoids loops</a:t>
            </a:r>
            <a:endParaRPr lang="en-US" sz="1200" b="0" u="none" strike="noStrike">
              <a:solidFill>
                <a:srgbClr val="000000"/>
              </a:solidFill>
              <a:effectLst/>
              <a:uFillTx/>
              <a:latin typeface="Arial"/>
            </a:endParaRPr>
          </a:p>
        </p:txBody>
      </p:sp>
      <p:sp>
        <p:nvSpPr>
          <p:cNvPr id="755" name="Shape 14"/>
          <p:cNvSpPr/>
          <p:nvPr/>
        </p:nvSpPr>
        <p:spPr>
          <a:xfrm>
            <a:off x="6812280" y="1472040"/>
            <a:ext cx="1343880" cy="987120"/>
          </a:xfrm>
          <a:prstGeom prst="roundRect">
            <a:avLst>
              <a:gd name="adj" fmla="val 7407"/>
            </a:avLst>
          </a:prstGeom>
          <a:solidFill>
            <a:srgbClr val="EEF2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6" name="Text 15"/>
          <p:cNvSpPr/>
          <p:nvPr/>
        </p:nvSpPr>
        <p:spPr>
          <a:xfrm>
            <a:off x="6885360" y="1581840"/>
            <a:ext cx="1197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Shortest path</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if unweighted</a:t>
            </a:r>
            <a:endParaRPr lang="en-US" sz="1200" b="0" u="none" strike="noStrike">
              <a:solidFill>
                <a:srgbClr val="000000"/>
              </a:solidFill>
              <a:effectLst/>
              <a:uFillTx/>
              <a:latin typeface="Arial"/>
            </a:endParaRPr>
          </a:p>
        </p:txBody>
      </p:sp>
      <p:sp>
        <p:nvSpPr>
          <p:cNvPr id="757" name="Shape 16"/>
          <p:cNvSpPr/>
          <p:nvPr/>
        </p:nvSpPr>
        <p:spPr>
          <a:xfrm>
            <a:off x="8732520" y="1472040"/>
            <a:ext cx="1599840" cy="987120"/>
          </a:xfrm>
          <a:prstGeom prst="roundRect">
            <a:avLst>
              <a:gd name="adj" fmla="val 7407"/>
            </a:avLst>
          </a:prstGeom>
          <a:solidFill>
            <a:srgbClr val="FFFF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8" name="Text 17"/>
          <p:cNvSpPr/>
          <p:nvPr/>
        </p:nvSpPr>
        <p:spPr>
          <a:xfrm>
            <a:off x="8805600" y="1581840"/>
            <a:ext cx="145368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Next action</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returned to game</a:t>
            </a:r>
            <a:endParaRPr lang="en-US" sz="1200" b="0" u="none" strike="noStrike">
              <a:solidFill>
                <a:srgbClr val="000000"/>
              </a:solidFill>
              <a:effectLst/>
              <a:uFillTx/>
              <a:latin typeface="Arial"/>
            </a:endParaRPr>
          </a:p>
        </p:txBody>
      </p:sp>
      <p:sp>
        <p:nvSpPr>
          <p:cNvPr id="759" name="Shape 18"/>
          <p:cNvSpPr/>
          <p:nvPr/>
        </p:nvSpPr>
        <p:spPr>
          <a:xfrm>
            <a:off x="658440" y="3246120"/>
            <a:ext cx="3474360" cy="1234080"/>
          </a:xfrm>
          <a:prstGeom prst="roundRect">
            <a:avLst>
              <a:gd name="adj" fmla="val 5926"/>
            </a:avLst>
          </a:prstGeom>
          <a:solidFill>
            <a:srgbClr val="FFF7F7"/>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0" name="Shape 19"/>
          <p:cNvSpPr/>
          <p:nvPr/>
        </p:nvSpPr>
        <p:spPr>
          <a:xfrm>
            <a:off x="658440" y="3246120"/>
            <a:ext cx="63720" cy="1234080"/>
          </a:xfrm>
          <a:prstGeom prst="rect">
            <a:avLst/>
          </a:prstGeom>
          <a:solidFill>
            <a:srgbClr val="DC2626"/>
          </a:solidFill>
          <a:ln w="12700">
            <a:solidFill>
              <a:srgbClr val="DC2626">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1" name="Text 20"/>
          <p:cNvSpPr/>
          <p:nvPr/>
        </p:nvSpPr>
        <p:spPr>
          <a:xfrm>
            <a:off x="859680" y="3410640"/>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Limitation 1: static model assumption</a:t>
            </a:r>
            <a:endParaRPr lang="en-US" sz="1350" b="0" u="none" strike="noStrike">
              <a:solidFill>
                <a:srgbClr val="000000"/>
              </a:solidFill>
              <a:effectLst/>
              <a:uFillTx/>
              <a:latin typeface="Arial"/>
            </a:endParaRPr>
          </a:p>
        </p:txBody>
      </p:sp>
      <p:sp>
        <p:nvSpPr>
          <p:cNvPr id="762" name="Text 21"/>
          <p:cNvSpPr/>
          <p:nvPr/>
        </p:nvSpPr>
        <p:spPr>
          <a:xfrm>
            <a:off x="859680" y="3721680"/>
            <a:ext cx="31086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Classic BFS assumes the graph is known while searching. Moving ghosts, frightened timers, and disappearing pellets require replanning after each action.</a:t>
            </a:r>
            <a:endParaRPr lang="en-US" sz="1050" b="0" u="none" strike="noStrike">
              <a:solidFill>
                <a:srgbClr val="000000"/>
              </a:solidFill>
              <a:effectLst/>
              <a:uFillTx/>
              <a:latin typeface="Arial"/>
            </a:endParaRPr>
          </a:p>
        </p:txBody>
      </p:sp>
      <p:sp>
        <p:nvSpPr>
          <p:cNvPr id="763" name="Shape 22"/>
          <p:cNvSpPr/>
          <p:nvPr/>
        </p:nvSpPr>
        <p:spPr>
          <a:xfrm>
            <a:off x="4370760" y="3246120"/>
            <a:ext cx="3474360" cy="1234080"/>
          </a:xfrm>
          <a:prstGeom prst="roundRect">
            <a:avLst>
              <a:gd name="adj" fmla="val 5926"/>
            </a:avLst>
          </a:prstGeom>
          <a:solidFill>
            <a:srgbClr val="FFFBEB"/>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4" name="Shape 23"/>
          <p:cNvSpPr/>
          <p:nvPr/>
        </p:nvSpPr>
        <p:spPr>
          <a:xfrm>
            <a:off x="4370760" y="3246120"/>
            <a:ext cx="63720" cy="1234080"/>
          </a:xfrm>
          <a:prstGeom prst="rect">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5" name="Text 24"/>
          <p:cNvSpPr/>
          <p:nvPr/>
        </p:nvSpPr>
        <p:spPr>
          <a:xfrm>
            <a:off x="4572000" y="3410640"/>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Limitation 2: unweighted shortest path</a:t>
            </a:r>
            <a:endParaRPr lang="en-US" sz="1350" b="0" u="none" strike="noStrike">
              <a:solidFill>
                <a:srgbClr val="000000"/>
              </a:solidFill>
              <a:effectLst/>
              <a:uFillTx/>
              <a:latin typeface="Arial"/>
            </a:endParaRPr>
          </a:p>
        </p:txBody>
      </p:sp>
      <p:sp>
        <p:nvSpPr>
          <p:cNvPr id="766" name="Text 25"/>
          <p:cNvSpPr/>
          <p:nvPr/>
        </p:nvSpPr>
        <p:spPr>
          <a:xfrm>
            <a:off x="4572000" y="3721680"/>
            <a:ext cx="31086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BFS optimizes number of moves, not risk, score, power-pellet timing, or ghost avoidance. Weighted objectives need UCS, A*, or utility-based planning.</a:t>
            </a:r>
            <a:endParaRPr lang="en-US" sz="1050" b="0" u="none" strike="noStrike">
              <a:solidFill>
                <a:srgbClr val="000000"/>
              </a:solidFill>
              <a:effectLst/>
              <a:uFillTx/>
              <a:latin typeface="Arial"/>
            </a:endParaRPr>
          </a:p>
        </p:txBody>
      </p:sp>
      <p:sp>
        <p:nvSpPr>
          <p:cNvPr id="767" name="Shape 26"/>
          <p:cNvSpPr/>
          <p:nvPr/>
        </p:nvSpPr>
        <p:spPr>
          <a:xfrm>
            <a:off x="8083440" y="3246120"/>
            <a:ext cx="3474360" cy="1234080"/>
          </a:xfrm>
          <a:prstGeom prst="roundRect">
            <a:avLst>
              <a:gd name="adj" fmla="val 5926"/>
            </a:avLst>
          </a:prstGeom>
          <a:solidFill>
            <a:srgbClr val="F8FBFF"/>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8" name="Shape 27"/>
          <p:cNvSpPr/>
          <p:nvPr/>
        </p:nvSpPr>
        <p:spPr>
          <a:xfrm>
            <a:off x="8083440" y="3246120"/>
            <a:ext cx="63720" cy="123408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9" name="Text 28"/>
          <p:cNvSpPr/>
          <p:nvPr/>
        </p:nvSpPr>
        <p:spPr>
          <a:xfrm>
            <a:off x="8284320" y="3410640"/>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Limitation 3: state explosion</a:t>
            </a:r>
            <a:endParaRPr lang="en-US" sz="1350" b="0" u="none" strike="noStrike">
              <a:solidFill>
                <a:srgbClr val="000000"/>
              </a:solidFill>
              <a:effectLst/>
              <a:uFillTx/>
              <a:latin typeface="Arial"/>
            </a:endParaRPr>
          </a:p>
        </p:txBody>
      </p:sp>
      <p:sp>
        <p:nvSpPr>
          <p:cNvPr id="770" name="Text 29"/>
          <p:cNvSpPr/>
          <p:nvPr/>
        </p:nvSpPr>
        <p:spPr>
          <a:xfrm>
            <a:off x="8284320" y="3721680"/>
            <a:ext cx="31086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A richer state such as position + pellets + ghost positions grows quickly. BFS can become memory-heavy before it becomes strategically useful.</a:t>
            </a:r>
            <a:endParaRPr lang="en-US" sz="1050" b="0" u="none" strike="noStrike">
              <a:solidFill>
                <a:srgbClr val="000000"/>
              </a:solidFill>
              <a:effectLst/>
              <a:uFillTx/>
              <a:latin typeface="Arial"/>
            </a:endParaRPr>
          </a:p>
        </p:txBody>
      </p:sp>
      <p:sp>
        <p:nvSpPr>
          <p:cNvPr id="771" name="Shape 30"/>
          <p:cNvSpPr/>
          <p:nvPr/>
        </p:nvSpPr>
        <p:spPr>
          <a:xfrm>
            <a:off x="1024200" y="5166360"/>
            <a:ext cx="10149480" cy="712800"/>
          </a:xfrm>
          <a:prstGeom prst="roundRect">
            <a:avLst>
              <a:gd name="adj" fmla="val 10256"/>
            </a:avLst>
          </a:prstGeom>
          <a:solidFill>
            <a:srgbClr val="0B1F33"/>
          </a:solidFill>
          <a:ln w="12700">
            <a:solidFill>
              <a:srgbClr val="0B1F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72" name="Text 31"/>
          <p:cNvSpPr/>
          <p:nvPr/>
        </p:nvSpPr>
        <p:spPr>
          <a:xfrm>
            <a:off x="1234440" y="5376600"/>
            <a:ext cx="9692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77500" lnSpcReduction="20000"/>
          </a:bodyPr>
          <a:lstStyle/>
          <a:p>
            <a:pPr algn="ctr" defTabSz="914400">
              <a:lnSpc>
                <a:spcPct val="100000"/>
              </a:lnSpc>
              <a:tabLst>
                <a:tab pos="0" algn="l"/>
              </a:tabLst>
            </a:pPr>
            <a:r>
              <a:rPr lang="en-US" sz="1400" b="1" u="none" strike="noStrike">
                <a:solidFill>
                  <a:srgbClr val="FFFFFF"/>
                </a:solidFill>
                <a:effectLst/>
                <a:uFillTx/>
                <a:latin typeface="Aptos"/>
              </a:rPr>
              <a:t>Takeaway: Levels 1 and 2 show that a reflex rule set can look reasonable locally but fail globally. BFS fixes path finding only when paired with a map, a goal, and repeated replanning.</a:t>
            </a:r>
            <a:endParaRPr lang="en-US" sz="1400" b="0" u="none" strike="noStrike">
              <a:solidFill>
                <a:srgbClr val="000000"/>
              </a:solidFill>
              <a:effectLst/>
              <a:uFillTx/>
              <a:latin typeface="Arial"/>
            </a:endParaRPr>
          </a:p>
        </p:txBody>
      </p:sp>
      <p:sp>
        <p:nvSpPr>
          <p:cNvPr id="77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7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23</a:t>
            </a:r>
            <a:endParaRPr lang="en-US" sz="18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77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77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 Agent Structure: Architecture + Program</a:t>
            </a:r>
            <a:endParaRPr lang="en-US" sz="2300" b="0" u="none" strike="noStrike">
              <a:solidFill>
                <a:srgbClr val="000000"/>
              </a:solidFill>
              <a:effectLst/>
              <a:uFillTx/>
              <a:latin typeface="Arial"/>
            </a:endParaRPr>
          </a:p>
        </p:txBody>
      </p:sp>
      <p:sp>
        <p:nvSpPr>
          <p:cNvPr id="77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a:t>
            </a:r>
            <a:endParaRPr lang="en-US" sz="1200" b="0" u="none" strike="noStrike">
              <a:solidFill>
                <a:srgbClr val="000000"/>
              </a:solidFill>
              <a:effectLst/>
              <a:uFillTx/>
              <a:latin typeface="Arial"/>
            </a:endParaRPr>
          </a:p>
        </p:txBody>
      </p:sp>
      <p:sp>
        <p:nvSpPr>
          <p:cNvPr id="77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7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24</a:t>
            </a:r>
            <a:endParaRPr lang="en-US" sz="1800" b="0" u="none" strike="noStrike">
              <a:solidFill>
                <a:srgbClr val="000000"/>
              </a:solidFill>
              <a:effectLst/>
              <a:uFillTx/>
              <a:latin typeface="Arial"/>
            </a:endParaRPr>
          </a:p>
        </p:txBody>
      </p:sp>
      <p:sp>
        <p:nvSpPr>
          <p:cNvPr id="779" name="Text 6"/>
          <p:cNvSpPr/>
          <p:nvPr/>
        </p:nvSpPr>
        <p:spPr>
          <a:xfrm>
            <a:off x="914400" y="1143000"/>
            <a:ext cx="1033164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0B2B5C"/>
                </a:solidFill>
                <a:effectLst/>
                <a:uFillTx/>
                <a:latin typeface="Aptos"/>
              </a:rPr>
              <a:t>agent = architecture + program</a:t>
            </a:r>
            <a:endParaRPr lang="en-US" sz="2800" b="0" u="none" strike="noStrike">
              <a:solidFill>
                <a:srgbClr val="000000"/>
              </a:solidFill>
              <a:effectLst/>
              <a:uFillTx/>
              <a:latin typeface="Arial"/>
            </a:endParaRPr>
          </a:p>
        </p:txBody>
      </p:sp>
      <p:sp>
        <p:nvSpPr>
          <p:cNvPr id="780" name="Shape 7"/>
          <p:cNvSpPr/>
          <p:nvPr/>
        </p:nvSpPr>
        <p:spPr>
          <a:xfrm>
            <a:off x="4530960" y="1937880"/>
            <a:ext cx="338220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1" name="Text 8"/>
          <p:cNvSpPr/>
          <p:nvPr/>
        </p:nvSpPr>
        <p:spPr>
          <a:xfrm>
            <a:off x="4695480" y="208404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Architecture</a:t>
            </a:r>
            <a:endParaRPr lang="en-US" sz="1800" b="0" u="none" strike="noStrike">
              <a:solidFill>
                <a:srgbClr val="000000"/>
              </a:solidFill>
              <a:effectLst/>
              <a:uFillTx/>
              <a:latin typeface="Arial"/>
            </a:endParaRPr>
          </a:p>
        </p:txBody>
      </p:sp>
      <p:sp>
        <p:nvSpPr>
          <p:cNvPr id="782" name="Text 9"/>
          <p:cNvSpPr/>
          <p:nvPr/>
        </p:nvSpPr>
        <p:spPr>
          <a:xfrm>
            <a:off x="4695480" y="2413440"/>
            <a:ext cx="305316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20000"/>
          </a:bodyPr>
          <a:lstStyle/>
          <a:p>
            <a:pPr defTabSz="914400">
              <a:lnSpc>
                <a:spcPct val="100000"/>
              </a:lnSpc>
              <a:tabLst>
                <a:tab pos="0" algn="l"/>
              </a:tabLst>
            </a:pPr>
            <a:r>
              <a:rPr lang="en-US" sz="1300" b="0" u="none" strike="noStrike">
                <a:solidFill>
                  <a:srgbClr val="0B1F3A"/>
                </a:solidFill>
                <a:effectLst/>
                <a:uFillTx/>
                <a:latin typeface="Aptos"/>
              </a:rPr>
              <a:t>Physical or computational platform: sensors, processors, memory, actuators. The program must fit it — recommend walking and the architecture needs legs.</a:t>
            </a:r>
            <a:endParaRPr lang="en-US" sz="1300" b="0" u="none" strike="noStrike">
              <a:solidFill>
                <a:srgbClr val="000000"/>
              </a:solidFill>
              <a:effectLst/>
              <a:uFillTx/>
              <a:latin typeface="Arial"/>
            </a:endParaRPr>
          </a:p>
        </p:txBody>
      </p:sp>
      <p:sp>
        <p:nvSpPr>
          <p:cNvPr id="783" name="Shape 10"/>
          <p:cNvSpPr/>
          <p:nvPr/>
        </p:nvSpPr>
        <p:spPr>
          <a:xfrm>
            <a:off x="8051400" y="1937880"/>
            <a:ext cx="338220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4" name="Text 11"/>
          <p:cNvSpPr/>
          <p:nvPr/>
        </p:nvSpPr>
        <p:spPr>
          <a:xfrm>
            <a:off x="8215920" y="208404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48A97"/>
                </a:solidFill>
                <a:effectLst/>
                <a:uFillTx/>
                <a:latin typeface="Aptos"/>
              </a:rPr>
              <a:t>Agent program</a:t>
            </a:r>
            <a:endParaRPr lang="en-US" sz="1800" b="0" u="none" strike="noStrike">
              <a:solidFill>
                <a:srgbClr val="000000"/>
              </a:solidFill>
              <a:effectLst/>
              <a:uFillTx/>
              <a:latin typeface="Arial"/>
            </a:endParaRPr>
          </a:p>
        </p:txBody>
      </p:sp>
      <p:sp>
        <p:nvSpPr>
          <p:cNvPr id="785" name="Text 12"/>
          <p:cNvSpPr/>
          <p:nvPr/>
        </p:nvSpPr>
        <p:spPr>
          <a:xfrm>
            <a:off x="8215920" y="2413440"/>
            <a:ext cx="305316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Software that receives percepts and returns actions.</a:t>
            </a:r>
            <a:endParaRPr lang="en-US" sz="1300" b="0" u="none" strike="noStrike">
              <a:solidFill>
                <a:srgbClr val="000000"/>
              </a:solidFill>
              <a:effectLst/>
              <a:uFillTx/>
              <a:latin typeface="Arial"/>
            </a:endParaRPr>
          </a:p>
        </p:txBody>
      </p:sp>
      <p:sp>
        <p:nvSpPr>
          <p:cNvPr id="786" name="Shape 13"/>
          <p:cNvSpPr/>
          <p:nvPr/>
        </p:nvSpPr>
        <p:spPr>
          <a:xfrm>
            <a:off x="965520" y="1911240"/>
            <a:ext cx="338220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7" name="Text 14"/>
          <p:cNvSpPr/>
          <p:nvPr/>
        </p:nvSpPr>
        <p:spPr>
          <a:xfrm>
            <a:off x="1130040" y="20574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Agent function</a:t>
            </a:r>
            <a:endParaRPr lang="en-US" sz="1800" b="0" u="none" strike="noStrike">
              <a:solidFill>
                <a:srgbClr val="000000"/>
              </a:solidFill>
              <a:effectLst/>
              <a:uFillTx/>
              <a:latin typeface="Arial"/>
            </a:endParaRPr>
          </a:p>
        </p:txBody>
      </p:sp>
      <p:sp>
        <p:nvSpPr>
          <p:cNvPr id="788" name="Text 15"/>
          <p:cNvSpPr/>
          <p:nvPr/>
        </p:nvSpPr>
        <p:spPr>
          <a:xfrm>
            <a:off x="1130040" y="2386800"/>
            <a:ext cx="305316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Behavior implemented by the program: percept sequence -&gt; action.</a:t>
            </a:r>
            <a:endParaRPr lang="en-US" sz="1300" b="0" u="none" strike="noStrike">
              <a:solidFill>
                <a:srgbClr val="000000"/>
              </a:solidFill>
              <a:effectLst/>
              <a:uFillTx/>
              <a:latin typeface="Arial"/>
            </a:endParaRPr>
          </a:p>
        </p:txBody>
      </p:sp>
      <p:sp>
        <p:nvSpPr>
          <p:cNvPr id="789" name="Text 16"/>
          <p:cNvSpPr/>
          <p:nvPr/>
        </p:nvSpPr>
        <p:spPr>
          <a:xfrm>
            <a:off x="960120" y="3977640"/>
            <a:ext cx="40222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B2B5C"/>
                </a:solidFill>
                <a:effectLst/>
                <a:uFillTx/>
                <a:latin typeface="Aptos"/>
              </a:rPr>
              <a:t>Why not use a giant lookup table?</a:t>
            </a:r>
            <a:endParaRPr lang="en-US" sz="2000" b="0" u="none" strike="noStrike">
              <a:solidFill>
                <a:srgbClr val="000000"/>
              </a:solidFill>
              <a:effectLst/>
              <a:uFillTx/>
              <a:latin typeface="Arial"/>
            </a:endParaRPr>
          </a:p>
        </p:txBody>
      </p:sp>
      <p:sp>
        <p:nvSpPr>
          <p:cNvPr id="790" name="Text 17"/>
          <p:cNvSpPr/>
          <p:nvPr/>
        </p:nvSpPr>
        <p:spPr>
          <a:xfrm>
            <a:off x="960120" y="4434840"/>
            <a:ext cx="10148760" cy="9133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85000" lnSpcReduction="19999"/>
          </a:bodyPr>
          <a:lstStyle/>
          <a:p>
            <a:pPr defTabSz="914400">
              <a:lnSpc>
                <a:spcPct val="100000"/>
              </a:lnSpc>
            </a:pPr>
            <a:r>
              <a:rPr lang="en-US" sz="1600" b="0" u="none" strike="noStrike">
                <a:solidFill>
                  <a:srgbClr val="0B1F3A"/>
                </a:solidFill>
                <a:effectLst/>
                <a:uFillTx/>
                <a:latin typeface="Aptos"/>
                <a:ea typeface="Aptos"/>
              </a:rPr>
              <a:t>Too many percept sequences to store.</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work for the designer to fill in.</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experience for the agent to learn every entry.</a:t>
            </a:r>
            <a:endParaRPr lang="en-US" sz="1600" b="0" u="none" strike="noStrike">
              <a:solidFill>
                <a:srgbClr val="000000"/>
              </a:solidFill>
              <a:effectLst/>
              <a:uFillTx/>
              <a:latin typeface="Arial"/>
            </a:endParaRPr>
          </a:p>
        </p:txBody>
      </p:sp>
      <p:sp>
        <p:nvSpPr>
          <p:cNvPr id="791" name="Text 18"/>
          <p:cNvSpPr/>
          <p:nvPr/>
        </p:nvSpPr>
        <p:spPr>
          <a:xfrm>
            <a:off x="960120" y="5715000"/>
            <a:ext cx="1014876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AI problem: produce rational behavior from a compact program, not a vast table.</a:t>
            </a:r>
            <a:endParaRPr lang="en-US" sz="18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792"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3"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794"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2.4.1 Table-Driven Agent</a:t>
            </a:r>
            <a:endParaRPr lang="en-US" sz="2300" b="0" u="none" strike="noStrike">
              <a:solidFill>
                <a:srgbClr val="000000"/>
              </a:solidFill>
              <a:effectLst/>
              <a:uFillTx/>
              <a:latin typeface="Arial"/>
            </a:endParaRPr>
          </a:p>
        </p:txBody>
      </p:sp>
      <p:sp>
        <p:nvSpPr>
          <p:cNvPr id="795"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796"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97"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25</a:t>
            </a:r>
            <a:endParaRPr lang="en-US" sz="1800" b="0" u="none" strike="noStrike">
              <a:solidFill>
                <a:srgbClr val="000000"/>
              </a:solidFill>
              <a:effectLst/>
              <a:uFillTx/>
              <a:latin typeface="Arial"/>
            </a:endParaRPr>
          </a:p>
        </p:txBody>
      </p:sp>
      <p:sp>
        <p:nvSpPr>
          <p:cNvPr id="798" name="Text 6"/>
          <p:cNvSpPr/>
          <p:nvPr/>
        </p:nvSpPr>
        <p:spPr>
          <a:xfrm>
            <a:off x="73152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A table-driven agent stores the entire percept sequence and indexes a table of actions.</a:t>
            </a:r>
            <a:endParaRPr lang="en-US" sz="1800" b="0" u="none" strike="noStrike">
              <a:solidFill>
                <a:srgbClr val="000000"/>
              </a:solidFill>
              <a:effectLst/>
              <a:uFillTx/>
              <a:latin typeface="Arial"/>
            </a:endParaRPr>
          </a:p>
        </p:txBody>
      </p:sp>
      <p:pic>
        <p:nvPicPr>
          <p:cNvPr id="799" name="Image 0" descr="/mnt/data/ch2_docx_unzipped/word/media/image6.png"/>
          <p:cNvPicPr/>
          <p:nvPr/>
        </p:nvPicPr>
        <p:blipFill>
          <a:blip r:embed="rId3"/>
          <a:stretch/>
        </p:blipFill>
        <p:spPr>
          <a:xfrm>
            <a:off x="228960" y="1828800"/>
            <a:ext cx="6628320" cy="2513880"/>
          </a:xfrm>
          <a:prstGeom prst="rect">
            <a:avLst/>
          </a:prstGeom>
          <a:noFill/>
          <a:ln w="0">
            <a:noFill/>
          </a:ln>
        </p:spPr>
      </p:pic>
      <p:sp>
        <p:nvSpPr>
          <p:cNvPr id="800" name="Shape 7"/>
          <p:cNvSpPr/>
          <p:nvPr/>
        </p:nvSpPr>
        <p:spPr>
          <a:xfrm>
            <a:off x="7315200" y="1691640"/>
            <a:ext cx="39308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1" name="Text 8"/>
          <p:cNvSpPr/>
          <p:nvPr/>
        </p:nvSpPr>
        <p:spPr>
          <a:xfrm>
            <a:off x="7479720" y="1837800"/>
            <a:ext cx="3601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What it demonstrates</a:t>
            </a:r>
            <a:endParaRPr lang="en-US" sz="1600" b="0" u="none" strike="noStrike">
              <a:solidFill>
                <a:srgbClr val="000000"/>
              </a:solidFill>
              <a:effectLst/>
              <a:uFillTx/>
              <a:latin typeface="Arial"/>
            </a:endParaRPr>
          </a:p>
        </p:txBody>
      </p:sp>
      <p:sp>
        <p:nvSpPr>
          <p:cNvPr id="802" name="Text 9"/>
          <p:cNvSpPr/>
          <p:nvPr/>
        </p:nvSpPr>
        <p:spPr>
          <a:xfrm>
            <a:off x="7479720" y="2167200"/>
            <a:ext cx="36018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The agent function can be represented explicitly as a mapping from percept history to action.</a:t>
            </a:r>
            <a:endParaRPr lang="en-US" sz="1250" b="0" u="none" strike="noStrike">
              <a:solidFill>
                <a:srgbClr val="000000"/>
              </a:solidFill>
              <a:effectLst/>
              <a:uFillTx/>
              <a:latin typeface="Arial"/>
            </a:endParaRPr>
          </a:p>
        </p:txBody>
      </p:sp>
      <p:sp>
        <p:nvSpPr>
          <p:cNvPr id="803" name="Shape 10"/>
          <p:cNvSpPr/>
          <p:nvPr/>
        </p:nvSpPr>
        <p:spPr>
          <a:xfrm>
            <a:off x="7315200" y="3063240"/>
            <a:ext cx="39308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4" name="Text 11"/>
          <p:cNvSpPr/>
          <p:nvPr/>
        </p:nvSpPr>
        <p:spPr>
          <a:xfrm>
            <a:off x="7479720" y="3209400"/>
            <a:ext cx="3601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Why it matters</a:t>
            </a:r>
            <a:endParaRPr lang="en-US" sz="1600" b="0" u="none" strike="noStrike">
              <a:solidFill>
                <a:srgbClr val="000000"/>
              </a:solidFill>
              <a:effectLst/>
              <a:uFillTx/>
              <a:latin typeface="Arial"/>
            </a:endParaRPr>
          </a:p>
        </p:txBody>
      </p:sp>
      <p:sp>
        <p:nvSpPr>
          <p:cNvPr id="805" name="Text 12"/>
          <p:cNvSpPr/>
          <p:nvPr/>
        </p:nvSpPr>
        <p:spPr>
          <a:xfrm>
            <a:off x="7479720" y="3538800"/>
            <a:ext cx="36018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It is correct in principle if the table is filled correctly, but it is usually infeasible.</a:t>
            </a:r>
            <a:endParaRPr lang="en-US" sz="1250" b="0" u="none" strike="noStrike">
              <a:solidFill>
                <a:srgbClr val="000000"/>
              </a:solidFill>
              <a:effectLst/>
              <a:uFillTx/>
              <a:latin typeface="Arial"/>
            </a:endParaRPr>
          </a:p>
        </p:txBody>
      </p:sp>
      <p:sp>
        <p:nvSpPr>
          <p:cNvPr id="806" name="Shape 13"/>
          <p:cNvSpPr/>
          <p:nvPr/>
        </p:nvSpPr>
        <p:spPr>
          <a:xfrm>
            <a:off x="7315200" y="4434840"/>
            <a:ext cx="39308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7" name="Text 14"/>
          <p:cNvSpPr/>
          <p:nvPr/>
        </p:nvSpPr>
        <p:spPr>
          <a:xfrm>
            <a:off x="7479720" y="4581000"/>
            <a:ext cx="3601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rPr>
              <a:t>Term to know</a:t>
            </a:r>
            <a:endParaRPr lang="en-US" sz="1600" b="0" u="none" strike="noStrike">
              <a:solidFill>
                <a:srgbClr val="000000"/>
              </a:solidFill>
              <a:effectLst/>
              <a:uFillTx/>
              <a:latin typeface="Arial"/>
            </a:endParaRPr>
          </a:p>
        </p:txBody>
      </p:sp>
      <p:sp>
        <p:nvSpPr>
          <p:cNvPr id="808" name="Text 15"/>
          <p:cNvSpPr/>
          <p:nvPr/>
        </p:nvSpPr>
        <p:spPr>
          <a:xfrm>
            <a:off x="7479720" y="4910400"/>
            <a:ext cx="36018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Table-driven agent: the simplest conceptual agent program in Section 2.4.1.</a:t>
            </a:r>
            <a:endParaRPr lang="en-US" sz="1250" b="0" u="none" strike="noStrike">
              <a:solidFill>
                <a:srgbClr val="000000"/>
              </a:solidFill>
              <a:effectLst/>
              <a:uFillTx/>
              <a:latin typeface="Arial"/>
            </a:endParaRPr>
          </a:p>
        </p:txBody>
      </p:sp>
      <p:sp>
        <p:nvSpPr>
          <p:cNvPr id="809" name="Text 16"/>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2.7</a:t>
            </a:r>
            <a:endParaRPr lang="en-US" sz="75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10"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1"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812"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Why Table-Driven Agents Fail in Practice</a:t>
            </a:r>
            <a:endParaRPr lang="en-US" sz="2300" b="0" u="none" strike="noStrike">
              <a:solidFill>
                <a:srgbClr val="000000"/>
              </a:solidFill>
              <a:effectLst/>
              <a:uFillTx/>
              <a:latin typeface="Arial"/>
            </a:endParaRPr>
          </a:p>
        </p:txBody>
      </p:sp>
      <p:sp>
        <p:nvSpPr>
          <p:cNvPr id="813"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814"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815"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26</a:t>
            </a:r>
            <a:endParaRPr lang="en-US" sz="1800" b="0" u="none" strike="noStrike">
              <a:solidFill>
                <a:srgbClr val="000000"/>
              </a:solidFill>
              <a:effectLst/>
              <a:uFillTx/>
              <a:latin typeface="Arial"/>
            </a:endParaRPr>
          </a:p>
        </p:txBody>
      </p:sp>
      <p:sp>
        <p:nvSpPr>
          <p:cNvPr id="816" name="Text 6"/>
          <p:cNvSpPr/>
          <p:nvPr/>
        </p:nvSpPr>
        <p:spPr>
          <a:xfrm>
            <a:off x="822960" y="1143000"/>
            <a:ext cx="1051452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rPr>
              <a:t>The lookup table grows with every possible percept sequence.</a:t>
            </a:r>
            <a:endParaRPr lang="en-US" sz="2200" b="0" u="none" strike="noStrike">
              <a:solidFill>
                <a:srgbClr val="000000"/>
              </a:solidFill>
              <a:effectLst/>
              <a:uFillTx/>
              <a:latin typeface="Arial"/>
            </a:endParaRPr>
          </a:p>
        </p:txBody>
      </p:sp>
      <p:sp>
        <p:nvSpPr>
          <p:cNvPr id="817" name="Shape 7"/>
          <p:cNvSpPr/>
          <p:nvPr/>
        </p:nvSpPr>
        <p:spPr>
          <a:xfrm>
            <a:off x="822960" y="2057400"/>
            <a:ext cx="333648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18" name="Text 8"/>
          <p:cNvSpPr/>
          <p:nvPr/>
        </p:nvSpPr>
        <p:spPr>
          <a:xfrm>
            <a:off x="987480" y="2203560"/>
            <a:ext cx="3007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rPr>
              <a:t>Space problem</a:t>
            </a:r>
            <a:endParaRPr lang="en-US" sz="1700" b="0" u="none" strike="noStrike">
              <a:solidFill>
                <a:srgbClr val="000000"/>
              </a:solidFill>
              <a:effectLst/>
              <a:uFillTx/>
              <a:latin typeface="Arial"/>
            </a:endParaRPr>
          </a:p>
        </p:txBody>
      </p:sp>
      <p:sp>
        <p:nvSpPr>
          <p:cNvPr id="819" name="Text 9"/>
          <p:cNvSpPr/>
          <p:nvPr/>
        </p:nvSpPr>
        <p:spPr>
          <a:xfrm>
            <a:off x="987480" y="2532960"/>
            <a:ext cx="300744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No physical agent can store every entry for a realistic environment.</a:t>
            </a:r>
            <a:endParaRPr lang="en-US" sz="1350" b="0" u="none" strike="noStrike">
              <a:solidFill>
                <a:srgbClr val="000000"/>
              </a:solidFill>
              <a:effectLst/>
              <a:uFillTx/>
              <a:latin typeface="Arial"/>
            </a:endParaRPr>
          </a:p>
        </p:txBody>
      </p:sp>
      <p:sp>
        <p:nvSpPr>
          <p:cNvPr id="820" name="Shape 10"/>
          <p:cNvSpPr/>
          <p:nvPr/>
        </p:nvSpPr>
        <p:spPr>
          <a:xfrm>
            <a:off x="4617720" y="2057400"/>
            <a:ext cx="333648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1" name="Text 11"/>
          <p:cNvSpPr/>
          <p:nvPr/>
        </p:nvSpPr>
        <p:spPr>
          <a:xfrm>
            <a:off x="4782240" y="2203560"/>
            <a:ext cx="3007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rPr>
              <a:t>Design problem</a:t>
            </a:r>
            <a:endParaRPr lang="en-US" sz="1700" b="0" u="none" strike="noStrike">
              <a:solidFill>
                <a:srgbClr val="000000"/>
              </a:solidFill>
              <a:effectLst/>
              <a:uFillTx/>
              <a:latin typeface="Arial"/>
            </a:endParaRPr>
          </a:p>
        </p:txBody>
      </p:sp>
      <p:sp>
        <p:nvSpPr>
          <p:cNvPr id="822" name="Text 12"/>
          <p:cNvSpPr/>
          <p:nvPr/>
        </p:nvSpPr>
        <p:spPr>
          <a:xfrm>
            <a:off x="4782240" y="2532960"/>
            <a:ext cx="300744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No designer can fill in the right action for every possible sequence.</a:t>
            </a:r>
            <a:endParaRPr lang="en-US" sz="1350" b="0" u="none" strike="noStrike">
              <a:solidFill>
                <a:srgbClr val="000000"/>
              </a:solidFill>
              <a:effectLst/>
              <a:uFillTx/>
              <a:latin typeface="Arial"/>
            </a:endParaRPr>
          </a:p>
        </p:txBody>
      </p:sp>
      <p:sp>
        <p:nvSpPr>
          <p:cNvPr id="823" name="Shape 13"/>
          <p:cNvSpPr/>
          <p:nvPr/>
        </p:nvSpPr>
        <p:spPr>
          <a:xfrm>
            <a:off x="8412480" y="2057400"/>
            <a:ext cx="333648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4" name="Text 14"/>
          <p:cNvSpPr/>
          <p:nvPr/>
        </p:nvSpPr>
        <p:spPr>
          <a:xfrm>
            <a:off x="8577000" y="2203560"/>
            <a:ext cx="3007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5B35B1"/>
                </a:solidFill>
                <a:effectLst/>
                <a:uFillTx/>
                <a:latin typeface="Aptos"/>
              </a:rPr>
              <a:t>Learning problem</a:t>
            </a:r>
            <a:endParaRPr lang="en-US" sz="1700" b="0" u="none" strike="noStrike">
              <a:solidFill>
                <a:srgbClr val="000000"/>
              </a:solidFill>
              <a:effectLst/>
              <a:uFillTx/>
              <a:latin typeface="Arial"/>
            </a:endParaRPr>
          </a:p>
        </p:txBody>
      </p:sp>
      <p:sp>
        <p:nvSpPr>
          <p:cNvPr id="825" name="Text 15"/>
          <p:cNvSpPr/>
          <p:nvPr/>
        </p:nvSpPr>
        <p:spPr>
          <a:xfrm>
            <a:off x="8577000" y="2532960"/>
            <a:ext cx="300744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No agent can experience every possible percept sequence.</a:t>
            </a:r>
            <a:endParaRPr lang="en-US" sz="1350" b="0" u="none" strike="noStrike">
              <a:solidFill>
                <a:srgbClr val="000000"/>
              </a:solidFill>
              <a:effectLst/>
              <a:uFillTx/>
              <a:latin typeface="Arial"/>
            </a:endParaRPr>
          </a:p>
        </p:txBody>
      </p:sp>
      <p:sp>
        <p:nvSpPr>
          <p:cNvPr id="826" name="Shape 16"/>
          <p:cNvSpPr/>
          <p:nvPr/>
        </p:nvSpPr>
        <p:spPr>
          <a:xfrm>
            <a:off x="1005840" y="4343400"/>
            <a:ext cx="10149840" cy="360"/>
          </a:xfrm>
          <a:prstGeom prst="line">
            <a:avLst/>
          </a:prstGeom>
          <a:ln w="254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27" name="Text 17"/>
          <p:cNvSpPr/>
          <p:nvPr/>
        </p:nvSpPr>
        <p:spPr>
          <a:xfrm>
            <a:off x="1005840" y="4681800"/>
            <a:ext cx="1014876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rPr>
              <a:t>Key challenge for AI</a:t>
            </a:r>
            <a:endParaRPr lang="en-US" sz="2100" b="0" u="none" strike="noStrike">
              <a:solidFill>
                <a:srgbClr val="000000"/>
              </a:solidFill>
              <a:effectLst/>
              <a:uFillTx/>
              <a:latin typeface="Arial"/>
            </a:endParaRPr>
          </a:p>
        </p:txBody>
      </p:sp>
      <p:sp>
        <p:nvSpPr>
          <p:cNvPr id="828" name="Text 18"/>
          <p:cNvSpPr/>
          <p:nvPr/>
        </p:nvSpPr>
        <p:spPr>
          <a:xfrm>
            <a:off x="1005840" y="5120640"/>
            <a:ext cx="1014876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1F3A"/>
                </a:solidFill>
                <a:effectLst/>
                <a:uFillTx/>
                <a:latin typeface="Aptos"/>
              </a:rPr>
              <a:t>Write small programs that produce rational behavior without enumerating every possible history.</a:t>
            </a:r>
            <a:endParaRPr lang="en-US" sz="20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29"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0"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831"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2.4.1 The Numbers Behind the Failure</a:t>
            </a:r>
            <a:endParaRPr lang="en-US" sz="2300" b="0" u="none" strike="noStrike">
              <a:solidFill>
                <a:srgbClr val="000000"/>
              </a:solidFill>
              <a:effectLst/>
              <a:uFillTx/>
              <a:latin typeface="Arial"/>
            </a:endParaRPr>
          </a:p>
        </p:txBody>
      </p:sp>
      <p:sp>
        <p:nvSpPr>
          <p:cNvPr id="832"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833" name="Shape 5"/>
          <p:cNvSpPr/>
          <p:nvPr/>
        </p:nvSpPr>
        <p:spPr>
          <a:xfrm>
            <a:off x="86868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4" name="Text 6"/>
          <p:cNvSpPr/>
          <p:nvPr/>
        </p:nvSpPr>
        <p:spPr>
          <a:xfrm>
            <a:off x="99684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2B6CB0"/>
                </a:solidFill>
                <a:effectLst/>
                <a:uFillTx/>
                <a:latin typeface="Aptos"/>
                <a:ea typeface="Aptos"/>
              </a:rPr>
              <a:t>70 MB/s</a:t>
            </a:r>
            <a:endParaRPr lang="en-US" sz="2800" b="0" u="none" strike="noStrike">
              <a:solidFill>
                <a:srgbClr val="000000"/>
              </a:solidFill>
              <a:effectLst/>
              <a:uFillTx/>
              <a:latin typeface="Arial"/>
            </a:endParaRPr>
          </a:p>
        </p:txBody>
      </p:sp>
      <p:sp>
        <p:nvSpPr>
          <p:cNvPr id="835" name="Text 7"/>
          <p:cNvSpPr/>
          <p:nvPr/>
        </p:nvSpPr>
        <p:spPr>
          <a:xfrm>
            <a:off x="101484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Visual input from a single taxi camera at 30 fps, 1080 × 720, 24-bit color. Eight cameras is typical.</a:t>
            </a:r>
            <a:endParaRPr lang="en-US" sz="1200" b="0" u="none" strike="noStrike">
              <a:solidFill>
                <a:srgbClr val="000000"/>
              </a:solidFill>
              <a:effectLst/>
              <a:uFillTx/>
              <a:latin typeface="Arial"/>
            </a:endParaRPr>
          </a:p>
        </p:txBody>
      </p:sp>
      <p:sp>
        <p:nvSpPr>
          <p:cNvPr id="836" name="Shape 8"/>
          <p:cNvSpPr/>
          <p:nvPr/>
        </p:nvSpPr>
        <p:spPr>
          <a:xfrm>
            <a:off x="354348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7" name="Text 9"/>
          <p:cNvSpPr/>
          <p:nvPr/>
        </p:nvSpPr>
        <p:spPr>
          <a:xfrm>
            <a:off x="367128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A32020"/>
                </a:solidFill>
                <a:effectLst/>
                <a:uFillTx/>
                <a:latin typeface="Aptos"/>
                <a:ea typeface="Aptos"/>
              </a:rPr>
              <a:t>10⁶⁰⁰,⁰⁰⁰,⁰⁰⁰,⁰⁰⁰</a:t>
            </a:r>
            <a:endParaRPr lang="en-US" sz="2000" b="0" u="none" strike="noStrike">
              <a:solidFill>
                <a:srgbClr val="000000"/>
              </a:solidFill>
              <a:effectLst/>
              <a:uFillTx/>
              <a:latin typeface="Arial"/>
            </a:endParaRPr>
          </a:p>
        </p:txBody>
      </p:sp>
      <p:sp>
        <p:nvSpPr>
          <p:cNvPr id="838" name="Text 10"/>
          <p:cNvSpPr/>
          <p:nvPr/>
        </p:nvSpPr>
        <p:spPr>
          <a:xfrm>
            <a:off x="368964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Entries the lookup table would need for one hour of driving from a single camera.</a:t>
            </a:r>
            <a:endParaRPr lang="en-US" sz="1200" b="0" u="none" strike="noStrike">
              <a:solidFill>
                <a:srgbClr val="000000"/>
              </a:solidFill>
              <a:effectLst/>
              <a:uFillTx/>
              <a:latin typeface="Arial"/>
            </a:endParaRPr>
          </a:p>
        </p:txBody>
      </p:sp>
      <p:sp>
        <p:nvSpPr>
          <p:cNvPr id="839" name="Shape 11"/>
          <p:cNvSpPr/>
          <p:nvPr/>
        </p:nvSpPr>
        <p:spPr>
          <a:xfrm>
            <a:off x="621792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0" name="Text 12"/>
          <p:cNvSpPr/>
          <p:nvPr/>
        </p:nvSpPr>
        <p:spPr>
          <a:xfrm>
            <a:off x="634608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5B35B1"/>
                </a:solidFill>
                <a:effectLst/>
                <a:uFillTx/>
                <a:latin typeface="Aptos"/>
                <a:ea typeface="Aptos"/>
              </a:rPr>
              <a:t>10¹⁵⁰</a:t>
            </a:r>
            <a:endParaRPr lang="en-US" sz="3600" b="0" u="none" strike="noStrike">
              <a:solidFill>
                <a:srgbClr val="000000"/>
              </a:solidFill>
              <a:effectLst/>
              <a:uFillTx/>
              <a:latin typeface="Arial"/>
            </a:endParaRPr>
          </a:p>
        </p:txBody>
      </p:sp>
      <p:sp>
        <p:nvSpPr>
          <p:cNvPr id="841" name="Text 13"/>
          <p:cNvSpPr/>
          <p:nvPr/>
        </p:nvSpPr>
        <p:spPr>
          <a:xfrm>
            <a:off x="636408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Entries for chess alone — a tiny, well-behaved fragment of the real world.</a:t>
            </a:r>
            <a:endParaRPr lang="en-US" sz="1200" b="0" u="none" strike="noStrike">
              <a:solidFill>
                <a:srgbClr val="000000"/>
              </a:solidFill>
              <a:effectLst/>
              <a:uFillTx/>
              <a:latin typeface="Arial"/>
            </a:endParaRPr>
          </a:p>
        </p:txBody>
      </p:sp>
      <p:sp>
        <p:nvSpPr>
          <p:cNvPr id="842" name="Shape 14"/>
          <p:cNvSpPr/>
          <p:nvPr/>
        </p:nvSpPr>
        <p:spPr>
          <a:xfrm>
            <a:off x="889272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3" name="Text 15"/>
          <p:cNvSpPr/>
          <p:nvPr/>
        </p:nvSpPr>
        <p:spPr>
          <a:xfrm>
            <a:off x="902052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1B7A45"/>
                </a:solidFill>
                <a:effectLst/>
                <a:uFillTx/>
                <a:latin typeface="Aptos"/>
                <a:ea typeface="Aptos"/>
              </a:rPr>
              <a:t>&lt; 10⁸⁰</a:t>
            </a:r>
            <a:endParaRPr lang="en-US" sz="3600" b="0" u="none" strike="noStrike">
              <a:solidFill>
                <a:srgbClr val="000000"/>
              </a:solidFill>
              <a:effectLst/>
              <a:uFillTx/>
              <a:latin typeface="Arial"/>
            </a:endParaRPr>
          </a:p>
        </p:txBody>
      </p:sp>
      <p:sp>
        <p:nvSpPr>
          <p:cNvPr id="844" name="Text 16"/>
          <p:cNvSpPr/>
          <p:nvPr/>
        </p:nvSpPr>
        <p:spPr>
          <a:xfrm>
            <a:off x="903888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Atoms in the observable universe, for comparison.</a:t>
            </a:r>
            <a:endParaRPr lang="en-US" sz="1200" b="0" u="none" strike="noStrike">
              <a:solidFill>
                <a:srgbClr val="000000"/>
              </a:solidFill>
              <a:effectLst/>
              <a:uFillTx/>
              <a:latin typeface="Arial"/>
            </a:endParaRPr>
          </a:p>
        </p:txBody>
      </p:sp>
      <p:sp>
        <p:nvSpPr>
          <p:cNvPr id="845" name="Shape 17"/>
          <p:cNvSpPr/>
          <p:nvPr/>
        </p:nvSpPr>
        <p:spPr>
          <a:xfrm>
            <a:off x="868680" y="3429000"/>
            <a:ext cx="10423800" cy="132552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6" name="Text 18"/>
          <p:cNvSpPr/>
          <p:nvPr/>
        </p:nvSpPr>
        <p:spPr>
          <a:xfrm>
            <a:off x="1124640" y="3584520"/>
            <a:ext cx="9911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B2B5C"/>
                </a:solidFill>
                <a:effectLst/>
                <a:uFillTx/>
                <a:latin typeface="Aptos"/>
                <a:ea typeface="Aptos"/>
              </a:rPr>
              <a:t>Newton, not tables</a:t>
            </a:r>
            <a:endParaRPr lang="en-US" sz="1700" b="0" u="none" strike="noStrike">
              <a:solidFill>
                <a:srgbClr val="000000"/>
              </a:solidFill>
              <a:effectLst/>
              <a:uFillTx/>
              <a:latin typeface="Arial"/>
            </a:endParaRPr>
          </a:p>
        </p:txBody>
      </p:sp>
      <p:sp>
        <p:nvSpPr>
          <p:cNvPr id="847" name="Text 19"/>
          <p:cNvSpPr/>
          <p:nvPr/>
        </p:nvSpPr>
        <p:spPr>
          <a:xfrm>
            <a:off x="1124640" y="3950280"/>
            <a:ext cx="99118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0B1F3A"/>
                </a:solidFill>
                <a:effectLst/>
                <a:uFillTx/>
                <a:latin typeface="Aptos"/>
                <a:ea typeface="Aptos"/>
              </a:rPr>
              <a:t>Before the 1970s, engineers and schoolchildren looked up square roots in enormous printed tables. A five-line program for Newton's method on a pocket calculator replaced all of them. The chapter's wager is that AI can do the same for intelligent behavior generally.</a:t>
            </a:r>
            <a:endParaRPr lang="en-US" sz="1400" b="0" u="none" strike="noStrike">
              <a:solidFill>
                <a:srgbClr val="000000"/>
              </a:solidFill>
              <a:effectLst/>
              <a:uFillTx/>
              <a:latin typeface="Arial"/>
            </a:endParaRPr>
          </a:p>
        </p:txBody>
      </p:sp>
      <p:sp>
        <p:nvSpPr>
          <p:cNvPr id="848" name="Text 20"/>
          <p:cNvSpPr/>
          <p:nvPr/>
        </p:nvSpPr>
        <p:spPr>
          <a:xfrm>
            <a:off x="914400" y="50292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No agent can store it, no designer can fill it in, no agent can learn it</a:t>
            </a:r>
            <a:endParaRPr lang="en-US" sz="1900" b="0" u="none" strike="noStrike">
              <a:solidFill>
                <a:srgbClr val="000000"/>
              </a:solidFill>
              <a:effectLst/>
              <a:uFillTx/>
              <a:latin typeface="Arial"/>
            </a:endParaRPr>
          </a:p>
        </p:txBody>
      </p:sp>
      <p:sp>
        <p:nvSpPr>
          <p:cNvPr id="849" name="Text 21"/>
          <p:cNvSpPr/>
          <p:nvPr/>
        </p:nvSpPr>
        <p:spPr>
          <a:xfrm>
            <a:off x="1005840" y="5532120"/>
            <a:ext cx="10149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TABLE-DRIVEN-AGENT is not wrong — filled in correctly it implements exactly the agent function we want. It is simply unbuildable. The key challenge is producing rational behavior from a small program instead.</a:t>
            </a:r>
            <a:endParaRPr lang="en-US" sz="1400" b="0" u="none" strike="noStrike">
              <a:solidFill>
                <a:srgbClr val="000000"/>
              </a:solidFill>
              <a:effectLst/>
              <a:uFillTx/>
              <a:latin typeface="Arial"/>
            </a:endParaRPr>
          </a:p>
        </p:txBody>
      </p:sp>
      <p:sp>
        <p:nvSpPr>
          <p:cNvPr id="850" name="Text 22"/>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851" name="Text 23"/>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27</a:t>
            </a:r>
            <a:endParaRPr lang="en-US" sz="8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52"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3"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854"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2.4.2 Simple Reflex Agents: Vacuum Pseudocode</a:t>
            </a:r>
            <a:endParaRPr lang="en-US" sz="2300" b="0" u="none" strike="noStrike">
              <a:solidFill>
                <a:srgbClr val="000000"/>
              </a:solidFill>
              <a:effectLst/>
              <a:uFillTx/>
              <a:latin typeface="Arial"/>
            </a:endParaRPr>
          </a:p>
        </p:txBody>
      </p:sp>
      <p:sp>
        <p:nvSpPr>
          <p:cNvPr id="855"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856"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857"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28</a:t>
            </a:r>
            <a:endParaRPr lang="en-US" sz="1800" b="0" u="none" strike="noStrike">
              <a:solidFill>
                <a:srgbClr val="000000"/>
              </a:solidFill>
              <a:effectLst/>
              <a:uFillTx/>
              <a:latin typeface="Arial"/>
            </a:endParaRPr>
          </a:p>
        </p:txBody>
      </p:sp>
      <p:sp>
        <p:nvSpPr>
          <p:cNvPr id="858" name="Text 6"/>
          <p:cNvSpPr/>
          <p:nvPr/>
        </p:nvSpPr>
        <p:spPr>
          <a:xfrm>
            <a:off x="822960" y="1078920"/>
            <a:ext cx="1051452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Select an action from the current percept only.</a:t>
            </a:r>
            <a:endParaRPr lang="en-US" sz="2000" b="0" u="none" strike="noStrike">
              <a:solidFill>
                <a:srgbClr val="000000"/>
              </a:solidFill>
              <a:effectLst/>
              <a:uFillTx/>
              <a:latin typeface="Arial"/>
            </a:endParaRPr>
          </a:p>
        </p:txBody>
      </p:sp>
      <p:pic>
        <p:nvPicPr>
          <p:cNvPr id="859" name="Image 0" descr="/mnt/data/ch2_docx_unzipped/word/media/image7.png"/>
          <p:cNvPicPr/>
          <p:nvPr/>
        </p:nvPicPr>
        <p:blipFill>
          <a:blip r:embed="rId3"/>
          <a:stretch/>
        </p:blipFill>
        <p:spPr>
          <a:xfrm>
            <a:off x="868680" y="1645920"/>
            <a:ext cx="6582600" cy="2193480"/>
          </a:xfrm>
          <a:prstGeom prst="rect">
            <a:avLst/>
          </a:prstGeom>
          <a:noFill/>
          <a:ln w="0">
            <a:noFill/>
          </a:ln>
        </p:spPr>
      </p:pic>
      <p:sp>
        <p:nvSpPr>
          <p:cNvPr id="860" name="Shape 7"/>
          <p:cNvSpPr/>
          <p:nvPr/>
        </p:nvSpPr>
        <p:spPr>
          <a:xfrm>
            <a:off x="7589520" y="1691640"/>
            <a:ext cx="3610800" cy="1507680"/>
          </a:xfrm>
          <a:prstGeom prst="roundRect">
            <a:avLst>
              <a:gd name="adj" fmla="val 363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1" name="Text 8"/>
          <p:cNvSpPr/>
          <p:nvPr/>
        </p:nvSpPr>
        <p:spPr>
          <a:xfrm>
            <a:off x="7754040" y="1837800"/>
            <a:ext cx="3281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Vacuum rule</a:t>
            </a:r>
            <a:endParaRPr lang="en-US" sz="1700" b="0" u="none" strike="noStrike">
              <a:solidFill>
                <a:srgbClr val="000000"/>
              </a:solidFill>
              <a:effectLst/>
              <a:uFillTx/>
              <a:latin typeface="Arial"/>
            </a:endParaRPr>
          </a:p>
        </p:txBody>
      </p:sp>
      <p:sp>
        <p:nvSpPr>
          <p:cNvPr id="862" name="Text 9"/>
          <p:cNvSpPr/>
          <p:nvPr/>
        </p:nvSpPr>
        <p:spPr>
          <a:xfrm>
            <a:off x="7754040" y="2167200"/>
            <a:ext cx="3281760" cy="913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if status = Dirty then Suck</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A then Right</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B then Left</a:t>
            </a:r>
            <a:endParaRPr lang="en-US" sz="1350" b="0" u="none" strike="noStrike">
              <a:solidFill>
                <a:srgbClr val="000000"/>
              </a:solidFill>
              <a:effectLst/>
              <a:uFillTx/>
              <a:latin typeface="Arial"/>
            </a:endParaRPr>
          </a:p>
        </p:txBody>
      </p:sp>
      <p:sp>
        <p:nvSpPr>
          <p:cNvPr id="863" name="Shape 10"/>
          <p:cNvSpPr/>
          <p:nvPr/>
        </p:nvSpPr>
        <p:spPr>
          <a:xfrm>
            <a:off x="7589520" y="3456360"/>
            <a:ext cx="361080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4" name="Text 11"/>
          <p:cNvSpPr/>
          <p:nvPr/>
        </p:nvSpPr>
        <p:spPr>
          <a:xfrm>
            <a:off x="7754040" y="3602880"/>
            <a:ext cx="3281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Why this is reflex</a:t>
            </a:r>
            <a:endParaRPr lang="en-US" sz="1700" b="0" u="none" strike="noStrike">
              <a:solidFill>
                <a:srgbClr val="000000"/>
              </a:solidFill>
              <a:effectLst/>
              <a:uFillTx/>
              <a:latin typeface="Arial"/>
            </a:endParaRPr>
          </a:p>
        </p:txBody>
      </p:sp>
      <p:sp>
        <p:nvSpPr>
          <p:cNvPr id="865" name="Text 12"/>
          <p:cNvSpPr/>
          <p:nvPr/>
        </p:nvSpPr>
        <p:spPr>
          <a:xfrm>
            <a:off x="7754040" y="3931920"/>
            <a:ext cx="328176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The action depends only on current location and dirt status, not the entire percept history.</a:t>
            </a:r>
            <a:endParaRPr lang="en-US" sz="1350" b="0" u="none" strike="noStrike">
              <a:solidFill>
                <a:srgbClr val="000000"/>
              </a:solidFill>
              <a:effectLst/>
              <a:uFillTx/>
              <a:latin typeface="Arial"/>
            </a:endParaRPr>
          </a:p>
        </p:txBody>
      </p:sp>
      <p:sp>
        <p:nvSpPr>
          <p:cNvPr id="866" name="Text 13"/>
          <p:cNvSpPr/>
          <p:nvPr/>
        </p:nvSpPr>
        <p:spPr>
          <a:xfrm>
            <a:off x="868680" y="5577840"/>
            <a:ext cx="1033164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Strength: fast and compact. Weakness: brittle when the current percept is incomplete.</a:t>
            </a:r>
            <a:endParaRPr lang="en-US" sz="1800" b="0" u="none" strike="noStrike">
              <a:solidFill>
                <a:srgbClr val="000000"/>
              </a:solidFill>
              <a:effectLst/>
              <a:uFillTx/>
              <a:latin typeface="Arial"/>
            </a:endParaRPr>
          </a:p>
        </p:txBody>
      </p:sp>
      <p:sp>
        <p:nvSpPr>
          <p:cNvPr id="867" name="Text 14"/>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2.8</a:t>
            </a:r>
            <a:endParaRPr lang="en-US" sz="75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6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6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87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2.4.2 General Simple Reflex Agent</a:t>
            </a:r>
            <a:endParaRPr lang="en-US" sz="2300" b="0" u="none" strike="noStrike">
              <a:solidFill>
                <a:srgbClr val="000000"/>
              </a:solidFill>
              <a:effectLst/>
              <a:uFillTx/>
              <a:latin typeface="Arial"/>
            </a:endParaRPr>
          </a:p>
        </p:txBody>
      </p:sp>
      <p:sp>
        <p:nvSpPr>
          <p:cNvPr id="87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87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87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29</a:t>
            </a:r>
            <a:endParaRPr lang="en-US" sz="1800" b="0" u="none" strike="noStrike">
              <a:solidFill>
                <a:srgbClr val="000000"/>
              </a:solidFill>
              <a:effectLst/>
              <a:uFillTx/>
              <a:latin typeface="Arial"/>
            </a:endParaRPr>
          </a:p>
        </p:txBody>
      </p:sp>
      <p:pic>
        <p:nvPicPr>
          <p:cNvPr id="874" name="Image 0" descr="/mnt/data/ch2_docx_unzipped/word/media/image8.png"/>
          <p:cNvPicPr/>
          <p:nvPr/>
        </p:nvPicPr>
        <p:blipFill>
          <a:blip r:embed="rId3"/>
          <a:stretch/>
        </p:blipFill>
        <p:spPr>
          <a:xfrm>
            <a:off x="457200" y="1371600"/>
            <a:ext cx="5257080" cy="4137840"/>
          </a:xfrm>
          <a:prstGeom prst="rect">
            <a:avLst/>
          </a:prstGeom>
          <a:noFill/>
          <a:ln w="0">
            <a:noFill/>
          </a:ln>
        </p:spPr>
      </p:pic>
      <p:pic>
        <p:nvPicPr>
          <p:cNvPr id="875" name="Image 1" descr="/mnt/data/ch2_docx_unzipped/word/media/image9.png"/>
          <p:cNvPicPr/>
          <p:nvPr/>
        </p:nvPicPr>
        <p:blipFill>
          <a:blip r:embed="rId4"/>
          <a:stretch/>
        </p:blipFill>
        <p:spPr>
          <a:xfrm>
            <a:off x="6315480" y="1463040"/>
            <a:ext cx="5107320" cy="2376360"/>
          </a:xfrm>
          <a:prstGeom prst="rect">
            <a:avLst/>
          </a:prstGeom>
          <a:noFill/>
          <a:ln w="0">
            <a:noFill/>
          </a:ln>
        </p:spPr>
      </p:pic>
      <p:sp>
        <p:nvSpPr>
          <p:cNvPr id="876" name="Shape 6"/>
          <p:cNvSpPr/>
          <p:nvPr/>
        </p:nvSpPr>
        <p:spPr>
          <a:xfrm>
            <a:off x="6217920" y="4160520"/>
            <a:ext cx="5256720" cy="821880"/>
          </a:xfrm>
          <a:prstGeom prst="roundRect">
            <a:avLst>
              <a:gd name="adj" fmla="val 6667"/>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77" name="Text 7"/>
          <p:cNvSpPr/>
          <p:nvPr/>
        </p:nvSpPr>
        <p:spPr>
          <a:xfrm>
            <a:off x="6382440" y="4306680"/>
            <a:ext cx="49276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General pattern</a:t>
            </a:r>
            <a:endParaRPr lang="en-US" sz="1600" b="0" u="none" strike="noStrike">
              <a:solidFill>
                <a:srgbClr val="000000"/>
              </a:solidFill>
              <a:effectLst/>
              <a:uFillTx/>
              <a:latin typeface="Arial"/>
            </a:endParaRPr>
          </a:p>
        </p:txBody>
      </p:sp>
      <p:sp>
        <p:nvSpPr>
          <p:cNvPr id="878" name="Text 8"/>
          <p:cNvSpPr/>
          <p:nvPr/>
        </p:nvSpPr>
        <p:spPr>
          <a:xfrm>
            <a:off x="6382440" y="4636080"/>
            <a:ext cx="4927680" cy="227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9999"/>
          </a:bodyPr>
          <a:lstStyle/>
          <a:p>
            <a:pPr defTabSz="914400">
              <a:lnSpc>
                <a:spcPct val="100000"/>
              </a:lnSpc>
              <a:tabLst>
                <a:tab pos="0" algn="l"/>
              </a:tabLst>
            </a:pPr>
            <a:r>
              <a:rPr lang="en-US" sz="1250" b="0" u="none" strike="noStrike">
                <a:solidFill>
                  <a:srgbClr val="0B1F3A"/>
                </a:solidFill>
                <a:effectLst/>
                <a:uFillTx/>
                <a:latin typeface="Aptos"/>
              </a:rPr>
              <a:t>Interpret current percept -&gt; match condition-action rule -&gt; return rule action.</a:t>
            </a:r>
            <a:endParaRPr lang="en-US" sz="1250" b="0" u="none" strike="noStrike">
              <a:solidFill>
                <a:srgbClr val="000000"/>
              </a:solidFill>
              <a:effectLst/>
              <a:uFillTx/>
              <a:latin typeface="Arial"/>
            </a:endParaRPr>
          </a:p>
        </p:txBody>
      </p:sp>
      <p:sp>
        <p:nvSpPr>
          <p:cNvPr id="879" name="Shape 9"/>
          <p:cNvSpPr/>
          <p:nvPr/>
        </p:nvSpPr>
        <p:spPr>
          <a:xfrm>
            <a:off x="6217920" y="5212080"/>
            <a:ext cx="5256720" cy="776160"/>
          </a:xfrm>
          <a:prstGeom prst="roundRect">
            <a:avLst>
              <a:gd name="adj" fmla="val 7059"/>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0" name="Text 10"/>
          <p:cNvSpPr/>
          <p:nvPr/>
        </p:nvSpPr>
        <p:spPr>
          <a:xfrm>
            <a:off x="6382440" y="5358240"/>
            <a:ext cx="49276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A32020"/>
                </a:solidFill>
                <a:effectLst/>
                <a:uFillTx/>
                <a:latin typeface="Aptos"/>
              </a:rPr>
              <a:t>Key limitation</a:t>
            </a:r>
            <a:endParaRPr lang="en-US" sz="1600" b="0" u="none" strike="noStrike">
              <a:solidFill>
                <a:srgbClr val="000000"/>
              </a:solidFill>
              <a:effectLst/>
              <a:uFillTx/>
              <a:latin typeface="Arial"/>
            </a:endParaRPr>
          </a:p>
        </p:txBody>
      </p:sp>
      <p:sp>
        <p:nvSpPr>
          <p:cNvPr id="881" name="Text 11"/>
          <p:cNvSpPr/>
          <p:nvPr/>
        </p:nvSpPr>
        <p:spPr>
          <a:xfrm>
            <a:off x="6382440" y="5687640"/>
            <a:ext cx="4927680" cy="181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7500" lnSpcReduction="20000"/>
          </a:bodyPr>
          <a:lstStyle/>
          <a:p>
            <a:pPr defTabSz="914400">
              <a:lnSpc>
                <a:spcPct val="100000"/>
              </a:lnSpc>
              <a:tabLst>
                <a:tab pos="0" algn="l"/>
              </a:tabLst>
            </a:pPr>
            <a:r>
              <a:rPr lang="en-US" sz="1250" b="0" u="none" strike="noStrike">
                <a:solidFill>
                  <a:srgbClr val="0B1F3A"/>
                </a:solidFill>
                <a:effectLst/>
                <a:uFillTx/>
                <a:latin typeface="Aptos"/>
              </a:rPr>
              <a:t>If the current percept does not reveal enough state, the rule may choose the wrong action.</a:t>
            </a:r>
            <a:endParaRPr lang="en-US" sz="1250" b="0" u="none" strike="noStrike">
              <a:solidFill>
                <a:srgbClr val="000000"/>
              </a:solidFill>
              <a:effectLst/>
              <a:uFillTx/>
              <a:latin typeface="Arial"/>
            </a:endParaRPr>
          </a:p>
        </p:txBody>
      </p:sp>
      <p:sp>
        <p:nvSpPr>
          <p:cNvPr id="882" name="Text 12"/>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Figures 2.9 and 2.10</a:t>
            </a:r>
            <a:endParaRPr lang="en-US" sz="75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83"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4"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885"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2.4.2 Condition–Action Rules: Power and Limits</a:t>
            </a:r>
            <a:endParaRPr lang="en-US" sz="2300" b="0" u="none" strike="noStrike">
              <a:solidFill>
                <a:srgbClr val="000000"/>
              </a:solidFill>
              <a:effectLst/>
              <a:uFillTx/>
              <a:latin typeface="Arial"/>
            </a:endParaRPr>
          </a:p>
        </p:txBody>
      </p:sp>
      <p:sp>
        <p:nvSpPr>
          <p:cNvPr id="886"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887" name="Shape 5"/>
          <p:cNvSpPr/>
          <p:nvPr/>
        </p:nvSpPr>
        <p:spPr>
          <a:xfrm>
            <a:off x="868680" y="1188720"/>
            <a:ext cx="5074560" cy="1051200"/>
          </a:xfrm>
          <a:prstGeom prst="roundRect">
            <a:avLst>
              <a:gd name="adj" fmla="val 4444"/>
            </a:avLst>
          </a:prstGeom>
          <a:solidFill>
            <a:srgbClr val="0B2B5C"/>
          </a:solidFill>
          <a:ln w="12700">
            <a:solidFill>
              <a:srgbClr val="0B2B5C"/>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8" name="Text 6"/>
          <p:cNvSpPr/>
          <p:nvPr/>
        </p:nvSpPr>
        <p:spPr>
          <a:xfrm>
            <a:off x="1097280" y="1298520"/>
            <a:ext cx="461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F5A21B"/>
                </a:solidFill>
                <a:effectLst/>
                <a:uFillTx/>
                <a:latin typeface="Aptos"/>
                <a:ea typeface="Aptos"/>
              </a:rPr>
              <a:t>The rule behind the brake pedal</a:t>
            </a:r>
            <a:endParaRPr lang="en-US" sz="1300" b="0" u="none" strike="noStrike">
              <a:solidFill>
                <a:srgbClr val="000000"/>
              </a:solidFill>
              <a:effectLst/>
              <a:uFillTx/>
              <a:latin typeface="Arial"/>
            </a:endParaRPr>
          </a:p>
        </p:txBody>
      </p:sp>
      <p:sp>
        <p:nvSpPr>
          <p:cNvPr id="889" name="Text 7"/>
          <p:cNvSpPr/>
          <p:nvPr/>
        </p:nvSpPr>
        <p:spPr>
          <a:xfrm>
            <a:off x="1097280" y="1664280"/>
            <a:ext cx="4617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FFFFF"/>
                </a:solidFill>
                <a:effectLst/>
                <a:uFillTx/>
                <a:latin typeface="Courier New"/>
                <a:ea typeface="Courier New"/>
              </a:rPr>
              <a:t>if car-in-front-is-braking then initiate-braking</a:t>
            </a:r>
            <a:endParaRPr lang="en-US" sz="1250" b="0" u="none" strike="noStrike">
              <a:solidFill>
                <a:srgbClr val="000000"/>
              </a:solidFill>
              <a:effectLst/>
              <a:uFillTx/>
              <a:latin typeface="Arial"/>
            </a:endParaRPr>
          </a:p>
        </p:txBody>
      </p:sp>
      <p:sp>
        <p:nvSpPr>
          <p:cNvPr id="890" name="Shape 8"/>
          <p:cNvSpPr/>
          <p:nvPr/>
        </p:nvSpPr>
        <p:spPr>
          <a:xfrm>
            <a:off x="868680" y="2450520"/>
            <a:ext cx="5074560" cy="228564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1" name="Text 9"/>
          <p:cNvSpPr/>
          <p:nvPr/>
        </p:nvSpPr>
        <p:spPr>
          <a:xfrm>
            <a:off x="1033200" y="259884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ea typeface="Aptos"/>
              </a:rPr>
              <a:t>Why even this rule is fragile</a:t>
            </a:r>
            <a:endParaRPr lang="en-US" sz="1700" b="0" u="none" strike="noStrike">
              <a:solidFill>
                <a:srgbClr val="000000"/>
              </a:solidFill>
              <a:effectLst/>
              <a:uFillTx/>
              <a:latin typeface="Arial"/>
            </a:endParaRPr>
          </a:p>
        </p:txBody>
      </p:sp>
      <p:sp>
        <p:nvSpPr>
          <p:cNvPr id="892" name="Text 10"/>
          <p:cNvSpPr/>
          <p:nvPr/>
        </p:nvSpPr>
        <p:spPr>
          <a:xfrm>
            <a:off x="1033200" y="2927880"/>
            <a:ext cx="4745520" cy="1676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It assumes the condition can be read off a single video frame. That works when the car ahead has a centrally mounted brake light.</a:t>
            </a:r>
            <a:endParaRPr lang="en-US" sz="1300" b="0" u="none" strike="noStrike">
              <a:solidFill>
                <a:srgbClr val="000000"/>
              </a:solidFill>
              <a:effectLst/>
              <a:uFillTx/>
              <a:latin typeface="Arial"/>
            </a:endParaRPr>
          </a:p>
          <a:p>
            <a:pPr defTabSz="914400">
              <a:lnSpc>
                <a:spcPct val="100000"/>
              </a:lnSpc>
              <a:spcBef>
                <a:spcPts val="400"/>
              </a:spcBef>
              <a:tabLst>
                <a:tab pos="0" algn="l"/>
              </a:tabLst>
            </a:pPr>
            <a:r>
              <a:rPr lang="en-US" sz="1300" b="0" u="none" strike="noStrike">
                <a:solidFill>
                  <a:srgbClr val="0B1F3A"/>
                </a:solidFill>
                <a:effectLst/>
                <a:uFillTx/>
                <a:latin typeface="Aptos"/>
                <a:ea typeface="Aptos"/>
              </a:rPr>
              <a:t>Older vehicles arrange taillights, brake lights, and turn signals differently, and one image often cannot tell braking from lights simply being on.</a:t>
            </a:r>
            <a:endParaRPr lang="en-US" sz="1300" b="0" u="none" strike="noStrike">
              <a:solidFill>
                <a:srgbClr val="000000"/>
              </a:solidFill>
              <a:effectLst/>
              <a:uFillTx/>
              <a:latin typeface="Arial"/>
            </a:endParaRPr>
          </a:p>
          <a:p>
            <a:pPr defTabSz="914400">
              <a:lnSpc>
                <a:spcPct val="100000"/>
              </a:lnSpc>
              <a:spcBef>
                <a:spcPts val="400"/>
              </a:spcBef>
              <a:tabLst>
                <a:tab pos="0" algn="l"/>
              </a:tabLst>
            </a:pPr>
            <a:r>
              <a:rPr lang="en-US" sz="1300" b="0" u="none" strike="noStrike">
                <a:solidFill>
                  <a:srgbClr val="0B1F3A"/>
                </a:solidFill>
                <a:effectLst/>
                <a:uFillTx/>
                <a:latin typeface="Aptos"/>
                <a:ea typeface="Aptos"/>
              </a:rPr>
              <a:t>A simple reflex agent behind such a car either brakes continuously and needlessly, or never brakes at all.</a:t>
            </a:r>
            <a:endParaRPr lang="en-US" sz="1300" b="0" u="none" strike="noStrike">
              <a:solidFill>
                <a:srgbClr val="000000"/>
              </a:solidFill>
              <a:effectLst/>
              <a:uFillTx/>
              <a:latin typeface="Arial"/>
            </a:endParaRPr>
          </a:p>
        </p:txBody>
      </p:sp>
      <p:sp>
        <p:nvSpPr>
          <p:cNvPr id="893" name="Shape 11"/>
          <p:cNvSpPr/>
          <p:nvPr/>
        </p:nvSpPr>
        <p:spPr>
          <a:xfrm>
            <a:off x="6217920" y="1188720"/>
            <a:ext cx="5074560" cy="10969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4" name="Text 12"/>
          <p:cNvSpPr/>
          <p:nvPr/>
        </p:nvSpPr>
        <p:spPr>
          <a:xfrm>
            <a:off x="6400800" y="1316880"/>
            <a:ext cx="470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ea typeface="Aptos"/>
              </a:rPr>
              <a:t>Compression: 4ᵀ → 4</a:t>
            </a:r>
            <a:endParaRPr lang="en-US" sz="1500" b="0" u="none" strike="noStrike">
              <a:solidFill>
                <a:srgbClr val="000000"/>
              </a:solidFill>
              <a:effectLst/>
              <a:uFillTx/>
              <a:latin typeface="Arial"/>
            </a:endParaRPr>
          </a:p>
        </p:txBody>
      </p:sp>
      <p:sp>
        <p:nvSpPr>
          <p:cNvPr id="895" name="Text 13"/>
          <p:cNvSpPr/>
          <p:nvPr/>
        </p:nvSpPr>
        <p:spPr>
          <a:xfrm>
            <a:off x="6400800" y="1645920"/>
            <a:ext cx="4708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Ignoring percept history cuts the vacuum agent's relevant percept sequences from 4ᵀ down to just 4.</a:t>
            </a:r>
            <a:endParaRPr lang="en-US" sz="1250" b="0" u="none" strike="noStrike">
              <a:solidFill>
                <a:srgbClr val="000000"/>
              </a:solidFill>
              <a:effectLst/>
              <a:uFillTx/>
              <a:latin typeface="Arial"/>
            </a:endParaRPr>
          </a:p>
        </p:txBody>
      </p:sp>
      <p:sp>
        <p:nvSpPr>
          <p:cNvPr id="896" name="Shape 14"/>
          <p:cNvSpPr/>
          <p:nvPr/>
        </p:nvSpPr>
        <p:spPr>
          <a:xfrm>
            <a:off x="6217920" y="2423160"/>
            <a:ext cx="5074560" cy="10969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7" name="Text 15"/>
          <p:cNvSpPr/>
          <p:nvPr/>
        </p:nvSpPr>
        <p:spPr>
          <a:xfrm>
            <a:off x="6400800" y="2551320"/>
            <a:ext cx="470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ea typeface="Aptos"/>
              </a:rPr>
              <a:t>It can be a circuit</a:t>
            </a:r>
            <a:endParaRPr lang="en-US" sz="1500" b="0" u="none" strike="noStrike">
              <a:solidFill>
                <a:srgbClr val="000000"/>
              </a:solidFill>
              <a:effectLst/>
              <a:uFillTx/>
              <a:latin typeface="Arial"/>
            </a:endParaRPr>
          </a:p>
        </p:txBody>
      </p:sp>
      <p:sp>
        <p:nvSpPr>
          <p:cNvPr id="898" name="Text 16"/>
          <p:cNvSpPr/>
          <p:nvPr/>
        </p:nvSpPr>
        <p:spPr>
          <a:xfrm>
            <a:off x="6400800" y="2880360"/>
            <a:ext cx="4708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The rule set is simple enough to implement as Boolean logic gates — or as the nonlinear units of a neural network (Chapter 21).</a:t>
            </a:r>
            <a:endParaRPr lang="en-US" sz="1250" b="0" u="none" strike="noStrike">
              <a:solidFill>
                <a:srgbClr val="000000"/>
              </a:solidFill>
              <a:effectLst/>
              <a:uFillTx/>
              <a:latin typeface="Arial"/>
            </a:endParaRPr>
          </a:p>
        </p:txBody>
      </p:sp>
      <p:sp>
        <p:nvSpPr>
          <p:cNvPr id="899" name="Shape 17"/>
          <p:cNvSpPr/>
          <p:nvPr/>
        </p:nvSpPr>
        <p:spPr>
          <a:xfrm>
            <a:off x="6217920" y="3657600"/>
            <a:ext cx="5074560" cy="10969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00" name="Text 18"/>
          <p:cNvSpPr/>
          <p:nvPr/>
        </p:nvSpPr>
        <p:spPr>
          <a:xfrm>
            <a:off x="6400800" y="3785760"/>
            <a:ext cx="470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ea typeface="Aptos"/>
              </a:rPr>
              <a:t>Learned and innate</a:t>
            </a:r>
            <a:endParaRPr lang="en-US" sz="1500" b="0" u="none" strike="noStrike">
              <a:solidFill>
                <a:srgbClr val="000000"/>
              </a:solidFill>
              <a:effectLst/>
              <a:uFillTx/>
              <a:latin typeface="Arial"/>
            </a:endParaRPr>
          </a:p>
        </p:txBody>
      </p:sp>
      <p:sp>
        <p:nvSpPr>
          <p:cNvPr id="901" name="Text 19"/>
          <p:cNvSpPr/>
          <p:nvPr/>
        </p:nvSpPr>
        <p:spPr>
          <a:xfrm>
            <a:off x="6400800" y="4114800"/>
            <a:ext cx="4708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Braking on brake lights is learned; blinking when something nears the eye is not. Both are condition–action rules.</a:t>
            </a:r>
            <a:endParaRPr lang="en-US" sz="1250" b="0" u="none" strike="noStrike">
              <a:solidFill>
                <a:srgbClr val="000000"/>
              </a:solidFill>
              <a:effectLst/>
              <a:uFillTx/>
              <a:latin typeface="Arial"/>
            </a:endParaRPr>
          </a:p>
        </p:txBody>
      </p:sp>
      <p:sp>
        <p:nvSpPr>
          <p:cNvPr id="902" name="Text 20"/>
          <p:cNvSpPr/>
          <p:nvPr/>
        </p:nvSpPr>
        <p:spPr>
          <a:xfrm>
            <a:off x="914400" y="50292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Randomizing helps: a coin flip reaches the other square in two steps on average</a:t>
            </a:r>
            <a:endParaRPr lang="en-US" sz="1900" b="0" u="none" strike="noStrike">
              <a:solidFill>
                <a:srgbClr val="000000"/>
              </a:solidFill>
              <a:effectLst/>
              <a:uFillTx/>
              <a:latin typeface="Arial"/>
            </a:endParaRPr>
          </a:p>
        </p:txBody>
      </p:sp>
      <p:sp>
        <p:nvSpPr>
          <p:cNvPr id="903" name="Text 21"/>
          <p:cNvSpPr/>
          <p:nvPr/>
        </p:nvSpPr>
        <p:spPr>
          <a:xfrm>
            <a:off x="1005840" y="5532120"/>
            <a:ext cx="10149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But that is a trick for escaping loops, not general intelligence. Randomized behavior can be rational in multiagent settings because it defeats predictability; in single-agent environments it usually is not.</a:t>
            </a:r>
            <a:endParaRPr lang="en-US" sz="1400" b="0" u="none" strike="noStrike">
              <a:solidFill>
                <a:srgbClr val="000000"/>
              </a:solidFill>
              <a:effectLst/>
              <a:uFillTx/>
              <a:latin typeface="Arial"/>
            </a:endParaRPr>
          </a:p>
        </p:txBody>
      </p:sp>
      <p:sp>
        <p:nvSpPr>
          <p:cNvPr id="904" name="Text 22"/>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905" name="Text 23"/>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30</a:t>
            </a:r>
            <a:endParaRPr lang="en-US" sz="85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06"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07"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08"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When Simple Reflex Fails: Partial Observability</a:t>
            </a:r>
            <a:endParaRPr lang="en-US" sz="2300" b="0" u="none" strike="noStrike">
              <a:solidFill>
                <a:srgbClr val="000000"/>
              </a:solidFill>
              <a:effectLst/>
              <a:uFillTx/>
              <a:latin typeface="Arial"/>
            </a:endParaRPr>
          </a:p>
        </p:txBody>
      </p:sp>
      <p:sp>
        <p:nvSpPr>
          <p:cNvPr id="909"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910"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11"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31</a:t>
            </a:r>
            <a:endParaRPr lang="en-US" sz="1800" b="0" u="none" strike="noStrike">
              <a:solidFill>
                <a:srgbClr val="000000"/>
              </a:solidFill>
              <a:effectLst/>
              <a:uFillTx/>
              <a:latin typeface="Arial"/>
            </a:endParaRPr>
          </a:p>
        </p:txBody>
      </p:sp>
      <p:sp>
        <p:nvSpPr>
          <p:cNvPr id="912" name="Shape 6"/>
          <p:cNvSpPr/>
          <p:nvPr/>
        </p:nvSpPr>
        <p:spPr>
          <a:xfrm>
            <a:off x="822960" y="1280160"/>
            <a:ext cx="329076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3" name="Text 7"/>
          <p:cNvSpPr/>
          <p:nvPr/>
        </p:nvSpPr>
        <p:spPr>
          <a:xfrm>
            <a:off x="987480" y="142632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Problem</a:t>
            </a:r>
            <a:endParaRPr lang="en-US" sz="1800" b="0" u="none" strike="noStrike">
              <a:solidFill>
                <a:srgbClr val="000000"/>
              </a:solidFill>
              <a:effectLst/>
              <a:uFillTx/>
              <a:latin typeface="Arial"/>
            </a:endParaRPr>
          </a:p>
        </p:txBody>
      </p:sp>
      <p:sp>
        <p:nvSpPr>
          <p:cNvPr id="914" name="Text 8"/>
          <p:cNvSpPr/>
          <p:nvPr/>
        </p:nvSpPr>
        <p:spPr>
          <a:xfrm>
            <a:off x="987480" y="1755720"/>
            <a:ext cx="296172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The current percept does not contain enough information to choose correctly.</a:t>
            </a:r>
            <a:endParaRPr lang="en-US" sz="1350" b="0" u="none" strike="noStrike">
              <a:solidFill>
                <a:srgbClr val="000000"/>
              </a:solidFill>
              <a:effectLst/>
              <a:uFillTx/>
              <a:latin typeface="Arial"/>
            </a:endParaRPr>
          </a:p>
        </p:txBody>
      </p:sp>
      <p:sp>
        <p:nvSpPr>
          <p:cNvPr id="915" name="Shape 9"/>
          <p:cNvSpPr/>
          <p:nvPr/>
        </p:nvSpPr>
        <p:spPr>
          <a:xfrm>
            <a:off x="4434840" y="1280160"/>
            <a:ext cx="329076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6" name="Text 10"/>
          <p:cNvSpPr/>
          <p:nvPr/>
        </p:nvSpPr>
        <p:spPr>
          <a:xfrm>
            <a:off x="4599360" y="142632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Vacuum example</a:t>
            </a:r>
            <a:endParaRPr lang="en-US" sz="1800" b="0" u="none" strike="noStrike">
              <a:solidFill>
                <a:srgbClr val="000000"/>
              </a:solidFill>
              <a:effectLst/>
              <a:uFillTx/>
              <a:latin typeface="Arial"/>
            </a:endParaRPr>
          </a:p>
        </p:txBody>
      </p:sp>
      <p:sp>
        <p:nvSpPr>
          <p:cNvPr id="917" name="Text 11"/>
          <p:cNvSpPr/>
          <p:nvPr/>
        </p:nvSpPr>
        <p:spPr>
          <a:xfrm>
            <a:off x="4599360" y="1755720"/>
            <a:ext cx="296172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10000"/>
          </a:bodyPr>
          <a:lstStyle/>
          <a:p>
            <a:pPr defTabSz="914400">
              <a:lnSpc>
                <a:spcPct val="100000"/>
              </a:lnSpc>
              <a:tabLst>
                <a:tab pos="0" algn="l"/>
              </a:tabLst>
            </a:pPr>
            <a:r>
              <a:rPr lang="en-US" sz="1350" b="0" u="none" strike="noStrike">
                <a:solidFill>
                  <a:srgbClr val="0B1F3A"/>
                </a:solidFill>
                <a:effectLst/>
                <a:uFillTx/>
                <a:latin typeface="Aptos"/>
              </a:rPr>
              <a:t>If the agent sees only Clean/Dirty but not location, moving Left or Right can loop forever.</a:t>
            </a:r>
            <a:endParaRPr lang="en-US" sz="1350" b="0" u="none" strike="noStrike">
              <a:solidFill>
                <a:srgbClr val="000000"/>
              </a:solidFill>
              <a:effectLst/>
              <a:uFillTx/>
              <a:latin typeface="Arial"/>
            </a:endParaRPr>
          </a:p>
        </p:txBody>
      </p:sp>
      <p:sp>
        <p:nvSpPr>
          <p:cNvPr id="918" name="Shape 12"/>
          <p:cNvSpPr/>
          <p:nvPr/>
        </p:nvSpPr>
        <p:spPr>
          <a:xfrm>
            <a:off x="8046720" y="1280160"/>
            <a:ext cx="329076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9" name="Text 13"/>
          <p:cNvSpPr/>
          <p:nvPr/>
        </p:nvSpPr>
        <p:spPr>
          <a:xfrm>
            <a:off x="8211240" y="142632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Temporary fix</a:t>
            </a:r>
            <a:endParaRPr lang="en-US" sz="1800" b="0" u="none" strike="noStrike">
              <a:solidFill>
                <a:srgbClr val="000000"/>
              </a:solidFill>
              <a:effectLst/>
              <a:uFillTx/>
              <a:latin typeface="Arial"/>
            </a:endParaRPr>
          </a:p>
        </p:txBody>
      </p:sp>
      <p:sp>
        <p:nvSpPr>
          <p:cNvPr id="920" name="Text 14"/>
          <p:cNvSpPr/>
          <p:nvPr/>
        </p:nvSpPr>
        <p:spPr>
          <a:xfrm>
            <a:off x="8211240" y="1755720"/>
            <a:ext cx="296172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Randomization can sometimes escape loops, but it is not general intelligence.</a:t>
            </a:r>
            <a:endParaRPr lang="en-US" sz="1350" b="0" u="none" strike="noStrike">
              <a:solidFill>
                <a:srgbClr val="000000"/>
              </a:solidFill>
              <a:effectLst/>
              <a:uFillTx/>
              <a:latin typeface="Arial"/>
            </a:endParaRPr>
          </a:p>
        </p:txBody>
      </p:sp>
      <p:sp>
        <p:nvSpPr>
          <p:cNvPr id="921" name="Text 15"/>
          <p:cNvSpPr/>
          <p:nvPr/>
        </p:nvSpPr>
        <p:spPr>
          <a:xfrm>
            <a:off x="914400" y="3063240"/>
            <a:ext cx="1033164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rPr>
              <a:t>Better solution: maintain internal state or use a model of the world.</a:t>
            </a:r>
            <a:endParaRPr lang="en-US" sz="2200" b="0" u="none" strike="noStrike">
              <a:solidFill>
                <a:srgbClr val="000000"/>
              </a:solidFill>
              <a:effectLst/>
              <a:uFillTx/>
              <a:latin typeface="Arial"/>
            </a:endParaRPr>
          </a:p>
        </p:txBody>
      </p:sp>
      <p:sp>
        <p:nvSpPr>
          <p:cNvPr id="922" name="Shape 16"/>
          <p:cNvSpPr/>
          <p:nvPr/>
        </p:nvSpPr>
        <p:spPr>
          <a:xfrm>
            <a:off x="1645920" y="4160520"/>
            <a:ext cx="1370520" cy="684720"/>
          </a:xfrm>
          <a:prstGeom prst="roundRect">
            <a:avLst>
              <a:gd name="adj" fmla="val 9333"/>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3" name="Text 17"/>
          <p:cNvSpPr/>
          <p:nvPr/>
        </p:nvSpPr>
        <p:spPr>
          <a:xfrm>
            <a:off x="164592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percept</a:t>
            </a:r>
            <a:endParaRPr lang="en-US" sz="1400" b="0" u="none" strike="noStrike">
              <a:solidFill>
                <a:srgbClr val="000000"/>
              </a:solidFill>
              <a:effectLst/>
              <a:uFillTx/>
              <a:latin typeface="Arial"/>
            </a:endParaRPr>
          </a:p>
        </p:txBody>
      </p:sp>
      <p:sp>
        <p:nvSpPr>
          <p:cNvPr id="924" name="Shape 18"/>
          <p:cNvSpPr/>
          <p:nvPr/>
        </p:nvSpPr>
        <p:spPr>
          <a:xfrm>
            <a:off x="3108960" y="4507920"/>
            <a:ext cx="731520" cy="360"/>
          </a:xfrm>
          <a:prstGeom prst="line">
            <a:avLst/>
          </a:prstGeom>
          <a:ln w="1651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5" name="Shape 19"/>
          <p:cNvSpPr/>
          <p:nvPr/>
        </p:nvSpPr>
        <p:spPr>
          <a:xfrm>
            <a:off x="3977640" y="4160520"/>
            <a:ext cx="1370520" cy="684720"/>
          </a:xfrm>
          <a:prstGeom prst="roundRect">
            <a:avLst>
              <a:gd name="adj" fmla="val 9333"/>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6" name="Text 20"/>
          <p:cNvSpPr/>
          <p:nvPr/>
        </p:nvSpPr>
        <p:spPr>
          <a:xfrm>
            <a:off x="397764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memory</a:t>
            </a:r>
            <a:endParaRPr lang="en-US" sz="1400" b="0" u="none" strike="noStrike">
              <a:solidFill>
                <a:srgbClr val="000000"/>
              </a:solidFill>
              <a:effectLst/>
              <a:uFillTx/>
              <a:latin typeface="Arial"/>
            </a:endParaRPr>
          </a:p>
        </p:txBody>
      </p:sp>
      <p:sp>
        <p:nvSpPr>
          <p:cNvPr id="927" name="Shape 21"/>
          <p:cNvSpPr/>
          <p:nvPr/>
        </p:nvSpPr>
        <p:spPr>
          <a:xfrm>
            <a:off x="5440680" y="4507920"/>
            <a:ext cx="731520" cy="360"/>
          </a:xfrm>
          <a:prstGeom prst="line">
            <a:avLst/>
          </a:prstGeom>
          <a:ln w="1651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8" name="Shape 22"/>
          <p:cNvSpPr/>
          <p:nvPr/>
        </p:nvSpPr>
        <p:spPr>
          <a:xfrm>
            <a:off x="6309360" y="4160520"/>
            <a:ext cx="1370520" cy="684720"/>
          </a:xfrm>
          <a:prstGeom prst="roundRect">
            <a:avLst>
              <a:gd name="adj" fmla="val 9333"/>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9" name="Text 23"/>
          <p:cNvSpPr/>
          <p:nvPr/>
        </p:nvSpPr>
        <p:spPr>
          <a:xfrm>
            <a:off x="630936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model</a:t>
            </a:r>
            <a:endParaRPr lang="en-US" sz="1400" b="0" u="none" strike="noStrike">
              <a:solidFill>
                <a:srgbClr val="000000"/>
              </a:solidFill>
              <a:effectLst/>
              <a:uFillTx/>
              <a:latin typeface="Arial"/>
            </a:endParaRPr>
          </a:p>
        </p:txBody>
      </p:sp>
      <p:sp>
        <p:nvSpPr>
          <p:cNvPr id="930" name="Shape 24"/>
          <p:cNvSpPr/>
          <p:nvPr/>
        </p:nvSpPr>
        <p:spPr>
          <a:xfrm>
            <a:off x="7772400" y="4507920"/>
            <a:ext cx="731520" cy="360"/>
          </a:xfrm>
          <a:prstGeom prst="line">
            <a:avLst/>
          </a:prstGeom>
          <a:ln w="1651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31" name="Shape 25"/>
          <p:cNvSpPr/>
          <p:nvPr/>
        </p:nvSpPr>
        <p:spPr>
          <a:xfrm>
            <a:off x="8641080" y="4160520"/>
            <a:ext cx="1370520" cy="684720"/>
          </a:xfrm>
          <a:prstGeom prst="roundRect">
            <a:avLst>
              <a:gd name="adj" fmla="val 9333"/>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2" name="Text 26"/>
          <p:cNvSpPr/>
          <p:nvPr/>
        </p:nvSpPr>
        <p:spPr>
          <a:xfrm>
            <a:off x="864108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action</a:t>
            </a:r>
            <a:endParaRPr lang="en-US" sz="14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3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3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Agents</a:t>
            </a:r>
            <a:endParaRPr lang="en-US" sz="2300" b="0" u="none" strike="noStrike">
              <a:solidFill>
                <a:srgbClr val="000000"/>
              </a:solidFill>
              <a:effectLst/>
              <a:uFillTx/>
              <a:latin typeface="Arial"/>
            </a:endParaRPr>
          </a:p>
        </p:txBody>
      </p:sp>
      <p:sp>
        <p:nvSpPr>
          <p:cNvPr id="93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93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3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32</a:t>
            </a:r>
            <a:endParaRPr lang="en-US" sz="1800" b="0" u="none" strike="noStrike">
              <a:solidFill>
                <a:srgbClr val="000000"/>
              </a:solidFill>
              <a:effectLst/>
              <a:uFillTx/>
              <a:latin typeface="Arial"/>
            </a:endParaRPr>
          </a:p>
        </p:txBody>
      </p:sp>
      <p:sp>
        <p:nvSpPr>
          <p:cNvPr id="939" name="Text 6"/>
          <p:cNvSpPr/>
          <p:nvPr/>
        </p:nvSpPr>
        <p:spPr>
          <a:xfrm>
            <a:off x="777240" y="107892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Maintain internal state: a best guess about what the world is like now.</a:t>
            </a:r>
            <a:endParaRPr lang="en-US" sz="2000" b="0" u="none" strike="noStrike">
              <a:solidFill>
                <a:srgbClr val="000000"/>
              </a:solidFill>
              <a:effectLst/>
              <a:uFillTx/>
              <a:latin typeface="Arial"/>
            </a:endParaRPr>
          </a:p>
        </p:txBody>
      </p:sp>
      <p:pic>
        <p:nvPicPr>
          <p:cNvPr id="940" name="Image 0" descr="/mnt/data/fig2_11_model_based_diagram.png"/>
          <p:cNvPicPr/>
          <p:nvPr/>
        </p:nvPicPr>
        <p:blipFill>
          <a:blip r:embed="rId3"/>
          <a:stretch/>
        </p:blipFill>
        <p:spPr>
          <a:xfrm>
            <a:off x="1052640" y="1600200"/>
            <a:ext cx="5345640" cy="3885120"/>
          </a:xfrm>
          <a:prstGeom prst="rect">
            <a:avLst/>
          </a:prstGeom>
          <a:noFill/>
          <a:ln w="0">
            <a:noFill/>
          </a:ln>
        </p:spPr>
      </p:pic>
      <p:sp>
        <p:nvSpPr>
          <p:cNvPr id="941" name="Shape 7"/>
          <p:cNvSpPr/>
          <p:nvPr/>
        </p:nvSpPr>
        <p:spPr>
          <a:xfrm>
            <a:off x="7086600" y="1691640"/>
            <a:ext cx="42508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2" name="Text 8"/>
          <p:cNvSpPr/>
          <p:nvPr/>
        </p:nvSpPr>
        <p:spPr>
          <a:xfrm>
            <a:off x="7251120" y="183780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48A97"/>
                </a:solidFill>
                <a:effectLst/>
                <a:uFillTx/>
                <a:latin typeface="Aptos"/>
              </a:rPr>
              <a:t>Transition model</a:t>
            </a:r>
            <a:endParaRPr lang="en-US" sz="1700" b="0" u="none" strike="noStrike">
              <a:solidFill>
                <a:srgbClr val="000000"/>
              </a:solidFill>
              <a:effectLst/>
              <a:uFillTx/>
              <a:latin typeface="Arial"/>
            </a:endParaRPr>
          </a:p>
        </p:txBody>
      </p:sp>
      <p:sp>
        <p:nvSpPr>
          <p:cNvPr id="943" name="Text 9"/>
          <p:cNvSpPr/>
          <p:nvPr/>
        </p:nvSpPr>
        <p:spPr>
          <a:xfrm>
            <a:off x="7251120" y="2167200"/>
            <a:ext cx="39218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300" b="0" u="none" strike="noStrike">
                <a:solidFill>
                  <a:srgbClr val="0B1F3A"/>
                </a:solidFill>
                <a:effectLst/>
                <a:uFillTx/>
                <a:latin typeface="Aptos"/>
              </a:rPr>
              <a:t>How the world changes over time and how actions affect it.</a:t>
            </a:r>
            <a:endParaRPr lang="en-US" sz="1300" b="0" u="none" strike="noStrike">
              <a:solidFill>
                <a:srgbClr val="000000"/>
              </a:solidFill>
              <a:effectLst/>
              <a:uFillTx/>
              <a:latin typeface="Arial"/>
            </a:endParaRPr>
          </a:p>
        </p:txBody>
      </p:sp>
      <p:sp>
        <p:nvSpPr>
          <p:cNvPr id="944" name="Shape 10"/>
          <p:cNvSpPr/>
          <p:nvPr/>
        </p:nvSpPr>
        <p:spPr>
          <a:xfrm>
            <a:off x="7086600" y="2880360"/>
            <a:ext cx="42508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5" name="Text 11"/>
          <p:cNvSpPr/>
          <p:nvPr/>
        </p:nvSpPr>
        <p:spPr>
          <a:xfrm>
            <a:off x="7251120" y="302652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Sensor model</a:t>
            </a:r>
            <a:endParaRPr lang="en-US" sz="1700" b="0" u="none" strike="noStrike">
              <a:solidFill>
                <a:srgbClr val="000000"/>
              </a:solidFill>
              <a:effectLst/>
              <a:uFillTx/>
              <a:latin typeface="Arial"/>
            </a:endParaRPr>
          </a:p>
        </p:txBody>
      </p:sp>
      <p:sp>
        <p:nvSpPr>
          <p:cNvPr id="946" name="Text 12"/>
          <p:cNvSpPr/>
          <p:nvPr/>
        </p:nvSpPr>
        <p:spPr>
          <a:xfrm>
            <a:off x="7251120" y="3355920"/>
            <a:ext cx="39218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How world states generate percepts.</a:t>
            </a:r>
            <a:endParaRPr lang="en-US" sz="1300" b="0" u="none" strike="noStrike">
              <a:solidFill>
                <a:srgbClr val="000000"/>
              </a:solidFill>
              <a:effectLst/>
              <a:uFillTx/>
              <a:latin typeface="Arial"/>
            </a:endParaRPr>
          </a:p>
        </p:txBody>
      </p:sp>
      <p:sp>
        <p:nvSpPr>
          <p:cNvPr id="947" name="Shape 13"/>
          <p:cNvSpPr/>
          <p:nvPr/>
        </p:nvSpPr>
        <p:spPr>
          <a:xfrm>
            <a:off x="7086600" y="4069080"/>
            <a:ext cx="42508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8" name="Text 14"/>
          <p:cNvSpPr/>
          <p:nvPr/>
        </p:nvSpPr>
        <p:spPr>
          <a:xfrm>
            <a:off x="7251120" y="421524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5B35B1"/>
                </a:solidFill>
                <a:effectLst/>
                <a:uFillTx/>
                <a:latin typeface="Aptos"/>
              </a:rPr>
              <a:t>Internal state</a:t>
            </a:r>
            <a:endParaRPr lang="en-US" sz="1700" b="0" u="none" strike="noStrike">
              <a:solidFill>
                <a:srgbClr val="000000"/>
              </a:solidFill>
              <a:effectLst/>
              <a:uFillTx/>
              <a:latin typeface="Arial"/>
            </a:endParaRPr>
          </a:p>
        </p:txBody>
      </p:sp>
      <p:sp>
        <p:nvSpPr>
          <p:cNvPr id="949" name="Text 15"/>
          <p:cNvSpPr/>
          <p:nvPr/>
        </p:nvSpPr>
        <p:spPr>
          <a:xfrm>
            <a:off x="7251120" y="4544640"/>
            <a:ext cx="39218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Tracks what is not evident in the current percept.</a:t>
            </a:r>
            <a:endParaRPr lang="en-US" sz="1300" b="0" u="none" strike="noStrike">
              <a:solidFill>
                <a:srgbClr val="000000"/>
              </a:solidFill>
              <a:effectLst/>
              <a:uFillTx/>
              <a:latin typeface="Arial"/>
            </a:endParaRPr>
          </a:p>
        </p:txBody>
      </p:sp>
      <p:sp>
        <p:nvSpPr>
          <p:cNvPr id="950" name="Text 16"/>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2.11</a:t>
            </a:r>
            <a:endParaRPr lang="en-US" sz="75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5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5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 Pseudocode</a:t>
            </a:r>
            <a:endParaRPr lang="en-US" sz="2300" b="0" u="none" strike="noStrike">
              <a:solidFill>
                <a:srgbClr val="000000"/>
              </a:solidFill>
              <a:effectLst/>
              <a:uFillTx/>
              <a:latin typeface="Arial"/>
            </a:endParaRPr>
          </a:p>
        </p:txBody>
      </p:sp>
      <p:sp>
        <p:nvSpPr>
          <p:cNvPr id="95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95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5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33</a:t>
            </a:r>
            <a:endParaRPr lang="en-US" sz="1800" b="0" u="none" strike="noStrike">
              <a:solidFill>
                <a:srgbClr val="000000"/>
              </a:solidFill>
              <a:effectLst/>
              <a:uFillTx/>
              <a:latin typeface="Arial"/>
            </a:endParaRPr>
          </a:p>
        </p:txBody>
      </p:sp>
      <p:sp>
        <p:nvSpPr>
          <p:cNvPr id="957" name="Text 6"/>
          <p:cNvSpPr/>
          <p:nvPr/>
        </p:nvSpPr>
        <p:spPr>
          <a:xfrm>
            <a:off x="731520" y="1051560"/>
            <a:ext cx="1078884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50" b="1" u="none" strike="noStrike">
                <a:solidFill>
                  <a:srgbClr val="0B2B5C"/>
                </a:solidFill>
                <a:effectLst/>
                <a:uFillTx/>
                <a:latin typeface="Aptos"/>
              </a:rPr>
              <a:t>The interesting step is UPDATE-STATE: combine old state, last action, current percept, transition model, and sensor model.</a:t>
            </a:r>
            <a:endParaRPr lang="en-US" sz="1750" b="0" u="none" strike="noStrike">
              <a:solidFill>
                <a:srgbClr val="000000"/>
              </a:solidFill>
              <a:effectLst/>
              <a:uFillTx/>
              <a:latin typeface="Arial"/>
            </a:endParaRPr>
          </a:p>
        </p:txBody>
      </p:sp>
      <p:pic>
        <p:nvPicPr>
          <p:cNvPr id="958" name="Image 0" descr="/mnt/data/fig2_12_model_based_pseudocode.png"/>
          <p:cNvPicPr/>
          <p:nvPr/>
        </p:nvPicPr>
        <p:blipFill>
          <a:blip r:embed="rId3"/>
          <a:stretch/>
        </p:blipFill>
        <p:spPr>
          <a:xfrm>
            <a:off x="2664720" y="1691640"/>
            <a:ext cx="6831000" cy="3382200"/>
          </a:xfrm>
          <a:prstGeom prst="rect">
            <a:avLst/>
          </a:prstGeom>
          <a:noFill/>
          <a:ln w="0">
            <a:noFill/>
          </a:ln>
        </p:spPr>
      </p:pic>
      <p:sp>
        <p:nvSpPr>
          <p:cNvPr id="959" name="Text 7"/>
          <p:cNvSpPr/>
          <p:nvPr/>
        </p:nvSpPr>
        <p:spPr>
          <a:xfrm>
            <a:off x="914400" y="5486400"/>
            <a:ext cx="1033164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Partial observability means exact state may be impossible; the agent still must decide.</a:t>
            </a:r>
            <a:endParaRPr lang="en-US" sz="1800" b="0" u="none" strike="noStrike">
              <a:solidFill>
                <a:srgbClr val="000000"/>
              </a:solidFill>
              <a:effectLst/>
              <a:uFillTx/>
              <a:latin typeface="Arial"/>
            </a:endParaRPr>
          </a:p>
        </p:txBody>
      </p:sp>
      <p:sp>
        <p:nvSpPr>
          <p:cNvPr id="960" name="Text 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2.12</a:t>
            </a:r>
            <a:endParaRPr lang="en-US" sz="75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6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6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2.4.4 Goal-Based Agents</a:t>
            </a:r>
            <a:endParaRPr lang="en-US" sz="2300" b="0" u="none" strike="noStrike">
              <a:solidFill>
                <a:srgbClr val="000000"/>
              </a:solidFill>
              <a:effectLst/>
              <a:uFillTx/>
              <a:latin typeface="Arial"/>
            </a:endParaRPr>
          </a:p>
        </p:txBody>
      </p:sp>
      <p:sp>
        <p:nvSpPr>
          <p:cNvPr id="96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2.4.4</a:t>
            </a:r>
            <a:endParaRPr lang="en-US" sz="1200" b="0" u="none" strike="noStrike">
              <a:solidFill>
                <a:srgbClr val="000000"/>
              </a:solidFill>
              <a:effectLst/>
              <a:uFillTx/>
              <a:latin typeface="Arial"/>
            </a:endParaRPr>
          </a:p>
        </p:txBody>
      </p:sp>
      <p:sp>
        <p:nvSpPr>
          <p:cNvPr id="96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6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34</a:t>
            </a:r>
            <a:endParaRPr lang="en-US" sz="1800" b="0" u="none" strike="noStrike">
              <a:solidFill>
                <a:srgbClr val="000000"/>
              </a:solidFill>
              <a:effectLst/>
              <a:uFillTx/>
              <a:latin typeface="Arial"/>
            </a:endParaRPr>
          </a:p>
        </p:txBody>
      </p:sp>
      <p:sp>
        <p:nvSpPr>
          <p:cNvPr id="967" name="Text 6"/>
          <p:cNvSpPr/>
          <p:nvPr/>
        </p:nvSpPr>
        <p:spPr>
          <a:xfrm>
            <a:off x="77724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A current state is not enough; the agent also needs a goal.</a:t>
            </a:r>
            <a:endParaRPr lang="en-US" sz="2000" b="0" u="none" strike="noStrike">
              <a:solidFill>
                <a:srgbClr val="000000"/>
              </a:solidFill>
              <a:effectLst/>
              <a:uFillTx/>
              <a:latin typeface="Arial"/>
            </a:endParaRPr>
          </a:p>
        </p:txBody>
      </p:sp>
      <p:pic>
        <p:nvPicPr>
          <p:cNvPr id="968" name="Image 0" descr="/mnt/data/ch2_docx_unzipped/word/media/image11.png"/>
          <p:cNvPicPr/>
          <p:nvPr/>
        </p:nvPicPr>
        <p:blipFill>
          <a:blip r:embed="rId3"/>
          <a:stretch/>
        </p:blipFill>
        <p:spPr>
          <a:xfrm>
            <a:off x="905400" y="1600200"/>
            <a:ext cx="5366520" cy="4113720"/>
          </a:xfrm>
          <a:prstGeom prst="rect">
            <a:avLst/>
          </a:prstGeom>
          <a:noFill/>
          <a:ln w="0">
            <a:noFill/>
          </a:ln>
        </p:spPr>
      </p:pic>
      <p:sp>
        <p:nvSpPr>
          <p:cNvPr id="969" name="Shape 7"/>
          <p:cNvSpPr/>
          <p:nvPr/>
        </p:nvSpPr>
        <p:spPr>
          <a:xfrm>
            <a:off x="6812280" y="1645920"/>
            <a:ext cx="44794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0" name="Text 8"/>
          <p:cNvSpPr/>
          <p:nvPr/>
        </p:nvSpPr>
        <p:spPr>
          <a:xfrm>
            <a:off x="6976800" y="1792080"/>
            <a:ext cx="4150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48A97"/>
                </a:solidFill>
                <a:effectLst/>
                <a:uFillTx/>
                <a:latin typeface="Aptos"/>
              </a:rPr>
              <a:t>Search / planning</a:t>
            </a:r>
            <a:endParaRPr lang="en-US" sz="1700" b="0" u="none" strike="noStrike">
              <a:solidFill>
                <a:srgbClr val="000000"/>
              </a:solidFill>
              <a:effectLst/>
              <a:uFillTx/>
              <a:latin typeface="Arial"/>
            </a:endParaRPr>
          </a:p>
        </p:txBody>
      </p:sp>
      <p:sp>
        <p:nvSpPr>
          <p:cNvPr id="971" name="Text 9"/>
          <p:cNvSpPr/>
          <p:nvPr/>
        </p:nvSpPr>
        <p:spPr>
          <a:xfrm>
            <a:off x="6976800" y="2121480"/>
            <a:ext cx="41504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300" b="0" u="none" strike="noStrike">
                <a:solidFill>
                  <a:srgbClr val="0B1F3A"/>
                </a:solidFill>
                <a:effectLst/>
                <a:uFillTx/>
                <a:latin typeface="Aptos"/>
              </a:rPr>
              <a:t>Find action sequences that achieve goals. This transitions to Chapters 3-5.</a:t>
            </a:r>
            <a:endParaRPr lang="en-US" sz="1300" b="0" u="none" strike="noStrike">
              <a:solidFill>
                <a:srgbClr val="000000"/>
              </a:solidFill>
              <a:effectLst/>
              <a:uFillTx/>
              <a:latin typeface="Arial"/>
            </a:endParaRPr>
          </a:p>
        </p:txBody>
      </p:sp>
      <p:sp>
        <p:nvSpPr>
          <p:cNvPr id="972" name="Shape 10"/>
          <p:cNvSpPr/>
          <p:nvPr/>
        </p:nvSpPr>
        <p:spPr>
          <a:xfrm>
            <a:off x="6812280" y="2880360"/>
            <a:ext cx="44794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3" name="Text 11"/>
          <p:cNvSpPr/>
          <p:nvPr/>
        </p:nvSpPr>
        <p:spPr>
          <a:xfrm>
            <a:off x="6976800" y="3026520"/>
            <a:ext cx="4150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Flexibility</a:t>
            </a:r>
            <a:endParaRPr lang="en-US" sz="1700" b="0" u="none" strike="noStrike">
              <a:solidFill>
                <a:srgbClr val="000000"/>
              </a:solidFill>
              <a:effectLst/>
              <a:uFillTx/>
              <a:latin typeface="Arial"/>
            </a:endParaRPr>
          </a:p>
        </p:txBody>
      </p:sp>
      <p:sp>
        <p:nvSpPr>
          <p:cNvPr id="974" name="Text 12"/>
          <p:cNvSpPr/>
          <p:nvPr/>
        </p:nvSpPr>
        <p:spPr>
          <a:xfrm>
            <a:off x="6976800" y="3355920"/>
            <a:ext cx="41504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300" b="0" u="none" strike="noStrike">
                <a:solidFill>
                  <a:srgbClr val="0B1F3A"/>
                </a:solidFill>
                <a:effectLst/>
                <a:uFillTx/>
                <a:latin typeface="Aptos"/>
              </a:rPr>
              <a:t>Change the destination, and the same knowledge can support new behavior.</a:t>
            </a:r>
            <a:endParaRPr lang="en-US" sz="1300" b="0" u="none" strike="noStrike">
              <a:solidFill>
                <a:srgbClr val="000000"/>
              </a:solidFill>
              <a:effectLst/>
              <a:uFillTx/>
              <a:latin typeface="Arial"/>
            </a:endParaRPr>
          </a:p>
        </p:txBody>
      </p:sp>
      <p:sp>
        <p:nvSpPr>
          <p:cNvPr id="975" name="Shape 13"/>
          <p:cNvSpPr/>
          <p:nvPr/>
        </p:nvSpPr>
        <p:spPr>
          <a:xfrm>
            <a:off x="6812280" y="4114800"/>
            <a:ext cx="44794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6" name="Text 14"/>
          <p:cNvSpPr/>
          <p:nvPr/>
        </p:nvSpPr>
        <p:spPr>
          <a:xfrm>
            <a:off x="6976800" y="4260960"/>
            <a:ext cx="4150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rPr>
              <a:t>Cost</a:t>
            </a:r>
            <a:endParaRPr lang="en-US" sz="1700" b="0" u="none" strike="noStrike">
              <a:solidFill>
                <a:srgbClr val="000000"/>
              </a:solidFill>
              <a:effectLst/>
              <a:uFillTx/>
              <a:latin typeface="Arial"/>
            </a:endParaRPr>
          </a:p>
        </p:txBody>
      </p:sp>
      <p:sp>
        <p:nvSpPr>
          <p:cNvPr id="977" name="Text 15"/>
          <p:cNvSpPr/>
          <p:nvPr/>
        </p:nvSpPr>
        <p:spPr>
          <a:xfrm>
            <a:off x="6976800" y="4590360"/>
            <a:ext cx="41504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300" b="0" u="none" strike="noStrike">
                <a:solidFill>
                  <a:srgbClr val="0B1F3A"/>
                </a:solidFill>
                <a:effectLst/>
                <a:uFillTx/>
                <a:latin typeface="Aptos"/>
              </a:rPr>
              <a:t>The agent may need to reason about many possible future action sequences.</a:t>
            </a:r>
            <a:endParaRPr lang="en-US" sz="1300" b="0" u="none" strike="noStrike">
              <a:solidFill>
                <a:srgbClr val="000000"/>
              </a:solidFill>
              <a:effectLst/>
              <a:uFillTx/>
              <a:latin typeface="Arial"/>
            </a:endParaRPr>
          </a:p>
        </p:txBody>
      </p:sp>
      <p:sp>
        <p:nvSpPr>
          <p:cNvPr id="978" name="Text 16"/>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2.13</a:t>
            </a:r>
            <a:endParaRPr lang="en-US" sz="75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7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8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Planning Video Bridge: Reflex vs. Planning</a:t>
            </a:r>
            <a:endParaRPr lang="en-US" sz="2300" b="0" u="none" strike="noStrike">
              <a:solidFill>
                <a:srgbClr val="000000"/>
              </a:solidFill>
              <a:effectLst/>
              <a:uFillTx/>
              <a:latin typeface="Arial"/>
            </a:endParaRPr>
          </a:p>
        </p:txBody>
      </p:sp>
      <p:sp>
        <p:nvSpPr>
          <p:cNvPr id="98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Bridge</a:t>
            </a:r>
            <a:endParaRPr lang="en-US" sz="1200" b="0" u="none" strike="noStrike">
              <a:solidFill>
                <a:srgbClr val="000000"/>
              </a:solidFill>
              <a:effectLst/>
              <a:uFillTx/>
              <a:latin typeface="Arial"/>
            </a:endParaRPr>
          </a:p>
        </p:txBody>
      </p:sp>
      <p:sp>
        <p:nvSpPr>
          <p:cNvPr id="98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8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35</a:t>
            </a:r>
            <a:endParaRPr lang="en-US" sz="1800" b="0" u="none" strike="noStrike">
              <a:solidFill>
                <a:srgbClr val="000000"/>
              </a:solidFill>
              <a:effectLst/>
              <a:uFillTx/>
              <a:latin typeface="Arial"/>
            </a:endParaRPr>
          </a:p>
        </p:txBody>
      </p:sp>
      <p:sp>
        <p:nvSpPr>
          <p:cNvPr id="985" name="Rounded Rectangle 473"/>
          <p:cNvSpPr/>
          <p:nvPr/>
        </p:nvSpPr>
        <p:spPr>
          <a:xfrm>
            <a:off x="777240" y="1170360"/>
            <a:ext cx="4800240" cy="1261440"/>
          </a:xfrm>
          <a:prstGeom prst="roundRect">
            <a:avLst>
              <a:gd name="adj" fmla="val 16667"/>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86" name="TextBox 474"/>
          <p:cNvSpPr/>
          <p:nvPr/>
        </p:nvSpPr>
        <p:spPr>
          <a:xfrm>
            <a:off x="941760" y="1298520"/>
            <a:ext cx="1537920" cy="348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700" b="1" u="none" strike="noStrike">
                <a:solidFill>
                  <a:srgbClr val="2A66B0"/>
                </a:solidFill>
                <a:effectLst/>
                <a:uFillTx/>
                <a:latin typeface="Aptos"/>
              </a:rPr>
              <a:t>Reflex agent</a:t>
            </a:r>
            <a:endParaRPr lang="en-US" sz="1700" b="0" u="none" strike="noStrike">
              <a:solidFill>
                <a:srgbClr val="000000"/>
              </a:solidFill>
              <a:effectLst/>
              <a:uFillTx/>
              <a:latin typeface="Arial"/>
            </a:endParaRPr>
          </a:p>
        </p:txBody>
      </p:sp>
      <p:sp>
        <p:nvSpPr>
          <p:cNvPr id="987" name="TextBox 475"/>
          <p:cNvSpPr/>
          <p:nvPr/>
        </p:nvSpPr>
        <p:spPr>
          <a:xfrm>
            <a:off x="941760" y="1673280"/>
            <a:ext cx="4471200" cy="44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50" b="0" u="none" strike="noStrike">
                <a:solidFill>
                  <a:srgbClr val="162237"/>
                </a:solidFill>
                <a:effectLst/>
                <a:uFillTx/>
                <a:latin typeface="Aptos"/>
              </a:rPr>
              <a:t>Chooses an action from the current percept, or from internal state in the model-based case; does not consider future consequences.</a:t>
            </a:r>
            <a:endParaRPr lang="en-US" sz="1150" b="0" u="none" strike="noStrike">
              <a:solidFill>
                <a:srgbClr val="000000"/>
              </a:solidFill>
              <a:effectLst/>
              <a:uFillTx/>
              <a:latin typeface="Arial"/>
            </a:endParaRPr>
          </a:p>
        </p:txBody>
      </p:sp>
      <p:sp>
        <p:nvSpPr>
          <p:cNvPr id="988" name="Rounded Rectangle 476"/>
          <p:cNvSpPr/>
          <p:nvPr/>
        </p:nvSpPr>
        <p:spPr>
          <a:xfrm>
            <a:off x="777240" y="2597040"/>
            <a:ext cx="4800240" cy="1261440"/>
          </a:xfrm>
          <a:prstGeom prst="roundRect">
            <a:avLst>
              <a:gd name="adj" fmla="val 16667"/>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89" name="TextBox 477"/>
          <p:cNvSpPr/>
          <p:nvPr/>
        </p:nvSpPr>
        <p:spPr>
          <a:xfrm>
            <a:off x="941760" y="2724840"/>
            <a:ext cx="1830960" cy="348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700" b="1" u="none" strike="noStrike">
                <a:solidFill>
                  <a:srgbClr val="00848C"/>
                </a:solidFill>
                <a:effectLst/>
                <a:uFillTx/>
                <a:latin typeface="Aptos"/>
              </a:rPr>
              <a:t>Planning agent</a:t>
            </a:r>
            <a:endParaRPr lang="en-US" sz="1700" b="0" u="none" strike="noStrike">
              <a:solidFill>
                <a:srgbClr val="000000"/>
              </a:solidFill>
              <a:effectLst/>
              <a:uFillTx/>
              <a:latin typeface="Arial"/>
            </a:endParaRPr>
          </a:p>
        </p:txBody>
      </p:sp>
      <p:sp>
        <p:nvSpPr>
          <p:cNvPr id="990" name="TextBox 478"/>
          <p:cNvSpPr/>
          <p:nvPr/>
        </p:nvSpPr>
        <p:spPr>
          <a:xfrm>
            <a:off x="941760" y="3099960"/>
            <a:ext cx="4471200" cy="616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50" b="0" u="none" strike="noStrike">
                <a:solidFill>
                  <a:srgbClr val="162237"/>
                </a:solidFill>
                <a:effectLst/>
                <a:uFillTx/>
                <a:latin typeface="Aptos"/>
              </a:rPr>
              <a:t>Asks “what if?” and chooses actions based on predicted consequences. Must model how the world evolves and must formulate a goal test.</a:t>
            </a:r>
            <a:endParaRPr lang="en-US" sz="1150" b="0" u="none" strike="noStrike">
              <a:solidFill>
                <a:srgbClr val="000000"/>
              </a:solidFill>
              <a:effectLst/>
              <a:uFillTx/>
              <a:latin typeface="Arial"/>
            </a:endParaRPr>
          </a:p>
        </p:txBody>
      </p:sp>
      <p:sp>
        <p:nvSpPr>
          <p:cNvPr id="991" name="Rounded Rectangle 479"/>
          <p:cNvSpPr/>
          <p:nvPr/>
        </p:nvSpPr>
        <p:spPr>
          <a:xfrm>
            <a:off x="777240" y="4023360"/>
            <a:ext cx="4800240" cy="1261440"/>
          </a:xfrm>
          <a:prstGeom prst="roundRect">
            <a:avLst>
              <a:gd name="adj" fmla="val 16667"/>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92" name="TextBox 480"/>
          <p:cNvSpPr/>
          <p:nvPr/>
        </p:nvSpPr>
        <p:spPr>
          <a:xfrm>
            <a:off x="941760" y="4151520"/>
            <a:ext cx="2395440" cy="348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700" b="1" u="none" strike="noStrike">
                <a:solidFill>
                  <a:srgbClr val="1E743E"/>
                </a:solidFill>
                <a:effectLst/>
                <a:uFillTx/>
                <a:latin typeface="Aptos"/>
              </a:rPr>
              <a:t>Replanning Pac-Man</a:t>
            </a:r>
            <a:endParaRPr lang="en-US" sz="1700" b="0" u="none" strike="noStrike">
              <a:solidFill>
                <a:srgbClr val="000000"/>
              </a:solidFill>
              <a:effectLst/>
              <a:uFillTx/>
              <a:latin typeface="Arial"/>
            </a:endParaRPr>
          </a:p>
        </p:txBody>
      </p:sp>
      <p:sp>
        <p:nvSpPr>
          <p:cNvPr id="993" name="TextBox 481"/>
          <p:cNvSpPr/>
          <p:nvPr/>
        </p:nvSpPr>
        <p:spPr>
          <a:xfrm>
            <a:off x="941760" y="4526280"/>
            <a:ext cx="4471200" cy="44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50" b="0" u="none" strike="noStrike">
                <a:solidFill>
                  <a:srgbClr val="162237"/>
                </a:solidFill>
                <a:effectLst/>
                <a:uFillTx/>
                <a:latin typeface="Aptos"/>
              </a:rPr>
              <a:t>Plans a little way ahead, acts, then replans from the new state. This is different from planning once and executing forever.</a:t>
            </a:r>
            <a:endParaRPr lang="en-US" sz="1150" b="0" u="none" strike="noStrike">
              <a:solidFill>
                <a:srgbClr val="000000"/>
              </a:solidFill>
              <a:effectLst/>
              <a:uFillTx/>
              <a:latin typeface="Arial"/>
            </a:endParaRPr>
          </a:p>
        </p:txBody>
      </p:sp>
      <p:pic>
        <p:nvPicPr>
          <p:cNvPr id="994" name="Picture 482" descr="image.png"/>
          <p:cNvPicPr/>
          <p:nvPr/>
        </p:nvPicPr>
        <p:blipFill>
          <a:blip r:embed="rId3"/>
          <a:stretch/>
        </p:blipFill>
        <p:spPr>
          <a:xfrm>
            <a:off x="5870520" y="1325880"/>
            <a:ext cx="5074560" cy="4160160"/>
          </a:xfrm>
          <a:prstGeom prst="rect">
            <a:avLst/>
          </a:prstGeom>
          <a:noFill/>
          <a:ln w="0">
            <a:noFill/>
          </a:ln>
        </p:spPr>
      </p:pic>
      <p:sp>
        <p:nvSpPr>
          <p:cNvPr id="995" name="TextBox 483"/>
          <p:cNvSpPr/>
          <p:nvPr/>
        </p:nvSpPr>
        <p:spPr>
          <a:xfrm>
            <a:off x="5758920" y="5330880"/>
            <a:ext cx="6567480" cy="2732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1" u="none" strike="noStrike">
                <a:solidFill>
                  <a:srgbClr val="B8241F"/>
                </a:solidFill>
                <a:effectLst/>
                <a:uFillTx/>
                <a:latin typeface="Aptos"/>
              </a:rPr>
              <a:t>Key distinction: planning considers how the world WOULD BE, not just how it is now.</a:t>
            </a:r>
            <a:endParaRPr lang="en-US" sz="1200" b="0" u="none" strike="noStrike">
              <a:solidFill>
                <a:srgbClr val="000000"/>
              </a:solidFill>
              <a:effectLst/>
              <a:uFillTx/>
              <a:latin typeface="Arial"/>
            </a:endParaRPr>
          </a:p>
        </p:txBody>
      </p:sp>
      <p:sp>
        <p:nvSpPr>
          <p:cNvPr id="996" name="Rounded Rectangle 484"/>
          <p:cNvSpPr/>
          <p:nvPr/>
        </p:nvSpPr>
        <p:spPr>
          <a:xfrm>
            <a:off x="777240" y="5532120"/>
            <a:ext cx="10716480" cy="731160"/>
          </a:xfrm>
          <a:prstGeom prst="roundRect">
            <a:avLst>
              <a:gd name="adj" fmla="val 16667"/>
            </a:avLst>
          </a:prstGeom>
          <a:solidFill>
            <a:srgbClr val="EFF4F9"/>
          </a:solidFill>
          <a:ln w="1270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97" name="TextBox 485"/>
          <p:cNvSpPr/>
          <p:nvPr/>
        </p:nvSpPr>
        <p:spPr>
          <a:xfrm>
            <a:off x="978480" y="5641920"/>
            <a:ext cx="1726200" cy="264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150" b="1" u="none" strike="noStrike">
                <a:solidFill>
                  <a:srgbClr val="0F2D5B"/>
                </a:solidFill>
                <a:effectLst/>
                <a:uFillTx/>
                <a:latin typeface="Aptos"/>
              </a:rPr>
              <a:t>Planning distinctions</a:t>
            </a:r>
            <a:endParaRPr lang="en-US" sz="1150" b="0" u="none" strike="noStrike">
              <a:solidFill>
                <a:srgbClr val="000000"/>
              </a:solidFill>
              <a:effectLst/>
              <a:uFillTx/>
              <a:latin typeface="Arial"/>
            </a:endParaRPr>
          </a:p>
        </p:txBody>
      </p:sp>
      <p:sp>
        <p:nvSpPr>
          <p:cNvPr id="998" name="TextBox 486"/>
          <p:cNvSpPr/>
          <p:nvPr/>
        </p:nvSpPr>
        <p:spPr>
          <a:xfrm>
            <a:off x="2743200" y="5641920"/>
            <a:ext cx="8521920" cy="42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00" b="1" u="none" strike="noStrike">
                <a:solidFill>
                  <a:srgbClr val="162237"/>
                </a:solidFill>
                <a:effectLst/>
                <a:uFillTx/>
                <a:latin typeface="Aptos"/>
              </a:rPr>
              <a:t>Optimal vs. complete planning</a:t>
            </a:r>
            <a:r>
              <a:rPr lang="en-US" sz="1100" b="0" u="none" strike="noStrike">
                <a:solidFill>
                  <a:srgbClr val="162237"/>
                </a:solidFill>
                <a:effectLst/>
                <a:uFillTx/>
                <a:latin typeface="Aptos"/>
              </a:rPr>
              <a:t> compares best solution quality vs. guaranteed solution finding.  </a:t>
            </a:r>
            <a:r>
              <a:rPr lang="en-US" sz="1100" b="1" u="none" strike="noStrike">
                <a:solidFill>
                  <a:srgbClr val="162237"/>
                </a:solidFill>
                <a:effectLst/>
                <a:uFillTx/>
                <a:latin typeface="Aptos"/>
              </a:rPr>
              <a:t>Planning vs. replanning</a:t>
            </a:r>
            <a:r>
              <a:rPr lang="en-US" sz="1100" b="0" u="none" strike="noStrike">
                <a:solidFill>
                  <a:srgbClr val="162237"/>
                </a:solidFill>
                <a:effectLst/>
                <a:uFillTx/>
                <a:latin typeface="Aptos"/>
              </a:rPr>
              <a:t> compares one long plan vs. repeated look-ahead as the state changes.</a:t>
            </a:r>
            <a:endParaRPr lang="en-US" sz="11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9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0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2.4.5 Utility-Based Agents</a:t>
            </a:r>
            <a:endParaRPr lang="en-US" sz="2300" b="0" u="none" strike="noStrike">
              <a:solidFill>
                <a:srgbClr val="000000"/>
              </a:solidFill>
              <a:effectLst/>
              <a:uFillTx/>
              <a:latin typeface="Arial"/>
            </a:endParaRPr>
          </a:p>
        </p:txBody>
      </p:sp>
      <p:sp>
        <p:nvSpPr>
          <p:cNvPr id="100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100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0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36</a:t>
            </a:r>
            <a:endParaRPr lang="en-US" sz="1800" b="0" u="none" strike="noStrike">
              <a:solidFill>
                <a:srgbClr val="000000"/>
              </a:solidFill>
              <a:effectLst/>
              <a:uFillTx/>
              <a:latin typeface="Arial"/>
            </a:endParaRPr>
          </a:p>
        </p:txBody>
      </p:sp>
      <p:sp>
        <p:nvSpPr>
          <p:cNvPr id="1005" name="Text 6"/>
          <p:cNvSpPr/>
          <p:nvPr/>
        </p:nvSpPr>
        <p:spPr>
          <a:xfrm>
            <a:off x="77724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Goals say whether a state is acceptable; utility ranks how good it is.</a:t>
            </a:r>
            <a:endParaRPr lang="en-US" sz="2000" b="0" u="none" strike="noStrike">
              <a:solidFill>
                <a:srgbClr val="000000"/>
              </a:solidFill>
              <a:effectLst/>
              <a:uFillTx/>
              <a:latin typeface="Arial"/>
            </a:endParaRPr>
          </a:p>
        </p:txBody>
      </p:sp>
      <p:pic>
        <p:nvPicPr>
          <p:cNvPr id="1006" name="Image 0" descr="/mnt/data/ch2_docx_unzipped/word/media/image12.png"/>
          <p:cNvPicPr/>
          <p:nvPr/>
        </p:nvPicPr>
        <p:blipFill>
          <a:blip r:embed="rId3"/>
          <a:stretch/>
        </p:blipFill>
        <p:spPr>
          <a:xfrm>
            <a:off x="1205280" y="1600200"/>
            <a:ext cx="4857480" cy="4068000"/>
          </a:xfrm>
          <a:prstGeom prst="rect">
            <a:avLst/>
          </a:prstGeom>
          <a:noFill/>
          <a:ln w="0">
            <a:noFill/>
          </a:ln>
        </p:spPr>
      </p:pic>
      <p:sp>
        <p:nvSpPr>
          <p:cNvPr id="1007" name="Shape 7"/>
          <p:cNvSpPr/>
          <p:nvPr/>
        </p:nvSpPr>
        <p:spPr>
          <a:xfrm>
            <a:off x="6903720" y="1645920"/>
            <a:ext cx="425088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8" name="Text 8"/>
          <p:cNvSpPr/>
          <p:nvPr/>
        </p:nvSpPr>
        <p:spPr>
          <a:xfrm>
            <a:off x="7068240" y="179208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Goal-based</a:t>
            </a:r>
            <a:endParaRPr lang="en-US" sz="1700" b="0" u="none" strike="noStrike">
              <a:solidFill>
                <a:srgbClr val="000000"/>
              </a:solidFill>
              <a:effectLst/>
              <a:uFillTx/>
              <a:latin typeface="Arial"/>
            </a:endParaRPr>
          </a:p>
        </p:txBody>
      </p:sp>
      <p:sp>
        <p:nvSpPr>
          <p:cNvPr id="1009" name="Text 9"/>
          <p:cNvSpPr/>
          <p:nvPr/>
        </p:nvSpPr>
        <p:spPr>
          <a:xfrm>
            <a:off x="7068240" y="2121480"/>
            <a:ext cx="392184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19999"/>
          </a:bodyPr>
          <a:lstStyle/>
          <a:p>
            <a:pPr defTabSz="914400">
              <a:lnSpc>
                <a:spcPct val="100000"/>
              </a:lnSpc>
              <a:tabLst>
                <a:tab pos="0" algn="l"/>
              </a:tabLst>
            </a:pPr>
            <a:r>
              <a:rPr lang="en-US" sz="1300" b="0" u="none" strike="noStrike">
                <a:solidFill>
                  <a:srgbClr val="0B1F3A"/>
                </a:solidFill>
                <a:effectLst/>
                <a:uFillTx/>
                <a:latin typeface="Aptos"/>
              </a:rPr>
              <a:t>Destination reached?</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Yes or no.</a:t>
            </a:r>
            <a:endParaRPr lang="en-US" sz="1300" b="0" u="none" strike="noStrike">
              <a:solidFill>
                <a:srgbClr val="000000"/>
              </a:solidFill>
              <a:effectLst/>
              <a:uFillTx/>
              <a:latin typeface="Arial"/>
            </a:endParaRPr>
          </a:p>
        </p:txBody>
      </p:sp>
      <p:sp>
        <p:nvSpPr>
          <p:cNvPr id="1010" name="Shape 10"/>
          <p:cNvSpPr/>
          <p:nvPr/>
        </p:nvSpPr>
        <p:spPr>
          <a:xfrm>
            <a:off x="6903720" y="2743200"/>
            <a:ext cx="425088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1" name="Text 11"/>
          <p:cNvSpPr/>
          <p:nvPr/>
        </p:nvSpPr>
        <p:spPr>
          <a:xfrm>
            <a:off x="7068240" y="288936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Utility-based</a:t>
            </a:r>
            <a:endParaRPr lang="en-US" sz="1700" b="0" u="none" strike="noStrike">
              <a:solidFill>
                <a:srgbClr val="000000"/>
              </a:solidFill>
              <a:effectLst/>
              <a:uFillTx/>
              <a:latin typeface="Arial"/>
            </a:endParaRPr>
          </a:p>
        </p:txBody>
      </p:sp>
      <p:sp>
        <p:nvSpPr>
          <p:cNvPr id="1012" name="Text 12"/>
          <p:cNvSpPr/>
          <p:nvPr/>
        </p:nvSpPr>
        <p:spPr>
          <a:xfrm>
            <a:off x="7068240" y="3218760"/>
            <a:ext cx="392184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How good is each outcome?</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Fast, safe, comfortable, cheap?</a:t>
            </a:r>
            <a:endParaRPr lang="en-US" sz="1300" b="0" u="none" strike="noStrike">
              <a:solidFill>
                <a:srgbClr val="000000"/>
              </a:solidFill>
              <a:effectLst/>
              <a:uFillTx/>
              <a:latin typeface="Arial"/>
            </a:endParaRPr>
          </a:p>
        </p:txBody>
      </p:sp>
      <p:sp>
        <p:nvSpPr>
          <p:cNvPr id="1013" name="Shape 13"/>
          <p:cNvSpPr/>
          <p:nvPr/>
        </p:nvSpPr>
        <p:spPr>
          <a:xfrm>
            <a:off x="6903720" y="3977640"/>
            <a:ext cx="425088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4" name="Text 14"/>
          <p:cNvSpPr/>
          <p:nvPr/>
        </p:nvSpPr>
        <p:spPr>
          <a:xfrm>
            <a:off x="7068240" y="412380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5B35B1"/>
                </a:solidFill>
                <a:effectLst/>
                <a:uFillTx/>
                <a:latin typeface="Aptos"/>
              </a:rPr>
              <a:t>Expected utility</a:t>
            </a:r>
            <a:endParaRPr lang="en-US" sz="1700" b="0" u="none" strike="noStrike">
              <a:solidFill>
                <a:srgbClr val="000000"/>
              </a:solidFill>
              <a:effectLst/>
              <a:uFillTx/>
              <a:latin typeface="Arial"/>
            </a:endParaRPr>
          </a:p>
        </p:txBody>
      </p:sp>
      <p:sp>
        <p:nvSpPr>
          <p:cNvPr id="1015" name="Text 15"/>
          <p:cNvSpPr/>
          <p:nvPr/>
        </p:nvSpPr>
        <p:spPr>
          <a:xfrm>
            <a:off x="7068240" y="4453200"/>
            <a:ext cx="392184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a:bodyPr>
          <a:lstStyle/>
          <a:p>
            <a:pPr defTabSz="914400">
              <a:lnSpc>
                <a:spcPct val="100000"/>
              </a:lnSpc>
              <a:tabLst>
                <a:tab pos="0" algn="l"/>
              </a:tabLst>
            </a:pPr>
            <a:r>
              <a:rPr lang="en-US" sz="1300" b="0" u="none" strike="noStrike">
                <a:solidFill>
                  <a:srgbClr val="0B1F3A"/>
                </a:solidFill>
                <a:effectLst/>
                <a:uFillTx/>
                <a:latin typeface="Aptos"/>
              </a:rPr>
              <a:t>Weigh utility by probability when outcomes are uncertain.</a:t>
            </a:r>
            <a:endParaRPr lang="en-US" sz="1300" b="0" u="none" strike="noStrike">
              <a:solidFill>
                <a:srgbClr val="000000"/>
              </a:solidFill>
              <a:effectLst/>
              <a:uFillTx/>
              <a:latin typeface="Arial"/>
            </a:endParaRPr>
          </a:p>
        </p:txBody>
      </p:sp>
      <p:sp>
        <p:nvSpPr>
          <p:cNvPr id="1016" name="Text 16"/>
          <p:cNvSpPr/>
          <p:nvPr/>
        </p:nvSpPr>
        <p:spPr>
          <a:xfrm>
            <a:off x="6903720" y="5285160"/>
            <a:ext cx="42508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rPr>
              <a:t>Utility handles conflicts and uncertainty.</a:t>
            </a:r>
            <a:endParaRPr lang="en-US" sz="1700" b="0" u="none" strike="noStrike">
              <a:solidFill>
                <a:srgbClr val="000000"/>
              </a:solidFill>
              <a:effectLst/>
              <a:uFillTx/>
              <a:latin typeface="Arial"/>
            </a:endParaRPr>
          </a:p>
        </p:txBody>
      </p:sp>
      <p:sp>
        <p:nvSpPr>
          <p:cNvPr id="1017" name="Text 17"/>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2.14</a:t>
            </a:r>
            <a:endParaRPr lang="en-US" sz="75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1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1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2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Utility Handles Tradeoffs and Uncertainty</a:t>
            </a:r>
            <a:endParaRPr lang="en-US" sz="2300" b="0" u="none" strike="noStrike">
              <a:solidFill>
                <a:srgbClr val="000000"/>
              </a:solidFill>
              <a:effectLst/>
              <a:uFillTx/>
              <a:latin typeface="Arial"/>
            </a:endParaRPr>
          </a:p>
        </p:txBody>
      </p:sp>
      <p:sp>
        <p:nvSpPr>
          <p:cNvPr id="102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102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2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37</a:t>
            </a:r>
            <a:endParaRPr lang="en-US" sz="1800" b="0" u="none" strike="noStrike">
              <a:solidFill>
                <a:srgbClr val="000000"/>
              </a:solidFill>
              <a:effectLst/>
              <a:uFillTx/>
              <a:latin typeface="Arial"/>
            </a:endParaRPr>
          </a:p>
        </p:txBody>
      </p:sp>
      <p:sp>
        <p:nvSpPr>
          <p:cNvPr id="1024" name="Shape 6"/>
          <p:cNvSpPr/>
          <p:nvPr/>
        </p:nvSpPr>
        <p:spPr>
          <a:xfrm>
            <a:off x="868680" y="1325880"/>
            <a:ext cx="3290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5" name="Text 7"/>
          <p:cNvSpPr/>
          <p:nvPr/>
        </p:nvSpPr>
        <p:spPr>
          <a:xfrm>
            <a:off x="1033200" y="147204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Conflicting goals</a:t>
            </a:r>
            <a:endParaRPr lang="en-US" sz="1800" b="0" u="none" strike="noStrike">
              <a:solidFill>
                <a:srgbClr val="000000"/>
              </a:solidFill>
              <a:effectLst/>
              <a:uFillTx/>
              <a:latin typeface="Arial"/>
            </a:endParaRPr>
          </a:p>
        </p:txBody>
      </p:sp>
      <p:sp>
        <p:nvSpPr>
          <p:cNvPr id="1026" name="Text 8"/>
          <p:cNvSpPr/>
          <p:nvPr/>
        </p:nvSpPr>
        <p:spPr>
          <a:xfrm>
            <a:off x="1033200" y="1801440"/>
            <a:ext cx="2961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Speed and safety can conflict. Utility specifies the tradeoff.</a:t>
            </a:r>
            <a:endParaRPr lang="en-US" sz="1350" b="0" u="none" strike="noStrike">
              <a:solidFill>
                <a:srgbClr val="000000"/>
              </a:solidFill>
              <a:effectLst/>
              <a:uFillTx/>
              <a:latin typeface="Arial"/>
            </a:endParaRPr>
          </a:p>
        </p:txBody>
      </p:sp>
      <p:sp>
        <p:nvSpPr>
          <p:cNvPr id="1027" name="Shape 9"/>
          <p:cNvSpPr/>
          <p:nvPr/>
        </p:nvSpPr>
        <p:spPr>
          <a:xfrm>
            <a:off x="4434840" y="1325880"/>
            <a:ext cx="3290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8" name="Text 10"/>
          <p:cNvSpPr/>
          <p:nvPr/>
        </p:nvSpPr>
        <p:spPr>
          <a:xfrm>
            <a:off x="4599360" y="147204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Uncertain goals</a:t>
            </a:r>
            <a:endParaRPr lang="en-US" sz="1800" b="0" u="none" strike="noStrike">
              <a:solidFill>
                <a:srgbClr val="000000"/>
              </a:solidFill>
              <a:effectLst/>
              <a:uFillTx/>
              <a:latin typeface="Arial"/>
            </a:endParaRPr>
          </a:p>
        </p:txBody>
      </p:sp>
      <p:sp>
        <p:nvSpPr>
          <p:cNvPr id="1029" name="Text 11"/>
          <p:cNvSpPr/>
          <p:nvPr/>
        </p:nvSpPr>
        <p:spPr>
          <a:xfrm>
            <a:off x="4599360" y="1801440"/>
            <a:ext cx="2961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Several outcomes may be possible, none guaranteed.</a:t>
            </a:r>
            <a:endParaRPr lang="en-US" sz="1350" b="0" u="none" strike="noStrike">
              <a:solidFill>
                <a:srgbClr val="000000"/>
              </a:solidFill>
              <a:effectLst/>
              <a:uFillTx/>
              <a:latin typeface="Arial"/>
            </a:endParaRPr>
          </a:p>
        </p:txBody>
      </p:sp>
      <p:sp>
        <p:nvSpPr>
          <p:cNvPr id="1030" name="Shape 12"/>
          <p:cNvSpPr/>
          <p:nvPr/>
        </p:nvSpPr>
        <p:spPr>
          <a:xfrm>
            <a:off x="8001000" y="1325880"/>
            <a:ext cx="3290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1" name="Text 13"/>
          <p:cNvSpPr/>
          <p:nvPr/>
        </p:nvSpPr>
        <p:spPr>
          <a:xfrm>
            <a:off x="8165520" y="147204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Expected utility</a:t>
            </a:r>
            <a:endParaRPr lang="en-US" sz="1800" b="0" u="none" strike="noStrike">
              <a:solidFill>
                <a:srgbClr val="000000"/>
              </a:solidFill>
              <a:effectLst/>
              <a:uFillTx/>
              <a:latin typeface="Arial"/>
            </a:endParaRPr>
          </a:p>
        </p:txBody>
      </p:sp>
      <p:sp>
        <p:nvSpPr>
          <p:cNvPr id="1032" name="Text 14"/>
          <p:cNvSpPr/>
          <p:nvPr/>
        </p:nvSpPr>
        <p:spPr>
          <a:xfrm>
            <a:off x="8165520" y="1801440"/>
            <a:ext cx="2961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20000"/>
          </a:bodyPr>
          <a:lstStyle/>
          <a:p>
            <a:pPr defTabSz="914400">
              <a:lnSpc>
                <a:spcPct val="100000"/>
              </a:lnSpc>
              <a:tabLst>
                <a:tab pos="0" algn="l"/>
              </a:tabLst>
            </a:pPr>
            <a:r>
              <a:rPr lang="en-US" sz="1350" b="0" u="none" strike="noStrike">
                <a:solidFill>
                  <a:srgbClr val="0B1F3A"/>
                </a:solidFill>
                <a:effectLst/>
                <a:uFillTx/>
                <a:latin typeface="Aptos"/>
              </a:rPr>
              <a:t>Likelihood of success is weighed against outcome importance. Any rational agent behaves as if it maximizes expected utility, explicitly or not.</a:t>
            </a:r>
            <a:endParaRPr lang="en-US" sz="1350" b="0" u="none" strike="noStrike">
              <a:solidFill>
                <a:srgbClr val="000000"/>
              </a:solidFill>
              <a:effectLst/>
              <a:uFillTx/>
              <a:latin typeface="Arial"/>
            </a:endParaRPr>
          </a:p>
        </p:txBody>
      </p:sp>
      <p:sp>
        <p:nvSpPr>
          <p:cNvPr id="1033" name="Text 15"/>
          <p:cNvSpPr/>
          <p:nvPr/>
        </p:nvSpPr>
        <p:spPr>
          <a:xfrm>
            <a:off x="914400" y="3337560"/>
            <a:ext cx="10331640" cy="41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0B2B5C"/>
                </a:solidFill>
                <a:effectLst/>
                <a:uFillTx/>
                <a:latin typeface="Aptos"/>
              </a:rPr>
              <a:t>Utility function = internalization of the performance measure</a:t>
            </a:r>
            <a:endParaRPr lang="en-US" sz="2400" b="0" u="none" strike="noStrike">
              <a:solidFill>
                <a:srgbClr val="000000"/>
              </a:solidFill>
              <a:effectLst/>
              <a:uFillTx/>
              <a:latin typeface="Arial"/>
            </a:endParaRPr>
          </a:p>
        </p:txBody>
      </p:sp>
      <p:sp>
        <p:nvSpPr>
          <p:cNvPr id="1034" name="Text 16"/>
          <p:cNvSpPr/>
          <p:nvPr/>
        </p:nvSpPr>
        <p:spPr>
          <a:xfrm>
            <a:off x="1097280" y="4160520"/>
            <a:ext cx="996588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1F3A"/>
                </a:solidFill>
                <a:effectLst/>
                <a:uFillTx/>
                <a:latin typeface="Aptos"/>
              </a:rPr>
              <a:t>If the internal utility function and external performance measure agree, maximizing utility supports rational behavior.</a:t>
            </a:r>
            <a:endParaRPr lang="en-US" sz="1800" b="0" u="none" strike="noStrike">
              <a:solidFill>
                <a:srgbClr val="000000"/>
              </a:solidFill>
              <a:effectLst/>
              <a:uFillTx/>
              <a:latin typeface="Arial"/>
            </a:endParaRPr>
          </a:p>
        </p:txBody>
      </p:sp>
      <p:sp>
        <p:nvSpPr>
          <p:cNvPr id="1035" name="Text 17"/>
          <p:cNvSpPr/>
          <p:nvPr/>
        </p:nvSpPr>
        <p:spPr>
          <a:xfrm>
            <a:off x="1097280" y="5074920"/>
            <a:ext cx="99658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A32020"/>
                </a:solidFill>
                <a:effectLst/>
                <a:uFillTx/>
                <a:latin typeface="Aptos"/>
              </a:rPr>
              <a:t>Caution: if the utility function is wrong, the agent may optimize the wrong objective.</a:t>
            </a:r>
            <a:endParaRPr lang="en-US" sz="15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36"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37"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38"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2.4.6 Learning Agents</a:t>
            </a:r>
            <a:endParaRPr lang="en-US" sz="2300" b="0" u="none" strike="noStrike">
              <a:solidFill>
                <a:srgbClr val="000000"/>
              </a:solidFill>
              <a:effectLst/>
              <a:uFillTx/>
              <a:latin typeface="Arial"/>
            </a:endParaRPr>
          </a:p>
        </p:txBody>
      </p:sp>
      <p:sp>
        <p:nvSpPr>
          <p:cNvPr id="1039"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1040"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41"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38</a:t>
            </a:r>
            <a:endParaRPr lang="en-US" sz="1800" b="0" u="none" strike="noStrike">
              <a:solidFill>
                <a:srgbClr val="000000"/>
              </a:solidFill>
              <a:effectLst/>
              <a:uFillTx/>
              <a:latin typeface="Arial"/>
            </a:endParaRPr>
          </a:p>
        </p:txBody>
      </p:sp>
      <p:sp>
        <p:nvSpPr>
          <p:cNvPr id="1042" name="Text 6"/>
          <p:cNvSpPr/>
          <p:nvPr/>
        </p:nvSpPr>
        <p:spPr>
          <a:xfrm>
            <a:off x="77724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Any agent type can be made into a learning agent.</a:t>
            </a:r>
            <a:endParaRPr lang="en-US" sz="2000" b="0" u="none" strike="noStrike">
              <a:solidFill>
                <a:srgbClr val="000000"/>
              </a:solidFill>
              <a:effectLst/>
              <a:uFillTx/>
              <a:latin typeface="Arial"/>
            </a:endParaRPr>
          </a:p>
        </p:txBody>
      </p:sp>
      <p:pic>
        <p:nvPicPr>
          <p:cNvPr id="1043" name="Image 0" descr="/mnt/data/ch2_docx_unzipped/word/media/image13.png"/>
          <p:cNvPicPr/>
          <p:nvPr/>
        </p:nvPicPr>
        <p:blipFill>
          <a:blip r:embed="rId3"/>
          <a:stretch/>
        </p:blipFill>
        <p:spPr>
          <a:xfrm>
            <a:off x="1253880" y="1600200"/>
            <a:ext cx="4760640" cy="4113720"/>
          </a:xfrm>
          <a:prstGeom prst="rect">
            <a:avLst/>
          </a:prstGeom>
          <a:noFill/>
          <a:ln w="0">
            <a:noFill/>
          </a:ln>
        </p:spPr>
      </p:pic>
      <p:sp>
        <p:nvSpPr>
          <p:cNvPr id="1044" name="Shape 7"/>
          <p:cNvSpPr/>
          <p:nvPr/>
        </p:nvSpPr>
        <p:spPr>
          <a:xfrm>
            <a:off x="6903720" y="155448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45" name="Text 8"/>
          <p:cNvSpPr/>
          <p:nvPr/>
        </p:nvSpPr>
        <p:spPr>
          <a:xfrm>
            <a:off x="7068240" y="170064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1046" name="Text 9"/>
          <p:cNvSpPr/>
          <p:nvPr/>
        </p:nvSpPr>
        <p:spPr>
          <a:xfrm>
            <a:off x="7068240" y="203004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0000" lnSpcReduction="20000"/>
          </a:bodyPr>
          <a:lstStyle/>
          <a:p>
            <a:pPr defTabSz="914400">
              <a:lnSpc>
                <a:spcPct val="100000"/>
              </a:lnSpc>
              <a:tabLst>
                <a:tab pos="0" algn="l"/>
              </a:tabLst>
            </a:pPr>
            <a:r>
              <a:rPr lang="en-US" sz="1250" b="0" u="none" strike="noStrike">
                <a:solidFill>
                  <a:srgbClr val="0B1F3A"/>
                </a:solidFill>
                <a:effectLst/>
                <a:uFillTx/>
                <a:latin typeface="Aptos"/>
              </a:rPr>
              <a:t>Selects external actions.</a:t>
            </a:r>
            <a:endParaRPr lang="en-US" sz="1250" b="0" u="none" strike="noStrike">
              <a:solidFill>
                <a:srgbClr val="000000"/>
              </a:solidFill>
              <a:effectLst/>
              <a:uFillTx/>
              <a:latin typeface="Arial"/>
            </a:endParaRPr>
          </a:p>
        </p:txBody>
      </p:sp>
      <p:sp>
        <p:nvSpPr>
          <p:cNvPr id="1047" name="Shape 10"/>
          <p:cNvSpPr/>
          <p:nvPr/>
        </p:nvSpPr>
        <p:spPr>
          <a:xfrm>
            <a:off x="6903720" y="248724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48" name="Text 11"/>
          <p:cNvSpPr/>
          <p:nvPr/>
        </p:nvSpPr>
        <p:spPr>
          <a:xfrm>
            <a:off x="7068240" y="263340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Learning element</a:t>
            </a:r>
            <a:endParaRPr lang="en-US" sz="1600" b="0" u="none" strike="noStrike">
              <a:solidFill>
                <a:srgbClr val="000000"/>
              </a:solidFill>
              <a:effectLst/>
              <a:uFillTx/>
              <a:latin typeface="Arial"/>
            </a:endParaRPr>
          </a:p>
        </p:txBody>
      </p:sp>
      <p:sp>
        <p:nvSpPr>
          <p:cNvPr id="1049" name="Text 12"/>
          <p:cNvSpPr/>
          <p:nvPr/>
        </p:nvSpPr>
        <p:spPr>
          <a:xfrm>
            <a:off x="7068240" y="296280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0000" lnSpcReduction="20000"/>
          </a:bodyPr>
          <a:lstStyle/>
          <a:p>
            <a:pPr defTabSz="914400">
              <a:lnSpc>
                <a:spcPct val="100000"/>
              </a:lnSpc>
              <a:tabLst>
                <a:tab pos="0" algn="l"/>
              </a:tabLst>
            </a:pPr>
            <a:r>
              <a:rPr lang="en-US" sz="1250" b="0" u="none" strike="noStrike">
                <a:solidFill>
                  <a:srgbClr val="0B1F3A"/>
                </a:solidFill>
                <a:effectLst/>
                <a:uFillTx/>
                <a:latin typeface="Aptos"/>
              </a:rPr>
              <a:t>Improves the performance element.</a:t>
            </a:r>
            <a:endParaRPr lang="en-US" sz="1250" b="0" u="none" strike="noStrike">
              <a:solidFill>
                <a:srgbClr val="000000"/>
              </a:solidFill>
              <a:effectLst/>
              <a:uFillTx/>
              <a:latin typeface="Arial"/>
            </a:endParaRPr>
          </a:p>
        </p:txBody>
      </p:sp>
      <p:sp>
        <p:nvSpPr>
          <p:cNvPr id="1050" name="Shape 13"/>
          <p:cNvSpPr/>
          <p:nvPr/>
        </p:nvSpPr>
        <p:spPr>
          <a:xfrm>
            <a:off x="6903720" y="342000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1" name="Text 14"/>
          <p:cNvSpPr/>
          <p:nvPr/>
        </p:nvSpPr>
        <p:spPr>
          <a:xfrm>
            <a:off x="7068240" y="356616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Critic</a:t>
            </a:r>
            <a:endParaRPr lang="en-US" sz="1600" b="0" u="none" strike="noStrike">
              <a:solidFill>
                <a:srgbClr val="000000"/>
              </a:solidFill>
              <a:effectLst/>
              <a:uFillTx/>
              <a:latin typeface="Arial"/>
            </a:endParaRPr>
          </a:p>
        </p:txBody>
      </p:sp>
      <p:sp>
        <p:nvSpPr>
          <p:cNvPr id="1052" name="Text 15"/>
          <p:cNvSpPr/>
          <p:nvPr/>
        </p:nvSpPr>
        <p:spPr>
          <a:xfrm>
            <a:off x="7068240" y="389520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0000" lnSpcReduction="20000"/>
          </a:bodyPr>
          <a:lstStyle/>
          <a:p>
            <a:pPr defTabSz="914400">
              <a:lnSpc>
                <a:spcPct val="100000"/>
              </a:lnSpc>
              <a:tabLst>
                <a:tab pos="0" algn="l"/>
              </a:tabLst>
            </a:pPr>
            <a:r>
              <a:rPr lang="en-US" sz="1250" b="0" u="none" strike="noStrike">
                <a:solidFill>
                  <a:srgbClr val="0B1F3A"/>
                </a:solidFill>
                <a:effectLst/>
                <a:uFillTx/>
                <a:latin typeface="Aptos"/>
              </a:rPr>
              <a:t>Evaluates behavior against a fixed performance standard.</a:t>
            </a:r>
            <a:endParaRPr lang="en-US" sz="1250" b="0" u="none" strike="noStrike">
              <a:solidFill>
                <a:srgbClr val="000000"/>
              </a:solidFill>
              <a:effectLst/>
              <a:uFillTx/>
              <a:latin typeface="Arial"/>
            </a:endParaRPr>
          </a:p>
        </p:txBody>
      </p:sp>
      <p:sp>
        <p:nvSpPr>
          <p:cNvPr id="1053" name="Shape 16"/>
          <p:cNvSpPr/>
          <p:nvPr/>
        </p:nvSpPr>
        <p:spPr>
          <a:xfrm>
            <a:off x="6903720" y="435240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4" name="Text 17"/>
          <p:cNvSpPr/>
          <p:nvPr/>
        </p:nvSpPr>
        <p:spPr>
          <a:xfrm>
            <a:off x="7068240" y="449892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rPr>
              <a:t>Problem generator</a:t>
            </a:r>
            <a:endParaRPr lang="en-US" sz="1600" b="0" u="none" strike="noStrike">
              <a:solidFill>
                <a:srgbClr val="000000"/>
              </a:solidFill>
              <a:effectLst/>
              <a:uFillTx/>
              <a:latin typeface="Arial"/>
            </a:endParaRPr>
          </a:p>
        </p:txBody>
      </p:sp>
      <p:sp>
        <p:nvSpPr>
          <p:cNvPr id="1055" name="Text 18"/>
          <p:cNvSpPr/>
          <p:nvPr/>
        </p:nvSpPr>
        <p:spPr>
          <a:xfrm>
            <a:off x="7068240" y="482796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0000" lnSpcReduction="20000"/>
          </a:bodyPr>
          <a:lstStyle/>
          <a:p>
            <a:pPr defTabSz="914400">
              <a:lnSpc>
                <a:spcPct val="100000"/>
              </a:lnSpc>
              <a:tabLst>
                <a:tab pos="0" algn="l"/>
              </a:tabLst>
            </a:pPr>
            <a:r>
              <a:rPr lang="en-US" sz="1250" b="0" u="none" strike="noStrike">
                <a:solidFill>
                  <a:srgbClr val="0B1F3A"/>
                </a:solidFill>
                <a:effectLst/>
                <a:uFillTx/>
                <a:latin typeface="Aptos"/>
              </a:rPr>
              <a:t>Suggests exploratory actions for informative experience.</a:t>
            </a:r>
            <a:endParaRPr lang="en-US" sz="1250" b="0" u="none" strike="noStrike">
              <a:solidFill>
                <a:srgbClr val="000000"/>
              </a:solidFill>
              <a:effectLst/>
              <a:uFillTx/>
              <a:latin typeface="Arial"/>
            </a:endParaRPr>
          </a:p>
        </p:txBody>
      </p:sp>
      <p:sp>
        <p:nvSpPr>
          <p:cNvPr id="1056" name="Text 19"/>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2.15</a:t>
            </a:r>
            <a:endParaRPr lang="en-US" sz="75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57"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58"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59"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Learning Agent Components: What Improves?</a:t>
            </a:r>
            <a:endParaRPr lang="en-US" sz="2300" b="0" u="none" strike="noStrike">
              <a:solidFill>
                <a:srgbClr val="000000"/>
              </a:solidFill>
              <a:effectLst/>
              <a:uFillTx/>
              <a:latin typeface="Arial"/>
            </a:endParaRPr>
          </a:p>
        </p:txBody>
      </p:sp>
      <p:sp>
        <p:nvSpPr>
          <p:cNvPr id="1060"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1061"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62"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39</a:t>
            </a:r>
            <a:endParaRPr lang="en-US" sz="1800" b="0" u="none" strike="noStrike">
              <a:solidFill>
                <a:srgbClr val="000000"/>
              </a:solidFill>
              <a:effectLst/>
              <a:uFillTx/>
              <a:latin typeface="Arial"/>
            </a:endParaRPr>
          </a:p>
        </p:txBody>
      </p:sp>
      <p:sp>
        <p:nvSpPr>
          <p:cNvPr id="1063" name="Shape 6"/>
          <p:cNvSpPr/>
          <p:nvPr/>
        </p:nvSpPr>
        <p:spPr>
          <a:xfrm>
            <a:off x="777240" y="1371600"/>
            <a:ext cx="319932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4" name="Text 7"/>
          <p:cNvSpPr/>
          <p:nvPr/>
        </p:nvSpPr>
        <p:spPr>
          <a:xfrm>
            <a:off x="941760" y="1517760"/>
            <a:ext cx="28702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1065" name="Text 8"/>
          <p:cNvSpPr/>
          <p:nvPr/>
        </p:nvSpPr>
        <p:spPr>
          <a:xfrm>
            <a:off x="941760" y="1847160"/>
            <a:ext cx="287028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action should I do now?</a:t>
            </a:r>
            <a:endParaRPr lang="en-US" sz="1300" b="0" u="none" strike="noStrike">
              <a:solidFill>
                <a:srgbClr val="000000"/>
              </a:solidFill>
              <a:effectLst/>
              <a:uFillTx/>
              <a:latin typeface="Arial"/>
            </a:endParaRPr>
          </a:p>
        </p:txBody>
      </p:sp>
      <p:sp>
        <p:nvSpPr>
          <p:cNvPr id="1066" name="Shape 9"/>
          <p:cNvSpPr/>
          <p:nvPr/>
        </p:nvSpPr>
        <p:spPr>
          <a:xfrm>
            <a:off x="4480560" y="1371600"/>
            <a:ext cx="319932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7" name="Text 10"/>
          <p:cNvSpPr/>
          <p:nvPr/>
        </p:nvSpPr>
        <p:spPr>
          <a:xfrm>
            <a:off x="4645080" y="1517760"/>
            <a:ext cx="28702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Transition model</a:t>
            </a:r>
            <a:endParaRPr lang="en-US" sz="1600" b="0" u="none" strike="noStrike">
              <a:solidFill>
                <a:srgbClr val="000000"/>
              </a:solidFill>
              <a:effectLst/>
              <a:uFillTx/>
              <a:latin typeface="Arial"/>
            </a:endParaRPr>
          </a:p>
        </p:txBody>
      </p:sp>
      <p:sp>
        <p:nvSpPr>
          <p:cNvPr id="1068" name="Text 11"/>
          <p:cNvSpPr/>
          <p:nvPr/>
        </p:nvSpPr>
        <p:spPr>
          <a:xfrm>
            <a:off x="4645080" y="1847160"/>
            <a:ext cx="287028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do my actions do?</a:t>
            </a:r>
            <a:endParaRPr lang="en-US" sz="1300" b="0" u="none" strike="noStrike">
              <a:solidFill>
                <a:srgbClr val="000000"/>
              </a:solidFill>
              <a:effectLst/>
              <a:uFillTx/>
              <a:latin typeface="Arial"/>
            </a:endParaRPr>
          </a:p>
        </p:txBody>
      </p:sp>
      <p:sp>
        <p:nvSpPr>
          <p:cNvPr id="1069" name="Shape 12"/>
          <p:cNvSpPr/>
          <p:nvPr/>
        </p:nvSpPr>
        <p:spPr>
          <a:xfrm>
            <a:off x="8183880" y="1371600"/>
            <a:ext cx="319932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0" name="Text 13"/>
          <p:cNvSpPr/>
          <p:nvPr/>
        </p:nvSpPr>
        <p:spPr>
          <a:xfrm>
            <a:off x="8348400" y="1517760"/>
            <a:ext cx="28702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Sensor model</a:t>
            </a:r>
            <a:endParaRPr lang="en-US" sz="1600" b="0" u="none" strike="noStrike">
              <a:solidFill>
                <a:srgbClr val="000000"/>
              </a:solidFill>
              <a:effectLst/>
              <a:uFillTx/>
              <a:latin typeface="Arial"/>
            </a:endParaRPr>
          </a:p>
        </p:txBody>
      </p:sp>
      <p:sp>
        <p:nvSpPr>
          <p:cNvPr id="1071" name="Text 14"/>
          <p:cNvSpPr/>
          <p:nvPr/>
        </p:nvSpPr>
        <p:spPr>
          <a:xfrm>
            <a:off x="8348400" y="1847160"/>
            <a:ext cx="287028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percepts should I expect?</a:t>
            </a:r>
            <a:endParaRPr lang="en-US" sz="1300" b="0" u="none" strike="noStrike">
              <a:solidFill>
                <a:srgbClr val="000000"/>
              </a:solidFill>
              <a:effectLst/>
              <a:uFillTx/>
              <a:latin typeface="Arial"/>
            </a:endParaRPr>
          </a:p>
        </p:txBody>
      </p:sp>
      <p:sp>
        <p:nvSpPr>
          <p:cNvPr id="1072" name="Shape 15"/>
          <p:cNvSpPr/>
          <p:nvPr/>
        </p:nvSpPr>
        <p:spPr>
          <a:xfrm>
            <a:off x="2651760" y="3657600"/>
            <a:ext cx="34736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3" name="Text 16"/>
          <p:cNvSpPr/>
          <p:nvPr/>
        </p:nvSpPr>
        <p:spPr>
          <a:xfrm>
            <a:off x="2816280" y="38037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rPr>
              <a:t>Utility / rules</a:t>
            </a:r>
            <a:endParaRPr lang="en-US" sz="1600" b="0" u="none" strike="noStrike">
              <a:solidFill>
                <a:srgbClr val="000000"/>
              </a:solidFill>
              <a:effectLst/>
              <a:uFillTx/>
              <a:latin typeface="Arial"/>
            </a:endParaRPr>
          </a:p>
        </p:txBody>
      </p:sp>
      <p:sp>
        <p:nvSpPr>
          <p:cNvPr id="1074" name="Text 17"/>
          <p:cNvSpPr/>
          <p:nvPr/>
        </p:nvSpPr>
        <p:spPr>
          <a:xfrm>
            <a:off x="2816280" y="4133160"/>
            <a:ext cx="31446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outcomes should I prefer?</a:t>
            </a:r>
            <a:endParaRPr lang="en-US" sz="1300" b="0" u="none" strike="noStrike">
              <a:solidFill>
                <a:srgbClr val="000000"/>
              </a:solidFill>
              <a:effectLst/>
              <a:uFillTx/>
              <a:latin typeface="Arial"/>
            </a:endParaRPr>
          </a:p>
        </p:txBody>
      </p:sp>
      <p:sp>
        <p:nvSpPr>
          <p:cNvPr id="1075" name="Shape 18"/>
          <p:cNvSpPr/>
          <p:nvPr/>
        </p:nvSpPr>
        <p:spPr>
          <a:xfrm>
            <a:off x="6583680" y="3657600"/>
            <a:ext cx="34736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6" name="Text 19"/>
          <p:cNvSpPr/>
          <p:nvPr/>
        </p:nvSpPr>
        <p:spPr>
          <a:xfrm>
            <a:off x="6748200" y="38037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Problem generator</a:t>
            </a:r>
            <a:endParaRPr lang="en-US" sz="1600" b="0" u="none" strike="noStrike">
              <a:solidFill>
                <a:srgbClr val="000000"/>
              </a:solidFill>
              <a:effectLst/>
              <a:uFillTx/>
              <a:latin typeface="Arial"/>
            </a:endParaRPr>
          </a:p>
        </p:txBody>
      </p:sp>
      <p:sp>
        <p:nvSpPr>
          <p:cNvPr id="1077" name="Text 20"/>
          <p:cNvSpPr/>
          <p:nvPr/>
        </p:nvSpPr>
        <p:spPr>
          <a:xfrm>
            <a:off x="6748200" y="4133160"/>
            <a:ext cx="31446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should I explore next?</a:t>
            </a:r>
            <a:endParaRPr lang="en-US" sz="1300" b="0" u="none" strike="noStrike">
              <a:solidFill>
                <a:srgbClr val="000000"/>
              </a:solidFill>
              <a:effectLst/>
              <a:uFillTx/>
              <a:latin typeface="Arial"/>
            </a:endParaRPr>
          </a:p>
        </p:txBody>
      </p:sp>
      <p:sp>
        <p:nvSpPr>
          <p:cNvPr id="1078" name="Text 21"/>
          <p:cNvSpPr/>
          <p:nvPr/>
        </p:nvSpPr>
        <p:spPr>
          <a:xfrm>
            <a:off x="868680" y="5504760"/>
            <a:ext cx="10423080" cy="40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rPr>
              <a:t>Learning modifies agent components to better match feedback and improve performance.</a:t>
            </a:r>
            <a:endParaRPr lang="en-US" sz="19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79"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0"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081"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2.4.6 Turing's Bet and the Fixed Standard</a:t>
            </a:r>
            <a:endParaRPr lang="en-US" sz="2300" b="0" u="none" strike="noStrike">
              <a:solidFill>
                <a:srgbClr val="000000"/>
              </a:solidFill>
              <a:effectLst/>
              <a:uFillTx/>
              <a:latin typeface="Arial"/>
            </a:endParaRPr>
          </a:p>
        </p:txBody>
      </p:sp>
      <p:sp>
        <p:nvSpPr>
          <p:cNvPr id="1082"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1083" name="Shape 5"/>
          <p:cNvSpPr/>
          <p:nvPr/>
        </p:nvSpPr>
        <p:spPr>
          <a:xfrm>
            <a:off x="868680" y="1097280"/>
            <a:ext cx="10423800" cy="118836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4" name="Text 6"/>
          <p:cNvSpPr/>
          <p:nvPr/>
        </p:nvSpPr>
        <p:spPr>
          <a:xfrm>
            <a:off x="1124640" y="1225440"/>
            <a:ext cx="9911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B2B5C"/>
                </a:solidFill>
                <a:effectLst/>
                <a:uFillTx/>
                <a:latin typeface="Aptos"/>
                <a:ea typeface="Aptos"/>
              </a:rPr>
              <a:t>Turing's proposal (1950)</a:t>
            </a:r>
            <a:endParaRPr lang="en-US" sz="1700" b="0" u="none" strike="noStrike">
              <a:solidFill>
                <a:srgbClr val="000000"/>
              </a:solidFill>
              <a:effectLst/>
              <a:uFillTx/>
              <a:latin typeface="Arial"/>
            </a:endParaRPr>
          </a:p>
        </p:txBody>
      </p:sp>
      <p:sp>
        <p:nvSpPr>
          <p:cNvPr id="1085" name="Text 7"/>
          <p:cNvSpPr/>
          <p:nvPr/>
        </p:nvSpPr>
        <p:spPr>
          <a:xfrm>
            <a:off x="1124640" y="1572840"/>
            <a:ext cx="99118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0B1F3A"/>
                </a:solidFill>
                <a:effectLst/>
                <a:uFillTx/>
                <a:latin typeface="Aptos"/>
                <a:ea typeface="Aptos"/>
              </a:rPr>
              <a:t>Turing considered programming intelligent machines by hand, estimated the work involved, and concluded that </a:t>
            </a:r>
            <a:r>
              <a:rPr lang="en-US" sz="1400" b="1" u="none" strike="noStrike">
                <a:solidFill>
                  <a:srgbClr val="0B2B5C"/>
                </a:solidFill>
                <a:effectLst/>
                <a:uFillTx/>
                <a:latin typeface="Aptos"/>
                <a:ea typeface="Aptos"/>
              </a:rPr>
              <a:t>“some more expeditious method seems desirable.”</a:t>
            </a:r>
            <a:r>
              <a:rPr lang="en-US" sz="1400" b="0" u="none" strike="noStrike">
                <a:solidFill>
                  <a:srgbClr val="0B1F3A"/>
                </a:solidFill>
                <a:effectLst/>
                <a:uFillTx/>
                <a:latin typeface="Aptos"/>
                <a:ea typeface="Aptos"/>
              </a:rPr>
              <a:t> His alternative: build machines that learn, then teach them.</a:t>
            </a:r>
            <a:endParaRPr lang="en-US" sz="1400" b="0" u="none" strike="noStrike">
              <a:solidFill>
                <a:srgbClr val="000000"/>
              </a:solidFill>
              <a:effectLst/>
              <a:uFillTx/>
              <a:latin typeface="Arial"/>
            </a:endParaRPr>
          </a:p>
        </p:txBody>
      </p:sp>
      <p:sp>
        <p:nvSpPr>
          <p:cNvPr id="1086" name="Shape 8"/>
          <p:cNvSpPr/>
          <p:nvPr/>
        </p:nvSpPr>
        <p:spPr>
          <a:xfrm>
            <a:off x="868680" y="2395800"/>
            <a:ext cx="3291480" cy="24868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7" name="Text 9"/>
          <p:cNvSpPr/>
          <p:nvPr/>
        </p:nvSpPr>
        <p:spPr>
          <a:xfrm>
            <a:off x="1033200" y="2541960"/>
            <a:ext cx="29624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50" b="1" u="none" strike="noStrike">
                <a:solidFill>
                  <a:srgbClr val="A32020"/>
                </a:solidFill>
                <a:effectLst/>
                <a:uFillTx/>
                <a:latin typeface="Aptos"/>
                <a:ea typeface="Aptos"/>
              </a:rPr>
              <a:t>The critic must be fixed</a:t>
            </a:r>
            <a:endParaRPr lang="en-US" sz="1650" b="0" u="none" strike="noStrike">
              <a:solidFill>
                <a:srgbClr val="000000"/>
              </a:solidFill>
              <a:effectLst/>
              <a:uFillTx/>
              <a:latin typeface="Arial"/>
            </a:endParaRPr>
          </a:p>
        </p:txBody>
      </p:sp>
      <p:sp>
        <p:nvSpPr>
          <p:cNvPr id="1088" name="Text 10"/>
          <p:cNvSpPr/>
          <p:nvPr/>
        </p:nvSpPr>
        <p:spPr>
          <a:xfrm>
            <a:off x="1033200" y="3090600"/>
            <a:ext cx="2962440" cy="1645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Percepts do not announce success. A chess program can perceive that it has checkmated its opponent and still need a standard to know that this is good news. Think of the performance standard as sitting outside the agent — because the agent must not be able to edit it to fit its own behavior.</a:t>
            </a:r>
            <a:endParaRPr lang="en-US" sz="1250" b="0" u="none" strike="noStrike">
              <a:solidFill>
                <a:srgbClr val="000000"/>
              </a:solidFill>
              <a:effectLst/>
              <a:uFillTx/>
              <a:latin typeface="Arial"/>
            </a:endParaRPr>
          </a:p>
        </p:txBody>
      </p:sp>
      <p:sp>
        <p:nvSpPr>
          <p:cNvPr id="1089" name="Shape 11"/>
          <p:cNvSpPr/>
          <p:nvPr/>
        </p:nvSpPr>
        <p:spPr>
          <a:xfrm>
            <a:off x="4434840" y="2395800"/>
            <a:ext cx="3291480" cy="24868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0" name="Text 12"/>
          <p:cNvSpPr/>
          <p:nvPr/>
        </p:nvSpPr>
        <p:spPr>
          <a:xfrm>
            <a:off x="4599360" y="2541960"/>
            <a:ext cx="29624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50" b="1" u="none" strike="noStrike">
                <a:solidFill>
                  <a:srgbClr val="048A97"/>
                </a:solidFill>
                <a:effectLst/>
                <a:uFillTx/>
                <a:latin typeface="Aptos"/>
                <a:ea typeface="Aptos"/>
              </a:rPr>
              <a:t>Galileo as problem generator</a:t>
            </a:r>
            <a:endParaRPr lang="en-US" sz="1650" b="0" u="none" strike="noStrike">
              <a:solidFill>
                <a:srgbClr val="000000"/>
              </a:solidFill>
              <a:effectLst/>
              <a:uFillTx/>
              <a:latin typeface="Arial"/>
            </a:endParaRPr>
          </a:p>
        </p:txBody>
      </p:sp>
      <p:sp>
        <p:nvSpPr>
          <p:cNvPr id="1091" name="Text 13"/>
          <p:cNvSpPr/>
          <p:nvPr/>
        </p:nvSpPr>
        <p:spPr>
          <a:xfrm>
            <a:off x="4599360" y="3090600"/>
            <a:ext cx="2962440" cy="1645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Dropping rocks from a tower in Pisa was not valuable in itself. Galileo was not trying to break the rocks. He was running an experiment to improve his own theory. The problem generator proposes actions that are suboptimal now and informative later.</a:t>
            </a:r>
            <a:endParaRPr lang="en-US" sz="1250" b="0" u="none" strike="noStrike">
              <a:solidFill>
                <a:srgbClr val="000000"/>
              </a:solidFill>
              <a:effectLst/>
              <a:uFillTx/>
              <a:latin typeface="Arial"/>
            </a:endParaRPr>
          </a:p>
        </p:txBody>
      </p:sp>
      <p:sp>
        <p:nvSpPr>
          <p:cNvPr id="1092" name="Shape 14"/>
          <p:cNvSpPr/>
          <p:nvPr/>
        </p:nvSpPr>
        <p:spPr>
          <a:xfrm>
            <a:off x="8001000" y="2395800"/>
            <a:ext cx="3291480" cy="24868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3" name="Text 15"/>
          <p:cNvSpPr/>
          <p:nvPr/>
        </p:nvSpPr>
        <p:spPr>
          <a:xfrm>
            <a:off x="8165520" y="2541960"/>
            <a:ext cx="29624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50" b="1" u="none" strike="noStrike">
                <a:solidFill>
                  <a:srgbClr val="F5A21B"/>
                </a:solidFill>
                <a:effectLst/>
                <a:uFillTx/>
                <a:latin typeface="Aptos"/>
                <a:ea typeface="Aptos"/>
              </a:rPr>
              <a:t>Feedback reshapes what it wants</a:t>
            </a:r>
            <a:endParaRPr lang="en-US" sz="1650" b="0" u="none" strike="noStrike">
              <a:solidFill>
                <a:srgbClr val="000000"/>
              </a:solidFill>
              <a:effectLst/>
              <a:uFillTx/>
              <a:latin typeface="Arial"/>
            </a:endParaRPr>
          </a:p>
        </p:txBody>
      </p:sp>
      <p:sp>
        <p:nvSpPr>
          <p:cNvPr id="1094" name="Text 16"/>
          <p:cNvSpPr/>
          <p:nvPr/>
        </p:nvSpPr>
        <p:spPr>
          <a:xfrm>
            <a:off x="8165520" y="3090600"/>
            <a:ext cx="2962440" cy="1645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Passengers shaken up on the trip leave no tip. Pedestrians cover their ears — and occasionally cut the wires — when the taxi sounds its horn continuously. Both are evidence the agent can use to revise its utility function.</a:t>
            </a:r>
            <a:endParaRPr lang="en-US" sz="1250" b="0" u="none" strike="noStrike">
              <a:solidFill>
                <a:srgbClr val="000000"/>
              </a:solidFill>
              <a:effectLst/>
              <a:uFillTx/>
              <a:latin typeface="Arial"/>
            </a:endParaRPr>
          </a:p>
        </p:txBody>
      </p:sp>
      <p:sp>
        <p:nvSpPr>
          <p:cNvPr id="1095" name="Text 17"/>
          <p:cNvSpPr/>
          <p:nvPr/>
        </p:nvSpPr>
        <p:spPr>
          <a:xfrm>
            <a:off x="914400" y="51206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Learning = pulling every component into closer agreement with the feedback</a:t>
            </a:r>
            <a:endParaRPr lang="en-US" sz="1900" b="0" u="none" strike="noStrike">
              <a:solidFill>
                <a:srgbClr val="000000"/>
              </a:solidFill>
              <a:effectLst/>
              <a:uFillTx/>
              <a:latin typeface="Arial"/>
            </a:endParaRPr>
          </a:p>
        </p:txBody>
      </p:sp>
      <p:sp>
        <p:nvSpPr>
          <p:cNvPr id="1096" name="Text 18"/>
          <p:cNvSpPr/>
          <p:nvPr/>
        </p:nvSpPr>
        <p:spPr>
          <a:xfrm>
            <a:off x="1005840" y="5596200"/>
            <a:ext cx="10149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Improving a model so it matches reality is almost always worth doing on its own terms. Improving a reflex rule or a utility function is not — that needs information from the external standard. Hard-wired standards such as pain and hunger in animals play exactly this role.</a:t>
            </a:r>
            <a:endParaRPr lang="en-US" sz="1400" b="0" u="none" strike="noStrike">
              <a:solidFill>
                <a:srgbClr val="000000"/>
              </a:solidFill>
              <a:effectLst/>
              <a:uFillTx/>
              <a:latin typeface="Arial"/>
            </a:endParaRPr>
          </a:p>
        </p:txBody>
      </p:sp>
      <p:sp>
        <p:nvSpPr>
          <p:cNvPr id="1097" name="Text 19"/>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098" name="Text 20"/>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40</a:t>
            </a:r>
            <a:endParaRPr lang="en-US" sz="85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9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10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2.4.7 Representing the World Inside the Agent</a:t>
            </a:r>
            <a:endParaRPr lang="en-US" sz="2300" b="0" u="none" strike="noStrike">
              <a:solidFill>
                <a:srgbClr val="000000"/>
              </a:solidFill>
              <a:effectLst/>
              <a:uFillTx/>
              <a:latin typeface="Arial"/>
            </a:endParaRPr>
          </a:p>
        </p:txBody>
      </p:sp>
      <p:sp>
        <p:nvSpPr>
          <p:cNvPr id="110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110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10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41</a:t>
            </a:r>
            <a:endParaRPr lang="en-US" sz="1800" b="0" u="none" strike="noStrike">
              <a:solidFill>
                <a:srgbClr val="000000"/>
              </a:solidFill>
              <a:effectLst/>
              <a:uFillTx/>
              <a:latin typeface="Arial"/>
            </a:endParaRPr>
          </a:p>
        </p:txBody>
      </p:sp>
      <p:pic>
        <p:nvPicPr>
          <p:cNvPr id="1105" name="Image 0" descr="/mnt/data/ch2_docx_unzipped/word/media/image14.png"/>
          <p:cNvPicPr/>
          <p:nvPr/>
        </p:nvPicPr>
        <p:blipFill>
          <a:blip r:embed="rId3"/>
          <a:stretch/>
        </p:blipFill>
        <p:spPr>
          <a:xfrm>
            <a:off x="228600" y="1088280"/>
            <a:ext cx="5749200" cy="3483000"/>
          </a:xfrm>
          <a:prstGeom prst="rect">
            <a:avLst/>
          </a:prstGeom>
          <a:noFill/>
          <a:ln w="0">
            <a:noFill/>
          </a:ln>
        </p:spPr>
      </p:pic>
      <p:sp>
        <p:nvSpPr>
          <p:cNvPr id="1106" name="Shape 6"/>
          <p:cNvSpPr/>
          <p:nvPr/>
        </p:nvSpPr>
        <p:spPr>
          <a:xfrm>
            <a:off x="5866790" y="1223395"/>
            <a:ext cx="2109354" cy="2870280"/>
          </a:xfrm>
          <a:prstGeom prst="roundRect">
            <a:avLst>
              <a:gd name="adj" fmla="val 3429"/>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7" name="Text 7"/>
          <p:cNvSpPr/>
          <p:nvPr/>
        </p:nvSpPr>
        <p:spPr>
          <a:xfrm>
            <a:off x="6095340" y="1348756"/>
            <a:ext cx="12700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2B6CB0"/>
                </a:solidFill>
                <a:effectLst/>
                <a:uFillTx/>
                <a:latin typeface="Aptos"/>
              </a:rPr>
              <a:t>Atomic</a:t>
            </a:r>
            <a:endParaRPr lang="en-US" sz="1500" b="0" u="none" strike="noStrike" dirty="0">
              <a:solidFill>
                <a:srgbClr val="000000"/>
              </a:solidFill>
              <a:effectLst/>
              <a:uFillTx/>
              <a:latin typeface="Arial"/>
            </a:endParaRPr>
          </a:p>
        </p:txBody>
      </p:sp>
      <p:sp>
        <p:nvSpPr>
          <p:cNvPr id="1108" name="Text 8"/>
          <p:cNvSpPr/>
          <p:nvPr/>
        </p:nvSpPr>
        <p:spPr>
          <a:xfrm>
            <a:off x="6024600" y="1861315"/>
            <a:ext cx="1840320" cy="129609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80" b="0" u="none" strike="noStrike" dirty="0">
                <a:solidFill>
                  <a:srgbClr val="0B1F3A"/>
                </a:solidFill>
                <a:effectLst/>
                <a:uFillTx/>
                <a:latin typeface="Aptos"/>
              </a:rPr>
              <a:t>State is a black box.</a:t>
            </a:r>
          </a:p>
          <a:p>
            <a:pPr defTabSz="914400">
              <a:lnSpc>
                <a:spcPct val="100000"/>
              </a:lnSpc>
              <a:tabLst>
                <a:tab pos="0" algn="l"/>
              </a:tabLst>
            </a:pPr>
            <a:endParaRPr lang="en-US" sz="1080" b="0" u="none" strike="noStrike" dirty="0">
              <a:solidFill>
                <a:srgbClr val="000000"/>
              </a:solidFill>
              <a:effectLst/>
              <a:uFillTx/>
              <a:latin typeface="Arial"/>
            </a:endParaRPr>
          </a:p>
          <a:p>
            <a:pPr defTabSz="914400">
              <a:lnSpc>
                <a:spcPct val="100000"/>
              </a:lnSpc>
              <a:tabLst>
                <a:tab pos="0" algn="l"/>
              </a:tabLst>
            </a:pPr>
            <a:r>
              <a:rPr lang="en-US" sz="1080" b="0" u="none" strike="noStrike" dirty="0">
                <a:solidFill>
                  <a:schemeClr val="accent6"/>
                </a:solidFill>
                <a:effectLst/>
                <a:uFillTx/>
                <a:latin typeface="Aptos"/>
              </a:rPr>
              <a:t>Example: </a:t>
            </a:r>
            <a:r>
              <a:rPr lang="en-US" sz="1080" b="0" u="none" strike="noStrike" dirty="0">
                <a:solidFill>
                  <a:srgbClr val="0B1F3A"/>
                </a:solidFill>
                <a:effectLst/>
                <a:uFillTx/>
                <a:latin typeface="Aptos"/>
              </a:rPr>
              <a:t>city name only.</a:t>
            </a:r>
            <a:endParaRPr lang="en-US" sz="1080" b="0" u="none" strike="noStrike" dirty="0">
              <a:solidFill>
                <a:srgbClr val="000000"/>
              </a:solidFill>
              <a:effectLst/>
              <a:uFillTx/>
              <a:latin typeface="Arial"/>
            </a:endParaRPr>
          </a:p>
          <a:p>
            <a:pPr defTabSz="914400">
              <a:lnSpc>
                <a:spcPct val="100000"/>
              </a:lnSpc>
              <a:tabLst>
                <a:tab pos="0" algn="l"/>
              </a:tabLst>
            </a:pPr>
            <a:r>
              <a:rPr lang="en-US" sz="1080" b="0" u="none" strike="noStrike" dirty="0">
                <a:solidFill>
                  <a:srgbClr val="0B1F3A"/>
                </a:solidFill>
                <a:effectLst/>
                <a:uFillTx/>
                <a:latin typeface="Aptos"/>
              </a:rPr>
              <a:t>Used in search, games, Hidden Markov Model, Markov Decision Process.</a:t>
            </a:r>
            <a:endParaRPr lang="en-US" sz="1080" b="0" u="none" strike="noStrike" dirty="0">
              <a:solidFill>
                <a:srgbClr val="000000"/>
              </a:solidFill>
              <a:effectLst/>
              <a:uFillTx/>
              <a:latin typeface="Arial"/>
            </a:endParaRPr>
          </a:p>
        </p:txBody>
      </p:sp>
      <p:sp>
        <p:nvSpPr>
          <p:cNvPr id="1109" name="Shape 9"/>
          <p:cNvSpPr/>
          <p:nvPr/>
        </p:nvSpPr>
        <p:spPr>
          <a:xfrm>
            <a:off x="8087368" y="1188720"/>
            <a:ext cx="1832792" cy="2897640"/>
          </a:xfrm>
          <a:prstGeom prst="roundRect">
            <a:avLst>
              <a:gd name="adj" fmla="val 3077"/>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0" name="Text 10"/>
          <p:cNvSpPr/>
          <p:nvPr/>
        </p:nvSpPr>
        <p:spPr>
          <a:xfrm>
            <a:off x="8394120" y="1334880"/>
            <a:ext cx="14529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Factored</a:t>
            </a:r>
            <a:endParaRPr lang="en-US" sz="1500" b="0" u="none" strike="noStrike">
              <a:solidFill>
                <a:srgbClr val="000000"/>
              </a:solidFill>
              <a:effectLst/>
              <a:uFillTx/>
              <a:latin typeface="Arial"/>
            </a:endParaRPr>
          </a:p>
        </p:txBody>
      </p:sp>
      <p:sp>
        <p:nvSpPr>
          <p:cNvPr id="1111" name="Text 11"/>
          <p:cNvSpPr/>
          <p:nvPr/>
        </p:nvSpPr>
        <p:spPr>
          <a:xfrm>
            <a:off x="8134348" y="1664279"/>
            <a:ext cx="1712732" cy="191019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80" b="0" u="none" strike="noStrike" dirty="0">
                <a:solidFill>
                  <a:srgbClr val="0B1F3A"/>
                </a:solidFill>
                <a:effectLst/>
                <a:uFillTx/>
                <a:latin typeface="Aptos"/>
              </a:rPr>
              <a:t>State is a set of variables.</a:t>
            </a:r>
          </a:p>
          <a:p>
            <a:pPr defTabSz="914400">
              <a:lnSpc>
                <a:spcPct val="100000"/>
              </a:lnSpc>
              <a:tabLst>
                <a:tab pos="0" algn="l"/>
              </a:tabLst>
            </a:pPr>
            <a:endParaRPr lang="en-US" sz="1080" b="0" u="none" strike="noStrike" dirty="0">
              <a:solidFill>
                <a:srgbClr val="000000"/>
              </a:solidFill>
              <a:effectLst/>
              <a:uFillTx/>
              <a:latin typeface="Arial"/>
            </a:endParaRPr>
          </a:p>
          <a:p>
            <a:pPr defTabSz="914400">
              <a:lnSpc>
                <a:spcPct val="100000"/>
              </a:lnSpc>
              <a:tabLst>
                <a:tab pos="0" algn="l"/>
              </a:tabLst>
            </a:pPr>
            <a:r>
              <a:rPr lang="en-US" sz="1080" b="0" u="none" strike="noStrike" dirty="0">
                <a:solidFill>
                  <a:schemeClr val="accent6"/>
                </a:solidFill>
                <a:effectLst/>
                <a:uFillTx/>
                <a:latin typeface="Aptos"/>
              </a:rPr>
              <a:t>Example: </a:t>
            </a:r>
            <a:r>
              <a:rPr lang="en-US" sz="1080" b="0" u="none" strike="noStrike" dirty="0">
                <a:solidFill>
                  <a:srgbClr val="0B1F3A"/>
                </a:solidFill>
                <a:effectLst/>
                <a:uFillTx/>
                <a:latin typeface="Aptos"/>
              </a:rPr>
              <a:t>location, fuel, speed, weather.</a:t>
            </a:r>
            <a:endParaRPr lang="en-US" sz="1080" b="0" u="none" strike="noStrike" dirty="0">
              <a:solidFill>
                <a:srgbClr val="000000"/>
              </a:solidFill>
              <a:effectLst/>
              <a:uFillTx/>
              <a:latin typeface="Arial"/>
            </a:endParaRPr>
          </a:p>
          <a:p>
            <a:pPr defTabSz="914400">
              <a:lnSpc>
                <a:spcPct val="100000"/>
              </a:lnSpc>
              <a:tabLst>
                <a:tab pos="0" algn="l"/>
              </a:tabLst>
            </a:pPr>
            <a:r>
              <a:rPr lang="en-US" sz="1080" b="0" u="none" strike="noStrike" dirty="0">
                <a:solidFill>
                  <a:srgbClr val="0B1F3A"/>
                </a:solidFill>
                <a:effectLst/>
                <a:uFillTx/>
                <a:latin typeface="Aptos"/>
              </a:rPr>
              <a:t>Used in Constrain Satisfaction Problems, logic, Bayes nets, planning.</a:t>
            </a:r>
            <a:endParaRPr lang="en-US" sz="1080" b="0" u="none" strike="noStrike" dirty="0">
              <a:solidFill>
                <a:srgbClr val="000000"/>
              </a:solidFill>
              <a:effectLst/>
              <a:uFillTx/>
              <a:latin typeface="Arial"/>
            </a:endParaRPr>
          </a:p>
        </p:txBody>
      </p:sp>
      <p:sp>
        <p:nvSpPr>
          <p:cNvPr id="1112" name="Shape 12"/>
          <p:cNvSpPr/>
          <p:nvPr/>
        </p:nvSpPr>
        <p:spPr>
          <a:xfrm>
            <a:off x="10058400" y="1188720"/>
            <a:ext cx="1971328" cy="2923920"/>
          </a:xfrm>
          <a:prstGeom prst="roundRect">
            <a:avLst>
              <a:gd name="adj" fmla="val 3243"/>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3" name="Text 13"/>
          <p:cNvSpPr/>
          <p:nvPr/>
        </p:nvSpPr>
        <p:spPr>
          <a:xfrm>
            <a:off x="10222920" y="1334880"/>
            <a:ext cx="1361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Structured</a:t>
            </a:r>
            <a:endParaRPr lang="en-US" sz="1500" b="0" u="none" strike="noStrike">
              <a:solidFill>
                <a:srgbClr val="000000"/>
              </a:solidFill>
              <a:effectLst/>
              <a:uFillTx/>
              <a:latin typeface="Arial"/>
            </a:endParaRPr>
          </a:p>
        </p:txBody>
      </p:sp>
      <p:sp>
        <p:nvSpPr>
          <p:cNvPr id="1114" name="Text 14"/>
          <p:cNvSpPr/>
          <p:nvPr/>
        </p:nvSpPr>
        <p:spPr>
          <a:xfrm>
            <a:off x="10241280" y="1737360"/>
            <a:ext cx="1740480" cy="1591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80" b="0" u="none" strike="noStrike" dirty="0">
                <a:solidFill>
                  <a:srgbClr val="0B1F3A"/>
                </a:solidFill>
                <a:effectLst/>
                <a:uFillTx/>
                <a:latin typeface="Aptos"/>
              </a:rPr>
              <a:t>Objects plus relations.</a:t>
            </a:r>
          </a:p>
          <a:p>
            <a:pPr defTabSz="914400">
              <a:lnSpc>
                <a:spcPct val="100000"/>
              </a:lnSpc>
              <a:tabLst>
                <a:tab pos="0" algn="l"/>
              </a:tabLst>
            </a:pPr>
            <a:endParaRPr lang="en-US" sz="1080" b="0" u="none" strike="noStrike" dirty="0">
              <a:solidFill>
                <a:srgbClr val="000000"/>
              </a:solidFill>
              <a:effectLst/>
              <a:uFillTx/>
              <a:latin typeface="Arial"/>
            </a:endParaRPr>
          </a:p>
          <a:p>
            <a:pPr defTabSz="914400">
              <a:lnSpc>
                <a:spcPct val="100000"/>
              </a:lnSpc>
              <a:tabLst>
                <a:tab pos="0" algn="l"/>
              </a:tabLst>
            </a:pPr>
            <a:r>
              <a:rPr lang="en-US" sz="1080" b="0" u="none" strike="noStrike" dirty="0">
                <a:solidFill>
                  <a:schemeClr val="accent6"/>
                </a:solidFill>
                <a:effectLst/>
                <a:uFillTx/>
                <a:latin typeface="Aptos"/>
              </a:rPr>
              <a:t>Example: </a:t>
            </a:r>
            <a:r>
              <a:rPr lang="en-US" sz="1080" b="0" u="none" strike="noStrike" dirty="0">
                <a:solidFill>
                  <a:srgbClr val="0B1F3A"/>
                </a:solidFill>
                <a:effectLst/>
                <a:uFillTx/>
                <a:latin typeface="Aptos"/>
              </a:rPr>
              <a:t>truck blocking cow near driveway.</a:t>
            </a:r>
            <a:endParaRPr lang="en-US" sz="1080" b="0" u="none" strike="noStrike" dirty="0">
              <a:solidFill>
                <a:srgbClr val="000000"/>
              </a:solidFill>
              <a:effectLst/>
              <a:uFillTx/>
              <a:latin typeface="Arial"/>
            </a:endParaRPr>
          </a:p>
          <a:p>
            <a:pPr defTabSz="914400">
              <a:lnSpc>
                <a:spcPct val="100000"/>
              </a:lnSpc>
              <a:tabLst>
                <a:tab pos="0" algn="l"/>
              </a:tabLst>
            </a:pPr>
            <a:r>
              <a:rPr lang="en-US" sz="1080" b="0" u="none" strike="noStrike" dirty="0">
                <a:solidFill>
                  <a:srgbClr val="0B1F3A"/>
                </a:solidFill>
                <a:effectLst/>
                <a:uFillTx/>
                <a:latin typeface="Aptos"/>
              </a:rPr>
              <a:t>Used in first-order logic, databases, language.</a:t>
            </a:r>
            <a:endParaRPr lang="en-US" sz="1080" b="0" u="none" strike="noStrike" dirty="0">
              <a:solidFill>
                <a:srgbClr val="000000"/>
              </a:solidFill>
              <a:effectLst/>
              <a:uFillTx/>
              <a:latin typeface="Arial"/>
            </a:endParaRPr>
          </a:p>
        </p:txBody>
      </p:sp>
      <p:sp>
        <p:nvSpPr>
          <p:cNvPr id="1115" name="Shape 15"/>
          <p:cNvSpPr/>
          <p:nvPr/>
        </p:nvSpPr>
        <p:spPr>
          <a:xfrm>
            <a:off x="1097280" y="4846320"/>
            <a:ext cx="9875520" cy="360"/>
          </a:xfrm>
          <a:prstGeom prst="line">
            <a:avLst/>
          </a:prstGeom>
          <a:ln w="25400">
            <a:solidFill>
              <a:srgbClr val="F5A21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116" name="Text 16"/>
          <p:cNvSpPr/>
          <p:nvPr/>
        </p:nvSpPr>
        <p:spPr>
          <a:xfrm>
            <a:off x="1097280" y="5010840"/>
            <a:ext cx="3199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5E7088"/>
                </a:solidFill>
                <a:effectLst/>
                <a:uFillTx/>
                <a:latin typeface="Aptos"/>
              </a:rPr>
              <a:t>less expressive, easier reasoning</a:t>
            </a:r>
            <a:endParaRPr lang="en-US" sz="1200" b="0" u="none" strike="noStrike">
              <a:solidFill>
                <a:srgbClr val="000000"/>
              </a:solidFill>
              <a:effectLst/>
              <a:uFillTx/>
              <a:latin typeface="Arial"/>
            </a:endParaRPr>
          </a:p>
        </p:txBody>
      </p:sp>
      <p:sp>
        <p:nvSpPr>
          <p:cNvPr id="1117" name="Text 17"/>
          <p:cNvSpPr/>
          <p:nvPr/>
        </p:nvSpPr>
        <p:spPr>
          <a:xfrm>
            <a:off x="7818120" y="5010840"/>
            <a:ext cx="3199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5E7088"/>
                </a:solidFill>
                <a:effectLst/>
                <a:uFillTx/>
                <a:latin typeface="Aptos"/>
              </a:rPr>
              <a:t>more expressive, harder reasoning</a:t>
            </a:r>
            <a:endParaRPr lang="en-US" sz="1200" b="0" u="none" strike="noStrike">
              <a:solidFill>
                <a:srgbClr val="000000"/>
              </a:solidFill>
              <a:effectLst/>
              <a:uFillTx/>
              <a:latin typeface="Arial"/>
            </a:endParaRPr>
          </a:p>
        </p:txBody>
      </p:sp>
      <p:sp>
        <p:nvSpPr>
          <p:cNvPr id="1118" name="Text 18"/>
          <p:cNvSpPr/>
          <p:nvPr/>
        </p:nvSpPr>
        <p:spPr>
          <a:xfrm>
            <a:off x="822960" y="5632560"/>
            <a:ext cx="10605960" cy="327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0B2B5C"/>
                </a:solidFill>
                <a:effectLst/>
                <a:uFillTx/>
                <a:latin typeface="Aptos"/>
              </a:rPr>
              <a:t>Design choice: enough expressive power for the task, but not more than the agent can reason with efficiently.</a:t>
            </a:r>
            <a:endParaRPr lang="en-US" sz="1650" b="0" u="none" strike="noStrike">
              <a:solidFill>
                <a:srgbClr val="000000"/>
              </a:solidFill>
              <a:effectLst/>
              <a:uFillTx/>
              <a:latin typeface="Arial"/>
            </a:endParaRPr>
          </a:p>
        </p:txBody>
      </p:sp>
      <p:sp>
        <p:nvSpPr>
          <p:cNvPr id="1119" name="Text 19"/>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2.16</a:t>
            </a:r>
            <a:endParaRPr lang="en-US" sz="75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120"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1"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122"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2.4.7 Expressiveness Has a Price</a:t>
            </a:r>
            <a:endParaRPr lang="en-US" sz="2300" b="0" u="none" strike="noStrike">
              <a:solidFill>
                <a:srgbClr val="000000"/>
              </a:solidFill>
              <a:effectLst/>
              <a:uFillTx/>
              <a:latin typeface="Arial"/>
            </a:endParaRPr>
          </a:p>
        </p:txBody>
      </p:sp>
      <p:sp>
        <p:nvSpPr>
          <p:cNvPr id="1123"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1124" name="Text 5"/>
          <p:cNvSpPr/>
          <p:nvPr/>
        </p:nvSpPr>
        <p:spPr>
          <a:xfrm>
            <a:off x="1005840" y="1115640"/>
            <a:ext cx="10149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ea typeface="Aptos"/>
              </a:rPr>
              <a:t>How many pages does it take to write down the rules of chess?</a:t>
            </a:r>
            <a:endParaRPr lang="en-US" sz="1700" b="0" u="none" strike="noStrike">
              <a:solidFill>
                <a:srgbClr val="000000"/>
              </a:solidFill>
              <a:effectLst/>
              <a:uFillTx/>
              <a:latin typeface="Arial"/>
            </a:endParaRPr>
          </a:p>
        </p:txBody>
      </p:sp>
      <p:sp>
        <p:nvSpPr>
          <p:cNvPr id="1125" name="Shape 6"/>
          <p:cNvSpPr/>
          <p:nvPr/>
        </p:nvSpPr>
        <p:spPr>
          <a:xfrm>
            <a:off x="868680" y="1554480"/>
            <a:ext cx="3291480" cy="21027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6" name="Text 7"/>
          <p:cNvSpPr/>
          <p:nvPr/>
        </p:nvSpPr>
        <p:spPr>
          <a:xfrm>
            <a:off x="1014840" y="1719000"/>
            <a:ext cx="299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5B35B1"/>
                </a:solidFill>
                <a:effectLst/>
                <a:uFillTx/>
                <a:latin typeface="Aptos"/>
                <a:ea typeface="Aptos"/>
              </a:rPr>
              <a:t>Atomic</a:t>
            </a:r>
            <a:endParaRPr lang="en-US" sz="1500" b="0" u="none" strike="noStrike">
              <a:solidFill>
                <a:srgbClr val="000000"/>
              </a:solidFill>
              <a:effectLst/>
              <a:uFillTx/>
              <a:latin typeface="Arial"/>
            </a:endParaRPr>
          </a:p>
        </p:txBody>
      </p:sp>
      <p:sp>
        <p:nvSpPr>
          <p:cNvPr id="1127" name="Text 8"/>
          <p:cNvSpPr/>
          <p:nvPr/>
        </p:nvSpPr>
        <p:spPr>
          <a:xfrm>
            <a:off x="1014840" y="2066400"/>
            <a:ext cx="29988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u="none" strike="noStrike">
                <a:solidFill>
                  <a:srgbClr val="0B2B5C"/>
                </a:solidFill>
                <a:effectLst/>
                <a:uFillTx/>
                <a:latin typeface="Aptos"/>
                <a:ea typeface="Aptos"/>
              </a:rPr>
              <a:t>≈ 10³⁸</a:t>
            </a:r>
            <a:endParaRPr lang="en-US" sz="3000" b="0" u="none" strike="noStrike">
              <a:solidFill>
                <a:srgbClr val="000000"/>
              </a:solidFill>
              <a:effectLst/>
              <a:uFillTx/>
              <a:latin typeface="Arial"/>
            </a:endParaRPr>
          </a:p>
        </p:txBody>
      </p:sp>
      <p:sp>
        <p:nvSpPr>
          <p:cNvPr id="1128" name="Text 9"/>
          <p:cNvSpPr/>
          <p:nvPr/>
        </p:nvSpPr>
        <p:spPr>
          <a:xfrm>
            <a:off x="1051560" y="2853000"/>
            <a:ext cx="29257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50" b="0" u="none" strike="noStrike">
                <a:solidFill>
                  <a:srgbClr val="0B1F3A"/>
                </a:solidFill>
                <a:effectLst/>
                <a:uFillTx/>
                <a:latin typeface="Aptos"/>
                <a:ea typeface="Aptos"/>
              </a:rPr>
              <a:t>pages, written in a language of finite-state automata</a:t>
            </a:r>
            <a:endParaRPr lang="en-US" sz="1250" b="0" u="none" strike="noStrike">
              <a:solidFill>
                <a:srgbClr val="000000"/>
              </a:solidFill>
              <a:effectLst/>
              <a:uFillTx/>
              <a:latin typeface="Arial"/>
            </a:endParaRPr>
          </a:p>
        </p:txBody>
      </p:sp>
      <p:sp>
        <p:nvSpPr>
          <p:cNvPr id="1129" name="Shape 10"/>
          <p:cNvSpPr/>
          <p:nvPr/>
        </p:nvSpPr>
        <p:spPr>
          <a:xfrm>
            <a:off x="4434840" y="1554480"/>
            <a:ext cx="3291480" cy="21027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0" name="Text 11"/>
          <p:cNvSpPr/>
          <p:nvPr/>
        </p:nvSpPr>
        <p:spPr>
          <a:xfrm>
            <a:off x="4581000" y="1719000"/>
            <a:ext cx="299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B6CB0"/>
                </a:solidFill>
                <a:effectLst/>
                <a:uFillTx/>
                <a:latin typeface="Aptos"/>
                <a:ea typeface="Aptos"/>
              </a:rPr>
              <a:t>Factored</a:t>
            </a:r>
            <a:endParaRPr lang="en-US" sz="1500" b="0" u="none" strike="noStrike">
              <a:solidFill>
                <a:srgbClr val="000000"/>
              </a:solidFill>
              <a:effectLst/>
              <a:uFillTx/>
              <a:latin typeface="Arial"/>
            </a:endParaRPr>
          </a:p>
        </p:txBody>
      </p:sp>
      <p:sp>
        <p:nvSpPr>
          <p:cNvPr id="1131" name="Text 12"/>
          <p:cNvSpPr/>
          <p:nvPr/>
        </p:nvSpPr>
        <p:spPr>
          <a:xfrm>
            <a:off x="4581000" y="2066400"/>
            <a:ext cx="29988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0B2B5C"/>
                </a:solidFill>
                <a:effectLst/>
                <a:uFillTx/>
                <a:latin typeface="Aptos"/>
                <a:ea typeface="Aptos"/>
              </a:rPr>
              <a:t>thousands</a:t>
            </a:r>
            <a:endParaRPr lang="en-US" sz="2400" b="0" u="none" strike="noStrike">
              <a:solidFill>
                <a:srgbClr val="000000"/>
              </a:solidFill>
              <a:effectLst/>
              <a:uFillTx/>
              <a:latin typeface="Arial"/>
            </a:endParaRPr>
          </a:p>
        </p:txBody>
      </p:sp>
      <p:sp>
        <p:nvSpPr>
          <p:cNvPr id="1132" name="Text 13"/>
          <p:cNvSpPr/>
          <p:nvPr/>
        </p:nvSpPr>
        <p:spPr>
          <a:xfrm>
            <a:off x="4617720" y="2853000"/>
            <a:ext cx="29257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50" b="0" u="none" strike="noStrike">
                <a:solidFill>
                  <a:srgbClr val="0B1F3A"/>
                </a:solidFill>
                <a:effectLst/>
                <a:uFillTx/>
                <a:latin typeface="Aptos"/>
                <a:ea typeface="Aptos"/>
              </a:rPr>
              <a:t>of pages, written in propositional logic</a:t>
            </a:r>
            <a:endParaRPr lang="en-US" sz="1250" b="0" u="none" strike="noStrike">
              <a:solidFill>
                <a:srgbClr val="000000"/>
              </a:solidFill>
              <a:effectLst/>
              <a:uFillTx/>
              <a:latin typeface="Arial"/>
            </a:endParaRPr>
          </a:p>
        </p:txBody>
      </p:sp>
      <p:sp>
        <p:nvSpPr>
          <p:cNvPr id="1133" name="Shape 14"/>
          <p:cNvSpPr/>
          <p:nvPr/>
        </p:nvSpPr>
        <p:spPr>
          <a:xfrm>
            <a:off x="8001000" y="1554480"/>
            <a:ext cx="3291480" cy="21027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4" name="Text 15"/>
          <p:cNvSpPr/>
          <p:nvPr/>
        </p:nvSpPr>
        <p:spPr>
          <a:xfrm>
            <a:off x="8147160" y="1719000"/>
            <a:ext cx="299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7A45"/>
                </a:solidFill>
                <a:effectLst/>
                <a:uFillTx/>
                <a:latin typeface="Aptos"/>
                <a:ea typeface="Aptos"/>
              </a:rPr>
              <a:t>Structured</a:t>
            </a:r>
            <a:endParaRPr lang="en-US" sz="1500" b="0" u="none" strike="noStrike">
              <a:solidFill>
                <a:srgbClr val="000000"/>
              </a:solidFill>
              <a:effectLst/>
              <a:uFillTx/>
              <a:latin typeface="Arial"/>
            </a:endParaRPr>
          </a:p>
        </p:txBody>
      </p:sp>
      <p:sp>
        <p:nvSpPr>
          <p:cNvPr id="1135" name="Text 16"/>
          <p:cNvSpPr/>
          <p:nvPr/>
        </p:nvSpPr>
        <p:spPr>
          <a:xfrm>
            <a:off x="8147160" y="2066400"/>
            <a:ext cx="29988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0B2B5C"/>
                </a:solidFill>
                <a:effectLst/>
                <a:uFillTx/>
                <a:latin typeface="Aptos"/>
                <a:ea typeface="Aptos"/>
              </a:rPr>
              <a:t>1–2</a:t>
            </a:r>
            <a:endParaRPr lang="en-US" sz="3600" b="0" u="none" strike="noStrike">
              <a:solidFill>
                <a:srgbClr val="000000"/>
              </a:solidFill>
              <a:effectLst/>
              <a:uFillTx/>
              <a:latin typeface="Arial"/>
            </a:endParaRPr>
          </a:p>
        </p:txBody>
      </p:sp>
      <p:sp>
        <p:nvSpPr>
          <p:cNvPr id="1136" name="Text 17"/>
          <p:cNvSpPr/>
          <p:nvPr/>
        </p:nvSpPr>
        <p:spPr>
          <a:xfrm>
            <a:off x="8183880" y="2853000"/>
            <a:ext cx="29257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50" b="0" u="none" strike="noStrike">
                <a:solidFill>
                  <a:srgbClr val="0B1F3A"/>
                </a:solidFill>
                <a:effectLst/>
                <a:uFillTx/>
                <a:latin typeface="Aptos"/>
                <a:ea typeface="Aptos"/>
              </a:rPr>
              <a:t>pages, written in first-order logic</a:t>
            </a:r>
            <a:endParaRPr lang="en-US" sz="1250" b="0" u="none" strike="noStrike">
              <a:solidFill>
                <a:srgbClr val="000000"/>
              </a:solidFill>
              <a:effectLst/>
              <a:uFillTx/>
              <a:latin typeface="Arial"/>
            </a:endParaRPr>
          </a:p>
        </p:txBody>
      </p:sp>
      <p:sp>
        <p:nvSpPr>
          <p:cNvPr id="1137" name="Text 18"/>
          <p:cNvSpPr/>
          <p:nvPr/>
        </p:nvSpPr>
        <p:spPr>
          <a:xfrm>
            <a:off x="914400" y="38862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50" b="1" u="none" strike="noStrike">
                <a:solidFill>
                  <a:srgbClr val="0B2B5C"/>
                </a:solidFill>
                <a:effectLst/>
                <a:uFillTx/>
                <a:latin typeface="Aptos"/>
                <a:ea typeface="Aptos"/>
              </a:rPr>
              <a:t>The same content, expressed more concisely — and reasoned over more slowly</a:t>
            </a:r>
            <a:endParaRPr lang="en-US" sz="1950" b="0" u="none" strike="noStrike">
              <a:solidFill>
                <a:srgbClr val="000000"/>
              </a:solidFill>
              <a:effectLst/>
              <a:uFillTx/>
              <a:latin typeface="Arial"/>
            </a:endParaRPr>
          </a:p>
        </p:txBody>
      </p:sp>
      <p:sp>
        <p:nvSpPr>
          <p:cNvPr id="1138" name="Shape 19"/>
          <p:cNvSpPr/>
          <p:nvPr/>
        </p:nvSpPr>
        <p:spPr>
          <a:xfrm>
            <a:off x="868680" y="4389120"/>
            <a:ext cx="10423800" cy="123408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9" name="Text 20"/>
          <p:cNvSpPr/>
          <p:nvPr/>
        </p:nvSpPr>
        <p:spPr>
          <a:xfrm>
            <a:off x="1124640" y="4535280"/>
            <a:ext cx="9911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B2B5C"/>
                </a:solidFill>
                <a:effectLst/>
                <a:uFillTx/>
                <a:latin typeface="Aptos"/>
                <a:ea typeface="Aptos"/>
              </a:rPr>
              <a:t>Choosing a point on the axis</a:t>
            </a:r>
            <a:endParaRPr lang="en-US" sz="1600" b="0" u="none" strike="noStrike">
              <a:solidFill>
                <a:srgbClr val="000000"/>
              </a:solidFill>
              <a:effectLst/>
              <a:uFillTx/>
              <a:latin typeface="Arial"/>
            </a:endParaRPr>
          </a:p>
        </p:txBody>
      </p:sp>
      <p:sp>
        <p:nvSpPr>
          <p:cNvPr id="1140" name="Text 21"/>
          <p:cNvSpPr/>
          <p:nvPr/>
        </p:nvSpPr>
        <p:spPr>
          <a:xfrm>
            <a:off x="1124640" y="4883040"/>
            <a:ext cx="99118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0B1F3A"/>
                </a:solidFill>
                <a:effectLst/>
                <a:uFillTx/>
                <a:latin typeface="Aptos"/>
                <a:ea typeface="Aptos"/>
              </a:rPr>
              <a:t>A more expressive representation captures everything a less expressive one can, at least as concisely, plus more — but reasoning and learning get harder as expressive power rises. Intelligent systems for the real world may need to operate at every point on the axis at once.</a:t>
            </a:r>
            <a:endParaRPr lang="en-US" sz="1400" b="0" u="none" strike="noStrike">
              <a:solidFill>
                <a:srgbClr val="000000"/>
              </a:solidFill>
              <a:effectLst/>
              <a:uFillTx/>
              <a:latin typeface="Arial"/>
            </a:endParaRPr>
          </a:p>
        </p:txBody>
      </p:sp>
      <p:sp>
        <p:nvSpPr>
          <p:cNvPr id="1141" name="Text 22"/>
          <p:cNvSpPr/>
          <p:nvPr/>
        </p:nvSpPr>
        <p:spPr>
          <a:xfrm>
            <a:off x="1005840" y="5852160"/>
            <a:ext cx="10149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1" u="none" strike="noStrike">
                <a:solidFill>
                  <a:srgbClr val="5E7088"/>
                </a:solidFill>
                <a:effectLst/>
                <a:uFillTx/>
                <a:latin typeface="Aptos"/>
                <a:ea typeface="Aptos"/>
              </a:rPr>
              <a:t>Rule of thumb: take the least expressive representation that still captures what the task requires.</a:t>
            </a:r>
            <a:endParaRPr lang="en-US" sz="1400" b="0" u="none" strike="noStrike">
              <a:solidFill>
                <a:srgbClr val="000000"/>
              </a:solidFill>
              <a:effectLst/>
              <a:uFillTx/>
              <a:latin typeface="Arial"/>
            </a:endParaRPr>
          </a:p>
        </p:txBody>
      </p:sp>
      <p:sp>
        <p:nvSpPr>
          <p:cNvPr id="1142" name="Text 23"/>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143" name="Text 24"/>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42</a:t>
            </a:r>
            <a:endParaRPr lang="en-US" sz="85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144"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45"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146"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2.4.7 Localist and Distributed Representations</a:t>
            </a:r>
            <a:endParaRPr lang="en-US" sz="2300" b="0" u="none" strike="noStrike">
              <a:solidFill>
                <a:srgbClr val="000000"/>
              </a:solidFill>
              <a:effectLst/>
              <a:uFillTx/>
              <a:latin typeface="Arial"/>
            </a:endParaRPr>
          </a:p>
        </p:txBody>
      </p:sp>
      <p:sp>
        <p:nvSpPr>
          <p:cNvPr id="1147"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1148" name="Text 5"/>
          <p:cNvSpPr/>
          <p:nvPr/>
        </p:nvSpPr>
        <p:spPr>
          <a:xfrm>
            <a:off x="1005840" y="1097280"/>
            <a:ext cx="10149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B2B5C"/>
                </a:solidFill>
                <a:effectLst/>
                <a:uFillTx/>
                <a:latin typeface="Aptos"/>
                <a:ea typeface="Aptos"/>
              </a:rPr>
              <a:t>A second axis: how do concepts map onto locations in memory — or in a brain?</a:t>
            </a:r>
            <a:endParaRPr lang="en-US" sz="1600" b="0" u="none" strike="noStrike">
              <a:solidFill>
                <a:srgbClr val="000000"/>
              </a:solidFill>
              <a:effectLst/>
              <a:uFillTx/>
              <a:latin typeface="Arial"/>
            </a:endParaRPr>
          </a:p>
        </p:txBody>
      </p:sp>
      <p:sp>
        <p:nvSpPr>
          <p:cNvPr id="1149" name="Shape 6"/>
          <p:cNvSpPr/>
          <p:nvPr/>
        </p:nvSpPr>
        <p:spPr>
          <a:xfrm>
            <a:off x="868680" y="1572840"/>
            <a:ext cx="5074560" cy="30171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0" name="Text 7"/>
          <p:cNvSpPr/>
          <p:nvPr/>
        </p:nvSpPr>
        <p:spPr>
          <a:xfrm>
            <a:off x="1069920" y="1737360"/>
            <a:ext cx="4672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2B6CB0"/>
                </a:solidFill>
                <a:effectLst/>
                <a:uFillTx/>
                <a:latin typeface="Aptos"/>
                <a:ea typeface="Aptos"/>
              </a:rPr>
              <a:t>Localist</a:t>
            </a:r>
            <a:endParaRPr lang="en-US" sz="1900" b="0" u="none" strike="noStrike">
              <a:solidFill>
                <a:srgbClr val="000000"/>
              </a:solidFill>
              <a:effectLst/>
              <a:uFillTx/>
              <a:latin typeface="Arial"/>
            </a:endParaRPr>
          </a:p>
        </p:txBody>
      </p:sp>
      <p:sp>
        <p:nvSpPr>
          <p:cNvPr id="1151" name="Text 8"/>
          <p:cNvSpPr/>
          <p:nvPr/>
        </p:nvSpPr>
        <p:spPr>
          <a:xfrm>
            <a:off x="1069920" y="2121480"/>
            <a:ext cx="4672080" cy="776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One concept, one memory location, and the mapping between them is arbitrary. Garble a few bits in transmission and Truck can become the entirely unrelated concept Truce.</a:t>
            </a:r>
            <a:endParaRPr lang="en-US" sz="1300" b="0" u="none" strike="noStrike">
              <a:solidFill>
                <a:srgbClr val="000000"/>
              </a:solidFill>
              <a:effectLst/>
              <a:uFillTx/>
              <a:latin typeface="Arial"/>
            </a:endParaRPr>
          </a:p>
        </p:txBody>
      </p:sp>
      <p:sp>
        <p:nvSpPr>
          <p:cNvPr id="1152" name="Shape 9"/>
          <p:cNvSpPr/>
          <p:nvPr/>
        </p:nvSpPr>
        <p:spPr>
          <a:xfrm>
            <a:off x="125280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3" name="Shape 10"/>
          <p:cNvSpPr/>
          <p:nvPr/>
        </p:nvSpPr>
        <p:spPr>
          <a:xfrm>
            <a:off x="1847160" y="3127320"/>
            <a:ext cx="502560" cy="502560"/>
          </a:xfrm>
          <a:prstGeom prst="roundRect">
            <a:avLst>
              <a:gd name="adj" fmla="val 12000"/>
            </a:avLst>
          </a:prstGeom>
          <a:solidFill>
            <a:srgbClr val="0B2B5C"/>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4" name="Shape 11"/>
          <p:cNvSpPr/>
          <p:nvPr/>
        </p:nvSpPr>
        <p:spPr>
          <a:xfrm>
            <a:off x="244152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5" name="Shape 12"/>
          <p:cNvSpPr/>
          <p:nvPr/>
        </p:nvSpPr>
        <p:spPr>
          <a:xfrm>
            <a:off x="303588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6" name="Shape 13"/>
          <p:cNvSpPr/>
          <p:nvPr/>
        </p:nvSpPr>
        <p:spPr>
          <a:xfrm>
            <a:off x="3630240" y="3127320"/>
            <a:ext cx="502560" cy="502560"/>
          </a:xfrm>
          <a:prstGeom prst="roundRect">
            <a:avLst>
              <a:gd name="adj" fmla="val 12000"/>
            </a:avLst>
          </a:prstGeom>
          <a:solidFill>
            <a:srgbClr val="F5A21B"/>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7" name="Shape 14"/>
          <p:cNvSpPr/>
          <p:nvPr/>
        </p:nvSpPr>
        <p:spPr>
          <a:xfrm>
            <a:off x="422460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8" name="Shape 15"/>
          <p:cNvSpPr/>
          <p:nvPr/>
        </p:nvSpPr>
        <p:spPr>
          <a:xfrm>
            <a:off x="481896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9" name="Text 16"/>
          <p:cNvSpPr/>
          <p:nvPr/>
        </p:nvSpPr>
        <p:spPr>
          <a:xfrm>
            <a:off x="1618560" y="3712320"/>
            <a:ext cx="959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0B2B5C"/>
                </a:solidFill>
                <a:effectLst/>
                <a:uFillTx/>
                <a:latin typeface="Aptos"/>
                <a:ea typeface="Aptos"/>
              </a:rPr>
              <a:t>Truck</a:t>
            </a:r>
            <a:endParaRPr lang="en-US" sz="1050" b="0" u="none" strike="noStrike">
              <a:solidFill>
                <a:srgbClr val="000000"/>
              </a:solidFill>
              <a:effectLst/>
              <a:uFillTx/>
              <a:latin typeface="Arial"/>
            </a:endParaRPr>
          </a:p>
        </p:txBody>
      </p:sp>
      <p:sp>
        <p:nvSpPr>
          <p:cNvPr id="1160" name="Text 17"/>
          <p:cNvSpPr/>
          <p:nvPr/>
        </p:nvSpPr>
        <p:spPr>
          <a:xfrm>
            <a:off x="3401640" y="3712320"/>
            <a:ext cx="959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8A6A3A"/>
                </a:solidFill>
                <a:effectLst/>
                <a:uFillTx/>
                <a:latin typeface="Aptos"/>
                <a:ea typeface="Aptos"/>
              </a:rPr>
              <a:t>Truce</a:t>
            </a:r>
            <a:endParaRPr lang="en-US" sz="1050" b="0" u="none" strike="noStrike">
              <a:solidFill>
                <a:srgbClr val="000000"/>
              </a:solidFill>
              <a:effectLst/>
              <a:uFillTx/>
              <a:latin typeface="Arial"/>
            </a:endParaRPr>
          </a:p>
        </p:txBody>
      </p:sp>
      <p:sp>
        <p:nvSpPr>
          <p:cNvPr id="1161" name="Text 18"/>
          <p:cNvSpPr/>
          <p:nvPr/>
        </p:nvSpPr>
        <p:spPr>
          <a:xfrm>
            <a:off x="1069920" y="4041720"/>
            <a:ext cx="46720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5E7088"/>
                </a:solidFill>
                <a:effectLst/>
                <a:uFillTx/>
                <a:latin typeface="Aptos"/>
                <a:ea typeface="Aptos"/>
              </a:rPr>
              <a:t>Two cells apart in memory, two meanings with nothing in common.</a:t>
            </a:r>
            <a:endParaRPr lang="en-US" sz="1200" b="0" u="none" strike="noStrike">
              <a:solidFill>
                <a:srgbClr val="000000"/>
              </a:solidFill>
              <a:effectLst/>
              <a:uFillTx/>
              <a:latin typeface="Arial"/>
            </a:endParaRPr>
          </a:p>
        </p:txBody>
      </p:sp>
      <p:sp>
        <p:nvSpPr>
          <p:cNvPr id="1162" name="Shape 19"/>
          <p:cNvSpPr/>
          <p:nvPr/>
        </p:nvSpPr>
        <p:spPr>
          <a:xfrm>
            <a:off x="6217920" y="1572840"/>
            <a:ext cx="5074560" cy="30171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3" name="Text 20"/>
          <p:cNvSpPr/>
          <p:nvPr/>
        </p:nvSpPr>
        <p:spPr>
          <a:xfrm>
            <a:off x="6419160" y="1737360"/>
            <a:ext cx="4672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1B7A45"/>
                </a:solidFill>
                <a:effectLst/>
                <a:uFillTx/>
                <a:latin typeface="Aptos"/>
                <a:ea typeface="Aptos"/>
              </a:rPr>
              <a:t>Distributed</a:t>
            </a:r>
            <a:endParaRPr lang="en-US" sz="1900" b="0" u="none" strike="noStrike">
              <a:solidFill>
                <a:srgbClr val="000000"/>
              </a:solidFill>
              <a:effectLst/>
              <a:uFillTx/>
              <a:latin typeface="Arial"/>
            </a:endParaRPr>
          </a:p>
        </p:txBody>
      </p:sp>
      <p:sp>
        <p:nvSpPr>
          <p:cNvPr id="1164" name="Text 21"/>
          <p:cNvSpPr/>
          <p:nvPr/>
        </p:nvSpPr>
        <p:spPr>
          <a:xfrm>
            <a:off x="6419160" y="2121480"/>
            <a:ext cx="4672080" cy="776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Each concept is spread across many locations, and each location contributes to many concepts. A concept becomes a point in a multidimensional space.</a:t>
            </a:r>
            <a:endParaRPr lang="en-US" sz="1300" b="0" u="none" strike="noStrike">
              <a:solidFill>
                <a:srgbClr val="000000"/>
              </a:solidFill>
              <a:effectLst/>
              <a:uFillTx/>
              <a:latin typeface="Arial"/>
            </a:endParaRPr>
          </a:p>
        </p:txBody>
      </p:sp>
      <p:sp>
        <p:nvSpPr>
          <p:cNvPr id="1165" name="Shape 22"/>
          <p:cNvSpPr/>
          <p:nvPr/>
        </p:nvSpPr>
        <p:spPr>
          <a:xfrm>
            <a:off x="6602040" y="3127320"/>
            <a:ext cx="502560" cy="502560"/>
          </a:xfrm>
          <a:prstGeom prst="roundRect">
            <a:avLst>
              <a:gd name="adj" fmla="val 12000"/>
            </a:avLst>
          </a:prstGeom>
          <a:solidFill>
            <a:srgbClr val="1B7A4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6" name="Shape 23"/>
          <p:cNvSpPr/>
          <p:nvPr/>
        </p:nvSpPr>
        <p:spPr>
          <a:xfrm>
            <a:off x="7196400" y="3127320"/>
            <a:ext cx="502560" cy="502560"/>
          </a:xfrm>
          <a:prstGeom prst="roundRect">
            <a:avLst>
              <a:gd name="adj" fmla="val 12000"/>
            </a:avLst>
          </a:prstGeom>
          <a:solidFill>
            <a:srgbClr val="8FC7A8"/>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7" name="Shape 24"/>
          <p:cNvSpPr/>
          <p:nvPr/>
        </p:nvSpPr>
        <p:spPr>
          <a:xfrm>
            <a:off x="7790760" y="3127320"/>
            <a:ext cx="502560" cy="502560"/>
          </a:xfrm>
          <a:prstGeom prst="roundRect">
            <a:avLst>
              <a:gd name="adj" fmla="val 12000"/>
            </a:avLst>
          </a:prstGeom>
          <a:solidFill>
            <a:srgbClr val="C8E2D4"/>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8" name="Shape 25"/>
          <p:cNvSpPr/>
          <p:nvPr/>
        </p:nvSpPr>
        <p:spPr>
          <a:xfrm>
            <a:off x="8385120" y="3127320"/>
            <a:ext cx="502560" cy="502560"/>
          </a:xfrm>
          <a:prstGeom prst="roundRect">
            <a:avLst>
              <a:gd name="adj" fmla="val 12000"/>
            </a:avLst>
          </a:prstGeom>
          <a:solidFill>
            <a:srgbClr val="5FAE8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9" name="Shape 26"/>
          <p:cNvSpPr/>
          <p:nvPr/>
        </p:nvSpPr>
        <p:spPr>
          <a:xfrm>
            <a:off x="8979480" y="3127320"/>
            <a:ext cx="502560" cy="502560"/>
          </a:xfrm>
          <a:prstGeom prst="roundRect">
            <a:avLst>
              <a:gd name="adj" fmla="val 12000"/>
            </a:avLst>
          </a:prstGeom>
          <a:solidFill>
            <a:srgbClr val="E2F0E8"/>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0" name="Shape 27"/>
          <p:cNvSpPr/>
          <p:nvPr/>
        </p:nvSpPr>
        <p:spPr>
          <a:xfrm>
            <a:off x="9573840" y="3127320"/>
            <a:ext cx="502560" cy="502560"/>
          </a:xfrm>
          <a:prstGeom prst="roundRect">
            <a:avLst>
              <a:gd name="adj" fmla="val 12000"/>
            </a:avLst>
          </a:prstGeom>
          <a:solidFill>
            <a:srgbClr val="A9D5BE"/>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1" name="Shape 28"/>
          <p:cNvSpPr/>
          <p:nvPr/>
        </p:nvSpPr>
        <p:spPr>
          <a:xfrm>
            <a:off x="10168200" y="3127320"/>
            <a:ext cx="502560" cy="502560"/>
          </a:xfrm>
          <a:prstGeom prst="roundRect">
            <a:avLst>
              <a:gd name="adj" fmla="val 12000"/>
            </a:avLst>
          </a:prstGeom>
          <a:solidFill>
            <a:srgbClr val="77BC98"/>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2" name="Text 29"/>
          <p:cNvSpPr/>
          <p:nvPr/>
        </p:nvSpPr>
        <p:spPr>
          <a:xfrm>
            <a:off x="6419160" y="3712320"/>
            <a:ext cx="46720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1B7A45"/>
                </a:solidFill>
                <a:effectLst/>
                <a:uFillTx/>
                <a:latin typeface="Aptos"/>
                <a:ea typeface="Aptos"/>
              </a:rPr>
              <a:t>one concept, spread across every cell</a:t>
            </a:r>
            <a:endParaRPr lang="en-US" sz="1050" b="0" u="none" strike="noStrike">
              <a:solidFill>
                <a:srgbClr val="000000"/>
              </a:solidFill>
              <a:effectLst/>
              <a:uFillTx/>
              <a:latin typeface="Arial"/>
            </a:endParaRPr>
          </a:p>
        </p:txBody>
      </p:sp>
      <p:sp>
        <p:nvSpPr>
          <p:cNvPr id="1173" name="Text 30"/>
          <p:cNvSpPr/>
          <p:nvPr/>
        </p:nvSpPr>
        <p:spPr>
          <a:xfrm>
            <a:off x="6419160" y="4041720"/>
            <a:ext cx="46720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5E7088"/>
                </a:solidFill>
                <a:effectLst/>
                <a:uFillTx/>
                <a:latin typeface="Aptos"/>
                <a:ea typeface="Aptos"/>
              </a:rPr>
              <a:t>Garble a few bits and you move to a nearby point, which carries a similar meaning.</a:t>
            </a:r>
            <a:endParaRPr lang="en-US" sz="1200" b="0" u="none" strike="noStrike">
              <a:solidFill>
                <a:srgbClr val="000000"/>
              </a:solidFill>
              <a:effectLst/>
              <a:uFillTx/>
              <a:latin typeface="Arial"/>
            </a:endParaRPr>
          </a:p>
        </p:txBody>
      </p:sp>
      <p:sp>
        <p:nvSpPr>
          <p:cNvPr id="1174" name="Text 31"/>
          <p:cNvSpPr/>
          <p:nvPr/>
        </p:nvSpPr>
        <p:spPr>
          <a:xfrm>
            <a:off x="914400" y="486468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50" b="1" u="none" strike="noStrike">
                <a:solidFill>
                  <a:srgbClr val="0B2B5C"/>
                </a:solidFill>
                <a:effectLst/>
                <a:uFillTx/>
                <a:latin typeface="Aptos"/>
                <a:ea typeface="Aptos"/>
              </a:rPr>
              <a:t>Distributed representations are more robust to noise and information loss</a:t>
            </a:r>
            <a:endParaRPr lang="en-US" sz="1950" b="0" u="none" strike="noStrike">
              <a:solidFill>
                <a:srgbClr val="000000"/>
              </a:solidFill>
              <a:effectLst/>
              <a:uFillTx/>
              <a:latin typeface="Arial"/>
            </a:endParaRPr>
          </a:p>
        </p:txBody>
      </p:sp>
      <p:sp>
        <p:nvSpPr>
          <p:cNvPr id="1175" name="Text 32"/>
          <p:cNvSpPr/>
          <p:nvPr/>
        </p:nvSpPr>
        <p:spPr>
          <a:xfrm>
            <a:off x="1005840" y="5376600"/>
            <a:ext cx="101494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This axis is independent of atomic, factored, and structured — it asks where the information physically lives rather than how much it can express. It is also the bridge from Chapter 2 to the learned vector representations behind modern neural systems (Chapter 21).</a:t>
            </a:r>
            <a:endParaRPr lang="en-US" sz="1400" b="0" u="none" strike="noStrike">
              <a:solidFill>
                <a:srgbClr val="000000"/>
              </a:solidFill>
              <a:effectLst/>
              <a:uFillTx/>
              <a:latin typeface="Arial"/>
            </a:endParaRPr>
          </a:p>
        </p:txBody>
      </p:sp>
      <p:sp>
        <p:nvSpPr>
          <p:cNvPr id="1176" name="Text 33"/>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177" name="Text 34"/>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43</a:t>
            </a:r>
            <a:endParaRPr lang="en-US" sz="85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17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7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18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All Agent Program Designs in Chapter 2</a:t>
            </a:r>
            <a:endParaRPr lang="en-US" sz="2300" b="0" u="none" strike="noStrike">
              <a:solidFill>
                <a:srgbClr val="000000"/>
              </a:solidFill>
              <a:effectLst/>
              <a:uFillTx/>
              <a:latin typeface="Arial"/>
            </a:endParaRPr>
          </a:p>
        </p:txBody>
      </p:sp>
      <p:sp>
        <p:nvSpPr>
          <p:cNvPr id="118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118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18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44</a:t>
            </a:r>
            <a:endParaRPr lang="en-US" sz="1800" b="0" u="none" strike="noStrike">
              <a:solidFill>
                <a:srgbClr val="000000"/>
              </a:solidFill>
              <a:effectLst/>
              <a:uFillTx/>
              <a:latin typeface="Arial"/>
            </a:endParaRPr>
          </a:p>
        </p:txBody>
      </p:sp>
      <p:sp>
        <p:nvSpPr>
          <p:cNvPr id="1184" name="Shape 6"/>
          <p:cNvSpPr/>
          <p:nvPr/>
        </p:nvSpPr>
        <p:spPr>
          <a:xfrm>
            <a:off x="502920" y="114300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5" name="Text 7"/>
          <p:cNvSpPr/>
          <p:nvPr/>
        </p:nvSpPr>
        <p:spPr>
          <a:xfrm>
            <a:off x="667440" y="12891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Table-driven</a:t>
            </a:r>
            <a:endParaRPr lang="en-US" sz="1800" b="0" u="none" strike="noStrike">
              <a:solidFill>
                <a:srgbClr val="000000"/>
              </a:solidFill>
              <a:effectLst/>
              <a:uFillTx/>
              <a:latin typeface="Arial"/>
            </a:endParaRPr>
          </a:p>
        </p:txBody>
      </p:sp>
      <p:sp>
        <p:nvSpPr>
          <p:cNvPr id="1186" name="Text 8"/>
          <p:cNvSpPr/>
          <p:nvPr/>
        </p:nvSpPr>
        <p:spPr>
          <a:xfrm>
            <a:off x="667440" y="161856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Stores percept history and looks up an action in a table.</a:t>
            </a:r>
            <a:endParaRPr lang="en-US" sz="1300" b="0" u="none" strike="noStrike">
              <a:solidFill>
                <a:srgbClr val="000000"/>
              </a:solidFill>
              <a:effectLst/>
              <a:uFillTx/>
              <a:latin typeface="Arial"/>
            </a:endParaRPr>
          </a:p>
        </p:txBody>
      </p:sp>
      <p:sp>
        <p:nvSpPr>
          <p:cNvPr id="1187" name="Shape 9"/>
          <p:cNvSpPr/>
          <p:nvPr/>
        </p:nvSpPr>
        <p:spPr>
          <a:xfrm>
            <a:off x="4389120" y="114300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8" name="Text 10"/>
          <p:cNvSpPr/>
          <p:nvPr/>
        </p:nvSpPr>
        <p:spPr>
          <a:xfrm>
            <a:off x="4553640" y="12891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Simple reflex</a:t>
            </a:r>
            <a:endParaRPr lang="en-US" sz="1800" b="0" u="none" strike="noStrike">
              <a:solidFill>
                <a:srgbClr val="000000"/>
              </a:solidFill>
              <a:effectLst/>
              <a:uFillTx/>
              <a:latin typeface="Arial"/>
            </a:endParaRPr>
          </a:p>
        </p:txBody>
      </p:sp>
      <p:sp>
        <p:nvSpPr>
          <p:cNvPr id="1189" name="Text 11"/>
          <p:cNvSpPr/>
          <p:nvPr/>
        </p:nvSpPr>
        <p:spPr>
          <a:xfrm>
            <a:off x="4553640" y="161856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Maps current percept to action using condition-action rules.</a:t>
            </a:r>
            <a:endParaRPr lang="en-US" sz="1300" b="0" u="none" strike="noStrike">
              <a:solidFill>
                <a:srgbClr val="000000"/>
              </a:solidFill>
              <a:effectLst/>
              <a:uFillTx/>
              <a:latin typeface="Arial"/>
            </a:endParaRPr>
          </a:p>
        </p:txBody>
      </p:sp>
      <p:sp>
        <p:nvSpPr>
          <p:cNvPr id="1190" name="Shape 12"/>
          <p:cNvSpPr/>
          <p:nvPr/>
        </p:nvSpPr>
        <p:spPr>
          <a:xfrm>
            <a:off x="8275320" y="114300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1" name="Text 13"/>
          <p:cNvSpPr/>
          <p:nvPr/>
        </p:nvSpPr>
        <p:spPr>
          <a:xfrm>
            <a:off x="8439840" y="12891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48A97"/>
                </a:solidFill>
                <a:effectLst/>
                <a:uFillTx/>
                <a:latin typeface="Aptos"/>
              </a:rPr>
              <a:t>Model-based reflex</a:t>
            </a:r>
            <a:endParaRPr lang="en-US" sz="1800" b="0" u="none" strike="noStrike">
              <a:solidFill>
                <a:srgbClr val="000000"/>
              </a:solidFill>
              <a:effectLst/>
              <a:uFillTx/>
              <a:latin typeface="Arial"/>
            </a:endParaRPr>
          </a:p>
        </p:txBody>
      </p:sp>
      <p:sp>
        <p:nvSpPr>
          <p:cNvPr id="1192" name="Text 14"/>
          <p:cNvSpPr/>
          <p:nvPr/>
        </p:nvSpPr>
        <p:spPr>
          <a:xfrm>
            <a:off x="8439840" y="161856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Maintains internal state using transition and sensor models.</a:t>
            </a:r>
            <a:endParaRPr lang="en-US" sz="1300" b="0" u="none" strike="noStrike">
              <a:solidFill>
                <a:srgbClr val="000000"/>
              </a:solidFill>
              <a:effectLst/>
              <a:uFillTx/>
              <a:latin typeface="Arial"/>
            </a:endParaRPr>
          </a:p>
        </p:txBody>
      </p:sp>
      <p:sp>
        <p:nvSpPr>
          <p:cNvPr id="1193" name="Shape 15"/>
          <p:cNvSpPr/>
          <p:nvPr/>
        </p:nvSpPr>
        <p:spPr>
          <a:xfrm>
            <a:off x="502920" y="301752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4" name="Text 16"/>
          <p:cNvSpPr/>
          <p:nvPr/>
        </p:nvSpPr>
        <p:spPr>
          <a:xfrm>
            <a:off x="667440" y="316368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Goal-based</a:t>
            </a:r>
            <a:endParaRPr lang="en-US" sz="1800" b="0" u="none" strike="noStrike">
              <a:solidFill>
                <a:srgbClr val="000000"/>
              </a:solidFill>
              <a:effectLst/>
              <a:uFillTx/>
              <a:latin typeface="Arial"/>
            </a:endParaRPr>
          </a:p>
        </p:txBody>
      </p:sp>
      <p:sp>
        <p:nvSpPr>
          <p:cNvPr id="1195" name="Text 17"/>
          <p:cNvSpPr/>
          <p:nvPr/>
        </p:nvSpPr>
        <p:spPr>
          <a:xfrm>
            <a:off x="667440" y="349308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Chooses actions by reasoning toward goals.</a:t>
            </a:r>
            <a:endParaRPr lang="en-US" sz="1300" b="0" u="none" strike="noStrike">
              <a:solidFill>
                <a:srgbClr val="000000"/>
              </a:solidFill>
              <a:effectLst/>
              <a:uFillTx/>
              <a:latin typeface="Arial"/>
            </a:endParaRPr>
          </a:p>
        </p:txBody>
      </p:sp>
      <p:sp>
        <p:nvSpPr>
          <p:cNvPr id="1196" name="Shape 18"/>
          <p:cNvSpPr/>
          <p:nvPr/>
        </p:nvSpPr>
        <p:spPr>
          <a:xfrm>
            <a:off x="4389120" y="301752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7" name="Text 19"/>
          <p:cNvSpPr/>
          <p:nvPr/>
        </p:nvSpPr>
        <p:spPr>
          <a:xfrm>
            <a:off x="4553640" y="316368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Utility-based</a:t>
            </a:r>
            <a:endParaRPr lang="en-US" sz="1800" b="0" u="none" strike="noStrike">
              <a:solidFill>
                <a:srgbClr val="000000"/>
              </a:solidFill>
              <a:effectLst/>
              <a:uFillTx/>
              <a:latin typeface="Arial"/>
            </a:endParaRPr>
          </a:p>
        </p:txBody>
      </p:sp>
      <p:sp>
        <p:nvSpPr>
          <p:cNvPr id="1198" name="Text 20"/>
          <p:cNvSpPr/>
          <p:nvPr/>
        </p:nvSpPr>
        <p:spPr>
          <a:xfrm>
            <a:off x="4553640" y="349308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Ranks outcomes and maximizes expected utility.</a:t>
            </a:r>
            <a:endParaRPr lang="en-US" sz="1300" b="0" u="none" strike="noStrike">
              <a:solidFill>
                <a:srgbClr val="000000"/>
              </a:solidFill>
              <a:effectLst/>
              <a:uFillTx/>
              <a:latin typeface="Arial"/>
            </a:endParaRPr>
          </a:p>
        </p:txBody>
      </p:sp>
      <p:sp>
        <p:nvSpPr>
          <p:cNvPr id="1199" name="Shape 21"/>
          <p:cNvSpPr/>
          <p:nvPr/>
        </p:nvSpPr>
        <p:spPr>
          <a:xfrm>
            <a:off x="8275320" y="301752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0" name="Text 22"/>
          <p:cNvSpPr/>
          <p:nvPr/>
        </p:nvSpPr>
        <p:spPr>
          <a:xfrm>
            <a:off x="8439840" y="316368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Learning</a:t>
            </a:r>
            <a:endParaRPr lang="en-US" sz="1800" b="0" u="none" strike="noStrike">
              <a:solidFill>
                <a:srgbClr val="000000"/>
              </a:solidFill>
              <a:effectLst/>
              <a:uFillTx/>
              <a:latin typeface="Arial"/>
            </a:endParaRPr>
          </a:p>
        </p:txBody>
      </p:sp>
      <p:sp>
        <p:nvSpPr>
          <p:cNvPr id="1201" name="Text 23"/>
          <p:cNvSpPr/>
          <p:nvPr/>
        </p:nvSpPr>
        <p:spPr>
          <a:xfrm>
            <a:off x="8439840" y="349308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Improves components from feedback and experience.</a:t>
            </a:r>
            <a:endParaRPr lang="en-US" sz="1300" b="0" u="none" strike="noStrike">
              <a:solidFill>
                <a:srgbClr val="000000"/>
              </a:solidFill>
              <a:effectLst/>
              <a:uFillTx/>
              <a:latin typeface="Arial"/>
            </a:endParaRPr>
          </a:p>
        </p:txBody>
      </p:sp>
      <p:sp>
        <p:nvSpPr>
          <p:cNvPr id="1202" name="Text 24"/>
          <p:cNvSpPr/>
          <p:nvPr/>
        </p:nvSpPr>
        <p:spPr>
          <a:xfrm>
            <a:off x="731520" y="5532120"/>
            <a:ext cx="107888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These are design patterns, not rigid boxes. Real systems combine them, and not every utility-based agent needs a model of the world.</a:t>
            </a:r>
            <a:endParaRPr lang="en-US" sz="18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0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0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20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Choosing an Agent Design from Environment Properties</a:t>
            </a:r>
            <a:endParaRPr lang="en-US" sz="2300" b="0" u="none" strike="noStrike">
              <a:solidFill>
                <a:srgbClr val="000000"/>
              </a:solidFill>
              <a:effectLst/>
              <a:uFillTx/>
              <a:latin typeface="Arial"/>
            </a:endParaRPr>
          </a:p>
        </p:txBody>
      </p:sp>
      <p:sp>
        <p:nvSpPr>
          <p:cNvPr id="120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120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20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45</a:t>
            </a:r>
            <a:endParaRPr lang="en-US" sz="1800" b="0" u="none" strike="noStrike">
              <a:solidFill>
                <a:srgbClr val="000000"/>
              </a:solidFill>
              <a:effectLst/>
              <a:uFillTx/>
              <a:latin typeface="Arial"/>
            </a:endParaRPr>
          </a:p>
        </p:txBody>
      </p:sp>
      <p:sp>
        <p:nvSpPr>
          <p:cNvPr id="1209" name="Shape 6"/>
          <p:cNvSpPr/>
          <p:nvPr/>
        </p:nvSpPr>
        <p:spPr>
          <a:xfrm>
            <a:off x="658440" y="107892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0" name="Text 7"/>
          <p:cNvSpPr/>
          <p:nvPr/>
        </p:nvSpPr>
        <p:spPr>
          <a:xfrm>
            <a:off x="822960" y="122544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2B6CB0"/>
                </a:solidFill>
                <a:effectLst/>
                <a:uFillTx/>
                <a:latin typeface="Aptos"/>
              </a:rPr>
              <a:t>Fully observable + short horizon</a:t>
            </a:r>
            <a:endParaRPr lang="en-US" sz="1550" b="0" u="none" strike="noStrike">
              <a:solidFill>
                <a:srgbClr val="000000"/>
              </a:solidFill>
              <a:effectLst/>
              <a:uFillTx/>
              <a:latin typeface="Arial"/>
            </a:endParaRPr>
          </a:p>
        </p:txBody>
      </p:sp>
      <p:sp>
        <p:nvSpPr>
          <p:cNvPr id="1211" name="Text 8"/>
          <p:cNvSpPr/>
          <p:nvPr/>
        </p:nvSpPr>
        <p:spPr>
          <a:xfrm>
            <a:off x="822960" y="155448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Simple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Fast condition-action rules may be enough.</a:t>
            </a:r>
            <a:endParaRPr lang="en-US" sz="1250" b="0" u="none" strike="noStrike">
              <a:solidFill>
                <a:srgbClr val="000000"/>
              </a:solidFill>
              <a:effectLst/>
              <a:uFillTx/>
              <a:latin typeface="Arial"/>
            </a:endParaRPr>
          </a:p>
        </p:txBody>
      </p:sp>
      <p:sp>
        <p:nvSpPr>
          <p:cNvPr id="1212" name="Shape 9"/>
          <p:cNvSpPr/>
          <p:nvPr/>
        </p:nvSpPr>
        <p:spPr>
          <a:xfrm>
            <a:off x="6236280" y="107892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3" name="Text 10"/>
          <p:cNvSpPr/>
          <p:nvPr/>
        </p:nvSpPr>
        <p:spPr>
          <a:xfrm>
            <a:off x="6400800" y="122544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48A97"/>
                </a:solidFill>
                <a:effectLst/>
                <a:uFillTx/>
                <a:latin typeface="Aptos"/>
              </a:rPr>
              <a:t>Partially observable</a:t>
            </a:r>
            <a:endParaRPr lang="en-US" sz="1550" b="0" u="none" strike="noStrike">
              <a:solidFill>
                <a:srgbClr val="000000"/>
              </a:solidFill>
              <a:effectLst/>
              <a:uFillTx/>
              <a:latin typeface="Arial"/>
            </a:endParaRPr>
          </a:p>
        </p:txBody>
      </p:sp>
      <p:sp>
        <p:nvSpPr>
          <p:cNvPr id="1214" name="Text 11"/>
          <p:cNvSpPr/>
          <p:nvPr/>
        </p:nvSpPr>
        <p:spPr>
          <a:xfrm>
            <a:off x="6400800" y="155448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Model-based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Maintain internal state and update it using models.</a:t>
            </a:r>
            <a:endParaRPr lang="en-US" sz="1250" b="0" u="none" strike="noStrike">
              <a:solidFill>
                <a:srgbClr val="000000"/>
              </a:solidFill>
              <a:effectLst/>
              <a:uFillTx/>
              <a:latin typeface="Arial"/>
            </a:endParaRPr>
          </a:p>
        </p:txBody>
      </p:sp>
      <p:sp>
        <p:nvSpPr>
          <p:cNvPr id="1215" name="Shape 12"/>
          <p:cNvSpPr/>
          <p:nvPr/>
        </p:nvSpPr>
        <p:spPr>
          <a:xfrm>
            <a:off x="658440" y="258768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6" name="Text 13"/>
          <p:cNvSpPr/>
          <p:nvPr/>
        </p:nvSpPr>
        <p:spPr>
          <a:xfrm>
            <a:off x="822960" y="273420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F5A21B"/>
                </a:solidFill>
                <a:effectLst/>
                <a:uFillTx/>
                <a:latin typeface="Aptos"/>
              </a:rPr>
              <a:t>Long-term objective</a:t>
            </a:r>
            <a:endParaRPr lang="en-US" sz="1550" b="0" u="none" strike="noStrike">
              <a:solidFill>
                <a:srgbClr val="000000"/>
              </a:solidFill>
              <a:effectLst/>
              <a:uFillTx/>
              <a:latin typeface="Arial"/>
            </a:endParaRPr>
          </a:p>
        </p:txBody>
      </p:sp>
      <p:sp>
        <p:nvSpPr>
          <p:cNvPr id="1217" name="Text 14"/>
          <p:cNvSpPr/>
          <p:nvPr/>
        </p:nvSpPr>
        <p:spPr>
          <a:xfrm>
            <a:off x="822960" y="306324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Goal-based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Search or planning over future action sequences.</a:t>
            </a:r>
            <a:endParaRPr lang="en-US" sz="1250" b="0" u="none" strike="noStrike">
              <a:solidFill>
                <a:srgbClr val="000000"/>
              </a:solidFill>
              <a:effectLst/>
              <a:uFillTx/>
              <a:latin typeface="Arial"/>
            </a:endParaRPr>
          </a:p>
        </p:txBody>
      </p:sp>
      <p:sp>
        <p:nvSpPr>
          <p:cNvPr id="1218" name="Shape 15"/>
          <p:cNvSpPr/>
          <p:nvPr/>
        </p:nvSpPr>
        <p:spPr>
          <a:xfrm>
            <a:off x="6236280" y="258768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9" name="Text 16"/>
          <p:cNvSpPr/>
          <p:nvPr/>
        </p:nvSpPr>
        <p:spPr>
          <a:xfrm>
            <a:off x="6400800" y="273420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5B35B1"/>
                </a:solidFill>
                <a:effectLst/>
                <a:uFillTx/>
                <a:latin typeface="Aptos"/>
              </a:rPr>
              <a:t>Tradeoffs / uncertainty</a:t>
            </a:r>
            <a:endParaRPr lang="en-US" sz="1550" b="0" u="none" strike="noStrike">
              <a:solidFill>
                <a:srgbClr val="000000"/>
              </a:solidFill>
              <a:effectLst/>
              <a:uFillTx/>
              <a:latin typeface="Arial"/>
            </a:endParaRPr>
          </a:p>
        </p:txBody>
      </p:sp>
      <p:sp>
        <p:nvSpPr>
          <p:cNvPr id="1220" name="Text 17"/>
          <p:cNvSpPr/>
          <p:nvPr/>
        </p:nvSpPr>
        <p:spPr>
          <a:xfrm>
            <a:off x="6400800" y="306324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Utility-based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Compare outcomes by expected utility.</a:t>
            </a:r>
            <a:endParaRPr lang="en-US" sz="1250" b="0" u="none" strike="noStrike">
              <a:solidFill>
                <a:srgbClr val="000000"/>
              </a:solidFill>
              <a:effectLst/>
              <a:uFillTx/>
              <a:latin typeface="Arial"/>
            </a:endParaRPr>
          </a:p>
        </p:txBody>
      </p:sp>
      <p:sp>
        <p:nvSpPr>
          <p:cNvPr id="1221" name="Shape 18"/>
          <p:cNvSpPr/>
          <p:nvPr/>
        </p:nvSpPr>
        <p:spPr>
          <a:xfrm>
            <a:off x="658440" y="4096440"/>
            <a:ext cx="1078884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2" name="Text 19"/>
          <p:cNvSpPr/>
          <p:nvPr/>
        </p:nvSpPr>
        <p:spPr>
          <a:xfrm>
            <a:off x="822960" y="4242960"/>
            <a:ext cx="10459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1B7A45"/>
                </a:solidFill>
                <a:effectLst/>
                <a:uFillTx/>
                <a:latin typeface="Aptos"/>
              </a:rPr>
              <a:t>Unknown rules / changing world</a:t>
            </a:r>
            <a:endParaRPr lang="en-US" sz="1550" b="0" u="none" strike="noStrike">
              <a:solidFill>
                <a:srgbClr val="000000"/>
              </a:solidFill>
              <a:effectLst/>
              <a:uFillTx/>
              <a:latin typeface="Arial"/>
            </a:endParaRPr>
          </a:p>
        </p:txBody>
      </p:sp>
      <p:sp>
        <p:nvSpPr>
          <p:cNvPr id="1223" name="Text 20"/>
          <p:cNvSpPr/>
          <p:nvPr/>
        </p:nvSpPr>
        <p:spPr>
          <a:xfrm>
            <a:off x="822960" y="4572000"/>
            <a:ext cx="1045980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Learning agent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Improve model, utility, rules, or policy from feedback.</a:t>
            </a:r>
            <a:endParaRPr lang="en-US" sz="125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24"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5"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226"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Class Activity: Build a PEAS Description</a:t>
            </a:r>
            <a:endParaRPr lang="en-US" sz="2300" b="0" u="none" strike="noStrike">
              <a:solidFill>
                <a:srgbClr val="000000"/>
              </a:solidFill>
              <a:effectLst/>
              <a:uFillTx/>
              <a:latin typeface="Arial"/>
            </a:endParaRPr>
          </a:p>
        </p:txBody>
      </p:sp>
      <p:sp>
        <p:nvSpPr>
          <p:cNvPr id="1227"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Activity</a:t>
            </a:r>
            <a:endParaRPr lang="en-US" sz="1200" b="0" u="none" strike="noStrike">
              <a:solidFill>
                <a:srgbClr val="000000"/>
              </a:solidFill>
              <a:effectLst/>
              <a:uFillTx/>
              <a:latin typeface="Arial"/>
            </a:endParaRPr>
          </a:p>
        </p:txBody>
      </p:sp>
      <p:sp>
        <p:nvSpPr>
          <p:cNvPr id="1228"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229"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46</a:t>
            </a:r>
            <a:endParaRPr lang="en-US" sz="1800" b="0" u="none" strike="noStrike">
              <a:solidFill>
                <a:srgbClr val="000000"/>
              </a:solidFill>
              <a:effectLst/>
              <a:uFillTx/>
              <a:latin typeface="Arial"/>
            </a:endParaRPr>
          </a:p>
        </p:txBody>
      </p:sp>
      <p:sp>
        <p:nvSpPr>
          <p:cNvPr id="1230" name="Text 6"/>
          <p:cNvSpPr/>
          <p:nvPr/>
        </p:nvSpPr>
        <p:spPr>
          <a:xfrm>
            <a:off x="777240" y="1069920"/>
            <a:ext cx="10697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Choose one system, then fill in PEAS before proposing an algorithm.</a:t>
            </a:r>
            <a:endParaRPr lang="en-US" sz="2000" b="0" u="none" strike="noStrike">
              <a:solidFill>
                <a:srgbClr val="000000"/>
              </a:solidFill>
              <a:effectLst/>
              <a:uFillTx/>
              <a:latin typeface="Arial"/>
            </a:endParaRPr>
          </a:p>
        </p:txBody>
      </p:sp>
      <p:sp>
        <p:nvSpPr>
          <p:cNvPr id="1231" name="Shape 7"/>
          <p:cNvSpPr/>
          <p:nvPr/>
        </p:nvSpPr>
        <p:spPr>
          <a:xfrm>
            <a:off x="914400" y="1691640"/>
            <a:ext cx="2239200" cy="383040"/>
          </a:xfrm>
          <a:prstGeom prst="roundRect">
            <a:avLst>
              <a:gd name="adj" fmla="val 23810"/>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2" name="Text 8"/>
          <p:cNvSpPr/>
          <p:nvPr/>
        </p:nvSpPr>
        <p:spPr>
          <a:xfrm>
            <a:off x="9144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Autonomous Pac-Man</a:t>
            </a:r>
            <a:endParaRPr lang="en-US" sz="1200" b="0" u="none" strike="noStrike">
              <a:solidFill>
                <a:srgbClr val="000000"/>
              </a:solidFill>
              <a:effectLst/>
              <a:uFillTx/>
              <a:latin typeface="Arial"/>
            </a:endParaRPr>
          </a:p>
        </p:txBody>
      </p:sp>
      <p:sp>
        <p:nvSpPr>
          <p:cNvPr id="1233" name="Shape 9"/>
          <p:cNvSpPr/>
          <p:nvPr/>
        </p:nvSpPr>
        <p:spPr>
          <a:xfrm>
            <a:off x="3657600" y="1691640"/>
            <a:ext cx="2239200" cy="383040"/>
          </a:xfrm>
          <a:prstGeom prst="roundRect">
            <a:avLst>
              <a:gd name="adj" fmla="val 23810"/>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4" name="Text 10"/>
          <p:cNvSpPr/>
          <p:nvPr/>
        </p:nvSpPr>
        <p:spPr>
          <a:xfrm>
            <a:off x="36576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Campus chatbot</a:t>
            </a:r>
            <a:endParaRPr lang="en-US" sz="1200" b="0" u="none" strike="noStrike">
              <a:solidFill>
                <a:srgbClr val="000000"/>
              </a:solidFill>
              <a:effectLst/>
              <a:uFillTx/>
              <a:latin typeface="Arial"/>
            </a:endParaRPr>
          </a:p>
        </p:txBody>
      </p:sp>
      <p:sp>
        <p:nvSpPr>
          <p:cNvPr id="1235" name="Shape 11"/>
          <p:cNvSpPr/>
          <p:nvPr/>
        </p:nvSpPr>
        <p:spPr>
          <a:xfrm>
            <a:off x="6400800" y="1691640"/>
            <a:ext cx="2239200" cy="383040"/>
          </a:xfrm>
          <a:prstGeom prst="roundRect">
            <a:avLst>
              <a:gd name="adj" fmla="val 2381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6" name="Text 12"/>
          <p:cNvSpPr/>
          <p:nvPr/>
        </p:nvSpPr>
        <p:spPr>
          <a:xfrm>
            <a:off x="64008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Email phishing triage agent</a:t>
            </a:r>
            <a:endParaRPr lang="en-US" sz="1200" b="0" u="none" strike="noStrike">
              <a:solidFill>
                <a:srgbClr val="000000"/>
              </a:solidFill>
              <a:effectLst/>
              <a:uFillTx/>
              <a:latin typeface="Arial"/>
            </a:endParaRPr>
          </a:p>
        </p:txBody>
      </p:sp>
      <p:sp>
        <p:nvSpPr>
          <p:cNvPr id="1237" name="Shape 13"/>
          <p:cNvSpPr/>
          <p:nvPr/>
        </p:nvSpPr>
        <p:spPr>
          <a:xfrm>
            <a:off x="9144000" y="1691640"/>
            <a:ext cx="2239200" cy="383040"/>
          </a:xfrm>
          <a:prstGeom prst="roundRect">
            <a:avLst>
              <a:gd name="adj" fmla="val 23810"/>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8" name="Text 14"/>
          <p:cNvSpPr/>
          <p:nvPr/>
        </p:nvSpPr>
        <p:spPr>
          <a:xfrm>
            <a:off x="91440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Robotic delivery cart</a:t>
            </a:r>
            <a:endParaRPr lang="en-US" sz="1200" b="0" u="none" strike="noStrike">
              <a:solidFill>
                <a:srgbClr val="000000"/>
              </a:solidFill>
              <a:effectLst/>
              <a:uFillTx/>
              <a:latin typeface="Arial"/>
            </a:endParaRPr>
          </a:p>
        </p:txBody>
      </p:sp>
      <p:sp>
        <p:nvSpPr>
          <p:cNvPr id="1239" name="Shape 15"/>
          <p:cNvSpPr/>
          <p:nvPr/>
        </p:nvSpPr>
        <p:spPr>
          <a:xfrm>
            <a:off x="914400" y="274320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0" name="Text 16"/>
          <p:cNvSpPr/>
          <p:nvPr/>
        </p:nvSpPr>
        <p:spPr>
          <a:xfrm>
            <a:off x="1078920" y="288936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1241" name="Text 17"/>
          <p:cNvSpPr/>
          <p:nvPr/>
        </p:nvSpPr>
        <p:spPr>
          <a:xfrm>
            <a:off x="1078920" y="321876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42" name="Shape 18"/>
          <p:cNvSpPr/>
          <p:nvPr/>
        </p:nvSpPr>
        <p:spPr>
          <a:xfrm>
            <a:off x="6263640" y="274320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3" name="Text 19"/>
          <p:cNvSpPr/>
          <p:nvPr/>
        </p:nvSpPr>
        <p:spPr>
          <a:xfrm>
            <a:off x="6428160" y="288936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1244" name="Text 20"/>
          <p:cNvSpPr/>
          <p:nvPr/>
        </p:nvSpPr>
        <p:spPr>
          <a:xfrm>
            <a:off x="6428160" y="321876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45" name="Shape 21"/>
          <p:cNvSpPr/>
          <p:nvPr/>
        </p:nvSpPr>
        <p:spPr>
          <a:xfrm>
            <a:off x="914400" y="397764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6" name="Text 22"/>
          <p:cNvSpPr/>
          <p:nvPr/>
        </p:nvSpPr>
        <p:spPr>
          <a:xfrm>
            <a:off x="1078920" y="412380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1247" name="Text 23"/>
          <p:cNvSpPr/>
          <p:nvPr/>
        </p:nvSpPr>
        <p:spPr>
          <a:xfrm>
            <a:off x="1078920" y="445320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48" name="Shape 24"/>
          <p:cNvSpPr/>
          <p:nvPr/>
        </p:nvSpPr>
        <p:spPr>
          <a:xfrm>
            <a:off x="6263640" y="397764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9" name="Text 25"/>
          <p:cNvSpPr/>
          <p:nvPr/>
        </p:nvSpPr>
        <p:spPr>
          <a:xfrm>
            <a:off x="6428160" y="412380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1250" name="Text 26"/>
          <p:cNvSpPr/>
          <p:nvPr/>
        </p:nvSpPr>
        <p:spPr>
          <a:xfrm>
            <a:off x="6428160" y="445320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51" name="Text 27"/>
          <p:cNvSpPr/>
          <p:nvPr/>
        </p:nvSpPr>
        <p:spPr>
          <a:xfrm>
            <a:off x="914400" y="5577840"/>
            <a:ext cx="1033164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0B2B5C"/>
                </a:solidFill>
                <a:effectLst/>
                <a:uFillTx/>
                <a:latin typeface="Aptos"/>
              </a:rPr>
              <a:t>Checkpoint: if you cannot fill in PEAS, you are not ready to choose an algorithm.</a:t>
            </a:r>
            <a:endParaRPr lang="en-US" sz="1650" b="0" u="none" strike="noStrike">
              <a:solidFill>
                <a:srgbClr val="000000"/>
              </a:solidFill>
              <a:effectLst/>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52"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53"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254"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Class Demo: Autonomous Pac-Man Agent</a:t>
            </a:r>
            <a:endParaRPr lang="en-US" sz="2300" b="0" u="none" strike="noStrike">
              <a:solidFill>
                <a:srgbClr val="000000"/>
              </a:solidFill>
              <a:effectLst/>
              <a:uFillTx/>
              <a:latin typeface="Arial"/>
            </a:endParaRPr>
          </a:p>
        </p:txBody>
      </p:sp>
      <p:sp>
        <p:nvSpPr>
          <p:cNvPr id="1255"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Demo</a:t>
            </a:r>
            <a:endParaRPr lang="en-US" sz="1200" b="0" u="none" strike="noStrike">
              <a:solidFill>
                <a:srgbClr val="000000"/>
              </a:solidFill>
              <a:effectLst/>
              <a:uFillTx/>
              <a:latin typeface="Arial"/>
            </a:endParaRPr>
          </a:p>
        </p:txBody>
      </p:sp>
      <p:sp>
        <p:nvSpPr>
          <p:cNvPr id="1256"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257"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47</a:t>
            </a:r>
            <a:endParaRPr lang="en-US" sz="1800" b="0" u="none" strike="noStrike">
              <a:solidFill>
                <a:srgbClr val="000000"/>
              </a:solidFill>
              <a:effectLst/>
              <a:uFillTx/>
              <a:latin typeface="Arial"/>
            </a:endParaRPr>
          </a:p>
        </p:txBody>
      </p:sp>
      <p:sp>
        <p:nvSpPr>
          <p:cNvPr id="1258" name="Text 6"/>
          <p:cNvSpPr/>
          <p:nvPr/>
        </p:nvSpPr>
        <p:spPr>
          <a:xfrm>
            <a:off x="73152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Use the game to make the Chapter 2 vocabulary concrete.</a:t>
            </a:r>
            <a:endParaRPr lang="en-US" sz="2000" b="0" u="none" strike="noStrike">
              <a:solidFill>
                <a:srgbClr val="000000"/>
              </a:solidFill>
              <a:effectLst/>
              <a:uFillTx/>
              <a:latin typeface="Arial"/>
            </a:endParaRPr>
          </a:p>
        </p:txBody>
      </p:sp>
      <p:sp>
        <p:nvSpPr>
          <p:cNvPr id="1259" name="Shape 7"/>
          <p:cNvSpPr/>
          <p:nvPr/>
        </p:nvSpPr>
        <p:spPr>
          <a:xfrm>
            <a:off x="1097280" y="1783080"/>
            <a:ext cx="9965880" cy="410400"/>
          </a:xfrm>
          <a:prstGeom prst="roundRect">
            <a:avLst>
              <a:gd name="adj" fmla="val 11111"/>
            </a:avLst>
          </a:prstGeom>
          <a:solidFill>
            <a:srgbClr val="EAF2FB"/>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0" name="Text 8"/>
          <p:cNvSpPr/>
          <p:nvPr/>
        </p:nvSpPr>
        <p:spPr>
          <a:xfrm>
            <a:off x="1325880" y="18835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What are the percepts?</a:t>
            </a:r>
            <a:endParaRPr lang="en-US" sz="1550" b="0" u="none" strike="noStrike">
              <a:solidFill>
                <a:srgbClr val="000000"/>
              </a:solidFill>
              <a:effectLst/>
              <a:uFillTx/>
              <a:latin typeface="Arial"/>
            </a:endParaRPr>
          </a:p>
        </p:txBody>
      </p:sp>
      <p:sp>
        <p:nvSpPr>
          <p:cNvPr id="1261" name="Shape 9"/>
          <p:cNvSpPr/>
          <p:nvPr/>
        </p:nvSpPr>
        <p:spPr>
          <a:xfrm>
            <a:off x="1097280" y="2468880"/>
            <a:ext cx="9965880" cy="410400"/>
          </a:xfrm>
          <a:prstGeom prst="roundRect">
            <a:avLst>
              <a:gd name="adj" fmla="val 11111"/>
            </a:avLst>
          </a:prstGeom>
          <a:solidFill>
            <a:srgbClr val="FFFFFF"/>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2" name="Text 10"/>
          <p:cNvSpPr/>
          <p:nvPr/>
        </p:nvSpPr>
        <p:spPr>
          <a:xfrm>
            <a:off x="1325880" y="25693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What actions can the agent return?</a:t>
            </a:r>
            <a:endParaRPr lang="en-US" sz="1550" b="0" u="none" strike="noStrike">
              <a:solidFill>
                <a:srgbClr val="000000"/>
              </a:solidFill>
              <a:effectLst/>
              <a:uFillTx/>
              <a:latin typeface="Arial"/>
            </a:endParaRPr>
          </a:p>
        </p:txBody>
      </p:sp>
      <p:sp>
        <p:nvSpPr>
          <p:cNvPr id="1263" name="Shape 11"/>
          <p:cNvSpPr/>
          <p:nvPr/>
        </p:nvSpPr>
        <p:spPr>
          <a:xfrm>
            <a:off x="1097280" y="3154680"/>
            <a:ext cx="9965880" cy="410400"/>
          </a:xfrm>
          <a:prstGeom prst="roundRect">
            <a:avLst>
              <a:gd name="adj" fmla="val 11111"/>
            </a:avLst>
          </a:prstGeom>
          <a:solidFill>
            <a:srgbClr val="EAF2FB"/>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4" name="Text 12"/>
          <p:cNvSpPr/>
          <p:nvPr/>
        </p:nvSpPr>
        <p:spPr>
          <a:xfrm>
            <a:off x="1325880" y="32551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What is the performance measure?</a:t>
            </a:r>
            <a:endParaRPr lang="en-US" sz="1550" b="0" u="none" strike="noStrike">
              <a:solidFill>
                <a:srgbClr val="000000"/>
              </a:solidFill>
              <a:effectLst/>
              <a:uFillTx/>
              <a:latin typeface="Arial"/>
            </a:endParaRPr>
          </a:p>
        </p:txBody>
      </p:sp>
      <p:sp>
        <p:nvSpPr>
          <p:cNvPr id="1265" name="Shape 13"/>
          <p:cNvSpPr/>
          <p:nvPr/>
        </p:nvSpPr>
        <p:spPr>
          <a:xfrm>
            <a:off x="1097280" y="3840480"/>
            <a:ext cx="9965880" cy="410400"/>
          </a:xfrm>
          <a:prstGeom prst="roundRect">
            <a:avLst>
              <a:gd name="adj" fmla="val 11111"/>
            </a:avLst>
          </a:prstGeom>
          <a:solidFill>
            <a:srgbClr val="FFFFFF"/>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6" name="Text 14"/>
          <p:cNvSpPr/>
          <p:nvPr/>
        </p:nvSpPr>
        <p:spPr>
          <a:xfrm>
            <a:off x="1325880" y="39409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Does it use memory or only current state?</a:t>
            </a:r>
            <a:endParaRPr lang="en-US" sz="1550" b="0" u="none" strike="noStrike">
              <a:solidFill>
                <a:srgbClr val="000000"/>
              </a:solidFill>
              <a:effectLst/>
              <a:uFillTx/>
              <a:latin typeface="Arial"/>
            </a:endParaRPr>
          </a:p>
        </p:txBody>
      </p:sp>
      <p:sp>
        <p:nvSpPr>
          <p:cNvPr id="1267" name="Shape 15"/>
          <p:cNvSpPr/>
          <p:nvPr/>
        </p:nvSpPr>
        <p:spPr>
          <a:xfrm>
            <a:off x="1097280" y="4526280"/>
            <a:ext cx="9965880" cy="410400"/>
          </a:xfrm>
          <a:prstGeom prst="roundRect">
            <a:avLst>
              <a:gd name="adj" fmla="val 11111"/>
            </a:avLst>
          </a:prstGeom>
          <a:solidFill>
            <a:srgbClr val="EAF2FB"/>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8" name="Text 16"/>
          <p:cNvSpPr/>
          <p:nvPr/>
        </p:nvSpPr>
        <p:spPr>
          <a:xfrm>
            <a:off x="1325880" y="46267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Is it reflex, model-based, goal-based, utility-based, or mixed?</a:t>
            </a:r>
            <a:endParaRPr lang="en-US" sz="1550" b="0" u="none" strike="noStrike">
              <a:solidFill>
                <a:srgbClr val="000000"/>
              </a:solidFill>
              <a:effectLst/>
              <a:uFillTx/>
              <a:latin typeface="Arial"/>
            </a:endParaRPr>
          </a:p>
        </p:txBody>
      </p:sp>
      <p:sp>
        <p:nvSpPr>
          <p:cNvPr id="1269" name="Text 17"/>
          <p:cNvSpPr/>
          <p:nvPr/>
        </p:nvSpPr>
        <p:spPr>
          <a:xfrm>
            <a:off x="822960" y="5596200"/>
            <a:ext cx="1060596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Next: search algorithms are one way to make goal-based agents act rationally.</a:t>
            </a:r>
            <a:endParaRPr lang="en-US" sz="1800" b="0" u="none" strike="noStrike">
              <a:solidFill>
                <a:srgbClr val="000000"/>
              </a:solidFill>
              <a:effectLst/>
              <a:uFillTx/>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 name="Rectangle 2"/>
          <p:cNvSpPr/>
          <p:nvPr/>
        </p:nvSpPr>
        <p:spPr>
          <a:xfrm>
            <a:off x="-540" y="-9180"/>
            <a:ext cx="12191400" cy="804240"/>
          </a:xfrm>
          <a:prstGeom prst="rect">
            <a:avLst/>
          </a:prstGeom>
          <a:solidFill>
            <a:srgbClr val="1232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72" name="Rectangle 3"/>
          <p:cNvSpPr/>
          <p:nvPr/>
        </p:nvSpPr>
        <p:spPr>
          <a:xfrm>
            <a:off x="0" y="804600"/>
            <a:ext cx="12191400" cy="72720"/>
          </a:xfrm>
          <a:prstGeom prst="rect">
            <a:avLst/>
          </a:prstGeom>
          <a:solidFill>
            <a:srgbClr val="F4A016"/>
          </a:solidFill>
          <a:ln>
            <a:noFill/>
          </a:ln>
        </p:spPr>
        <p:style>
          <a:lnRef idx="1">
            <a:schemeClr val="accent1"/>
          </a:lnRef>
          <a:fillRef idx="3">
            <a:schemeClr val="accent1"/>
          </a:fillRef>
          <a:effectRef idx="2">
            <a:schemeClr val="accent1"/>
          </a:effectRef>
          <a:fontRef idx="minor"/>
        </p:style>
        <p:txBody>
          <a:bodyPr lIns="90000" tIns="28080" rIns="90000" bIns="28080" anchor="ctr">
            <a:noAutofit/>
          </a:bodyPr>
          <a:lstStyle/>
          <a:p>
            <a:endParaRPr lang="en-US" sz="1800" b="0" u="none" strike="noStrike">
              <a:solidFill>
                <a:schemeClr val="lt1"/>
              </a:solidFill>
              <a:effectLst/>
              <a:uFillTx/>
              <a:latin typeface="Aptos"/>
            </a:endParaRPr>
          </a:p>
        </p:txBody>
      </p:sp>
      <p:sp>
        <p:nvSpPr>
          <p:cNvPr id="1273" name="TextBox 4"/>
          <p:cNvSpPr/>
          <p:nvPr/>
        </p:nvSpPr>
        <p:spPr>
          <a:xfrm>
            <a:off x="475560" y="179280"/>
            <a:ext cx="7309440" cy="455040"/>
          </a:xfrm>
          <a:prstGeom prst="rect">
            <a:avLst/>
          </a:prstGeom>
          <a:noFill/>
          <a:ln w="0">
            <a:noFill/>
          </a:ln>
        </p:spPr>
        <p:style>
          <a:lnRef idx="0">
            <a:scrgbClr r="0" g="0" b="0"/>
          </a:lnRef>
          <a:fillRef idx="0">
            <a:scrgbClr r="0" g="0" b="0"/>
          </a:fillRef>
          <a:effectRef idx="0">
            <a:scrgbClr r="0" g="0" b="0"/>
          </a:effectRef>
          <a:fontRef idx="minor"/>
        </p:style>
        <p:txBody>
          <a:bodyPr wrap="none" lIns="0" tIns="45000" rIns="0" bIns="45000" anchor="ctr">
            <a:spAutoFit/>
          </a:bodyPr>
          <a:lstStyle/>
          <a:p>
            <a:pPr defTabSz="914400">
              <a:lnSpc>
                <a:spcPct val="100000"/>
              </a:lnSpc>
            </a:pPr>
            <a:r>
              <a:rPr lang="en-US" sz="2400" b="1" u="none" strike="noStrike" dirty="0">
                <a:solidFill>
                  <a:srgbClr val="FFFFFF"/>
                </a:solidFill>
                <a:effectLst/>
                <a:uFillTx/>
                <a:latin typeface="Aptos Display"/>
              </a:rPr>
              <a:t>Live Code Demo: Five Chapter 2 Agent Programs</a:t>
            </a:r>
            <a:endParaRPr lang="en-US" sz="2400" b="0" u="none" strike="noStrike" dirty="0">
              <a:solidFill>
                <a:srgbClr val="000000"/>
              </a:solidFill>
              <a:effectLst/>
              <a:uFillTx/>
              <a:latin typeface="Arial"/>
            </a:endParaRPr>
          </a:p>
        </p:txBody>
      </p:sp>
      <p:sp>
        <p:nvSpPr>
          <p:cNvPr id="1274" name="Rounded Rectangle 5"/>
          <p:cNvSpPr/>
          <p:nvPr/>
        </p:nvSpPr>
        <p:spPr>
          <a:xfrm>
            <a:off x="10149840" y="255960"/>
            <a:ext cx="1554120" cy="273960"/>
          </a:xfrm>
          <a:prstGeom prst="roundRect">
            <a:avLst>
              <a:gd name="adj" fmla="val 16667"/>
            </a:avLst>
          </a:prstGeom>
          <a:solidFill>
            <a:srgbClr val="E9F0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rgbClr val="12325B"/>
                </a:solidFill>
                <a:effectLst/>
                <a:uFillTx/>
                <a:latin typeface="Aptos"/>
              </a:rPr>
              <a:t>Demo code</a:t>
            </a:r>
            <a:endParaRPr lang="en-US" sz="1100" b="0" u="none" strike="noStrike">
              <a:solidFill>
                <a:srgbClr val="000000"/>
              </a:solidFill>
              <a:effectLst/>
              <a:uFillTx/>
              <a:latin typeface="Arial"/>
            </a:endParaRPr>
          </a:p>
        </p:txBody>
      </p:sp>
      <p:sp>
        <p:nvSpPr>
          <p:cNvPr id="1275" name="TextBox 6"/>
          <p:cNvSpPr/>
          <p:nvPr/>
        </p:nvSpPr>
        <p:spPr>
          <a:xfrm>
            <a:off x="475560" y="6565320"/>
            <a:ext cx="1228680" cy="211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800" b="0" u="none" strike="noStrike">
                <a:solidFill>
                  <a:srgbClr val="5C6A7D"/>
                </a:solidFill>
                <a:effectLst/>
                <a:uFillTx/>
                <a:latin typeface="Aptos"/>
              </a:rPr>
              <a:t>COMP 469 · Chapter 2</a:t>
            </a:r>
            <a:endParaRPr lang="en-US" sz="800" b="0" u="none" strike="noStrike">
              <a:solidFill>
                <a:srgbClr val="000000"/>
              </a:solidFill>
              <a:effectLst/>
              <a:uFillTx/>
              <a:latin typeface="Arial"/>
            </a:endParaRPr>
          </a:p>
        </p:txBody>
      </p:sp>
      <p:sp>
        <p:nvSpPr>
          <p:cNvPr id="1276" name="TextBox 7"/>
          <p:cNvSpPr/>
          <p:nvPr/>
        </p:nvSpPr>
        <p:spPr>
          <a:xfrm>
            <a:off x="11201400" y="6565320"/>
            <a:ext cx="4420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0" u="none" strike="noStrike">
                <a:solidFill>
                  <a:schemeClr val="dk1"/>
                </a:solidFill>
                <a:effectLst/>
                <a:uFillTx/>
                <a:latin typeface="Aptos"/>
              </a:rPr>
              <a:t>48</a:t>
            </a:r>
            <a:endParaRPr lang="en-US" sz="1800" b="0" u="none" strike="noStrike">
              <a:solidFill>
                <a:srgbClr val="000000"/>
              </a:solidFill>
              <a:effectLst/>
              <a:uFillTx/>
              <a:latin typeface="Arial"/>
            </a:endParaRPr>
          </a:p>
        </p:txBody>
      </p:sp>
      <p:sp>
        <p:nvSpPr>
          <p:cNvPr id="1277" name="TextBox 8"/>
          <p:cNvSpPr/>
          <p:nvPr/>
        </p:nvSpPr>
        <p:spPr>
          <a:xfrm>
            <a:off x="685800" y="1078920"/>
            <a:ext cx="103759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1" u="none" strike="noStrike">
                <a:solidFill>
                  <a:srgbClr val="11243A"/>
                </a:solidFill>
                <a:effectLst/>
                <a:uFillTx/>
                <a:latin typeface="Aptos"/>
              </a:rPr>
              <a:t>The graphics and environment stay fixed; only the agent program changes.</a:t>
            </a:r>
            <a:endParaRPr lang="en-US" sz="1800" b="0" u="none" strike="noStrike">
              <a:solidFill>
                <a:srgbClr val="000000"/>
              </a:solidFill>
              <a:effectLst/>
              <a:uFillTx/>
              <a:latin typeface="Arial"/>
            </a:endParaRPr>
          </a:p>
        </p:txBody>
      </p:sp>
      <p:sp>
        <p:nvSpPr>
          <p:cNvPr id="1278" name="Rounded Rectangle 9"/>
          <p:cNvSpPr/>
          <p:nvPr/>
        </p:nvSpPr>
        <p:spPr>
          <a:xfrm>
            <a:off x="685800" y="1572840"/>
            <a:ext cx="10835280" cy="658080"/>
          </a:xfrm>
          <a:prstGeom prst="roundRect">
            <a:avLst>
              <a:gd name="adj" fmla="val 16667"/>
            </a:avLst>
          </a:prstGeom>
          <a:solidFill>
            <a:srgbClr val="E8F2FA"/>
          </a:solidFill>
          <a:ln>
            <a:solidFill>
              <a:srgbClr val="B8CCDD"/>
            </a:solidFill>
          </a:ln>
        </p:spPr>
        <p:style>
          <a:lnRef idx="1">
            <a:schemeClr val="accent1"/>
          </a:lnRef>
          <a:fillRef idx="3">
            <a:schemeClr val="accent1"/>
          </a:fillRef>
          <a:effectRef idx="2">
            <a:schemeClr val="accent1"/>
          </a:effectRef>
          <a:fontRef idx="minor"/>
        </p:style>
        <p:txBody>
          <a:bodyPr lIns="146160" tIns="45000" rIns="109800" bIns="45000" anchor="ctr">
            <a:noAutofit/>
          </a:bodyPr>
          <a:lstStyle/>
          <a:p>
            <a:pPr algn="ctr" defTabSz="914400">
              <a:lnSpc>
                <a:spcPct val="100000"/>
              </a:lnSpc>
            </a:pPr>
            <a:r>
              <a:rPr lang="en-US" sz="1300" b="1" u="none" strike="noStrike">
                <a:solidFill>
                  <a:srgbClr val="12325B"/>
                </a:solidFill>
                <a:effectLst/>
                <a:uFillTx/>
                <a:latin typeface="Aptos"/>
              </a:rPr>
              <a:t>Shared environment / architecture: </a:t>
            </a:r>
            <a:r>
              <a:rPr lang="en-US" sz="1300" b="1" u="none" strike="noStrike">
                <a:solidFill>
                  <a:srgbClr val="058A94"/>
                </a:solidFill>
                <a:effectLst/>
                <a:uFillTx/>
                <a:latin typeface="Consolas"/>
              </a:rPr>
              <a:t>pacman_chapter2_engine.py</a:t>
            </a:r>
            <a:r>
              <a:rPr lang="en-US" sz="1300" b="0" u="none" strike="noStrike">
                <a:solidFill>
                  <a:srgbClr val="11243A"/>
                </a:solidFill>
                <a:effectLst/>
                <a:uFillTx/>
                <a:latin typeface="Aptos"/>
              </a:rPr>
              <a:t>  — sensors, actuators, maze, ghosts, scoring, graphics, and performance feedback</a:t>
            </a:r>
            <a:endParaRPr lang="en-US" sz="1300" b="0" u="none" strike="noStrike">
              <a:solidFill>
                <a:srgbClr val="000000"/>
              </a:solidFill>
              <a:effectLst/>
              <a:uFillTx/>
              <a:latin typeface="Arial"/>
            </a:endParaRPr>
          </a:p>
        </p:txBody>
      </p:sp>
      <p:sp>
        <p:nvSpPr>
          <p:cNvPr id="1279" name="Rounded Rectangle 10"/>
          <p:cNvSpPr/>
          <p:nvPr/>
        </p:nvSpPr>
        <p:spPr>
          <a:xfrm>
            <a:off x="749880" y="2487240"/>
            <a:ext cx="513864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0" name="Rectangle 11"/>
          <p:cNvSpPr/>
          <p:nvPr/>
        </p:nvSpPr>
        <p:spPr>
          <a:xfrm>
            <a:off x="749880" y="2487240"/>
            <a:ext cx="109440" cy="639720"/>
          </a:xfrm>
          <a:prstGeom prst="rect">
            <a:avLst/>
          </a:prstGeom>
          <a:solidFill>
            <a:srgbClr val="2D79C7"/>
          </a:solidFill>
          <a:ln>
            <a:solidFill>
              <a:srgbClr val="2D79C7"/>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1" name="TextBox 12"/>
          <p:cNvSpPr/>
          <p:nvPr/>
        </p:nvSpPr>
        <p:spPr>
          <a:xfrm>
            <a:off x="951120" y="2560320"/>
            <a:ext cx="362628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2D79C7"/>
                </a:solidFill>
                <a:effectLst/>
                <a:uFillTx/>
                <a:latin typeface="Aptos"/>
              </a:rPr>
              <a:t>Simple Reflex</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01_simple_reflex_agent_ch2.py</a:t>
            </a:r>
            <a:endParaRPr lang="en-US" sz="1050" b="0" u="none" strike="noStrike">
              <a:solidFill>
                <a:srgbClr val="000000"/>
              </a:solidFill>
              <a:effectLst/>
              <a:uFillTx/>
              <a:latin typeface="Arial"/>
            </a:endParaRPr>
          </a:p>
        </p:txBody>
      </p:sp>
      <p:sp>
        <p:nvSpPr>
          <p:cNvPr id="1282" name="TextBox 13"/>
          <p:cNvSpPr/>
          <p:nvPr/>
        </p:nvSpPr>
        <p:spPr>
          <a:xfrm>
            <a:off x="951120" y="2825640"/>
            <a:ext cx="257760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current percept + ordered if-then rules</a:t>
            </a:r>
            <a:endParaRPr lang="en-US" sz="1050" b="0" u="none" strike="noStrike">
              <a:solidFill>
                <a:srgbClr val="000000"/>
              </a:solidFill>
              <a:effectLst/>
              <a:uFillTx/>
              <a:latin typeface="Arial"/>
            </a:endParaRPr>
          </a:p>
        </p:txBody>
      </p:sp>
      <p:sp>
        <p:nvSpPr>
          <p:cNvPr id="1283" name="Rounded Rectangle 14"/>
          <p:cNvSpPr/>
          <p:nvPr/>
        </p:nvSpPr>
        <p:spPr>
          <a:xfrm>
            <a:off x="6144840" y="2487240"/>
            <a:ext cx="534888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4" name="Rectangle 15"/>
          <p:cNvSpPr/>
          <p:nvPr/>
        </p:nvSpPr>
        <p:spPr>
          <a:xfrm>
            <a:off x="6144840" y="2487240"/>
            <a:ext cx="109440" cy="639720"/>
          </a:xfrm>
          <a:prstGeom prst="rect">
            <a:avLst/>
          </a:prstGeom>
          <a:solidFill>
            <a:srgbClr val="0B8E88"/>
          </a:solidFill>
          <a:ln>
            <a:solidFill>
              <a:srgbClr val="0B8E8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5" name="TextBox 16"/>
          <p:cNvSpPr/>
          <p:nvPr/>
        </p:nvSpPr>
        <p:spPr>
          <a:xfrm>
            <a:off x="6346080" y="2560320"/>
            <a:ext cx="450792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0B8E88"/>
                </a:solidFill>
                <a:effectLst/>
                <a:uFillTx/>
                <a:latin typeface="Aptos"/>
              </a:rPr>
              <a:t>Model-Based Reflex</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02_model_based_reflex_agent_ch2.py</a:t>
            </a:r>
            <a:endParaRPr lang="en-US" sz="1050" b="0" u="none" strike="noStrike">
              <a:solidFill>
                <a:srgbClr val="000000"/>
              </a:solidFill>
              <a:effectLst/>
              <a:uFillTx/>
              <a:latin typeface="Arial"/>
            </a:endParaRPr>
          </a:p>
        </p:txBody>
      </p:sp>
      <p:sp>
        <p:nvSpPr>
          <p:cNvPr id="1286" name="TextBox 17"/>
          <p:cNvSpPr/>
          <p:nvPr/>
        </p:nvSpPr>
        <p:spPr>
          <a:xfrm>
            <a:off x="6346080" y="2825640"/>
            <a:ext cx="322128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internal state + transition_model + sensor_model</a:t>
            </a:r>
            <a:endParaRPr lang="en-US" sz="1050" b="0" u="none" strike="noStrike">
              <a:solidFill>
                <a:srgbClr val="000000"/>
              </a:solidFill>
              <a:effectLst/>
              <a:uFillTx/>
              <a:latin typeface="Arial"/>
            </a:endParaRPr>
          </a:p>
        </p:txBody>
      </p:sp>
      <p:sp>
        <p:nvSpPr>
          <p:cNvPr id="1287" name="Rounded Rectangle 18"/>
          <p:cNvSpPr/>
          <p:nvPr/>
        </p:nvSpPr>
        <p:spPr>
          <a:xfrm>
            <a:off x="749880" y="3328560"/>
            <a:ext cx="513864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8" name="Rectangle 19"/>
          <p:cNvSpPr/>
          <p:nvPr/>
        </p:nvSpPr>
        <p:spPr>
          <a:xfrm>
            <a:off x="749880" y="3328560"/>
            <a:ext cx="109440" cy="639720"/>
          </a:xfrm>
          <a:prstGeom prst="rect">
            <a:avLst/>
          </a:prstGeom>
          <a:solidFill>
            <a:srgbClr val="6B42C5"/>
          </a:solidFill>
          <a:ln>
            <a:solidFill>
              <a:srgbClr val="6B42C5"/>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9" name="TextBox 20"/>
          <p:cNvSpPr/>
          <p:nvPr/>
        </p:nvSpPr>
        <p:spPr>
          <a:xfrm>
            <a:off x="951120" y="3401640"/>
            <a:ext cx="320508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6B42C5"/>
                </a:solidFill>
                <a:effectLst/>
                <a:uFillTx/>
                <a:latin typeface="Aptos"/>
              </a:rPr>
              <a:t>Goal-Based</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03_goal_based_agent_ch2.py</a:t>
            </a:r>
            <a:endParaRPr lang="en-US" sz="1050" b="0" u="none" strike="noStrike">
              <a:solidFill>
                <a:srgbClr val="000000"/>
              </a:solidFill>
              <a:effectLst/>
              <a:uFillTx/>
              <a:latin typeface="Arial"/>
            </a:endParaRPr>
          </a:p>
        </p:txBody>
      </p:sp>
      <p:sp>
        <p:nvSpPr>
          <p:cNvPr id="1290" name="TextBox 21"/>
          <p:cNvSpPr/>
          <p:nvPr/>
        </p:nvSpPr>
        <p:spPr>
          <a:xfrm>
            <a:off x="951120" y="3666600"/>
            <a:ext cx="327204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formulate_goal + make_plan + execute first action</a:t>
            </a:r>
            <a:endParaRPr lang="en-US" sz="1050" b="0" u="none" strike="noStrike">
              <a:solidFill>
                <a:srgbClr val="000000"/>
              </a:solidFill>
              <a:effectLst/>
              <a:uFillTx/>
              <a:latin typeface="Arial"/>
            </a:endParaRPr>
          </a:p>
        </p:txBody>
      </p:sp>
      <p:sp>
        <p:nvSpPr>
          <p:cNvPr id="1291" name="Rounded Rectangle 22"/>
          <p:cNvSpPr/>
          <p:nvPr/>
        </p:nvSpPr>
        <p:spPr>
          <a:xfrm>
            <a:off x="6144840" y="3328560"/>
            <a:ext cx="534888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2" name="Rectangle 23"/>
          <p:cNvSpPr/>
          <p:nvPr/>
        </p:nvSpPr>
        <p:spPr>
          <a:xfrm>
            <a:off x="6144840" y="3328560"/>
            <a:ext cx="109440" cy="639720"/>
          </a:xfrm>
          <a:prstGeom prst="rect">
            <a:avLst/>
          </a:prstGeom>
          <a:solidFill>
            <a:srgbClr val="B36100"/>
          </a:solidFill>
          <a:ln>
            <a:solidFill>
              <a:srgbClr val="B36100"/>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3" name="TextBox 24"/>
          <p:cNvSpPr/>
          <p:nvPr/>
        </p:nvSpPr>
        <p:spPr>
          <a:xfrm>
            <a:off x="6346080" y="3401640"/>
            <a:ext cx="358020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B36100"/>
                </a:solidFill>
                <a:effectLst/>
                <a:uFillTx/>
                <a:latin typeface="Aptos"/>
              </a:rPr>
              <a:t>Utility-Based</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04_utility_based_agent_ch2.py</a:t>
            </a:r>
            <a:endParaRPr lang="en-US" sz="1050" b="0" u="none" strike="noStrike">
              <a:solidFill>
                <a:srgbClr val="000000"/>
              </a:solidFill>
              <a:effectLst/>
              <a:uFillTx/>
              <a:latin typeface="Arial"/>
            </a:endParaRPr>
          </a:p>
        </p:txBody>
      </p:sp>
      <p:sp>
        <p:nvSpPr>
          <p:cNvPr id="1294" name="TextBox 25"/>
          <p:cNvSpPr/>
          <p:nvPr/>
        </p:nvSpPr>
        <p:spPr>
          <a:xfrm>
            <a:off x="6346080" y="3666600"/>
            <a:ext cx="254232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expected_utility over each legal action</a:t>
            </a:r>
            <a:endParaRPr lang="en-US" sz="1050" b="0" u="none" strike="noStrike">
              <a:solidFill>
                <a:srgbClr val="000000"/>
              </a:solidFill>
              <a:effectLst/>
              <a:uFillTx/>
              <a:latin typeface="Arial"/>
            </a:endParaRPr>
          </a:p>
        </p:txBody>
      </p:sp>
      <p:sp>
        <p:nvSpPr>
          <p:cNvPr id="1295" name="Rounded Rectangle 26"/>
          <p:cNvSpPr/>
          <p:nvPr/>
        </p:nvSpPr>
        <p:spPr>
          <a:xfrm>
            <a:off x="749880" y="4169520"/>
            <a:ext cx="513864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6" name="Rectangle 27"/>
          <p:cNvSpPr/>
          <p:nvPr/>
        </p:nvSpPr>
        <p:spPr>
          <a:xfrm>
            <a:off x="749880" y="4169520"/>
            <a:ext cx="109440" cy="639720"/>
          </a:xfrm>
          <a:prstGeom prst="rect">
            <a:avLst/>
          </a:prstGeom>
          <a:solidFill>
            <a:srgbClr val="1F7A3D"/>
          </a:solidFill>
          <a:ln>
            <a:solidFill>
              <a:srgbClr val="1F7A3D"/>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7" name="TextBox 28"/>
          <p:cNvSpPr/>
          <p:nvPr/>
        </p:nvSpPr>
        <p:spPr>
          <a:xfrm>
            <a:off x="951120" y="4242960"/>
            <a:ext cx="287028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1F7A3D"/>
                </a:solidFill>
                <a:effectLst/>
                <a:uFillTx/>
                <a:latin typeface="Aptos"/>
              </a:rPr>
              <a:t>Learning</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05_learning_agent_ch2.py</a:t>
            </a:r>
            <a:endParaRPr lang="en-US" sz="1050" b="0" u="none" strike="noStrike">
              <a:solidFill>
                <a:srgbClr val="000000"/>
              </a:solidFill>
              <a:effectLst/>
              <a:uFillTx/>
              <a:latin typeface="Arial"/>
            </a:endParaRPr>
          </a:p>
        </p:txBody>
      </p:sp>
      <p:sp>
        <p:nvSpPr>
          <p:cNvPr id="1298" name="TextBox 29"/>
          <p:cNvSpPr/>
          <p:nvPr/>
        </p:nvSpPr>
        <p:spPr>
          <a:xfrm>
            <a:off x="951120" y="4507920"/>
            <a:ext cx="397368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performance element + critic + learning + problem generator</a:t>
            </a:r>
            <a:endParaRPr lang="en-US" sz="1050" b="0" u="none" strike="noStrike">
              <a:solidFill>
                <a:srgbClr val="000000"/>
              </a:solidFill>
              <a:effectLst/>
              <a:uFillTx/>
              <a:latin typeface="Arial"/>
            </a:endParaRPr>
          </a:p>
        </p:txBody>
      </p:sp>
      <p:sp>
        <p:nvSpPr>
          <p:cNvPr id="1299" name="Rounded Rectangle 30"/>
          <p:cNvSpPr/>
          <p:nvPr/>
        </p:nvSpPr>
        <p:spPr>
          <a:xfrm>
            <a:off x="685800" y="5212080"/>
            <a:ext cx="5348880" cy="712800"/>
          </a:xfrm>
          <a:prstGeom prst="roundRect">
            <a:avLst>
              <a:gd name="adj" fmla="val 16667"/>
            </a:avLst>
          </a:prstGeom>
          <a:solidFill>
            <a:srgbClr val="FFF4DE"/>
          </a:solidFill>
          <a:ln>
            <a:solidFill>
              <a:srgbClr val="F0C666"/>
            </a:solidFill>
          </a:ln>
        </p:spPr>
        <p:style>
          <a:lnRef idx="1">
            <a:schemeClr val="accent1"/>
          </a:lnRef>
          <a:fillRef idx="3">
            <a:schemeClr val="accent1"/>
          </a:fillRef>
          <a:effectRef idx="2">
            <a:schemeClr val="accent1"/>
          </a:effectRef>
          <a:fontRef idx="minor"/>
        </p:style>
        <p:txBody>
          <a:bodyPr lIns="146160" tIns="45000" rIns="90000" bIns="45000" anchor="ctr">
            <a:noAutofit/>
          </a:bodyPr>
          <a:lstStyle/>
          <a:p>
            <a:pPr algn="ctr" defTabSz="914400">
              <a:lnSpc>
                <a:spcPct val="100000"/>
              </a:lnSpc>
            </a:pPr>
            <a:r>
              <a:rPr lang="en-US" sz="1250" b="1" u="none" strike="noStrike">
                <a:solidFill>
                  <a:srgbClr val="12325B"/>
                </a:solidFill>
                <a:effectLst/>
                <a:uFillTx/>
                <a:latin typeface="Aptos"/>
              </a:rPr>
              <a:t>Run order: </a:t>
            </a:r>
            <a:r>
              <a:rPr lang="en-US" sz="1250" b="0" u="none" strike="noStrike">
                <a:solidFill>
                  <a:srgbClr val="11243A"/>
                </a:solidFill>
                <a:effectLst/>
                <a:uFillTx/>
                <a:latin typeface="Aptos"/>
              </a:rPr>
              <a:t>1 → 2 → 3 → 4 → 5. After each one, ask what changed in the decision process.</a:t>
            </a:r>
            <a:endParaRPr lang="en-US" sz="1250" b="0" u="none" strike="noStrike">
              <a:solidFill>
                <a:srgbClr val="000000"/>
              </a:solidFill>
              <a:effectLst/>
              <a:uFillTx/>
              <a:latin typeface="Arial"/>
            </a:endParaRPr>
          </a:p>
        </p:txBody>
      </p:sp>
      <p:sp>
        <p:nvSpPr>
          <p:cNvPr id="1300" name="Rounded Rectangle 31"/>
          <p:cNvSpPr/>
          <p:nvPr/>
        </p:nvSpPr>
        <p:spPr>
          <a:xfrm>
            <a:off x="6263640" y="5212080"/>
            <a:ext cx="5257440" cy="712800"/>
          </a:xfrm>
          <a:prstGeom prst="roundRect">
            <a:avLst>
              <a:gd name="adj" fmla="val 16667"/>
            </a:avLst>
          </a:prstGeom>
          <a:solidFill>
            <a:srgbClr val="EAF7EC"/>
          </a:solidFill>
          <a:ln>
            <a:solidFill>
              <a:srgbClr val="B6D8BE"/>
            </a:solidFill>
          </a:ln>
        </p:spPr>
        <p:style>
          <a:lnRef idx="1">
            <a:schemeClr val="accent1"/>
          </a:lnRef>
          <a:fillRef idx="3">
            <a:schemeClr val="accent1"/>
          </a:fillRef>
          <a:effectRef idx="2">
            <a:schemeClr val="accent1"/>
          </a:effectRef>
          <a:fontRef idx="minor"/>
        </p:style>
        <p:txBody>
          <a:bodyPr lIns="146160" tIns="45000" rIns="90000" bIns="45000" anchor="ctr">
            <a:noAutofit/>
          </a:bodyPr>
          <a:lstStyle/>
          <a:p>
            <a:pPr algn="ctr" defTabSz="914400">
              <a:lnSpc>
                <a:spcPct val="100000"/>
              </a:lnSpc>
            </a:pPr>
            <a:r>
              <a:rPr lang="en-US" sz="1250" b="1" u="none" strike="noStrike">
                <a:solidFill>
                  <a:srgbClr val="12325B"/>
                </a:solidFill>
                <a:effectLst/>
                <a:uFillTx/>
                <a:latin typeface="Aptos"/>
              </a:rPr>
              <a:t>Code focus: </a:t>
            </a:r>
            <a:r>
              <a:rPr lang="en-US" sz="1250" b="0" u="none" strike="noStrike">
                <a:solidFill>
                  <a:srgbClr val="11243A"/>
                </a:solidFill>
                <a:effectLst/>
                <a:uFillTx/>
                <a:latin typeface="Aptos"/>
              </a:rPr>
              <a:t>the section marked CHAPTER 2 AGENT PROGRAM STARTS HERE.</a:t>
            </a:r>
            <a:endParaRPr lang="en-US" sz="1250" b="0" u="none" strike="noStrike">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30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30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How the Planning Video Fits This Chapter</a:t>
            </a:r>
            <a:endParaRPr lang="en-US" sz="2300" b="0" u="none" strike="noStrike">
              <a:solidFill>
                <a:srgbClr val="000000"/>
              </a:solidFill>
              <a:effectLst/>
              <a:uFillTx/>
              <a:latin typeface="Arial"/>
            </a:endParaRPr>
          </a:p>
        </p:txBody>
      </p:sp>
      <p:sp>
        <p:nvSpPr>
          <p:cNvPr id="130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Video</a:t>
            </a:r>
            <a:endParaRPr lang="en-US" sz="1200" b="0" u="none" strike="noStrike">
              <a:solidFill>
                <a:srgbClr val="000000"/>
              </a:solidFill>
              <a:effectLst/>
              <a:uFillTx/>
              <a:latin typeface="Arial"/>
            </a:endParaRPr>
          </a:p>
        </p:txBody>
      </p:sp>
      <p:sp>
        <p:nvSpPr>
          <p:cNvPr id="130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30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49</a:t>
            </a:r>
            <a:endParaRPr lang="en-US" sz="1800" b="0" u="none" strike="noStrike">
              <a:solidFill>
                <a:srgbClr val="000000"/>
              </a:solidFill>
              <a:effectLst/>
              <a:uFillTx/>
              <a:latin typeface="Arial"/>
            </a:endParaRPr>
          </a:p>
        </p:txBody>
      </p:sp>
      <p:sp>
        <p:nvSpPr>
          <p:cNvPr id="1307" name="Shape 6"/>
          <p:cNvSpPr/>
          <p:nvPr/>
        </p:nvSpPr>
        <p:spPr>
          <a:xfrm>
            <a:off x="868680" y="1325880"/>
            <a:ext cx="4936680" cy="1324800"/>
          </a:xfrm>
          <a:prstGeom prst="roundRect">
            <a:avLst>
              <a:gd name="adj" fmla="val 4138"/>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8" name="Text 7"/>
          <p:cNvSpPr/>
          <p:nvPr/>
        </p:nvSpPr>
        <p:spPr>
          <a:xfrm>
            <a:off x="1033200" y="1472040"/>
            <a:ext cx="46076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Watch now for Chapter 2</a:t>
            </a:r>
            <a:endParaRPr lang="en-US" sz="1800" b="0" u="none" strike="noStrike">
              <a:solidFill>
                <a:srgbClr val="000000"/>
              </a:solidFill>
              <a:effectLst/>
              <a:uFillTx/>
              <a:latin typeface="Arial"/>
            </a:endParaRPr>
          </a:p>
        </p:txBody>
      </p:sp>
      <p:sp>
        <p:nvSpPr>
          <p:cNvPr id="1309" name="Text 8"/>
          <p:cNvSpPr/>
          <p:nvPr/>
        </p:nvSpPr>
        <p:spPr>
          <a:xfrm>
            <a:off x="1033200" y="1801440"/>
            <a:ext cx="4607640" cy="730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1:19-10:05: agents that plan, reflex agents, Pac-Man examples, planning versus replanning.</a:t>
            </a:r>
            <a:endParaRPr lang="en-US" sz="1350" b="0" u="none" strike="noStrike">
              <a:solidFill>
                <a:srgbClr val="000000"/>
              </a:solidFill>
              <a:effectLst/>
              <a:uFillTx/>
              <a:latin typeface="Arial"/>
            </a:endParaRPr>
          </a:p>
        </p:txBody>
      </p:sp>
      <p:sp>
        <p:nvSpPr>
          <p:cNvPr id="1310" name="Shape 9"/>
          <p:cNvSpPr/>
          <p:nvPr/>
        </p:nvSpPr>
        <p:spPr>
          <a:xfrm>
            <a:off x="6355080" y="1325880"/>
            <a:ext cx="4936680" cy="1324800"/>
          </a:xfrm>
          <a:prstGeom prst="roundRect">
            <a:avLst>
              <a:gd name="adj" fmla="val 4138"/>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1" name="Text 10"/>
          <p:cNvSpPr/>
          <p:nvPr/>
        </p:nvSpPr>
        <p:spPr>
          <a:xfrm>
            <a:off x="6519600" y="1472040"/>
            <a:ext cx="46076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Comes back in Chapter 3</a:t>
            </a:r>
            <a:endParaRPr lang="en-US" sz="1800" b="0" u="none" strike="noStrike">
              <a:solidFill>
                <a:srgbClr val="000000"/>
              </a:solidFill>
              <a:effectLst/>
              <a:uFillTx/>
              <a:latin typeface="Arial"/>
            </a:endParaRPr>
          </a:p>
        </p:txBody>
      </p:sp>
      <p:sp>
        <p:nvSpPr>
          <p:cNvPr id="1312" name="Text 11"/>
          <p:cNvSpPr/>
          <p:nvPr/>
        </p:nvSpPr>
        <p:spPr>
          <a:xfrm>
            <a:off x="6519600" y="1801440"/>
            <a:ext cx="4607640" cy="730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After ~11:48: search problem formulation, state spaces, search trees, DFS, BFS, UCS.</a:t>
            </a:r>
            <a:endParaRPr lang="en-US" sz="1350" b="0" u="none" strike="noStrike">
              <a:solidFill>
                <a:srgbClr val="000000"/>
              </a:solidFill>
              <a:effectLst/>
              <a:uFillTx/>
              <a:latin typeface="Arial"/>
            </a:endParaRPr>
          </a:p>
        </p:txBody>
      </p:sp>
      <p:sp>
        <p:nvSpPr>
          <p:cNvPr id="1313" name="Shape 12"/>
          <p:cNvSpPr/>
          <p:nvPr/>
        </p:nvSpPr>
        <p:spPr>
          <a:xfrm>
            <a:off x="1508760" y="3246120"/>
            <a:ext cx="914292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4" name="Text 13"/>
          <p:cNvSpPr/>
          <p:nvPr/>
        </p:nvSpPr>
        <p:spPr>
          <a:xfrm>
            <a:off x="1673280" y="3392280"/>
            <a:ext cx="88138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Chapter boundary</a:t>
            </a:r>
            <a:endParaRPr lang="en-US" sz="1800" b="0" u="none" strike="noStrike">
              <a:solidFill>
                <a:srgbClr val="000000"/>
              </a:solidFill>
              <a:effectLst/>
              <a:uFillTx/>
              <a:latin typeface="Arial"/>
            </a:endParaRPr>
          </a:p>
        </p:txBody>
      </p:sp>
      <p:sp>
        <p:nvSpPr>
          <p:cNvPr id="1315" name="Text 14"/>
          <p:cNvSpPr/>
          <p:nvPr/>
        </p:nvSpPr>
        <p:spPr>
          <a:xfrm>
            <a:off x="1673280" y="3721680"/>
            <a:ext cx="881388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Chapter 2 explains what a goal-based agent is. Chapter 3 explains how search implements it.</a:t>
            </a:r>
            <a:endParaRPr lang="en-US" sz="1400" b="0" u="none" strike="noStrike">
              <a:solidFill>
                <a:srgbClr val="000000"/>
              </a:solidFill>
              <a:effectLst/>
              <a:uFillTx/>
              <a:latin typeface="Arial"/>
            </a:endParaRPr>
          </a:p>
        </p:txBody>
      </p:sp>
      <p:sp>
        <p:nvSpPr>
          <p:cNvPr id="1316" name="Text 15"/>
          <p:cNvSpPr/>
          <p:nvPr/>
        </p:nvSpPr>
        <p:spPr>
          <a:xfrm>
            <a:off x="914400" y="5257800"/>
            <a:ext cx="103316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rPr>
              <a:t>We watch the first segment as a bridge, then stop before the full search algorithms.</a:t>
            </a:r>
            <a:endParaRPr lang="en-US" sz="1700" b="0" u="none" strike="noStrike">
              <a:solidFill>
                <a:srgbClr val="000000"/>
              </a:solidFill>
              <a:effectLst/>
              <a:uFillTx/>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317"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8"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319"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Where These Ideas Came From</a:t>
            </a:r>
            <a:endParaRPr lang="en-US" sz="2300" b="0" u="none" strike="noStrike">
              <a:solidFill>
                <a:srgbClr val="000000"/>
              </a:solidFill>
              <a:effectLst/>
              <a:uFillTx/>
              <a:latin typeface="Arial"/>
            </a:endParaRPr>
          </a:p>
        </p:txBody>
      </p:sp>
      <p:sp>
        <p:nvSpPr>
          <p:cNvPr id="1320"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History</a:t>
            </a:r>
            <a:endParaRPr lang="en-US" sz="1200" b="0" u="none" strike="noStrike">
              <a:solidFill>
                <a:srgbClr val="000000"/>
              </a:solidFill>
              <a:effectLst/>
              <a:uFillTx/>
              <a:latin typeface="Arial"/>
            </a:endParaRPr>
          </a:p>
        </p:txBody>
      </p:sp>
      <p:sp>
        <p:nvSpPr>
          <p:cNvPr id="1321" name="Shape 5"/>
          <p:cNvSpPr/>
          <p:nvPr/>
        </p:nvSpPr>
        <p:spPr>
          <a:xfrm>
            <a:off x="86868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2" name="Text 6"/>
          <p:cNvSpPr/>
          <p:nvPr/>
        </p:nvSpPr>
        <p:spPr>
          <a:xfrm>
            <a:off x="101484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2B5C"/>
                </a:solidFill>
                <a:effectLst/>
                <a:uFillTx/>
                <a:latin typeface="Aptos"/>
                <a:ea typeface="Aptos"/>
              </a:rPr>
              <a:t>Aristotle</a:t>
            </a:r>
            <a:endParaRPr lang="en-US" sz="1550" b="0" u="none" strike="noStrike">
              <a:solidFill>
                <a:srgbClr val="000000"/>
              </a:solidFill>
              <a:effectLst/>
              <a:uFillTx/>
              <a:latin typeface="Arial"/>
            </a:endParaRPr>
          </a:p>
        </p:txBody>
      </p:sp>
      <p:sp>
        <p:nvSpPr>
          <p:cNvPr id="1323" name="Text 7"/>
          <p:cNvSpPr/>
          <p:nvPr/>
        </p:nvSpPr>
        <p:spPr>
          <a:xfrm>
            <a:off x="101484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Nicomachean Ethics</a:t>
            </a:r>
            <a:endParaRPr lang="en-US" sz="1050" b="0" u="none" strike="noStrike">
              <a:solidFill>
                <a:srgbClr val="000000"/>
              </a:solidFill>
              <a:effectLst/>
              <a:uFillTx/>
              <a:latin typeface="Arial"/>
            </a:endParaRPr>
          </a:p>
        </p:txBody>
      </p:sp>
      <p:sp>
        <p:nvSpPr>
          <p:cNvPr id="1324" name="Text 8"/>
          <p:cNvSpPr/>
          <p:nvPr/>
        </p:nvSpPr>
        <p:spPr>
          <a:xfrm>
            <a:off x="101484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Practical reasoning — action at the center of intelligence.</a:t>
            </a:r>
            <a:endParaRPr lang="en-US" sz="1200" b="0" u="none" strike="noStrike">
              <a:solidFill>
                <a:srgbClr val="000000"/>
              </a:solidFill>
              <a:effectLst/>
              <a:uFillTx/>
              <a:latin typeface="Arial"/>
            </a:endParaRPr>
          </a:p>
        </p:txBody>
      </p:sp>
      <p:sp>
        <p:nvSpPr>
          <p:cNvPr id="1325" name="Shape 9"/>
          <p:cNvSpPr/>
          <p:nvPr/>
        </p:nvSpPr>
        <p:spPr>
          <a:xfrm>
            <a:off x="354348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6" name="Text 10"/>
          <p:cNvSpPr/>
          <p:nvPr/>
        </p:nvSpPr>
        <p:spPr>
          <a:xfrm>
            <a:off x="368964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2B6CB0"/>
                </a:solidFill>
                <a:effectLst/>
                <a:uFillTx/>
                <a:latin typeface="Aptos"/>
                <a:ea typeface="Aptos"/>
              </a:rPr>
              <a:t>Turing</a:t>
            </a:r>
            <a:endParaRPr lang="en-US" sz="1550" b="0" u="none" strike="noStrike">
              <a:solidFill>
                <a:srgbClr val="000000"/>
              </a:solidFill>
              <a:effectLst/>
              <a:uFillTx/>
              <a:latin typeface="Arial"/>
            </a:endParaRPr>
          </a:p>
        </p:txBody>
      </p:sp>
      <p:sp>
        <p:nvSpPr>
          <p:cNvPr id="1327" name="Text 11"/>
          <p:cNvSpPr/>
          <p:nvPr/>
        </p:nvSpPr>
        <p:spPr>
          <a:xfrm>
            <a:off x="368964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1950</a:t>
            </a:r>
            <a:endParaRPr lang="en-US" sz="1050" b="0" u="none" strike="noStrike">
              <a:solidFill>
                <a:srgbClr val="000000"/>
              </a:solidFill>
              <a:effectLst/>
              <a:uFillTx/>
              <a:latin typeface="Arial"/>
            </a:endParaRPr>
          </a:p>
        </p:txBody>
      </p:sp>
      <p:sp>
        <p:nvSpPr>
          <p:cNvPr id="1328" name="Text 12"/>
          <p:cNvSpPr/>
          <p:nvPr/>
        </p:nvSpPr>
        <p:spPr>
          <a:xfrm>
            <a:off x="368964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Hand-programming is too slow; build machines that learn and teach them.</a:t>
            </a:r>
            <a:endParaRPr lang="en-US" sz="1200" b="0" u="none" strike="noStrike">
              <a:solidFill>
                <a:srgbClr val="000000"/>
              </a:solidFill>
              <a:effectLst/>
              <a:uFillTx/>
              <a:latin typeface="Arial"/>
            </a:endParaRPr>
          </a:p>
        </p:txBody>
      </p:sp>
      <p:sp>
        <p:nvSpPr>
          <p:cNvPr id="1329" name="Shape 13"/>
          <p:cNvSpPr/>
          <p:nvPr/>
        </p:nvSpPr>
        <p:spPr>
          <a:xfrm>
            <a:off x="621792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0" name="Text 14"/>
          <p:cNvSpPr/>
          <p:nvPr/>
        </p:nvSpPr>
        <p:spPr>
          <a:xfrm>
            <a:off x="636408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48A97"/>
                </a:solidFill>
                <a:effectLst/>
                <a:uFillTx/>
                <a:latin typeface="Aptos"/>
                <a:ea typeface="Aptos"/>
              </a:rPr>
              <a:t>McCarthy</a:t>
            </a:r>
            <a:endParaRPr lang="en-US" sz="1550" b="0" u="none" strike="noStrike">
              <a:solidFill>
                <a:srgbClr val="000000"/>
              </a:solidFill>
              <a:effectLst/>
              <a:uFillTx/>
              <a:latin typeface="Arial"/>
            </a:endParaRPr>
          </a:p>
        </p:txBody>
      </p:sp>
      <p:sp>
        <p:nvSpPr>
          <p:cNvPr id="1331" name="Text 15"/>
          <p:cNvSpPr/>
          <p:nvPr/>
        </p:nvSpPr>
        <p:spPr>
          <a:xfrm>
            <a:off x="636408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1958</a:t>
            </a:r>
            <a:endParaRPr lang="en-US" sz="1050" b="0" u="none" strike="noStrike">
              <a:solidFill>
                <a:srgbClr val="000000"/>
              </a:solidFill>
              <a:effectLst/>
              <a:uFillTx/>
              <a:latin typeface="Arial"/>
            </a:endParaRPr>
          </a:p>
        </p:txBody>
      </p:sp>
      <p:sp>
        <p:nvSpPr>
          <p:cNvPr id="1332" name="Text 16"/>
          <p:cNvSpPr/>
          <p:nvPr/>
        </p:nvSpPr>
        <p:spPr>
          <a:xfrm>
            <a:off x="636408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“Programs with Common Sense” — the logical, goal-directed line of AI.</a:t>
            </a:r>
            <a:endParaRPr lang="en-US" sz="1200" b="0" u="none" strike="noStrike">
              <a:solidFill>
                <a:srgbClr val="000000"/>
              </a:solidFill>
              <a:effectLst/>
              <a:uFillTx/>
              <a:latin typeface="Arial"/>
            </a:endParaRPr>
          </a:p>
        </p:txBody>
      </p:sp>
      <p:sp>
        <p:nvSpPr>
          <p:cNvPr id="1333" name="Shape 17"/>
          <p:cNvSpPr/>
          <p:nvPr/>
        </p:nvSpPr>
        <p:spPr>
          <a:xfrm>
            <a:off x="889272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4" name="Text 18"/>
          <p:cNvSpPr/>
          <p:nvPr/>
        </p:nvSpPr>
        <p:spPr>
          <a:xfrm>
            <a:off x="903888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1B7A45"/>
                </a:solidFill>
                <a:effectLst/>
                <a:uFillTx/>
                <a:latin typeface="Aptos"/>
                <a:ea typeface="Aptos"/>
              </a:rPr>
              <a:t>Samuel</a:t>
            </a:r>
            <a:endParaRPr lang="en-US" sz="1550" b="0" u="none" strike="noStrike">
              <a:solidFill>
                <a:srgbClr val="000000"/>
              </a:solidFill>
              <a:effectLst/>
              <a:uFillTx/>
              <a:latin typeface="Arial"/>
            </a:endParaRPr>
          </a:p>
        </p:txBody>
      </p:sp>
      <p:sp>
        <p:nvSpPr>
          <p:cNvPr id="1335" name="Text 19"/>
          <p:cNvSpPr/>
          <p:nvPr/>
        </p:nvSpPr>
        <p:spPr>
          <a:xfrm>
            <a:off x="903888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1959, 1967</a:t>
            </a:r>
            <a:endParaRPr lang="en-US" sz="1050" b="0" u="none" strike="noStrike">
              <a:solidFill>
                <a:srgbClr val="000000"/>
              </a:solidFill>
              <a:effectLst/>
              <a:uFillTx/>
              <a:latin typeface="Arial"/>
            </a:endParaRPr>
          </a:p>
        </p:txBody>
      </p:sp>
      <p:sp>
        <p:nvSpPr>
          <p:cNvPr id="1336" name="Text 20"/>
          <p:cNvSpPr/>
          <p:nvPr/>
        </p:nvSpPr>
        <p:spPr>
          <a:xfrm>
            <a:off x="903888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checkers program that improves with play: the learning-agent design, working.</a:t>
            </a:r>
            <a:endParaRPr lang="en-US" sz="1200" b="0" u="none" strike="noStrike">
              <a:solidFill>
                <a:srgbClr val="000000"/>
              </a:solidFill>
              <a:effectLst/>
              <a:uFillTx/>
              <a:latin typeface="Arial"/>
            </a:endParaRPr>
          </a:p>
        </p:txBody>
      </p:sp>
      <p:sp>
        <p:nvSpPr>
          <p:cNvPr id="1337" name="Shape 21"/>
          <p:cNvSpPr/>
          <p:nvPr/>
        </p:nvSpPr>
        <p:spPr>
          <a:xfrm>
            <a:off x="86868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8" name="Text 22"/>
          <p:cNvSpPr/>
          <p:nvPr/>
        </p:nvSpPr>
        <p:spPr>
          <a:xfrm>
            <a:off x="101484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5B35B1"/>
                </a:solidFill>
                <a:effectLst/>
                <a:uFillTx/>
                <a:latin typeface="Aptos"/>
                <a:ea typeface="Aptos"/>
              </a:rPr>
              <a:t>Fikes &amp; Nilsson</a:t>
            </a:r>
            <a:endParaRPr lang="en-US" sz="1550" b="0" u="none" strike="noStrike">
              <a:solidFill>
                <a:srgbClr val="000000"/>
              </a:solidFill>
              <a:effectLst/>
              <a:uFillTx/>
              <a:latin typeface="Arial"/>
            </a:endParaRPr>
          </a:p>
        </p:txBody>
      </p:sp>
      <p:sp>
        <p:nvSpPr>
          <p:cNvPr id="1339" name="Text 23"/>
          <p:cNvSpPr/>
          <p:nvPr/>
        </p:nvSpPr>
        <p:spPr>
          <a:xfrm>
            <a:off x="101484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1971</a:t>
            </a:r>
            <a:endParaRPr lang="en-US" sz="1050" b="0" u="none" strike="noStrike">
              <a:solidFill>
                <a:srgbClr val="000000"/>
              </a:solidFill>
              <a:effectLst/>
              <a:uFillTx/>
              <a:latin typeface="Arial"/>
            </a:endParaRPr>
          </a:p>
        </p:txBody>
      </p:sp>
      <p:sp>
        <p:nvSpPr>
          <p:cNvPr id="1340" name="Text 24"/>
          <p:cNvSpPr/>
          <p:nvPr/>
        </p:nvSpPr>
        <p:spPr>
          <a:xfrm>
            <a:off x="101484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Shakey — the first robot embodiment of a logical, goal-based agent.</a:t>
            </a:r>
            <a:endParaRPr lang="en-US" sz="1200" b="0" u="none" strike="noStrike">
              <a:solidFill>
                <a:srgbClr val="000000"/>
              </a:solidFill>
              <a:effectLst/>
              <a:uFillTx/>
              <a:latin typeface="Arial"/>
            </a:endParaRPr>
          </a:p>
        </p:txBody>
      </p:sp>
      <p:sp>
        <p:nvSpPr>
          <p:cNvPr id="1341" name="Shape 25"/>
          <p:cNvSpPr/>
          <p:nvPr/>
        </p:nvSpPr>
        <p:spPr>
          <a:xfrm>
            <a:off x="354348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2" name="Text 26"/>
          <p:cNvSpPr/>
          <p:nvPr/>
        </p:nvSpPr>
        <p:spPr>
          <a:xfrm>
            <a:off x="368964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F5A21B"/>
                </a:solidFill>
                <a:effectLst/>
                <a:uFillTx/>
                <a:latin typeface="Aptos"/>
                <a:ea typeface="Aptos"/>
              </a:rPr>
              <a:t>Doyle</a:t>
            </a:r>
            <a:endParaRPr lang="en-US" sz="1550" b="0" u="none" strike="noStrike">
              <a:solidFill>
                <a:srgbClr val="000000"/>
              </a:solidFill>
              <a:effectLst/>
              <a:uFillTx/>
              <a:latin typeface="Arial"/>
            </a:endParaRPr>
          </a:p>
        </p:txBody>
      </p:sp>
      <p:sp>
        <p:nvSpPr>
          <p:cNvPr id="1343" name="Text 27"/>
          <p:cNvSpPr/>
          <p:nvPr/>
        </p:nvSpPr>
        <p:spPr>
          <a:xfrm>
            <a:off x="368964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1983</a:t>
            </a:r>
            <a:endParaRPr lang="en-US" sz="1050" b="0" u="none" strike="noStrike">
              <a:solidFill>
                <a:srgbClr val="000000"/>
              </a:solidFill>
              <a:effectLst/>
              <a:uFillTx/>
              <a:latin typeface="Arial"/>
            </a:endParaRPr>
          </a:p>
        </p:txBody>
      </p:sp>
      <p:sp>
        <p:nvSpPr>
          <p:cNvPr id="1344" name="Text 28"/>
          <p:cNvSpPr/>
          <p:nvPr/>
        </p:nvSpPr>
        <p:spPr>
          <a:xfrm>
            <a:off x="368964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Predicted that rational agent design would become the core mission of AI.</a:t>
            </a:r>
            <a:endParaRPr lang="en-US" sz="1200" b="0" u="none" strike="noStrike">
              <a:solidFill>
                <a:srgbClr val="000000"/>
              </a:solidFill>
              <a:effectLst/>
              <a:uFillTx/>
              <a:latin typeface="Arial"/>
            </a:endParaRPr>
          </a:p>
        </p:txBody>
      </p:sp>
      <p:sp>
        <p:nvSpPr>
          <p:cNvPr id="1345" name="Shape 29"/>
          <p:cNvSpPr/>
          <p:nvPr/>
        </p:nvSpPr>
        <p:spPr>
          <a:xfrm>
            <a:off x="621792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6" name="Text 30"/>
          <p:cNvSpPr/>
          <p:nvPr/>
        </p:nvSpPr>
        <p:spPr>
          <a:xfrm>
            <a:off x="636408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A32020"/>
                </a:solidFill>
                <a:effectLst/>
                <a:uFillTx/>
                <a:latin typeface="Aptos"/>
                <a:ea typeface="Aptos"/>
              </a:rPr>
              <a:t>Pearl</a:t>
            </a:r>
            <a:endParaRPr lang="en-US" sz="1550" b="0" u="none" strike="noStrike">
              <a:solidFill>
                <a:srgbClr val="000000"/>
              </a:solidFill>
              <a:effectLst/>
              <a:uFillTx/>
              <a:latin typeface="Arial"/>
            </a:endParaRPr>
          </a:p>
        </p:txBody>
      </p:sp>
      <p:sp>
        <p:nvSpPr>
          <p:cNvPr id="1347" name="Text 31"/>
          <p:cNvSpPr/>
          <p:nvPr/>
        </p:nvSpPr>
        <p:spPr>
          <a:xfrm>
            <a:off x="636408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1988</a:t>
            </a:r>
            <a:endParaRPr lang="en-US" sz="1050" b="0" u="none" strike="noStrike">
              <a:solidFill>
                <a:srgbClr val="000000"/>
              </a:solidFill>
              <a:effectLst/>
              <a:uFillTx/>
              <a:latin typeface="Arial"/>
            </a:endParaRPr>
          </a:p>
        </p:txBody>
      </p:sp>
      <p:sp>
        <p:nvSpPr>
          <p:cNvPr id="1348" name="Text 32"/>
          <p:cNvSpPr/>
          <p:nvPr/>
        </p:nvSpPr>
        <p:spPr>
          <a:xfrm>
            <a:off x="636408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Probability and utility in depth; the shift toward utility-based agents.</a:t>
            </a:r>
            <a:endParaRPr lang="en-US" sz="1200" b="0" u="none" strike="noStrike">
              <a:solidFill>
                <a:srgbClr val="000000"/>
              </a:solidFill>
              <a:effectLst/>
              <a:uFillTx/>
              <a:latin typeface="Arial"/>
            </a:endParaRPr>
          </a:p>
        </p:txBody>
      </p:sp>
      <p:sp>
        <p:nvSpPr>
          <p:cNvPr id="1349" name="Shape 33"/>
          <p:cNvSpPr/>
          <p:nvPr/>
        </p:nvSpPr>
        <p:spPr>
          <a:xfrm>
            <a:off x="889272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0" name="Text 34"/>
          <p:cNvSpPr/>
          <p:nvPr/>
        </p:nvSpPr>
        <p:spPr>
          <a:xfrm>
            <a:off x="903888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5E7088"/>
                </a:solidFill>
                <a:effectLst/>
                <a:uFillTx/>
                <a:latin typeface="Aptos"/>
                <a:ea typeface="Aptos"/>
              </a:rPr>
              <a:t>Control theory</a:t>
            </a:r>
            <a:endParaRPr lang="en-US" sz="1550" b="0" u="none" strike="noStrike">
              <a:solidFill>
                <a:srgbClr val="000000"/>
              </a:solidFill>
              <a:effectLst/>
              <a:uFillTx/>
              <a:latin typeface="Arial"/>
            </a:endParaRPr>
          </a:p>
        </p:txBody>
      </p:sp>
      <p:sp>
        <p:nvSpPr>
          <p:cNvPr id="1351" name="Text 35"/>
          <p:cNvSpPr/>
          <p:nvPr/>
        </p:nvSpPr>
        <p:spPr>
          <a:xfrm>
            <a:off x="903888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throughout</a:t>
            </a:r>
            <a:endParaRPr lang="en-US" sz="1050" b="0" u="none" strike="noStrike">
              <a:solidFill>
                <a:srgbClr val="000000"/>
              </a:solidFill>
              <a:effectLst/>
              <a:uFillTx/>
              <a:latin typeface="Arial"/>
            </a:endParaRPr>
          </a:p>
        </p:txBody>
      </p:sp>
      <p:sp>
        <p:nvSpPr>
          <p:cNvPr id="1352" name="Text 36"/>
          <p:cNvSpPr/>
          <p:nvPr/>
        </p:nvSpPr>
        <p:spPr>
          <a:xfrm>
            <a:off x="903888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controller is an agent; its subfields map onto our environment dimensions.</a:t>
            </a:r>
            <a:endParaRPr lang="en-US" sz="1200" b="0" u="none" strike="noStrike">
              <a:solidFill>
                <a:srgbClr val="000000"/>
              </a:solidFill>
              <a:effectLst/>
              <a:uFillTx/>
              <a:latin typeface="Arial"/>
            </a:endParaRPr>
          </a:p>
        </p:txBody>
      </p:sp>
      <p:sp>
        <p:nvSpPr>
          <p:cNvPr id="1353" name="Text 37"/>
          <p:cNvSpPr/>
          <p:nvPr/>
        </p:nvSpPr>
        <p:spPr>
          <a:xfrm>
            <a:off x="914400" y="498348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AI spent decades on isolated components; the whole-agent view is now the default</a:t>
            </a:r>
            <a:endParaRPr lang="en-US" sz="1900" b="0" u="none" strike="noStrike">
              <a:solidFill>
                <a:srgbClr val="000000"/>
              </a:solidFill>
              <a:effectLst/>
              <a:uFillTx/>
              <a:latin typeface="Arial"/>
            </a:endParaRPr>
          </a:p>
        </p:txBody>
      </p:sp>
      <p:sp>
        <p:nvSpPr>
          <p:cNvPr id="1354" name="Text 38"/>
          <p:cNvSpPr/>
          <p:nvPr/>
        </p:nvSpPr>
        <p:spPr>
          <a:xfrm>
            <a:off x="1005840" y="5468040"/>
            <a:ext cx="101494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Question-answering systems, theorem provers, and vision systems were studied largely in isolation. Genesereth and Nilsson (1987) were an influential exception, and the agent-based approach now runs through software engineering, operating systems, and the AAMAS conference series.</a:t>
            </a:r>
            <a:endParaRPr lang="en-US" sz="1400" b="0" u="none" strike="noStrike">
              <a:solidFill>
                <a:srgbClr val="000000"/>
              </a:solidFill>
              <a:effectLst/>
              <a:uFillTx/>
              <a:latin typeface="Arial"/>
            </a:endParaRPr>
          </a:p>
        </p:txBody>
      </p:sp>
      <p:sp>
        <p:nvSpPr>
          <p:cNvPr id="1355" name="Text 39"/>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356" name="Text 40"/>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50</a:t>
            </a:r>
            <a:endParaRPr lang="en-US" sz="850" b="0" u="none" strike="noStrike">
              <a:solidFill>
                <a:srgbClr val="000000"/>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357"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58"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359"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Chapter 2 Takeaways</a:t>
            </a:r>
            <a:endParaRPr lang="en-US" sz="2300" b="0" u="none" strike="noStrike">
              <a:solidFill>
                <a:srgbClr val="000000"/>
              </a:solidFill>
              <a:effectLst/>
              <a:uFillTx/>
              <a:latin typeface="Arial"/>
            </a:endParaRPr>
          </a:p>
        </p:txBody>
      </p:sp>
      <p:sp>
        <p:nvSpPr>
          <p:cNvPr id="1360"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Summary</a:t>
            </a:r>
            <a:endParaRPr lang="en-US" sz="1200" b="0" u="none" strike="noStrike">
              <a:solidFill>
                <a:srgbClr val="000000"/>
              </a:solidFill>
              <a:effectLst/>
              <a:uFillTx/>
              <a:latin typeface="Arial"/>
            </a:endParaRPr>
          </a:p>
        </p:txBody>
      </p:sp>
      <p:sp>
        <p:nvSpPr>
          <p:cNvPr id="1361"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362"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51</a:t>
            </a:r>
            <a:endParaRPr lang="en-US" sz="1800" b="0" u="none" strike="noStrike">
              <a:solidFill>
                <a:srgbClr val="000000"/>
              </a:solidFill>
              <a:effectLst/>
              <a:uFillTx/>
              <a:latin typeface="Arial"/>
            </a:endParaRPr>
          </a:p>
        </p:txBody>
      </p:sp>
      <p:sp>
        <p:nvSpPr>
          <p:cNvPr id="1363" name="Text 6"/>
          <p:cNvSpPr/>
          <p:nvPr/>
        </p:nvSpPr>
        <p:spPr>
          <a:xfrm>
            <a:off x="868680" y="1234440"/>
            <a:ext cx="10514520" cy="3107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700" b="0" u="none" strike="noStrike">
                <a:solidFill>
                  <a:srgbClr val="0B1F3A"/>
                </a:solidFill>
                <a:effectLst/>
                <a:uFillTx/>
                <a:latin typeface="Aptos"/>
                <a:ea typeface="Aptos"/>
              </a:rPr>
              <a:t>An agent perceives an environment through sensors and acts through actuators.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 rational agent maximizes expected performance, not hindsight perfection.</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PEAS specifies the task: performance, environment, actuators, sensors.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Environment properties determine which agent design is appropriate.</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Agent programs include table-driven, simple reflex, model-based, goal-based, utility-based, and learning agents.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Representations determine what the agent can express and how hard reasoning becomes.</a:t>
            </a:r>
            <a:endParaRPr lang="en-US" sz="1700" b="0" u="none" strike="noStrike">
              <a:solidFill>
                <a:srgbClr val="000000"/>
              </a:solidFill>
              <a:effectLst/>
              <a:uFillTx/>
              <a:latin typeface="Arial"/>
            </a:endParaRPr>
          </a:p>
        </p:txBody>
      </p:sp>
      <p:sp>
        <p:nvSpPr>
          <p:cNvPr id="1364" name="Shape 7"/>
          <p:cNvSpPr/>
          <p:nvPr/>
        </p:nvSpPr>
        <p:spPr>
          <a:xfrm>
            <a:off x="914400" y="4892040"/>
            <a:ext cx="10332720" cy="360"/>
          </a:xfrm>
          <a:prstGeom prst="line">
            <a:avLst/>
          </a:prstGeom>
          <a:ln w="25400">
            <a:solidFill>
              <a:srgbClr val="F5A21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365" name="Text 8"/>
          <p:cNvSpPr/>
          <p:nvPr/>
        </p:nvSpPr>
        <p:spPr>
          <a:xfrm>
            <a:off x="868680" y="5440680"/>
            <a:ext cx="105145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50" b="1" u="none" strike="noStrike">
                <a:solidFill>
                  <a:srgbClr val="0B2B5C"/>
                </a:solidFill>
                <a:effectLst/>
                <a:uFillTx/>
                <a:latin typeface="Aptos"/>
              </a:rPr>
              <a:t>Define the agent -&gt; Specify the task -&gt; Classify the environment -&gt; Choose the design</a:t>
            </a:r>
            <a:endParaRPr lang="en-US" sz="185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347</TotalTime>
  <Words>9546</Words>
  <Application>Microsoft Office PowerPoint</Application>
  <PresentationFormat>Widescreen</PresentationFormat>
  <Paragraphs>1240</Paragraphs>
  <Slides>52</Slides>
  <Notes>52</Notes>
  <HiddenSlides>0</HiddenSlides>
  <MMClips>2</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52</vt:i4>
      </vt:variant>
    </vt:vector>
  </HeadingPairs>
  <TitlesOfParts>
    <vt:vector size="62" baseType="lpstr">
      <vt:lpstr>Aptos</vt:lpstr>
      <vt:lpstr>Aptos Display</vt:lpstr>
      <vt:lpstr>Arial</vt:lpstr>
      <vt:lpstr>Consolas</vt:lpstr>
      <vt:lpstr>Courier New</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2: Intelligent Agents</dc:title>
  <dc:subject>Chapter 2 Intelligent Agents</dc:subject>
  <dc:creator>COMP 469</dc:creator>
  <dc:description/>
  <cp:lastModifiedBy>Rios, Juan</cp:lastModifiedBy>
  <cp:revision>55</cp:revision>
  <dcterms:created xsi:type="dcterms:W3CDTF">2026-07-31T02:27:29Z</dcterms:created>
  <dcterms:modified xsi:type="dcterms:W3CDTF">2026-09-01T23:14:28Z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49</vt:i4>
  </property>
  <property fmtid="{D5CDD505-2E9C-101B-9397-08002B2CF9AE}" pid="4" name="PresentationFormat">
    <vt:lpwstr>Widescreen</vt:lpwstr>
  </property>
  <property fmtid="{D5CDD505-2E9C-101B-9397-08002B2CF9AE}" pid="5" name="Slides">
    <vt:i4>53</vt:i4>
  </property>
</Properties>
</file>