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linking Chapter 1 to Chapter 2. Chapter 1 ended with the rational-agent approach: AI is about agents that do the right thing. Chapter 2 makes that concrete. We are now going to define what an agent is, what an environment is, what counts as good behavior, and what kinds of agent programs can implement intelligent behavior. Tell students that this chapter is the conceptual foundation for search, planning, probability, machine learning, and reinforcement learning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orient the class. Tell students that Chapter 2 is not about one algorithm. It is a design framework. We first describe the interaction loop, then define rational behavior, then specify the task using PEAS, then classify the environment, and finally select an agent program design. The Pac-Man example is useful because it makes the abstract terms concrete: Pac-Man senses the maze, pellets, and ghosts; chooses an action; changes the environment; and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central diagram of the chapter. An agent is anything we can view as perceiving an environment through sensors and acting on that environment through actuators. The environment is not necessarily the entire universe. It is the part of the world that matters for this agent design: the part that affects the agent's percepts and is affected by the agent's actions. For a human, sensors include eyes and ears; for a robot, cameras and range finders; for a software agent, file contents, network packets, or user input. The key teaching point is that intelligence is analyzed as a feedback loop, not as an isolated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terminology that students often mix up. A percept is what the sensors are currently receiving. A percept sequence is the entire history. The agent function is an abstract mathematical mapping from possible percept sequences to actions. The agent program is the actual implementation. The important distinction is that the program usually receives only the current percept. If the action depends on history, the program must store history internally. This is why memory and internal state become important later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vacuum world as a simple example before returning to Pac-Man. The agent perceives its location and whether the current square is dirty. It can move left, move right, suck dirt, or do nothing depending on the version. A simple rule is: if the square is dirty, suck; otherwise move to the other square. This looks obviously reasonable, but Chapter 2 uses it to show that rationality is always relative to a task specification. If movement is penalized, a vacuum that endlessly moves after cleaning both squares is poor. If dirt can reappear, occasional checking may be rational. If the layout is unknown, the agent needs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Chapter 2 uses consequentialism: we evaluate behavior by the consequences it produces in the environment. The performance measure defines the criterion of success. Then rationality depends on four things: the performance measure, prior knowledge, available actions, and percept sequence. Stress that rationality is not the same as being lucky or being correct after the fact. A rational agent maximizes expected performance given what it has perceived and what it knows. This is also where objective specification becomes important: if the performance measure is wrong, a rational agent may optimize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useful discussion slide. Omniscience means knowing the actual outcome of actions. Rational agents do not need omniscience; they need to act well given evidence. The street-crossing example shows this: a person may rationally cross after looking, even if an unpredictable accident occurs. Also emphasize information gathering. Looking before crossing is rational because it improves future percepts. Learning is also part of rationality: agents should use experience to compensate for incomplete or incorrect prior knowledge. Autonomy means the agent's behavior increasingly depends on its own percepts and learning, not only on what the designer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directly to Section 2.3.1. PEAS is a design checklist, not just vocabulary. In Chapter 2, the automated taxi is the main example. Performance includes safety, legality, comfort, time, cost, fuel use, and profit; those goals can conflict. The environment includes roads, traffic, pedestrians, weather, and passengers. Actuators include steering, accelerator, brakes, displays, and speech. Sensors include cameras, lidar, radar, GPS, speedometer, engine sensors, and passenger input. The key phrase to repeat is: the first step in designing an agent is specifying the task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quick diagnostic tool. Environment properties determine the right agent design. Fully observable means the sensors give access to the relevant state; partially observable means some relevant state is missing or noisy. Multiagent environments require modeling other agents. Deterministic environments have predictable next states; nondeterministic or stochastic environments require uncertainty handling. Episodic tasks do not require thinking about long-term consequences; sequential tasks do. Static environments do not change while the agent deliberates; dynamic ones do. Discrete and continuous refer to states, time, percepts, and actions. Known versus unknown refers to whether the agent or designer knows the rules or transition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bridge from the Berkeley lecture to Chapter 2. Pac-Man is a clean teaching example because students can see the environment, percepts, actions, and performance measure. The agent senses walls, pellets, ghost positions, and whether power mode is active. The actions are simple: move left, right, up, or down. But the task is sequential because current choices affect future survival. It is multiagent because ghosts behave as other entities. It is dynamic because the ghosts move while Pac-Man plays. This also connects to your autonomous Pac-Man code: the program is an agent program that maps percepts to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gives a clean formula: agent equals architecture plus program. The architecture makes percepts available to the program and carries actions out through actuators. The program implements the agent function. The table-driven agent is conceptually useful because it shows that an agent function can be described as a table, but it is practically impossible. The table grows exponentially with percept-history length. For realistic agents like taxis or even chess, no designer, learner, or physical machine can store all possible entries. The key AI challenge is to write compact programs that behave rationally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reflex agents choose actions using the current percept only. They ignore the rest of the percept history. In the vacuum world this can work if the agent perceives location and dirt status. The rule can be very small compared to a lookup table. The chapter also gives the driving example: if the car in front is braking, initiate braking. This is a condition-action rule. The teaching contrast is important: simple reflex agents can be very efficient, but they are fragile when the current percept does not reveal enough about the current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ask students: What happens if the vacuum agent cannot perceive its location? If it only sees Clean or Dirty, then Clean does not tell it where it is. If it always moves Left, it can fail forever when it starts at A; if it always moves Right, it can fail forever when it starts at B. Randomization can help in this toy case, but Chapter 2 says we can usually do better with more sophisticated agents. The concept to introduce is internal state: the agent remembers or infers parts of the world that are not visible in the current percept.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Model-based reflex agents address partial observability by maintaining internal state. The state is the agent's best guess about the current world. To update that state, the agent needs a transition model and a sensor model. The transition model describes how the world changes and what the agent's actions do. The sensor model describes how the world is reflected in percepts. In the taxi example, the agent may remember where nearby cars were even if they are temporarily hidden. The important phrase is best guess: in partially observable environments, exact state knowledge is often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Goal-based agents add goal information to the current-state estimate. This is the natural bridge to Chapters 3 through 5 on search and Chapter 11 on planning. A taxi at an intersection cannot decide whether to turn left, right, or continue straight unless it knows the destination. The key contrast with reflex agents is future reasoning. A reflex agent has a rule; a goal-based agent asks what will happen if it takes an action and whether that future satisfies its goal. Goal-based agents are often less efficient but more flexible because we can change the goal without rewriting every condition-action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because it connects Chapter 2 to decision theory and reinforcement learning later. A goal can be too crude: many routes get the taxi to the destination, but some are safer, faster, cheaper, or more comfortable. Utility lets the agent compare outcomes by degree. Utility is especially useful when goals conflict, such as speed versus safety, and when outcomes are uncertain. A rational utility-based agent chooses the action that maximizes expected utility. Emphasize expected: it does not require knowing the future; it requires evaluating outcomes by probability 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Turing argued that hand-programming intelligence is too slow and that learning machines are needed. Chapter 2 divides a learning agent into four conceptual components. The performance element is what selects external actions. The learning element modifies the performance element to improve future behavior. The critic tells the learning element how well the agent is doing relative to a fixed performance standard. The problem generator suggests exploratory actions that may be suboptimal now but informative for the future. Connect this to reinforcement learning: exploration can sacrifice short-term score to discover better long-term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closes with representations. This is a preview of the rest of the course. Atomic representations treat states as indivisible labels, like being in one city or another. Factored representations break states into variables and values. Structured representations include objects and relationships between objects. More expressive representations can describe more, often more concisely, but reasoning and learning usually become more complex. Also mention the localist versus distributed distinction: localist maps one concept to one memory location; distributed spreads concepts across many locations, which can be more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before or after running the Pac-Man code. Ask students to label each part. What are the percepts? What are the actions? What is the environment? What is the performance measure? Then ask what kind of agent it is. The answer can be a mixture: if the code directly maps current percepts to actions using a utility calculation, it has utility-based behavior. If it uses search to find pellets, it has a goal-directed component. If it tracks ghost state or power mode, it has a model-based component. This helps students see that the textbook categories are design patterns, not rigid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chapter logic. First, define the agent and the environment. Second, specify the task with PEAS. Third, classify the environment because that determines difficulty. Fourth, choose an agent program design. A simple reflex agent may be enough in a fully observable, deterministic, static environment. Partial observability pushes us toward model-based agents. Long-term goals push us toward goal-based agents. Tradeoffs and uncertainty push us toward utility-based agents. Unknown environments and improving performance push us toward learning agents. This chapter sets up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B2D5B"/>
          </a:solidFill>
          <a:ln w="12700">
            <a:solidFill>
              <a:srgbClr val="0B2D5B"/>
            </a:solidFill>
            <a:prstDash val="solid"/>
          </a:ln>
        </p:spPr>
      </p:sp>
      <p:sp>
        <p:nvSpPr>
          <p:cNvPr id="3" name="Shape 1"/>
          <p:cNvSpPr/>
          <p:nvPr/>
        </p:nvSpPr>
        <p:spPr>
          <a:xfrm>
            <a:off x="0" y="713232"/>
            <a:ext cx="12191695" cy="73152"/>
          </a:xfrm>
          <a:prstGeom prst="rect">
            <a:avLst/>
          </a:prstGeom>
          <a:solidFill>
            <a:srgbClr val="F5A623"/>
          </a:solidFill>
          <a:ln w="12700">
            <a:solidFill>
              <a:srgbClr val="F5A623"/>
            </a:solidFill>
            <a:prstDash val="solid"/>
          </a:ln>
        </p:spPr>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D5B"/>
          </a:solidFill>
          <a:ln w="12700">
            <a:solidFill>
              <a:srgbClr val="0B2D5B"/>
            </a:solidFill>
            <a:prstDash val="solid"/>
          </a:ln>
        </p:spPr>
      </p:sp>
      <p:sp>
        <p:nvSpPr>
          <p:cNvPr id="3" name="Text 1"/>
          <p:cNvSpPr/>
          <p:nvPr/>
        </p:nvSpPr>
        <p:spPr>
          <a:xfrm>
            <a:off x="731520" y="960120"/>
            <a:ext cx="3657600" cy="411480"/>
          </a:xfrm>
          <a:prstGeom prst="rect">
            <a:avLst/>
          </a:prstGeom>
          <a:noFill/>
          <a:ln/>
        </p:spPr>
        <p:txBody>
          <a:bodyPr wrap="square" lIns="0" tIns="0" rIns="0" bIns="0" rtlCol="0" anchor="ctr"/>
          <a:lstStyle/>
          <a:p>
            <a:pPr indent="0" marL="0">
              <a:buNone/>
            </a:pPr>
            <a:r>
              <a:rPr lang="en-US" sz="2000" b="1" dirty="0">
                <a:solidFill>
                  <a:srgbClr val="F5A623"/>
                </a:solidFill>
              </a:rPr>
              <a:t>Chapter 2</a:t>
            </a:r>
            <a:endParaRPr lang="en-US" sz="2000" dirty="0"/>
          </a:p>
        </p:txBody>
      </p:sp>
      <p:sp>
        <p:nvSpPr>
          <p:cNvPr id="4" name="Text 2"/>
          <p:cNvSpPr/>
          <p:nvPr/>
        </p:nvSpPr>
        <p:spPr>
          <a:xfrm>
            <a:off x="731520" y="1444752"/>
            <a:ext cx="8046720" cy="640080"/>
          </a:xfrm>
          <a:prstGeom prst="rect">
            <a:avLst/>
          </a:prstGeom>
          <a:noFill/>
          <a:ln/>
        </p:spPr>
        <p:txBody>
          <a:bodyPr wrap="square" lIns="0" tIns="0" rIns="0" bIns="0" rtlCol="0" anchor="ctr"/>
          <a:lstStyle/>
          <a:p>
            <a:pPr indent="0" marL="0">
              <a:buNone/>
            </a:pPr>
            <a:r>
              <a:rPr lang="en-US" sz="4000" b="1" dirty="0">
                <a:solidFill>
                  <a:srgbClr val="FFFFFF"/>
                </a:solidFill>
              </a:rPr>
              <a:t>Intelligent Agents</a:t>
            </a:r>
            <a:endParaRPr lang="en-US" sz="4000" dirty="0"/>
          </a:p>
        </p:txBody>
      </p:sp>
      <p:sp>
        <p:nvSpPr>
          <p:cNvPr id="5" name="Text 3"/>
          <p:cNvSpPr/>
          <p:nvPr/>
        </p:nvSpPr>
        <p:spPr>
          <a:xfrm>
            <a:off x="731520" y="2176272"/>
            <a:ext cx="8869680" cy="365760"/>
          </a:xfrm>
          <a:prstGeom prst="rect">
            <a:avLst/>
          </a:prstGeom>
          <a:noFill/>
          <a:ln/>
        </p:spPr>
        <p:txBody>
          <a:bodyPr wrap="square" lIns="0" tIns="0" rIns="0" bIns="0" rtlCol="0" anchor="ctr"/>
          <a:lstStyle/>
          <a:p>
            <a:pPr indent="0" marL="0">
              <a:buNone/>
            </a:pPr>
            <a:r>
              <a:rPr lang="en-US" sz="1800" dirty="0">
                <a:solidFill>
                  <a:srgbClr val="D9EAF7"/>
                </a:solidFill>
              </a:rPr>
              <a:t>Berkeley Part II companion deck aligned to AIMA Chapter 2</a:t>
            </a:r>
            <a:endParaRPr lang="en-US" sz="1800" dirty="0"/>
          </a:p>
        </p:txBody>
      </p:sp>
      <p:sp>
        <p:nvSpPr>
          <p:cNvPr id="6" name="Shape 4"/>
          <p:cNvSpPr/>
          <p:nvPr/>
        </p:nvSpPr>
        <p:spPr>
          <a:xfrm>
            <a:off x="7635240" y="2926080"/>
            <a:ext cx="1371600" cy="658368"/>
          </a:xfrm>
          <a:prstGeom prst="roundRect">
            <a:avLst>
              <a:gd name="adj" fmla="val 11111"/>
            </a:avLst>
          </a:prstGeom>
          <a:solidFill>
            <a:srgbClr val="1E73BE"/>
          </a:solidFill>
          <a:ln w="15240">
            <a:solidFill>
              <a:srgbClr val="1E73BE"/>
            </a:solidFill>
            <a:prstDash val="solid"/>
          </a:ln>
        </p:spPr>
      </p:sp>
      <p:sp>
        <p:nvSpPr>
          <p:cNvPr id="7" name="Text 5"/>
          <p:cNvSpPr/>
          <p:nvPr/>
        </p:nvSpPr>
        <p:spPr>
          <a:xfrm>
            <a:off x="7744968" y="3017520"/>
            <a:ext cx="1152144" cy="475488"/>
          </a:xfrm>
          <a:prstGeom prst="rect">
            <a:avLst/>
          </a:prstGeom>
          <a:noFill/>
          <a:ln/>
        </p:spPr>
        <p:txBody>
          <a:bodyPr wrap="square" lIns="254" tIns="254" rIns="254" bIns="254" rtlCol="0" anchor="ctr">
            <a:normAutofit/>
          </a:bodyPr>
          <a:lstStyle/>
          <a:p>
            <a:pPr algn="ctr" indent="0" marL="0">
              <a:buNone/>
            </a:pPr>
            <a:r>
              <a:rPr lang="en-US" sz="1800" b="1" dirty="0">
                <a:solidFill>
                  <a:srgbClr val="FFFFFF"/>
                </a:solidFill>
              </a:rPr>
              <a:t>Sense</a:t>
            </a:r>
            <a:endParaRPr lang="en-US" sz="1800" dirty="0"/>
          </a:p>
        </p:txBody>
      </p:sp>
      <p:sp>
        <p:nvSpPr>
          <p:cNvPr id="8" name="Shape 6"/>
          <p:cNvSpPr/>
          <p:nvPr/>
        </p:nvSpPr>
        <p:spPr>
          <a:xfrm>
            <a:off x="9189720" y="2926080"/>
            <a:ext cx="1371600" cy="658368"/>
          </a:xfrm>
          <a:prstGeom prst="roundRect">
            <a:avLst>
              <a:gd name="adj" fmla="val 11111"/>
            </a:avLst>
          </a:prstGeom>
          <a:solidFill>
            <a:srgbClr val="1E7A3B"/>
          </a:solidFill>
          <a:ln w="15240">
            <a:solidFill>
              <a:srgbClr val="1E7A3B"/>
            </a:solidFill>
            <a:prstDash val="solid"/>
          </a:ln>
        </p:spPr>
      </p:sp>
      <p:sp>
        <p:nvSpPr>
          <p:cNvPr id="9" name="Text 7"/>
          <p:cNvSpPr/>
          <p:nvPr/>
        </p:nvSpPr>
        <p:spPr>
          <a:xfrm>
            <a:off x="9299448" y="3017520"/>
            <a:ext cx="1152144" cy="475488"/>
          </a:xfrm>
          <a:prstGeom prst="rect">
            <a:avLst/>
          </a:prstGeom>
          <a:noFill/>
          <a:ln/>
        </p:spPr>
        <p:txBody>
          <a:bodyPr wrap="square" lIns="254" tIns="254" rIns="254" bIns="254" rtlCol="0" anchor="ctr">
            <a:normAutofit/>
          </a:bodyPr>
          <a:lstStyle/>
          <a:p>
            <a:pPr algn="ctr" indent="0" marL="0">
              <a:buNone/>
            </a:pPr>
            <a:r>
              <a:rPr lang="en-US" sz="1800" b="1" dirty="0">
                <a:solidFill>
                  <a:srgbClr val="FFFFFF"/>
                </a:solidFill>
              </a:rPr>
              <a:t>Decide</a:t>
            </a:r>
            <a:endParaRPr lang="en-US" sz="1800" dirty="0"/>
          </a:p>
        </p:txBody>
      </p:sp>
      <p:sp>
        <p:nvSpPr>
          <p:cNvPr id="10" name="Shape 8"/>
          <p:cNvSpPr/>
          <p:nvPr/>
        </p:nvSpPr>
        <p:spPr>
          <a:xfrm>
            <a:off x="10744200" y="2926080"/>
            <a:ext cx="914400" cy="658368"/>
          </a:xfrm>
          <a:prstGeom prst="roundRect">
            <a:avLst>
              <a:gd name="adj" fmla="val 11111"/>
            </a:avLst>
          </a:prstGeom>
          <a:solidFill>
            <a:srgbClr val="F5A623"/>
          </a:solidFill>
          <a:ln w="15240">
            <a:solidFill>
              <a:srgbClr val="F5A623"/>
            </a:solidFill>
            <a:prstDash val="solid"/>
          </a:ln>
        </p:spPr>
      </p:sp>
      <p:sp>
        <p:nvSpPr>
          <p:cNvPr id="11" name="Text 9"/>
          <p:cNvSpPr/>
          <p:nvPr/>
        </p:nvSpPr>
        <p:spPr>
          <a:xfrm>
            <a:off x="10853928" y="3017520"/>
            <a:ext cx="694944" cy="475488"/>
          </a:xfrm>
          <a:prstGeom prst="rect">
            <a:avLst/>
          </a:prstGeom>
          <a:noFill/>
          <a:ln/>
        </p:spPr>
        <p:txBody>
          <a:bodyPr wrap="square" lIns="254" tIns="254" rIns="254" bIns="254" rtlCol="0" anchor="ctr">
            <a:normAutofit/>
          </a:bodyPr>
          <a:lstStyle/>
          <a:p>
            <a:pPr algn="ctr" indent="0" marL="0">
              <a:buNone/>
            </a:pPr>
            <a:r>
              <a:rPr lang="en-US" sz="1800" b="1" dirty="0">
                <a:solidFill>
                  <a:srgbClr val="14213D"/>
                </a:solidFill>
              </a:rPr>
              <a:t>Act</a:t>
            </a:r>
            <a:endParaRPr lang="en-US" sz="1800" dirty="0"/>
          </a:p>
        </p:txBody>
      </p:sp>
      <p:sp>
        <p:nvSpPr>
          <p:cNvPr id="12" name="Shape 10"/>
          <p:cNvSpPr/>
          <p:nvPr/>
        </p:nvSpPr>
        <p:spPr>
          <a:xfrm>
            <a:off x="9006840" y="3255264"/>
            <a:ext cx="182880" cy="0"/>
          </a:xfrm>
          <a:prstGeom prst="line">
            <a:avLst/>
          </a:prstGeom>
          <a:noFill/>
          <a:ln w="25400">
            <a:solidFill>
              <a:srgbClr val="FFFFFF"/>
            </a:solidFill>
            <a:prstDash val="solid"/>
            <a:headEnd type="none"/>
            <a:tailEnd type="triangle"/>
          </a:ln>
        </p:spPr>
      </p:sp>
      <p:sp>
        <p:nvSpPr>
          <p:cNvPr id="13" name="Shape 11"/>
          <p:cNvSpPr/>
          <p:nvPr/>
        </p:nvSpPr>
        <p:spPr>
          <a:xfrm>
            <a:off x="10561320" y="3255264"/>
            <a:ext cx="182880" cy="0"/>
          </a:xfrm>
          <a:prstGeom prst="line">
            <a:avLst/>
          </a:prstGeom>
          <a:noFill/>
          <a:ln w="25400">
            <a:solidFill>
              <a:srgbClr val="FFFFFF"/>
            </a:solidFill>
            <a:prstDash val="solid"/>
            <a:headEnd type="none"/>
            <a:tailEnd type="triangle"/>
          </a:ln>
        </p:spPr>
      </p:sp>
      <p:sp>
        <p:nvSpPr>
          <p:cNvPr id="14" name="Shape 12"/>
          <p:cNvSpPr/>
          <p:nvPr/>
        </p:nvSpPr>
        <p:spPr>
          <a:xfrm>
            <a:off x="8001000" y="3703320"/>
            <a:ext cx="3200400" cy="914400"/>
          </a:xfrm>
          <a:prstGeom prst="arc">
            <a:avLst/>
          </a:prstGeom>
          <a:solidFill>
            <a:srgbClr val="FFFFFF">
              <a:alpha val="0"/>
            </a:srgbClr>
          </a:solidFill>
          <a:ln w="38100">
            <a:solidFill>
              <a:srgbClr val="F5A623"/>
            </a:solidFill>
            <a:prstDash val="solid"/>
            <a:headEnd type="none"/>
            <a:tailEnd type="triangle"/>
          </a:ln>
        </p:spPr>
      </p:sp>
      <p:sp>
        <p:nvSpPr>
          <p:cNvPr id="15" name="Text 13"/>
          <p:cNvSpPr/>
          <p:nvPr/>
        </p:nvSpPr>
        <p:spPr>
          <a:xfrm>
            <a:off x="7452360" y="4736592"/>
            <a:ext cx="4389120" cy="274320"/>
          </a:xfrm>
          <a:prstGeom prst="rect">
            <a:avLst/>
          </a:prstGeom>
          <a:noFill/>
          <a:ln/>
        </p:spPr>
        <p:txBody>
          <a:bodyPr wrap="square" lIns="0" tIns="0" rIns="0" bIns="0" rtlCol="0" anchor="ctr"/>
          <a:lstStyle/>
          <a:p>
            <a:pPr algn="ctr" indent="0" marL="0">
              <a:buNone/>
            </a:pPr>
            <a:r>
              <a:rPr lang="en-US" sz="1600" dirty="0">
                <a:solidFill>
                  <a:srgbClr val="FFFFFF"/>
                </a:solidFill>
              </a:rPr>
              <a:t>environment feedback loop</a:t>
            </a:r>
            <a:endParaRPr lang="en-US" sz="1600" dirty="0"/>
          </a:p>
        </p:txBody>
      </p:sp>
      <p:sp>
        <p:nvSpPr>
          <p:cNvPr id="16" name="Text 14"/>
          <p:cNvSpPr/>
          <p:nvPr/>
        </p:nvSpPr>
        <p:spPr>
          <a:xfrm>
            <a:off x="731520" y="5440680"/>
            <a:ext cx="8412480" cy="320040"/>
          </a:xfrm>
          <a:prstGeom prst="rect">
            <a:avLst/>
          </a:prstGeom>
          <a:noFill/>
          <a:ln/>
        </p:spPr>
        <p:txBody>
          <a:bodyPr wrap="square" lIns="0" tIns="0" rIns="0" bIns="0" rtlCol="0" anchor="ctr"/>
          <a:lstStyle/>
          <a:p>
            <a:pPr indent="0" marL="0">
              <a:buNone/>
            </a:pPr>
            <a:r>
              <a:rPr lang="en-US" sz="1700" dirty="0">
                <a:solidFill>
                  <a:srgbClr val="FFFFFF"/>
                </a:solidFill>
              </a:rPr>
              <a:t>Core question: how should an agent choose actions in an environment?</a:t>
            </a:r>
            <a:endParaRPr lang="en-US" sz="1700" dirty="0"/>
          </a:p>
        </p:txBody>
      </p:sp>
      <p:sp>
        <p:nvSpPr>
          <p:cNvPr id="18" name="Text 15"/>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2.0 Roadmap: From Agent Loop to Agent Design</a:t>
            </a:r>
            <a:endParaRPr lang="en-US" sz="2500" dirty="0"/>
          </a:p>
        </p:txBody>
      </p:sp>
      <p:sp>
        <p:nvSpPr>
          <p:cNvPr id="3" name="Shape 1"/>
          <p:cNvSpPr/>
          <p:nvPr/>
        </p:nvSpPr>
        <p:spPr>
          <a:xfrm>
            <a:off x="502920" y="1417320"/>
            <a:ext cx="1417320" cy="731520"/>
          </a:xfrm>
          <a:prstGeom prst="roundRect">
            <a:avLst>
              <a:gd name="adj" fmla="val 10000"/>
            </a:avLst>
          </a:prstGeom>
          <a:solidFill>
            <a:srgbClr val="1E73BE"/>
          </a:solidFill>
          <a:ln w="15240">
            <a:solidFill>
              <a:srgbClr val="1E73BE"/>
            </a:solidFill>
            <a:prstDash val="solid"/>
          </a:ln>
        </p:spPr>
      </p:sp>
      <p:sp>
        <p:nvSpPr>
          <p:cNvPr id="4" name="Text 2"/>
          <p:cNvSpPr/>
          <p:nvPr/>
        </p:nvSpPr>
        <p:spPr>
          <a:xfrm>
            <a:off x="612648" y="1508760"/>
            <a:ext cx="1197864" cy="54864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Agent loop</a:t>
            </a:r>
            <a:endParaRPr lang="en-US" sz="1400" dirty="0"/>
          </a:p>
        </p:txBody>
      </p:sp>
      <p:sp>
        <p:nvSpPr>
          <p:cNvPr id="5" name="Text 3"/>
          <p:cNvSpPr/>
          <p:nvPr/>
        </p:nvSpPr>
        <p:spPr>
          <a:xfrm>
            <a:off x="502920" y="2258568"/>
            <a:ext cx="1417320" cy="320040"/>
          </a:xfrm>
          <a:prstGeom prst="rect">
            <a:avLst/>
          </a:prstGeom>
          <a:noFill/>
          <a:ln/>
        </p:spPr>
        <p:txBody>
          <a:bodyPr wrap="square" lIns="254" tIns="254" rIns="254" bIns="254" rtlCol="0" anchor="t">
            <a:normAutofit/>
          </a:bodyPr>
          <a:lstStyle/>
          <a:p>
            <a:pPr algn="ctr" indent="0" marL="0">
              <a:buNone/>
            </a:pPr>
            <a:r>
              <a:rPr lang="en-US" sz="1100" dirty="0">
                <a:solidFill>
                  <a:srgbClr val="5B6770"/>
                </a:solidFill>
              </a:rPr>
              <a:t>percepts -&gt; action</a:t>
            </a:r>
            <a:endParaRPr lang="en-US" sz="1100" dirty="0"/>
          </a:p>
        </p:txBody>
      </p:sp>
      <p:sp>
        <p:nvSpPr>
          <p:cNvPr id="6" name="Shape 4"/>
          <p:cNvSpPr/>
          <p:nvPr/>
        </p:nvSpPr>
        <p:spPr>
          <a:xfrm>
            <a:off x="1920240" y="1783080"/>
            <a:ext cx="448056" cy="0"/>
          </a:xfrm>
          <a:prstGeom prst="line">
            <a:avLst/>
          </a:prstGeom>
          <a:noFill/>
          <a:ln w="22860">
            <a:solidFill>
              <a:srgbClr val="5B6770"/>
            </a:solidFill>
            <a:prstDash val="solid"/>
            <a:headEnd type="none"/>
            <a:tailEnd type="triangle"/>
          </a:ln>
        </p:spPr>
      </p:sp>
      <p:sp>
        <p:nvSpPr>
          <p:cNvPr id="7" name="Shape 5"/>
          <p:cNvSpPr/>
          <p:nvPr/>
        </p:nvSpPr>
        <p:spPr>
          <a:xfrm>
            <a:off x="2423160" y="1417320"/>
            <a:ext cx="1417320" cy="731520"/>
          </a:xfrm>
          <a:prstGeom prst="roundRect">
            <a:avLst>
              <a:gd name="adj" fmla="val 10000"/>
            </a:avLst>
          </a:prstGeom>
          <a:solidFill>
            <a:srgbClr val="1E7A3B"/>
          </a:solidFill>
          <a:ln w="15240">
            <a:solidFill>
              <a:srgbClr val="1E7A3B"/>
            </a:solidFill>
            <a:prstDash val="solid"/>
          </a:ln>
        </p:spPr>
      </p:sp>
      <p:sp>
        <p:nvSpPr>
          <p:cNvPr id="8" name="Text 6"/>
          <p:cNvSpPr/>
          <p:nvPr/>
        </p:nvSpPr>
        <p:spPr>
          <a:xfrm>
            <a:off x="2532888" y="1508760"/>
            <a:ext cx="1197864" cy="54864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Rationality</a:t>
            </a:r>
            <a:endParaRPr lang="en-US" sz="1400" dirty="0"/>
          </a:p>
        </p:txBody>
      </p:sp>
      <p:sp>
        <p:nvSpPr>
          <p:cNvPr id="9" name="Text 7"/>
          <p:cNvSpPr/>
          <p:nvPr/>
        </p:nvSpPr>
        <p:spPr>
          <a:xfrm>
            <a:off x="2423160" y="2258568"/>
            <a:ext cx="1417320" cy="320040"/>
          </a:xfrm>
          <a:prstGeom prst="rect">
            <a:avLst/>
          </a:prstGeom>
          <a:noFill/>
          <a:ln/>
        </p:spPr>
        <p:txBody>
          <a:bodyPr wrap="square" lIns="254" tIns="254" rIns="254" bIns="254" rtlCol="0" anchor="t">
            <a:normAutofit/>
          </a:bodyPr>
          <a:lstStyle/>
          <a:p>
            <a:pPr algn="ctr" indent="0" marL="0">
              <a:buNone/>
            </a:pPr>
            <a:r>
              <a:rPr lang="en-US" sz="1100" dirty="0">
                <a:solidFill>
                  <a:srgbClr val="5B6770"/>
                </a:solidFill>
              </a:rPr>
              <a:t>expected performance</a:t>
            </a:r>
            <a:endParaRPr lang="en-US" sz="1100" dirty="0"/>
          </a:p>
        </p:txBody>
      </p:sp>
      <p:sp>
        <p:nvSpPr>
          <p:cNvPr id="10" name="Shape 8"/>
          <p:cNvSpPr/>
          <p:nvPr/>
        </p:nvSpPr>
        <p:spPr>
          <a:xfrm>
            <a:off x="3840480" y="1783080"/>
            <a:ext cx="448056" cy="0"/>
          </a:xfrm>
          <a:prstGeom prst="line">
            <a:avLst/>
          </a:prstGeom>
          <a:noFill/>
          <a:ln w="22860">
            <a:solidFill>
              <a:srgbClr val="5B6770"/>
            </a:solidFill>
            <a:prstDash val="solid"/>
            <a:headEnd type="none"/>
            <a:tailEnd type="triangle"/>
          </a:ln>
        </p:spPr>
      </p:sp>
      <p:sp>
        <p:nvSpPr>
          <p:cNvPr id="11" name="Shape 9"/>
          <p:cNvSpPr/>
          <p:nvPr/>
        </p:nvSpPr>
        <p:spPr>
          <a:xfrm>
            <a:off x="4343400" y="1417320"/>
            <a:ext cx="1417320" cy="731520"/>
          </a:xfrm>
          <a:prstGeom prst="roundRect">
            <a:avLst>
              <a:gd name="adj" fmla="val 10000"/>
            </a:avLst>
          </a:prstGeom>
          <a:solidFill>
            <a:srgbClr val="008A96"/>
          </a:solidFill>
          <a:ln w="15240">
            <a:solidFill>
              <a:srgbClr val="008A96"/>
            </a:solidFill>
            <a:prstDash val="solid"/>
          </a:ln>
        </p:spPr>
      </p:sp>
      <p:sp>
        <p:nvSpPr>
          <p:cNvPr id="12" name="Text 10"/>
          <p:cNvSpPr/>
          <p:nvPr/>
        </p:nvSpPr>
        <p:spPr>
          <a:xfrm>
            <a:off x="4453128" y="1508760"/>
            <a:ext cx="1197864" cy="54864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PEAS</a:t>
            </a:r>
            <a:endParaRPr lang="en-US" sz="1400" dirty="0"/>
          </a:p>
        </p:txBody>
      </p:sp>
      <p:sp>
        <p:nvSpPr>
          <p:cNvPr id="13" name="Text 11"/>
          <p:cNvSpPr/>
          <p:nvPr/>
        </p:nvSpPr>
        <p:spPr>
          <a:xfrm>
            <a:off x="4343400" y="2258568"/>
            <a:ext cx="1417320" cy="320040"/>
          </a:xfrm>
          <a:prstGeom prst="rect">
            <a:avLst/>
          </a:prstGeom>
          <a:noFill/>
          <a:ln/>
        </p:spPr>
        <p:txBody>
          <a:bodyPr wrap="square" lIns="254" tIns="254" rIns="254" bIns="254" rtlCol="0" anchor="t">
            <a:normAutofit/>
          </a:bodyPr>
          <a:lstStyle/>
          <a:p>
            <a:pPr algn="ctr" indent="0" marL="0">
              <a:buNone/>
            </a:pPr>
            <a:r>
              <a:rPr lang="en-US" sz="1100" dirty="0">
                <a:solidFill>
                  <a:srgbClr val="5B6770"/>
                </a:solidFill>
              </a:rPr>
              <a:t>task specification</a:t>
            </a:r>
            <a:endParaRPr lang="en-US" sz="1100" dirty="0"/>
          </a:p>
        </p:txBody>
      </p:sp>
      <p:sp>
        <p:nvSpPr>
          <p:cNvPr id="14" name="Shape 12"/>
          <p:cNvSpPr/>
          <p:nvPr/>
        </p:nvSpPr>
        <p:spPr>
          <a:xfrm>
            <a:off x="5760720" y="1783080"/>
            <a:ext cx="448056" cy="0"/>
          </a:xfrm>
          <a:prstGeom prst="line">
            <a:avLst/>
          </a:prstGeom>
          <a:noFill/>
          <a:ln w="22860">
            <a:solidFill>
              <a:srgbClr val="5B6770"/>
            </a:solidFill>
            <a:prstDash val="solid"/>
            <a:headEnd type="none"/>
            <a:tailEnd type="triangle"/>
          </a:ln>
        </p:spPr>
      </p:sp>
      <p:sp>
        <p:nvSpPr>
          <p:cNvPr id="15" name="Shape 13"/>
          <p:cNvSpPr/>
          <p:nvPr/>
        </p:nvSpPr>
        <p:spPr>
          <a:xfrm>
            <a:off x="6263640" y="1417320"/>
            <a:ext cx="1417320" cy="731520"/>
          </a:xfrm>
          <a:prstGeom prst="roundRect">
            <a:avLst>
              <a:gd name="adj" fmla="val 10000"/>
            </a:avLst>
          </a:prstGeom>
          <a:solidFill>
            <a:srgbClr val="6A2FD4"/>
          </a:solidFill>
          <a:ln w="15240">
            <a:solidFill>
              <a:srgbClr val="6A2FD4"/>
            </a:solidFill>
            <a:prstDash val="solid"/>
          </a:ln>
        </p:spPr>
      </p:sp>
      <p:sp>
        <p:nvSpPr>
          <p:cNvPr id="16" name="Text 14"/>
          <p:cNvSpPr/>
          <p:nvPr/>
        </p:nvSpPr>
        <p:spPr>
          <a:xfrm>
            <a:off x="6373368" y="1508760"/>
            <a:ext cx="1197864" cy="54864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Environment</a:t>
            </a:r>
            <a:endParaRPr lang="en-US" sz="1400" dirty="0"/>
          </a:p>
        </p:txBody>
      </p:sp>
      <p:sp>
        <p:nvSpPr>
          <p:cNvPr id="17" name="Text 15"/>
          <p:cNvSpPr/>
          <p:nvPr/>
        </p:nvSpPr>
        <p:spPr>
          <a:xfrm>
            <a:off x="6263640" y="2258568"/>
            <a:ext cx="1417320" cy="320040"/>
          </a:xfrm>
          <a:prstGeom prst="rect">
            <a:avLst/>
          </a:prstGeom>
          <a:noFill/>
          <a:ln/>
        </p:spPr>
        <p:txBody>
          <a:bodyPr wrap="square" lIns="254" tIns="254" rIns="254" bIns="254" rtlCol="0" anchor="t">
            <a:normAutofit/>
          </a:bodyPr>
          <a:lstStyle/>
          <a:p>
            <a:pPr algn="ctr" indent="0" marL="0">
              <a:buNone/>
            </a:pPr>
            <a:r>
              <a:rPr lang="en-US" sz="1100" dirty="0">
                <a:solidFill>
                  <a:srgbClr val="5B6770"/>
                </a:solidFill>
              </a:rPr>
              <a:t>what makes it hard</a:t>
            </a:r>
            <a:endParaRPr lang="en-US" sz="1100" dirty="0"/>
          </a:p>
        </p:txBody>
      </p:sp>
      <p:sp>
        <p:nvSpPr>
          <p:cNvPr id="18" name="Shape 16"/>
          <p:cNvSpPr/>
          <p:nvPr/>
        </p:nvSpPr>
        <p:spPr>
          <a:xfrm>
            <a:off x="7680960" y="1783080"/>
            <a:ext cx="448056" cy="0"/>
          </a:xfrm>
          <a:prstGeom prst="line">
            <a:avLst/>
          </a:prstGeom>
          <a:noFill/>
          <a:ln w="22860">
            <a:solidFill>
              <a:srgbClr val="5B6770"/>
            </a:solidFill>
            <a:prstDash val="solid"/>
            <a:headEnd type="none"/>
            <a:tailEnd type="triangle"/>
          </a:ln>
        </p:spPr>
      </p:sp>
      <p:sp>
        <p:nvSpPr>
          <p:cNvPr id="19" name="Shape 17"/>
          <p:cNvSpPr/>
          <p:nvPr/>
        </p:nvSpPr>
        <p:spPr>
          <a:xfrm>
            <a:off x="8183880" y="1417320"/>
            <a:ext cx="1417320" cy="731520"/>
          </a:xfrm>
          <a:prstGeom prst="roundRect">
            <a:avLst>
              <a:gd name="adj" fmla="val 10000"/>
            </a:avLst>
          </a:prstGeom>
          <a:solidFill>
            <a:srgbClr val="A71D1D"/>
          </a:solidFill>
          <a:ln w="15240">
            <a:solidFill>
              <a:srgbClr val="A71D1D"/>
            </a:solidFill>
            <a:prstDash val="solid"/>
          </a:ln>
        </p:spPr>
      </p:sp>
      <p:sp>
        <p:nvSpPr>
          <p:cNvPr id="20" name="Text 18"/>
          <p:cNvSpPr/>
          <p:nvPr/>
        </p:nvSpPr>
        <p:spPr>
          <a:xfrm>
            <a:off x="8293608" y="1508760"/>
            <a:ext cx="1197864" cy="54864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Agent types</a:t>
            </a:r>
            <a:endParaRPr lang="en-US" sz="1400" dirty="0"/>
          </a:p>
        </p:txBody>
      </p:sp>
      <p:sp>
        <p:nvSpPr>
          <p:cNvPr id="21" name="Text 19"/>
          <p:cNvSpPr/>
          <p:nvPr/>
        </p:nvSpPr>
        <p:spPr>
          <a:xfrm>
            <a:off x="8183880" y="2258568"/>
            <a:ext cx="1417320" cy="320040"/>
          </a:xfrm>
          <a:prstGeom prst="rect">
            <a:avLst/>
          </a:prstGeom>
          <a:noFill/>
          <a:ln/>
        </p:spPr>
        <p:txBody>
          <a:bodyPr wrap="square" lIns="254" tIns="254" rIns="254" bIns="254" rtlCol="0" anchor="t">
            <a:normAutofit/>
          </a:bodyPr>
          <a:lstStyle/>
          <a:p>
            <a:pPr algn="ctr" indent="0" marL="0">
              <a:buNone/>
            </a:pPr>
            <a:r>
              <a:rPr lang="en-US" sz="1100" dirty="0">
                <a:solidFill>
                  <a:srgbClr val="5B6770"/>
                </a:solidFill>
              </a:rPr>
              <a:t>reflex to utility</a:t>
            </a:r>
            <a:endParaRPr lang="en-US" sz="1100" dirty="0"/>
          </a:p>
        </p:txBody>
      </p:sp>
      <p:sp>
        <p:nvSpPr>
          <p:cNvPr id="22" name="Shape 20"/>
          <p:cNvSpPr/>
          <p:nvPr/>
        </p:nvSpPr>
        <p:spPr>
          <a:xfrm>
            <a:off x="9601200" y="1783080"/>
            <a:ext cx="448056" cy="0"/>
          </a:xfrm>
          <a:prstGeom prst="line">
            <a:avLst/>
          </a:prstGeom>
          <a:noFill/>
          <a:ln w="22860">
            <a:solidFill>
              <a:srgbClr val="5B6770"/>
            </a:solidFill>
            <a:prstDash val="solid"/>
            <a:headEnd type="none"/>
            <a:tailEnd type="triangle"/>
          </a:ln>
        </p:spPr>
      </p:sp>
      <p:sp>
        <p:nvSpPr>
          <p:cNvPr id="23" name="Shape 21"/>
          <p:cNvSpPr/>
          <p:nvPr/>
        </p:nvSpPr>
        <p:spPr>
          <a:xfrm>
            <a:off x="10104120" y="1417320"/>
            <a:ext cx="1417320" cy="731520"/>
          </a:xfrm>
          <a:prstGeom prst="roundRect">
            <a:avLst>
              <a:gd name="adj" fmla="val 10000"/>
            </a:avLst>
          </a:prstGeom>
          <a:solidFill>
            <a:srgbClr val="F5A623"/>
          </a:solidFill>
          <a:ln w="15240">
            <a:solidFill>
              <a:srgbClr val="F5A623"/>
            </a:solidFill>
            <a:prstDash val="solid"/>
          </a:ln>
        </p:spPr>
      </p:sp>
      <p:sp>
        <p:nvSpPr>
          <p:cNvPr id="24" name="Text 22"/>
          <p:cNvSpPr/>
          <p:nvPr/>
        </p:nvSpPr>
        <p:spPr>
          <a:xfrm>
            <a:off x="10213848" y="1508760"/>
            <a:ext cx="1197864" cy="548640"/>
          </a:xfrm>
          <a:prstGeom prst="rect">
            <a:avLst/>
          </a:prstGeom>
          <a:noFill/>
          <a:ln/>
        </p:spPr>
        <p:txBody>
          <a:bodyPr wrap="square" lIns="254" tIns="254" rIns="254" bIns="254" rtlCol="0" anchor="ctr">
            <a:normAutofit/>
          </a:bodyPr>
          <a:lstStyle/>
          <a:p>
            <a:pPr algn="ctr" indent="0" marL="0">
              <a:buNone/>
            </a:pPr>
            <a:r>
              <a:rPr lang="en-US" sz="1400" b="1" dirty="0">
                <a:solidFill>
                  <a:srgbClr val="14213D"/>
                </a:solidFill>
              </a:rPr>
              <a:t>Learning</a:t>
            </a:r>
            <a:endParaRPr lang="en-US" sz="1400" dirty="0"/>
          </a:p>
        </p:txBody>
      </p:sp>
      <p:sp>
        <p:nvSpPr>
          <p:cNvPr id="25" name="Text 23"/>
          <p:cNvSpPr/>
          <p:nvPr/>
        </p:nvSpPr>
        <p:spPr>
          <a:xfrm>
            <a:off x="10104120" y="2258568"/>
            <a:ext cx="1417320" cy="320040"/>
          </a:xfrm>
          <a:prstGeom prst="rect">
            <a:avLst/>
          </a:prstGeom>
          <a:noFill/>
          <a:ln/>
        </p:spPr>
        <p:txBody>
          <a:bodyPr wrap="square" lIns="254" tIns="254" rIns="254" bIns="254" rtlCol="0" anchor="t">
            <a:normAutofit/>
          </a:bodyPr>
          <a:lstStyle/>
          <a:p>
            <a:pPr algn="ctr" indent="0" marL="0">
              <a:buNone/>
            </a:pPr>
            <a:r>
              <a:rPr lang="en-US" sz="1100" dirty="0">
                <a:solidFill>
                  <a:srgbClr val="5B6770"/>
                </a:solidFill>
              </a:rPr>
              <a:t>improve with feedback</a:t>
            </a:r>
            <a:endParaRPr lang="en-US" sz="1100" dirty="0"/>
          </a:p>
        </p:txBody>
      </p:sp>
      <p:sp>
        <p:nvSpPr>
          <p:cNvPr id="26" name="Text 24"/>
          <p:cNvSpPr/>
          <p:nvPr/>
        </p:nvSpPr>
        <p:spPr>
          <a:xfrm>
            <a:off x="640080" y="3063240"/>
            <a:ext cx="2011680" cy="274320"/>
          </a:xfrm>
          <a:prstGeom prst="rect">
            <a:avLst/>
          </a:prstGeom>
          <a:noFill/>
          <a:ln/>
        </p:spPr>
        <p:txBody>
          <a:bodyPr wrap="square" lIns="0" tIns="0" rIns="0" bIns="0" rtlCol="0" anchor="ctr"/>
          <a:lstStyle/>
          <a:p>
            <a:pPr indent="0" marL="0">
              <a:buNone/>
            </a:pPr>
            <a:r>
              <a:rPr lang="en-US" sz="2000" b="1" dirty="0">
                <a:solidFill>
                  <a:srgbClr val="0B2D5B"/>
                </a:solidFill>
              </a:rPr>
              <a:t>Teaching flow</a:t>
            </a:r>
            <a:endParaRPr lang="en-US" sz="2000" dirty="0"/>
          </a:p>
        </p:txBody>
      </p:sp>
      <p:sp>
        <p:nvSpPr>
          <p:cNvPr id="27" name="Text 25"/>
          <p:cNvSpPr/>
          <p:nvPr/>
        </p:nvSpPr>
        <p:spPr>
          <a:xfrm>
            <a:off x="822960" y="3566160"/>
            <a:ext cx="10424160" cy="365760"/>
          </a:xfrm>
          <a:prstGeom prst="rect">
            <a:avLst/>
          </a:prstGeom>
          <a:noFill/>
          <a:ln/>
        </p:spPr>
        <p:txBody>
          <a:bodyPr wrap="square" lIns="254" tIns="254" rIns="254" bIns="254" rtlCol="0" anchor="t">
            <a:normAutofit/>
          </a:bodyPr>
          <a:lstStyle/>
          <a:p>
            <a:r>
              <a:rPr lang="en-US" sz="1600" dirty="0">
                <a:solidFill>
                  <a:srgbClr val="14213D"/>
                </a:solidFill>
              </a:rPr>
              <a:t>Start with the Berkeley/Pac-Man intuition: an agent receives percepts and chooses actions.</a:t>
            </a:r>
            <a:endParaRPr lang="en-US" sz="1600" dirty="0"/>
          </a:p>
        </p:txBody>
      </p:sp>
      <p:sp>
        <p:nvSpPr>
          <p:cNvPr id="28" name="Text 26"/>
          <p:cNvSpPr/>
          <p:nvPr/>
        </p:nvSpPr>
        <p:spPr>
          <a:xfrm>
            <a:off x="822960" y="4041648"/>
            <a:ext cx="10424160" cy="365760"/>
          </a:xfrm>
          <a:prstGeom prst="rect">
            <a:avLst/>
          </a:prstGeom>
          <a:noFill/>
          <a:ln/>
        </p:spPr>
        <p:txBody>
          <a:bodyPr wrap="square" lIns="254" tIns="254" rIns="254" bIns="254" rtlCol="0" anchor="t">
            <a:normAutofit/>
          </a:bodyPr>
          <a:lstStyle/>
          <a:p>
            <a:r>
              <a:rPr lang="en-US" sz="1600" dirty="0">
                <a:solidFill>
                  <a:srgbClr val="14213D"/>
                </a:solidFill>
              </a:rPr>
              <a:t>Then formalize: agent function, agent program, performance measure, and rationality.</a:t>
            </a:r>
            <a:endParaRPr lang="en-US" sz="1600" dirty="0"/>
          </a:p>
        </p:txBody>
      </p:sp>
      <p:sp>
        <p:nvSpPr>
          <p:cNvPr id="29" name="Text 27"/>
          <p:cNvSpPr/>
          <p:nvPr/>
        </p:nvSpPr>
        <p:spPr>
          <a:xfrm>
            <a:off x="822960" y="4517136"/>
            <a:ext cx="10424160" cy="365760"/>
          </a:xfrm>
          <a:prstGeom prst="rect">
            <a:avLst/>
          </a:prstGeom>
          <a:noFill/>
          <a:ln/>
        </p:spPr>
        <p:txBody>
          <a:bodyPr wrap="square" lIns="254" tIns="254" rIns="254" bIns="254" rtlCol="0" anchor="t">
            <a:normAutofit/>
          </a:bodyPr>
          <a:lstStyle/>
          <a:p>
            <a:r>
              <a:rPr lang="en-US" sz="1600" dirty="0">
                <a:solidFill>
                  <a:srgbClr val="14213D"/>
                </a:solidFill>
              </a:rPr>
              <a:t>Then classify task environments and select a suitable agent architecture.</a:t>
            </a:r>
            <a:endParaRPr lang="en-US" sz="1600" dirty="0"/>
          </a:p>
        </p:txBody>
      </p:sp>
      <p:sp>
        <p:nvSpPr>
          <p:cNvPr id="30" name="Text 28"/>
          <p:cNvSpPr/>
          <p:nvPr/>
        </p:nvSpPr>
        <p:spPr>
          <a:xfrm>
            <a:off x="822960" y="4992624"/>
            <a:ext cx="10424160" cy="365760"/>
          </a:xfrm>
          <a:prstGeom prst="rect">
            <a:avLst/>
          </a:prstGeom>
          <a:noFill/>
          <a:ln/>
        </p:spPr>
        <p:txBody>
          <a:bodyPr wrap="square" lIns="254" tIns="254" rIns="254" bIns="254" rtlCol="0" anchor="t">
            <a:normAutofit/>
          </a:bodyPr>
          <a:lstStyle/>
          <a:p>
            <a:r>
              <a:rPr lang="en-US" sz="1600" dirty="0">
                <a:solidFill>
                  <a:srgbClr val="14213D"/>
                </a:solidFill>
              </a:rPr>
              <a:t>Close with learning agents and representation choices: atomic, factored, structured.</a:t>
            </a:r>
            <a:endParaRPr lang="en-US" sz="1600" dirty="0"/>
          </a:p>
        </p:txBody>
      </p:sp>
      <p:sp>
        <p:nvSpPr>
          <p:cNvPr id="32" name="Text 29"/>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2.1 Agents and Environments: The Perceive-Act Loop</a:t>
            </a:r>
            <a:endParaRPr lang="en-US" sz="2500" dirty="0"/>
          </a:p>
        </p:txBody>
      </p:sp>
      <p:sp>
        <p:nvSpPr>
          <p:cNvPr id="3" name="Shape 1"/>
          <p:cNvSpPr/>
          <p:nvPr/>
        </p:nvSpPr>
        <p:spPr>
          <a:xfrm>
            <a:off x="868680" y="1600200"/>
            <a:ext cx="3200400" cy="2148840"/>
          </a:xfrm>
          <a:prstGeom prst="roundRect">
            <a:avLst>
              <a:gd name="adj" fmla="val 3404"/>
            </a:avLst>
          </a:prstGeom>
          <a:solidFill>
            <a:srgbClr val="D9EAF7"/>
          </a:solidFill>
          <a:ln w="15240">
            <a:solidFill>
              <a:srgbClr val="9FBBD3"/>
            </a:solidFill>
            <a:prstDash val="solid"/>
          </a:ln>
        </p:spPr>
      </p:sp>
      <p:sp>
        <p:nvSpPr>
          <p:cNvPr id="4" name="Text 2"/>
          <p:cNvSpPr/>
          <p:nvPr/>
        </p:nvSpPr>
        <p:spPr>
          <a:xfrm>
            <a:off x="1097280" y="1783080"/>
            <a:ext cx="2743200" cy="292608"/>
          </a:xfrm>
          <a:prstGeom prst="rect">
            <a:avLst/>
          </a:prstGeom>
          <a:noFill/>
          <a:ln/>
        </p:spPr>
        <p:txBody>
          <a:bodyPr wrap="square" lIns="0" tIns="0" rIns="0" bIns="0" rtlCol="0" anchor="ctr"/>
          <a:lstStyle/>
          <a:p>
            <a:pPr algn="ctr" indent="0" marL="0">
              <a:buNone/>
            </a:pPr>
            <a:r>
              <a:rPr lang="en-US" sz="2000" b="1" dirty="0">
                <a:solidFill>
                  <a:srgbClr val="0B2D5B"/>
                </a:solidFill>
              </a:rPr>
              <a:t>AGENT</a:t>
            </a:r>
            <a:endParaRPr lang="en-US" sz="2000" dirty="0"/>
          </a:p>
        </p:txBody>
      </p:sp>
      <p:sp>
        <p:nvSpPr>
          <p:cNvPr id="5" name="Shape 3"/>
          <p:cNvSpPr/>
          <p:nvPr/>
        </p:nvSpPr>
        <p:spPr>
          <a:xfrm>
            <a:off x="1234440" y="2331720"/>
            <a:ext cx="1051560" cy="457200"/>
          </a:xfrm>
          <a:prstGeom prst="roundRect">
            <a:avLst>
              <a:gd name="adj" fmla="val 16000"/>
            </a:avLst>
          </a:prstGeom>
          <a:solidFill>
            <a:srgbClr val="FFFFFF"/>
          </a:solidFill>
          <a:ln w="15240">
            <a:solidFill>
              <a:srgbClr val="6C8CAF"/>
            </a:solidFill>
            <a:prstDash val="solid"/>
          </a:ln>
        </p:spPr>
      </p:sp>
      <p:sp>
        <p:nvSpPr>
          <p:cNvPr id="6" name="Text 4"/>
          <p:cNvSpPr/>
          <p:nvPr/>
        </p:nvSpPr>
        <p:spPr>
          <a:xfrm>
            <a:off x="1344168" y="2423160"/>
            <a:ext cx="832104" cy="274320"/>
          </a:xfrm>
          <a:prstGeom prst="rect">
            <a:avLst/>
          </a:prstGeom>
          <a:noFill/>
          <a:ln/>
        </p:spPr>
        <p:txBody>
          <a:bodyPr wrap="square" lIns="254" tIns="254" rIns="254" bIns="254" rtlCol="0" anchor="ctr">
            <a:normAutofit/>
          </a:bodyPr>
          <a:lstStyle/>
          <a:p>
            <a:pPr algn="ctr" indent="0" marL="0">
              <a:buNone/>
            </a:pPr>
            <a:r>
              <a:rPr lang="en-US" sz="1200" dirty="0">
                <a:solidFill>
                  <a:srgbClr val="14213D"/>
                </a:solidFill>
              </a:rPr>
              <a:t>Sensors</a:t>
            </a:r>
            <a:endParaRPr lang="en-US" sz="1200" dirty="0"/>
          </a:p>
        </p:txBody>
      </p:sp>
      <p:sp>
        <p:nvSpPr>
          <p:cNvPr id="7" name="Shape 5"/>
          <p:cNvSpPr/>
          <p:nvPr/>
        </p:nvSpPr>
        <p:spPr>
          <a:xfrm>
            <a:off x="2606040" y="2331720"/>
            <a:ext cx="1051560" cy="457200"/>
          </a:xfrm>
          <a:prstGeom prst="roundRect">
            <a:avLst>
              <a:gd name="adj" fmla="val 16000"/>
            </a:avLst>
          </a:prstGeom>
          <a:solidFill>
            <a:srgbClr val="FFFFFF"/>
          </a:solidFill>
          <a:ln w="15240">
            <a:solidFill>
              <a:srgbClr val="6C8CAF"/>
            </a:solidFill>
            <a:prstDash val="solid"/>
          </a:ln>
        </p:spPr>
      </p:sp>
      <p:sp>
        <p:nvSpPr>
          <p:cNvPr id="8" name="Text 6"/>
          <p:cNvSpPr/>
          <p:nvPr/>
        </p:nvSpPr>
        <p:spPr>
          <a:xfrm>
            <a:off x="2715768" y="2423160"/>
            <a:ext cx="832104" cy="274320"/>
          </a:xfrm>
          <a:prstGeom prst="rect">
            <a:avLst/>
          </a:prstGeom>
          <a:noFill/>
          <a:ln/>
        </p:spPr>
        <p:txBody>
          <a:bodyPr wrap="square" lIns="254" tIns="254" rIns="254" bIns="254" rtlCol="0" anchor="ctr">
            <a:normAutofit/>
          </a:bodyPr>
          <a:lstStyle/>
          <a:p>
            <a:pPr algn="ctr" indent="0" marL="0">
              <a:buNone/>
            </a:pPr>
            <a:r>
              <a:rPr lang="en-US" sz="1200" dirty="0">
                <a:solidFill>
                  <a:srgbClr val="14213D"/>
                </a:solidFill>
              </a:rPr>
              <a:t>Actuators</a:t>
            </a:r>
            <a:endParaRPr lang="en-US" sz="1200" dirty="0"/>
          </a:p>
        </p:txBody>
      </p:sp>
      <p:sp>
        <p:nvSpPr>
          <p:cNvPr id="9" name="Shape 7"/>
          <p:cNvSpPr/>
          <p:nvPr/>
        </p:nvSpPr>
        <p:spPr>
          <a:xfrm>
            <a:off x="5394960" y="1280160"/>
            <a:ext cx="4846320" cy="2788920"/>
          </a:xfrm>
          <a:prstGeom prst="roundRect">
            <a:avLst>
              <a:gd name="adj" fmla="val 2623"/>
            </a:avLst>
          </a:prstGeom>
          <a:solidFill>
            <a:srgbClr val="FFFFFF"/>
          </a:solidFill>
          <a:ln w="15240">
            <a:solidFill>
              <a:srgbClr val="A7B8C7"/>
            </a:solidFill>
            <a:prstDash val="solid"/>
          </a:ln>
        </p:spPr>
      </p:sp>
      <p:sp>
        <p:nvSpPr>
          <p:cNvPr id="10" name="Text 8"/>
          <p:cNvSpPr/>
          <p:nvPr/>
        </p:nvSpPr>
        <p:spPr>
          <a:xfrm>
            <a:off x="5504688" y="1371600"/>
            <a:ext cx="4626864" cy="2606040"/>
          </a:xfrm>
          <a:prstGeom prst="rect">
            <a:avLst/>
          </a:prstGeom>
          <a:noFill/>
          <a:ln/>
        </p:spPr>
        <p:txBody>
          <a:bodyPr wrap="square" lIns="254" tIns="254" rIns="254" bIns="254" rtlCol="0" anchor="ctr">
            <a:normAutofit/>
          </a:bodyPr>
          <a:lstStyle/>
          <a:p>
            <a:pPr algn="ctr" indent="0" marL="0">
              <a:buNone/>
            </a:pPr>
            <a:r>
              <a:rPr lang="en-US" sz="2000" b="1" dirty="0">
                <a:solidFill>
                  <a:srgbClr val="0B2D5B"/>
                </a:solidFill>
              </a:rPr>
              <a:t>ENVIRONMENT</a:t>
            </a:r>
            <a:endParaRPr lang="en-US" sz="2000" dirty="0"/>
          </a:p>
        </p:txBody>
      </p:sp>
      <p:sp>
        <p:nvSpPr>
          <p:cNvPr id="11" name="Shape 9"/>
          <p:cNvSpPr/>
          <p:nvPr/>
        </p:nvSpPr>
        <p:spPr>
          <a:xfrm>
            <a:off x="5394960" y="1901952"/>
            <a:ext cx="-1307592" cy="0"/>
          </a:xfrm>
          <a:prstGeom prst="line">
            <a:avLst/>
          </a:prstGeom>
          <a:noFill/>
          <a:ln w="30480">
            <a:solidFill>
              <a:srgbClr val="1E73BE"/>
            </a:solidFill>
            <a:prstDash val="solid"/>
            <a:headEnd type="none"/>
            <a:tailEnd type="triangle"/>
          </a:ln>
        </p:spPr>
      </p:sp>
      <p:sp>
        <p:nvSpPr>
          <p:cNvPr id="12" name="Text 10"/>
          <p:cNvSpPr/>
          <p:nvPr/>
        </p:nvSpPr>
        <p:spPr>
          <a:xfrm>
            <a:off x="4251960" y="1664208"/>
            <a:ext cx="1005840" cy="228600"/>
          </a:xfrm>
          <a:prstGeom prst="rect">
            <a:avLst/>
          </a:prstGeom>
          <a:noFill/>
          <a:ln/>
        </p:spPr>
        <p:txBody>
          <a:bodyPr wrap="square" lIns="0" tIns="0" rIns="0" bIns="0" rtlCol="0" anchor="ctr"/>
          <a:lstStyle/>
          <a:p>
            <a:pPr algn="ctr" indent="0" marL="0">
              <a:buNone/>
            </a:pPr>
            <a:r>
              <a:rPr lang="en-US" sz="1200" dirty="0">
                <a:solidFill>
                  <a:srgbClr val="1E73BE"/>
                </a:solidFill>
              </a:rPr>
              <a:t>Percepts</a:t>
            </a:r>
            <a:endParaRPr lang="en-US" sz="1200" dirty="0"/>
          </a:p>
        </p:txBody>
      </p:sp>
      <p:sp>
        <p:nvSpPr>
          <p:cNvPr id="13" name="Shape 11"/>
          <p:cNvSpPr/>
          <p:nvPr/>
        </p:nvSpPr>
        <p:spPr>
          <a:xfrm>
            <a:off x="4069080" y="3273552"/>
            <a:ext cx="1325880" cy="0"/>
          </a:xfrm>
          <a:prstGeom prst="line">
            <a:avLst/>
          </a:prstGeom>
          <a:noFill/>
          <a:ln w="30480">
            <a:solidFill>
              <a:srgbClr val="1E7A3B"/>
            </a:solidFill>
            <a:prstDash val="solid"/>
            <a:headEnd type="none"/>
            <a:tailEnd type="triangle"/>
          </a:ln>
        </p:spPr>
      </p:sp>
      <p:sp>
        <p:nvSpPr>
          <p:cNvPr id="14" name="Text 12"/>
          <p:cNvSpPr/>
          <p:nvPr/>
        </p:nvSpPr>
        <p:spPr>
          <a:xfrm>
            <a:off x="4233672" y="3374136"/>
            <a:ext cx="1097280" cy="228600"/>
          </a:xfrm>
          <a:prstGeom prst="rect">
            <a:avLst/>
          </a:prstGeom>
          <a:noFill/>
          <a:ln/>
        </p:spPr>
        <p:txBody>
          <a:bodyPr wrap="square" lIns="0" tIns="0" rIns="0" bIns="0" rtlCol="0" anchor="ctr"/>
          <a:lstStyle/>
          <a:p>
            <a:pPr algn="ctr" indent="0" marL="0">
              <a:buNone/>
            </a:pPr>
            <a:r>
              <a:rPr lang="en-US" sz="1200" dirty="0">
                <a:solidFill>
                  <a:srgbClr val="1E7A3B"/>
                </a:solidFill>
              </a:rPr>
              <a:t>Actions</a:t>
            </a:r>
            <a:endParaRPr lang="en-US" sz="1200" dirty="0"/>
          </a:p>
        </p:txBody>
      </p:sp>
      <p:sp>
        <p:nvSpPr>
          <p:cNvPr id="15" name="Shape 13"/>
          <p:cNvSpPr/>
          <p:nvPr/>
        </p:nvSpPr>
        <p:spPr>
          <a:xfrm>
            <a:off x="5029200" y="4160520"/>
            <a:ext cx="2743200" cy="914400"/>
          </a:xfrm>
          <a:prstGeom prst="arc">
            <a:avLst/>
          </a:prstGeom>
          <a:solidFill>
            <a:srgbClr val="FFFFFF">
              <a:alpha val="0"/>
            </a:srgbClr>
          </a:solidFill>
          <a:ln w="29210">
            <a:solidFill>
              <a:srgbClr val="F5A623"/>
            </a:solidFill>
            <a:prstDash val="solid"/>
            <a:headEnd type="none"/>
            <a:tailEnd type="triangle"/>
          </a:ln>
        </p:spPr>
      </p:sp>
      <p:sp>
        <p:nvSpPr>
          <p:cNvPr id="16" name="Text 14"/>
          <p:cNvSpPr/>
          <p:nvPr/>
        </p:nvSpPr>
        <p:spPr>
          <a:xfrm>
            <a:off x="5715000" y="5074920"/>
            <a:ext cx="4389120" cy="320040"/>
          </a:xfrm>
          <a:prstGeom prst="rect">
            <a:avLst/>
          </a:prstGeom>
          <a:noFill/>
          <a:ln/>
        </p:spPr>
        <p:txBody>
          <a:bodyPr wrap="square" lIns="0" tIns="0" rIns="0" bIns="0" rtlCol="0" anchor="ctr"/>
          <a:lstStyle/>
          <a:p>
            <a:pPr algn="ctr" indent="0" marL="0">
              <a:buNone/>
            </a:pPr>
            <a:r>
              <a:rPr lang="en-US" sz="1400" dirty="0">
                <a:solidFill>
                  <a:srgbClr val="5B6770"/>
                </a:solidFill>
              </a:rPr>
              <a:t>The environment changes; the agent senses again.</a:t>
            </a:r>
            <a:endParaRPr lang="en-US" sz="1400" dirty="0"/>
          </a:p>
        </p:txBody>
      </p:sp>
      <p:sp>
        <p:nvSpPr>
          <p:cNvPr id="17" name="Shape 15"/>
          <p:cNvSpPr/>
          <p:nvPr/>
        </p:nvSpPr>
        <p:spPr>
          <a:xfrm>
            <a:off x="868680" y="4709160"/>
            <a:ext cx="3200400" cy="868680"/>
          </a:xfrm>
          <a:prstGeom prst="roundRect">
            <a:avLst>
              <a:gd name="adj" fmla="val 5263"/>
            </a:avLst>
          </a:prstGeom>
          <a:solidFill>
            <a:srgbClr val="FFFFFF"/>
          </a:solidFill>
          <a:ln w="15240">
            <a:solidFill>
              <a:srgbClr val="D4E0EA"/>
            </a:solidFill>
            <a:prstDash val="solid"/>
          </a:ln>
        </p:spPr>
      </p:sp>
      <p:sp>
        <p:nvSpPr>
          <p:cNvPr id="18" name="Shape 16"/>
          <p:cNvSpPr/>
          <p:nvPr/>
        </p:nvSpPr>
        <p:spPr>
          <a:xfrm>
            <a:off x="868680" y="4709160"/>
            <a:ext cx="3200400" cy="347472"/>
          </a:xfrm>
          <a:prstGeom prst="rect">
            <a:avLst/>
          </a:prstGeom>
          <a:solidFill>
            <a:srgbClr val="008A96"/>
          </a:solidFill>
          <a:ln w="12700">
            <a:solidFill>
              <a:srgbClr val="008A96"/>
            </a:solidFill>
            <a:prstDash val="solid"/>
          </a:ln>
        </p:spPr>
      </p:sp>
      <p:sp>
        <p:nvSpPr>
          <p:cNvPr id="19" name="Text 17"/>
          <p:cNvSpPr/>
          <p:nvPr/>
        </p:nvSpPr>
        <p:spPr>
          <a:xfrm>
            <a:off x="978408" y="4782312"/>
            <a:ext cx="2980944" cy="201168"/>
          </a:xfrm>
          <a:prstGeom prst="rect">
            <a:avLst/>
          </a:prstGeom>
          <a:noFill/>
          <a:ln/>
        </p:spPr>
        <p:txBody>
          <a:bodyPr wrap="square" lIns="0" tIns="0" rIns="0" bIns="0" rtlCol="0" anchor="ctr"/>
          <a:lstStyle/>
          <a:p>
            <a:pPr algn="ctr" indent="0" marL="0">
              <a:buNone/>
            </a:pPr>
            <a:r>
              <a:rPr lang="en-US" sz="1300" b="1" dirty="0">
                <a:solidFill>
                  <a:srgbClr val="FFFFFF"/>
                </a:solidFill>
              </a:rPr>
              <a:t>Examples</a:t>
            </a:r>
            <a:endParaRPr lang="en-US" sz="1300" dirty="0"/>
          </a:p>
        </p:txBody>
      </p:sp>
      <p:sp>
        <p:nvSpPr>
          <p:cNvPr id="20" name="Text 18"/>
          <p:cNvSpPr/>
          <p:nvPr/>
        </p:nvSpPr>
        <p:spPr>
          <a:xfrm>
            <a:off x="1033272" y="5184648"/>
            <a:ext cx="2871216" cy="3017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Human: eyes/ears -&gt; hands/voice</a:t>
            </a:r>
            <a:endParaRPr lang="en-US" sz="1300" dirty="0"/>
          </a:p>
          <a:p>
            <a:pPr indent="0" marL="0">
              <a:buNone/>
            </a:pPr>
            <a:r>
              <a:rPr lang="en-US" sz="1300" dirty="0">
                <a:solidFill>
                  <a:srgbClr val="14213D"/>
                </a:solidFill>
              </a:rPr>
              <a:t>Robot: camera/lidar -&gt; motors</a:t>
            </a:r>
            <a:endParaRPr lang="en-US" sz="1300" dirty="0"/>
          </a:p>
          <a:p>
            <a:pPr indent="0" marL="0">
              <a:buNone/>
            </a:pPr>
            <a:r>
              <a:rPr lang="en-US" sz="1300" dirty="0">
                <a:solidFill>
                  <a:srgbClr val="14213D"/>
                </a:solidFill>
              </a:rPr>
              <a:t>Software: packets/input -&gt; files/network</a:t>
            </a:r>
            <a:endParaRPr lang="en-US" sz="1300" dirty="0"/>
          </a:p>
        </p:txBody>
      </p:sp>
      <p:sp>
        <p:nvSpPr>
          <p:cNvPr id="22" name="Text 19"/>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2.1 From Percepts to Agent Functions</a:t>
            </a:r>
            <a:endParaRPr lang="en-US" sz="2500" dirty="0"/>
          </a:p>
        </p:txBody>
      </p:sp>
      <p:sp>
        <p:nvSpPr>
          <p:cNvPr id="3" name="Shape 1"/>
          <p:cNvSpPr/>
          <p:nvPr/>
        </p:nvSpPr>
        <p:spPr>
          <a:xfrm>
            <a:off x="640080" y="1170432"/>
            <a:ext cx="2743200" cy="1051560"/>
          </a:xfrm>
          <a:prstGeom prst="roundRect">
            <a:avLst>
              <a:gd name="adj" fmla="val 4348"/>
            </a:avLst>
          </a:prstGeom>
          <a:solidFill>
            <a:srgbClr val="FFFFFF"/>
          </a:solidFill>
          <a:ln w="15240">
            <a:solidFill>
              <a:srgbClr val="D4E0EA"/>
            </a:solidFill>
            <a:prstDash val="solid"/>
          </a:ln>
        </p:spPr>
      </p:sp>
      <p:sp>
        <p:nvSpPr>
          <p:cNvPr id="4" name="Shape 2"/>
          <p:cNvSpPr/>
          <p:nvPr/>
        </p:nvSpPr>
        <p:spPr>
          <a:xfrm>
            <a:off x="640080" y="1170432"/>
            <a:ext cx="2743200" cy="347472"/>
          </a:xfrm>
          <a:prstGeom prst="rect">
            <a:avLst/>
          </a:prstGeom>
          <a:solidFill>
            <a:srgbClr val="1E73BE"/>
          </a:solidFill>
          <a:ln w="12700">
            <a:solidFill>
              <a:srgbClr val="1E73BE"/>
            </a:solidFill>
            <a:prstDash val="solid"/>
          </a:ln>
        </p:spPr>
      </p:sp>
      <p:sp>
        <p:nvSpPr>
          <p:cNvPr id="5" name="Text 3"/>
          <p:cNvSpPr/>
          <p:nvPr/>
        </p:nvSpPr>
        <p:spPr>
          <a:xfrm>
            <a:off x="749808" y="1243584"/>
            <a:ext cx="2523744" cy="201168"/>
          </a:xfrm>
          <a:prstGeom prst="rect">
            <a:avLst/>
          </a:prstGeom>
          <a:noFill/>
          <a:ln/>
        </p:spPr>
        <p:txBody>
          <a:bodyPr wrap="square" lIns="0" tIns="0" rIns="0" bIns="0" rtlCol="0" anchor="ctr"/>
          <a:lstStyle/>
          <a:p>
            <a:pPr algn="ctr" indent="0" marL="0">
              <a:buNone/>
            </a:pPr>
            <a:r>
              <a:rPr lang="en-US" sz="1300" b="1" dirty="0">
                <a:solidFill>
                  <a:srgbClr val="FFFFFF"/>
                </a:solidFill>
              </a:rPr>
              <a:t>Percept</a:t>
            </a:r>
            <a:endParaRPr lang="en-US" sz="1300" dirty="0"/>
          </a:p>
        </p:txBody>
      </p:sp>
      <p:sp>
        <p:nvSpPr>
          <p:cNvPr id="6" name="Text 4"/>
          <p:cNvSpPr/>
          <p:nvPr/>
        </p:nvSpPr>
        <p:spPr>
          <a:xfrm>
            <a:off x="804672" y="1645920"/>
            <a:ext cx="241401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Current sensor content.</a:t>
            </a:r>
            <a:endParaRPr lang="en-US" sz="1300" dirty="0"/>
          </a:p>
          <a:p>
            <a:pPr indent="0" marL="0">
              <a:buNone/>
            </a:pPr>
            <a:r>
              <a:rPr lang="en-US" sz="1300" dirty="0">
                <a:solidFill>
                  <a:srgbClr val="14213D"/>
                </a:solidFill>
              </a:rPr>
              <a:t>Example: current Pac-Man tile, nearby wall, visible ghost.</a:t>
            </a:r>
            <a:endParaRPr lang="en-US" sz="1300" dirty="0"/>
          </a:p>
        </p:txBody>
      </p:sp>
      <p:sp>
        <p:nvSpPr>
          <p:cNvPr id="7" name="Shape 5"/>
          <p:cNvSpPr/>
          <p:nvPr/>
        </p:nvSpPr>
        <p:spPr>
          <a:xfrm>
            <a:off x="3657600" y="1170432"/>
            <a:ext cx="2743200" cy="1051560"/>
          </a:xfrm>
          <a:prstGeom prst="roundRect">
            <a:avLst>
              <a:gd name="adj" fmla="val 4348"/>
            </a:avLst>
          </a:prstGeom>
          <a:solidFill>
            <a:srgbClr val="FFFFFF"/>
          </a:solidFill>
          <a:ln w="15240">
            <a:solidFill>
              <a:srgbClr val="D4E0EA"/>
            </a:solidFill>
            <a:prstDash val="solid"/>
          </a:ln>
        </p:spPr>
      </p:sp>
      <p:sp>
        <p:nvSpPr>
          <p:cNvPr id="8" name="Shape 6"/>
          <p:cNvSpPr/>
          <p:nvPr/>
        </p:nvSpPr>
        <p:spPr>
          <a:xfrm>
            <a:off x="3657600" y="1170432"/>
            <a:ext cx="2743200" cy="347472"/>
          </a:xfrm>
          <a:prstGeom prst="rect">
            <a:avLst/>
          </a:prstGeom>
          <a:solidFill>
            <a:srgbClr val="1E7A3B"/>
          </a:solidFill>
          <a:ln w="12700">
            <a:solidFill>
              <a:srgbClr val="1E7A3B"/>
            </a:solidFill>
            <a:prstDash val="solid"/>
          </a:ln>
        </p:spPr>
      </p:sp>
      <p:sp>
        <p:nvSpPr>
          <p:cNvPr id="9" name="Text 7"/>
          <p:cNvSpPr/>
          <p:nvPr/>
        </p:nvSpPr>
        <p:spPr>
          <a:xfrm>
            <a:off x="3767328" y="1243584"/>
            <a:ext cx="2523744" cy="201168"/>
          </a:xfrm>
          <a:prstGeom prst="rect">
            <a:avLst/>
          </a:prstGeom>
          <a:noFill/>
          <a:ln/>
        </p:spPr>
        <p:txBody>
          <a:bodyPr wrap="square" lIns="0" tIns="0" rIns="0" bIns="0" rtlCol="0" anchor="ctr"/>
          <a:lstStyle/>
          <a:p>
            <a:pPr algn="ctr" indent="0" marL="0">
              <a:buNone/>
            </a:pPr>
            <a:r>
              <a:rPr lang="en-US" sz="1300" b="1" dirty="0">
                <a:solidFill>
                  <a:srgbClr val="FFFFFF"/>
                </a:solidFill>
              </a:rPr>
              <a:t>Percept sequence</a:t>
            </a:r>
            <a:endParaRPr lang="en-US" sz="1300" dirty="0"/>
          </a:p>
        </p:txBody>
      </p:sp>
      <p:sp>
        <p:nvSpPr>
          <p:cNvPr id="10" name="Text 8"/>
          <p:cNvSpPr/>
          <p:nvPr/>
        </p:nvSpPr>
        <p:spPr>
          <a:xfrm>
            <a:off x="3822192" y="1645920"/>
            <a:ext cx="241401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Complete history of everything the agent has perceived.</a:t>
            </a:r>
            <a:endParaRPr lang="en-US" sz="1300" dirty="0"/>
          </a:p>
        </p:txBody>
      </p:sp>
      <p:sp>
        <p:nvSpPr>
          <p:cNvPr id="11" name="Shape 9"/>
          <p:cNvSpPr/>
          <p:nvPr/>
        </p:nvSpPr>
        <p:spPr>
          <a:xfrm>
            <a:off x="6675120" y="1170432"/>
            <a:ext cx="2423160" cy="1051560"/>
          </a:xfrm>
          <a:prstGeom prst="roundRect">
            <a:avLst>
              <a:gd name="adj" fmla="val 4348"/>
            </a:avLst>
          </a:prstGeom>
          <a:solidFill>
            <a:srgbClr val="FFFFFF"/>
          </a:solidFill>
          <a:ln w="15240">
            <a:solidFill>
              <a:srgbClr val="D4E0EA"/>
            </a:solidFill>
            <a:prstDash val="solid"/>
          </a:ln>
        </p:spPr>
      </p:sp>
      <p:sp>
        <p:nvSpPr>
          <p:cNvPr id="12" name="Shape 10"/>
          <p:cNvSpPr/>
          <p:nvPr/>
        </p:nvSpPr>
        <p:spPr>
          <a:xfrm>
            <a:off x="6675120" y="1170432"/>
            <a:ext cx="2423160" cy="347472"/>
          </a:xfrm>
          <a:prstGeom prst="rect">
            <a:avLst/>
          </a:prstGeom>
          <a:solidFill>
            <a:srgbClr val="6A2FD4"/>
          </a:solidFill>
          <a:ln w="12700">
            <a:solidFill>
              <a:srgbClr val="6A2FD4"/>
            </a:solidFill>
            <a:prstDash val="solid"/>
          </a:ln>
        </p:spPr>
      </p:sp>
      <p:sp>
        <p:nvSpPr>
          <p:cNvPr id="13" name="Text 11"/>
          <p:cNvSpPr/>
          <p:nvPr/>
        </p:nvSpPr>
        <p:spPr>
          <a:xfrm>
            <a:off x="6784848" y="1243584"/>
            <a:ext cx="220370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function</a:t>
            </a:r>
            <a:endParaRPr lang="en-US" sz="1300" dirty="0"/>
          </a:p>
        </p:txBody>
      </p:sp>
      <p:sp>
        <p:nvSpPr>
          <p:cNvPr id="14" name="Text 12"/>
          <p:cNvSpPr/>
          <p:nvPr/>
        </p:nvSpPr>
        <p:spPr>
          <a:xfrm>
            <a:off x="6839712" y="1645920"/>
            <a:ext cx="209397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Abstract mapping:</a:t>
            </a:r>
            <a:endParaRPr lang="en-US" sz="1300" dirty="0"/>
          </a:p>
          <a:p>
            <a:pPr indent="0" marL="0">
              <a:buNone/>
            </a:pPr>
            <a:r>
              <a:rPr lang="en-US" sz="1300" dirty="0">
                <a:solidFill>
                  <a:srgbClr val="14213D"/>
                </a:solidFill>
              </a:rPr>
              <a:t>percept sequence -&gt; action</a:t>
            </a:r>
            <a:endParaRPr lang="en-US" sz="1300" dirty="0"/>
          </a:p>
        </p:txBody>
      </p:sp>
      <p:sp>
        <p:nvSpPr>
          <p:cNvPr id="15" name="Shape 13"/>
          <p:cNvSpPr/>
          <p:nvPr/>
        </p:nvSpPr>
        <p:spPr>
          <a:xfrm>
            <a:off x="9372600" y="1170432"/>
            <a:ext cx="2148840" cy="1051560"/>
          </a:xfrm>
          <a:prstGeom prst="roundRect">
            <a:avLst>
              <a:gd name="adj" fmla="val 4348"/>
            </a:avLst>
          </a:prstGeom>
          <a:solidFill>
            <a:srgbClr val="FFFFFF"/>
          </a:solidFill>
          <a:ln w="15240">
            <a:solidFill>
              <a:srgbClr val="D4E0EA"/>
            </a:solidFill>
            <a:prstDash val="solid"/>
          </a:ln>
        </p:spPr>
      </p:sp>
      <p:sp>
        <p:nvSpPr>
          <p:cNvPr id="16" name="Shape 14"/>
          <p:cNvSpPr/>
          <p:nvPr/>
        </p:nvSpPr>
        <p:spPr>
          <a:xfrm>
            <a:off x="9372600" y="1170432"/>
            <a:ext cx="2148840" cy="347472"/>
          </a:xfrm>
          <a:prstGeom prst="rect">
            <a:avLst/>
          </a:prstGeom>
          <a:solidFill>
            <a:srgbClr val="A71D1D"/>
          </a:solidFill>
          <a:ln w="12700">
            <a:solidFill>
              <a:srgbClr val="A71D1D"/>
            </a:solidFill>
            <a:prstDash val="solid"/>
          </a:ln>
        </p:spPr>
      </p:sp>
      <p:sp>
        <p:nvSpPr>
          <p:cNvPr id="17" name="Text 15"/>
          <p:cNvSpPr/>
          <p:nvPr/>
        </p:nvSpPr>
        <p:spPr>
          <a:xfrm>
            <a:off x="9482328" y="1243584"/>
            <a:ext cx="192938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program</a:t>
            </a:r>
            <a:endParaRPr lang="en-US" sz="1300" dirty="0"/>
          </a:p>
        </p:txBody>
      </p:sp>
      <p:sp>
        <p:nvSpPr>
          <p:cNvPr id="18" name="Text 16"/>
          <p:cNvSpPr/>
          <p:nvPr/>
        </p:nvSpPr>
        <p:spPr>
          <a:xfrm>
            <a:off x="9537192" y="1645920"/>
            <a:ext cx="181965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Concrete code running on an architecture.</a:t>
            </a:r>
            <a:endParaRPr lang="en-US" sz="1300" dirty="0"/>
          </a:p>
        </p:txBody>
      </p:sp>
      <p:sp>
        <p:nvSpPr>
          <p:cNvPr id="19" name="Shape 17"/>
          <p:cNvSpPr/>
          <p:nvPr/>
        </p:nvSpPr>
        <p:spPr>
          <a:xfrm>
            <a:off x="3383280" y="1691640"/>
            <a:ext cx="274320" cy="0"/>
          </a:xfrm>
          <a:prstGeom prst="line">
            <a:avLst/>
          </a:prstGeom>
          <a:noFill/>
          <a:ln w="21590">
            <a:solidFill>
              <a:srgbClr val="5B6770"/>
            </a:solidFill>
            <a:prstDash val="solid"/>
            <a:headEnd type="none"/>
            <a:tailEnd type="triangle"/>
          </a:ln>
        </p:spPr>
      </p:sp>
      <p:sp>
        <p:nvSpPr>
          <p:cNvPr id="20" name="Shape 18"/>
          <p:cNvSpPr/>
          <p:nvPr/>
        </p:nvSpPr>
        <p:spPr>
          <a:xfrm>
            <a:off x="6400800" y="1691640"/>
            <a:ext cx="274320" cy="0"/>
          </a:xfrm>
          <a:prstGeom prst="line">
            <a:avLst/>
          </a:prstGeom>
          <a:noFill/>
          <a:ln w="21590">
            <a:solidFill>
              <a:srgbClr val="5B6770"/>
            </a:solidFill>
            <a:prstDash val="solid"/>
            <a:headEnd type="none"/>
            <a:tailEnd type="triangle"/>
          </a:ln>
        </p:spPr>
      </p:sp>
      <p:sp>
        <p:nvSpPr>
          <p:cNvPr id="21" name="Shape 19"/>
          <p:cNvSpPr/>
          <p:nvPr/>
        </p:nvSpPr>
        <p:spPr>
          <a:xfrm>
            <a:off x="9098280" y="1691640"/>
            <a:ext cx="274320" cy="0"/>
          </a:xfrm>
          <a:prstGeom prst="line">
            <a:avLst/>
          </a:prstGeom>
          <a:noFill/>
          <a:ln w="21590">
            <a:solidFill>
              <a:srgbClr val="5B6770"/>
            </a:solidFill>
            <a:prstDash val="solid"/>
            <a:headEnd type="none"/>
            <a:tailEnd type="triangle"/>
          </a:ln>
        </p:spPr>
      </p:sp>
      <p:sp>
        <p:nvSpPr>
          <p:cNvPr id="22" name="Text 20"/>
          <p:cNvSpPr/>
          <p:nvPr/>
        </p:nvSpPr>
        <p:spPr>
          <a:xfrm>
            <a:off x="777240" y="2880360"/>
            <a:ext cx="3840480" cy="292608"/>
          </a:xfrm>
          <a:prstGeom prst="rect">
            <a:avLst/>
          </a:prstGeom>
          <a:noFill/>
          <a:ln/>
        </p:spPr>
        <p:txBody>
          <a:bodyPr wrap="square" lIns="0" tIns="0" rIns="0" bIns="0" rtlCol="0" anchor="ctr"/>
          <a:lstStyle/>
          <a:p>
            <a:pPr indent="0" marL="0">
              <a:buNone/>
            </a:pPr>
            <a:r>
              <a:rPr lang="en-US" sz="2000" b="1" dirty="0">
                <a:solidFill>
                  <a:srgbClr val="0B2D5B"/>
                </a:solidFill>
              </a:rPr>
              <a:t>Do not confuse these two:</a:t>
            </a:r>
            <a:endParaRPr lang="en-US" sz="2000" dirty="0"/>
          </a:p>
        </p:txBody>
      </p:sp>
      <p:sp>
        <p:nvSpPr>
          <p:cNvPr id="23" name="Shape 21"/>
          <p:cNvSpPr/>
          <p:nvPr/>
        </p:nvSpPr>
        <p:spPr>
          <a:xfrm>
            <a:off x="868680" y="3337560"/>
            <a:ext cx="4846320" cy="1143000"/>
          </a:xfrm>
          <a:prstGeom prst="roundRect">
            <a:avLst>
              <a:gd name="adj" fmla="val 4000"/>
            </a:avLst>
          </a:prstGeom>
          <a:solidFill>
            <a:srgbClr val="FFFFFF"/>
          </a:solidFill>
          <a:ln w="15240">
            <a:solidFill>
              <a:srgbClr val="D4E0EA"/>
            </a:solidFill>
            <a:prstDash val="solid"/>
          </a:ln>
        </p:spPr>
      </p:sp>
      <p:sp>
        <p:nvSpPr>
          <p:cNvPr id="24" name="Shape 22"/>
          <p:cNvSpPr/>
          <p:nvPr/>
        </p:nvSpPr>
        <p:spPr>
          <a:xfrm>
            <a:off x="868680" y="3337560"/>
            <a:ext cx="4846320" cy="347472"/>
          </a:xfrm>
          <a:prstGeom prst="rect">
            <a:avLst/>
          </a:prstGeom>
          <a:solidFill>
            <a:srgbClr val="6A2FD4"/>
          </a:solidFill>
          <a:ln w="12700">
            <a:solidFill>
              <a:srgbClr val="6A2FD4"/>
            </a:solidFill>
            <a:prstDash val="solid"/>
          </a:ln>
        </p:spPr>
      </p:sp>
      <p:sp>
        <p:nvSpPr>
          <p:cNvPr id="25" name="Text 23"/>
          <p:cNvSpPr/>
          <p:nvPr/>
        </p:nvSpPr>
        <p:spPr>
          <a:xfrm>
            <a:off x="978408" y="3410712"/>
            <a:ext cx="462686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function</a:t>
            </a:r>
            <a:endParaRPr lang="en-US" sz="1300" dirty="0"/>
          </a:p>
        </p:txBody>
      </p:sp>
      <p:sp>
        <p:nvSpPr>
          <p:cNvPr id="26" name="Text 24"/>
          <p:cNvSpPr/>
          <p:nvPr/>
        </p:nvSpPr>
        <p:spPr>
          <a:xfrm>
            <a:off x="1033272" y="3813048"/>
            <a:ext cx="4517136" cy="57607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External mathematical description of behavior. It says which action follows from every possible percept sequence.</a:t>
            </a:r>
            <a:endParaRPr lang="en-US" sz="1300" dirty="0"/>
          </a:p>
        </p:txBody>
      </p:sp>
      <p:sp>
        <p:nvSpPr>
          <p:cNvPr id="27" name="Shape 25"/>
          <p:cNvSpPr/>
          <p:nvPr/>
        </p:nvSpPr>
        <p:spPr>
          <a:xfrm>
            <a:off x="6400800" y="3337560"/>
            <a:ext cx="4846320" cy="1143000"/>
          </a:xfrm>
          <a:prstGeom prst="roundRect">
            <a:avLst>
              <a:gd name="adj" fmla="val 4000"/>
            </a:avLst>
          </a:prstGeom>
          <a:solidFill>
            <a:srgbClr val="FFFFFF"/>
          </a:solidFill>
          <a:ln w="15240">
            <a:solidFill>
              <a:srgbClr val="D4E0EA"/>
            </a:solidFill>
            <a:prstDash val="solid"/>
          </a:ln>
        </p:spPr>
      </p:sp>
      <p:sp>
        <p:nvSpPr>
          <p:cNvPr id="28" name="Shape 26"/>
          <p:cNvSpPr/>
          <p:nvPr/>
        </p:nvSpPr>
        <p:spPr>
          <a:xfrm>
            <a:off x="6400800" y="3337560"/>
            <a:ext cx="4846320" cy="347472"/>
          </a:xfrm>
          <a:prstGeom prst="rect">
            <a:avLst/>
          </a:prstGeom>
          <a:solidFill>
            <a:srgbClr val="A71D1D"/>
          </a:solidFill>
          <a:ln w="12700">
            <a:solidFill>
              <a:srgbClr val="A71D1D"/>
            </a:solidFill>
            <a:prstDash val="solid"/>
          </a:ln>
        </p:spPr>
      </p:sp>
      <p:sp>
        <p:nvSpPr>
          <p:cNvPr id="29" name="Text 27"/>
          <p:cNvSpPr/>
          <p:nvPr/>
        </p:nvSpPr>
        <p:spPr>
          <a:xfrm>
            <a:off x="6510528" y="3410712"/>
            <a:ext cx="462686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program</a:t>
            </a:r>
            <a:endParaRPr lang="en-US" sz="1300" dirty="0"/>
          </a:p>
        </p:txBody>
      </p:sp>
      <p:sp>
        <p:nvSpPr>
          <p:cNvPr id="30" name="Text 28"/>
          <p:cNvSpPr/>
          <p:nvPr/>
        </p:nvSpPr>
        <p:spPr>
          <a:xfrm>
            <a:off x="6565392" y="3813048"/>
            <a:ext cx="4517136" cy="57607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Internal implementation. It receives the current percept and must store history if history matters.</a:t>
            </a:r>
            <a:endParaRPr lang="en-US" sz="1300" dirty="0"/>
          </a:p>
        </p:txBody>
      </p:sp>
      <p:sp>
        <p:nvSpPr>
          <p:cNvPr id="31" name="Text 29"/>
          <p:cNvSpPr/>
          <p:nvPr/>
        </p:nvSpPr>
        <p:spPr>
          <a:xfrm>
            <a:off x="914400" y="5166360"/>
            <a:ext cx="10424160" cy="411480"/>
          </a:xfrm>
          <a:prstGeom prst="rect">
            <a:avLst/>
          </a:prstGeom>
          <a:noFill/>
          <a:ln/>
        </p:spPr>
        <p:txBody>
          <a:bodyPr wrap="square" lIns="0" tIns="0" rIns="0" bIns="0" rtlCol="0" anchor="ctr"/>
          <a:lstStyle/>
          <a:p>
            <a:pPr algn="ctr" indent="0" marL="0">
              <a:buNone/>
            </a:pPr>
            <a:r>
              <a:rPr lang="en-US" sz="1700" b="1" dirty="0">
                <a:solidFill>
                  <a:srgbClr val="0B2D5B"/>
                </a:solidFill>
              </a:rPr>
              <a:t>Chapter 2 claim: AI searches for compact programs that approximate rational agent functions.</a:t>
            </a:r>
            <a:endParaRPr lang="en-US" sz="1700" dirty="0"/>
          </a:p>
        </p:txBody>
      </p:sp>
      <p:sp>
        <p:nvSpPr>
          <p:cNvPr id="33" name="Text 30"/>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2.1 Vacuum World: A Minimal Agent Example</a:t>
            </a:r>
            <a:endParaRPr lang="en-US" sz="2500" dirty="0"/>
          </a:p>
        </p:txBody>
      </p:sp>
      <p:sp>
        <p:nvSpPr>
          <p:cNvPr id="3" name="Shape 1"/>
          <p:cNvSpPr/>
          <p:nvPr/>
        </p:nvSpPr>
        <p:spPr>
          <a:xfrm>
            <a:off x="914400" y="1234440"/>
            <a:ext cx="2011680" cy="2011680"/>
          </a:xfrm>
          <a:prstGeom prst="roundRect">
            <a:avLst>
              <a:gd name="adj" fmla="val 3636"/>
            </a:avLst>
          </a:prstGeom>
          <a:solidFill>
            <a:srgbClr val="D9EAF7"/>
          </a:solidFill>
          <a:ln w="15240">
            <a:solidFill>
              <a:srgbClr val="6C8CAF"/>
            </a:solidFill>
            <a:prstDash val="solid"/>
          </a:ln>
        </p:spPr>
      </p:sp>
      <p:sp>
        <p:nvSpPr>
          <p:cNvPr id="4" name="Shape 2"/>
          <p:cNvSpPr/>
          <p:nvPr/>
        </p:nvSpPr>
        <p:spPr>
          <a:xfrm>
            <a:off x="2926080" y="1234440"/>
            <a:ext cx="2011680" cy="2011680"/>
          </a:xfrm>
          <a:prstGeom prst="roundRect">
            <a:avLst>
              <a:gd name="adj" fmla="val 3636"/>
            </a:avLst>
          </a:prstGeom>
          <a:solidFill>
            <a:srgbClr val="D9EAF7"/>
          </a:solidFill>
          <a:ln w="15240">
            <a:solidFill>
              <a:srgbClr val="6C8CAF"/>
            </a:solidFill>
            <a:prstDash val="solid"/>
          </a:ln>
        </p:spPr>
      </p:sp>
      <p:sp>
        <p:nvSpPr>
          <p:cNvPr id="5" name="Text 3"/>
          <p:cNvSpPr/>
          <p:nvPr/>
        </p:nvSpPr>
        <p:spPr>
          <a:xfrm>
            <a:off x="1051560" y="1353312"/>
            <a:ext cx="274320" cy="228600"/>
          </a:xfrm>
          <a:prstGeom prst="rect">
            <a:avLst/>
          </a:prstGeom>
          <a:noFill/>
          <a:ln/>
        </p:spPr>
        <p:txBody>
          <a:bodyPr wrap="square" lIns="0" tIns="0" rIns="0" bIns="0" rtlCol="0" anchor="ctr"/>
          <a:lstStyle/>
          <a:p>
            <a:pPr indent="0" marL="0">
              <a:buNone/>
            </a:pPr>
            <a:r>
              <a:rPr lang="en-US" sz="1800" b="1" dirty="0">
                <a:solidFill>
                  <a:srgbClr val="0B2D5B"/>
                </a:solidFill>
              </a:rPr>
              <a:t>A</a:t>
            </a:r>
            <a:endParaRPr lang="en-US" sz="1800" dirty="0"/>
          </a:p>
        </p:txBody>
      </p:sp>
      <p:sp>
        <p:nvSpPr>
          <p:cNvPr id="6" name="Text 4"/>
          <p:cNvSpPr/>
          <p:nvPr/>
        </p:nvSpPr>
        <p:spPr>
          <a:xfrm>
            <a:off x="3063240" y="1353312"/>
            <a:ext cx="274320" cy="228600"/>
          </a:xfrm>
          <a:prstGeom prst="rect">
            <a:avLst/>
          </a:prstGeom>
          <a:noFill/>
          <a:ln/>
        </p:spPr>
        <p:txBody>
          <a:bodyPr wrap="square" lIns="0" tIns="0" rIns="0" bIns="0" rtlCol="0" anchor="ctr"/>
          <a:lstStyle/>
          <a:p>
            <a:pPr indent="0" marL="0">
              <a:buNone/>
            </a:pPr>
            <a:r>
              <a:rPr lang="en-US" sz="1800" b="1" dirty="0">
                <a:solidFill>
                  <a:srgbClr val="0B2D5B"/>
                </a:solidFill>
              </a:rPr>
              <a:t>B</a:t>
            </a:r>
            <a:endParaRPr lang="en-US" sz="1800" dirty="0"/>
          </a:p>
        </p:txBody>
      </p:sp>
      <p:sp>
        <p:nvSpPr>
          <p:cNvPr id="7" name="Shape 5"/>
          <p:cNvSpPr/>
          <p:nvPr/>
        </p:nvSpPr>
        <p:spPr>
          <a:xfrm>
            <a:off x="1600200" y="1874520"/>
            <a:ext cx="640080" cy="640080"/>
          </a:xfrm>
          <a:prstGeom prst="ellipse">
            <a:avLst/>
          </a:prstGeom>
          <a:solidFill>
            <a:srgbClr val="6A2FD4"/>
          </a:solidFill>
          <a:ln w="12700">
            <a:solidFill>
              <a:srgbClr val="6A2FD4"/>
            </a:solidFill>
            <a:prstDash val="solid"/>
          </a:ln>
        </p:spPr>
      </p:sp>
      <p:sp>
        <p:nvSpPr>
          <p:cNvPr id="8" name="Shape 6"/>
          <p:cNvSpPr/>
          <p:nvPr/>
        </p:nvSpPr>
        <p:spPr>
          <a:xfrm>
            <a:off x="1444752" y="2450592"/>
            <a:ext cx="548640" cy="320040"/>
          </a:xfrm>
          <a:prstGeom prst="arc">
            <a:avLst/>
          </a:prstGeom>
          <a:solidFill>
            <a:srgbClr val="000000">
              <a:alpha val="0"/>
            </a:srgbClr>
          </a:solidFill>
          <a:ln w="38100">
            <a:solidFill>
              <a:srgbClr val="6A2FD4"/>
            </a:solidFill>
            <a:prstDash val="solid"/>
          </a:ln>
        </p:spPr>
      </p:sp>
      <p:sp>
        <p:nvSpPr>
          <p:cNvPr id="9" name="Shape 7"/>
          <p:cNvSpPr/>
          <p:nvPr/>
        </p:nvSpPr>
        <p:spPr>
          <a:xfrm>
            <a:off x="1143000" y="2743200"/>
            <a:ext cx="109728" cy="109728"/>
          </a:xfrm>
          <a:prstGeom prst="ellipse">
            <a:avLst/>
          </a:prstGeom>
          <a:solidFill>
            <a:srgbClr val="B07B5A"/>
          </a:solidFill>
          <a:ln w="12700">
            <a:solidFill>
              <a:srgbClr val="B07B5A"/>
            </a:solidFill>
            <a:prstDash val="solid"/>
          </a:ln>
        </p:spPr>
      </p:sp>
      <p:sp>
        <p:nvSpPr>
          <p:cNvPr id="10" name="Shape 8"/>
          <p:cNvSpPr/>
          <p:nvPr/>
        </p:nvSpPr>
        <p:spPr>
          <a:xfrm>
            <a:off x="1463040" y="2743200"/>
            <a:ext cx="109728" cy="109728"/>
          </a:xfrm>
          <a:prstGeom prst="ellipse">
            <a:avLst/>
          </a:prstGeom>
          <a:solidFill>
            <a:srgbClr val="B07B5A"/>
          </a:solidFill>
          <a:ln w="12700">
            <a:solidFill>
              <a:srgbClr val="B07B5A"/>
            </a:solidFill>
            <a:prstDash val="solid"/>
          </a:ln>
        </p:spPr>
      </p:sp>
      <p:sp>
        <p:nvSpPr>
          <p:cNvPr id="11" name="Shape 9"/>
          <p:cNvSpPr/>
          <p:nvPr/>
        </p:nvSpPr>
        <p:spPr>
          <a:xfrm>
            <a:off x="1783080" y="2743200"/>
            <a:ext cx="109728" cy="109728"/>
          </a:xfrm>
          <a:prstGeom prst="ellipse">
            <a:avLst/>
          </a:prstGeom>
          <a:solidFill>
            <a:srgbClr val="B07B5A"/>
          </a:solidFill>
          <a:ln w="12700">
            <a:solidFill>
              <a:srgbClr val="B07B5A"/>
            </a:solidFill>
            <a:prstDash val="solid"/>
          </a:ln>
        </p:spPr>
      </p:sp>
      <p:sp>
        <p:nvSpPr>
          <p:cNvPr id="12" name="Shape 10"/>
          <p:cNvSpPr/>
          <p:nvPr/>
        </p:nvSpPr>
        <p:spPr>
          <a:xfrm>
            <a:off x="2103120" y="2743200"/>
            <a:ext cx="109728" cy="109728"/>
          </a:xfrm>
          <a:prstGeom prst="ellipse">
            <a:avLst/>
          </a:prstGeom>
          <a:solidFill>
            <a:srgbClr val="B07B5A"/>
          </a:solidFill>
          <a:ln w="12700">
            <a:solidFill>
              <a:srgbClr val="B07B5A"/>
            </a:solidFill>
            <a:prstDash val="solid"/>
          </a:ln>
        </p:spPr>
      </p:sp>
      <p:sp>
        <p:nvSpPr>
          <p:cNvPr id="13" name="Shape 11"/>
          <p:cNvSpPr/>
          <p:nvPr/>
        </p:nvSpPr>
        <p:spPr>
          <a:xfrm>
            <a:off x="1143000" y="2944368"/>
            <a:ext cx="109728" cy="109728"/>
          </a:xfrm>
          <a:prstGeom prst="ellipse">
            <a:avLst/>
          </a:prstGeom>
          <a:solidFill>
            <a:srgbClr val="B07B5A"/>
          </a:solidFill>
          <a:ln w="12700">
            <a:solidFill>
              <a:srgbClr val="B07B5A"/>
            </a:solidFill>
            <a:prstDash val="solid"/>
          </a:ln>
        </p:spPr>
      </p:sp>
      <p:sp>
        <p:nvSpPr>
          <p:cNvPr id="14" name="Shape 12"/>
          <p:cNvSpPr/>
          <p:nvPr/>
        </p:nvSpPr>
        <p:spPr>
          <a:xfrm>
            <a:off x="1463040" y="2944368"/>
            <a:ext cx="109728" cy="109728"/>
          </a:xfrm>
          <a:prstGeom prst="ellipse">
            <a:avLst/>
          </a:prstGeom>
          <a:solidFill>
            <a:srgbClr val="B07B5A"/>
          </a:solidFill>
          <a:ln w="12700">
            <a:solidFill>
              <a:srgbClr val="B07B5A"/>
            </a:solidFill>
            <a:prstDash val="solid"/>
          </a:ln>
        </p:spPr>
      </p:sp>
      <p:sp>
        <p:nvSpPr>
          <p:cNvPr id="15" name="Shape 13"/>
          <p:cNvSpPr/>
          <p:nvPr/>
        </p:nvSpPr>
        <p:spPr>
          <a:xfrm>
            <a:off x="1783080" y="2944368"/>
            <a:ext cx="109728" cy="109728"/>
          </a:xfrm>
          <a:prstGeom prst="ellipse">
            <a:avLst/>
          </a:prstGeom>
          <a:solidFill>
            <a:srgbClr val="B07B5A"/>
          </a:solidFill>
          <a:ln w="12700">
            <a:solidFill>
              <a:srgbClr val="B07B5A"/>
            </a:solidFill>
            <a:prstDash val="solid"/>
          </a:ln>
        </p:spPr>
      </p:sp>
      <p:sp>
        <p:nvSpPr>
          <p:cNvPr id="16" name="Shape 14"/>
          <p:cNvSpPr/>
          <p:nvPr/>
        </p:nvSpPr>
        <p:spPr>
          <a:xfrm>
            <a:off x="3429000" y="2560320"/>
            <a:ext cx="109728" cy="109728"/>
          </a:xfrm>
          <a:prstGeom prst="ellipse">
            <a:avLst/>
          </a:prstGeom>
          <a:solidFill>
            <a:srgbClr val="B07B5A"/>
          </a:solidFill>
          <a:ln w="12700">
            <a:solidFill>
              <a:srgbClr val="B07B5A"/>
            </a:solidFill>
            <a:prstDash val="solid"/>
          </a:ln>
        </p:spPr>
      </p:sp>
      <p:sp>
        <p:nvSpPr>
          <p:cNvPr id="17" name="Shape 15"/>
          <p:cNvSpPr/>
          <p:nvPr/>
        </p:nvSpPr>
        <p:spPr>
          <a:xfrm>
            <a:off x="3749040" y="2560320"/>
            <a:ext cx="109728" cy="109728"/>
          </a:xfrm>
          <a:prstGeom prst="ellipse">
            <a:avLst/>
          </a:prstGeom>
          <a:solidFill>
            <a:srgbClr val="B07B5A"/>
          </a:solidFill>
          <a:ln w="12700">
            <a:solidFill>
              <a:srgbClr val="B07B5A"/>
            </a:solidFill>
            <a:prstDash val="solid"/>
          </a:ln>
        </p:spPr>
      </p:sp>
      <p:sp>
        <p:nvSpPr>
          <p:cNvPr id="18" name="Shape 16"/>
          <p:cNvSpPr/>
          <p:nvPr/>
        </p:nvSpPr>
        <p:spPr>
          <a:xfrm>
            <a:off x="4069080" y="2560320"/>
            <a:ext cx="109728" cy="109728"/>
          </a:xfrm>
          <a:prstGeom prst="ellipse">
            <a:avLst/>
          </a:prstGeom>
          <a:solidFill>
            <a:srgbClr val="B07B5A"/>
          </a:solidFill>
          <a:ln w="12700">
            <a:solidFill>
              <a:srgbClr val="B07B5A"/>
            </a:solidFill>
            <a:prstDash val="solid"/>
          </a:ln>
        </p:spPr>
      </p:sp>
      <p:sp>
        <p:nvSpPr>
          <p:cNvPr id="19" name="Shape 17"/>
          <p:cNvSpPr/>
          <p:nvPr/>
        </p:nvSpPr>
        <p:spPr>
          <a:xfrm>
            <a:off x="3429000" y="2761488"/>
            <a:ext cx="109728" cy="109728"/>
          </a:xfrm>
          <a:prstGeom prst="ellipse">
            <a:avLst/>
          </a:prstGeom>
          <a:solidFill>
            <a:srgbClr val="B07B5A"/>
          </a:solidFill>
          <a:ln w="12700">
            <a:solidFill>
              <a:srgbClr val="B07B5A"/>
            </a:solidFill>
            <a:prstDash val="solid"/>
          </a:ln>
        </p:spPr>
      </p:sp>
      <p:sp>
        <p:nvSpPr>
          <p:cNvPr id="20" name="Shape 18"/>
          <p:cNvSpPr/>
          <p:nvPr/>
        </p:nvSpPr>
        <p:spPr>
          <a:xfrm>
            <a:off x="3749040" y="2761488"/>
            <a:ext cx="109728" cy="109728"/>
          </a:xfrm>
          <a:prstGeom prst="ellipse">
            <a:avLst/>
          </a:prstGeom>
          <a:solidFill>
            <a:srgbClr val="B07B5A"/>
          </a:solidFill>
          <a:ln w="12700">
            <a:solidFill>
              <a:srgbClr val="B07B5A"/>
            </a:solidFill>
            <a:prstDash val="solid"/>
          </a:ln>
        </p:spPr>
      </p:sp>
      <p:sp>
        <p:nvSpPr>
          <p:cNvPr id="21" name="Shape 19"/>
          <p:cNvSpPr/>
          <p:nvPr/>
        </p:nvSpPr>
        <p:spPr>
          <a:xfrm>
            <a:off x="5166360" y="2240280"/>
            <a:ext cx="914400" cy="0"/>
          </a:xfrm>
          <a:prstGeom prst="line">
            <a:avLst/>
          </a:prstGeom>
          <a:noFill/>
          <a:ln w="27940">
            <a:solidFill>
              <a:srgbClr val="5B6770"/>
            </a:solidFill>
            <a:prstDash val="solid"/>
            <a:headEnd type="none"/>
            <a:tailEnd type="triangle"/>
          </a:ln>
        </p:spPr>
      </p:sp>
      <p:sp>
        <p:nvSpPr>
          <p:cNvPr id="22" name="Shape 20"/>
          <p:cNvSpPr/>
          <p:nvPr/>
        </p:nvSpPr>
        <p:spPr>
          <a:xfrm>
            <a:off x="6309360" y="1170432"/>
            <a:ext cx="4892040" cy="1051560"/>
          </a:xfrm>
          <a:prstGeom prst="roundRect">
            <a:avLst>
              <a:gd name="adj" fmla="val 4348"/>
            </a:avLst>
          </a:prstGeom>
          <a:solidFill>
            <a:srgbClr val="FFFFFF"/>
          </a:solidFill>
          <a:ln w="15240">
            <a:solidFill>
              <a:srgbClr val="D4E0EA"/>
            </a:solidFill>
            <a:prstDash val="solid"/>
          </a:ln>
        </p:spPr>
      </p:sp>
      <p:sp>
        <p:nvSpPr>
          <p:cNvPr id="23" name="Shape 21"/>
          <p:cNvSpPr/>
          <p:nvPr/>
        </p:nvSpPr>
        <p:spPr>
          <a:xfrm>
            <a:off x="6309360" y="1170432"/>
            <a:ext cx="4892040" cy="347472"/>
          </a:xfrm>
          <a:prstGeom prst="rect">
            <a:avLst/>
          </a:prstGeom>
          <a:solidFill>
            <a:srgbClr val="1E7A3B"/>
          </a:solidFill>
          <a:ln w="12700">
            <a:solidFill>
              <a:srgbClr val="1E7A3B"/>
            </a:solidFill>
            <a:prstDash val="solid"/>
          </a:ln>
        </p:spPr>
      </p:sp>
      <p:sp>
        <p:nvSpPr>
          <p:cNvPr id="24" name="Text 22"/>
          <p:cNvSpPr/>
          <p:nvPr/>
        </p:nvSpPr>
        <p:spPr>
          <a:xfrm>
            <a:off x="6419088" y="1243584"/>
            <a:ext cx="4672584" cy="201168"/>
          </a:xfrm>
          <a:prstGeom prst="rect">
            <a:avLst/>
          </a:prstGeom>
          <a:noFill/>
          <a:ln/>
        </p:spPr>
        <p:txBody>
          <a:bodyPr wrap="square" lIns="0" tIns="0" rIns="0" bIns="0" rtlCol="0" anchor="ctr"/>
          <a:lstStyle/>
          <a:p>
            <a:pPr algn="ctr" indent="0" marL="0">
              <a:buNone/>
            </a:pPr>
            <a:r>
              <a:rPr lang="en-US" sz="1300" b="1" dirty="0">
                <a:solidFill>
                  <a:srgbClr val="FFFFFF"/>
                </a:solidFill>
              </a:rPr>
              <a:t>Simple agent function</a:t>
            </a:r>
            <a:endParaRPr lang="en-US" sz="1300" dirty="0"/>
          </a:p>
        </p:txBody>
      </p:sp>
      <p:sp>
        <p:nvSpPr>
          <p:cNvPr id="25" name="Text 23"/>
          <p:cNvSpPr/>
          <p:nvPr/>
        </p:nvSpPr>
        <p:spPr>
          <a:xfrm>
            <a:off x="6473952" y="1645920"/>
            <a:ext cx="456285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If current square is Dirty -&gt; Suck</a:t>
            </a:r>
            <a:endParaRPr lang="en-US" sz="1300" dirty="0"/>
          </a:p>
          <a:p>
            <a:pPr indent="0" marL="0">
              <a:buNone/>
            </a:pPr>
            <a:r>
              <a:rPr lang="en-US" sz="1300" dirty="0">
                <a:solidFill>
                  <a:srgbClr val="14213D"/>
                </a:solidFill>
              </a:rPr>
              <a:t>Else if location is A -&gt; Right</a:t>
            </a:r>
            <a:endParaRPr lang="en-US" sz="1300" dirty="0"/>
          </a:p>
          <a:p>
            <a:pPr indent="0" marL="0">
              <a:buNone/>
            </a:pPr>
            <a:r>
              <a:rPr lang="en-US" sz="1300" dirty="0">
                <a:solidFill>
                  <a:srgbClr val="14213D"/>
                </a:solidFill>
              </a:rPr>
              <a:t>Else if location is B -&gt; Left</a:t>
            </a:r>
            <a:endParaRPr lang="en-US" sz="1300" dirty="0"/>
          </a:p>
        </p:txBody>
      </p:sp>
      <p:sp>
        <p:nvSpPr>
          <p:cNvPr id="26" name="Shape 24"/>
          <p:cNvSpPr/>
          <p:nvPr/>
        </p:nvSpPr>
        <p:spPr>
          <a:xfrm>
            <a:off x="6309360" y="2788920"/>
            <a:ext cx="4892040" cy="960120"/>
          </a:xfrm>
          <a:prstGeom prst="roundRect">
            <a:avLst>
              <a:gd name="adj" fmla="val 4762"/>
            </a:avLst>
          </a:prstGeom>
          <a:solidFill>
            <a:srgbClr val="FFFFFF"/>
          </a:solidFill>
          <a:ln w="15240">
            <a:solidFill>
              <a:srgbClr val="D4E0EA"/>
            </a:solidFill>
            <a:prstDash val="solid"/>
          </a:ln>
        </p:spPr>
      </p:sp>
      <p:sp>
        <p:nvSpPr>
          <p:cNvPr id="27" name="Shape 25"/>
          <p:cNvSpPr/>
          <p:nvPr/>
        </p:nvSpPr>
        <p:spPr>
          <a:xfrm>
            <a:off x="6309360" y="2788920"/>
            <a:ext cx="4892040" cy="347472"/>
          </a:xfrm>
          <a:prstGeom prst="rect">
            <a:avLst/>
          </a:prstGeom>
          <a:solidFill>
            <a:srgbClr val="A71D1D"/>
          </a:solidFill>
          <a:ln w="12700">
            <a:solidFill>
              <a:srgbClr val="A71D1D"/>
            </a:solidFill>
            <a:prstDash val="solid"/>
          </a:ln>
        </p:spPr>
      </p:sp>
      <p:sp>
        <p:nvSpPr>
          <p:cNvPr id="28" name="Text 26"/>
          <p:cNvSpPr/>
          <p:nvPr/>
        </p:nvSpPr>
        <p:spPr>
          <a:xfrm>
            <a:off x="6419088" y="2862072"/>
            <a:ext cx="4672584" cy="201168"/>
          </a:xfrm>
          <a:prstGeom prst="rect">
            <a:avLst/>
          </a:prstGeom>
          <a:noFill/>
          <a:ln/>
        </p:spPr>
        <p:txBody>
          <a:bodyPr wrap="square" lIns="0" tIns="0" rIns="0" bIns="0" rtlCol="0" anchor="ctr"/>
          <a:lstStyle/>
          <a:p>
            <a:pPr algn="ctr" indent="0" marL="0">
              <a:buNone/>
            </a:pPr>
            <a:r>
              <a:rPr lang="en-US" sz="1300" b="1" dirty="0">
                <a:solidFill>
                  <a:srgbClr val="FFFFFF"/>
                </a:solidFill>
              </a:rPr>
              <a:t>Why this matters</a:t>
            </a:r>
            <a:endParaRPr lang="en-US" sz="1300" dirty="0"/>
          </a:p>
        </p:txBody>
      </p:sp>
      <p:sp>
        <p:nvSpPr>
          <p:cNvPr id="29" name="Text 27"/>
          <p:cNvSpPr/>
          <p:nvPr/>
        </p:nvSpPr>
        <p:spPr>
          <a:xfrm>
            <a:off x="6473952" y="3264408"/>
            <a:ext cx="4562856" cy="39319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Whether this agent is rational depends on the performance measure, available sensors/actions, and environment assumptions.</a:t>
            </a:r>
            <a:endParaRPr lang="en-US" sz="1300" dirty="0"/>
          </a:p>
        </p:txBody>
      </p:sp>
      <p:sp>
        <p:nvSpPr>
          <p:cNvPr id="30" name="Text 28"/>
          <p:cNvSpPr/>
          <p:nvPr/>
        </p:nvSpPr>
        <p:spPr>
          <a:xfrm>
            <a:off x="914400" y="4983480"/>
            <a:ext cx="10332720" cy="411480"/>
          </a:xfrm>
          <a:prstGeom prst="rect">
            <a:avLst/>
          </a:prstGeom>
          <a:noFill/>
          <a:ln/>
        </p:spPr>
        <p:txBody>
          <a:bodyPr wrap="square" lIns="0" tIns="0" rIns="0" bIns="0" rtlCol="0" anchor="ctr"/>
          <a:lstStyle/>
          <a:p>
            <a:pPr algn="ctr" indent="0" marL="0">
              <a:buNone/>
            </a:pPr>
            <a:r>
              <a:rPr lang="en-US" sz="1800" b="1" dirty="0">
                <a:solidFill>
                  <a:srgbClr val="0B2D5B"/>
                </a:solidFill>
              </a:rPr>
              <a:t>Same behavior can be rational in one task environment and irrational in another.</a:t>
            </a:r>
            <a:endParaRPr lang="en-US" sz="1800" dirty="0"/>
          </a:p>
        </p:txBody>
      </p:sp>
      <p:sp>
        <p:nvSpPr>
          <p:cNvPr id="32" name="Text 29"/>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2.2 Good Behavior: Rationality Is Expected Performance</a:t>
            </a:r>
            <a:endParaRPr lang="en-US" sz="2500" dirty="0"/>
          </a:p>
        </p:txBody>
      </p:sp>
      <p:sp>
        <p:nvSpPr>
          <p:cNvPr id="3" name="Text 1"/>
          <p:cNvSpPr/>
          <p:nvPr/>
        </p:nvSpPr>
        <p:spPr>
          <a:xfrm>
            <a:off x="777240" y="1060704"/>
            <a:ext cx="10789920" cy="411480"/>
          </a:xfrm>
          <a:prstGeom prst="rect">
            <a:avLst/>
          </a:prstGeom>
          <a:noFill/>
          <a:ln/>
        </p:spPr>
        <p:txBody>
          <a:bodyPr wrap="square" lIns="0" tIns="0" rIns="0" bIns="0" rtlCol="0" anchor="ctr"/>
          <a:lstStyle/>
          <a:p>
            <a:pPr algn="ctr" indent="0" marL="0">
              <a:buNone/>
            </a:pPr>
            <a:r>
              <a:rPr lang="en-US" sz="2200" b="1" dirty="0">
                <a:solidFill>
                  <a:srgbClr val="0B2D5B"/>
                </a:solidFill>
              </a:rPr>
              <a:t>A rational agent selects the action expected to maximize its performance measure.</a:t>
            </a:r>
            <a:endParaRPr lang="en-US" sz="2200" dirty="0"/>
          </a:p>
        </p:txBody>
      </p:sp>
      <p:sp>
        <p:nvSpPr>
          <p:cNvPr id="4" name="Shape 2"/>
          <p:cNvSpPr/>
          <p:nvPr/>
        </p:nvSpPr>
        <p:spPr>
          <a:xfrm>
            <a:off x="777240" y="1874520"/>
            <a:ext cx="4983480" cy="896112"/>
          </a:xfrm>
          <a:prstGeom prst="roundRect">
            <a:avLst>
              <a:gd name="adj" fmla="val 5102"/>
            </a:avLst>
          </a:prstGeom>
          <a:solidFill>
            <a:srgbClr val="FFFFFF"/>
          </a:solidFill>
          <a:ln w="15240">
            <a:solidFill>
              <a:srgbClr val="D4E0EA"/>
            </a:solidFill>
            <a:prstDash val="solid"/>
          </a:ln>
        </p:spPr>
      </p:sp>
      <p:sp>
        <p:nvSpPr>
          <p:cNvPr id="5" name="Shape 3"/>
          <p:cNvSpPr/>
          <p:nvPr/>
        </p:nvSpPr>
        <p:spPr>
          <a:xfrm>
            <a:off x="777240" y="1874520"/>
            <a:ext cx="4983480" cy="347472"/>
          </a:xfrm>
          <a:prstGeom prst="rect">
            <a:avLst/>
          </a:prstGeom>
          <a:solidFill>
            <a:srgbClr val="1E73BE"/>
          </a:solidFill>
          <a:ln w="12700">
            <a:solidFill>
              <a:srgbClr val="1E73BE"/>
            </a:solidFill>
            <a:prstDash val="solid"/>
          </a:ln>
        </p:spPr>
      </p:sp>
      <p:sp>
        <p:nvSpPr>
          <p:cNvPr id="6" name="Text 4"/>
          <p:cNvSpPr/>
          <p:nvPr/>
        </p:nvSpPr>
        <p:spPr>
          <a:xfrm>
            <a:off x="886968" y="1947672"/>
            <a:ext cx="4764024" cy="201168"/>
          </a:xfrm>
          <a:prstGeom prst="rect">
            <a:avLst/>
          </a:prstGeom>
          <a:noFill/>
          <a:ln/>
        </p:spPr>
        <p:txBody>
          <a:bodyPr wrap="square" lIns="0" tIns="0" rIns="0" bIns="0" rtlCol="0" anchor="ctr"/>
          <a:lstStyle/>
          <a:p>
            <a:pPr algn="ctr" indent="0" marL="0">
              <a:buNone/>
            </a:pPr>
            <a:r>
              <a:rPr lang="en-US" sz="1300" b="1" dirty="0">
                <a:solidFill>
                  <a:srgbClr val="FFFFFF"/>
                </a:solidFill>
              </a:rPr>
              <a:t>Performance measure</a:t>
            </a:r>
            <a:endParaRPr lang="en-US" sz="1300" dirty="0"/>
          </a:p>
        </p:txBody>
      </p:sp>
      <p:sp>
        <p:nvSpPr>
          <p:cNvPr id="7" name="Text 5"/>
          <p:cNvSpPr/>
          <p:nvPr/>
        </p:nvSpPr>
        <p:spPr>
          <a:xfrm>
            <a:off x="941832" y="2350008"/>
            <a:ext cx="4654296" cy="329184"/>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What counts as success?</a:t>
            </a:r>
            <a:endParaRPr lang="en-US" sz="1300" dirty="0"/>
          </a:p>
        </p:txBody>
      </p:sp>
      <p:sp>
        <p:nvSpPr>
          <p:cNvPr id="8" name="Shape 6"/>
          <p:cNvSpPr/>
          <p:nvPr/>
        </p:nvSpPr>
        <p:spPr>
          <a:xfrm>
            <a:off x="6400800" y="1874520"/>
            <a:ext cx="4983480" cy="896112"/>
          </a:xfrm>
          <a:prstGeom prst="roundRect">
            <a:avLst>
              <a:gd name="adj" fmla="val 5102"/>
            </a:avLst>
          </a:prstGeom>
          <a:solidFill>
            <a:srgbClr val="FFFFFF"/>
          </a:solidFill>
          <a:ln w="15240">
            <a:solidFill>
              <a:srgbClr val="D4E0EA"/>
            </a:solidFill>
            <a:prstDash val="solid"/>
          </a:ln>
        </p:spPr>
      </p:sp>
      <p:sp>
        <p:nvSpPr>
          <p:cNvPr id="9" name="Shape 7"/>
          <p:cNvSpPr/>
          <p:nvPr/>
        </p:nvSpPr>
        <p:spPr>
          <a:xfrm>
            <a:off x="6400800" y="1874520"/>
            <a:ext cx="4983480" cy="347472"/>
          </a:xfrm>
          <a:prstGeom prst="rect">
            <a:avLst/>
          </a:prstGeom>
          <a:solidFill>
            <a:srgbClr val="1E7A3B"/>
          </a:solidFill>
          <a:ln w="12700">
            <a:solidFill>
              <a:srgbClr val="1E7A3B"/>
            </a:solidFill>
            <a:prstDash val="solid"/>
          </a:ln>
        </p:spPr>
      </p:sp>
      <p:sp>
        <p:nvSpPr>
          <p:cNvPr id="10" name="Text 8"/>
          <p:cNvSpPr/>
          <p:nvPr/>
        </p:nvSpPr>
        <p:spPr>
          <a:xfrm>
            <a:off x="6510528" y="1947672"/>
            <a:ext cx="4764024" cy="201168"/>
          </a:xfrm>
          <a:prstGeom prst="rect">
            <a:avLst/>
          </a:prstGeom>
          <a:noFill/>
          <a:ln/>
        </p:spPr>
        <p:txBody>
          <a:bodyPr wrap="square" lIns="0" tIns="0" rIns="0" bIns="0" rtlCol="0" anchor="ctr"/>
          <a:lstStyle/>
          <a:p>
            <a:pPr algn="ctr" indent="0" marL="0">
              <a:buNone/>
            </a:pPr>
            <a:r>
              <a:rPr lang="en-US" sz="1300" b="1" dirty="0">
                <a:solidFill>
                  <a:srgbClr val="FFFFFF"/>
                </a:solidFill>
              </a:rPr>
              <a:t>Prior knowledge</a:t>
            </a:r>
            <a:endParaRPr lang="en-US" sz="1300" dirty="0"/>
          </a:p>
        </p:txBody>
      </p:sp>
      <p:sp>
        <p:nvSpPr>
          <p:cNvPr id="11" name="Text 9"/>
          <p:cNvSpPr/>
          <p:nvPr/>
        </p:nvSpPr>
        <p:spPr>
          <a:xfrm>
            <a:off x="6565392" y="2350008"/>
            <a:ext cx="4654296" cy="329184"/>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What does the agent already know?</a:t>
            </a:r>
            <a:endParaRPr lang="en-US" sz="1300" dirty="0"/>
          </a:p>
        </p:txBody>
      </p:sp>
      <p:sp>
        <p:nvSpPr>
          <p:cNvPr id="12" name="Shape 10"/>
          <p:cNvSpPr/>
          <p:nvPr/>
        </p:nvSpPr>
        <p:spPr>
          <a:xfrm>
            <a:off x="777240" y="3200400"/>
            <a:ext cx="4983480" cy="896112"/>
          </a:xfrm>
          <a:prstGeom prst="roundRect">
            <a:avLst>
              <a:gd name="adj" fmla="val 5102"/>
            </a:avLst>
          </a:prstGeom>
          <a:solidFill>
            <a:srgbClr val="FFFFFF"/>
          </a:solidFill>
          <a:ln w="15240">
            <a:solidFill>
              <a:srgbClr val="D4E0EA"/>
            </a:solidFill>
            <a:prstDash val="solid"/>
          </a:ln>
        </p:spPr>
      </p:sp>
      <p:sp>
        <p:nvSpPr>
          <p:cNvPr id="13" name="Shape 11"/>
          <p:cNvSpPr/>
          <p:nvPr/>
        </p:nvSpPr>
        <p:spPr>
          <a:xfrm>
            <a:off x="777240" y="3200400"/>
            <a:ext cx="4983480" cy="347472"/>
          </a:xfrm>
          <a:prstGeom prst="rect">
            <a:avLst/>
          </a:prstGeom>
          <a:solidFill>
            <a:srgbClr val="6A2FD4"/>
          </a:solidFill>
          <a:ln w="12700">
            <a:solidFill>
              <a:srgbClr val="6A2FD4"/>
            </a:solidFill>
            <a:prstDash val="solid"/>
          </a:ln>
        </p:spPr>
      </p:sp>
      <p:sp>
        <p:nvSpPr>
          <p:cNvPr id="14" name="Text 12"/>
          <p:cNvSpPr/>
          <p:nvPr/>
        </p:nvSpPr>
        <p:spPr>
          <a:xfrm>
            <a:off x="886968" y="3273552"/>
            <a:ext cx="4764024" cy="201168"/>
          </a:xfrm>
          <a:prstGeom prst="rect">
            <a:avLst/>
          </a:prstGeom>
          <a:noFill/>
          <a:ln/>
        </p:spPr>
        <p:txBody>
          <a:bodyPr wrap="square" lIns="0" tIns="0" rIns="0" bIns="0" rtlCol="0" anchor="ctr"/>
          <a:lstStyle/>
          <a:p>
            <a:pPr algn="ctr" indent="0" marL="0">
              <a:buNone/>
            </a:pPr>
            <a:r>
              <a:rPr lang="en-US" sz="1300" b="1" dirty="0">
                <a:solidFill>
                  <a:srgbClr val="FFFFFF"/>
                </a:solidFill>
              </a:rPr>
              <a:t>Available actions</a:t>
            </a:r>
            <a:endParaRPr lang="en-US" sz="1300" dirty="0"/>
          </a:p>
        </p:txBody>
      </p:sp>
      <p:sp>
        <p:nvSpPr>
          <p:cNvPr id="15" name="Text 13"/>
          <p:cNvSpPr/>
          <p:nvPr/>
        </p:nvSpPr>
        <p:spPr>
          <a:xfrm>
            <a:off x="941832" y="3675888"/>
            <a:ext cx="4654296" cy="329184"/>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What can the agent actually do?</a:t>
            </a:r>
            <a:endParaRPr lang="en-US" sz="1300" dirty="0"/>
          </a:p>
        </p:txBody>
      </p:sp>
      <p:sp>
        <p:nvSpPr>
          <p:cNvPr id="16" name="Shape 14"/>
          <p:cNvSpPr/>
          <p:nvPr/>
        </p:nvSpPr>
        <p:spPr>
          <a:xfrm>
            <a:off x="6400800" y="3200400"/>
            <a:ext cx="4983480" cy="896112"/>
          </a:xfrm>
          <a:prstGeom prst="roundRect">
            <a:avLst>
              <a:gd name="adj" fmla="val 5102"/>
            </a:avLst>
          </a:prstGeom>
          <a:solidFill>
            <a:srgbClr val="FFFFFF"/>
          </a:solidFill>
          <a:ln w="15240">
            <a:solidFill>
              <a:srgbClr val="D4E0EA"/>
            </a:solidFill>
            <a:prstDash val="solid"/>
          </a:ln>
        </p:spPr>
      </p:sp>
      <p:sp>
        <p:nvSpPr>
          <p:cNvPr id="17" name="Shape 15"/>
          <p:cNvSpPr/>
          <p:nvPr/>
        </p:nvSpPr>
        <p:spPr>
          <a:xfrm>
            <a:off x="6400800" y="3200400"/>
            <a:ext cx="4983480" cy="347472"/>
          </a:xfrm>
          <a:prstGeom prst="rect">
            <a:avLst/>
          </a:prstGeom>
          <a:solidFill>
            <a:srgbClr val="A71D1D"/>
          </a:solidFill>
          <a:ln w="12700">
            <a:solidFill>
              <a:srgbClr val="A71D1D"/>
            </a:solidFill>
            <a:prstDash val="solid"/>
          </a:ln>
        </p:spPr>
      </p:sp>
      <p:sp>
        <p:nvSpPr>
          <p:cNvPr id="18" name="Text 16"/>
          <p:cNvSpPr/>
          <p:nvPr/>
        </p:nvSpPr>
        <p:spPr>
          <a:xfrm>
            <a:off x="6510528" y="3273552"/>
            <a:ext cx="4764024" cy="201168"/>
          </a:xfrm>
          <a:prstGeom prst="rect">
            <a:avLst/>
          </a:prstGeom>
          <a:noFill/>
          <a:ln/>
        </p:spPr>
        <p:txBody>
          <a:bodyPr wrap="square" lIns="0" tIns="0" rIns="0" bIns="0" rtlCol="0" anchor="ctr"/>
          <a:lstStyle/>
          <a:p>
            <a:pPr algn="ctr" indent="0" marL="0">
              <a:buNone/>
            </a:pPr>
            <a:r>
              <a:rPr lang="en-US" sz="1300" b="1" dirty="0">
                <a:solidFill>
                  <a:srgbClr val="FFFFFF"/>
                </a:solidFill>
              </a:rPr>
              <a:t>Percept sequence</a:t>
            </a:r>
            <a:endParaRPr lang="en-US" sz="1300" dirty="0"/>
          </a:p>
        </p:txBody>
      </p:sp>
      <p:sp>
        <p:nvSpPr>
          <p:cNvPr id="19" name="Text 17"/>
          <p:cNvSpPr/>
          <p:nvPr/>
        </p:nvSpPr>
        <p:spPr>
          <a:xfrm>
            <a:off x="6565392" y="3675888"/>
            <a:ext cx="4654296" cy="329184"/>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What evidence has it observed?</a:t>
            </a:r>
            <a:endParaRPr lang="en-US" sz="1300" dirty="0"/>
          </a:p>
        </p:txBody>
      </p:sp>
      <p:sp>
        <p:nvSpPr>
          <p:cNvPr id="20" name="Text 18"/>
          <p:cNvSpPr/>
          <p:nvPr/>
        </p:nvSpPr>
        <p:spPr>
          <a:xfrm>
            <a:off x="1005840" y="5029200"/>
            <a:ext cx="10149840" cy="384048"/>
          </a:xfrm>
          <a:prstGeom prst="rect">
            <a:avLst/>
          </a:prstGeom>
          <a:noFill/>
          <a:ln/>
        </p:spPr>
        <p:txBody>
          <a:bodyPr wrap="square" lIns="0" tIns="0" rIns="0" bIns="0" rtlCol="0" anchor="ctr"/>
          <a:lstStyle/>
          <a:p>
            <a:pPr algn="ctr" indent="0" marL="0">
              <a:buNone/>
            </a:pPr>
            <a:r>
              <a:rPr lang="en-US" sz="1800" b="1" dirty="0">
                <a:solidFill>
                  <a:srgbClr val="14213D"/>
                </a:solidFill>
              </a:rPr>
              <a:t>Rationality is not hindsight perfection. It uses the evidence available at the time.</a:t>
            </a:r>
            <a:endParaRPr lang="en-US" sz="1800" dirty="0"/>
          </a:p>
        </p:txBody>
      </p:sp>
      <p:sp>
        <p:nvSpPr>
          <p:cNvPr id="22" name="Text 19"/>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2.2 Rationality Is Not Omniscience</a:t>
            </a:r>
            <a:endParaRPr lang="en-US" sz="2500" dirty="0"/>
          </a:p>
        </p:txBody>
      </p:sp>
      <p:sp>
        <p:nvSpPr>
          <p:cNvPr id="3" name="Shape 1"/>
          <p:cNvSpPr/>
          <p:nvPr/>
        </p:nvSpPr>
        <p:spPr>
          <a:xfrm>
            <a:off x="777240" y="1143000"/>
            <a:ext cx="3337560" cy="1463040"/>
          </a:xfrm>
          <a:prstGeom prst="roundRect">
            <a:avLst>
              <a:gd name="adj" fmla="val 3125"/>
            </a:avLst>
          </a:prstGeom>
          <a:solidFill>
            <a:srgbClr val="FFFFFF"/>
          </a:solidFill>
          <a:ln w="15240">
            <a:solidFill>
              <a:srgbClr val="D4E0EA"/>
            </a:solidFill>
            <a:prstDash val="solid"/>
          </a:ln>
        </p:spPr>
      </p:sp>
      <p:sp>
        <p:nvSpPr>
          <p:cNvPr id="4" name="Shape 2"/>
          <p:cNvSpPr/>
          <p:nvPr/>
        </p:nvSpPr>
        <p:spPr>
          <a:xfrm>
            <a:off x="777240" y="1143000"/>
            <a:ext cx="3337560" cy="347472"/>
          </a:xfrm>
          <a:prstGeom prst="rect">
            <a:avLst/>
          </a:prstGeom>
          <a:solidFill>
            <a:srgbClr val="A71D1D"/>
          </a:solidFill>
          <a:ln w="12700">
            <a:solidFill>
              <a:srgbClr val="A71D1D"/>
            </a:solidFill>
            <a:prstDash val="solid"/>
          </a:ln>
        </p:spPr>
      </p:sp>
      <p:sp>
        <p:nvSpPr>
          <p:cNvPr id="5" name="Text 3"/>
          <p:cNvSpPr/>
          <p:nvPr/>
        </p:nvSpPr>
        <p:spPr>
          <a:xfrm>
            <a:off x="886968" y="1216152"/>
            <a:ext cx="3118104" cy="201168"/>
          </a:xfrm>
          <a:prstGeom prst="rect">
            <a:avLst/>
          </a:prstGeom>
          <a:noFill/>
          <a:ln/>
        </p:spPr>
        <p:txBody>
          <a:bodyPr wrap="square" lIns="0" tIns="0" rIns="0" bIns="0" rtlCol="0" anchor="ctr"/>
          <a:lstStyle/>
          <a:p>
            <a:pPr algn="ctr" indent="0" marL="0">
              <a:buNone/>
            </a:pPr>
            <a:r>
              <a:rPr lang="en-US" sz="1300" b="1" dirty="0">
                <a:solidFill>
                  <a:srgbClr val="FFFFFF"/>
                </a:solidFill>
              </a:rPr>
              <a:t>Omniscience</a:t>
            </a:r>
            <a:endParaRPr lang="en-US" sz="1300" dirty="0"/>
          </a:p>
        </p:txBody>
      </p:sp>
      <p:sp>
        <p:nvSpPr>
          <p:cNvPr id="6" name="Text 4"/>
          <p:cNvSpPr/>
          <p:nvPr/>
        </p:nvSpPr>
        <p:spPr>
          <a:xfrm>
            <a:off x="941832" y="1618488"/>
            <a:ext cx="3008376" cy="8961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Knows the actual outcome of every action. Impossible in realistic environments.</a:t>
            </a:r>
            <a:endParaRPr lang="en-US" sz="1300" dirty="0"/>
          </a:p>
        </p:txBody>
      </p:sp>
      <p:sp>
        <p:nvSpPr>
          <p:cNvPr id="7" name="Shape 5"/>
          <p:cNvSpPr/>
          <p:nvPr/>
        </p:nvSpPr>
        <p:spPr>
          <a:xfrm>
            <a:off x="4434840" y="1143000"/>
            <a:ext cx="3337560" cy="1463040"/>
          </a:xfrm>
          <a:prstGeom prst="roundRect">
            <a:avLst>
              <a:gd name="adj" fmla="val 3125"/>
            </a:avLst>
          </a:prstGeom>
          <a:solidFill>
            <a:srgbClr val="FFFFFF"/>
          </a:solidFill>
          <a:ln w="15240">
            <a:solidFill>
              <a:srgbClr val="D4E0EA"/>
            </a:solidFill>
            <a:prstDash val="solid"/>
          </a:ln>
        </p:spPr>
      </p:sp>
      <p:sp>
        <p:nvSpPr>
          <p:cNvPr id="8" name="Shape 6"/>
          <p:cNvSpPr/>
          <p:nvPr/>
        </p:nvSpPr>
        <p:spPr>
          <a:xfrm>
            <a:off x="4434840" y="1143000"/>
            <a:ext cx="3337560" cy="347472"/>
          </a:xfrm>
          <a:prstGeom prst="rect">
            <a:avLst/>
          </a:prstGeom>
          <a:solidFill>
            <a:srgbClr val="1E7A3B"/>
          </a:solidFill>
          <a:ln w="12700">
            <a:solidFill>
              <a:srgbClr val="1E7A3B"/>
            </a:solidFill>
            <a:prstDash val="solid"/>
          </a:ln>
        </p:spPr>
      </p:sp>
      <p:sp>
        <p:nvSpPr>
          <p:cNvPr id="9" name="Text 7"/>
          <p:cNvSpPr/>
          <p:nvPr/>
        </p:nvSpPr>
        <p:spPr>
          <a:xfrm>
            <a:off x="4544568" y="1216152"/>
            <a:ext cx="3118104" cy="201168"/>
          </a:xfrm>
          <a:prstGeom prst="rect">
            <a:avLst/>
          </a:prstGeom>
          <a:noFill/>
          <a:ln/>
        </p:spPr>
        <p:txBody>
          <a:bodyPr wrap="square" lIns="0" tIns="0" rIns="0" bIns="0" rtlCol="0" anchor="ctr"/>
          <a:lstStyle/>
          <a:p>
            <a:pPr algn="ctr" indent="0" marL="0">
              <a:buNone/>
            </a:pPr>
            <a:r>
              <a:rPr lang="en-US" sz="1300" b="1" dirty="0">
                <a:solidFill>
                  <a:srgbClr val="FFFFFF"/>
                </a:solidFill>
              </a:rPr>
              <a:t>Rationality</a:t>
            </a:r>
            <a:endParaRPr lang="en-US" sz="1300" dirty="0"/>
          </a:p>
        </p:txBody>
      </p:sp>
      <p:sp>
        <p:nvSpPr>
          <p:cNvPr id="10" name="Text 8"/>
          <p:cNvSpPr/>
          <p:nvPr/>
        </p:nvSpPr>
        <p:spPr>
          <a:xfrm>
            <a:off x="4599432" y="1618488"/>
            <a:ext cx="3008376" cy="8961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Chooses the action with best expected performance from available evidence.</a:t>
            </a:r>
            <a:endParaRPr lang="en-US" sz="1300" dirty="0"/>
          </a:p>
        </p:txBody>
      </p:sp>
      <p:sp>
        <p:nvSpPr>
          <p:cNvPr id="11" name="Shape 9"/>
          <p:cNvSpPr/>
          <p:nvPr/>
        </p:nvSpPr>
        <p:spPr>
          <a:xfrm>
            <a:off x="8092440" y="1143000"/>
            <a:ext cx="3337560" cy="1463040"/>
          </a:xfrm>
          <a:prstGeom prst="roundRect">
            <a:avLst>
              <a:gd name="adj" fmla="val 3125"/>
            </a:avLst>
          </a:prstGeom>
          <a:solidFill>
            <a:srgbClr val="FFFFFF"/>
          </a:solidFill>
          <a:ln w="15240">
            <a:solidFill>
              <a:srgbClr val="D4E0EA"/>
            </a:solidFill>
            <a:prstDash val="solid"/>
          </a:ln>
        </p:spPr>
      </p:sp>
      <p:sp>
        <p:nvSpPr>
          <p:cNvPr id="12" name="Shape 10"/>
          <p:cNvSpPr/>
          <p:nvPr/>
        </p:nvSpPr>
        <p:spPr>
          <a:xfrm>
            <a:off x="8092440" y="1143000"/>
            <a:ext cx="3337560" cy="347472"/>
          </a:xfrm>
          <a:prstGeom prst="rect">
            <a:avLst/>
          </a:prstGeom>
          <a:solidFill>
            <a:srgbClr val="1E73BE"/>
          </a:solidFill>
          <a:ln w="12700">
            <a:solidFill>
              <a:srgbClr val="1E73BE"/>
            </a:solidFill>
            <a:prstDash val="solid"/>
          </a:ln>
        </p:spPr>
      </p:sp>
      <p:sp>
        <p:nvSpPr>
          <p:cNvPr id="13" name="Text 11"/>
          <p:cNvSpPr/>
          <p:nvPr/>
        </p:nvSpPr>
        <p:spPr>
          <a:xfrm>
            <a:off x="8202168" y="1216152"/>
            <a:ext cx="3118104" cy="201168"/>
          </a:xfrm>
          <a:prstGeom prst="rect">
            <a:avLst/>
          </a:prstGeom>
          <a:noFill/>
          <a:ln/>
        </p:spPr>
        <p:txBody>
          <a:bodyPr wrap="square" lIns="0" tIns="0" rIns="0" bIns="0" rtlCol="0" anchor="ctr"/>
          <a:lstStyle/>
          <a:p>
            <a:pPr algn="ctr" indent="0" marL="0">
              <a:buNone/>
            </a:pPr>
            <a:r>
              <a:rPr lang="en-US" sz="1300" b="1" dirty="0">
                <a:solidFill>
                  <a:srgbClr val="FFFFFF"/>
                </a:solidFill>
              </a:rPr>
              <a:t>Autonomy</a:t>
            </a:r>
            <a:endParaRPr lang="en-US" sz="1300" dirty="0"/>
          </a:p>
        </p:txBody>
      </p:sp>
      <p:sp>
        <p:nvSpPr>
          <p:cNvPr id="14" name="Text 12"/>
          <p:cNvSpPr/>
          <p:nvPr/>
        </p:nvSpPr>
        <p:spPr>
          <a:xfrm>
            <a:off x="8257032" y="1618488"/>
            <a:ext cx="3008376" cy="8961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Learns from percepts rather than depending only on designer assumptions.</a:t>
            </a:r>
            <a:endParaRPr lang="en-US" sz="1300" dirty="0"/>
          </a:p>
        </p:txBody>
      </p:sp>
      <p:sp>
        <p:nvSpPr>
          <p:cNvPr id="15" name="Text 13"/>
          <p:cNvSpPr/>
          <p:nvPr/>
        </p:nvSpPr>
        <p:spPr>
          <a:xfrm>
            <a:off x="868680" y="3200400"/>
            <a:ext cx="10424160" cy="347472"/>
          </a:xfrm>
          <a:prstGeom prst="rect">
            <a:avLst/>
          </a:prstGeom>
          <a:noFill/>
          <a:ln/>
        </p:spPr>
        <p:txBody>
          <a:bodyPr wrap="square" lIns="0" tIns="0" rIns="0" bIns="0" rtlCol="0" anchor="ctr"/>
          <a:lstStyle/>
          <a:p>
            <a:pPr algn="ctr" indent="0" marL="0">
              <a:buNone/>
            </a:pPr>
            <a:r>
              <a:rPr lang="en-US" sz="1900" b="1" dirty="0">
                <a:solidFill>
                  <a:srgbClr val="0B2D5B"/>
                </a:solidFill>
              </a:rPr>
              <a:t>Information gathering is rational when better percepts improve later decisions.</a:t>
            </a:r>
            <a:endParaRPr lang="en-US" sz="1900" dirty="0"/>
          </a:p>
        </p:txBody>
      </p:sp>
      <p:sp>
        <p:nvSpPr>
          <p:cNvPr id="16" name="Shape 14"/>
          <p:cNvSpPr/>
          <p:nvPr/>
        </p:nvSpPr>
        <p:spPr>
          <a:xfrm>
            <a:off x="1920240" y="4005072"/>
            <a:ext cx="1645920" cy="0"/>
          </a:xfrm>
          <a:prstGeom prst="line">
            <a:avLst/>
          </a:prstGeom>
          <a:noFill/>
          <a:ln w="25400">
            <a:solidFill>
              <a:srgbClr val="5B6770"/>
            </a:solidFill>
            <a:prstDash val="solid"/>
            <a:headEnd type="none"/>
            <a:tailEnd type="triangle"/>
          </a:ln>
        </p:spPr>
      </p:sp>
      <p:sp>
        <p:nvSpPr>
          <p:cNvPr id="17" name="Shape 15"/>
          <p:cNvSpPr/>
          <p:nvPr/>
        </p:nvSpPr>
        <p:spPr>
          <a:xfrm>
            <a:off x="914400" y="3749040"/>
            <a:ext cx="1097280" cy="502920"/>
          </a:xfrm>
          <a:prstGeom prst="roundRect">
            <a:avLst>
              <a:gd name="adj" fmla="val 14545"/>
            </a:avLst>
          </a:prstGeom>
          <a:solidFill>
            <a:srgbClr val="FFFFFF"/>
          </a:solidFill>
          <a:ln w="15240">
            <a:solidFill>
              <a:srgbClr val="C0CDD8"/>
            </a:solidFill>
            <a:prstDash val="solid"/>
          </a:ln>
        </p:spPr>
      </p:sp>
      <p:sp>
        <p:nvSpPr>
          <p:cNvPr id="18" name="Text 16"/>
          <p:cNvSpPr/>
          <p:nvPr/>
        </p:nvSpPr>
        <p:spPr>
          <a:xfrm>
            <a:off x="1024128" y="3840480"/>
            <a:ext cx="877824" cy="320040"/>
          </a:xfrm>
          <a:prstGeom prst="rect">
            <a:avLst/>
          </a:prstGeom>
          <a:noFill/>
          <a:ln/>
        </p:spPr>
        <p:txBody>
          <a:bodyPr wrap="square" lIns="254" tIns="254" rIns="254" bIns="254" rtlCol="0" anchor="ctr">
            <a:normAutofit/>
          </a:bodyPr>
          <a:lstStyle/>
          <a:p>
            <a:pPr algn="ctr" indent="0" marL="0">
              <a:buNone/>
            </a:pPr>
            <a:r>
              <a:rPr lang="en-US" sz="1300" dirty="0">
                <a:solidFill>
                  <a:srgbClr val="14213D"/>
                </a:solidFill>
              </a:rPr>
              <a:t>Look</a:t>
            </a:r>
            <a:endParaRPr lang="en-US" sz="1300" dirty="0"/>
          </a:p>
        </p:txBody>
      </p:sp>
      <p:sp>
        <p:nvSpPr>
          <p:cNvPr id="19" name="Shape 17"/>
          <p:cNvSpPr/>
          <p:nvPr/>
        </p:nvSpPr>
        <p:spPr>
          <a:xfrm>
            <a:off x="3657600" y="3749040"/>
            <a:ext cx="1097280" cy="502920"/>
          </a:xfrm>
          <a:prstGeom prst="roundRect">
            <a:avLst>
              <a:gd name="adj" fmla="val 14545"/>
            </a:avLst>
          </a:prstGeom>
          <a:solidFill>
            <a:srgbClr val="FFFFFF"/>
          </a:solidFill>
          <a:ln w="15240">
            <a:solidFill>
              <a:srgbClr val="C0CDD8"/>
            </a:solidFill>
            <a:prstDash val="solid"/>
          </a:ln>
        </p:spPr>
      </p:sp>
      <p:sp>
        <p:nvSpPr>
          <p:cNvPr id="20" name="Text 18"/>
          <p:cNvSpPr/>
          <p:nvPr/>
        </p:nvSpPr>
        <p:spPr>
          <a:xfrm>
            <a:off x="3767328" y="3840480"/>
            <a:ext cx="877824" cy="320040"/>
          </a:xfrm>
          <a:prstGeom prst="rect">
            <a:avLst/>
          </a:prstGeom>
          <a:noFill/>
          <a:ln/>
        </p:spPr>
        <p:txBody>
          <a:bodyPr wrap="square" lIns="254" tIns="254" rIns="254" bIns="254" rtlCol="0" anchor="ctr">
            <a:normAutofit/>
          </a:bodyPr>
          <a:lstStyle/>
          <a:p>
            <a:pPr algn="ctr" indent="0" marL="0">
              <a:buNone/>
            </a:pPr>
            <a:r>
              <a:rPr lang="en-US" sz="1300" dirty="0">
                <a:solidFill>
                  <a:srgbClr val="14213D"/>
                </a:solidFill>
              </a:rPr>
              <a:t>Learn</a:t>
            </a:r>
            <a:endParaRPr lang="en-US" sz="1300" dirty="0"/>
          </a:p>
        </p:txBody>
      </p:sp>
      <p:sp>
        <p:nvSpPr>
          <p:cNvPr id="21" name="Shape 19"/>
          <p:cNvSpPr/>
          <p:nvPr/>
        </p:nvSpPr>
        <p:spPr>
          <a:xfrm>
            <a:off x="4754880" y="4005072"/>
            <a:ext cx="1645920" cy="0"/>
          </a:xfrm>
          <a:prstGeom prst="line">
            <a:avLst/>
          </a:prstGeom>
          <a:noFill/>
          <a:ln w="25400">
            <a:solidFill>
              <a:srgbClr val="5B6770"/>
            </a:solidFill>
            <a:prstDash val="solid"/>
            <a:headEnd type="none"/>
            <a:tailEnd type="triangle"/>
          </a:ln>
        </p:spPr>
      </p:sp>
      <p:sp>
        <p:nvSpPr>
          <p:cNvPr id="22" name="Shape 20"/>
          <p:cNvSpPr/>
          <p:nvPr/>
        </p:nvSpPr>
        <p:spPr>
          <a:xfrm>
            <a:off x="6492240" y="3749040"/>
            <a:ext cx="1097280" cy="502920"/>
          </a:xfrm>
          <a:prstGeom prst="roundRect">
            <a:avLst>
              <a:gd name="adj" fmla="val 14545"/>
            </a:avLst>
          </a:prstGeom>
          <a:solidFill>
            <a:srgbClr val="FFFFFF"/>
          </a:solidFill>
          <a:ln w="15240">
            <a:solidFill>
              <a:srgbClr val="C0CDD8"/>
            </a:solidFill>
            <a:prstDash val="solid"/>
          </a:ln>
        </p:spPr>
      </p:sp>
      <p:sp>
        <p:nvSpPr>
          <p:cNvPr id="23" name="Text 21"/>
          <p:cNvSpPr/>
          <p:nvPr/>
        </p:nvSpPr>
        <p:spPr>
          <a:xfrm>
            <a:off x="6601968" y="3840480"/>
            <a:ext cx="877824" cy="320040"/>
          </a:xfrm>
          <a:prstGeom prst="rect">
            <a:avLst/>
          </a:prstGeom>
          <a:noFill/>
          <a:ln/>
        </p:spPr>
        <p:txBody>
          <a:bodyPr wrap="square" lIns="254" tIns="254" rIns="254" bIns="254" rtlCol="0" anchor="ctr">
            <a:normAutofit/>
          </a:bodyPr>
          <a:lstStyle/>
          <a:p>
            <a:pPr algn="ctr" indent="0" marL="0">
              <a:buNone/>
            </a:pPr>
            <a:r>
              <a:rPr lang="en-US" sz="1300" dirty="0">
                <a:solidFill>
                  <a:srgbClr val="14213D"/>
                </a:solidFill>
              </a:rPr>
              <a:t>Act</a:t>
            </a:r>
            <a:endParaRPr lang="en-US" sz="1300" dirty="0"/>
          </a:p>
        </p:txBody>
      </p:sp>
      <p:sp>
        <p:nvSpPr>
          <p:cNvPr id="24" name="Shape 22"/>
          <p:cNvSpPr/>
          <p:nvPr/>
        </p:nvSpPr>
        <p:spPr>
          <a:xfrm>
            <a:off x="7589520" y="4005072"/>
            <a:ext cx="1645920" cy="0"/>
          </a:xfrm>
          <a:prstGeom prst="line">
            <a:avLst/>
          </a:prstGeom>
          <a:noFill/>
          <a:ln w="25400">
            <a:solidFill>
              <a:srgbClr val="5B6770"/>
            </a:solidFill>
            <a:prstDash val="solid"/>
            <a:headEnd type="none"/>
            <a:tailEnd type="triangle"/>
          </a:ln>
        </p:spPr>
      </p:sp>
      <p:sp>
        <p:nvSpPr>
          <p:cNvPr id="25" name="Shape 23"/>
          <p:cNvSpPr/>
          <p:nvPr/>
        </p:nvSpPr>
        <p:spPr>
          <a:xfrm>
            <a:off x="9326880" y="3749040"/>
            <a:ext cx="1371600" cy="502920"/>
          </a:xfrm>
          <a:prstGeom prst="roundRect">
            <a:avLst>
              <a:gd name="adj" fmla="val 14545"/>
            </a:avLst>
          </a:prstGeom>
          <a:solidFill>
            <a:srgbClr val="FFFFFF"/>
          </a:solidFill>
          <a:ln w="15240">
            <a:solidFill>
              <a:srgbClr val="C0CDD8"/>
            </a:solidFill>
            <a:prstDash val="solid"/>
          </a:ln>
        </p:spPr>
      </p:sp>
      <p:sp>
        <p:nvSpPr>
          <p:cNvPr id="26" name="Text 24"/>
          <p:cNvSpPr/>
          <p:nvPr/>
        </p:nvSpPr>
        <p:spPr>
          <a:xfrm>
            <a:off x="9436608" y="3840480"/>
            <a:ext cx="1152144" cy="320040"/>
          </a:xfrm>
          <a:prstGeom prst="rect">
            <a:avLst/>
          </a:prstGeom>
          <a:noFill/>
          <a:ln/>
        </p:spPr>
        <p:txBody>
          <a:bodyPr wrap="square" lIns="254" tIns="254" rIns="254" bIns="254" rtlCol="0" anchor="ctr">
            <a:normAutofit/>
          </a:bodyPr>
          <a:lstStyle/>
          <a:p>
            <a:pPr algn="ctr" indent="0" marL="0">
              <a:buNone/>
            </a:pPr>
            <a:r>
              <a:rPr lang="en-US" sz="1300" dirty="0">
                <a:solidFill>
                  <a:srgbClr val="14213D"/>
                </a:solidFill>
              </a:rPr>
              <a:t>Improve</a:t>
            </a:r>
            <a:endParaRPr lang="en-US" sz="1300" dirty="0"/>
          </a:p>
        </p:txBody>
      </p:sp>
      <p:sp>
        <p:nvSpPr>
          <p:cNvPr id="27" name="Text 25"/>
          <p:cNvSpPr/>
          <p:nvPr/>
        </p:nvSpPr>
        <p:spPr>
          <a:xfrm>
            <a:off x="960120" y="4983480"/>
            <a:ext cx="10058400" cy="320040"/>
          </a:xfrm>
          <a:prstGeom prst="rect">
            <a:avLst/>
          </a:prstGeom>
          <a:noFill/>
          <a:ln/>
        </p:spPr>
        <p:txBody>
          <a:bodyPr wrap="square" lIns="0" tIns="0" rIns="0" bIns="0" rtlCol="0" anchor="ctr"/>
          <a:lstStyle/>
          <a:p>
            <a:pPr algn="ctr" indent="0" marL="0">
              <a:buNone/>
            </a:pPr>
            <a:r>
              <a:rPr lang="en-US" sz="1500" dirty="0">
                <a:solidFill>
                  <a:srgbClr val="5B6770"/>
                </a:solidFill>
              </a:rPr>
              <a:t>Chapter examples: crossing the street, vacuum exploration, dung beetle, sphex wasp.</a:t>
            </a:r>
            <a:endParaRPr lang="en-US" sz="1500" dirty="0"/>
          </a:p>
        </p:txBody>
      </p:sp>
      <p:sp>
        <p:nvSpPr>
          <p:cNvPr id="29" name="Text 26"/>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2.3.1 PEAS: Specify the Task Before Designing the Agent</a:t>
            </a:r>
            <a:endParaRPr lang="en-US" sz="2500" dirty="0"/>
          </a:p>
        </p:txBody>
      </p:sp>
      <p:sp>
        <p:nvSpPr>
          <p:cNvPr id="3" name="Text 1"/>
          <p:cNvSpPr/>
          <p:nvPr/>
        </p:nvSpPr>
        <p:spPr>
          <a:xfrm>
            <a:off x="777240" y="1005840"/>
            <a:ext cx="10607040" cy="347472"/>
          </a:xfrm>
          <a:prstGeom prst="rect">
            <a:avLst/>
          </a:prstGeom>
          <a:noFill/>
          <a:ln/>
        </p:spPr>
        <p:txBody>
          <a:bodyPr wrap="square" lIns="0" tIns="0" rIns="0" bIns="0" rtlCol="0" anchor="ctr"/>
          <a:lstStyle/>
          <a:p>
            <a:pPr algn="ctr" indent="0" marL="0">
              <a:buNone/>
            </a:pPr>
            <a:r>
              <a:rPr lang="en-US" sz="2100" b="1" dirty="0">
                <a:solidFill>
                  <a:srgbClr val="0B2D5B"/>
                </a:solidFill>
              </a:rPr>
              <a:t>PEAS = Performance measure, Environment, Actuators, Sensors</a:t>
            </a:r>
            <a:endParaRPr lang="en-US" sz="2100" dirty="0"/>
          </a:p>
        </p:txBody>
      </p:sp>
      <p:sp>
        <p:nvSpPr>
          <p:cNvPr id="4" name="Shape 2"/>
          <p:cNvSpPr/>
          <p:nvPr/>
        </p:nvSpPr>
        <p:spPr>
          <a:xfrm>
            <a:off x="685800" y="1874520"/>
            <a:ext cx="2514600" cy="2743200"/>
          </a:xfrm>
          <a:prstGeom prst="roundRect">
            <a:avLst>
              <a:gd name="adj" fmla="val 2909"/>
            </a:avLst>
          </a:prstGeom>
          <a:solidFill>
            <a:srgbClr val="FFFFFF"/>
          </a:solidFill>
          <a:ln w="15240">
            <a:solidFill>
              <a:srgbClr val="D4E0EA"/>
            </a:solidFill>
            <a:prstDash val="solid"/>
          </a:ln>
        </p:spPr>
      </p:sp>
      <p:sp>
        <p:nvSpPr>
          <p:cNvPr id="5" name="Shape 3"/>
          <p:cNvSpPr/>
          <p:nvPr/>
        </p:nvSpPr>
        <p:spPr>
          <a:xfrm>
            <a:off x="868680" y="2057400"/>
            <a:ext cx="502920" cy="502920"/>
          </a:xfrm>
          <a:prstGeom prst="roundRect">
            <a:avLst>
              <a:gd name="adj" fmla="val 14545"/>
            </a:avLst>
          </a:prstGeom>
          <a:solidFill>
            <a:srgbClr val="1E7A3B"/>
          </a:solidFill>
          <a:ln w="15240">
            <a:solidFill>
              <a:srgbClr val="1E7A3B"/>
            </a:solidFill>
            <a:prstDash val="solid"/>
          </a:ln>
        </p:spPr>
      </p:sp>
      <p:sp>
        <p:nvSpPr>
          <p:cNvPr id="6" name="Text 4"/>
          <p:cNvSpPr/>
          <p:nvPr/>
        </p:nvSpPr>
        <p:spPr>
          <a:xfrm>
            <a:off x="978408" y="2148840"/>
            <a:ext cx="283464" cy="320040"/>
          </a:xfrm>
          <a:prstGeom prst="rect">
            <a:avLst/>
          </a:prstGeom>
          <a:noFill/>
          <a:ln/>
        </p:spPr>
        <p:txBody>
          <a:bodyPr wrap="square" lIns="254" tIns="254" rIns="254" bIns="254" rtlCol="0" anchor="ctr">
            <a:normAutofit/>
          </a:bodyPr>
          <a:lstStyle/>
          <a:p>
            <a:pPr algn="ctr" indent="0" marL="0">
              <a:buNone/>
            </a:pPr>
            <a:r>
              <a:rPr lang="en-US" sz="2000" b="1" dirty="0">
                <a:solidFill>
                  <a:srgbClr val="FFFFFF"/>
                </a:solidFill>
              </a:rPr>
              <a:t>P</a:t>
            </a:r>
            <a:endParaRPr lang="en-US" sz="2000" dirty="0"/>
          </a:p>
        </p:txBody>
      </p:sp>
      <p:sp>
        <p:nvSpPr>
          <p:cNvPr id="7" name="Text 5"/>
          <p:cNvSpPr/>
          <p:nvPr/>
        </p:nvSpPr>
        <p:spPr>
          <a:xfrm>
            <a:off x="1417320" y="2130552"/>
            <a:ext cx="1600200" cy="228600"/>
          </a:xfrm>
          <a:prstGeom prst="rect">
            <a:avLst/>
          </a:prstGeom>
          <a:noFill/>
          <a:ln/>
        </p:spPr>
        <p:txBody>
          <a:bodyPr wrap="square" lIns="0" tIns="0" rIns="0" bIns="0" rtlCol="0" anchor="ctr"/>
          <a:lstStyle/>
          <a:p>
            <a:pPr indent="0" marL="0">
              <a:buNone/>
            </a:pPr>
            <a:r>
              <a:rPr lang="en-US" sz="1400" b="1" dirty="0">
                <a:solidFill>
                  <a:srgbClr val="0B2D5B"/>
                </a:solidFill>
              </a:rPr>
              <a:t>Performance</a:t>
            </a:r>
            <a:endParaRPr lang="en-US" sz="1400" dirty="0"/>
          </a:p>
        </p:txBody>
      </p:sp>
      <p:sp>
        <p:nvSpPr>
          <p:cNvPr id="8" name="Text 6"/>
          <p:cNvSpPr/>
          <p:nvPr/>
        </p:nvSpPr>
        <p:spPr>
          <a:xfrm>
            <a:off x="914400" y="2816352"/>
            <a:ext cx="2011680" cy="1143000"/>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safe, legal, comfortable trip; minimize time/cost; maximize profit</a:t>
            </a:r>
            <a:endParaRPr lang="en-US" sz="1300" dirty="0"/>
          </a:p>
        </p:txBody>
      </p:sp>
      <p:sp>
        <p:nvSpPr>
          <p:cNvPr id="9" name="Shape 7"/>
          <p:cNvSpPr/>
          <p:nvPr/>
        </p:nvSpPr>
        <p:spPr>
          <a:xfrm>
            <a:off x="3566160" y="1874520"/>
            <a:ext cx="2514600" cy="2743200"/>
          </a:xfrm>
          <a:prstGeom prst="roundRect">
            <a:avLst>
              <a:gd name="adj" fmla="val 2909"/>
            </a:avLst>
          </a:prstGeom>
          <a:solidFill>
            <a:srgbClr val="FFFFFF"/>
          </a:solidFill>
          <a:ln w="15240">
            <a:solidFill>
              <a:srgbClr val="D4E0EA"/>
            </a:solidFill>
            <a:prstDash val="solid"/>
          </a:ln>
        </p:spPr>
      </p:sp>
      <p:sp>
        <p:nvSpPr>
          <p:cNvPr id="10" name="Shape 8"/>
          <p:cNvSpPr/>
          <p:nvPr/>
        </p:nvSpPr>
        <p:spPr>
          <a:xfrm>
            <a:off x="3749040" y="2057400"/>
            <a:ext cx="502920" cy="502920"/>
          </a:xfrm>
          <a:prstGeom prst="roundRect">
            <a:avLst>
              <a:gd name="adj" fmla="val 14545"/>
            </a:avLst>
          </a:prstGeom>
          <a:solidFill>
            <a:srgbClr val="1E73BE"/>
          </a:solidFill>
          <a:ln w="15240">
            <a:solidFill>
              <a:srgbClr val="1E73BE"/>
            </a:solidFill>
            <a:prstDash val="solid"/>
          </a:ln>
        </p:spPr>
      </p:sp>
      <p:sp>
        <p:nvSpPr>
          <p:cNvPr id="11" name="Text 9"/>
          <p:cNvSpPr/>
          <p:nvPr/>
        </p:nvSpPr>
        <p:spPr>
          <a:xfrm>
            <a:off x="3858768" y="2148840"/>
            <a:ext cx="283464" cy="320040"/>
          </a:xfrm>
          <a:prstGeom prst="rect">
            <a:avLst/>
          </a:prstGeom>
          <a:noFill/>
          <a:ln/>
        </p:spPr>
        <p:txBody>
          <a:bodyPr wrap="square" lIns="254" tIns="254" rIns="254" bIns="254" rtlCol="0" anchor="ctr">
            <a:normAutofit/>
          </a:bodyPr>
          <a:lstStyle/>
          <a:p>
            <a:pPr algn="ctr" indent="0" marL="0">
              <a:buNone/>
            </a:pPr>
            <a:r>
              <a:rPr lang="en-US" sz="2000" b="1" dirty="0">
                <a:solidFill>
                  <a:srgbClr val="FFFFFF"/>
                </a:solidFill>
              </a:rPr>
              <a:t>E</a:t>
            </a:r>
            <a:endParaRPr lang="en-US" sz="2000" dirty="0"/>
          </a:p>
        </p:txBody>
      </p:sp>
      <p:sp>
        <p:nvSpPr>
          <p:cNvPr id="12" name="Text 10"/>
          <p:cNvSpPr/>
          <p:nvPr/>
        </p:nvSpPr>
        <p:spPr>
          <a:xfrm>
            <a:off x="4297680" y="2130552"/>
            <a:ext cx="1600200" cy="228600"/>
          </a:xfrm>
          <a:prstGeom prst="rect">
            <a:avLst/>
          </a:prstGeom>
          <a:noFill/>
          <a:ln/>
        </p:spPr>
        <p:txBody>
          <a:bodyPr wrap="square" lIns="0" tIns="0" rIns="0" bIns="0" rtlCol="0" anchor="ctr"/>
          <a:lstStyle/>
          <a:p>
            <a:pPr indent="0" marL="0">
              <a:buNone/>
            </a:pPr>
            <a:r>
              <a:rPr lang="en-US" sz="1400" b="1" dirty="0">
                <a:solidFill>
                  <a:srgbClr val="0B2D5B"/>
                </a:solidFill>
              </a:rPr>
              <a:t>Environment</a:t>
            </a:r>
            <a:endParaRPr lang="en-US" sz="1400" dirty="0"/>
          </a:p>
        </p:txBody>
      </p:sp>
      <p:sp>
        <p:nvSpPr>
          <p:cNvPr id="13" name="Text 11"/>
          <p:cNvSpPr/>
          <p:nvPr/>
        </p:nvSpPr>
        <p:spPr>
          <a:xfrm>
            <a:off x="3794760" y="2816352"/>
            <a:ext cx="2011680" cy="1143000"/>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roads, traffic, pedestrians, weather, passengers, police, construction</a:t>
            </a:r>
            <a:endParaRPr lang="en-US" sz="1300" dirty="0"/>
          </a:p>
        </p:txBody>
      </p:sp>
      <p:sp>
        <p:nvSpPr>
          <p:cNvPr id="14" name="Shape 12"/>
          <p:cNvSpPr/>
          <p:nvPr/>
        </p:nvSpPr>
        <p:spPr>
          <a:xfrm>
            <a:off x="6446520" y="1874520"/>
            <a:ext cx="2514600" cy="2743200"/>
          </a:xfrm>
          <a:prstGeom prst="roundRect">
            <a:avLst>
              <a:gd name="adj" fmla="val 2909"/>
            </a:avLst>
          </a:prstGeom>
          <a:solidFill>
            <a:srgbClr val="FFFFFF"/>
          </a:solidFill>
          <a:ln w="15240">
            <a:solidFill>
              <a:srgbClr val="D4E0EA"/>
            </a:solidFill>
            <a:prstDash val="solid"/>
          </a:ln>
        </p:spPr>
      </p:sp>
      <p:sp>
        <p:nvSpPr>
          <p:cNvPr id="15" name="Shape 13"/>
          <p:cNvSpPr/>
          <p:nvPr/>
        </p:nvSpPr>
        <p:spPr>
          <a:xfrm>
            <a:off x="6629400" y="2057400"/>
            <a:ext cx="502920" cy="502920"/>
          </a:xfrm>
          <a:prstGeom prst="roundRect">
            <a:avLst>
              <a:gd name="adj" fmla="val 14545"/>
            </a:avLst>
          </a:prstGeom>
          <a:solidFill>
            <a:srgbClr val="6A2FD4"/>
          </a:solidFill>
          <a:ln w="15240">
            <a:solidFill>
              <a:srgbClr val="6A2FD4"/>
            </a:solidFill>
            <a:prstDash val="solid"/>
          </a:ln>
        </p:spPr>
      </p:sp>
      <p:sp>
        <p:nvSpPr>
          <p:cNvPr id="16" name="Text 14"/>
          <p:cNvSpPr/>
          <p:nvPr/>
        </p:nvSpPr>
        <p:spPr>
          <a:xfrm>
            <a:off x="6739128" y="2148840"/>
            <a:ext cx="283464" cy="320040"/>
          </a:xfrm>
          <a:prstGeom prst="rect">
            <a:avLst/>
          </a:prstGeom>
          <a:noFill/>
          <a:ln/>
        </p:spPr>
        <p:txBody>
          <a:bodyPr wrap="square" lIns="254" tIns="254" rIns="254" bIns="254" rtlCol="0" anchor="ctr">
            <a:normAutofit/>
          </a:bodyPr>
          <a:lstStyle/>
          <a:p>
            <a:pPr algn="ctr" indent="0" marL="0">
              <a:buNone/>
            </a:pPr>
            <a:r>
              <a:rPr lang="en-US" sz="2000" b="1" dirty="0">
                <a:solidFill>
                  <a:srgbClr val="FFFFFF"/>
                </a:solidFill>
              </a:rPr>
              <a:t>A</a:t>
            </a:r>
            <a:endParaRPr lang="en-US" sz="2000" dirty="0"/>
          </a:p>
        </p:txBody>
      </p:sp>
      <p:sp>
        <p:nvSpPr>
          <p:cNvPr id="17" name="Text 15"/>
          <p:cNvSpPr/>
          <p:nvPr/>
        </p:nvSpPr>
        <p:spPr>
          <a:xfrm>
            <a:off x="7178040" y="2130552"/>
            <a:ext cx="1600200" cy="228600"/>
          </a:xfrm>
          <a:prstGeom prst="rect">
            <a:avLst/>
          </a:prstGeom>
          <a:noFill/>
          <a:ln/>
        </p:spPr>
        <p:txBody>
          <a:bodyPr wrap="square" lIns="0" tIns="0" rIns="0" bIns="0" rtlCol="0" anchor="ctr"/>
          <a:lstStyle/>
          <a:p>
            <a:pPr indent="0" marL="0">
              <a:buNone/>
            </a:pPr>
            <a:r>
              <a:rPr lang="en-US" sz="1400" b="1" dirty="0">
                <a:solidFill>
                  <a:srgbClr val="0B2D5B"/>
                </a:solidFill>
              </a:rPr>
              <a:t>Actuators</a:t>
            </a:r>
            <a:endParaRPr lang="en-US" sz="1400" dirty="0"/>
          </a:p>
        </p:txBody>
      </p:sp>
      <p:sp>
        <p:nvSpPr>
          <p:cNvPr id="18" name="Text 16"/>
          <p:cNvSpPr/>
          <p:nvPr/>
        </p:nvSpPr>
        <p:spPr>
          <a:xfrm>
            <a:off x="6675120" y="2816352"/>
            <a:ext cx="2011680" cy="1143000"/>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steering, accelerator, brake, signals, display, speech</a:t>
            </a:r>
            <a:endParaRPr lang="en-US" sz="1300" dirty="0"/>
          </a:p>
        </p:txBody>
      </p:sp>
      <p:sp>
        <p:nvSpPr>
          <p:cNvPr id="19" name="Shape 17"/>
          <p:cNvSpPr/>
          <p:nvPr/>
        </p:nvSpPr>
        <p:spPr>
          <a:xfrm>
            <a:off x="9326880" y="1874520"/>
            <a:ext cx="2514600" cy="2743200"/>
          </a:xfrm>
          <a:prstGeom prst="roundRect">
            <a:avLst>
              <a:gd name="adj" fmla="val 2909"/>
            </a:avLst>
          </a:prstGeom>
          <a:solidFill>
            <a:srgbClr val="FFFFFF"/>
          </a:solidFill>
          <a:ln w="15240">
            <a:solidFill>
              <a:srgbClr val="D4E0EA"/>
            </a:solidFill>
            <a:prstDash val="solid"/>
          </a:ln>
        </p:spPr>
      </p:sp>
      <p:sp>
        <p:nvSpPr>
          <p:cNvPr id="20" name="Shape 18"/>
          <p:cNvSpPr/>
          <p:nvPr/>
        </p:nvSpPr>
        <p:spPr>
          <a:xfrm>
            <a:off x="9509760" y="2057400"/>
            <a:ext cx="502920" cy="502920"/>
          </a:xfrm>
          <a:prstGeom prst="roundRect">
            <a:avLst>
              <a:gd name="adj" fmla="val 14545"/>
            </a:avLst>
          </a:prstGeom>
          <a:solidFill>
            <a:srgbClr val="A71D1D"/>
          </a:solidFill>
          <a:ln w="15240">
            <a:solidFill>
              <a:srgbClr val="A71D1D"/>
            </a:solidFill>
            <a:prstDash val="solid"/>
          </a:ln>
        </p:spPr>
      </p:sp>
      <p:sp>
        <p:nvSpPr>
          <p:cNvPr id="21" name="Text 19"/>
          <p:cNvSpPr/>
          <p:nvPr/>
        </p:nvSpPr>
        <p:spPr>
          <a:xfrm>
            <a:off x="9619488" y="2148840"/>
            <a:ext cx="283464" cy="320040"/>
          </a:xfrm>
          <a:prstGeom prst="rect">
            <a:avLst/>
          </a:prstGeom>
          <a:noFill/>
          <a:ln/>
        </p:spPr>
        <p:txBody>
          <a:bodyPr wrap="square" lIns="254" tIns="254" rIns="254" bIns="254" rtlCol="0" anchor="ctr">
            <a:normAutofit/>
          </a:bodyPr>
          <a:lstStyle/>
          <a:p>
            <a:pPr algn="ctr" indent="0" marL="0">
              <a:buNone/>
            </a:pPr>
            <a:r>
              <a:rPr lang="en-US" sz="2000" b="1" dirty="0">
                <a:solidFill>
                  <a:srgbClr val="FFFFFF"/>
                </a:solidFill>
              </a:rPr>
              <a:t>S</a:t>
            </a:r>
            <a:endParaRPr lang="en-US" sz="2000" dirty="0"/>
          </a:p>
        </p:txBody>
      </p:sp>
      <p:sp>
        <p:nvSpPr>
          <p:cNvPr id="22" name="Text 20"/>
          <p:cNvSpPr/>
          <p:nvPr/>
        </p:nvSpPr>
        <p:spPr>
          <a:xfrm>
            <a:off x="10058400" y="2130552"/>
            <a:ext cx="1600200" cy="228600"/>
          </a:xfrm>
          <a:prstGeom prst="rect">
            <a:avLst/>
          </a:prstGeom>
          <a:noFill/>
          <a:ln/>
        </p:spPr>
        <p:txBody>
          <a:bodyPr wrap="square" lIns="0" tIns="0" rIns="0" bIns="0" rtlCol="0" anchor="ctr"/>
          <a:lstStyle/>
          <a:p>
            <a:pPr indent="0" marL="0">
              <a:buNone/>
            </a:pPr>
            <a:r>
              <a:rPr lang="en-US" sz="1400" b="1" dirty="0">
                <a:solidFill>
                  <a:srgbClr val="0B2D5B"/>
                </a:solidFill>
              </a:rPr>
              <a:t>Sensors</a:t>
            </a:r>
            <a:endParaRPr lang="en-US" sz="1400" dirty="0"/>
          </a:p>
        </p:txBody>
      </p:sp>
      <p:sp>
        <p:nvSpPr>
          <p:cNvPr id="23" name="Text 21"/>
          <p:cNvSpPr/>
          <p:nvPr/>
        </p:nvSpPr>
        <p:spPr>
          <a:xfrm>
            <a:off x="9555480" y="2816352"/>
            <a:ext cx="2011680" cy="1143000"/>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cameras, lidar, radar, GPS, speedometer, engine sensors, voice input</a:t>
            </a:r>
            <a:endParaRPr lang="en-US" sz="1300" dirty="0"/>
          </a:p>
        </p:txBody>
      </p:sp>
      <p:sp>
        <p:nvSpPr>
          <p:cNvPr id="24" name="Text 22"/>
          <p:cNvSpPr/>
          <p:nvPr/>
        </p:nvSpPr>
        <p:spPr>
          <a:xfrm>
            <a:off x="914400" y="5303520"/>
            <a:ext cx="10332720" cy="347472"/>
          </a:xfrm>
          <a:prstGeom prst="rect">
            <a:avLst/>
          </a:prstGeom>
          <a:noFill/>
          <a:ln/>
        </p:spPr>
        <p:txBody>
          <a:bodyPr wrap="square" lIns="0" tIns="0" rIns="0" bIns="0" rtlCol="0" anchor="ctr"/>
          <a:lstStyle/>
          <a:p>
            <a:pPr algn="ctr" indent="0" marL="0">
              <a:buNone/>
            </a:pPr>
            <a:r>
              <a:rPr lang="en-US" sz="1800" b="1" dirty="0">
                <a:solidFill>
                  <a:srgbClr val="0B2D5B"/>
                </a:solidFill>
              </a:rPr>
              <a:t>Design rule: specify the task environment as fully as possible first.</a:t>
            </a:r>
            <a:endParaRPr lang="en-US" sz="1800" dirty="0"/>
          </a:p>
        </p:txBody>
      </p:sp>
      <p:sp>
        <p:nvSpPr>
          <p:cNvPr id="26" name="Text 23"/>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2.3.2 Task Environment Properties</a:t>
            </a:r>
            <a:endParaRPr lang="en-US" sz="2500" dirty="0"/>
          </a:p>
        </p:txBody>
      </p:sp>
      <p:sp>
        <p:nvSpPr>
          <p:cNvPr id="3" name="Shape 1"/>
          <p:cNvSpPr/>
          <p:nvPr/>
        </p:nvSpPr>
        <p:spPr>
          <a:xfrm>
            <a:off x="777240" y="1051560"/>
            <a:ext cx="10607040" cy="4526280"/>
          </a:xfrm>
          <a:prstGeom prst="rect">
            <a:avLst/>
          </a:prstGeom>
          <a:solidFill>
            <a:srgbClr val="FFFFFF"/>
          </a:solidFill>
          <a:ln w="12700">
            <a:solidFill>
              <a:srgbClr val="D5E1EA"/>
            </a:solidFill>
            <a:prstDash val="solid"/>
          </a:ln>
        </p:spPr>
      </p:sp>
      <p:sp>
        <p:nvSpPr>
          <p:cNvPr id="4" name="Text 2"/>
          <p:cNvSpPr/>
          <p:nvPr/>
        </p:nvSpPr>
        <p:spPr>
          <a:xfrm>
            <a:off x="960120" y="1234440"/>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Observable</a:t>
            </a:r>
            <a:endParaRPr lang="en-US" sz="1200" dirty="0"/>
          </a:p>
        </p:txBody>
      </p:sp>
      <p:sp>
        <p:nvSpPr>
          <p:cNvPr id="5" name="Shape 3"/>
          <p:cNvSpPr/>
          <p:nvPr/>
        </p:nvSpPr>
        <p:spPr>
          <a:xfrm>
            <a:off x="2606040" y="1371600"/>
            <a:ext cx="6492240" cy="0"/>
          </a:xfrm>
          <a:prstGeom prst="line">
            <a:avLst/>
          </a:prstGeom>
          <a:noFill/>
          <a:ln w="25400">
            <a:solidFill>
              <a:srgbClr val="CDD9E2"/>
            </a:solidFill>
            <a:prstDash val="solid"/>
          </a:ln>
        </p:spPr>
      </p:sp>
      <p:sp>
        <p:nvSpPr>
          <p:cNvPr id="6" name="Shape 4"/>
          <p:cNvSpPr/>
          <p:nvPr/>
        </p:nvSpPr>
        <p:spPr>
          <a:xfrm>
            <a:off x="2788920" y="1261872"/>
            <a:ext cx="201168" cy="201168"/>
          </a:xfrm>
          <a:prstGeom prst="ellipse">
            <a:avLst/>
          </a:prstGeom>
          <a:solidFill>
            <a:srgbClr val="1E7A3B"/>
          </a:solidFill>
          <a:ln w="12700">
            <a:solidFill>
              <a:srgbClr val="1E7A3B"/>
            </a:solidFill>
            <a:prstDash val="solid"/>
          </a:ln>
        </p:spPr>
      </p:sp>
      <p:sp>
        <p:nvSpPr>
          <p:cNvPr id="7" name="Shape 5"/>
          <p:cNvSpPr/>
          <p:nvPr/>
        </p:nvSpPr>
        <p:spPr>
          <a:xfrm>
            <a:off x="9281160" y="1261872"/>
            <a:ext cx="201168" cy="201168"/>
          </a:xfrm>
          <a:prstGeom prst="ellipse">
            <a:avLst/>
          </a:prstGeom>
          <a:solidFill>
            <a:srgbClr val="A71D1D"/>
          </a:solidFill>
          <a:ln w="12700">
            <a:solidFill>
              <a:srgbClr val="A71D1D"/>
            </a:solidFill>
            <a:prstDash val="solid"/>
          </a:ln>
        </p:spPr>
      </p:sp>
      <p:sp>
        <p:nvSpPr>
          <p:cNvPr id="8" name="Text 6"/>
          <p:cNvSpPr/>
          <p:nvPr/>
        </p:nvSpPr>
        <p:spPr>
          <a:xfrm>
            <a:off x="3063240" y="1207008"/>
            <a:ext cx="2377440" cy="256032"/>
          </a:xfrm>
          <a:prstGeom prst="rect">
            <a:avLst/>
          </a:prstGeom>
          <a:noFill/>
          <a:ln/>
        </p:spPr>
        <p:txBody>
          <a:bodyPr wrap="square" lIns="0" tIns="0" rIns="0" bIns="0" rtlCol="0" anchor="ctr"/>
          <a:lstStyle/>
          <a:p>
            <a:pPr indent="0" marL="0">
              <a:buNone/>
            </a:pPr>
            <a:r>
              <a:rPr lang="en-US" sz="1200" dirty="0">
                <a:solidFill>
                  <a:srgbClr val="5B6770"/>
                </a:solidFill>
              </a:rPr>
              <a:t>Fully</a:t>
            </a:r>
            <a:endParaRPr lang="en-US" sz="1200" dirty="0"/>
          </a:p>
        </p:txBody>
      </p:sp>
      <p:sp>
        <p:nvSpPr>
          <p:cNvPr id="9" name="Text 7"/>
          <p:cNvSpPr/>
          <p:nvPr/>
        </p:nvSpPr>
        <p:spPr>
          <a:xfrm>
            <a:off x="6172200" y="1207008"/>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Partially</a:t>
            </a:r>
            <a:endParaRPr lang="en-US" sz="1200" dirty="0"/>
          </a:p>
        </p:txBody>
      </p:sp>
      <p:sp>
        <p:nvSpPr>
          <p:cNvPr id="10" name="Text 8"/>
          <p:cNvSpPr/>
          <p:nvPr/>
        </p:nvSpPr>
        <p:spPr>
          <a:xfrm>
            <a:off x="960120" y="1801368"/>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Agents</a:t>
            </a:r>
            <a:endParaRPr lang="en-US" sz="1200" dirty="0"/>
          </a:p>
        </p:txBody>
      </p:sp>
      <p:sp>
        <p:nvSpPr>
          <p:cNvPr id="11" name="Shape 9"/>
          <p:cNvSpPr/>
          <p:nvPr/>
        </p:nvSpPr>
        <p:spPr>
          <a:xfrm>
            <a:off x="2606040" y="1938528"/>
            <a:ext cx="6492240" cy="0"/>
          </a:xfrm>
          <a:prstGeom prst="line">
            <a:avLst/>
          </a:prstGeom>
          <a:noFill/>
          <a:ln w="25400">
            <a:solidFill>
              <a:srgbClr val="CDD9E2"/>
            </a:solidFill>
            <a:prstDash val="solid"/>
          </a:ln>
        </p:spPr>
      </p:sp>
      <p:sp>
        <p:nvSpPr>
          <p:cNvPr id="12" name="Shape 10"/>
          <p:cNvSpPr/>
          <p:nvPr/>
        </p:nvSpPr>
        <p:spPr>
          <a:xfrm>
            <a:off x="2788920" y="1828800"/>
            <a:ext cx="201168" cy="201168"/>
          </a:xfrm>
          <a:prstGeom prst="ellipse">
            <a:avLst/>
          </a:prstGeom>
          <a:solidFill>
            <a:srgbClr val="1E7A3B"/>
          </a:solidFill>
          <a:ln w="12700">
            <a:solidFill>
              <a:srgbClr val="1E7A3B"/>
            </a:solidFill>
            <a:prstDash val="solid"/>
          </a:ln>
        </p:spPr>
      </p:sp>
      <p:sp>
        <p:nvSpPr>
          <p:cNvPr id="13" name="Shape 11"/>
          <p:cNvSpPr/>
          <p:nvPr/>
        </p:nvSpPr>
        <p:spPr>
          <a:xfrm>
            <a:off x="9281160" y="1828800"/>
            <a:ext cx="201168" cy="201168"/>
          </a:xfrm>
          <a:prstGeom prst="ellipse">
            <a:avLst/>
          </a:prstGeom>
          <a:solidFill>
            <a:srgbClr val="A71D1D"/>
          </a:solidFill>
          <a:ln w="12700">
            <a:solidFill>
              <a:srgbClr val="A71D1D"/>
            </a:solidFill>
            <a:prstDash val="solid"/>
          </a:ln>
        </p:spPr>
      </p:sp>
      <p:sp>
        <p:nvSpPr>
          <p:cNvPr id="14" name="Text 12"/>
          <p:cNvSpPr/>
          <p:nvPr/>
        </p:nvSpPr>
        <p:spPr>
          <a:xfrm>
            <a:off x="3063240" y="1773936"/>
            <a:ext cx="2377440" cy="256032"/>
          </a:xfrm>
          <a:prstGeom prst="rect">
            <a:avLst/>
          </a:prstGeom>
          <a:noFill/>
          <a:ln/>
        </p:spPr>
        <p:txBody>
          <a:bodyPr wrap="square" lIns="0" tIns="0" rIns="0" bIns="0" rtlCol="0" anchor="ctr"/>
          <a:lstStyle/>
          <a:p>
            <a:pPr indent="0" marL="0">
              <a:buNone/>
            </a:pPr>
            <a:r>
              <a:rPr lang="en-US" sz="1200" dirty="0">
                <a:solidFill>
                  <a:srgbClr val="5B6770"/>
                </a:solidFill>
              </a:rPr>
              <a:t>Single</a:t>
            </a:r>
            <a:endParaRPr lang="en-US" sz="1200" dirty="0"/>
          </a:p>
        </p:txBody>
      </p:sp>
      <p:sp>
        <p:nvSpPr>
          <p:cNvPr id="15" name="Text 13"/>
          <p:cNvSpPr/>
          <p:nvPr/>
        </p:nvSpPr>
        <p:spPr>
          <a:xfrm>
            <a:off x="6172200" y="1773936"/>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Multi</a:t>
            </a:r>
            <a:endParaRPr lang="en-US" sz="1200" dirty="0"/>
          </a:p>
        </p:txBody>
      </p:sp>
      <p:sp>
        <p:nvSpPr>
          <p:cNvPr id="16" name="Text 14"/>
          <p:cNvSpPr/>
          <p:nvPr/>
        </p:nvSpPr>
        <p:spPr>
          <a:xfrm>
            <a:off x="960120" y="2368296"/>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Transition</a:t>
            </a:r>
            <a:endParaRPr lang="en-US" sz="1200" dirty="0"/>
          </a:p>
        </p:txBody>
      </p:sp>
      <p:sp>
        <p:nvSpPr>
          <p:cNvPr id="17" name="Shape 15"/>
          <p:cNvSpPr/>
          <p:nvPr/>
        </p:nvSpPr>
        <p:spPr>
          <a:xfrm>
            <a:off x="2606040" y="2505456"/>
            <a:ext cx="6492240" cy="0"/>
          </a:xfrm>
          <a:prstGeom prst="line">
            <a:avLst/>
          </a:prstGeom>
          <a:noFill/>
          <a:ln w="25400">
            <a:solidFill>
              <a:srgbClr val="CDD9E2"/>
            </a:solidFill>
            <a:prstDash val="solid"/>
          </a:ln>
        </p:spPr>
      </p:sp>
      <p:sp>
        <p:nvSpPr>
          <p:cNvPr id="18" name="Shape 16"/>
          <p:cNvSpPr/>
          <p:nvPr/>
        </p:nvSpPr>
        <p:spPr>
          <a:xfrm>
            <a:off x="2788920" y="2395728"/>
            <a:ext cx="201168" cy="201168"/>
          </a:xfrm>
          <a:prstGeom prst="ellipse">
            <a:avLst/>
          </a:prstGeom>
          <a:solidFill>
            <a:srgbClr val="1E7A3B"/>
          </a:solidFill>
          <a:ln w="12700">
            <a:solidFill>
              <a:srgbClr val="1E7A3B"/>
            </a:solidFill>
            <a:prstDash val="solid"/>
          </a:ln>
        </p:spPr>
      </p:sp>
      <p:sp>
        <p:nvSpPr>
          <p:cNvPr id="19" name="Shape 17"/>
          <p:cNvSpPr/>
          <p:nvPr/>
        </p:nvSpPr>
        <p:spPr>
          <a:xfrm>
            <a:off x="9281160" y="2395728"/>
            <a:ext cx="201168" cy="201168"/>
          </a:xfrm>
          <a:prstGeom prst="ellipse">
            <a:avLst/>
          </a:prstGeom>
          <a:solidFill>
            <a:srgbClr val="A71D1D"/>
          </a:solidFill>
          <a:ln w="12700">
            <a:solidFill>
              <a:srgbClr val="A71D1D"/>
            </a:solidFill>
            <a:prstDash val="solid"/>
          </a:ln>
        </p:spPr>
      </p:sp>
      <p:sp>
        <p:nvSpPr>
          <p:cNvPr id="20" name="Text 18"/>
          <p:cNvSpPr/>
          <p:nvPr/>
        </p:nvSpPr>
        <p:spPr>
          <a:xfrm>
            <a:off x="3063240" y="2340864"/>
            <a:ext cx="2377440" cy="256032"/>
          </a:xfrm>
          <a:prstGeom prst="rect">
            <a:avLst/>
          </a:prstGeom>
          <a:noFill/>
          <a:ln/>
        </p:spPr>
        <p:txBody>
          <a:bodyPr wrap="square" lIns="0" tIns="0" rIns="0" bIns="0" rtlCol="0" anchor="ctr"/>
          <a:lstStyle/>
          <a:p>
            <a:pPr indent="0" marL="0">
              <a:buNone/>
            </a:pPr>
            <a:r>
              <a:rPr lang="en-US" sz="1200" dirty="0">
                <a:solidFill>
                  <a:srgbClr val="5B6770"/>
                </a:solidFill>
              </a:rPr>
              <a:t>Deterministic</a:t>
            </a:r>
            <a:endParaRPr lang="en-US" sz="1200" dirty="0"/>
          </a:p>
        </p:txBody>
      </p:sp>
      <p:sp>
        <p:nvSpPr>
          <p:cNvPr id="21" name="Text 19"/>
          <p:cNvSpPr/>
          <p:nvPr/>
        </p:nvSpPr>
        <p:spPr>
          <a:xfrm>
            <a:off x="6172200" y="2340864"/>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Nondeterministic / stochastic</a:t>
            </a:r>
            <a:endParaRPr lang="en-US" sz="1200" dirty="0"/>
          </a:p>
        </p:txBody>
      </p:sp>
      <p:sp>
        <p:nvSpPr>
          <p:cNvPr id="22" name="Text 20"/>
          <p:cNvSpPr/>
          <p:nvPr/>
        </p:nvSpPr>
        <p:spPr>
          <a:xfrm>
            <a:off x="960120" y="2935224"/>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Episodes</a:t>
            </a:r>
            <a:endParaRPr lang="en-US" sz="1200" dirty="0"/>
          </a:p>
        </p:txBody>
      </p:sp>
      <p:sp>
        <p:nvSpPr>
          <p:cNvPr id="23" name="Shape 21"/>
          <p:cNvSpPr/>
          <p:nvPr/>
        </p:nvSpPr>
        <p:spPr>
          <a:xfrm>
            <a:off x="2606040" y="3072384"/>
            <a:ext cx="6492240" cy="0"/>
          </a:xfrm>
          <a:prstGeom prst="line">
            <a:avLst/>
          </a:prstGeom>
          <a:noFill/>
          <a:ln w="25400">
            <a:solidFill>
              <a:srgbClr val="CDD9E2"/>
            </a:solidFill>
            <a:prstDash val="solid"/>
          </a:ln>
        </p:spPr>
      </p:sp>
      <p:sp>
        <p:nvSpPr>
          <p:cNvPr id="24" name="Shape 22"/>
          <p:cNvSpPr/>
          <p:nvPr/>
        </p:nvSpPr>
        <p:spPr>
          <a:xfrm>
            <a:off x="2788920" y="2962656"/>
            <a:ext cx="201168" cy="201168"/>
          </a:xfrm>
          <a:prstGeom prst="ellipse">
            <a:avLst/>
          </a:prstGeom>
          <a:solidFill>
            <a:srgbClr val="1E7A3B"/>
          </a:solidFill>
          <a:ln w="12700">
            <a:solidFill>
              <a:srgbClr val="1E7A3B"/>
            </a:solidFill>
            <a:prstDash val="solid"/>
          </a:ln>
        </p:spPr>
      </p:sp>
      <p:sp>
        <p:nvSpPr>
          <p:cNvPr id="25" name="Shape 23"/>
          <p:cNvSpPr/>
          <p:nvPr/>
        </p:nvSpPr>
        <p:spPr>
          <a:xfrm>
            <a:off x="9281160" y="2962656"/>
            <a:ext cx="201168" cy="201168"/>
          </a:xfrm>
          <a:prstGeom prst="ellipse">
            <a:avLst/>
          </a:prstGeom>
          <a:solidFill>
            <a:srgbClr val="A71D1D"/>
          </a:solidFill>
          <a:ln w="12700">
            <a:solidFill>
              <a:srgbClr val="A71D1D"/>
            </a:solidFill>
            <a:prstDash val="solid"/>
          </a:ln>
        </p:spPr>
      </p:sp>
      <p:sp>
        <p:nvSpPr>
          <p:cNvPr id="26" name="Text 24"/>
          <p:cNvSpPr/>
          <p:nvPr/>
        </p:nvSpPr>
        <p:spPr>
          <a:xfrm>
            <a:off x="3063240" y="2907792"/>
            <a:ext cx="2377440" cy="256032"/>
          </a:xfrm>
          <a:prstGeom prst="rect">
            <a:avLst/>
          </a:prstGeom>
          <a:noFill/>
          <a:ln/>
        </p:spPr>
        <p:txBody>
          <a:bodyPr wrap="square" lIns="0" tIns="0" rIns="0" bIns="0" rtlCol="0" anchor="ctr"/>
          <a:lstStyle/>
          <a:p>
            <a:pPr indent="0" marL="0">
              <a:buNone/>
            </a:pPr>
            <a:r>
              <a:rPr lang="en-US" sz="1200" dirty="0">
                <a:solidFill>
                  <a:srgbClr val="5B6770"/>
                </a:solidFill>
              </a:rPr>
              <a:t>Episodic</a:t>
            </a:r>
            <a:endParaRPr lang="en-US" sz="1200" dirty="0"/>
          </a:p>
        </p:txBody>
      </p:sp>
      <p:sp>
        <p:nvSpPr>
          <p:cNvPr id="27" name="Text 25"/>
          <p:cNvSpPr/>
          <p:nvPr/>
        </p:nvSpPr>
        <p:spPr>
          <a:xfrm>
            <a:off x="6172200" y="2907792"/>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Sequential</a:t>
            </a:r>
            <a:endParaRPr lang="en-US" sz="1200" dirty="0"/>
          </a:p>
        </p:txBody>
      </p:sp>
      <p:sp>
        <p:nvSpPr>
          <p:cNvPr id="28" name="Text 26"/>
          <p:cNvSpPr/>
          <p:nvPr/>
        </p:nvSpPr>
        <p:spPr>
          <a:xfrm>
            <a:off x="960120" y="3502152"/>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Time</a:t>
            </a:r>
            <a:endParaRPr lang="en-US" sz="1200" dirty="0"/>
          </a:p>
        </p:txBody>
      </p:sp>
      <p:sp>
        <p:nvSpPr>
          <p:cNvPr id="29" name="Shape 27"/>
          <p:cNvSpPr/>
          <p:nvPr/>
        </p:nvSpPr>
        <p:spPr>
          <a:xfrm>
            <a:off x="2606040" y="3639312"/>
            <a:ext cx="6492240" cy="0"/>
          </a:xfrm>
          <a:prstGeom prst="line">
            <a:avLst/>
          </a:prstGeom>
          <a:noFill/>
          <a:ln w="25400">
            <a:solidFill>
              <a:srgbClr val="CDD9E2"/>
            </a:solidFill>
            <a:prstDash val="solid"/>
          </a:ln>
        </p:spPr>
      </p:sp>
      <p:sp>
        <p:nvSpPr>
          <p:cNvPr id="30" name="Shape 28"/>
          <p:cNvSpPr/>
          <p:nvPr/>
        </p:nvSpPr>
        <p:spPr>
          <a:xfrm>
            <a:off x="2788920" y="3529584"/>
            <a:ext cx="201168" cy="201168"/>
          </a:xfrm>
          <a:prstGeom prst="ellipse">
            <a:avLst/>
          </a:prstGeom>
          <a:solidFill>
            <a:srgbClr val="1E7A3B"/>
          </a:solidFill>
          <a:ln w="12700">
            <a:solidFill>
              <a:srgbClr val="1E7A3B"/>
            </a:solidFill>
            <a:prstDash val="solid"/>
          </a:ln>
        </p:spPr>
      </p:sp>
      <p:sp>
        <p:nvSpPr>
          <p:cNvPr id="31" name="Shape 29"/>
          <p:cNvSpPr/>
          <p:nvPr/>
        </p:nvSpPr>
        <p:spPr>
          <a:xfrm>
            <a:off x="9281160" y="3529584"/>
            <a:ext cx="201168" cy="201168"/>
          </a:xfrm>
          <a:prstGeom prst="ellipse">
            <a:avLst/>
          </a:prstGeom>
          <a:solidFill>
            <a:srgbClr val="A71D1D"/>
          </a:solidFill>
          <a:ln w="12700">
            <a:solidFill>
              <a:srgbClr val="A71D1D"/>
            </a:solidFill>
            <a:prstDash val="solid"/>
          </a:ln>
        </p:spPr>
      </p:sp>
      <p:sp>
        <p:nvSpPr>
          <p:cNvPr id="32" name="Text 30"/>
          <p:cNvSpPr/>
          <p:nvPr/>
        </p:nvSpPr>
        <p:spPr>
          <a:xfrm>
            <a:off x="3063240" y="3474720"/>
            <a:ext cx="2377440" cy="256032"/>
          </a:xfrm>
          <a:prstGeom prst="rect">
            <a:avLst/>
          </a:prstGeom>
          <a:noFill/>
          <a:ln/>
        </p:spPr>
        <p:txBody>
          <a:bodyPr wrap="square" lIns="0" tIns="0" rIns="0" bIns="0" rtlCol="0" anchor="ctr"/>
          <a:lstStyle/>
          <a:p>
            <a:pPr indent="0" marL="0">
              <a:buNone/>
            </a:pPr>
            <a:r>
              <a:rPr lang="en-US" sz="1200" dirty="0">
                <a:solidFill>
                  <a:srgbClr val="5B6770"/>
                </a:solidFill>
              </a:rPr>
              <a:t>Static</a:t>
            </a:r>
            <a:endParaRPr lang="en-US" sz="1200" dirty="0"/>
          </a:p>
        </p:txBody>
      </p:sp>
      <p:sp>
        <p:nvSpPr>
          <p:cNvPr id="33" name="Text 31"/>
          <p:cNvSpPr/>
          <p:nvPr/>
        </p:nvSpPr>
        <p:spPr>
          <a:xfrm>
            <a:off x="6172200" y="3474720"/>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Dynamic / semidynamic</a:t>
            </a:r>
            <a:endParaRPr lang="en-US" sz="1200" dirty="0"/>
          </a:p>
        </p:txBody>
      </p:sp>
      <p:sp>
        <p:nvSpPr>
          <p:cNvPr id="34" name="Text 32"/>
          <p:cNvSpPr/>
          <p:nvPr/>
        </p:nvSpPr>
        <p:spPr>
          <a:xfrm>
            <a:off x="960120" y="4069080"/>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State/action</a:t>
            </a:r>
            <a:endParaRPr lang="en-US" sz="1200" dirty="0"/>
          </a:p>
        </p:txBody>
      </p:sp>
      <p:sp>
        <p:nvSpPr>
          <p:cNvPr id="35" name="Shape 33"/>
          <p:cNvSpPr/>
          <p:nvPr/>
        </p:nvSpPr>
        <p:spPr>
          <a:xfrm>
            <a:off x="2606040" y="4206240"/>
            <a:ext cx="6492240" cy="0"/>
          </a:xfrm>
          <a:prstGeom prst="line">
            <a:avLst/>
          </a:prstGeom>
          <a:noFill/>
          <a:ln w="25400">
            <a:solidFill>
              <a:srgbClr val="CDD9E2"/>
            </a:solidFill>
            <a:prstDash val="solid"/>
          </a:ln>
        </p:spPr>
      </p:sp>
      <p:sp>
        <p:nvSpPr>
          <p:cNvPr id="36" name="Shape 34"/>
          <p:cNvSpPr/>
          <p:nvPr/>
        </p:nvSpPr>
        <p:spPr>
          <a:xfrm>
            <a:off x="2788920" y="4096512"/>
            <a:ext cx="201168" cy="201168"/>
          </a:xfrm>
          <a:prstGeom prst="ellipse">
            <a:avLst/>
          </a:prstGeom>
          <a:solidFill>
            <a:srgbClr val="1E7A3B"/>
          </a:solidFill>
          <a:ln w="12700">
            <a:solidFill>
              <a:srgbClr val="1E7A3B"/>
            </a:solidFill>
            <a:prstDash val="solid"/>
          </a:ln>
        </p:spPr>
      </p:sp>
      <p:sp>
        <p:nvSpPr>
          <p:cNvPr id="37" name="Shape 35"/>
          <p:cNvSpPr/>
          <p:nvPr/>
        </p:nvSpPr>
        <p:spPr>
          <a:xfrm>
            <a:off x="9281160" y="4096512"/>
            <a:ext cx="201168" cy="201168"/>
          </a:xfrm>
          <a:prstGeom prst="ellipse">
            <a:avLst/>
          </a:prstGeom>
          <a:solidFill>
            <a:srgbClr val="A71D1D"/>
          </a:solidFill>
          <a:ln w="12700">
            <a:solidFill>
              <a:srgbClr val="A71D1D"/>
            </a:solidFill>
            <a:prstDash val="solid"/>
          </a:ln>
        </p:spPr>
      </p:sp>
      <p:sp>
        <p:nvSpPr>
          <p:cNvPr id="38" name="Text 36"/>
          <p:cNvSpPr/>
          <p:nvPr/>
        </p:nvSpPr>
        <p:spPr>
          <a:xfrm>
            <a:off x="3063240" y="4041648"/>
            <a:ext cx="2377440" cy="256032"/>
          </a:xfrm>
          <a:prstGeom prst="rect">
            <a:avLst/>
          </a:prstGeom>
          <a:noFill/>
          <a:ln/>
        </p:spPr>
        <p:txBody>
          <a:bodyPr wrap="square" lIns="0" tIns="0" rIns="0" bIns="0" rtlCol="0" anchor="ctr"/>
          <a:lstStyle/>
          <a:p>
            <a:pPr indent="0" marL="0">
              <a:buNone/>
            </a:pPr>
            <a:r>
              <a:rPr lang="en-US" sz="1200" dirty="0">
                <a:solidFill>
                  <a:srgbClr val="5B6770"/>
                </a:solidFill>
              </a:rPr>
              <a:t>Discrete</a:t>
            </a:r>
            <a:endParaRPr lang="en-US" sz="1200" dirty="0"/>
          </a:p>
        </p:txBody>
      </p:sp>
      <p:sp>
        <p:nvSpPr>
          <p:cNvPr id="39" name="Text 37"/>
          <p:cNvSpPr/>
          <p:nvPr/>
        </p:nvSpPr>
        <p:spPr>
          <a:xfrm>
            <a:off x="6172200" y="4041648"/>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Continuous</a:t>
            </a:r>
            <a:endParaRPr lang="en-US" sz="1200" dirty="0"/>
          </a:p>
        </p:txBody>
      </p:sp>
      <p:sp>
        <p:nvSpPr>
          <p:cNvPr id="40" name="Text 38"/>
          <p:cNvSpPr/>
          <p:nvPr/>
        </p:nvSpPr>
        <p:spPr>
          <a:xfrm>
            <a:off x="960120" y="4636008"/>
            <a:ext cx="1417320" cy="228600"/>
          </a:xfrm>
          <a:prstGeom prst="rect">
            <a:avLst/>
          </a:prstGeom>
          <a:noFill/>
          <a:ln/>
        </p:spPr>
        <p:txBody>
          <a:bodyPr wrap="square" lIns="0" tIns="0" rIns="0" bIns="0" rtlCol="0" anchor="ctr"/>
          <a:lstStyle/>
          <a:p>
            <a:pPr indent="0" marL="0">
              <a:buNone/>
            </a:pPr>
            <a:r>
              <a:rPr lang="en-US" sz="1200" b="1" dirty="0">
                <a:solidFill>
                  <a:srgbClr val="0B2D5B"/>
                </a:solidFill>
              </a:rPr>
              <a:t>Knowledge</a:t>
            </a:r>
            <a:endParaRPr lang="en-US" sz="1200" dirty="0"/>
          </a:p>
        </p:txBody>
      </p:sp>
      <p:sp>
        <p:nvSpPr>
          <p:cNvPr id="41" name="Shape 39"/>
          <p:cNvSpPr/>
          <p:nvPr/>
        </p:nvSpPr>
        <p:spPr>
          <a:xfrm>
            <a:off x="2606040" y="4773168"/>
            <a:ext cx="6492240" cy="0"/>
          </a:xfrm>
          <a:prstGeom prst="line">
            <a:avLst/>
          </a:prstGeom>
          <a:noFill/>
          <a:ln w="25400">
            <a:solidFill>
              <a:srgbClr val="CDD9E2"/>
            </a:solidFill>
            <a:prstDash val="solid"/>
          </a:ln>
        </p:spPr>
      </p:sp>
      <p:sp>
        <p:nvSpPr>
          <p:cNvPr id="42" name="Shape 40"/>
          <p:cNvSpPr/>
          <p:nvPr/>
        </p:nvSpPr>
        <p:spPr>
          <a:xfrm>
            <a:off x="2788920" y="4663440"/>
            <a:ext cx="201168" cy="201168"/>
          </a:xfrm>
          <a:prstGeom prst="ellipse">
            <a:avLst/>
          </a:prstGeom>
          <a:solidFill>
            <a:srgbClr val="1E7A3B"/>
          </a:solidFill>
          <a:ln w="12700">
            <a:solidFill>
              <a:srgbClr val="1E7A3B"/>
            </a:solidFill>
            <a:prstDash val="solid"/>
          </a:ln>
        </p:spPr>
      </p:sp>
      <p:sp>
        <p:nvSpPr>
          <p:cNvPr id="43" name="Shape 41"/>
          <p:cNvSpPr/>
          <p:nvPr/>
        </p:nvSpPr>
        <p:spPr>
          <a:xfrm>
            <a:off x="9281160" y="4663440"/>
            <a:ext cx="201168" cy="201168"/>
          </a:xfrm>
          <a:prstGeom prst="ellipse">
            <a:avLst/>
          </a:prstGeom>
          <a:solidFill>
            <a:srgbClr val="A71D1D"/>
          </a:solidFill>
          <a:ln w="12700">
            <a:solidFill>
              <a:srgbClr val="A71D1D"/>
            </a:solidFill>
            <a:prstDash val="solid"/>
          </a:ln>
        </p:spPr>
      </p:sp>
      <p:sp>
        <p:nvSpPr>
          <p:cNvPr id="44" name="Text 42"/>
          <p:cNvSpPr/>
          <p:nvPr/>
        </p:nvSpPr>
        <p:spPr>
          <a:xfrm>
            <a:off x="3063240" y="4608576"/>
            <a:ext cx="2377440" cy="256032"/>
          </a:xfrm>
          <a:prstGeom prst="rect">
            <a:avLst/>
          </a:prstGeom>
          <a:noFill/>
          <a:ln/>
        </p:spPr>
        <p:txBody>
          <a:bodyPr wrap="square" lIns="0" tIns="0" rIns="0" bIns="0" rtlCol="0" anchor="ctr"/>
          <a:lstStyle/>
          <a:p>
            <a:pPr indent="0" marL="0">
              <a:buNone/>
            </a:pPr>
            <a:r>
              <a:rPr lang="en-US" sz="1200" dirty="0">
                <a:solidFill>
                  <a:srgbClr val="5B6770"/>
                </a:solidFill>
              </a:rPr>
              <a:t>Known</a:t>
            </a:r>
            <a:endParaRPr lang="en-US" sz="1200" dirty="0"/>
          </a:p>
        </p:txBody>
      </p:sp>
      <p:sp>
        <p:nvSpPr>
          <p:cNvPr id="45" name="Text 43"/>
          <p:cNvSpPr/>
          <p:nvPr/>
        </p:nvSpPr>
        <p:spPr>
          <a:xfrm>
            <a:off x="6172200" y="4608576"/>
            <a:ext cx="2926080" cy="256032"/>
          </a:xfrm>
          <a:prstGeom prst="rect">
            <a:avLst/>
          </a:prstGeom>
          <a:noFill/>
          <a:ln/>
        </p:spPr>
        <p:txBody>
          <a:bodyPr wrap="square" lIns="0" tIns="0" rIns="0" bIns="0" rtlCol="0" anchor="ctr"/>
          <a:lstStyle/>
          <a:p>
            <a:pPr algn="r" indent="0" marL="0">
              <a:buNone/>
            </a:pPr>
            <a:r>
              <a:rPr lang="en-US" sz="1200" dirty="0">
                <a:solidFill>
                  <a:srgbClr val="5B6770"/>
                </a:solidFill>
              </a:rPr>
              <a:t>Unknown</a:t>
            </a:r>
            <a:endParaRPr lang="en-US" sz="1200" dirty="0"/>
          </a:p>
        </p:txBody>
      </p:sp>
      <p:sp>
        <p:nvSpPr>
          <p:cNvPr id="46" name="Text 44"/>
          <p:cNvSpPr/>
          <p:nvPr/>
        </p:nvSpPr>
        <p:spPr>
          <a:xfrm>
            <a:off x="914400" y="5806440"/>
            <a:ext cx="10332720" cy="320040"/>
          </a:xfrm>
          <a:prstGeom prst="rect">
            <a:avLst/>
          </a:prstGeom>
          <a:noFill/>
          <a:ln/>
        </p:spPr>
        <p:txBody>
          <a:bodyPr wrap="square" lIns="0" tIns="0" rIns="0" bIns="0" rtlCol="0" anchor="ctr"/>
          <a:lstStyle/>
          <a:p>
            <a:pPr algn="ctr" indent="0" marL="0">
              <a:buNone/>
            </a:pPr>
            <a:r>
              <a:rPr lang="en-US" sz="1500" b="1" dirty="0">
                <a:solidFill>
                  <a:srgbClr val="A71D1D"/>
                </a:solidFill>
              </a:rPr>
              <a:t>Hardest case: partially observable, multiagent, nondeterministic, sequential, dynamic, continuous, unknown.</a:t>
            </a:r>
            <a:endParaRPr lang="en-US" sz="1500" dirty="0"/>
          </a:p>
        </p:txBody>
      </p:sp>
      <p:sp>
        <p:nvSpPr>
          <p:cNvPr id="48" name="Text 45"/>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Pac-Man as a Chapter 2 Agent</a:t>
            </a:r>
            <a:endParaRPr lang="en-US" sz="2500" dirty="0"/>
          </a:p>
        </p:txBody>
      </p:sp>
      <p:sp>
        <p:nvSpPr>
          <p:cNvPr id="3" name="Shape 1"/>
          <p:cNvSpPr/>
          <p:nvPr/>
        </p:nvSpPr>
        <p:spPr>
          <a:xfrm>
            <a:off x="685800" y="1143000"/>
            <a:ext cx="4800600" cy="2743200"/>
          </a:xfrm>
          <a:prstGeom prst="rect">
            <a:avLst/>
          </a:prstGeom>
          <a:solidFill>
            <a:srgbClr val="000000"/>
          </a:solidFill>
          <a:ln w="12700">
            <a:solidFill>
              <a:srgbClr val="000000"/>
            </a:solidFill>
            <a:prstDash val="solid"/>
          </a:ln>
        </p:spPr>
      </p:sp>
      <p:sp>
        <p:nvSpPr>
          <p:cNvPr id="4" name="Shape 2"/>
          <p:cNvSpPr/>
          <p:nvPr/>
        </p:nvSpPr>
        <p:spPr>
          <a:xfrm>
            <a:off x="960120" y="1371600"/>
            <a:ext cx="4251960" cy="1920240"/>
          </a:xfrm>
          <a:prstGeom prst="rect">
            <a:avLst/>
          </a:prstGeom>
          <a:solidFill>
            <a:srgbClr val="000000">
              <a:alpha val="0"/>
            </a:srgbClr>
          </a:solidFill>
          <a:ln w="25400">
            <a:solidFill>
              <a:srgbClr val="1539FF"/>
            </a:solidFill>
            <a:prstDash val="solid"/>
          </a:ln>
        </p:spPr>
      </p:sp>
      <p:sp>
        <p:nvSpPr>
          <p:cNvPr id="5" name="Shape 3"/>
          <p:cNvSpPr/>
          <p:nvPr/>
        </p:nvSpPr>
        <p:spPr>
          <a:xfrm>
            <a:off x="960120" y="2011680"/>
            <a:ext cx="1325880" cy="0"/>
          </a:xfrm>
          <a:prstGeom prst="line">
            <a:avLst/>
          </a:prstGeom>
          <a:noFill/>
          <a:ln w="25400">
            <a:solidFill>
              <a:srgbClr val="1539FF"/>
            </a:solidFill>
            <a:prstDash val="solid"/>
          </a:ln>
        </p:spPr>
      </p:sp>
      <p:sp>
        <p:nvSpPr>
          <p:cNvPr id="6" name="Shape 4"/>
          <p:cNvSpPr/>
          <p:nvPr/>
        </p:nvSpPr>
        <p:spPr>
          <a:xfrm>
            <a:off x="2926080" y="2011680"/>
            <a:ext cx="1371600" cy="0"/>
          </a:xfrm>
          <a:prstGeom prst="line">
            <a:avLst/>
          </a:prstGeom>
          <a:noFill/>
          <a:ln w="25400">
            <a:solidFill>
              <a:srgbClr val="1539FF"/>
            </a:solidFill>
            <a:prstDash val="solid"/>
          </a:ln>
        </p:spPr>
      </p:sp>
      <p:sp>
        <p:nvSpPr>
          <p:cNvPr id="7" name="Shape 5"/>
          <p:cNvSpPr/>
          <p:nvPr/>
        </p:nvSpPr>
        <p:spPr>
          <a:xfrm>
            <a:off x="1143000" y="1600200"/>
            <a:ext cx="50292" cy="50292"/>
          </a:xfrm>
          <a:prstGeom prst="ellipse">
            <a:avLst/>
          </a:prstGeom>
          <a:solidFill>
            <a:srgbClr val="FFFFFF"/>
          </a:solidFill>
          <a:ln w="12700">
            <a:solidFill>
              <a:srgbClr val="FFFFFF"/>
            </a:solidFill>
            <a:prstDash val="solid"/>
          </a:ln>
        </p:spPr>
      </p:sp>
      <p:sp>
        <p:nvSpPr>
          <p:cNvPr id="8" name="Shape 6"/>
          <p:cNvSpPr/>
          <p:nvPr/>
        </p:nvSpPr>
        <p:spPr>
          <a:xfrm>
            <a:off x="1463040" y="1600200"/>
            <a:ext cx="50292" cy="50292"/>
          </a:xfrm>
          <a:prstGeom prst="ellipse">
            <a:avLst/>
          </a:prstGeom>
          <a:solidFill>
            <a:srgbClr val="FFFFFF"/>
          </a:solidFill>
          <a:ln w="12700">
            <a:solidFill>
              <a:srgbClr val="FFFFFF"/>
            </a:solidFill>
            <a:prstDash val="solid"/>
          </a:ln>
        </p:spPr>
      </p:sp>
      <p:sp>
        <p:nvSpPr>
          <p:cNvPr id="9" name="Shape 7"/>
          <p:cNvSpPr/>
          <p:nvPr/>
        </p:nvSpPr>
        <p:spPr>
          <a:xfrm>
            <a:off x="1783080" y="1600200"/>
            <a:ext cx="50292" cy="50292"/>
          </a:xfrm>
          <a:prstGeom prst="ellipse">
            <a:avLst/>
          </a:prstGeom>
          <a:solidFill>
            <a:srgbClr val="FFFFFF"/>
          </a:solidFill>
          <a:ln w="12700">
            <a:solidFill>
              <a:srgbClr val="FFFFFF"/>
            </a:solidFill>
            <a:prstDash val="solid"/>
          </a:ln>
        </p:spPr>
      </p:sp>
      <p:sp>
        <p:nvSpPr>
          <p:cNvPr id="10" name="Shape 8"/>
          <p:cNvSpPr/>
          <p:nvPr/>
        </p:nvSpPr>
        <p:spPr>
          <a:xfrm>
            <a:off x="2103120" y="1600200"/>
            <a:ext cx="50292" cy="50292"/>
          </a:xfrm>
          <a:prstGeom prst="ellipse">
            <a:avLst/>
          </a:prstGeom>
          <a:solidFill>
            <a:srgbClr val="FFFFFF"/>
          </a:solidFill>
          <a:ln w="12700">
            <a:solidFill>
              <a:srgbClr val="FFFFFF"/>
            </a:solidFill>
            <a:prstDash val="solid"/>
          </a:ln>
        </p:spPr>
      </p:sp>
      <p:sp>
        <p:nvSpPr>
          <p:cNvPr id="11" name="Shape 9"/>
          <p:cNvSpPr/>
          <p:nvPr/>
        </p:nvSpPr>
        <p:spPr>
          <a:xfrm>
            <a:off x="2423160" y="1600200"/>
            <a:ext cx="50292" cy="50292"/>
          </a:xfrm>
          <a:prstGeom prst="ellipse">
            <a:avLst/>
          </a:prstGeom>
          <a:solidFill>
            <a:srgbClr val="FFFFFF"/>
          </a:solidFill>
          <a:ln w="12700">
            <a:solidFill>
              <a:srgbClr val="FFFFFF"/>
            </a:solidFill>
            <a:prstDash val="solid"/>
          </a:ln>
        </p:spPr>
      </p:sp>
      <p:sp>
        <p:nvSpPr>
          <p:cNvPr id="12" name="Shape 10"/>
          <p:cNvSpPr/>
          <p:nvPr/>
        </p:nvSpPr>
        <p:spPr>
          <a:xfrm>
            <a:off x="2743200" y="1600200"/>
            <a:ext cx="50292" cy="50292"/>
          </a:xfrm>
          <a:prstGeom prst="ellipse">
            <a:avLst/>
          </a:prstGeom>
          <a:solidFill>
            <a:srgbClr val="FFFFFF"/>
          </a:solidFill>
          <a:ln w="12700">
            <a:solidFill>
              <a:srgbClr val="FFFFFF"/>
            </a:solidFill>
            <a:prstDash val="solid"/>
          </a:ln>
        </p:spPr>
      </p:sp>
      <p:sp>
        <p:nvSpPr>
          <p:cNvPr id="13" name="Shape 11"/>
          <p:cNvSpPr/>
          <p:nvPr/>
        </p:nvSpPr>
        <p:spPr>
          <a:xfrm>
            <a:off x="3063240" y="1600200"/>
            <a:ext cx="50292" cy="50292"/>
          </a:xfrm>
          <a:prstGeom prst="ellipse">
            <a:avLst/>
          </a:prstGeom>
          <a:solidFill>
            <a:srgbClr val="FFFFFF"/>
          </a:solidFill>
          <a:ln w="12700">
            <a:solidFill>
              <a:srgbClr val="FFFFFF"/>
            </a:solidFill>
            <a:prstDash val="solid"/>
          </a:ln>
        </p:spPr>
      </p:sp>
      <p:sp>
        <p:nvSpPr>
          <p:cNvPr id="14" name="Shape 12"/>
          <p:cNvSpPr/>
          <p:nvPr/>
        </p:nvSpPr>
        <p:spPr>
          <a:xfrm>
            <a:off x="3383280" y="1600200"/>
            <a:ext cx="50292" cy="50292"/>
          </a:xfrm>
          <a:prstGeom prst="ellipse">
            <a:avLst/>
          </a:prstGeom>
          <a:solidFill>
            <a:srgbClr val="FFFFFF"/>
          </a:solidFill>
          <a:ln w="12700">
            <a:solidFill>
              <a:srgbClr val="FFFFFF"/>
            </a:solidFill>
            <a:prstDash val="solid"/>
          </a:ln>
        </p:spPr>
      </p:sp>
      <p:sp>
        <p:nvSpPr>
          <p:cNvPr id="15" name="Shape 13"/>
          <p:cNvSpPr/>
          <p:nvPr/>
        </p:nvSpPr>
        <p:spPr>
          <a:xfrm>
            <a:off x="3703320" y="1600200"/>
            <a:ext cx="50292" cy="50292"/>
          </a:xfrm>
          <a:prstGeom prst="ellipse">
            <a:avLst/>
          </a:prstGeom>
          <a:solidFill>
            <a:srgbClr val="FFFFFF"/>
          </a:solidFill>
          <a:ln w="12700">
            <a:solidFill>
              <a:srgbClr val="FFFFFF"/>
            </a:solidFill>
            <a:prstDash val="solid"/>
          </a:ln>
        </p:spPr>
      </p:sp>
      <p:sp>
        <p:nvSpPr>
          <p:cNvPr id="16" name="Shape 14"/>
          <p:cNvSpPr/>
          <p:nvPr/>
        </p:nvSpPr>
        <p:spPr>
          <a:xfrm>
            <a:off x="4023360" y="1600200"/>
            <a:ext cx="50292" cy="50292"/>
          </a:xfrm>
          <a:prstGeom prst="ellipse">
            <a:avLst/>
          </a:prstGeom>
          <a:solidFill>
            <a:srgbClr val="FFFFFF"/>
          </a:solidFill>
          <a:ln w="12700">
            <a:solidFill>
              <a:srgbClr val="FFFFFF"/>
            </a:solidFill>
            <a:prstDash val="solid"/>
          </a:ln>
        </p:spPr>
      </p:sp>
      <p:sp>
        <p:nvSpPr>
          <p:cNvPr id="17" name="Shape 15"/>
          <p:cNvSpPr/>
          <p:nvPr/>
        </p:nvSpPr>
        <p:spPr>
          <a:xfrm>
            <a:off x="4343400" y="1600200"/>
            <a:ext cx="50292" cy="50292"/>
          </a:xfrm>
          <a:prstGeom prst="ellipse">
            <a:avLst/>
          </a:prstGeom>
          <a:solidFill>
            <a:srgbClr val="FFFFFF"/>
          </a:solidFill>
          <a:ln w="12700">
            <a:solidFill>
              <a:srgbClr val="FFFFFF"/>
            </a:solidFill>
            <a:prstDash val="solid"/>
          </a:ln>
        </p:spPr>
      </p:sp>
      <p:sp>
        <p:nvSpPr>
          <p:cNvPr id="18" name="Shape 16"/>
          <p:cNvSpPr/>
          <p:nvPr/>
        </p:nvSpPr>
        <p:spPr>
          <a:xfrm>
            <a:off x="4663440" y="1600200"/>
            <a:ext cx="50292" cy="50292"/>
          </a:xfrm>
          <a:prstGeom prst="ellipse">
            <a:avLst/>
          </a:prstGeom>
          <a:solidFill>
            <a:srgbClr val="FFFFFF"/>
          </a:solidFill>
          <a:ln w="12700">
            <a:solidFill>
              <a:srgbClr val="FFFFFF"/>
            </a:solidFill>
            <a:prstDash val="solid"/>
          </a:ln>
        </p:spPr>
      </p:sp>
      <p:sp>
        <p:nvSpPr>
          <p:cNvPr id="19" name="Shape 17"/>
          <p:cNvSpPr/>
          <p:nvPr/>
        </p:nvSpPr>
        <p:spPr>
          <a:xfrm>
            <a:off x="1143000" y="2103120"/>
            <a:ext cx="50292" cy="50292"/>
          </a:xfrm>
          <a:prstGeom prst="ellipse">
            <a:avLst/>
          </a:prstGeom>
          <a:solidFill>
            <a:srgbClr val="FFFFFF"/>
          </a:solidFill>
          <a:ln w="12700">
            <a:solidFill>
              <a:srgbClr val="FFFFFF"/>
            </a:solidFill>
            <a:prstDash val="solid"/>
          </a:ln>
        </p:spPr>
      </p:sp>
      <p:sp>
        <p:nvSpPr>
          <p:cNvPr id="20" name="Shape 18"/>
          <p:cNvSpPr/>
          <p:nvPr/>
        </p:nvSpPr>
        <p:spPr>
          <a:xfrm>
            <a:off x="1463040" y="2103120"/>
            <a:ext cx="50292" cy="50292"/>
          </a:xfrm>
          <a:prstGeom prst="ellipse">
            <a:avLst/>
          </a:prstGeom>
          <a:solidFill>
            <a:srgbClr val="FFFFFF"/>
          </a:solidFill>
          <a:ln w="12700">
            <a:solidFill>
              <a:srgbClr val="FFFFFF"/>
            </a:solidFill>
            <a:prstDash val="solid"/>
          </a:ln>
        </p:spPr>
      </p:sp>
      <p:sp>
        <p:nvSpPr>
          <p:cNvPr id="21" name="Shape 19"/>
          <p:cNvSpPr/>
          <p:nvPr/>
        </p:nvSpPr>
        <p:spPr>
          <a:xfrm>
            <a:off x="1783080" y="2103120"/>
            <a:ext cx="50292" cy="50292"/>
          </a:xfrm>
          <a:prstGeom prst="ellipse">
            <a:avLst/>
          </a:prstGeom>
          <a:solidFill>
            <a:srgbClr val="FFFFFF"/>
          </a:solidFill>
          <a:ln w="12700">
            <a:solidFill>
              <a:srgbClr val="FFFFFF"/>
            </a:solidFill>
            <a:prstDash val="solid"/>
          </a:ln>
        </p:spPr>
      </p:sp>
      <p:sp>
        <p:nvSpPr>
          <p:cNvPr id="22" name="Shape 20"/>
          <p:cNvSpPr/>
          <p:nvPr/>
        </p:nvSpPr>
        <p:spPr>
          <a:xfrm>
            <a:off x="2103120" y="2103120"/>
            <a:ext cx="50292" cy="50292"/>
          </a:xfrm>
          <a:prstGeom prst="ellipse">
            <a:avLst/>
          </a:prstGeom>
          <a:solidFill>
            <a:srgbClr val="FFFFFF"/>
          </a:solidFill>
          <a:ln w="12700">
            <a:solidFill>
              <a:srgbClr val="FFFFFF"/>
            </a:solidFill>
            <a:prstDash val="solid"/>
          </a:ln>
        </p:spPr>
      </p:sp>
      <p:sp>
        <p:nvSpPr>
          <p:cNvPr id="23" name="Shape 21"/>
          <p:cNvSpPr/>
          <p:nvPr/>
        </p:nvSpPr>
        <p:spPr>
          <a:xfrm>
            <a:off x="2423160" y="2103120"/>
            <a:ext cx="50292" cy="50292"/>
          </a:xfrm>
          <a:prstGeom prst="ellipse">
            <a:avLst/>
          </a:prstGeom>
          <a:solidFill>
            <a:srgbClr val="FFFFFF"/>
          </a:solidFill>
          <a:ln w="12700">
            <a:solidFill>
              <a:srgbClr val="FFFFFF"/>
            </a:solidFill>
            <a:prstDash val="solid"/>
          </a:ln>
        </p:spPr>
      </p:sp>
      <p:sp>
        <p:nvSpPr>
          <p:cNvPr id="24" name="Shape 22"/>
          <p:cNvSpPr/>
          <p:nvPr/>
        </p:nvSpPr>
        <p:spPr>
          <a:xfrm>
            <a:off x="2743200" y="2103120"/>
            <a:ext cx="50292" cy="50292"/>
          </a:xfrm>
          <a:prstGeom prst="ellipse">
            <a:avLst/>
          </a:prstGeom>
          <a:solidFill>
            <a:srgbClr val="FFFFFF"/>
          </a:solidFill>
          <a:ln w="12700">
            <a:solidFill>
              <a:srgbClr val="FFFFFF"/>
            </a:solidFill>
            <a:prstDash val="solid"/>
          </a:ln>
        </p:spPr>
      </p:sp>
      <p:sp>
        <p:nvSpPr>
          <p:cNvPr id="25" name="Shape 23"/>
          <p:cNvSpPr/>
          <p:nvPr/>
        </p:nvSpPr>
        <p:spPr>
          <a:xfrm>
            <a:off x="3063240" y="2103120"/>
            <a:ext cx="50292" cy="50292"/>
          </a:xfrm>
          <a:prstGeom prst="ellipse">
            <a:avLst/>
          </a:prstGeom>
          <a:solidFill>
            <a:srgbClr val="FFFFFF"/>
          </a:solidFill>
          <a:ln w="12700">
            <a:solidFill>
              <a:srgbClr val="FFFFFF"/>
            </a:solidFill>
            <a:prstDash val="solid"/>
          </a:ln>
        </p:spPr>
      </p:sp>
      <p:sp>
        <p:nvSpPr>
          <p:cNvPr id="26" name="Shape 24"/>
          <p:cNvSpPr/>
          <p:nvPr/>
        </p:nvSpPr>
        <p:spPr>
          <a:xfrm>
            <a:off x="4343400" y="2103120"/>
            <a:ext cx="50292" cy="50292"/>
          </a:xfrm>
          <a:prstGeom prst="ellipse">
            <a:avLst/>
          </a:prstGeom>
          <a:solidFill>
            <a:srgbClr val="FFFFFF"/>
          </a:solidFill>
          <a:ln w="12700">
            <a:solidFill>
              <a:srgbClr val="FFFFFF"/>
            </a:solidFill>
            <a:prstDash val="solid"/>
          </a:ln>
        </p:spPr>
      </p:sp>
      <p:sp>
        <p:nvSpPr>
          <p:cNvPr id="27" name="Shape 25"/>
          <p:cNvSpPr/>
          <p:nvPr/>
        </p:nvSpPr>
        <p:spPr>
          <a:xfrm>
            <a:off x="4663440" y="2103120"/>
            <a:ext cx="50292" cy="50292"/>
          </a:xfrm>
          <a:prstGeom prst="ellipse">
            <a:avLst/>
          </a:prstGeom>
          <a:solidFill>
            <a:srgbClr val="FFFFFF"/>
          </a:solidFill>
          <a:ln w="12700">
            <a:solidFill>
              <a:srgbClr val="FFFFFF"/>
            </a:solidFill>
            <a:prstDash val="solid"/>
          </a:ln>
        </p:spPr>
      </p:sp>
      <p:sp>
        <p:nvSpPr>
          <p:cNvPr id="28" name="Shape 26"/>
          <p:cNvSpPr/>
          <p:nvPr/>
        </p:nvSpPr>
        <p:spPr>
          <a:xfrm>
            <a:off x="1143000" y="2606040"/>
            <a:ext cx="50292" cy="50292"/>
          </a:xfrm>
          <a:prstGeom prst="ellipse">
            <a:avLst/>
          </a:prstGeom>
          <a:solidFill>
            <a:srgbClr val="FFFFFF"/>
          </a:solidFill>
          <a:ln w="12700">
            <a:solidFill>
              <a:srgbClr val="FFFFFF"/>
            </a:solidFill>
            <a:prstDash val="solid"/>
          </a:ln>
        </p:spPr>
      </p:sp>
      <p:sp>
        <p:nvSpPr>
          <p:cNvPr id="29" name="Shape 27"/>
          <p:cNvSpPr/>
          <p:nvPr/>
        </p:nvSpPr>
        <p:spPr>
          <a:xfrm>
            <a:off x="1463040" y="2606040"/>
            <a:ext cx="50292" cy="50292"/>
          </a:xfrm>
          <a:prstGeom prst="ellipse">
            <a:avLst/>
          </a:prstGeom>
          <a:solidFill>
            <a:srgbClr val="FFFFFF"/>
          </a:solidFill>
          <a:ln w="12700">
            <a:solidFill>
              <a:srgbClr val="FFFFFF"/>
            </a:solidFill>
            <a:prstDash val="solid"/>
          </a:ln>
        </p:spPr>
      </p:sp>
      <p:sp>
        <p:nvSpPr>
          <p:cNvPr id="30" name="Shape 28"/>
          <p:cNvSpPr/>
          <p:nvPr/>
        </p:nvSpPr>
        <p:spPr>
          <a:xfrm>
            <a:off x="1783080" y="2606040"/>
            <a:ext cx="50292" cy="50292"/>
          </a:xfrm>
          <a:prstGeom prst="ellipse">
            <a:avLst/>
          </a:prstGeom>
          <a:solidFill>
            <a:srgbClr val="FFFFFF"/>
          </a:solidFill>
          <a:ln w="12700">
            <a:solidFill>
              <a:srgbClr val="FFFFFF"/>
            </a:solidFill>
            <a:prstDash val="solid"/>
          </a:ln>
        </p:spPr>
      </p:sp>
      <p:sp>
        <p:nvSpPr>
          <p:cNvPr id="31" name="Shape 29"/>
          <p:cNvSpPr/>
          <p:nvPr/>
        </p:nvSpPr>
        <p:spPr>
          <a:xfrm>
            <a:off x="2103120" y="2606040"/>
            <a:ext cx="50292" cy="50292"/>
          </a:xfrm>
          <a:prstGeom prst="ellipse">
            <a:avLst/>
          </a:prstGeom>
          <a:solidFill>
            <a:srgbClr val="FFFFFF"/>
          </a:solidFill>
          <a:ln w="12700">
            <a:solidFill>
              <a:srgbClr val="FFFFFF"/>
            </a:solidFill>
            <a:prstDash val="solid"/>
          </a:ln>
        </p:spPr>
      </p:sp>
      <p:sp>
        <p:nvSpPr>
          <p:cNvPr id="32" name="Shape 30"/>
          <p:cNvSpPr/>
          <p:nvPr/>
        </p:nvSpPr>
        <p:spPr>
          <a:xfrm>
            <a:off x="2423160" y="2606040"/>
            <a:ext cx="50292" cy="50292"/>
          </a:xfrm>
          <a:prstGeom prst="ellipse">
            <a:avLst/>
          </a:prstGeom>
          <a:solidFill>
            <a:srgbClr val="FFFFFF"/>
          </a:solidFill>
          <a:ln w="12700">
            <a:solidFill>
              <a:srgbClr val="FFFFFF"/>
            </a:solidFill>
            <a:prstDash val="solid"/>
          </a:ln>
        </p:spPr>
      </p:sp>
      <p:sp>
        <p:nvSpPr>
          <p:cNvPr id="33" name="Shape 31"/>
          <p:cNvSpPr/>
          <p:nvPr/>
        </p:nvSpPr>
        <p:spPr>
          <a:xfrm>
            <a:off x="2743200" y="2606040"/>
            <a:ext cx="50292" cy="50292"/>
          </a:xfrm>
          <a:prstGeom prst="ellipse">
            <a:avLst/>
          </a:prstGeom>
          <a:solidFill>
            <a:srgbClr val="FFFFFF"/>
          </a:solidFill>
          <a:ln w="12700">
            <a:solidFill>
              <a:srgbClr val="FFFFFF"/>
            </a:solidFill>
            <a:prstDash val="solid"/>
          </a:ln>
        </p:spPr>
      </p:sp>
      <p:sp>
        <p:nvSpPr>
          <p:cNvPr id="34" name="Shape 32"/>
          <p:cNvSpPr/>
          <p:nvPr/>
        </p:nvSpPr>
        <p:spPr>
          <a:xfrm>
            <a:off x="3063240" y="2606040"/>
            <a:ext cx="50292" cy="50292"/>
          </a:xfrm>
          <a:prstGeom prst="ellipse">
            <a:avLst/>
          </a:prstGeom>
          <a:solidFill>
            <a:srgbClr val="FFFFFF"/>
          </a:solidFill>
          <a:ln w="12700">
            <a:solidFill>
              <a:srgbClr val="FFFFFF"/>
            </a:solidFill>
            <a:prstDash val="solid"/>
          </a:ln>
        </p:spPr>
      </p:sp>
      <p:sp>
        <p:nvSpPr>
          <p:cNvPr id="35" name="Shape 33"/>
          <p:cNvSpPr/>
          <p:nvPr/>
        </p:nvSpPr>
        <p:spPr>
          <a:xfrm>
            <a:off x="3383280" y="2606040"/>
            <a:ext cx="50292" cy="50292"/>
          </a:xfrm>
          <a:prstGeom prst="ellipse">
            <a:avLst/>
          </a:prstGeom>
          <a:solidFill>
            <a:srgbClr val="FFFFFF"/>
          </a:solidFill>
          <a:ln w="12700">
            <a:solidFill>
              <a:srgbClr val="FFFFFF"/>
            </a:solidFill>
            <a:prstDash val="solid"/>
          </a:ln>
        </p:spPr>
      </p:sp>
      <p:sp>
        <p:nvSpPr>
          <p:cNvPr id="36" name="Shape 34"/>
          <p:cNvSpPr/>
          <p:nvPr/>
        </p:nvSpPr>
        <p:spPr>
          <a:xfrm>
            <a:off x="3703320" y="2606040"/>
            <a:ext cx="50292" cy="50292"/>
          </a:xfrm>
          <a:prstGeom prst="ellipse">
            <a:avLst/>
          </a:prstGeom>
          <a:solidFill>
            <a:srgbClr val="FFFFFF"/>
          </a:solidFill>
          <a:ln w="12700">
            <a:solidFill>
              <a:srgbClr val="FFFFFF"/>
            </a:solidFill>
            <a:prstDash val="solid"/>
          </a:ln>
        </p:spPr>
      </p:sp>
      <p:sp>
        <p:nvSpPr>
          <p:cNvPr id="37" name="Shape 35"/>
          <p:cNvSpPr/>
          <p:nvPr/>
        </p:nvSpPr>
        <p:spPr>
          <a:xfrm>
            <a:off x="4023360" y="2606040"/>
            <a:ext cx="50292" cy="50292"/>
          </a:xfrm>
          <a:prstGeom prst="ellipse">
            <a:avLst/>
          </a:prstGeom>
          <a:solidFill>
            <a:srgbClr val="FFFFFF"/>
          </a:solidFill>
          <a:ln w="12700">
            <a:solidFill>
              <a:srgbClr val="FFFFFF"/>
            </a:solidFill>
            <a:prstDash val="solid"/>
          </a:ln>
        </p:spPr>
      </p:sp>
      <p:sp>
        <p:nvSpPr>
          <p:cNvPr id="38" name="Shape 36"/>
          <p:cNvSpPr/>
          <p:nvPr/>
        </p:nvSpPr>
        <p:spPr>
          <a:xfrm>
            <a:off x="2606040" y="2514600"/>
            <a:ext cx="411480" cy="411480"/>
          </a:xfrm>
          <a:prstGeom prst="arc">
            <a:avLst/>
          </a:prstGeom>
          <a:solidFill>
            <a:srgbClr val="000000"/>
          </a:solidFill>
          <a:ln w="12700">
            <a:solidFill>
              <a:srgbClr val="333333"/>
            </a:solidFill>
            <a:prstDash val="solid"/>
          </a:ln>
        </p:spPr>
      </p:sp>
      <p:sp>
        <p:nvSpPr>
          <p:cNvPr id="39" name="Shape 37"/>
          <p:cNvSpPr/>
          <p:nvPr/>
        </p:nvSpPr>
        <p:spPr>
          <a:xfrm>
            <a:off x="3401568" y="1874520"/>
            <a:ext cx="329184" cy="329184"/>
          </a:xfrm>
          <a:prstGeom prst="roundRect">
            <a:avLst>
              <a:gd name="adj" fmla="val 22222"/>
            </a:avLst>
          </a:prstGeom>
          <a:solidFill>
            <a:srgbClr val="A71D1D"/>
          </a:solidFill>
          <a:ln w="15240">
            <a:solidFill>
              <a:srgbClr val="A71D1D"/>
            </a:solidFill>
            <a:prstDash val="solid"/>
          </a:ln>
        </p:spPr>
      </p:sp>
      <p:sp>
        <p:nvSpPr>
          <p:cNvPr id="40" name="Shape 38"/>
          <p:cNvSpPr/>
          <p:nvPr/>
        </p:nvSpPr>
        <p:spPr>
          <a:xfrm>
            <a:off x="3950208" y="1874520"/>
            <a:ext cx="329184" cy="329184"/>
          </a:xfrm>
          <a:prstGeom prst="roundRect">
            <a:avLst>
              <a:gd name="adj" fmla="val 22222"/>
            </a:avLst>
          </a:prstGeom>
          <a:solidFill>
            <a:srgbClr val="1E73BE"/>
          </a:solidFill>
          <a:ln w="15240">
            <a:solidFill>
              <a:srgbClr val="1E73BE"/>
            </a:solidFill>
            <a:prstDash val="solid"/>
          </a:ln>
        </p:spPr>
      </p:sp>
      <p:sp>
        <p:nvSpPr>
          <p:cNvPr id="41" name="Text 39"/>
          <p:cNvSpPr/>
          <p:nvPr/>
        </p:nvSpPr>
        <p:spPr>
          <a:xfrm>
            <a:off x="914400" y="3493008"/>
            <a:ext cx="1280160" cy="228600"/>
          </a:xfrm>
          <a:prstGeom prst="rect">
            <a:avLst/>
          </a:prstGeom>
          <a:noFill/>
          <a:ln/>
        </p:spPr>
        <p:txBody>
          <a:bodyPr wrap="square" lIns="0" tIns="0" rIns="0" bIns="0" rtlCol="0" anchor="ctr"/>
          <a:lstStyle/>
          <a:p>
            <a:pPr indent="0" marL="0">
              <a:buNone/>
            </a:pPr>
            <a:r>
              <a:rPr lang="en-US" sz="1300" b="1" dirty="0">
                <a:solidFill>
                  <a:srgbClr val="F5A623"/>
                </a:solidFill>
              </a:rPr>
              <a:t>SCORE: 0</a:t>
            </a:r>
            <a:endParaRPr lang="en-US" sz="1300" dirty="0"/>
          </a:p>
        </p:txBody>
      </p:sp>
      <p:sp>
        <p:nvSpPr>
          <p:cNvPr id="42" name="Shape 40"/>
          <p:cNvSpPr/>
          <p:nvPr/>
        </p:nvSpPr>
        <p:spPr>
          <a:xfrm>
            <a:off x="5943600" y="1051560"/>
            <a:ext cx="2606040" cy="1097280"/>
          </a:xfrm>
          <a:prstGeom prst="roundRect">
            <a:avLst>
              <a:gd name="adj" fmla="val 4167"/>
            </a:avLst>
          </a:prstGeom>
          <a:solidFill>
            <a:srgbClr val="FFFFFF"/>
          </a:solidFill>
          <a:ln w="15240">
            <a:solidFill>
              <a:srgbClr val="D4E0EA"/>
            </a:solidFill>
            <a:prstDash val="solid"/>
          </a:ln>
        </p:spPr>
      </p:sp>
      <p:sp>
        <p:nvSpPr>
          <p:cNvPr id="43" name="Shape 41"/>
          <p:cNvSpPr/>
          <p:nvPr/>
        </p:nvSpPr>
        <p:spPr>
          <a:xfrm>
            <a:off x="5943600" y="1051560"/>
            <a:ext cx="2606040" cy="347472"/>
          </a:xfrm>
          <a:prstGeom prst="rect">
            <a:avLst/>
          </a:prstGeom>
          <a:solidFill>
            <a:srgbClr val="1E73BE"/>
          </a:solidFill>
          <a:ln w="12700">
            <a:solidFill>
              <a:srgbClr val="1E73BE"/>
            </a:solidFill>
            <a:prstDash val="solid"/>
          </a:ln>
        </p:spPr>
      </p:sp>
      <p:sp>
        <p:nvSpPr>
          <p:cNvPr id="44" name="Text 42"/>
          <p:cNvSpPr/>
          <p:nvPr/>
        </p:nvSpPr>
        <p:spPr>
          <a:xfrm>
            <a:off x="6053328" y="1124712"/>
            <a:ext cx="2386584" cy="201168"/>
          </a:xfrm>
          <a:prstGeom prst="rect">
            <a:avLst/>
          </a:prstGeom>
          <a:noFill/>
          <a:ln/>
        </p:spPr>
        <p:txBody>
          <a:bodyPr wrap="square" lIns="0" tIns="0" rIns="0" bIns="0" rtlCol="0" anchor="ctr"/>
          <a:lstStyle/>
          <a:p>
            <a:pPr algn="ctr" indent="0" marL="0">
              <a:buNone/>
            </a:pPr>
            <a:r>
              <a:rPr lang="en-US" sz="1300" b="1" dirty="0">
                <a:solidFill>
                  <a:srgbClr val="FFFFFF"/>
                </a:solidFill>
              </a:rPr>
              <a:t>Sensors / percepts</a:t>
            </a:r>
            <a:endParaRPr lang="en-US" sz="1300" dirty="0"/>
          </a:p>
        </p:txBody>
      </p:sp>
      <p:sp>
        <p:nvSpPr>
          <p:cNvPr id="45" name="Text 43"/>
          <p:cNvSpPr/>
          <p:nvPr/>
        </p:nvSpPr>
        <p:spPr>
          <a:xfrm>
            <a:off x="6108192" y="1527048"/>
            <a:ext cx="2276856" cy="5303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Walls, pellets, ghost positions, legal moves, power-pellet status.</a:t>
            </a:r>
            <a:endParaRPr lang="en-US" sz="1300" dirty="0"/>
          </a:p>
        </p:txBody>
      </p:sp>
      <p:sp>
        <p:nvSpPr>
          <p:cNvPr id="46" name="Shape 44"/>
          <p:cNvSpPr/>
          <p:nvPr/>
        </p:nvSpPr>
        <p:spPr>
          <a:xfrm>
            <a:off x="8823960" y="1051560"/>
            <a:ext cx="2606040" cy="1097280"/>
          </a:xfrm>
          <a:prstGeom prst="roundRect">
            <a:avLst>
              <a:gd name="adj" fmla="val 4167"/>
            </a:avLst>
          </a:prstGeom>
          <a:solidFill>
            <a:srgbClr val="FFFFFF"/>
          </a:solidFill>
          <a:ln w="15240">
            <a:solidFill>
              <a:srgbClr val="D4E0EA"/>
            </a:solidFill>
            <a:prstDash val="solid"/>
          </a:ln>
        </p:spPr>
      </p:sp>
      <p:sp>
        <p:nvSpPr>
          <p:cNvPr id="47" name="Shape 45"/>
          <p:cNvSpPr/>
          <p:nvPr/>
        </p:nvSpPr>
        <p:spPr>
          <a:xfrm>
            <a:off x="8823960" y="1051560"/>
            <a:ext cx="2606040" cy="347472"/>
          </a:xfrm>
          <a:prstGeom prst="rect">
            <a:avLst/>
          </a:prstGeom>
          <a:solidFill>
            <a:srgbClr val="1E7A3B"/>
          </a:solidFill>
          <a:ln w="12700">
            <a:solidFill>
              <a:srgbClr val="1E7A3B"/>
            </a:solidFill>
            <a:prstDash val="solid"/>
          </a:ln>
        </p:spPr>
      </p:sp>
      <p:sp>
        <p:nvSpPr>
          <p:cNvPr id="48" name="Text 46"/>
          <p:cNvSpPr/>
          <p:nvPr/>
        </p:nvSpPr>
        <p:spPr>
          <a:xfrm>
            <a:off x="8933688" y="1124712"/>
            <a:ext cx="2386584" cy="201168"/>
          </a:xfrm>
          <a:prstGeom prst="rect">
            <a:avLst/>
          </a:prstGeom>
          <a:noFill/>
          <a:ln/>
        </p:spPr>
        <p:txBody>
          <a:bodyPr wrap="square" lIns="0" tIns="0" rIns="0" bIns="0" rtlCol="0" anchor="ctr"/>
          <a:lstStyle/>
          <a:p>
            <a:pPr algn="ctr" indent="0" marL="0">
              <a:buNone/>
            </a:pPr>
            <a:r>
              <a:rPr lang="en-US" sz="1300" b="1" dirty="0">
                <a:solidFill>
                  <a:srgbClr val="FFFFFF"/>
                </a:solidFill>
              </a:rPr>
              <a:t>Actions / actuators</a:t>
            </a:r>
            <a:endParaRPr lang="en-US" sz="1300" dirty="0"/>
          </a:p>
        </p:txBody>
      </p:sp>
      <p:sp>
        <p:nvSpPr>
          <p:cNvPr id="49" name="Text 47"/>
          <p:cNvSpPr/>
          <p:nvPr/>
        </p:nvSpPr>
        <p:spPr>
          <a:xfrm>
            <a:off x="8988552" y="1527048"/>
            <a:ext cx="2276856" cy="5303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Move left, right, up, or down. The action changes the maze state.</a:t>
            </a:r>
            <a:endParaRPr lang="en-US" sz="1300" dirty="0"/>
          </a:p>
        </p:txBody>
      </p:sp>
      <p:sp>
        <p:nvSpPr>
          <p:cNvPr id="50" name="Shape 48"/>
          <p:cNvSpPr/>
          <p:nvPr/>
        </p:nvSpPr>
        <p:spPr>
          <a:xfrm>
            <a:off x="5943600" y="2514600"/>
            <a:ext cx="2606040" cy="1097280"/>
          </a:xfrm>
          <a:prstGeom prst="roundRect">
            <a:avLst>
              <a:gd name="adj" fmla="val 4167"/>
            </a:avLst>
          </a:prstGeom>
          <a:solidFill>
            <a:srgbClr val="FFFFFF"/>
          </a:solidFill>
          <a:ln w="15240">
            <a:solidFill>
              <a:srgbClr val="D4E0EA"/>
            </a:solidFill>
            <a:prstDash val="solid"/>
          </a:ln>
        </p:spPr>
      </p:sp>
      <p:sp>
        <p:nvSpPr>
          <p:cNvPr id="51" name="Shape 49"/>
          <p:cNvSpPr/>
          <p:nvPr/>
        </p:nvSpPr>
        <p:spPr>
          <a:xfrm>
            <a:off x="5943600" y="2514600"/>
            <a:ext cx="2606040" cy="347472"/>
          </a:xfrm>
          <a:prstGeom prst="rect">
            <a:avLst/>
          </a:prstGeom>
          <a:solidFill>
            <a:srgbClr val="6A2FD4"/>
          </a:solidFill>
          <a:ln w="12700">
            <a:solidFill>
              <a:srgbClr val="6A2FD4"/>
            </a:solidFill>
            <a:prstDash val="solid"/>
          </a:ln>
        </p:spPr>
      </p:sp>
      <p:sp>
        <p:nvSpPr>
          <p:cNvPr id="52" name="Text 50"/>
          <p:cNvSpPr/>
          <p:nvPr/>
        </p:nvSpPr>
        <p:spPr>
          <a:xfrm>
            <a:off x="6053328" y="2587752"/>
            <a:ext cx="2386584" cy="201168"/>
          </a:xfrm>
          <a:prstGeom prst="rect">
            <a:avLst/>
          </a:prstGeom>
          <a:noFill/>
          <a:ln/>
        </p:spPr>
        <p:txBody>
          <a:bodyPr wrap="square" lIns="0" tIns="0" rIns="0" bIns="0" rtlCol="0" anchor="ctr"/>
          <a:lstStyle/>
          <a:p>
            <a:pPr algn="ctr" indent="0" marL="0">
              <a:buNone/>
            </a:pPr>
            <a:r>
              <a:rPr lang="en-US" sz="1300" b="1" dirty="0">
                <a:solidFill>
                  <a:srgbClr val="FFFFFF"/>
                </a:solidFill>
              </a:rPr>
              <a:t>Performance</a:t>
            </a:r>
            <a:endParaRPr lang="en-US" sz="1300" dirty="0"/>
          </a:p>
        </p:txBody>
      </p:sp>
      <p:sp>
        <p:nvSpPr>
          <p:cNvPr id="53" name="Text 51"/>
          <p:cNvSpPr/>
          <p:nvPr/>
        </p:nvSpPr>
        <p:spPr>
          <a:xfrm>
            <a:off x="6108192" y="2990088"/>
            <a:ext cx="2276856" cy="5303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Maximize score; eat pellets; avoid ghosts; use power pellets safely.</a:t>
            </a:r>
            <a:endParaRPr lang="en-US" sz="1300" dirty="0"/>
          </a:p>
        </p:txBody>
      </p:sp>
      <p:sp>
        <p:nvSpPr>
          <p:cNvPr id="54" name="Shape 52"/>
          <p:cNvSpPr/>
          <p:nvPr/>
        </p:nvSpPr>
        <p:spPr>
          <a:xfrm>
            <a:off x="8823960" y="2514600"/>
            <a:ext cx="2606040" cy="1097280"/>
          </a:xfrm>
          <a:prstGeom prst="roundRect">
            <a:avLst>
              <a:gd name="adj" fmla="val 4167"/>
            </a:avLst>
          </a:prstGeom>
          <a:solidFill>
            <a:srgbClr val="FFFFFF"/>
          </a:solidFill>
          <a:ln w="15240">
            <a:solidFill>
              <a:srgbClr val="D4E0EA"/>
            </a:solidFill>
            <a:prstDash val="solid"/>
          </a:ln>
        </p:spPr>
      </p:sp>
      <p:sp>
        <p:nvSpPr>
          <p:cNvPr id="55" name="Shape 53"/>
          <p:cNvSpPr/>
          <p:nvPr/>
        </p:nvSpPr>
        <p:spPr>
          <a:xfrm>
            <a:off x="8823960" y="2514600"/>
            <a:ext cx="2606040" cy="347472"/>
          </a:xfrm>
          <a:prstGeom prst="rect">
            <a:avLst/>
          </a:prstGeom>
          <a:solidFill>
            <a:srgbClr val="A71D1D"/>
          </a:solidFill>
          <a:ln w="12700">
            <a:solidFill>
              <a:srgbClr val="A71D1D"/>
            </a:solidFill>
            <a:prstDash val="solid"/>
          </a:ln>
        </p:spPr>
      </p:sp>
      <p:sp>
        <p:nvSpPr>
          <p:cNvPr id="56" name="Text 54"/>
          <p:cNvSpPr/>
          <p:nvPr/>
        </p:nvSpPr>
        <p:spPr>
          <a:xfrm>
            <a:off x="8933688" y="2587752"/>
            <a:ext cx="2386584" cy="201168"/>
          </a:xfrm>
          <a:prstGeom prst="rect">
            <a:avLst/>
          </a:prstGeom>
          <a:noFill/>
          <a:ln/>
        </p:spPr>
        <p:txBody>
          <a:bodyPr wrap="square" lIns="0" tIns="0" rIns="0" bIns="0" rtlCol="0" anchor="ctr"/>
          <a:lstStyle/>
          <a:p>
            <a:pPr algn="ctr" indent="0" marL="0">
              <a:buNone/>
            </a:pPr>
            <a:r>
              <a:rPr lang="en-US" sz="1300" b="1" dirty="0">
                <a:solidFill>
                  <a:srgbClr val="FFFFFF"/>
                </a:solidFill>
              </a:rPr>
              <a:t>Environment</a:t>
            </a:r>
            <a:endParaRPr lang="en-US" sz="1300" dirty="0"/>
          </a:p>
        </p:txBody>
      </p:sp>
      <p:sp>
        <p:nvSpPr>
          <p:cNvPr id="57" name="Text 55"/>
          <p:cNvSpPr/>
          <p:nvPr/>
        </p:nvSpPr>
        <p:spPr>
          <a:xfrm>
            <a:off x="8988552" y="2990088"/>
            <a:ext cx="2276856" cy="5303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Partially observable in real versions; multiagent; sequential; dynamic; discrete grid.</a:t>
            </a:r>
            <a:endParaRPr lang="en-US" sz="1300" dirty="0"/>
          </a:p>
        </p:txBody>
      </p:sp>
      <p:sp>
        <p:nvSpPr>
          <p:cNvPr id="58" name="Text 56"/>
          <p:cNvSpPr/>
          <p:nvPr/>
        </p:nvSpPr>
        <p:spPr>
          <a:xfrm>
            <a:off x="777240" y="5074920"/>
            <a:ext cx="10607040" cy="320040"/>
          </a:xfrm>
          <a:prstGeom prst="rect">
            <a:avLst/>
          </a:prstGeom>
          <a:noFill/>
          <a:ln/>
        </p:spPr>
        <p:txBody>
          <a:bodyPr wrap="square" lIns="0" tIns="0" rIns="0" bIns="0" rtlCol="0" anchor="ctr"/>
          <a:lstStyle/>
          <a:p>
            <a:pPr algn="ctr" indent="0" marL="0">
              <a:buNone/>
            </a:pPr>
            <a:r>
              <a:rPr lang="en-US" sz="1700" b="1" dirty="0">
                <a:solidFill>
                  <a:srgbClr val="0B2D5B"/>
                </a:solidFill>
              </a:rPr>
              <a:t>Class demo link: the autonomous Pac-Man game implements this loop in code.</a:t>
            </a:r>
            <a:endParaRPr lang="en-US" sz="1700" dirty="0"/>
          </a:p>
        </p:txBody>
      </p:sp>
      <p:sp>
        <p:nvSpPr>
          <p:cNvPr id="60" name="Text 57"/>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 Agent Structure: Architecture + Program</a:t>
            </a:r>
            <a:endParaRPr lang="en-US" sz="2500" dirty="0"/>
          </a:p>
        </p:txBody>
      </p:sp>
      <p:sp>
        <p:nvSpPr>
          <p:cNvPr id="3" name="Text 1"/>
          <p:cNvSpPr/>
          <p:nvPr/>
        </p:nvSpPr>
        <p:spPr>
          <a:xfrm>
            <a:off x="868680" y="1097280"/>
            <a:ext cx="10424160" cy="411480"/>
          </a:xfrm>
          <a:prstGeom prst="rect">
            <a:avLst/>
          </a:prstGeom>
          <a:noFill/>
          <a:ln/>
        </p:spPr>
        <p:txBody>
          <a:bodyPr wrap="square" lIns="0" tIns="0" rIns="0" bIns="0" rtlCol="0" anchor="ctr"/>
          <a:lstStyle/>
          <a:p>
            <a:pPr algn="ctr" indent="0" marL="0">
              <a:buNone/>
            </a:pPr>
            <a:r>
              <a:rPr lang="en-US" sz="2600" b="1" dirty="0">
                <a:solidFill>
                  <a:srgbClr val="0B2D5B"/>
                </a:solidFill>
              </a:rPr>
              <a:t>agent = architecture + program</a:t>
            </a:r>
            <a:endParaRPr lang="en-US" sz="2600" dirty="0"/>
          </a:p>
        </p:txBody>
      </p:sp>
      <p:sp>
        <p:nvSpPr>
          <p:cNvPr id="4" name="Shape 2"/>
          <p:cNvSpPr/>
          <p:nvPr/>
        </p:nvSpPr>
        <p:spPr>
          <a:xfrm>
            <a:off x="777240" y="1920240"/>
            <a:ext cx="3063240" cy="1234440"/>
          </a:xfrm>
          <a:prstGeom prst="roundRect">
            <a:avLst>
              <a:gd name="adj" fmla="val 3704"/>
            </a:avLst>
          </a:prstGeom>
          <a:solidFill>
            <a:srgbClr val="FFFFFF"/>
          </a:solidFill>
          <a:ln w="15240">
            <a:solidFill>
              <a:srgbClr val="D4E0EA"/>
            </a:solidFill>
            <a:prstDash val="solid"/>
          </a:ln>
        </p:spPr>
      </p:sp>
      <p:sp>
        <p:nvSpPr>
          <p:cNvPr id="5" name="Shape 3"/>
          <p:cNvSpPr/>
          <p:nvPr/>
        </p:nvSpPr>
        <p:spPr>
          <a:xfrm>
            <a:off x="777240" y="1920240"/>
            <a:ext cx="3063240" cy="347472"/>
          </a:xfrm>
          <a:prstGeom prst="rect">
            <a:avLst/>
          </a:prstGeom>
          <a:solidFill>
            <a:srgbClr val="1E73BE"/>
          </a:solidFill>
          <a:ln w="12700">
            <a:solidFill>
              <a:srgbClr val="1E73BE"/>
            </a:solidFill>
            <a:prstDash val="solid"/>
          </a:ln>
        </p:spPr>
      </p:sp>
      <p:sp>
        <p:nvSpPr>
          <p:cNvPr id="6" name="Text 4"/>
          <p:cNvSpPr/>
          <p:nvPr/>
        </p:nvSpPr>
        <p:spPr>
          <a:xfrm>
            <a:off x="886968" y="1993392"/>
            <a:ext cx="2843784" cy="201168"/>
          </a:xfrm>
          <a:prstGeom prst="rect">
            <a:avLst/>
          </a:prstGeom>
          <a:noFill/>
          <a:ln/>
        </p:spPr>
        <p:txBody>
          <a:bodyPr wrap="square" lIns="0" tIns="0" rIns="0" bIns="0" rtlCol="0" anchor="ctr"/>
          <a:lstStyle/>
          <a:p>
            <a:pPr algn="ctr" indent="0" marL="0">
              <a:buNone/>
            </a:pPr>
            <a:r>
              <a:rPr lang="en-US" sz="1300" b="1" dirty="0">
                <a:solidFill>
                  <a:srgbClr val="FFFFFF"/>
                </a:solidFill>
              </a:rPr>
              <a:t>Architecture</a:t>
            </a:r>
            <a:endParaRPr lang="en-US" sz="1300" dirty="0"/>
          </a:p>
        </p:txBody>
      </p:sp>
      <p:sp>
        <p:nvSpPr>
          <p:cNvPr id="7" name="Text 5"/>
          <p:cNvSpPr/>
          <p:nvPr/>
        </p:nvSpPr>
        <p:spPr>
          <a:xfrm>
            <a:off x="941832" y="2395728"/>
            <a:ext cx="2734056" cy="6675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Physical or computational platform: sensors, processors, memory, actuators.</a:t>
            </a:r>
            <a:endParaRPr lang="en-US" sz="1300" dirty="0"/>
          </a:p>
        </p:txBody>
      </p:sp>
      <p:sp>
        <p:nvSpPr>
          <p:cNvPr id="8" name="Shape 6"/>
          <p:cNvSpPr/>
          <p:nvPr/>
        </p:nvSpPr>
        <p:spPr>
          <a:xfrm>
            <a:off x="4526280" y="1920240"/>
            <a:ext cx="3063240" cy="1234440"/>
          </a:xfrm>
          <a:prstGeom prst="roundRect">
            <a:avLst>
              <a:gd name="adj" fmla="val 3704"/>
            </a:avLst>
          </a:prstGeom>
          <a:solidFill>
            <a:srgbClr val="FFFFFF"/>
          </a:solidFill>
          <a:ln w="15240">
            <a:solidFill>
              <a:srgbClr val="D4E0EA"/>
            </a:solidFill>
            <a:prstDash val="solid"/>
          </a:ln>
        </p:spPr>
      </p:sp>
      <p:sp>
        <p:nvSpPr>
          <p:cNvPr id="9" name="Shape 7"/>
          <p:cNvSpPr/>
          <p:nvPr/>
        </p:nvSpPr>
        <p:spPr>
          <a:xfrm>
            <a:off x="4526280" y="1920240"/>
            <a:ext cx="3063240" cy="347472"/>
          </a:xfrm>
          <a:prstGeom prst="rect">
            <a:avLst/>
          </a:prstGeom>
          <a:solidFill>
            <a:srgbClr val="1E7A3B"/>
          </a:solidFill>
          <a:ln w="12700">
            <a:solidFill>
              <a:srgbClr val="1E7A3B"/>
            </a:solidFill>
            <a:prstDash val="solid"/>
          </a:ln>
        </p:spPr>
      </p:sp>
      <p:sp>
        <p:nvSpPr>
          <p:cNvPr id="10" name="Text 8"/>
          <p:cNvSpPr/>
          <p:nvPr/>
        </p:nvSpPr>
        <p:spPr>
          <a:xfrm>
            <a:off x="4636008" y="1993392"/>
            <a:ext cx="284378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program</a:t>
            </a:r>
            <a:endParaRPr lang="en-US" sz="1300" dirty="0"/>
          </a:p>
        </p:txBody>
      </p:sp>
      <p:sp>
        <p:nvSpPr>
          <p:cNvPr id="11" name="Text 9"/>
          <p:cNvSpPr/>
          <p:nvPr/>
        </p:nvSpPr>
        <p:spPr>
          <a:xfrm>
            <a:off x="4690872" y="2395728"/>
            <a:ext cx="2734056" cy="6675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Software that receives percepts and returns actions.</a:t>
            </a:r>
            <a:endParaRPr lang="en-US" sz="1300" dirty="0"/>
          </a:p>
        </p:txBody>
      </p:sp>
      <p:sp>
        <p:nvSpPr>
          <p:cNvPr id="12" name="Shape 10"/>
          <p:cNvSpPr/>
          <p:nvPr/>
        </p:nvSpPr>
        <p:spPr>
          <a:xfrm>
            <a:off x="8275320" y="1920240"/>
            <a:ext cx="3063240" cy="1234440"/>
          </a:xfrm>
          <a:prstGeom prst="roundRect">
            <a:avLst>
              <a:gd name="adj" fmla="val 3704"/>
            </a:avLst>
          </a:prstGeom>
          <a:solidFill>
            <a:srgbClr val="FFFFFF"/>
          </a:solidFill>
          <a:ln w="15240">
            <a:solidFill>
              <a:srgbClr val="D4E0EA"/>
            </a:solidFill>
            <a:prstDash val="solid"/>
          </a:ln>
        </p:spPr>
      </p:sp>
      <p:sp>
        <p:nvSpPr>
          <p:cNvPr id="13" name="Shape 11"/>
          <p:cNvSpPr/>
          <p:nvPr/>
        </p:nvSpPr>
        <p:spPr>
          <a:xfrm>
            <a:off x="8275320" y="1920240"/>
            <a:ext cx="3063240" cy="347472"/>
          </a:xfrm>
          <a:prstGeom prst="rect">
            <a:avLst/>
          </a:prstGeom>
          <a:solidFill>
            <a:srgbClr val="6A2FD4"/>
          </a:solidFill>
          <a:ln w="12700">
            <a:solidFill>
              <a:srgbClr val="6A2FD4"/>
            </a:solidFill>
            <a:prstDash val="solid"/>
          </a:ln>
        </p:spPr>
      </p:sp>
      <p:sp>
        <p:nvSpPr>
          <p:cNvPr id="14" name="Text 12"/>
          <p:cNvSpPr/>
          <p:nvPr/>
        </p:nvSpPr>
        <p:spPr>
          <a:xfrm>
            <a:off x="8385048" y="1993392"/>
            <a:ext cx="284378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function</a:t>
            </a:r>
            <a:endParaRPr lang="en-US" sz="1300" dirty="0"/>
          </a:p>
        </p:txBody>
      </p:sp>
      <p:sp>
        <p:nvSpPr>
          <p:cNvPr id="15" name="Text 13"/>
          <p:cNvSpPr/>
          <p:nvPr/>
        </p:nvSpPr>
        <p:spPr>
          <a:xfrm>
            <a:off x="8439912" y="2395728"/>
            <a:ext cx="2734056" cy="6675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The behavior the program implements: percept sequence -&gt; action.</a:t>
            </a:r>
            <a:endParaRPr lang="en-US" sz="1300" dirty="0"/>
          </a:p>
        </p:txBody>
      </p:sp>
      <p:sp>
        <p:nvSpPr>
          <p:cNvPr id="16" name="Text 14"/>
          <p:cNvSpPr/>
          <p:nvPr/>
        </p:nvSpPr>
        <p:spPr>
          <a:xfrm>
            <a:off x="868680" y="3840480"/>
            <a:ext cx="4754880" cy="292608"/>
          </a:xfrm>
          <a:prstGeom prst="rect">
            <a:avLst/>
          </a:prstGeom>
          <a:noFill/>
          <a:ln/>
        </p:spPr>
        <p:txBody>
          <a:bodyPr wrap="square" lIns="0" tIns="0" rIns="0" bIns="0" rtlCol="0" anchor="ctr"/>
          <a:lstStyle/>
          <a:p>
            <a:pPr indent="0" marL="0">
              <a:buNone/>
            </a:pPr>
            <a:r>
              <a:rPr lang="en-US" sz="2000" b="1" dirty="0">
                <a:solidFill>
                  <a:srgbClr val="A71D1D"/>
                </a:solidFill>
              </a:rPr>
              <a:t>Why not use a giant lookup table?</a:t>
            </a:r>
            <a:endParaRPr lang="en-US" sz="2000" dirty="0"/>
          </a:p>
        </p:txBody>
      </p:sp>
      <p:sp>
        <p:nvSpPr>
          <p:cNvPr id="17" name="Text 15"/>
          <p:cNvSpPr/>
          <p:nvPr/>
        </p:nvSpPr>
        <p:spPr>
          <a:xfrm>
            <a:off x="1143000" y="4370832"/>
            <a:ext cx="9601200" cy="256032"/>
          </a:xfrm>
          <a:prstGeom prst="rect">
            <a:avLst/>
          </a:prstGeom>
          <a:noFill/>
          <a:ln/>
        </p:spPr>
        <p:txBody>
          <a:bodyPr wrap="square" lIns="254" tIns="254" rIns="254" bIns="254" rtlCol="0" anchor="t">
            <a:normAutofit/>
          </a:bodyPr>
          <a:lstStyle/>
          <a:p>
            <a:r>
              <a:rPr lang="en-US" sz="1500" dirty="0">
                <a:solidFill>
                  <a:srgbClr val="14213D"/>
                </a:solidFill>
              </a:rPr>
              <a:t>Too many percept sequences to store.</a:t>
            </a:r>
            <a:endParaRPr lang="en-US" sz="1500" dirty="0"/>
          </a:p>
        </p:txBody>
      </p:sp>
      <p:sp>
        <p:nvSpPr>
          <p:cNvPr id="18" name="Text 16"/>
          <p:cNvSpPr/>
          <p:nvPr/>
        </p:nvSpPr>
        <p:spPr>
          <a:xfrm>
            <a:off x="1143000" y="4736592"/>
            <a:ext cx="9601200" cy="256032"/>
          </a:xfrm>
          <a:prstGeom prst="rect">
            <a:avLst/>
          </a:prstGeom>
          <a:noFill/>
          <a:ln/>
        </p:spPr>
        <p:txBody>
          <a:bodyPr wrap="square" lIns="254" tIns="254" rIns="254" bIns="254" rtlCol="0" anchor="t">
            <a:normAutofit/>
          </a:bodyPr>
          <a:lstStyle/>
          <a:p>
            <a:r>
              <a:rPr lang="en-US" sz="1500" dirty="0">
                <a:solidFill>
                  <a:srgbClr val="14213D"/>
                </a:solidFill>
              </a:rPr>
              <a:t>Too much work for the designer to fill in.</a:t>
            </a:r>
            <a:endParaRPr lang="en-US" sz="1500" dirty="0"/>
          </a:p>
        </p:txBody>
      </p:sp>
      <p:sp>
        <p:nvSpPr>
          <p:cNvPr id="19" name="Text 17"/>
          <p:cNvSpPr/>
          <p:nvPr/>
        </p:nvSpPr>
        <p:spPr>
          <a:xfrm>
            <a:off x="1143000" y="5102352"/>
            <a:ext cx="9601200" cy="256032"/>
          </a:xfrm>
          <a:prstGeom prst="rect">
            <a:avLst/>
          </a:prstGeom>
          <a:noFill/>
          <a:ln/>
        </p:spPr>
        <p:txBody>
          <a:bodyPr wrap="square" lIns="254" tIns="254" rIns="254" bIns="254" rtlCol="0" anchor="t">
            <a:normAutofit/>
          </a:bodyPr>
          <a:lstStyle/>
          <a:p>
            <a:r>
              <a:rPr lang="en-US" sz="1500" dirty="0">
                <a:solidFill>
                  <a:srgbClr val="14213D"/>
                </a:solidFill>
              </a:rPr>
              <a:t>Too much experience for the agent to learn every entry.</a:t>
            </a:r>
            <a:endParaRPr lang="en-US" sz="1500" dirty="0"/>
          </a:p>
        </p:txBody>
      </p:sp>
      <p:sp>
        <p:nvSpPr>
          <p:cNvPr id="20" name="Text 18"/>
          <p:cNvSpPr/>
          <p:nvPr/>
        </p:nvSpPr>
        <p:spPr>
          <a:xfrm>
            <a:off x="914400" y="5806440"/>
            <a:ext cx="10332720" cy="320040"/>
          </a:xfrm>
          <a:prstGeom prst="rect">
            <a:avLst/>
          </a:prstGeom>
          <a:noFill/>
          <a:ln/>
        </p:spPr>
        <p:txBody>
          <a:bodyPr wrap="square" lIns="0" tIns="0" rIns="0" bIns="0" rtlCol="0" anchor="ctr"/>
          <a:lstStyle/>
          <a:p>
            <a:pPr algn="ctr" indent="0" marL="0">
              <a:buNone/>
            </a:pPr>
            <a:r>
              <a:rPr lang="en-US" sz="1700" b="1" dirty="0">
                <a:solidFill>
                  <a:srgbClr val="0B2D5B"/>
                </a:solidFill>
              </a:rPr>
              <a:t>AI problem: produce rational behavior from a compact program, not a vast table.</a:t>
            </a:r>
            <a:endParaRPr lang="en-US" sz="1700" dirty="0"/>
          </a:p>
        </p:txBody>
      </p:sp>
      <p:sp>
        <p:nvSpPr>
          <p:cNvPr id="22" name="Text 19"/>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2.4.2 Simple Reflex Agents</a:t>
            </a:r>
            <a:endParaRPr lang="en-US" sz="2500" dirty="0"/>
          </a:p>
        </p:txBody>
      </p:sp>
      <p:sp>
        <p:nvSpPr>
          <p:cNvPr id="3" name="Text 1"/>
          <p:cNvSpPr/>
          <p:nvPr/>
        </p:nvSpPr>
        <p:spPr>
          <a:xfrm>
            <a:off x="777240" y="1024128"/>
            <a:ext cx="10607040" cy="329184"/>
          </a:xfrm>
          <a:prstGeom prst="rect">
            <a:avLst/>
          </a:prstGeom>
          <a:noFill/>
          <a:ln/>
        </p:spPr>
        <p:txBody>
          <a:bodyPr wrap="square" lIns="0" tIns="0" rIns="0" bIns="0" rtlCol="0" anchor="ctr"/>
          <a:lstStyle/>
          <a:p>
            <a:pPr algn="ctr" indent="0" marL="0">
              <a:buNone/>
            </a:pPr>
            <a:r>
              <a:rPr lang="en-US" sz="2100" b="1" dirty="0">
                <a:solidFill>
                  <a:srgbClr val="0B2D5B"/>
                </a:solidFill>
              </a:rPr>
              <a:t>Select an action from the current percept only.</a:t>
            </a:r>
            <a:endParaRPr lang="en-US" sz="2100" dirty="0"/>
          </a:p>
        </p:txBody>
      </p:sp>
      <p:sp>
        <p:nvSpPr>
          <p:cNvPr id="4" name="Shape 2"/>
          <p:cNvSpPr/>
          <p:nvPr/>
        </p:nvSpPr>
        <p:spPr>
          <a:xfrm>
            <a:off x="914400" y="1874520"/>
            <a:ext cx="2011680" cy="685800"/>
          </a:xfrm>
          <a:prstGeom prst="roundRect">
            <a:avLst>
              <a:gd name="adj" fmla="val 10667"/>
            </a:avLst>
          </a:prstGeom>
          <a:solidFill>
            <a:srgbClr val="1E73BE"/>
          </a:solidFill>
          <a:ln w="15240">
            <a:solidFill>
              <a:srgbClr val="1E73BE"/>
            </a:solidFill>
            <a:prstDash val="solid"/>
          </a:ln>
        </p:spPr>
      </p:sp>
      <p:sp>
        <p:nvSpPr>
          <p:cNvPr id="5" name="Text 3"/>
          <p:cNvSpPr/>
          <p:nvPr/>
        </p:nvSpPr>
        <p:spPr>
          <a:xfrm>
            <a:off x="1024128" y="1965960"/>
            <a:ext cx="1792224" cy="50292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Current percept</a:t>
            </a:r>
            <a:endParaRPr lang="en-US" sz="1600" dirty="0"/>
          </a:p>
        </p:txBody>
      </p:sp>
      <p:sp>
        <p:nvSpPr>
          <p:cNvPr id="6" name="Shape 4"/>
          <p:cNvSpPr/>
          <p:nvPr/>
        </p:nvSpPr>
        <p:spPr>
          <a:xfrm>
            <a:off x="2944368" y="2221992"/>
            <a:ext cx="941832" cy="0"/>
          </a:xfrm>
          <a:prstGeom prst="line">
            <a:avLst/>
          </a:prstGeom>
          <a:noFill/>
          <a:ln w="25400">
            <a:solidFill>
              <a:srgbClr val="5B6770"/>
            </a:solidFill>
            <a:prstDash val="solid"/>
            <a:headEnd type="none"/>
            <a:tailEnd type="triangle"/>
          </a:ln>
        </p:spPr>
      </p:sp>
      <p:sp>
        <p:nvSpPr>
          <p:cNvPr id="7" name="Shape 5"/>
          <p:cNvSpPr/>
          <p:nvPr/>
        </p:nvSpPr>
        <p:spPr>
          <a:xfrm>
            <a:off x="3977640" y="1874520"/>
            <a:ext cx="2194560" cy="685800"/>
          </a:xfrm>
          <a:prstGeom prst="roundRect">
            <a:avLst>
              <a:gd name="adj" fmla="val 10667"/>
            </a:avLst>
          </a:prstGeom>
          <a:solidFill>
            <a:srgbClr val="1E7A3B"/>
          </a:solidFill>
          <a:ln w="15240">
            <a:solidFill>
              <a:srgbClr val="1E7A3B"/>
            </a:solidFill>
            <a:prstDash val="solid"/>
          </a:ln>
        </p:spPr>
      </p:sp>
      <p:sp>
        <p:nvSpPr>
          <p:cNvPr id="8" name="Text 6"/>
          <p:cNvSpPr/>
          <p:nvPr/>
        </p:nvSpPr>
        <p:spPr>
          <a:xfrm>
            <a:off x="4087368" y="1965960"/>
            <a:ext cx="1975104" cy="50292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Condition-action rule</a:t>
            </a:r>
            <a:endParaRPr lang="en-US" sz="1400" dirty="0"/>
          </a:p>
        </p:txBody>
      </p:sp>
      <p:sp>
        <p:nvSpPr>
          <p:cNvPr id="9" name="Shape 7"/>
          <p:cNvSpPr/>
          <p:nvPr/>
        </p:nvSpPr>
        <p:spPr>
          <a:xfrm>
            <a:off x="6199632" y="2221992"/>
            <a:ext cx="932688" cy="0"/>
          </a:xfrm>
          <a:prstGeom prst="line">
            <a:avLst/>
          </a:prstGeom>
          <a:noFill/>
          <a:ln w="25400">
            <a:solidFill>
              <a:srgbClr val="5B6770"/>
            </a:solidFill>
            <a:prstDash val="solid"/>
            <a:headEnd type="none"/>
            <a:tailEnd type="triangle"/>
          </a:ln>
        </p:spPr>
      </p:sp>
      <p:sp>
        <p:nvSpPr>
          <p:cNvPr id="10" name="Shape 8"/>
          <p:cNvSpPr/>
          <p:nvPr/>
        </p:nvSpPr>
        <p:spPr>
          <a:xfrm>
            <a:off x="7223760" y="1874520"/>
            <a:ext cx="1828800" cy="685800"/>
          </a:xfrm>
          <a:prstGeom prst="roundRect">
            <a:avLst>
              <a:gd name="adj" fmla="val 10667"/>
            </a:avLst>
          </a:prstGeom>
          <a:solidFill>
            <a:srgbClr val="F5A623"/>
          </a:solidFill>
          <a:ln w="15240">
            <a:solidFill>
              <a:srgbClr val="F5A623"/>
            </a:solidFill>
            <a:prstDash val="solid"/>
          </a:ln>
        </p:spPr>
      </p:sp>
      <p:sp>
        <p:nvSpPr>
          <p:cNvPr id="11" name="Text 9"/>
          <p:cNvSpPr/>
          <p:nvPr/>
        </p:nvSpPr>
        <p:spPr>
          <a:xfrm>
            <a:off x="7333488" y="1965960"/>
            <a:ext cx="1609344" cy="502920"/>
          </a:xfrm>
          <a:prstGeom prst="rect">
            <a:avLst/>
          </a:prstGeom>
          <a:noFill/>
          <a:ln/>
        </p:spPr>
        <p:txBody>
          <a:bodyPr wrap="square" lIns="254" tIns="254" rIns="254" bIns="254" rtlCol="0" anchor="ctr">
            <a:normAutofit/>
          </a:bodyPr>
          <a:lstStyle/>
          <a:p>
            <a:pPr algn="ctr" indent="0" marL="0">
              <a:buNone/>
            </a:pPr>
            <a:r>
              <a:rPr lang="en-US" sz="1600" b="1" dirty="0">
                <a:solidFill>
                  <a:srgbClr val="14213D"/>
                </a:solidFill>
              </a:rPr>
              <a:t>Action</a:t>
            </a:r>
            <a:endParaRPr lang="en-US" sz="1600" dirty="0"/>
          </a:p>
        </p:txBody>
      </p:sp>
      <p:sp>
        <p:nvSpPr>
          <p:cNvPr id="12" name="Shape 10"/>
          <p:cNvSpPr/>
          <p:nvPr/>
        </p:nvSpPr>
        <p:spPr>
          <a:xfrm>
            <a:off x="1005840" y="3246120"/>
            <a:ext cx="4389120" cy="1051560"/>
          </a:xfrm>
          <a:prstGeom prst="roundRect">
            <a:avLst>
              <a:gd name="adj" fmla="val 4348"/>
            </a:avLst>
          </a:prstGeom>
          <a:solidFill>
            <a:srgbClr val="FFFFFF"/>
          </a:solidFill>
          <a:ln w="15240">
            <a:solidFill>
              <a:srgbClr val="D4E0EA"/>
            </a:solidFill>
            <a:prstDash val="solid"/>
          </a:ln>
        </p:spPr>
      </p:sp>
      <p:sp>
        <p:nvSpPr>
          <p:cNvPr id="13" name="Shape 11"/>
          <p:cNvSpPr/>
          <p:nvPr/>
        </p:nvSpPr>
        <p:spPr>
          <a:xfrm>
            <a:off x="1005840" y="3246120"/>
            <a:ext cx="4389120" cy="347472"/>
          </a:xfrm>
          <a:prstGeom prst="rect">
            <a:avLst/>
          </a:prstGeom>
          <a:solidFill>
            <a:srgbClr val="6A2FD4"/>
          </a:solidFill>
          <a:ln w="12700">
            <a:solidFill>
              <a:srgbClr val="6A2FD4"/>
            </a:solidFill>
            <a:prstDash val="solid"/>
          </a:ln>
        </p:spPr>
      </p:sp>
      <p:sp>
        <p:nvSpPr>
          <p:cNvPr id="14" name="Text 12"/>
          <p:cNvSpPr/>
          <p:nvPr/>
        </p:nvSpPr>
        <p:spPr>
          <a:xfrm>
            <a:off x="1115568" y="3319272"/>
            <a:ext cx="4169664" cy="201168"/>
          </a:xfrm>
          <a:prstGeom prst="rect">
            <a:avLst/>
          </a:prstGeom>
          <a:noFill/>
          <a:ln/>
        </p:spPr>
        <p:txBody>
          <a:bodyPr wrap="square" lIns="0" tIns="0" rIns="0" bIns="0" rtlCol="0" anchor="ctr"/>
          <a:lstStyle/>
          <a:p>
            <a:pPr algn="ctr" indent="0" marL="0">
              <a:buNone/>
            </a:pPr>
            <a:r>
              <a:rPr lang="en-US" sz="1300" b="1" dirty="0">
                <a:solidFill>
                  <a:srgbClr val="FFFFFF"/>
                </a:solidFill>
              </a:rPr>
              <a:t>Vacuum rule</a:t>
            </a:r>
            <a:endParaRPr lang="en-US" sz="1300" dirty="0"/>
          </a:p>
        </p:txBody>
      </p:sp>
      <p:sp>
        <p:nvSpPr>
          <p:cNvPr id="15" name="Text 13"/>
          <p:cNvSpPr/>
          <p:nvPr/>
        </p:nvSpPr>
        <p:spPr>
          <a:xfrm>
            <a:off x="1170432" y="3721608"/>
            <a:ext cx="405993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if status = Dirty then Suck</a:t>
            </a:r>
            <a:endParaRPr lang="en-US" sz="1300" dirty="0"/>
          </a:p>
          <a:p>
            <a:pPr indent="0" marL="0">
              <a:buNone/>
            </a:pPr>
            <a:r>
              <a:rPr lang="en-US" sz="1300" dirty="0">
                <a:solidFill>
                  <a:srgbClr val="14213D"/>
                </a:solidFill>
              </a:rPr>
              <a:t>else if location = A then Right</a:t>
            </a:r>
            <a:endParaRPr lang="en-US" sz="1300" dirty="0"/>
          </a:p>
          <a:p>
            <a:pPr indent="0" marL="0">
              <a:buNone/>
            </a:pPr>
            <a:r>
              <a:rPr lang="en-US" sz="1300" dirty="0">
                <a:solidFill>
                  <a:srgbClr val="14213D"/>
                </a:solidFill>
              </a:rPr>
              <a:t>else if location = B then Left</a:t>
            </a:r>
            <a:endParaRPr lang="en-US" sz="1300" dirty="0"/>
          </a:p>
        </p:txBody>
      </p:sp>
      <p:sp>
        <p:nvSpPr>
          <p:cNvPr id="16" name="Shape 14"/>
          <p:cNvSpPr/>
          <p:nvPr/>
        </p:nvSpPr>
        <p:spPr>
          <a:xfrm>
            <a:off x="6080760" y="3246120"/>
            <a:ext cx="4480560" cy="1051560"/>
          </a:xfrm>
          <a:prstGeom prst="roundRect">
            <a:avLst>
              <a:gd name="adj" fmla="val 4348"/>
            </a:avLst>
          </a:prstGeom>
          <a:solidFill>
            <a:srgbClr val="FFFFFF"/>
          </a:solidFill>
          <a:ln w="15240">
            <a:solidFill>
              <a:srgbClr val="D4E0EA"/>
            </a:solidFill>
            <a:prstDash val="solid"/>
          </a:ln>
        </p:spPr>
      </p:sp>
      <p:sp>
        <p:nvSpPr>
          <p:cNvPr id="17" name="Shape 15"/>
          <p:cNvSpPr/>
          <p:nvPr/>
        </p:nvSpPr>
        <p:spPr>
          <a:xfrm>
            <a:off x="6080760" y="3246120"/>
            <a:ext cx="4480560" cy="347472"/>
          </a:xfrm>
          <a:prstGeom prst="rect">
            <a:avLst/>
          </a:prstGeom>
          <a:solidFill>
            <a:srgbClr val="A71D1D"/>
          </a:solidFill>
          <a:ln w="12700">
            <a:solidFill>
              <a:srgbClr val="A71D1D"/>
            </a:solidFill>
            <a:prstDash val="solid"/>
          </a:ln>
        </p:spPr>
      </p:sp>
      <p:sp>
        <p:nvSpPr>
          <p:cNvPr id="18" name="Text 16"/>
          <p:cNvSpPr/>
          <p:nvPr/>
        </p:nvSpPr>
        <p:spPr>
          <a:xfrm>
            <a:off x="6190488" y="3319272"/>
            <a:ext cx="4261104" cy="201168"/>
          </a:xfrm>
          <a:prstGeom prst="rect">
            <a:avLst/>
          </a:prstGeom>
          <a:noFill/>
          <a:ln/>
        </p:spPr>
        <p:txBody>
          <a:bodyPr wrap="square" lIns="0" tIns="0" rIns="0" bIns="0" rtlCol="0" anchor="ctr"/>
          <a:lstStyle/>
          <a:p>
            <a:pPr algn="ctr" indent="0" marL="0">
              <a:buNone/>
            </a:pPr>
            <a:r>
              <a:rPr lang="en-US" sz="1300" b="1" dirty="0">
                <a:solidFill>
                  <a:srgbClr val="FFFFFF"/>
                </a:solidFill>
              </a:rPr>
              <a:t>Driving rule</a:t>
            </a:r>
            <a:endParaRPr lang="en-US" sz="1300" dirty="0"/>
          </a:p>
        </p:txBody>
      </p:sp>
      <p:sp>
        <p:nvSpPr>
          <p:cNvPr id="19" name="Text 17"/>
          <p:cNvSpPr/>
          <p:nvPr/>
        </p:nvSpPr>
        <p:spPr>
          <a:xfrm>
            <a:off x="6245352" y="3721608"/>
            <a:ext cx="4151376" cy="48463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if car-in-front-is-braking then initiate-braking</a:t>
            </a:r>
            <a:endParaRPr lang="en-US" sz="1300" dirty="0"/>
          </a:p>
        </p:txBody>
      </p:sp>
      <p:sp>
        <p:nvSpPr>
          <p:cNvPr id="20" name="Text 18"/>
          <p:cNvSpPr/>
          <p:nvPr/>
        </p:nvSpPr>
        <p:spPr>
          <a:xfrm>
            <a:off x="868680" y="5166360"/>
            <a:ext cx="10469880" cy="347472"/>
          </a:xfrm>
          <a:prstGeom prst="rect">
            <a:avLst/>
          </a:prstGeom>
          <a:noFill/>
          <a:ln/>
        </p:spPr>
        <p:txBody>
          <a:bodyPr wrap="square" lIns="0" tIns="0" rIns="0" bIns="0" rtlCol="0" anchor="ctr"/>
          <a:lstStyle/>
          <a:p>
            <a:pPr algn="ctr" indent="0" marL="0">
              <a:buNone/>
            </a:pPr>
            <a:r>
              <a:rPr lang="en-US" sz="1700" b="1" dirty="0">
                <a:solidFill>
                  <a:srgbClr val="0B2D5B"/>
                </a:solidFill>
              </a:rPr>
              <a:t>Strength: fast and compact. Weakness: brittle when the current percept is incomplete.</a:t>
            </a:r>
            <a:endParaRPr lang="en-US" sz="1700" dirty="0"/>
          </a:p>
        </p:txBody>
      </p:sp>
      <p:sp>
        <p:nvSpPr>
          <p:cNvPr id="22" name="Text 19"/>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When Simple Reflex Fails: Partial Observability</a:t>
            </a:r>
            <a:endParaRPr lang="en-US" sz="2500" dirty="0"/>
          </a:p>
        </p:txBody>
      </p:sp>
      <p:sp>
        <p:nvSpPr>
          <p:cNvPr id="3" name="Shape 1"/>
          <p:cNvSpPr/>
          <p:nvPr/>
        </p:nvSpPr>
        <p:spPr>
          <a:xfrm>
            <a:off x="777240" y="1234440"/>
            <a:ext cx="3246120" cy="1325880"/>
          </a:xfrm>
          <a:prstGeom prst="roundRect">
            <a:avLst>
              <a:gd name="adj" fmla="val 3448"/>
            </a:avLst>
          </a:prstGeom>
          <a:solidFill>
            <a:srgbClr val="FFFFFF"/>
          </a:solidFill>
          <a:ln w="15240">
            <a:solidFill>
              <a:srgbClr val="D4E0EA"/>
            </a:solidFill>
            <a:prstDash val="solid"/>
          </a:ln>
        </p:spPr>
      </p:sp>
      <p:sp>
        <p:nvSpPr>
          <p:cNvPr id="4" name="Shape 2"/>
          <p:cNvSpPr/>
          <p:nvPr/>
        </p:nvSpPr>
        <p:spPr>
          <a:xfrm>
            <a:off x="777240" y="1234440"/>
            <a:ext cx="3246120" cy="347472"/>
          </a:xfrm>
          <a:prstGeom prst="rect">
            <a:avLst/>
          </a:prstGeom>
          <a:solidFill>
            <a:srgbClr val="A71D1D"/>
          </a:solidFill>
          <a:ln w="12700">
            <a:solidFill>
              <a:srgbClr val="A71D1D"/>
            </a:solidFill>
            <a:prstDash val="solid"/>
          </a:ln>
        </p:spPr>
      </p:sp>
      <p:sp>
        <p:nvSpPr>
          <p:cNvPr id="5" name="Text 3"/>
          <p:cNvSpPr/>
          <p:nvPr/>
        </p:nvSpPr>
        <p:spPr>
          <a:xfrm>
            <a:off x="886968" y="1307592"/>
            <a:ext cx="3026664" cy="201168"/>
          </a:xfrm>
          <a:prstGeom prst="rect">
            <a:avLst/>
          </a:prstGeom>
          <a:noFill/>
          <a:ln/>
        </p:spPr>
        <p:txBody>
          <a:bodyPr wrap="square" lIns="0" tIns="0" rIns="0" bIns="0" rtlCol="0" anchor="ctr"/>
          <a:lstStyle/>
          <a:p>
            <a:pPr algn="ctr" indent="0" marL="0">
              <a:buNone/>
            </a:pPr>
            <a:r>
              <a:rPr lang="en-US" sz="1300" b="1" dirty="0">
                <a:solidFill>
                  <a:srgbClr val="FFFFFF"/>
                </a:solidFill>
              </a:rPr>
              <a:t>Problem</a:t>
            </a:r>
            <a:endParaRPr lang="en-US" sz="1300" dirty="0"/>
          </a:p>
        </p:txBody>
      </p:sp>
      <p:sp>
        <p:nvSpPr>
          <p:cNvPr id="6" name="Text 4"/>
          <p:cNvSpPr/>
          <p:nvPr/>
        </p:nvSpPr>
        <p:spPr>
          <a:xfrm>
            <a:off x="941832" y="1709928"/>
            <a:ext cx="2916936" cy="7589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The current percept does not contain enough information to choose correctly.</a:t>
            </a:r>
            <a:endParaRPr lang="en-US" sz="1300" dirty="0"/>
          </a:p>
        </p:txBody>
      </p:sp>
      <p:sp>
        <p:nvSpPr>
          <p:cNvPr id="7" name="Shape 5"/>
          <p:cNvSpPr/>
          <p:nvPr/>
        </p:nvSpPr>
        <p:spPr>
          <a:xfrm>
            <a:off x="4480560" y="1234440"/>
            <a:ext cx="3246120" cy="1325880"/>
          </a:xfrm>
          <a:prstGeom prst="roundRect">
            <a:avLst>
              <a:gd name="adj" fmla="val 3448"/>
            </a:avLst>
          </a:prstGeom>
          <a:solidFill>
            <a:srgbClr val="FFFFFF"/>
          </a:solidFill>
          <a:ln w="15240">
            <a:solidFill>
              <a:srgbClr val="D4E0EA"/>
            </a:solidFill>
            <a:prstDash val="solid"/>
          </a:ln>
        </p:spPr>
      </p:sp>
      <p:sp>
        <p:nvSpPr>
          <p:cNvPr id="8" name="Shape 6"/>
          <p:cNvSpPr/>
          <p:nvPr/>
        </p:nvSpPr>
        <p:spPr>
          <a:xfrm>
            <a:off x="4480560" y="1234440"/>
            <a:ext cx="3246120" cy="347472"/>
          </a:xfrm>
          <a:prstGeom prst="rect">
            <a:avLst/>
          </a:prstGeom>
          <a:solidFill>
            <a:srgbClr val="6A2FD4"/>
          </a:solidFill>
          <a:ln w="12700">
            <a:solidFill>
              <a:srgbClr val="6A2FD4"/>
            </a:solidFill>
            <a:prstDash val="solid"/>
          </a:ln>
        </p:spPr>
      </p:sp>
      <p:sp>
        <p:nvSpPr>
          <p:cNvPr id="9" name="Text 7"/>
          <p:cNvSpPr/>
          <p:nvPr/>
        </p:nvSpPr>
        <p:spPr>
          <a:xfrm>
            <a:off x="4590288" y="1307592"/>
            <a:ext cx="3026664" cy="201168"/>
          </a:xfrm>
          <a:prstGeom prst="rect">
            <a:avLst/>
          </a:prstGeom>
          <a:noFill/>
          <a:ln/>
        </p:spPr>
        <p:txBody>
          <a:bodyPr wrap="square" lIns="0" tIns="0" rIns="0" bIns="0" rtlCol="0" anchor="ctr"/>
          <a:lstStyle/>
          <a:p>
            <a:pPr algn="ctr" indent="0" marL="0">
              <a:buNone/>
            </a:pPr>
            <a:r>
              <a:rPr lang="en-US" sz="1300" b="1" dirty="0">
                <a:solidFill>
                  <a:srgbClr val="FFFFFF"/>
                </a:solidFill>
              </a:rPr>
              <a:t>Example</a:t>
            </a:r>
            <a:endParaRPr lang="en-US" sz="1300" dirty="0"/>
          </a:p>
        </p:txBody>
      </p:sp>
      <p:sp>
        <p:nvSpPr>
          <p:cNvPr id="10" name="Text 8"/>
          <p:cNvSpPr/>
          <p:nvPr/>
        </p:nvSpPr>
        <p:spPr>
          <a:xfrm>
            <a:off x="4645152" y="1709928"/>
            <a:ext cx="2916936" cy="7589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Vacuum sees only Clean/Dirty but not location. Moving Left or Right can loop forever.</a:t>
            </a:r>
            <a:endParaRPr lang="en-US" sz="1300" dirty="0"/>
          </a:p>
        </p:txBody>
      </p:sp>
      <p:sp>
        <p:nvSpPr>
          <p:cNvPr id="11" name="Shape 9"/>
          <p:cNvSpPr/>
          <p:nvPr/>
        </p:nvSpPr>
        <p:spPr>
          <a:xfrm>
            <a:off x="8183880" y="1234440"/>
            <a:ext cx="3246120" cy="1325880"/>
          </a:xfrm>
          <a:prstGeom prst="roundRect">
            <a:avLst>
              <a:gd name="adj" fmla="val 3448"/>
            </a:avLst>
          </a:prstGeom>
          <a:solidFill>
            <a:srgbClr val="FFFFFF"/>
          </a:solidFill>
          <a:ln w="15240">
            <a:solidFill>
              <a:srgbClr val="D4E0EA"/>
            </a:solidFill>
            <a:prstDash val="solid"/>
          </a:ln>
        </p:spPr>
      </p:sp>
      <p:sp>
        <p:nvSpPr>
          <p:cNvPr id="12" name="Shape 10"/>
          <p:cNvSpPr/>
          <p:nvPr/>
        </p:nvSpPr>
        <p:spPr>
          <a:xfrm>
            <a:off x="8183880" y="1234440"/>
            <a:ext cx="3246120" cy="347472"/>
          </a:xfrm>
          <a:prstGeom prst="rect">
            <a:avLst/>
          </a:prstGeom>
          <a:solidFill>
            <a:srgbClr val="F5A623"/>
          </a:solidFill>
          <a:ln w="12700">
            <a:solidFill>
              <a:srgbClr val="F5A623"/>
            </a:solidFill>
            <a:prstDash val="solid"/>
          </a:ln>
        </p:spPr>
      </p:sp>
      <p:sp>
        <p:nvSpPr>
          <p:cNvPr id="13" name="Text 11"/>
          <p:cNvSpPr/>
          <p:nvPr/>
        </p:nvSpPr>
        <p:spPr>
          <a:xfrm>
            <a:off x="8293608" y="1307592"/>
            <a:ext cx="3026664" cy="201168"/>
          </a:xfrm>
          <a:prstGeom prst="rect">
            <a:avLst/>
          </a:prstGeom>
          <a:noFill/>
          <a:ln/>
        </p:spPr>
        <p:txBody>
          <a:bodyPr wrap="square" lIns="0" tIns="0" rIns="0" bIns="0" rtlCol="0" anchor="ctr"/>
          <a:lstStyle/>
          <a:p>
            <a:pPr algn="ctr" indent="0" marL="0">
              <a:buNone/>
            </a:pPr>
            <a:r>
              <a:rPr lang="en-US" sz="1300" b="1" dirty="0">
                <a:solidFill>
                  <a:srgbClr val="FFFFFF"/>
                </a:solidFill>
              </a:rPr>
              <a:t>Temporary fix</a:t>
            </a:r>
            <a:endParaRPr lang="en-US" sz="1300" dirty="0"/>
          </a:p>
        </p:txBody>
      </p:sp>
      <p:sp>
        <p:nvSpPr>
          <p:cNvPr id="14" name="Text 12"/>
          <p:cNvSpPr/>
          <p:nvPr/>
        </p:nvSpPr>
        <p:spPr>
          <a:xfrm>
            <a:off x="8348472" y="1709928"/>
            <a:ext cx="2916936" cy="7589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Randomization can sometimes escape loops, but it is not general intelligence.</a:t>
            </a:r>
            <a:endParaRPr lang="en-US" sz="1300" dirty="0"/>
          </a:p>
        </p:txBody>
      </p:sp>
      <p:sp>
        <p:nvSpPr>
          <p:cNvPr id="15" name="Text 13"/>
          <p:cNvSpPr/>
          <p:nvPr/>
        </p:nvSpPr>
        <p:spPr>
          <a:xfrm>
            <a:off x="868680" y="3337560"/>
            <a:ext cx="10424160" cy="347472"/>
          </a:xfrm>
          <a:prstGeom prst="rect">
            <a:avLst/>
          </a:prstGeom>
          <a:noFill/>
          <a:ln/>
        </p:spPr>
        <p:txBody>
          <a:bodyPr wrap="square" lIns="0" tIns="0" rIns="0" bIns="0" rtlCol="0" anchor="ctr"/>
          <a:lstStyle/>
          <a:p>
            <a:pPr algn="ctr" indent="0" marL="0">
              <a:buNone/>
            </a:pPr>
            <a:r>
              <a:rPr lang="en-US" sz="2200" b="1" dirty="0">
                <a:solidFill>
                  <a:srgbClr val="0B2D5B"/>
                </a:solidFill>
              </a:rPr>
              <a:t>Better solution: maintain internal state or use a model of the world.</a:t>
            </a:r>
            <a:endParaRPr lang="en-US" sz="2200" dirty="0"/>
          </a:p>
        </p:txBody>
      </p:sp>
      <p:sp>
        <p:nvSpPr>
          <p:cNvPr id="16" name="Shape 14"/>
          <p:cNvSpPr/>
          <p:nvPr/>
        </p:nvSpPr>
        <p:spPr>
          <a:xfrm>
            <a:off x="2011680" y="4160520"/>
            <a:ext cx="1828800" cy="0"/>
          </a:xfrm>
          <a:prstGeom prst="line">
            <a:avLst/>
          </a:prstGeom>
          <a:noFill/>
          <a:ln w="25400">
            <a:solidFill>
              <a:srgbClr val="5B6770"/>
            </a:solidFill>
            <a:prstDash val="solid"/>
            <a:headEnd type="none"/>
            <a:tailEnd type="triangle"/>
          </a:ln>
        </p:spPr>
      </p:sp>
      <p:sp>
        <p:nvSpPr>
          <p:cNvPr id="17" name="Shape 15"/>
          <p:cNvSpPr/>
          <p:nvPr/>
        </p:nvSpPr>
        <p:spPr>
          <a:xfrm>
            <a:off x="1005840" y="3913632"/>
            <a:ext cx="914400" cy="475488"/>
          </a:xfrm>
          <a:prstGeom prst="roundRect">
            <a:avLst>
              <a:gd name="adj" fmla="val 15385"/>
            </a:avLst>
          </a:prstGeom>
          <a:solidFill>
            <a:srgbClr val="FFFFFF"/>
          </a:solidFill>
          <a:ln w="15240">
            <a:solidFill>
              <a:srgbClr val="CDD9E2"/>
            </a:solidFill>
            <a:prstDash val="solid"/>
          </a:ln>
        </p:spPr>
      </p:sp>
      <p:sp>
        <p:nvSpPr>
          <p:cNvPr id="18" name="Text 16"/>
          <p:cNvSpPr/>
          <p:nvPr/>
        </p:nvSpPr>
        <p:spPr>
          <a:xfrm>
            <a:off x="1115568" y="4005072"/>
            <a:ext cx="694944" cy="292608"/>
          </a:xfrm>
          <a:prstGeom prst="rect">
            <a:avLst/>
          </a:prstGeom>
          <a:noFill/>
          <a:ln/>
        </p:spPr>
        <p:txBody>
          <a:bodyPr wrap="square" lIns="254" tIns="254" rIns="254" bIns="254" rtlCol="0" anchor="ctr">
            <a:normAutofit/>
          </a:bodyPr>
          <a:lstStyle/>
          <a:p>
            <a:pPr algn="ctr" indent="0" marL="0">
              <a:buNone/>
            </a:pPr>
            <a:r>
              <a:rPr lang="en-US" sz="1200" dirty="0">
                <a:solidFill>
                  <a:srgbClr val="14213D"/>
                </a:solidFill>
              </a:rPr>
              <a:t>percept</a:t>
            </a:r>
            <a:endParaRPr lang="en-US" sz="1200" dirty="0"/>
          </a:p>
        </p:txBody>
      </p:sp>
      <p:sp>
        <p:nvSpPr>
          <p:cNvPr id="19" name="Shape 17"/>
          <p:cNvSpPr/>
          <p:nvPr/>
        </p:nvSpPr>
        <p:spPr>
          <a:xfrm>
            <a:off x="3977640" y="3913632"/>
            <a:ext cx="1234440" cy="475488"/>
          </a:xfrm>
          <a:prstGeom prst="roundRect">
            <a:avLst>
              <a:gd name="adj" fmla="val 15385"/>
            </a:avLst>
          </a:prstGeom>
          <a:solidFill>
            <a:srgbClr val="FFFFFF"/>
          </a:solidFill>
          <a:ln w="15240">
            <a:solidFill>
              <a:srgbClr val="CDD9E2"/>
            </a:solidFill>
            <a:prstDash val="solid"/>
          </a:ln>
        </p:spPr>
      </p:sp>
      <p:sp>
        <p:nvSpPr>
          <p:cNvPr id="20" name="Text 18"/>
          <p:cNvSpPr/>
          <p:nvPr/>
        </p:nvSpPr>
        <p:spPr>
          <a:xfrm>
            <a:off x="4087368" y="4005072"/>
            <a:ext cx="1014984" cy="292608"/>
          </a:xfrm>
          <a:prstGeom prst="rect">
            <a:avLst/>
          </a:prstGeom>
          <a:noFill/>
          <a:ln/>
        </p:spPr>
        <p:txBody>
          <a:bodyPr wrap="square" lIns="254" tIns="254" rIns="254" bIns="254" rtlCol="0" anchor="ctr">
            <a:normAutofit/>
          </a:bodyPr>
          <a:lstStyle/>
          <a:p>
            <a:pPr algn="ctr" indent="0" marL="0">
              <a:buNone/>
            </a:pPr>
            <a:r>
              <a:rPr lang="en-US" sz="1200" dirty="0">
                <a:solidFill>
                  <a:srgbClr val="14213D"/>
                </a:solidFill>
              </a:rPr>
              <a:t>memory</a:t>
            </a:r>
            <a:endParaRPr lang="en-US" sz="1200" dirty="0"/>
          </a:p>
        </p:txBody>
      </p:sp>
      <p:sp>
        <p:nvSpPr>
          <p:cNvPr id="21" name="Shape 19"/>
          <p:cNvSpPr/>
          <p:nvPr/>
        </p:nvSpPr>
        <p:spPr>
          <a:xfrm>
            <a:off x="5257800" y="4160520"/>
            <a:ext cx="1600200" cy="0"/>
          </a:xfrm>
          <a:prstGeom prst="line">
            <a:avLst/>
          </a:prstGeom>
          <a:noFill/>
          <a:ln w="25400">
            <a:solidFill>
              <a:srgbClr val="5B6770"/>
            </a:solidFill>
            <a:prstDash val="solid"/>
            <a:headEnd type="none"/>
            <a:tailEnd type="triangle"/>
          </a:ln>
        </p:spPr>
      </p:sp>
      <p:sp>
        <p:nvSpPr>
          <p:cNvPr id="22" name="Shape 20"/>
          <p:cNvSpPr/>
          <p:nvPr/>
        </p:nvSpPr>
        <p:spPr>
          <a:xfrm>
            <a:off x="6949440" y="3913632"/>
            <a:ext cx="1188720" cy="475488"/>
          </a:xfrm>
          <a:prstGeom prst="roundRect">
            <a:avLst>
              <a:gd name="adj" fmla="val 15385"/>
            </a:avLst>
          </a:prstGeom>
          <a:solidFill>
            <a:srgbClr val="FFFFFF"/>
          </a:solidFill>
          <a:ln w="15240">
            <a:solidFill>
              <a:srgbClr val="CDD9E2"/>
            </a:solidFill>
            <a:prstDash val="solid"/>
          </a:ln>
        </p:spPr>
      </p:sp>
      <p:sp>
        <p:nvSpPr>
          <p:cNvPr id="23" name="Text 21"/>
          <p:cNvSpPr/>
          <p:nvPr/>
        </p:nvSpPr>
        <p:spPr>
          <a:xfrm>
            <a:off x="7059168" y="4005072"/>
            <a:ext cx="969264" cy="292608"/>
          </a:xfrm>
          <a:prstGeom prst="rect">
            <a:avLst/>
          </a:prstGeom>
          <a:noFill/>
          <a:ln/>
        </p:spPr>
        <p:txBody>
          <a:bodyPr wrap="square" lIns="254" tIns="254" rIns="254" bIns="254" rtlCol="0" anchor="ctr">
            <a:normAutofit/>
          </a:bodyPr>
          <a:lstStyle/>
          <a:p>
            <a:pPr algn="ctr" indent="0" marL="0">
              <a:buNone/>
            </a:pPr>
            <a:r>
              <a:rPr lang="en-US" sz="1200" dirty="0">
                <a:solidFill>
                  <a:srgbClr val="14213D"/>
                </a:solidFill>
              </a:rPr>
              <a:t>model</a:t>
            </a:r>
            <a:endParaRPr lang="en-US" sz="1200" dirty="0"/>
          </a:p>
        </p:txBody>
      </p:sp>
      <p:sp>
        <p:nvSpPr>
          <p:cNvPr id="24" name="Shape 22"/>
          <p:cNvSpPr/>
          <p:nvPr/>
        </p:nvSpPr>
        <p:spPr>
          <a:xfrm>
            <a:off x="8183880" y="4160520"/>
            <a:ext cx="1417320" cy="0"/>
          </a:xfrm>
          <a:prstGeom prst="line">
            <a:avLst/>
          </a:prstGeom>
          <a:noFill/>
          <a:ln w="25400">
            <a:solidFill>
              <a:srgbClr val="5B6770"/>
            </a:solidFill>
            <a:prstDash val="solid"/>
            <a:headEnd type="none"/>
            <a:tailEnd type="triangle"/>
          </a:ln>
        </p:spPr>
      </p:sp>
      <p:sp>
        <p:nvSpPr>
          <p:cNvPr id="25" name="Shape 23"/>
          <p:cNvSpPr/>
          <p:nvPr/>
        </p:nvSpPr>
        <p:spPr>
          <a:xfrm>
            <a:off x="9692640" y="3913632"/>
            <a:ext cx="960120" cy="475488"/>
          </a:xfrm>
          <a:prstGeom prst="roundRect">
            <a:avLst>
              <a:gd name="adj" fmla="val 15385"/>
            </a:avLst>
          </a:prstGeom>
          <a:solidFill>
            <a:srgbClr val="FFFFFF"/>
          </a:solidFill>
          <a:ln w="15240">
            <a:solidFill>
              <a:srgbClr val="CDD9E2"/>
            </a:solidFill>
            <a:prstDash val="solid"/>
          </a:ln>
        </p:spPr>
      </p:sp>
      <p:sp>
        <p:nvSpPr>
          <p:cNvPr id="26" name="Text 24"/>
          <p:cNvSpPr/>
          <p:nvPr/>
        </p:nvSpPr>
        <p:spPr>
          <a:xfrm>
            <a:off x="9802368" y="4005072"/>
            <a:ext cx="740664" cy="292608"/>
          </a:xfrm>
          <a:prstGeom prst="rect">
            <a:avLst/>
          </a:prstGeom>
          <a:noFill/>
          <a:ln/>
        </p:spPr>
        <p:txBody>
          <a:bodyPr wrap="square" lIns="254" tIns="254" rIns="254" bIns="254" rtlCol="0" anchor="ctr">
            <a:normAutofit/>
          </a:bodyPr>
          <a:lstStyle/>
          <a:p>
            <a:pPr algn="ctr" indent="0" marL="0">
              <a:buNone/>
            </a:pPr>
            <a:r>
              <a:rPr lang="en-US" sz="1200" dirty="0">
                <a:solidFill>
                  <a:srgbClr val="14213D"/>
                </a:solidFill>
              </a:rPr>
              <a:t>action</a:t>
            </a:r>
            <a:endParaRPr lang="en-US" sz="1200" dirty="0"/>
          </a:p>
        </p:txBody>
      </p:sp>
      <p:sp>
        <p:nvSpPr>
          <p:cNvPr id="28" name="Text 25"/>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2.4.3 Model-Based Reflex Agents</a:t>
            </a:r>
            <a:endParaRPr lang="en-US" sz="2500" dirty="0"/>
          </a:p>
        </p:txBody>
      </p:sp>
      <p:sp>
        <p:nvSpPr>
          <p:cNvPr id="3" name="Text 1"/>
          <p:cNvSpPr/>
          <p:nvPr/>
        </p:nvSpPr>
        <p:spPr>
          <a:xfrm>
            <a:off x="777240" y="987552"/>
            <a:ext cx="10607040" cy="347472"/>
          </a:xfrm>
          <a:prstGeom prst="rect">
            <a:avLst/>
          </a:prstGeom>
          <a:noFill/>
          <a:ln/>
        </p:spPr>
        <p:txBody>
          <a:bodyPr wrap="square" lIns="0" tIns="0" rIns="0" bIns="0" rtlCol="0" anchor="ctr"/>
          <a:lstStyle/>
          <a:p>
            <a:pPr algn="ctr" indent="0" marL="0">
              <a:buNone/>
            </a:pPr>
            <a:r>
              <a:rPr lang="en-US" sz="2000" b="1" dirty="0">
                <a:solidFill>
                  <a:srgbClr val="0B2D5B"/>
                </a:solidFill>
              </a:rPr>
              <a:t>Maintain an internal state: a best guess about what the world is like now.</a:t>
            </a:r>
            <a:endParaRPr lang="en-US" sz="2000" dirty="0"/>
          </a:p>
        </p:txBody>
      </p:sp>
      <p:sp>
        <p:nvSpPr>
          <p:cNvPr id="4" name="Shape 2"/>
          <p:cNvSpPr/>
          <p:nvPr/>
        </p:nvSpPr>
        <p:spPr>
          <a:xfrm>
            <a:off x="960120" y="1874520"/>
            <a:ext cx="1828800" cy="658368"/>
          </a:xfrm>
          <a:prstGeom prst="roundRect">
            <a:avLst>
              <a:gd name="adj" fmla="val 11111"/>
            </a:avLst>
          </a:prstGeom>
          <a:solidFill>
            <a:srgbClr val="1E73BE"/>
          </a:solidFill>
          <a:ln w="15240">
            <a:solidFill>
              <a:srgbClr val="1E73BE"/>
            </a:solidFill>
            <a:prstDash val="solid"/>
          </a:ln>
        </p:spPr>
      </p:sp>
      <p:sp>
        <p:nvSpPr>
          <p:cNvPr id="5" name="Text 3"/>
          <p:cNvSpPr/>
          <p:nvPr/>
        </p:nvSpPr>
        <p:spPr>
          <a:xfrm>
            <a:off x="1069848" y="1965960"/>
            <a:ext cx="1609344" cy="475488"/>
          </a:xfrm>
          <a:prstGeom prst="rect">
            <a:avLst/>
          </a:prstGeom>
          <a:noFill/>
          <a:ln/>
        </p:spPr>
        <p:txBody>
          <a:bodyPr wrap="square" lIns="254" tIns="254" rIns="254" bIns="254" rtlCol="0" anchor="ctr">
            <a:normAutofit/>
          </a:bodyPr>
          <a:lstStyle/>
          <a:p>
            <a:pPr algn="ctr" indent="0" marL="0">
              <a:buNone/>
            </a:pPr>
            <a:r>
              <a:rPr lang="en-US" sz="1500" b="1" dirty="0">
                <a:solidFill>
                  <a:srgbClr val="FFFFFF"/>
                </a:solidFill>
              </a:rPr>
              <a:t>Percept</a:t>
            </a:r>
            <a:endParaRPr lang="en-US" sz="1500" dirty="0"/>
          </a:p>
        </p:txBody>
      </p:sp>
      <p:sp>
        <p:nvSpPr>
          <p:cNvPr id="6" name="Shape 4"/>
          <p:cNvSpPr/>
          <p:nvPr/>
        </p:nvSpPr>
        <p:spPr>
          <a:xfrm>
            <a:off x="2816352" y="2203704"/>
            <a:ext cx="1024128" cy="0"/>
          </a:xfrm>
          <a:prstGeom prst="line">
            <a:avLst/>
          </a:prstGeom>
          <a:noFill/>
          <a:ln w="25400">
            <a:solidFill>
              <a:srgbClr val="5B6770"/>
            </a:solidFill>
            <a:prstDash val="solid"/>
            <a:headEnd type="none"/>
            <a:tailEnd type="triangle"/>
          </a:ln>
        </p:spPr>
      </p:sp>
      <p:sp>
        <p:nvSpPr>
          <p:cNvPr id="7" name="Shape 5"/>
          <p:cNvSpPr/>
          <p:nvPr/>
        </p:nvSpPr>
        <p:spPr>
          <a:xfrm>
            <a:off x="3931920" y="1417320"/>
            <a:ext cx="2560320" cy="1554480"/>
          </a:xfrm>
          <a:prstGeom prst="roundRect">
            <a:avLst>
              <a:gd name="adj" fmla="val 4706"/>
            </a:avLst>
          </a:prstGeom>
          <a:solidFill>
            <a:srgbClr val="D9EAF7"/>
          </a:solidFill>
          <a:ln w="15240">
            <a:solidFill>
              <a:srgbClr val="6C8CAF"/>
            </a:solidFill>
            <a:prstDash val="solid"/>
          </a:ln>
        </p:spPr>
      </p:sp>
      <p:sp>
        <p:nvSpPr>
          <p:cNvPr id="8" name="Text 6"/>
          <p:cNvSpPr/>
          <p:nvPr/>
        </p:nvSpPr>
        <p:spPr>
          <a:xfrm>
            <a:off x="4114800" y="1627632"/>
            <a:ext cx="2194560" cy="228600"/>
          </a:xfrm>
          <a:prstGeom prst="rect">
            <a:avLst/>
          </a:prstGeom>
          <a:noFill/>
          <a:ln/>
        </p:spPr>
        <p:txBody>
          <a:bodyPr wrap="square" lIns="0" tIns="0" rIns="0" bIns="0" rtlCol="0" anchor="ctr"/>
          <a:lstStyle/>
          <a:p>
            <a:pPr algn="ctr" indent="0" marL="0">
              <a:buNone/>
            </a:pPr>
            <a:r>
              <a:rPr lang="en-US" sz="1700" b="1" dirty="0">
                <a:solidFill>
                  <a:srgbClr val="0B2D5B"/>
                </a:solidFill>
              </a:rPr>
              <a:t>Update state</a:t>
            </a:r>
            <a:endParaRPr lang="en-US" sz="1700" dirty="0"/>
          </a:p>
        </p:txBody>
      </p:sp>
      <p:sp>
        <p:nvSpPr>
          <p:cNvPr id="9" name="Text 7"/>
          <p:cNvSpPr/>
          <p:nvPr/>
        </p:nvSpPr>
        <p:spPr>
          <a:xfrm>
            <a:off x="4160520" y="2029968"/>
            <a:ext cx="2103120" cy="640080"/>
          </a:xfrm>
          <a:prstGeom prst="rect">
            <a:avLst/>
          </a:prstGeom>
          <a:noFill/>
          <a:ln/>
        </p:spPr>
        <p:txBody>
          <a:bodyPr wrap="square" lIns="0" tIns="0" rIns="0" bIns="0" rtlCol="0" anchor="ctr">
            <a:normAutofit/>
          </a:bodyPr>
          <a:lstStyle/>
          <a:p>
            <a:pPr algn="ctr" indent="0" marL="0">
              <a:buNone/>
            </a:pPr>
            <a:r>
              <a:rPr lang="en-US" sz="1300" dirty="0">
                <a:solidFill>
                  <a:srgbClr val="14213D"/>
                </a:solidFill>
              </a:rPr>
              <a:t>transition model</a:t>
            </a:r>
            <a:endParaRPr lang="en-US" sz="1300" dirty="0"/>
          </a:p>
          <a:p>
            <a:pPr algn="ctr" indent="0" marL="0">
              <a:buNone/>
            </a:pPr>
            <a:r>
              <a:rPr lang="en-US" sz="1300" dirty="0">
                <a:solidFill>
                  <a:srgbClr val="14213D"/>
                </a:solidFill>
              </a:rPr>
              <a:t>sensor model</a:t>
            </a:r>
            <a:endParaRPr lang="en-US" sz="1300" dirty="0"/>
          </a:p>
          <a:p>
            <a:pPr algn="ctr" indent="0" marL="0">
              <a:buNone/>
            </a:pPr>
            <a:r>
              <a:rPr lang="en-US" sz="1300" dirty="0">
                <a:solidFill>
                  <a:srgbClr val="14213D"/>
                </a:solidFill>
              </a:rPr>
              <a:t>previous state</a:t>
            </a:r>
            <a:endParaRPr lang="en-US" sz="1300" dirty="0"/>
          </a:p>
        </p:txBody>
      </p:sp>
      <p:sp>
        <p:nvSpPr>
          <p:cNvPr id="10" name="Shape 8"/>
          <p:cNvSpPr/>
          <p:nvPr/>
        </p:nvSpPr>
        <p:spPr>
          <a:xfrm>
            <a:off x="6510528" y="2203704"/>
            <a:ext cx="987552" cy="0"/>
          </a:xfrm>
          <a:prstGeom prst="line">
            <a:avLst/>
          </a:prstGeom>
          <a:noFill/>
          <a:ln w="25400">
            <a:solidFill>
              <a:srgbClr val="5B6770"/>
            </a:solidFill>
            <a:prstDash val="solid"/>
            <a:headEnd type="none"/>
            <a:tailEnd type="triangle"/>
          </a:ln>
        </p:spPr>
      </p:sp>
      <p:sp>
        <p:nvSpPr>
          <p:cNvPr id="11" name="Shape 9"/>
          <p:cNvSpPr/>
          <p:nvPr/>
        </p:nvSpPr>
        <p:spPr>
          <a:xfrm>
            <a:off x="7589520" y="1874520"/>
            <a:ext cx="1828800" cy="658368"/>
          </a:xfrm>
          <a:prstGeom prst="roundRect">
            <a:avLst>
              <a:gd name="adj" fmla="val 11111"/>
            </a:avLst>
          </a:prstGeom>
          <a:solidFill>
            <a:srgbClr val="1E7A3B"/>
          </a:solidFill>
          <a:ln w="15240">
            <a:solidFill>
              <a:srgbClr val="1E7A3B"/>
            </a:solidFill>
            <a:prstDash val="solid"/>
          </a:ln>
        </p:spPr>
      </p:sp>
      <p:sp>
        <p:nvSpPr>
          <p:cNvPr id="12" name="Text 10"/>
          <p:cNvSpPr/>
          <p:nvPr/>
        </p:nvSpPr>
        <p:spPr>
          <a:xfrm>
            <a:off x="7699248" y="1965960"/>
            <a:ext cx="1609344" cy="475488"/>
          </a:xfrm>
          <a:prstGeom prst="rect">
            <a:avLst/>
          </a:prstGeom>
          <a:noFill/>
          <a:ln/>
        </p:spPr>
        <p:txBody>
          <a:bodyPr wrap="square" lIns="254" tIns="254" rIns="254" bIns="254" rtlCol="0" anchor="ctr">
            <a:normAutofit/>
          </a:bodyPr>
          <a:lstStyle/>
          <a:p>
            <a:pPr algn="ctr" indent="0" marL="0">
              <a:buNone/>
            </a:pPr>
            <a:r>
              <a:rPr lang="en-US" sz="1500" b="1" dirty="0">
                <a:solidFill>
                  <a:srgbClr val="FFFFFF"/>
                </a:solidFill>
              </a:rPr>
              <a:t>Rule/action</a:t>
            </a:r>
            <a:endParaRPr lang="en-US" sz="1500" dirty="0"/>
          </a:p>
        </p:txBody>
      </p:sp>
      <p:sp>
        <p:nvSpPr>
          <p:cNvPr id="13" name="Shape 11"/>
          <p:cNvSpPr/>
          <p:nvPr/>
        </p:nvSpPr>
        <p:spPr>
          <a:xfrm>
            <a:off x="9436608" y="2203704"/>
            <a:ext cx="896112" cy="0"/>
          </a:xfrm>
          <a:prstGeom prst="line">
            <a:avLst/>
          </a:prstGeom>
          <a:noFill/>
          <a:ln w="25400">
            <a:solidFill>
              <a:srgbClr val="5B6770"/>
            </a:solidFill>
            <a:prstDash val="solid"/>
            <a:headEnd type="none"/>
            <a:tailEnd type="triangle"/>
          </a:ln>
        </p:spPr>
      </p:sp>
      <p:sp>
        <p:nvSpPr>
          <p:cNvPr id="14" name="Shape 12"/>
          <p:cNvSpPr/>
          <p:nvPr/>
        </p:nvSpPr>
        <p:spPr>
          <a:xfrm>
            <a:off x="10378440" y="1874520"/>
            <a:ext cx="1005840" cy="658368"/>
          </a:xfrm>
          <a:prstGeom prst="roundRect">
            <a:avLst>
              <a:gd name="adj" fmla="val 11111"/>
            </a:avLst>
          </a:prstGeom>
          <a:solidFill>
            <a:srgbClr val="F5A623"/>
          </a:solidFill>
          <a:ln w="15240">
            <a:solidFill>
              <a:srgbClr val="F5A623"/>
            </a:solidFill>
            <a:prstDash val="solid"/>
          </a:ln>
        </p:spPr>
      </p:sp>
      <p:sp>
        <p:nvSpPr>
          <p:cNvPr id="15" name="Text 13"/>
          <p:cNvSpPr/>
          <p:nvPr/>
        </p:nvSpPr>
        <p:spPr>
          <a:xfrm>
            <a:off x="10488168" y="1965960"/>
            <a:ext cx="786384" cy="475488"/>
          </a:xfrm>
          <a:prstGeom prst="rect">
            <a:avLst/>
          </a:prstGeom>
          <a:noFill/>
          <a:ln/>
        </p:spPr>
        <p:txBody>
          <a:bodyPr wrap="square" lIns="254" tIns="254" rIns="254" bIns="254" rtlCol="0" anchor="ctr">
            <a:normAutofit/>
          </a:bodyPr>
          <a:lstStyle/>
          <a:p>
            <a:pPr algn="ctr" indent="0" marL="0">
              <a:buNone/>
            </a:pPr>
            <a:r>
              <a:rPr lang="en-US" sz="1500" b="1" dirty="0">
                <a:solidFill>
                  <a:srgbClr val="14213D"/>
                </a:solidFill>
              </a:rPr>
              <a:t>Act</a:t>
            </a:r>
            <a:endParaRPr lang="en-US" sz="1500" dirty="0"/>
          </a:p>
        </p:txBody>
      </p:sp>
      <p:sp>
        <p:nvSpPr>
          <p:cNvPr id="16" name="Shape 14"/>
          <p:cNvSpPr/>
          <p:nvPr/>
        </p:nvSpPr>
        <p:spPr>
          <a:xfrm>
            <a:off x="914400" y="3749040"/>
            <a:ext cx="4846320" cy="960120"/>
          </a:xfrm>
          <a:prstGeom prst="roundRect">
            <a:avLst>
              <a:gd name="adj" fmla="val 4762"/>
            </a:avLst>
          </a:prstGeom>
          <a:solidFill>
            <a:srgbClr val="FFFFFF"/>
          </a:solidFill>
          <a:ln w="15240">
            <a:solidFill>
              <a:srgbClr val="D4E0EA"/>
            </a:solidFill>
            <a:prstDash val="solid"/>
          </a:ln>
        </p:spPr>
      </p:sp>
      <p:sp>
        <p:nvSpPr>
          <p:cNvPr id="17" name="Shape 15"/>
          <p:cNvSpPr/>
          <p:nvPr/>
        </p:nvSpPr>
        <p:spPr>
          <a:xfrm>
            <a:off x="914400" y="3749040"/>
            <a:ext cx="4846320" cy="347472"/>
          </a:xfrm>
          <a:prstGeom prst="rect">
            <a:avLst/>
          </a:prstGeom>
          <a:solidFill>
            <a:srgbClr val="6A2FD4"/>
          </a:solidFill>
          <a:ln w="12700">
            <a:solidFill>
              <a:srgbClr val="6A2FD4"/>
            </a:solidFill>
            <a:prstDash val="solid"/>
          </a:ln>
        </p:spPr>
      </p:sp>
      <p:sp>
        <p:nvSpPr>
          <p:cNvPr id="18" name="Text 16"/>
          <p:cNvSpPr/>
          <p:nvPr/>
        </p:nvSpPr>
        <p:spPr>
          <a:xfrm>
            <a:off x="1024128" y="3822192"/>
            <a:ext cx="4626864" cy="201168"/>
          </a:xfrm>
          <a:prstGeom prst="rect">
            <a:avLst/>
          </a:prstGeom>
          <a:noFill/>
          <a:ln/>
        </p:spPr>
        <p:txBody>
          <a:bodyPr wrap="square" lIns="0" tIns="0" rIns="0" bIns="0" rtlCol="0" anchor="ctr"/>
          <a:lstStyle/>
          <a:p>
            <a:pPr algn="ctr" indent="0" marL="0">
              <a:buNone/>
            </a:pPr>
            <a:r>
              <a:rPr lang="en-US" sz="1300" b="1" dirty="0">
                <a:solidFill>
                  <a:srgbClr val="FFFFFF"/>
                </a:solidFill>
              </a:rPr>
              <a:t>Transition model</a:t>
            </a:r>
            <a:endParaRPr lang="en-US" sz="1300" dirty="0"/>
          </a:p>
        </p:txBody>
      </p:sp>
      <p:sp>
        <p:nvSpPr>
          <p:cNvPr id="19" name="Text 17"/>
          <p:cNvSpPr/>
          <p:nvPr/>
        </p:nvSpPr>
        <p:spPr>
          <a:xfrm>
            <a:off x="1078992" y="4224528"/>
            <a:ext cx="4517136" cy="39319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How the world changes over time and how actions affect it.</a:t>
            </a:r>
            <a:endParaRPr lang="en-US" sz="1300" dirty="0"/>
          </a:p>
        </p:txBody>
      </p:sp>
      <p:sp>
        <p:nvSpPr>
          <p:cNvPr id="20" name="Shape 18"/>
          <p:cNvSpPr/>
          <p:nvPr/>
        </p:nvSpPr>
        <p:spPr>
          <a:xfrm>
            <a:off x="6400800" y="3749040"/>
            <a:ext cx="4846320" cy="960120"/>
          </a:xfrm>
          <a:prstGeom prst="roundRect">
            <a:avLst>
              <a:gd name="adj" fmla="val 4762"/>
            </a:avLst>
          </a:prstGeom>
          <a:solidFill>
            <a:srgbClr val="FFFFFF"/>
          </a:solidFill>
          <a:ln w="15240">
            <a:solidFill>
              <a:srgbClr val="D4E0EA"/>
            </a:solidFill>
            <a:prstDash val="solid"/>
          </a:ln>
        </p:spPr>
      </p:sp>
      <p:sp>
        <p:nvSpPr>
          <p:cNvPr id="21" name="Shape 19"/>
          <p:cNvSpPr/>
          <p:nvPr/>
        </p:nvSpPr>
        <p:spPr>
          <a:xfrm>
            <a:off x="6400800" y="3749040"/>
            <a:ext cx="4846320" cy="347472"/>
          </a:xfrm>
          <a:prstGeom prst="rect">
            <a:avLst/>
          </a:prstGeom>
          <a:solidFill>
            <a:srgbClr val="A71D1D"/>
          </a:solidFill>
          <a:ln w="12700">
            <a:solidFill>
              <a:srgbClr val="A71D1D"/>
            </a:solidFill>
            <a:prstDash val="solid"/>
          </a:ln>
        </p:spPr>
      </p:sp>
      <p:sp>
        <p:nvSpPr>
          <p:cNvPr id="22" name="Text 20"/>
          <p:cNvSpPr/>
          <p:nvPr/>
        </p:nvSpPr>
        <p:spPr>
          <a:xfrm>
            <a:off x="6510528" y="3822192"/>
            <a:ext cx="4626864" cy="201168"/>
          </a:xfrm>
          <a:prstGeom prst="rect">
            <a:avLst/>
          </a:prstGeom>
          <a:noFill/>
          <a:ln/>
        </p:spPr>
        <p:txBody>
          <a:bodyPr wrap="square" lIns="0" tIns="0" rIns="0" bIns="0" rtlCol="0" anchor="ctr"/>
          <a:lstStyle/>
          <a:p>
            <a:pPr algn="ctr" indent="0" marL="0">
              <a:buNone/>
            </a:pPr>
            <a:r>
              <a:rPr lang="en-US" sz="1300" b="1" dirty="0">
                <a:solidFill>
                  <a:srgbClr val="FFFFFF"/>
                </a:solidFill>
              </a:rPr>
              <a:t>Sensor model</a:t>
            </a:r>
            <a:endParaRPr lang="en-US" sz="1300" dirty="0"/>
          </a:p>
        </p:txBody>
      </p:sp>
      <p:sp>
        <p:nvSpPr>
          <p:cNvPr id="23" name="Text 21"/>
          <p:cNvSpPr/>
          <p:nvPr/>
        </p:nvSpPr>
        <p:spPr>
          <a:xfrm>
            <a:off x="6565392" y="4224528"/>
            <a:ext cx="4517136" cy="39319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How world states generate percepts.</a:t>
            </a:r>
            <a:endParaRPr lang="en-US" sz="1300" dirty="0"/>
          </a:p>
        </p:txBody>
      </p:sp>
      <p:sp>
        <p:nvSpPr>
          <p:cNvPr id="25" name="Text 22"/>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2.4.4 Goal-Based Agents</a:t>
            </a:r>
            <a:endParaRPr lang="en-US" sz="2500" dirty="0"/>
          </a:p>
        </p:txBody>
      </p:sp>
      <p:sp>
        <p:nvSpPr>
          <p:cNvPr id="3" name="Text 1"/>
          <p:cNvSpPr/>
          <p:nvPr/>
        </p:nvSpPr>
        <p:spPr>
          <a:xfrm>
            <a:off x="777240" y="1005840"/>
            <a:ext cx="10607040" cy="329184"/>
          </a:xfrm>
          <a:prstGeom prst="rect">
            <a:avLst/>
          </a:prstGeom>
          <a:noFill/>
          <a:ln/>
        </p:spPr>
        <p:txBody>
          <a:bodyPr wrap="square" lIns="0" tIns="0" rIns="0" bIns="0" rtlCol="0" anchor="ctr"/>
          <a:lstStyle/>
          <a:p>
            <a:pPr algn="ctr" indent="0" marL="0">
              <a:buNone/>
            </a:pPr>
            <a:r>
              <a:rPr lang="en-US" sz="2100" b="1" dirty="0">
                <a:solidFill>
                  <a:srgbClr val="0B2D5B"/>
                </a:solidFill>
              </a:rPr>
              <a:t>A current state is not enough; the agent also needs a goal.</a:t>
            </a:r>
            <a:endParaRPr lang="en-US" sz="2100" dirty="0"/>
          </a:p>
        </p:txBody>
      </p:sp>
      <p:sp>
        <p:nvSpPr>
          <p:cNvPr id="4" name="Shape 2"/>
          <p:cNvSpPr/>
          <p:nvPr/>
        </p:nvSpPr>
        <p:spPr>
          <a:xfrm>
            <a:off x="868680" y="1828800"/>
            <a:ext cx="2057400" cy="685800"/>
          </a:xfrm>
          <a:prstGeom prst="roundRect">
            <a:avLst>
              <a:gd name="adj" fmla="val 10667"/>
            </a:avLst>
          </a:prstGeom>
          <a:solidFill>
            <a:srgbClr val="1E73BE"/>
          </a:solidFill>
          <a:ln w="15240">
            <a:solidFill>
              <a:srgbClr val="1E73BE"/>
            </a:solidFill>
            <a:prstDash val="solid"/>
          </a:ln>
        </p:spPr>
      </p:sp>
      <p:sp>
        <p:nvSpPr>
          <p:cNvPr id="5" name="Text 3"/>
          <p:cNvSpPr/>
          <p:nvPr/>
        </p:nvSpPr>
        <p:spPr>
          <a:xfrm>
            <a:off x="978408" y="1920240"/>
            <a:ext cx="1837944" cy="502920"/>
          </a:xfrm>
          <a:prstGeom prst="rect">
            <a:avLst/>
          </a:prstGeom>
          <a:noFill/>
          <a:ln/>
        </p:spPr>
        <p:txBody>
          <a:bodyPr wrap="square" lIns="254" tIns="254" rIns="254" bIns="254" rtlCol="0" anchor="ctr">
            <a:normAutofit/>
          </a:bodyPr>
          <a:lstStyle/>
          <a:p>
            <a:pPr algn="ctr" indent="0" marL="0">
              <a:buNone/>
            </a:pPr>
            <a:r>
              <a:rPr lang="en-US" sz="1500" b="1" dirty="0">
                <a:solidFill>
                  <a:srgbClr val="FFFFFF"/>
                </a:solidFill>
              </a:rPr>
              <a:t>Current state</a:t>
            </a:r>
            <a:endParaRPr lang="en-US" sz="1500" dirty="0"/>
          </a:p>
        </p:txBody>
      </p:sp>
      <p:sp>
        <p:nvSpPr>
          <p:cNvPr id="6" name="Shape 4"/>
          <p:cNvSpPr/>
          <p:nvPr/>
        </p:nvSpPr>
        <p:spPr>
          <a:xfrm>
            <a:off x="868680" y="2834640"/>
            <a:ext cx="2057400" cy="685800"/>
          </a:xfrm>
          <a:prstGeom prst="roundRect">
            <a:avLst>
              <a:gd name="adj" fmla="val 10667"/>
            </a:avLst>
          </a:prstGeom>
          <a:solidFill>
            <a:srgbClr val="6A2FD4"/>
          </a:solidFill>
          <a:ln w="15240">
            <a:solidFill>
              <a:srgbClr val="6A2FD4"/>
            </a:solidFill>
            <a:prstDash val="solid"/>
          </a:ln>
        </p:spPr>
      </p:sp>
      <p:sp>
        <p:nvSpPr>
          <p:cNvPr id="7" name="Text 5"/>
          <p:cNvSpPr/>
          <p:nvPr/>
        </p:nvSpPr>
        <p:spPr>
          <a:xfrm>
            <a:off x="978408" y="2926080"/>
            <a:ext cx="1837944" cy="502920"/>
          </a:xfrm>
          <a:prstGeom prst="rect">
            <a:avLst/>
          </a:prstGeom>
          <a:noFill/>
          <a:ln/>
        </p:spPr>
        <p:txBody>
          <a:bodyPr wrap="square" lIns="254" tIns="254" rIns="254" bIns="254" rtlCol="0" anchor="ctr">
            <a:normAutofit/>
          </a:bodyPr>
          <a:lstStyle/>
          <a:p>
            <a:pPr algn="ctr" indent="0" marL="0">
              <a:buNone/>
            </a:pPr>
            <a:r>
              <a:rPr lang="en-US" sz="1500" b="1" dirty="0">
                <a:solidFill>
                  <a:srgbClr val="FFFFFF"/>
                </a:solidFill>
              </a:rPr>
              <a:t>Goal</a:t>
            </a:r>
            <a:endParaRPr lang="en-US" sz="1500" dirty="0"/>
          </a:p>
        </p:txBody>
      </p:sp>
      <p:sp>
        <p:nvSpPr>
          <p:cNvPr id="8" name="Shape 6"/>
          <p:cNvSpPr/>
          <p:nvPr/>
        </p:nvSpPr>
        <p:spPr>
          <a:xfrm>
            <a:off x="2926080" y="2176272"/>
            <a:ext cx="1143000" cy="338328"/>
          </a:xfrm>
          <a:prstGeom prst="line">
            <a:avLst/>
          </a:prstGeom>
          <a:noFill/>
          <a:ln w="25400">
            <a:solidFill>
              <a:srgbClr val="5B6770"/>
            </a:solidFill>
            <a:prstDash val="solid"/>
            <a:headEnd type="none"/>
            <a:tailEnd type="triangle"/>
          </a:ln>
        </p:spPr>
      </p:sp>
      <p:sp>
        <p:nvSpPr>
          <p:cNvPr id="9" name="Shape 7"/>
          <p:cNvSpPr/>
          <p:nvPr/>
        </p:nvSpPr>
        <p:spPr>
          <a:xfrm>
            <a:off x="2926080" y="3182112"/>
            <a:ext cx="1143000" cy="-301752"/>
          </a:xfrm>
          <a:prstGeom prst="line">
            <a:avLst/>
          </a:prstGeom>
          <a:noFill/>
          <a:ln w="25400">
            <a:solidFill>
              <a:srgbClr val="5B6770"/>
            </a:solidFill>
            <a:prstDash val="solid"/>
            <a:headEnd type="none"/>
            <a:tailEnd type="triangle"/>
          </a:ln>
        </p:spPr>
      </p:sp>
      <p:sp>
        <p:nvSpPr>
          <p:cNvPr id="10" name="Shape 8"/>
          <p:cNvSpPr/>
          <p:nvPr/>
        </p:nvSpPr>
        <p:spPr>
          <a:xfrm>
            <a:off x="4206240" y="2103120"/>
            <a:ext cx="2423160" cy="1051560"/>
          </a:xfrm>
          <a:prstGeom prst="roundRect">
            <a:avLst>
              <a:gd name="adj" fmla="val 6957"/>
            </a:avLst>
          </a:prstGeom>
          <a:solidFill>
            <a:srgbClr val="1E7A3B"/>
          </a:solidFill>
          <a:ln w="15240">
            <a:solidFill>
              <a:srgbClr val="1E7A3B"/>
            </a:solidFill>
            <a:prstDash val="solid"/>
          </a:ln>
        </p:spPr>
      </p:sp>
      <p:sp>
        <p:nvSpPr>
          <p:cNvPr id="11" name="Text 9"/>
          <p:cNvSpPr/>
          <p:nvPr/>
        </p:nvSpPr>
        <p:spPr>
          <a:xfrm>
            <a:off x="4315968" y="2194560"/>
            <a:ext cx="2203704" cy="868680"/>
          </a:xfrm>
          <a:prstGeom prst="rect">
            <a:avLst/>
          </a:prstGeom>
          <a:noFill/>
          <a:ln/>
        </p:spPr>
        <p:txBody>
          <a:bodyPr wrap="square" lIns="254" tIns="254" rIns="254" bIns="254" rtlCol="0" anchor="ctr">
            <a:normAutofit/>
          </a:bodyPr>
          <a:lstStyle/>
          <a:p>
            <a:pPr algn="ctr" indent="0" marL="0">
              <a:buNone/>
            </a:pPr>
            <a:r>
              <a:rPr lang="en-US" sz="1700" b="1" dirty="0">
                <a:solidFill>
                  <a:srgbClr val="FFFFFF"/>
                </a:solidFill>
              </a:rPr>
              <a:t>Predict futures</a:t>
            </a:r>
            <a:endParaRPr lang="en-US" sz="1700" dirty="0"/>
          </a:p>
        </p:txBody>
      </p:sp>
      <p:sp>
        <p:nvSpPr>
          <p:cNvPr id="12" name="Shape 10"/>
          <p:cNvSpPr/>
          <p:nvPr/>
        </p:nvSpPr>
        <p:spPr>
          <a:xfrm>
            <a:off x="6629400" y="2633472"/>
            <a:ext cx="1097280" cy="0"/>
          </a:xfrm>
          <a:prstGeom prst="line">
            <a:avLst/>
          </a:prstGeom>
          <a:noFill/>
          <a:ln w="25400">
            <a:solidFill>
              <a:srgbClr val="5B6770"/>
            </a:solidFill>
            <a:prstDash val="solid"/>
            <a:headEnd type="none"/>
            <a:tailEnd type="triangle"/>
          </a:ln>
        </p:spPr>
      </p:sp>
      <p:sp>
        <p:nvSpPr>
          <p:cNvPr id="13" name="Shape 11"/>
          <p:cNvSpPr/>
          <p:nvPr/>
        </p:nvSpPr>
        <p:spPr>
          <a:xfrm>
            <a:off x="7818120" y="2103120"/>
            <a:ext cx="2606040" cy="1051560"/>
          </a:xfrm>
          <a:prstGeom prst="roundRect">
            <a:avLst>
              <a:gd name="adj" fmla="val 6957"/>
            </a:avLst>
          </a:prstGeom>
          <a:solidFill>
            <a:srgbClr val="F5A623"/>
          </a:solidFill>
          <a:ln w="15240">
            <a:solidFill>
              <a:srgbClr val="F5A623"/>
            </a:solidFill>
            <a:prstDash val="solid"/>
          </a:ln>
        </p:spPr>
      </p:sp>
      <p:sp>
        <p:nvSpPr>
          <p:cNvPr id="14" name="Text 12"/>
          <p:cNvSpPr/>
          <p:nvPr/>
        </p:nvSpPr>
        <p:spPr>
          <a:xfrm>
            <a:off x="7927848" y="2194560"/>
            <a:ext cx="2386584" cy="868680"/>
          </a:xfrm>
          <a:prstGeom prst="rect">
            <a:avLst/>
          </a:prstGeom>
          <a:noFill/>
          <a:ln/>
        </p:spPr>
        <p:txBody>
          <a:bodyPr wrap="square" lIns="254" tIns="254" rIns="254" bIns="254" rtlCol="0" anchor="ctr">
            <a:normAutofit/>
          </a:bodyPr>
          <a:lstStyle/>
          <a:p>
            <a:pPr algn="ctr" indent="0" marL="0">
              <a:buNone/>
            </a:pPr>
            <a:r>
              <a:rPr lang="en-US" sz="1500" b="1" dirty="0">
                <a:solidFill>
                  <a:srgbClr val="14213D"/>
                </a:solidFill>
              </a:rPr>
              <a:t>Choose action sequence</a:t>
            </a:r>
            <a:endParaRPr lang="en-US" sz="1500" dirty="0"/>
          </a:p>
        </p:txBody>
      </p:sp>
      <p:sp>
        <p:nvSpPr>
          <p:cNvPr id="15" name="Text 13"/>
          <p:cNvSpPr/>
          <p:nvPr/>
        </p:nvSpPr>
        <p:spPr>
          <a:xfrm>
            <a:off x="868680" y="4297680"/>
            <a:ext cx="10424160" cy="320040"/>
          </a:xfrm>
          <a:prstGeom prst="rect">
            <a:avLst/>
          </a:prstGeom>
          <a:noFill/>
          <a:ln/>
        </p:spPr>
        <p:txBody>
          <a:bodyPr wrap="square" lIns="0" tIns="0" rIns="0" bIns="0" rtlCol="0" anchor="ctr"/>
          <a:lstStyle/>
          <a:p>
            <a:pPr algn="ctr" indent="0" marL="0">
              <a:buNone/>
            </a:pPr>
            <a:r>
              <a:rPr lang="en-US" sz="1800" b="1" dirty="0">
                <a:solidFill>
                  <a:srgbClr val="0B2D5B"/>
                </a:solidFill>
              </a:rPr>
              <a:t>Search and planning find action sequences that achieve goals.</a:t>
            </a:r>
            <a:endParaRPr lang="en-US" sz="1800" dirty="0"/>
          </a:p>
        </p:txBody>
      </p:sp>
      <p:sp>
        <p:nvSpPr>
          <p:cNvPr id="16" name="Shape 14"/>
          <p:cNvSpPr/>
          <p:nvPr/>
        </p:nvSpPr>
        <p:spPr>
          <a:xfrm>
            <a:off x="914400" y="4800600"/>
            <a:ext cx="4754880" cy="777240"/>
          </a:xfrm>
          <a:prstGeom prst="roundRect">
            <a:avLst>
              <a:gd name="adj" fmla="val 5882"/>
            </a:avLst>
          </a:prstGeom>
          <a:solidFill>
            <a:srgbClr val="FFFFFF"/>
          </a:solidFill>
          <a:ln w="15240">
            <a:solidFill>
              <a:srgbClr val="D4E0EA"/>
            </a:solidFill>
            <a:prstDash val="solid"/>
          </a:ln>
        </p:spPr>
      </p:sp>
      <p:sp>
        <p:nvSpPr>
          <p:cNvPr id="17" name="Shape 15"/>
          <p:cNvSpPr/>
          <p:nvPr/>
        </p:nvSpPr>
        <p:spPr>
          <a:xfrm>
            <a:off x="914400" y="4800600"/>
            <a:ext cx="4754880" cy="347472"/>
          </a:xfrm>
          <a:prstGeom prst="rect">
            <a:avLst/>
          </a:prstGeom>
          <a:solidFill>
            <a:srgbClr val="008A96"/>
          </a:solidFill>
          <a:ln w="12700">
            <a:solidFill>
              <a:srgbClr val="008A96"/>
            </a:solidFill>
            <a:prstDash val="solid"/>
          </a:ln>
        </p:spPr>
      </p:sp>
      <p:sp>
        <p:nvSpPr>
          <p:cNvPr id="18" name="Text 16"/>
          <p:cNvSpPr/>
          <p:nvPr/>
        </p:nvSpPr>
        <p:spPr>
          <a:xfrm>
            <a:off x="1024128" y="4873752"/>
            <a:ext cx="4535424" cy="201168"/>
          </a:xfrm>
          <a:prstGeom prst="rect">
            <a:avLst/>
          </a:prstGeom>
          <a:noFill/>
          <a:ln/>
        </p:spPr>
        <p:txBody>
          <a:bodyPr wrap="square" lIns="0" tIns="0" rIns="0" bIns="0" rtlCol="0" anchor="ctr"/>
          <a:lstStyle/>
          <a:p>
            <a:pPr algn="ctr" indent="0" marL="0">
              <a:buNone/>
            </a:pPr>
            <a:r>
              <a:rPr lang="en-US" sz="1300" b="1" dirty="0">
                <a:solidFill>
                  <a:srgbClr val="FFFFFF"/>
                </a:solidFill>
              </a:rPr>
              <a:t>Why it is flexible</a:t>
            </a:r>
            <a:endParaRPr lang="en-US" sz="1300" dirty="0"/>
          </a:p>
        </p:txBody>
      </p:sp>
      <p:sp>
        <p:nvSpPr>
          <p:cNvPr id="19" name="Text 17"/>
          <p:cNvSpPr/>
          <p:nvPr/>
        </p:nvSpPr>
        <p:spPr>
          <a:xfrm>
            <a:off x="1078992" y="5276088"/>
            <a:ext cx="4425696" cy="2103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Change the destination, and the same knowledge can support new behavior.</a:t>
            </a:r>
            <a:endParaRPr lang="en-US" sz="1300" dirty="0"/>
          </a:p>
        </p:txBody>
      </p:sp>
      <p:sp>
        <p:nvSpPr>
          <p:cNvPr id="20" name="Shape 18"/>
          <p:cNvSpPr/>
          <p:nvPr/>
        </p:nvSpPr>
        <p:spPr>
          <a:xfrm>
            <a:off x="6400800" y="4800600"/>
            <a:ext cx="4754880" cy="777240"/>
          </a:xfrm>
          <a:prstGeom prst="roundRect">
            <a:avLst>
              <a:gd name="adj" fmla="val 5882"/>
            </a:avLst>
          </a:prstGeom>
          <a:solidFill>
            <a:srgbClr val="FFFFFF"/>
          </a:solidFill>
          <a:ln w="15240">
            <a:solidFill>
              <a:srgbClr val="D4E0EA"/>
            </a:solidFill>
            <a:prstDash val="solid"/>
          </a:ln>
        </p:spPr>
      </p:sp>
      <p:sp>
        <p:nvSpPr>
          <p:cNvPr id="21" name="Shape 19"/>
          <p:cNvSpPr/>
          <p:nvPr/>
        </p:nvSpPr>
        <p:spPr>
          <a:xfrm>
            <a:off x="6400800" y="4800600"/>
            <a:ext cx="4754880" cy="347472"/>
          </a:xfrm>
          <a:prstGeom prst="rect">
            <a:avLst/>
          </a:prstGeom>
          <a:solidFill>
            <a:srgbClr val="A71D1D"/>
          </a:solidFill>
          <a:ln w="12700">
            <a:solidFill>
              <a:srgbClr val="A71D1D"/>
            </a:solidFill>
            <a:prstDash val="solid"/>
          </a:ln>
        </p:spPr>
      </p:sp>
      <p:sp>
        <p:nvSpPr>
          <p:cNvPr id="22" name="Text 20"/>
          <p:cNvSpPr/>
          <p:nvPr/>
        </p:nvSpPr>
        <p:spPr>
          <a:xfrm>
            <a:off x="6510528" y="4873752"/>
            <a:ext cx="4535424" cy="201168"/>
          </a:xfrm>
          <a:prstGeom prst="rect">
            <a:avLst/>
          </a:prstGeom>
          <a:noFill/>
          <a:ln/>
        </p:spPr>
        <p:txBody>
          <a:bodyPr wrap="square" lIns="0" tIns="0" rIns="0" bIns="0" rtlCol="0" anchor="ctr"/>
          <a:lstStyle/>
          <a:p>
            <a:pPr algn="ctr" indent="0" marL="0">
              <a:buNone/>
            </a:pPr>
            <a:r>
              <a:rPr lang="en-US" sz="1300" b="1" dirty="0">
                <a:solidFill>
                  <a:srgbClr val="FFFFFF"/>
                </a:solidFill>
              </a:rPr>
              <a:t>Why it costs more</a:t>
            </a:r>
            <a:endParaRPr lang="en-US" sz="1300" dirty="0"/>
          </a:p>
        </p:txBody>
      </p:sp>
      <p:sp>
        <p:nvSpPr>
          <p:cNvPr id="23" name="Text 21"/>
          <p:cNvSpPr/>
          <p:nvPr/>
        </p:nvSpPr>
        <p:spPr>
          <a:xfrm>
            <a:off x="6565392" y="5276088"/>
            <a:ext cx="4425696" cy="2103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The agent may need to reason about many possible future action sequences.</a:t>
            </a:r>
            <a:endParaRPr lang="en-US" sz="1300" dirty="0"/>
          </a:p>
        </p:txBody>
      </p:sp>
      <p:sp>
        <p:nvSpPr>
          <p:cNvPr id="25" name="Text 22"/>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2.4.5 Utility-Based Agents</a:t>
            </a:r>
            <a:endParaRPr lang="en-US" sz="2500" dirty="0"/>
          </a:p>
        </p:txBody>
      </p:sp>
      <p:sp>
        <p:nvSpPr>
          <p:cNvPr id="3" name="Text 1"/>
          <p:cNvSpPr/>
          <p:nvPr/>
        </p:nvSpPr>
        <p:spPr>
          <a:xfrm>
            <a:off x="777240" y="1005840"/>
            <a:ext cx="10607040" cy="329184"/>
          </a:xfrm>
          <a:prstGeom prst="rect">
            <a:avLst/>
          </a:prstGeom>
          <a:noFill/>
          <a:ln/>
        </p:spPr>
        <p:txBody>
          <a:bodyPr wrap="square" lIns="0" tIns="0" rIns="0" bIns="0" rtlCol="0" anchor="ctr"/>
          <a:lstStyle/>
          <a:p>
            <a:pPr algn="ctr" indent="0" marL="0">
              <a:buNone/>
            </a:pPr>
            <a:r>
              <a:rPr lang="en-US" sz="2100" b="1" dirty="0">
                <a:solidFill>
                  <a:srgbClr val="0B2D5B"/>
                </a:solidFill>
              </a:rPr>
              <a:t>Goals say whether a state is acceptable; utility ranks how good it is.</a:t>
            </a:r>
            <a:endParaRPr lang="en-US" sz="2100" dirty="0"/>
          </a:p>
        </p:txBody>
      </p:sp>
      <p:sp>
        <p:nvSpPr>
          <p:cNvPr id="4" name="Shape 2"/>
          <p:cNvSpPr/>
          <p:nvPr/>
        </p:nvSpPr>
        <p:spPr>
          <a:xfrm>
            <a:off x="822960" y="1737360"/>
            <a:ext cx="2926080" cy="1371600"/>
          </a:xfrm>
          <a:prstGeom prst="roundRect">
            <a:avLst>
              <a:gd name="adj" fmla="val 3333"/>
            </a:avLst>
          </a:prstGeom>
          <a:solidFill>
            <a:srgbClr val="FFFFFF"/>
          </a:solidFill>
          <a:ln w="15240">
            <a:solidFill>
              <a:srgbClr val="D4E0EA"/>
            </a:solidFill>
            <a:prstDash val="solid"/>
          </a:ln>
        </p:spPr>
      </p:sp>
      <p:sp>
        <p:nvSpPr>
          <p:cNvPr id="5" name="Shape 3"/>
          <p:cNvSpPr/>
          <p:nvPr/>
        </p:nvSpPr>
        <p:spPr>
          <a:xfrm>
            <a:off x="822960" y="1737360"/>
            <a:ext cx="2926080" cy="347472"/>
          </a:xfrm>
          <a:prstGeom prst="rect">
            <a:avLst/>
          </a:prstGeom>
          <a:solidFill>
            <a:srgbClr val="1E7A3B"/>
          </a:solidFill>
          <a:ln w="12700">
            <a:solidFill>
              <a:srgbClr val="1E7A3B"/>
            </a:solidFill>
            <a:prstDash val="solid"/>
          </a:ln>
        </p:spPr>
      </p:sp>
      <p:sp>
        <p:nvSpPr>
          <p:cNvPr id="6" name="Text 4"/>
          <p:cNvSpPr/>
          <p:nvPr/>
        </p:nvSpPr>
        <p:spPr>
          <a:xfrm>
            <a:off x="932688" y="1810512"/>
            <a:ext cx="2706624" cy="201168"/>
          </a:xfrm>
          <a:prstGeom prst="rect">
            <a:avLst/>
          </a:prstGeom>
          <a:noFill/>
          <a:ln/>
        </p:spPr>
        <p:txBody>
          <a:bodyPr wrap="square" lIns="0" tIns="0" rIns="0" bIns="0" rtlCol="0" anchor="ctr"/>
          <a:lstStyle/>
          <a:p>
            <a:pPr algn="ctr" indent="0" marL="0">
              <a:buNone/>
            </a:pPr>
            <a:r>
              <a:rPr lang="en-US" sz="1300" b="1" dirty="0">
                <a:solidFill>
                  <a:srgbClr val="FFFFFF"/>
                </a:solidFill>
              </a:rPr>
              <a:t>Goal-based</a:t>
            </a:r>
            <a:endParaRPr lang="en-US" sz="1300" dirty="0"/>
          </a:p>
        </p:txBody>
      </p:sp>
      <p:sp>
        <p:nvSpPr>
          <p:cNvPr id="7" name="Text 5"/>
          <p:cNvSpPr/>
          <p:nvPr/>
        </p:nvSpPr>
        <p:spPr>
          <a:xfrm>
            <a:off x="987552" y="2212848"/>
            <a:ext cx="2596896" cy="80467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Destination reached?</a:t>
            </a:r>
            <a:endParaRPr lang="en-US" sz="1300" dirty="0"/>
          </a:p>
          <a:p>
            <a:pPr indent="0" marL="0">
              <a:buNone/>
            </a:pPr>
            <a:r>
              <a:rPr lang="en-US" sz="1300" dirty="0">
                <a:solidFill>
                  <a:srgbClr val="14213D"/>
                </a:solidFill>
              </a:rPr>
              <a:t>Yes or no.</a:t>
            </a:r>
            <a:endParaRPr lang="en-US" sz="1300" dirty="0"/>
          </a:p>
        </p:txBody>
      </p:sp>
      <p:sp>
        <p:nvSpPr>
          <p:cNvPr id="8" name="Shape 6"/>
          <p:cNvSpPr/>
          <p:nvPr/>
        </p:nvSpPr>
        <p:spPr>
          <a:xfrm>
            <a:off x="4572000" y="1737360"/>
            <a:ext cx="2926080" cy="1371600"/>
          </a:xfrm>
          <a:prstGeom prst="roundRect">
            <a:avLst>
              <a:gd name="adj" fmla="val 3333"/>
            </a:avLst>
          </a:prstGeom>
          <a:solidFill>
            <a:srgbClr val="FFFFFF"/>
          </a:solidFill>
          <a:ln w="15240">
            <a:solidFill>
              <a:srgbClr val="D4E0EA"/>
            </a:solidFill>
            <a:prstDash val="solid"/>
          </a:ln>
        </p:spPr>
      </p:sp>
      <p:sp>
        <p:nvSpPr>
          <p:cNvPr id="9" name="Shape 7"/>
          <p:cNvSpPr/>
          <p:nvPr/>
        </p:nvSpPr>
        <p:spPr>
          <a:xfrm>
            <a:off x="4572000" y="1737360"/>
            <a:ext cx="2926080" cy="347472"/>
          </a:xfrm>
          <a:prstGeom prst="rect">
            <a:avLst/>
          </a:prstGeom>
          <a:solidFill>
            <a:srgbClr val="6A2FD4"/>
          </a:solidFill>
          <a:ln w="12700">
            <a:solidFill>
              <a:srgbClr val="6A2FD4"/>
            </a:solidFill>
            <a:prstDash val="solid"/>
          </a:ln>
        </p:spPr>
      </p:sp>
      <p:sp>
        <p:nvSpPr>
          <p:cNvPr id="10" name="Text 8"/>
          <p:cNvSpPr/>
          <p:nvPr/>
        </p:nvSpPr>
        <p:spPr>
          <a:xfrm>
            <a:off x="4681728" y="1810512"/>
            <a:ext cx="2706624" cy="201168"/>
          </a:xfrm>
          <a:prstGeom prst="rect">
            <a:avLst/>
          </a:prstGeom>
          <a:noFill/>
          <a:ln/>
        </p:spPr>
        <p:txBody>
          <a:bodyPr wrap="square" lIns="0" tIns="0" rIns="0" bIns="0" rtlCol="0" anchor="ctr"/>
          <a:lstStyle/>
          <a:p>
            <a:pPr algn="ctr" indent="0" marL="0">
              <a:buNone/>
            </a:pPr>
            <a:r>
              <a:rPr lang="en-US" sz="1300" b="1" dirty="0">
                <a:solidFill>
                  <a:srgbClr val="FFFFFF"/>
                </a:solidFill>
              </a:rPr>
              <a:t>Utility-based</a:t>
            </a:r>
            <a:endParaRPr lang="en-US" sz="1300" dirty="0"/>
          </a:p>
        </p:txBody>
      </p:sp>
      <p:sp>
        <p:nvSpPr>
          <p:cNvPr id="11" name="Text 9"/>
          <p:cNvSpPr/>
          <p:nvPr/>
        </p:nvSpPr>
        <p:spPr>
          <a:xfrm>
            <a:off x="4736592" y="2212848"/>
            <a:ext cx="2596896" cy="80467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How good is each outcome?</a:t>
            </a:r>
            <a:endParaRPr lang="en-US" sz="1300" dirty="0"/>
          </a:p>
          <a:p>
            <a:pPr indent="0" marL="0">
              <a:buNone/>
            </a:pPr>
            <a:r>
              <a:rPr lang="en-US" sz="1300" dirty="0">
                <a:solidFill>
                  <a:srgbClr val="14213D"/>
                </a:solidFill>
              </a:rPr>
              <a:t>Fast, safe, comfortable, cheap?</a:t>
            </a:r>
            <a:endParaRPr lang="en-US" sz="1300" dirty="0"/>
          </a:p>
        </p:txBody>
      </p:sp>
      <p:sp>
        <p:nvSpPr>
          <p:cNvPr id="12" name="Shape 10"/>
          <p:cNvSpPr/>
          <p:nvPr/>
        </p:nvSpPr>
        <p:spPr>
          <a:xfrm>
            <a:off x="8321040" y="1737360"/>
            <a:ext cx="2926080" cy="1371600"/>
          </a:xfrm>
          <a:prstGeom prst="roundRect">
            <a:avLst>
              <a:gd name="adj" fmla="val 3333"/>
            </a:avLst>
          </a:prstGeom>
          <a:solidFill>
            <a:srgbClr val="FFFFFF"/>
          </a:solidFill>
          <a:ln w="15240">
            <a:solidFill>
              <a:srgbClr val="D4E0EA"/>
            </a:solidFill>
            <a:prstDash val="solid"/>
          </a:ln>
        </p:spPr>
      </p:sp>
      <p:sp>
        <p:nvSpPr>
          <p:cNvPr id="13" name="Shape 11"/>
          <p:cNvSpPr/>
          <p:nvPr/>
        </p:nvSpPr>
        <p:spPr>
          <a:xfrm>
            <a:off x="8321040" y="1737360"/>
            <a:ext cx="2926080" cy="347472"/>
          </a:xfrm>
          <a:prstGeom prst="rect">
            <a:avLst/>
          </a:prstGeom>
          <a:solidFill>
            <a:srgbClr val="A71D1D"/>
          </a:solidFill>
          <a:ln w="12700">
            <a:solidFill>
              <a:srgbClr val="A71D1D"/>
            </a:solidFill>
            <a:prstDash val="solid"/>
          </a:ln>
        </p:spPr>
      </p:sp>
      <p:sp>
        <p:nvSpPr>
          <p:cNvPr id="14" name="Text 12"/>
          <p:cNvSpPr/>
          <p:nvPr/>
        </p:nvSpPr>
        <p:spPr>
          <a:xfrm>
            <a:off x="8430768" y="1810512"/>
            <a:ext cx="2706624" cy="201168"/>
          </a:xfrm>
          <a:prstGeom prst="rect">
            <a:avLst/>
          </a:prstGeom>
          <a:noFill/>
          <a:ln/>
        </p:spPr>
        <p:txBody>
          <a:bodyPr wrap="square" lIns="0" tIns="0" rIns="0" bIns="0" rtlCol="0" anchor="ctr"/>
          <a:lstStyle/>
          <a:p>
            <a:pPr algn="ctr" indent="0" marL="0">
              <a:buNone/>
            </a:pPr>
            <a:r>
              <a:rPr lang="en-US" sz="1300" b="1" dirty="0">
                <a:solidFill>
                  <a:srgbClr val="FFFFFF"/>
                </a:solidFill>
              </a:rPr>
              <a:t>Expected utility</a:t>
            </a:r>
            <a:endParaRPr lang="en-US" sz="1300" dirty="0"/>
          </a:p>
        </p:txBody>
      </p:sp>
      <p:sp>
        <p:nvSpPr>
          <p:cNvPr id="15" name="Text 13"/>
          <p:cNvSpPr/>
          <p:nvPr/>
        </p:nvSpPr>
        <p:spPr>
          <a:xfrm>
            <a:off x="8485632" y="2212848"/>
            <a:ext cx="2596896" cy="80467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Weigh utility by probability when outcomes are uncertain.</a:t>
            </a:r>
            <a:endParaRPr lang="en-US" sz="1300" dirty="0"/>
          </a:p>
        </p:txBody>
      </p:sp>
      <p:sp>
        <p:nvSpPr>
          <p:cNvPr id="16" name="Text 14"/>
          <p:cNvSpPr/>
          <p:nvPr/>
        </p:nvSpPr>
        <p:spPr>
          <a:xfrm>
            <a:off x="868680" y="3703320"/>
            <a:ext cx="10424160" cy="320040"/>
          </a:xfrm>
          <a:prstGeom prst="rect">
            <a:avLst/>
          </a:prstGeom>
          <a:noFill/>
          <a:ln/>
        </p:spPr>
        <p:txBody>
          <a:bodyPr wrap="square" lIns="0" tIns="0" rIns="0" bIns="0" rtlCol="0" anchor="ctr"/>
          <a:lstStyle/>
          <a:p>
            <a:pPr algn="ctr" indent="0" marL="0">
              <a:buNone/>
            </a:pPr>
            <a:r>
              <a:rPr lang="en-US" sz="1900" b="1" dirty="0">
                <a:solidFill>
                  <a:srgbClr val="0B2D5B"/>
                </a:solidFill>
              </a:rPr>
              <a:t>Utility handles conflicts and uncertainty.</a:t>
            </a:r>
            <a:endParaRPr lang="en-US" sz="1900" dirty="0"/>
          </a:p>
        </p:txBody>
      </p:sp>
      <p:sp>
        <p:nvSpPr>
          <p:cNvPr id="17" name="Shape 15"/>
          <p:cNvSpPr/>
          <p:nvPr/>
        </p:nvSpPr>
        <p:spPr>
          <a:xfrm>
            <a:off x="1828800" y="4572000"/>
            <a:ext cx="8412480" cy="0"/>
          </a:xfrm>
          <a:prstGeom prst="line">
            <a:avLst/>
          </a:prstGeom>
          <a:noFill/>
          <a:ln w="50800">
            <a:solidFill>
              <a:srgbClr val="CDD9E2"/>
            </a:solidFill>
            <a:prstDash val="solid"/>
          </a:ln>
        </p:spPr>
      </p:sp>
      <p:sp>
        <p:nvSpPr>
          <p:cNvPr id="18" name="Text 16"/>
          <p:cNvSpPr/>
          <p:nvPr/>
        </p:nvSpPr>
        <p:spPr>
          <a:xfrm>
            <a:off x="1508760" y="4773168"/>
            <a:ext cx="1188720" cy="228600"/>
          </a:xfrm>
          <a:prstGeom prst="rect">
            <a:avLst/>
          </a:prstGeom>
          <a:noFill/>
          <a:ln/>
        </p:spPr>
        <p:txBody>
          <a:bodyPr wrap="square" lIns="0" tIns="0" rIns="0" bIns="0" rtlCol="0" anchor="ctr"/>
          <a:lstStyle/>
          <a:p>
            <a:pPr algn="ctr" indent="0" marL="0">
              <a:buNone/>
            </a:pPr>
            <a:r>
              <a:rPr lang="en-US" sz="1300" dirty="0">
                <a:solidFill>
                  <a:srgbClr val="5B6770"/>
                </a:solidFill>
              </a:rPr>
              <a:t>safer</a:t>
            </a:r>
            <a:endParaRPr lang="en-US" sz="1300" dirty="0"/>
          </a:p>
        </p:txBody>
      </p:sp>
      <p:sp>
        <p:nvSpPr>
          <p:cNvPr id="19" name="Text 17"/>
          <p:cNvSpPr/>
          <p:nvPr/>
        </p:nvSpPr>
        <p:spPr>
          <a:xfrm>
            <a:off x="9235440" y="4773168"/>
            <a:ext cx="1188720" cy="228600"/>
          </a:xfrm>
          <a:prstGeom prst="rect">
            <a:avLst/>
          </a:prstGeom>
          <a:noFill/>
          <a:ln/>
        </p:spPr>
        <p:txBody>
          <a:bodyPr wrap="square" lIns="0" tIns="0" rIns="0" bIns="0" rtlCol="0" anchor="ctr"/>
          <a:lstStyle/>
          <a:p>
            <a:pPr algn="ctr" indent="0" marL="0">
              <a:buNone/>
            </a:pPr>
            <a:r>
              <a:rPr lang="en-US" sz="1300" dirty="0">
                <a:solidFill>
                  <a:srgbClr val="5B6770"/>
                </a:solidFill>
              </a:rPr>
              <a:t>faster</a:t>
            </a:r>
            <a:endParaRPr lang="en-US" sz="1300" dirty="0"/>
          </a:p>
        </p:txBody>
      </p:sp>
      <p:sp>
        <p:nvSpPr>
          <p:cNvPr id="20" name="Shape 18"/>
          <p:cNvSpPr/>
          <p:nvPr/>
        </p:nvSpPr>
        <p:spPr>
          <a:xfrm>
            <a:off x="5532120" y="4416552"/>
            <a:ext cx="310896" cy="310896"/>
          </a:xfrm>
          <a:prstGeom prst="ellipse">
            <a:avLst/>
          </a:prstGeom>
          <a:solidFill>
            <a:srgbClr val="F5A623"/>
          </a:solidFill>
          <a:ln w="12700">
            <a:solidFill>
              <a:srgbClr val="F5A623"/>
            </a:solidFill>
            <a:prstDash val="solid"/>
          </a:ln>
        </p:spPr>
      </p:sp>
      <p:sp>
        <p:nvSpPr>
          <p:cNvPr id="21" name="Text 19"/>
          <p:cNvSpPr/>
          <p:nvPr/>
        </p:nvSpPr>
        <p:spPr>
          <a:xfrm>
            <a:off x="5193792" y="4773168"/>
            <a:ext cx="1097280" cy="228600"/>
          </a:xfrm>
          <a:prstGeom prst="rect">
            <a:avLst/>
          </a:prstGeom>
          <a:noFill/>
          <a:ln/>
        </p:spPr>
        <p:txBody>
          <a:bodyPr wrap="square" lIns="0" tIns="0" rIns="0" bIns="0" rtlCol="0" anchor="ctr"/>
          <a:lstStyle/>
          <a:p>
            <a:pPr algn="ctr" indent="0" marL="0">
              <a:buNone/>
            </a:pPr>
            <a:r>
              <a:rPr lang="en-US" sz="1300" b="1" dirty="0">
                <a:solidFill>
                  <a:srgbClr val="0B2D5B"/>
                </a:solidFill>
              </a:rPr>
              <a:t>tradeoff</a:t>
            </a:r>
            <a:endParaRPr lang="en-US" sz="1300" dirty="0"/>
          </a:p>
        </p:txBody>
      </p:sp>
      <p:sp>
        <p:nvSpPr>
          <p:cNvPr id="23" name="Text 20"/>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2.4.6 Learning Agents</a:t>
            </a:r>
            <a:endParaRPr lang="en-US" sz="2500" dirty="0"/>
          </a:p>
        </p:txBody>
      </p:sp>
      <p:sp>
        <p:nvSpPr>
          <p:cNvPr id="3" name="Text 1"/>
          <p:cNvSpPr/>
          <p:nvPr/>
        </p:nvSpPr>
        <p:spPr>
          <a:xfrm>
            <a:off x="777240" y="987552"/>
            <a:ext cx="10607040" cy="329184"/>
          </a:xfrm>
          <a:prstGeom prst="rect">
            <a:avLst/>
          </a:prstGeom>
          <a:noFill/>
          <a:ln/>
        </p:spPr>
        <p:txBody>
          <a:bodyPr wrap="square" lIns="0" tIns="0" rIns="0" bIns="0" rtlCol="0" anchor="ctr"/>
          <a:lstStyle/>
          <a:p>
            <a:pPr algn="ctr" indent="0" marL="0">
              <a:buNone/>
            </a:pPr>
            <a:r>
              <a:rPr lang="en-US" sz="2100" b="1" dirty="0">
                <a:solidFill>
                  <a:srgbClr val="0B2D5B"/>
                </a:solidFill>
              </a:rPr>
              <a:t>Any agent type can be made into a learning agent.</a:t>
            </a:r>
            <a:endParaRPr lang="en-US" sz="2100" dirty="0"/>
          </a:p>
        </p:txBody>
      </p:sp>
      <p:sp>
        <p:nvSpPr>
          <p:cNvPr id="4" name="Shape 2"/>
          <p:cNvSpPr/>
          <p:nvPr/>
        </p:nvSpPr>
        <p:spPr>
          <a:xfrm>
            <a:off x="4389120" y="2148840"/>
            <a:ext cx="2834640" cy="777240"/>
          </a:xfrm>
          <a:prstGeom prst="roundRect">
            <a:avLst>
              <a:gd name="adj" fmla="val 9412"/>
            </a:avLst>
          </a:prstGeom>
          <a:solidFill>
            <a:srgbClr val="1E7A3B"/>
          </a:solidFill>
          <a:ln w="15240">
            <a:solidFill>
              <a:srgbClr val="1E7A3B"/>
            </a:solidFill>
            <a:prstDash val="solid"/>
          </a:ln>
        </p:spPr>
      </p:sp>
      <p:sp>
        <p:nvSpPr>
          <p:cNvPr id="5" name="Text 3"/>
          <p:cNvSpPr/>
          <p:nvPr/>
        </p:nvSpPr>
        <p:spPr>
          <a:xfrm>
            <a:off x="4498848" y="2240280"/>
            <a:ext cx="2615184" cy="59436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Performance element</a:t>
            </a:r>
            <a:endParaRPr lang="en-US" sz="1600" dirty="0"/>
          </a:p>
        </p:txBody>
      </p:sp>
      <p:sp>
        <p:nvSpPr>
          <p:cNvPr id="6" name="Shape 4"/>
          <p:cNvSpPr/>
          <p:nvPr/>
        </p:nvSpPr>
        <p:spPr>
          <a:xfrm>
            <a:off x="1005840" y="2148840"/>
            <a:ext cx="2423160" cy="777240"/>
          </a:xfrm>
          <a:prstGeom prst="roundRect">
            <a:avLst>
              <a:gd name="adj" fmla="val 9412"/>
            </a:avLst>
          </a:prstGeom>
          <a:solidFill>
            <a:srgbClr val="1E73BE"/>
          </a:solidFill>
          <a:ln w="15240">
            <a:solidFill>
              <a:srgbClr val="1E73BE"/>
            </a:solidFill>
            <a:prstDash val="solid"/>
          </a:ln>
        </p:spPr>
      </p:sp>
      <p:sp>
        <p:nvSpPr>
          <p:cNvPr id="7" name="Text 5"/>
          <p:cNvSpPr/>
          <p:nvPr/>
        </p:nvSpPr>
        <p:spPr>
          <a:xfrm>
            <a:off x="1115568" y="2240280"/>
            <a:ext cx="2203704" cy="59436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Critic</a:t>
            </a:r>
            <a:endParaRPr lang="en-US" sz="1600" dirty="0"/>
          </a:p>
        </p:txBody>
      </p:sp>
      <p:sp>
        <p:nvSpPr>
          <p:cNvPr id="8" name="Shape 6"/>
          <p:cNvSpPr/>
          <p:nvPr/>
        </p:nvSpPr>
        <p:spPr>
          <a:xfrm>
            <a:off x="4389120" y="3840480"/>
            <a:ext cx="2834640" cy="777240"/>
          </a:xfrm>
          <a:prstGeom prst="roundRect">
            <a:avLst>
              <a:gd name="adj" fmla="val 9412"/>
            </a:avLst>
          </a:prstGeom>
          <a:solidFill>
            <a:srgbClr val="6A2FD4"/>
          </a:solidFill>
          <a:ln w="15240">
            <a:solidFill>
              <a:srgbClr val="6A2FD4"/>
            </a:solidFill>
            <a:prstDash val="solid"/>
          </a:ln>
        </p:spPr>
      </p:sp>
      <p:sp>
        <p:nvSpPr>
          <p:cNvPr id="9" name="Text 7"/>
          <p:cNvSpPr/>
          <p:nvPr/>
        </p:nvSpPr>
        <p:spPr>
          <a:xfrm>
            <a:off x="4498848" y="3931920"/>
            <a:ext cx="2615184" cy="59436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Learning element</a:t>
            </a:r>
            <a:endParaRPr lang="en-US" sz="1600" dirty="0"/>
          </a:p>
        </p:txBody>
      </p:sp>
      <p:sp>
        <p:nvSpPr>
          <p:cNvPr id="10" name="Shape 8"/>
          <p:cNvSpPr/>
          <p:nvPr/>
        </p:nvSpPr>
        <p:spPr>
          <a:xfrm>
            <a:off x="8321040" y="3840480"/>
            <a:ext cx="2514600" cy="777240"/>
          </a:xfrm>
          <a:prstGeom prst="roundRect">
            <a:avLst>
              <a:gd name="adj" fmla="val 9412"/>
            </a:avLst>
          </a:prstGeom>
          <a:solidFill>
            <a:srgbClr val="A71D1D"/>
          </a:solidFill>
          <a:ln w="15240">
            <a:solidFill>
              <a:srgbClr val="A71D1D"/>
            </a:solidFill>
            <a:prstDash val="solid"/>
          </a:ln>
        </p:spPr>
      </p:sp>
      <p:sp>
        <p:nvSpPr>
          <p:cNvPr id="11" name="Text 9"/>
          <p:cNvSpPr/>
          <p:nvPr/>
        </p:nvSpPr>
        <p:spPr>
          <a:xfrm>
            <a:off x="8430768" y="3931920"/>
            <a:ext cx="2295144" cy="594360"/>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rPr>
              <a:t>Problem generator</a:t>
            </a:r>
            <a:endParaRPr lang="en-US" sz="1400" dirty="0"/>
          </a:p>
        </p:txBody>
      </p:sp>
      <p:sp>
        <p:nvSpPr>
          <p:cNvPr id="12" name="Shape 10"/>
          <p:cNvSpPr/>
          <p:nvPr/>
        </p:nvSpPr>
        <p:spPr>
          <a:xfrm>
            <a:off x="3429000" y="2542032"/>
            <a:ext cx="960120" cy="0"/>
          </a:xfrm>
          <a:prstGeom prst="line">
            <a:avLst/>
          </a:prstGeom>
          <a:noFill/>
          <a:ln w="25400">
            <a:solidFill>
              <a:srgbClr val="5B6770"/>
            </a:solidFill>
            <a:prstDash val="solid"/>
            <a:headEnd type="none"/>
            <a:tailEnd type="triangle"/>
          </a:ln>
        </p:spPr>
      </p:sp>
      <p:sp>
        <p:nvSpPr>
          <p:cNvPr id="13" name="Shape 11"/>
          <p:cNvSpPr/>
          <p:nvPr/>
        </p:nvSpPr>
        <p:spPr>
          <a:xfrm>
            <a:off x="5806440" y="2926080"/>
            <a:ext cx="0" cy="914400"/>
          </a:xfrm>
          <a:prstGeom prst="line">
            <a:avLst/>
          </a:prstGeom>
          <a:noFill/>
          <a:ln w="25400">
            <a:solidFill>
              <a:srgbClr val="5B6770"/>
            </a:solidFill>
            <a:prstDash val="solid"/>
            <a:headEnd type="none"/>
            <a:tailEnd type="triangle"/>
          </a:ln>
        </p:spPr>
      </p:sp>
      <p:sp>
        <p:nvSpPr>
          <p:cNvPr id="14" name="Text 12"/>
          <p:cNvSpPr/>
          <p:nvPr/>
        </p:nvSpPr>
        <p:spPr>
          <a:xfrm>
            <a:off x="5943600" y="3182112"/>
            <a:ext cx="1097280" cy="182880"/>
          </a:xfrm>
          <a:prstGeom prst="rect">
            <a:avLst/>
          </a:prstGeom>
          <a:noFill/>
          <a:ln/>
        </p:spPr>
        <p:txBody>
          <a:bodyPr wrap="square" lIns="0" tIns="0" rIns="0" bIns="0" rtlCol="0" anchor="ctr"/>
          <a:lstStyle/>
          <a:p>
            <a:pPr indent="0" marL="0">
              <a:buNone/>
            </a:pPr>
            <a:r>
              <a:rPr lang="en-US" sz="1000" dirty="0">
                <a:solidFill>
                  <a:srgbClr val="5B6770"/>
                </a:solidFill>
              </a:rPr>
              <a:t>performance</a:t>
            </a:r>
            <a:endParaRPr lang="en-US" sz="1000" dirty="0"/>
          </a:p>
        </p:txBody>
      </p:sp>
      <p:sp>
        <p:nvSpPr>
          <p:cNvPr id="15" name="Shape 13"/>
          <p:cNvSpPr/>
          <p:nvPr/>
        </p:nvSpPr>
        <p:spPr>
          <a:xfrm>
            <a:off x="4389120" y="4224528"/>
            <a:ext cx="-960120" cy="-1435608"/>
          </a:xfrm>
          <a:prstGeom prst="line">
            <a:avLst/>
          </a:prstGeom>
          <a:noFill/>
          <a:ln w="25400">
            <a:solidFill>
              <a:srgbClr val="5B6770"/>
            </a:solidFill>
            <a:prstDash val="solid"/>
            <a:headEnd type="none"/>
            <a:tailEnd type="triangle"/>
          </a:ln>
        </p:spPr>
      </p:sp>
      <p:sp>
        <p:nvSpPr>
          <p:cNvPr id="16" name="Text 14"/>
          <p:cNvSpPr/>
          <p:nvPr/>
        </p:nvSpPr>
        <p:spPr>
          <a:xfrm>
            <a:off x="3657600" y="3246120"/>
            <a:ext cx="914400" cy="182880"/>
          </a:xfrm>
          <a:prstGeom prst="rect">
            <a:avLst/>
          </a:prstGeom>
          <a:noFill/>
          <a:ln/>
        </p:spPr>
        <p:txBody>
          <a:bodyPr wrap="square" lIns="0" tIns="0" rIns="0" bIns="0" rtlCol="0" anchor="ctr"/>
          <a:lstStyle/>
          <a:p>
            <a:pPr indent="0" marL="0">
              <a:buNone/>
            </a:pPr>
            <a:r>
              <a:rPr lang="en-US" sz="1000" dirty="0">
                <a:solidFill>
                  <a:srgbClr val="5B6770"/>
                </a:solidFill>
              </a:rPr>
              <a:t>changes</a:t>
            </a:r>
            <a:endParaRPr lang="en-US" sz="1000" dirty="0"/>
          </a:p>
        </p:txBody>
      </p:sp>
      <p:sp>
        <p:nvSpPr>
          <p:cNvPr id="17" name="Shape 15"/>
          <p:cNvSpPr/>
          <p:nvPr/>
        </p:nvSpPr>
        <p:spPr>
          <a:xfrm>
            <a:off x="8321040" y="4224528"/>
            <a:ext cx="-1097280" cy="-1389888"/>
          </a:xfrm>
          <a:prstGeom prst="line">
            <a:avLst/>
          </a:prstGeom>
          <a:noFill/>
          <a:ln w="25400">
            <a:solidFill>
              <a:srgbClr val="5B6770"/>
            </a:solidFill>
            <a:prstDash val="solid"/>
            <a:headEnd type="none"/>
            <a:tailEnd type="triangle"/>
          </a:ln>
        </p:spPr>
      </p:sp>
      <p:sp>
        <p:nvSpPr>
          <p:cNvPr id="18" name="Text 16"/>
          <p:cNvSpPr/>
          <p:nvPr/>
        </p:nvSpPr>
        <p:spPr>
          <a:xfrm>
            <a:off x="7315200" y="3273552"/>
            <a:ext cx="1051560" cy="182880"/>
          </a:xfrm>
          <a:prstGeom prst="rect">
            <a:avLst/>
          </a:prstGeom>
          <a:noFill/>
          <a:ln/>
        </p:spPr>
        <p:txBody>
          <a:bodyPr wrap="square" lIns="0" tIns="0" rIns="0" bIns="0" rtlCol="0" anchor="ctr"/>
          <a:lstStyle/>
          <a:p>
            <a:pPr indent="0" marL="0">
              <a:buNone/>
            </a:pPr>
            <a:r>
              <a:rPr lang="en-US" sz="1000" dirty="0">
                <a:solidFill>
                  <a:srgbClr val="5B6770"/>
                </a:solidFill>
              </a:rPr>
              <a:t>exploration</a:t>
            </a:r>
            <a:endParaRPr lang="en-US" sz="1000" dirty="0"/>
          </a:p>
        </p:txBody>
      </p:sp>
      <p:sp>
        <p:nvSpPr>
          <p:cNvPr id="19" name="Text 17"/>
          <p:cNvSpPr/>
          <p:nvPr/>
        </p:nvSpPr>
        <p:spPr>
          <a:xfrm>
            <a:off x="914400" y="5349240"/>
            <a:ext cx="10332720" cy="384048"/>
          </a:xfrm>
          <a:prstGeom prst="rect">
            <a:avLst/>
          </a:prstGeom>
          <a:noFill/>
          <a:ln/>
        </p:spPr>
        <p:txBody>
          <a:bodyPr wrap="square" lIns="0" tIns="0" rIns="0" bIns="0" rtlCol="0" anchor="ctr"/>
          <a:lstStyle/>
          <a:p>
            <a:pPr algn="ctr" indent="0" marL="0">
              <a:buNone/>
            </a:pPr>
            <a:r>
              <a:rPr lang="en-US" sz="1600" b="1" dirty="0">
                <a:solidFill>
                  <a:srgbClr val="0B2D5B"/>
                </a:solidFill>
              </a:rPr>
              <a:t>Performance element chooses actions. Learning element improves it. Critic evaluates. Problem generator explores.</a:t>
            </a:r>
            <a:endParaRPr lang="en-US" sz="1600" dirty="0"/>
          </a:p>
        </p:txBody>
      </p:sp>
      <p:sp>
        <p:nvSpPr>
          <p:cNvPr id="21" name="Text 18"/>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2.4.7 Representing the World Inside the Agent</a:t>
            </a:r>
            <a:endParaRPr lang="en-US" sz="2500" dirty="0"/>
          </a:p>
        </p:txBody>
      </p:sp>
      <p:sp>
        <p:nvSpPr>
          <p:cNvPr id="3" name="Shape 1"/>
          <p:cNvSpPr/>
          <p:nvPr/>
        </p:nvSpPr>
        <p:spPr>
          <a:xfrm>
            <a:off x="777240" y="1234440"/>
            <a:ext cx="3246120" cy="2011680"/>
          </a:xfrm>
          <a:prstGeom prst="roundRect">
            <a:avLst>
              <a:gd name="adj" fmla="val 2273"/>
            </a:avLst>
          </a:prstGeom>
          <a:solidFill>
            <a:srgbClr val="FFFFFF"/>
          </a:solidFill>
          <a:ln w="15240">
            <a:solidFill>
              <a:srgbClr val="D4E0EA"/>
            </a:solidFill>
            <a:prstDash val="solid"/>
          </a:ln>
        </p:spPr>
      </p:sp>
      <p:sp>
        <p:nvSpPr>
          <p:cNvPr id="4" name="Shape 2"/>
          <p:cNvSpPr/>
          <p:nvPr/>
        </p:nvSpPr>
        <p:spPr>
          <a:xfrm>
            <a:off x="777240" y="1234440"/>
            <a:ext cx="3246120" cy="347472"/>
          </a:xfrm>
          <a:prstGeom prst="rect">
            <a:avLst/>
          </a:prstGeom>
          <a:solidFill>
            <a:srgbClr val="1E73BE"/>
          </a:solidFill>
          <a:ln w="12700">
            <a:solidFill>
              <a:srgbClr val="1E73BE"/>
            </a:solidFill>
            <a:prstDash val="solid"/>
          </a:ln>
        </p:spPr>
      </p:sp>
      <p:sp>
        <p:nvSpPr>
          <p:cNvPr id="5" name="Text 3"/>
          <p:cNvSpPr/>
          <p:nvPr/>
        </p:nvSpPr>
        <p:spPr>
          <a:xfrm>
            <a:off x="886968" y="1307592"/>
            <a:ext cx="3026664" cy="201168"/>
          </a:xfrm>
          <a:prstGeom prst="rect">
            <a:avLst/>
          </a:prstGeom>
          <a:noFill/>
          <a:ln/>
        </p:spPr>
        <p:txBody>
          <a:bodyPr wrap="square" lIns="0" tIns="0" rIns="0" bIns="0" rtlCol="0" anchor="ctr"/>
          <a:lstStyle/>
          <a:p>
            <a:pPr algn="ctr" indent="0" marL="0">
              <a:buNone/>
            </a:pPr>
            <a:r>
              <a:rPr lang="en-US" sz="1300" b="1" dirty="0">
                <a:solidFill>
                  <a:srgbClr val="FFFFFF"/>
                </a:solidFill>
              </a:rPr>
              <a:t>Atomic</a:t>
            </a:r>
            <a:endParaRPr lang="en-US" sz="1300" dirty="0"/>
          </a:p>
        </p:txBody>
      </p:sp>
      <p:sp>
        <p:nvSpPr>
          <p:cNvPr id="6" name="Text 4"/>
          <p:cNvSpPr/>
          <p:nvPr/>
        </p:nvSpPr>
        <p:spPr>
          <a:xfrm>
            <a:off x="941832" y="1709928"/>
            <a:ext cx="2916936" cy="14447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State is a black box.</a:t>
            </a:r>
            <a:endParaRPr lang="en-US" sz="1300" dirty="0"/>
          </a:p>
          <a:p>
            <a:pPr indent="0" marL="0">
              <a:buNone/>
            </a:pPr>
            <a:r>
              <a:rPr lang="en-US" sz="1300" dirty="0">
                <a:solidFill>
                  <a:srgbClr val="14213D"/>
                </a:solidFill>
              </a:rPr>
              <a:t>Example: city name only.</a:t>
            </a:r>
            <a:endParaRPr lang="en-US" sz="1300" dirty="0"/>
          </a:p>
          <a:p>
            <a:pPr indent="0" marL="0">
              <a:buNone/>
            </a:pPr>
            <a:r>
              <a:rPr lang="en-US" sz="1300" dirty="0">
                <a:solidFill>
                  <a:srgbClr val="14213D"/>
                </a:solidFill>
              </a:rPr>
              <a:t>Used in search, games, HMMs, MDPs.</a:t>
            </a:r>
            <a:endParaRPr lang="en-US" sz="1300" dirty="0"/>
          </a:p>
        </p:txBody>
      </p:sp>
      <p:sp>
        <p:nvSpPr>
          <p:cNvPr id="7" name="Shape 5"/>
          <p:cNvSpPr/>
          <p:nvPr/>
        </p:nvSpPr>
        <p:spPr>
          <a:xfrm>
            <a:off x="4434840" y="1234440"/>
            <a:ext cx="3246120" cy="2011680"/>
          </a:xfrm>
          <a:prstGeom prst="roundRect">
            <a:avLst>
              <a:gd name="adj" fmla="val 2273"/>
            </a:avLst>
          </a:prstGeom>
          <a:solidFill>
            <a:srgbClr val="FFFFFF"/>
          </a:solidFill>
          <a:ln w="15240">
            <a:solidFill>
              <a:srgbClr val="D4E0EA"/>
            </a:solidFill>
            <a:prstDash val="solid"/>
          </a:ln>
        </p:spPr>
      </p:sp>
      <p:sp>
        <p:nvSpPr>
          <p:cNvPr id="8" name="Shape 6"/>
          <p:cNvSpPr/>
          <p:nvPr/>
        </p:nvSpPr>
        <p:spPr>
          <a:xfrm>
            <a:off x="4434840" y="1234440"/>
            <a:ext cx="3246120" cy="347472"/>
          </a:xfrm>
          <a:prstGeom prst="rect">
            <a:avLst/>
          </a:prstGeom>
          <a:solidFill>
            <a:srgbClr val="1E7A3B"/>
          </a:solidFill>
          <a:ln w="12700">
            <a:solidFill>
              <a:srgbClr val="1E7A3B"/>
            </a:solidFill>
            <a:prstDash val="solid"/>
          </a:ln>
        </p:spPr>
      </p:sp>
      <p:sp>
        <p:nvSpPr>
          <p:cNvPr id="9" name="Text 7"/>
          <p:cNvSpPr/>
          <p:nvPr/>
        </p:nvSpPr>
        <p:spPr>
          <a:xfrm>
            <a:off x="4544568" y="1307592"/>
            <a:ext cx="3026664" cy="201168"/>
          </a:xfrm>
          <a:prstGeom prst="rect">
            <a:avLst/>
          </a:prstGeom>
          <a:noFill/>
          <a:ln/>
        </p:spPr>
        <p:txBody>
          <a:bodyPr wrap="square" lIns="0" tIns="0" rIns="0" bIns="0" rtlCol="0" anchor="ctr"/>
          <a:lstStyle/>
          <a:p>
            <a:pPr algn="ctr" indent="0" marL="0">
              <a:buNone/>
            </a:pPr>
            <a:r>
              <a:rPr lang="en-US" sz="1300" b="1" dirty="0">
                <a:solidFill>
                  <a:srgbClr val="FFFFFF"/>
                </a:solidFill>
              </a:rPr>
              <a:t>Factored</a:t>
            </a:r>
            <a:endParaRPr lang="en-US" sz="1300" dirty="0"/>
          </a:p>
        </p:txBody>
      </p:sp>
      <p:sp>
        <p:nvSpPr>
          <p:cNvPr id="10" name="Text 8"/>
          <p:cNvSpPr/>
          <p:nvPr/>
        </p:nvSpPr>
        <p:spPr>
          <a:xfrm>
            <a:off x="4599432" y="1709928"/>
            <a:ext cx="2916936" cy="14447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State is a set of variables.</a:t>
            </a:r>
            <a:endParaRPr lang="en-US" sz="1300" dirty="0"/>
          </a:p>
          <a:p>
            <a:pPr indent="0" marL="0">
              <a:buNone/>
            </a:pPr>
            <a:r>
              <a:rPr lang="en-US" sz="1300" dirty="0">
                <a:solidFill>
                  <a:srgbClr val="14213D"/>
                </a:solidFill>
              </a:rPr>
              <a:t>Example: location, fuel, speed, weather.</a:t>
            </a:r>
            <a:endParaRPr lang="en-US" sz="1300" dirty="0"/>
          </a:p>
          <a:p>
            <a:pPr indent="0" marL="0">
              <a:buNone/>
            </a:pPr>
            <a:r>
              <a:rPr lang="en-US" sz="1300" dirty="0">
                <a:solidFill>
                  <a:srgbClr val="14213D"/>
                </a:solidFill>
              </a:rPr>
              <a:t>Used in CSPs, logic, Bayes nets, planning.</a:t>
            </a:r>
            <a:endParaRPr lang="en-US" sz="1300" dirty="0"/>
          </a:p>
        </p:txBody>
      </p:sp>
      <p:sp>
        <p:nvSpPr>
          <p:cNvPr id="11" name="Shape 9"/>
          <p:cNvSpPr/>
          <p:nvPr/>
        </p:nvSpPr>
        <p:spPr>
          <a:xfrm>
            <a:off x="8092440" y="1234440"/>
            <a:ext cx="3246120" cy="2011680"/>
          </a:xfrm>
          <a:prstGeom prst="roundRect">
            <a:avLst>
              <a:gd name="adj" fmla="val 2273"/>
            </a:avLst>
          </a:prstGeom>
          <a:solidFill>
            <a:srgbClr val="FFFFFF"/>
          </a:solidFill>
          <a:ln w="15240">
            <a:solidFill>
              <a:srgbClr val="D4E0EA"/>
            </a:solidFill>
            <a:prstDash val="solid"/>
          </a:ln>
        </p:spPr>
      </p:sp>
      <p:sp>
        <p:nvSpPr>
          <p:cNvPr id="12" name="Shape 10"/>
          <p:cNvSpPr/>
          <p:nvPr/>
        </p:nvSpPr>
        <p:spPr>
          <a:xfrm>
            <a:off x="8092440" y="1234440"/>
            <a:ext cx="3246120" cy="347472"/>
          </a:xfrm>
          <a:prstGeom prst="rect">
            <a:avLst/>
          </a:prstGeom>
          <a:solidFill>
            <a:srgbClr val="6A2FD4"/>
          </a:solidFill>
          <a:ln w="12700">
            <a:solidFill>
              <a:srgbClr val="6A2FD4"/>
            </a:solidFill>
            <a:prstDash val="solid"/>
          </a:ln>
        </p:spPr>
      </p:sp>
      <p:sp>
        <p:nvSpPr>
          <p:cNvPr id="13" name="Text 11"/>
          <p:cNvSpPr/>
          <p:nvPr/>
        </p:nvSpPr>
        <p:spPr>
          <a:xfrm>
            <a:off x="8202168" y="1307592"/>
            <a:ext cx="3026664" cy="201168"/>
          </a:xfrm>
          <a:prstGeom prst="rect">
            <a:avLst/>
          </a:prstGeom>
          <a:noFill/>
          <a:ln/>
        </p:spPr>
        <p:txBody>
          <a:bodyPr wrap="square" lIns="0" tIns="0" rIns="0" bIns="0" rtlCol="0" anchor="ctr"/>
          <a:lstStyle/>
          <a:p>
            <a:pPr algn="ctr" indent="0" marL="0">
              <a:buNone/>
            </a:pPr>
            <a:r>
              <a:rPr lang="en-US" sz="1300" b="1" dirty="0">
                <a:solidFill>
                  <a:srgbClr val="FFFFFF"/>
                </a:solidFill>
              </a:rPr>
              <a:t>Structured</a:t>
            </a:r>
            <a:endParaRPr lang="en-US" sz="1300" dirty="0"/>
          </a:p>
        </p:txBody>
      </p:sp>
      <p:sp>
        <p:nvSpPr>
          <p:cNvPr id="14" name="Text 12"/>
          <p:cNvSpPr/>
          <p:nvPr/>
        </p:nvSpPr>
        <p:spPr>
          <a:xfrm>
            <a:off x="8257032" y="1709928"/>
            <a:ext cx="2916936" cy="144475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Objects plus relations.</a:t>
            </a:r>
            <a:endParaRPr lang="en-US" sz="1300" dirty="0"/>
          </a:p>
          <a:p>
            <a:pPr indent="0" marL="0">
              <a:buNone/>
            </a:pPr>
            <a:r>
              <a:rPr lang="en-US" sz="1300" dirty="0">
                <a:solidFill>
                  <a:srgbClr val="14213D"/>
                </a:solidFill>
              </a:rPr>
              <a:t>Example: truck blocking cow near driveway.</a:t>
            </a:r>
            <a:endParaRPr lang="en-US" sz="1300" dirty="0"/>
          </a:p>
          <a:p>
            <a:pPr indent="0" marL="0">
              <a:buNone/>
            </a:pPr>
            <a:r>
              <a:rPr lang="en-US" sz="1300" dirty="0">
                <a:solidFill>
                  <a:srgbClr val="14213D"/>
                </a:solidFill>
              </a:rPr>
              <a:t>Used in first-order logic, databases, language.</a:t>
            </a:r>
            <a:endParaRPr lang="en-US" sz="1300" dirty="0"/>
          </a:p>
        </p:txBody>
      </p:sp>
      <p:sp>
        <p:nvSpPr>
          <p:cNvPr id="15" name="Shape 13"/>
          <p:cNvSpPr/>
          <p:nvPr/>
        </p:nvSpPr>
        <p:spPr>
          <a:xfrm>
            <a:off x="1280160" y="4160520"/>
            <a:ext cx="9601200" cy="0"/>
          </a:xfrm>
          <a:prstGeom prst="line">
            <a:avLst/>
          </a:prstGeom>
          <a:noFill/>
          <a:ln w="50800">
            <a:solidFill>
              <a:srgbClr val="CDD9E2"/>
            </a:solidFill>
            <a:prstDash val="solid"/>
          </a:ln>
        </p:spPr>
      </p:sp>
      <p:sp>
        <p:nvSpPr>
          <p:cNvPr id="16" name="Text 14"/>
          <p:cNvSpPr/>
          <p:nvPr/>
        </p:nvSpPr>
        <p:spPr>
          <a:xfrm>
            <a:off x="868680" y="4434840"/>
            <a:ext cx="2926080" cy="228600"/>
          </a:xfrm>
          <a:prstGeom prst="rect">
            <a:avLst/>
          </a:prstGeom>
          <a:noFill/>
          <a:ln/>
        </p:spPr>
        <p:txBody>
          <a:bodyPr wrap="square" lIns="0" tIns="0" rIns="0" bIns="0" rtlCol="0" anchor="ctr"/>
          <a:lstStyle/>
          <a:p>
            <a:pPr algn="ctr" indent="0" marL="0">
              <a:buNone/>
            </a:pPr>
            <a:r>
              <a:rPr lang="en-US" sz="1200" dirty="0">
                <a:solidFill>
                  <a:srgbClr val="5B6770"/>
                </a:solidFill>
              </a:rPr>
              <a:t>less expressive, easier reasoning</a:t>
            </a:r>
            <a:endParaRPr lang="en-US" sz="1200" dirty="0"/>
          </a:p>
        </p:txBody>
      </p:sp>
      <p:sp>
        <p:nvSpPr>
          <p:cNvPr id="17" name="Text 15"/>
          <p:cNvSpPr/>
          <p:nvPr/>
        </p:nvSpPr>
        <p:spPr>
          <a:xfrm>
            <a:off x="8229600" y="4434840"/>
            <a:ext cx="2926080" cy="228600"/>
          </a:xfrm>
          <a:prstGeom prst="rect">
            <a:avLst/>
          </a:prstGeom>
          <a:noFill/>
          <a:ln/>
        </p:spPr>
        <p:txBody>
          <a:bodyPr wrap="square" lIns="0" tIns="0" rIns="0" bIns="0" rtlCol="0" anchor="ctr"/>
          <a:lstStyle/>
          <a:p>
            <a:pPr algn="ctr" indent="0" marL="0">
              <a:buNone/>
            </a:pPr>
            <a:r>
              <a:rPr lang="en-US" sz="1200" dirty="0">
                <a:solidFill>
                  <a:srgbClr val="5B6770"/>
                </a:solidFill>
              </a:rPr>
              <a:t>more expressive, harder reasoning</a:t>
            </a:r>
            <a:endParaRPr lang="en-US" sz="1200" dirty="0"/>
          </a:p>
        </p:txBody>
      </p:sp>
      <p:sp>
        <p:nvSpPr>
          <p:cNvPr id="18" name="Text 16"/>
          <p:cNvSpPr/>
          <p:nvPr/>
        </p:nvSpPr>
        <p:spPr>
          <a:xfrm>
            <a:off x="960120" y="5257800"/>
            <a:ext cx="10241280" cy="411480"/>
          </a:xfrm>
          <a:prstGeom prst="rect">
            <a:avLst/>
          </a:prstGeom>
          <a:noFill/>
          <a:ln/>
        </p:spPr>
        <p:txBody>
          <a:bodyPr wrap="square" lIns="0" tIns="0" rIns="0" bIns="0" rtlCol="0" anchor="ctr"/>
          <a:lstStyle/>
          <a:p>
            <a:pPr algn="ctr" indent="0" marL="0">
              <a:buNone/>
            </a:pPr>
            <a:r>
              <a:rPr lang="en-US" sz="1700" b="1" dirty="0">
                <a:solidFill>
                  <a:srgbClr val="0B2D5B"/>
                </a:solidFill>
              </a:rPr>
              <a:t>Design choice: enough expressive power for the task, but not more than the agent can reason with efficiently.</a:t>
            </a:r>
            <a:endParaRPr lang="en-US" sz="1700" dirty="0"/>
          </a:p>
        </p:txBody>
      </p:sp>
      <p:sp>
        <p:nvSpPr>
          <p:cNvPr id="20" name="Text 17"/>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Class Demo: Autonomous Pac-Man Agent</a:t>
            </a:r>
            <a:endParaRPr lang="en-US" sz="2500" dirty="0"/>
          </a:p>
        </p:txBody>
      </p:sp>
      <p:sp>
        <p:nvSpPr>
          <p:cNvPr id="3" name="Text 1"/>
          <p:cNvSpPr/>
          <p:nvPr/>
        </p:nvSpPr>
        <p:spPr>
          <a:xfrm>
            <a:off x="777240" y="987552"/>
            <a:ext cx="10607040" cy="329184"/>
          </a:xfrm>
          <a:prstGeom prst="rect">
            <a:avLst/>
          </a:prstGeom>
          <a:noFill/>
          <a:ln/>
        </p:spPr>
        <p:txBody>
          <a:bodyPr wrap="square" lIns="0" tIns="0" rIns="0" bIns="0" rtlCol="0" anchor="ctr"/>
          <a:lstStyle/>
          <a:p>
            <a:pPr algn="ctr" indent="0" marL="0">
              <a:buNone/>
            </a:pPr>
            <a:r>
              <a:rPr lang="en-US" sz="2100" b="1" dirty="0">
                <a:solidFill>
                  <a:srgbClr val="0B2D5B"/>
                </a:solidFill>
              </a:rPr>
              <a:t>Use the game to make the Chapter 2 vocabulary operational.</a:t>
            </a:r>
            <a:endParaRPr lang="en-US" sz="2100" dirty="0"/>
          </a:p>
        </p:txBody>
      </p:sp>
      <p:sp>
        <p:nvSpPr>
          <p:cNvPr id="4" name="Shape 2"/>
          <p:cNvSpPr/>
          <p:nvPr/>
        </p:nvSpPr>
        <p:spPr>
          <a:xfrm>
            <a:off x="822960" y="1645920"/>
            <a:ext cx="3291840" cy="1005840"/>
          </a:xfrm>
          <a:prstGeom prst="roundRect">
            <a:avLst>
              <a:gd name="adj" fmla="val 4545"/>
            </a:avLst>
          </a:prstGeom>
          <a:solidFill>
            <a:srgbClr val="FFFFFF"/>
          </a:solidFill>
          <a:ln w="15240">
            <a:solidFill>
              <a:srgbClr val="D4E0EA"/>
            </a:solidFill>
            <a:prstDash val="solid"/>
          </a:ln>
        </p:spPr>
      </p:sp>
      <p:sp>
        <p:nvSpPr>
          <p:cNvPr id="5" name="Shape 3"/>
          <p:cNvSpPr/>
          <p:nvPr/>
        </p:nvSpPr>
        <p:spPr>
          <a:xfrm>
            <a:off x="822960" y="1645920"/>
            <a:ext cx="3291840" cy="347472"/>
          </a:xfrm>
          <a:prstGeom prst="rect">
            <a:avLst/>
          </a:prstGeom>
          <a:solidFill>
            <a:srgbClr val="1E73BE"/>
          </a:solidFill>
          <a:ln w="12700">
            <a:solidFill>
              <a:srgbClr val="1E73BE"/>
            </a:solidFill>
            <a:prstDash val="solid"/>
          </a:ln>
        </p:spPr>
      </p:sp>
      <p:sp>
        <p:nvSpPr>
          <p:cNvPr id="6" name="Text 4"/>
          <p:cNvSpPr/>
          <p:nvPr/>
        </p:nvSpPr>
        <p:spPr>
          <a:xfrm>
            <a:off x="932688" y="1719072"/>
            <a:ext cx="3072384" cy="201168"/>
          </a:xfrm>
          <a:prstGeom prst="rect">
            <a:avLst/>
          </a:prstGeom>
          <a:noFill/>
          <a:ln/>
        </p:spPr>
        <p:txBody>
          <a:bodyPr wrap="square" lIns="0" tIns="0" rIns="0" bIns="0" rtlCol="0" anchor="ctr"/>
          <a:lstStyle/>
          <a:p>
            <a:pPr algn="ctr" indent="0" marL="0">
              <a:buNone/>
            </a:pPr>
            <a:r>
              <a:rPr lang="en-US" sz="1300" b="1" dirty="0">
                <a:solidFill>
                  <a:srgbClr val="FFFFFF"/>
                </a:solidFill>
              </a:rPr>
              <a:t>Percepts</a:t>
            </a:r>
            <a:endParaRPr lang="en-US" sz="1300" dirty="0"/>
          </a:p>
        </p:txBody>
      </p:sp>
      <p:sp>
        <p:nvSpPr>
          <p:cNvPr id="7" name="Text 5"/>
          <p:cNvSpPr/>
          <p:nvPr/>
        </p:nvSpPr>
        <p:spPr>
          <a:xfrm>
            <a:off x="987552" y="2121408"/>
            <a:ext cx="2962656" cy="4389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Current position, legal moves, pellets, power pellets, ghost positions.</a:t>
            </a:r>
            <a:endParaRPr lang="en-US" sz="1300" dirty="0"/>
          </a:p>
        </p:txBody>
      </p:sp>
      <p:sp>
        <p:nvSpPr>
          <p:cNvPr id="8" name="Shape 6"/>
          <p:cNvSpPr/>
          <p:nvPr/>
        </p:nvSpPr>
        <p:spPr>
          <a:xfrm>
            <a:off x="4480560" y="1645920"/>
            <a:ext cx="3291840" cy="1005840"/>
          </a:xfrm>
          <a:prstGeom prst="roundRect">
            <a:avLst>
              <a:gd name="adj" fmla="val 4545"/>
            </a:avLst>
          </a:prstGeom>
          <a:solidFill>
            <a:srgbClr val="FFFFFF"/>
          </a:solidFill>
          <a:ln w="15240">
            <a:solidFill>
              <a:srgbClr val="D4E0EA"/>
            </a:solidFill>
            <a:prstDash val="solid"/>
          </a:ln>
        </p:spPr>
      </p:sp>
      <p:sp>
        <p:nvSpPr>
          <p:cNvPr id="9" name="Shape 7"/>
          <p:cNvSpPr/>
          <p:nvPr/>
        </p:nvSpPr>
        <p:spPr>
          <a:xfrm>
            <a:off x="4480560" y="1645920"/>
            <a:ext cx="3291840" cy="347472"/>
          </a:xfrm>
          <a:prstGeom prst="rect">
            <a:avLst/>
          </a:prstGeom>
          <a:solidFill>
            <a:srgbClr val="1E7A3B"/>
          </a:solidFill>
          <a:ln w="12700">
            <a:solidFill>
              <a:srgbClr val="1E7A3B"/>
            </a:solidFill>
            <a:prstDash val="solid"/>
          </a:ln>
        </p:spPr>
      </p:sp>
      <p:sp>
        <p:nvSpPr>
          <p:cNvPr id="10" name="Text 8"/>
          <p:cNvSpPr/>
          <p:nvPr/>
        </p:nvSpPr>
        <p:spPr>
          <a:xfrm>
            <a:off x="4590288" y="1719072"/>
            <a:ext cx="3072384" cy="201168"/>
          </a:xfrm>
          <a:prstGeom prst="rect">
            <a:avLst/>
          </a:prstGeom>
          <a:noFill/>
          <a:ln/>
        </p:spPr>
        <p:txBody>
          <a:bodyPr wrap="square" lIns="0" tIns="0" rIns="0" bIns="0" rtlCol="0" anchor="ctr"/>
          <a:lstStyle/>
          <a:p>
            <a:pPr algn="ctr" indent="0" marL="0">
              <a:buNone/>
            </a:pPr>
            <a:r>
              <a:rPr lang="en-US" sz="1300" b="1" dirty="0">
                <a:solidFill>
                  <a:srgbClr val="FFFFFF"/>
                </a:solidFill>
              </a:rPr>
              <a:t>Agent program</a:t>
            </a:r>
            <a:endParaRPr lang="en-US" sz="1300" dirty="0"/>
          </a:p>
        </p:txBody>
      </p:sp>
      <p:sp>
        <p:nvSpPr>
          <p:cNvPr id="11" name="Text 9"/>
          <p:cNvSpPr/>
          <p:nvPr/>
        </p:nvSpPr>
        <p:spPr>
          <a:xfrm>
            <a:off x="4645152" y="2121408"/>
            <a:ext cx="2962656" cy="4389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Computes utility for each action and chooses the best move.</a:t>
            </a:r>
            <a:endParaRPr lang="en-US" sz="1300" dirty="0"/>
          </a:p>
        </p:txBody>
      </p:sp>
      <p:sp>
        <p:nvSpPr>
          <p:cNvPr id="12" name="Shape 10"/>
          <p:cNvSpPr/>
          <p:nvPr/>
        </p:nvSpPr>
        <p:spPr>
          <a:xfrm>
            <a:off x="8138160" y="1645920"/>
            <a:ext cx="3291840" cy="1005840"/>
          </a:xfrm>
          <a:prstGeom prst="roundRect">
            <a:avLst>
              <a:gd name="adj" fmla="val 4545"/>
            </a:avLst>
          </a:prstGeom>
          <a:solidFill>
            <a:srgbClr val="FFFFFF"/>
          </a:solidFill>
          <a:ln w="15240">
            <a:solidFill>
              <a:srgbClr val="D4E0EA"/>
            </a:solidFill>
            <a:prstDash val="solid"/>
          </a:ln>
        </p:spPr>
      </p:sp>
      <p:sp>
        <p:nvSpPr>
          <p:cNvPr id="13" name="Shape 11"/>
          <p:cNvSpPr/>
          <p:nvPr/>
        </p:nvSpPr>
        <p:spPr>
          <a:xfrm>
            <a:off x="8138160" y="1645920"/>
            <a:ext cx="3291840" cy="347472"/>
          </a:xfrm>
          <a:prstGeom prst="rect">
            <a:avLst/>
          </a:prstGeom>
          <a:solidFill>
            <a:srgbClr val="6A2FD4"/>
          </a:solidFill>
          <a:ln w="12700">
            <a:solidFill>
              <a:srgbClr val="6A2FD4"/>
            </a:solidFill>
            <a:prstDash val="solid"/>
          </a:ln>
        </p:spPr>
      </p:sp>
      <p:sp>
        <p:nvSpPr>
          <p:cNvPr id="14" name="Text 12"/>
          <p:cNvSpPr/>
          <p:nvPr/>
        </p:nvSpPr>
        <p:spPr>
          <a:xfrm>
            <a:off x="8247888" y="1719072"/>
            <a:ext cx="3072384" cy="201168"/>
          </a:xfrm>
          <a:prstGeom prst="rect">
            <a:avLst/>
          </a:prstGeom>
          <a:noFill/>
          <a:ln/>
        </p:spPr>
        <p:txBody>
          <a:bodyPr wrap="square" lIns="0" tIns="0" rIns="0" bIns="0" rtlCol="0" anchor="ctr"/>
          <a:lstStyle/>
          <a:p>
            <a:pPr algn="ctr" indent="0" marL="0">
              <a:buNone/>
            </a:pPr>
            <a:r>
              <a:rPr lang="en-US" sz="1300" b="1" dirty="0">
                <a:solidFill>
                  <a:srgbClr val="FFFFFF"/>
                </a:solidFill>
              </a:rPr>
              <a:t>Actions</a:t>
            </a:r>
            <a:endParaRPr lang="en-US" sz="1300" dirty="0"/>
          </a:p>
        </p:txBody>
      </p:sp>
      <p:sp>
        <p:nvSpPr>
          <p:cNvPr id="15" name="Text 13"/>
          <p:cNvSpPr/>
          <p:nvPr/>
        </p:nvSpPr>
        <p:spPr>
          <a:xfrm>
            <a:off x="8302752" y="2121408"/>
            <a:ext cx="2962656" cy="4389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Move left, right, up, or down; environment changes after each action.</a:t>
            </a:r>
            <a:endParaRPr lang="en-US" sz="1300" dirty="0"/>
          </a:p>
        </p:txBody>
      </p:sp>
      <p:sp>
        <p:nvSpPr>
          <p:cNvPr id="16" name="Shape 14"/>
          <p:cNvSpPr/>
          <p:nvPr/>
        </p:nvSpPr>
        <p:spPr>
          <a:xfrm>
            <a:off x="822960" y="3154680"/>
            <a:ext cx="3291840" cy="1005840"/>
          </a:xfrm>
          <a:prstGeom prst="roundRect">
            <a:avLst>
              <a:gd name="adj" fmla="val 4545"/>
            </a:avLst>
          </a:prstGeom>
          <a:solidFill>
            <a:srgbClr val="FFFFFF"/>
          </a:solidFill>
          <a:ln w="15240">
            <a:solidFill>
              <a:srgbClr val="D4E0EA"/>
            </a:solidFill>
            <a:prstDash val="solid"/>
          </a:ln>
        </p:spPr>
      </p:sp>
      <p:sp>
        <p:nvSpPr>
          <p:cNvPr id="17" name="Shape 15"/>
          <p:cNvSpPr/>
          <p:nvPr/>
        </p:nvSpPr>
        <p:spPr>
          <a:xfrm>
            <a:off x="822960" y="3154680"/>
            <a:ext cx="3291840" cy="347472"/>
          </a:xfrm>
          <a:prstGeom prst="rect">
            <a:avLst/>
          </a:prstGeom>
          <a:solidFill>
            <a:srgbClr val="A71D1D"/>
          </a:solidFill>
          <a:ln w="12700">
            <a:solidFill>
              <a:srgbClr val="A71D1D"/>
            </a:solidFill>
            <a:prstDash val="solid"/>
          </a:ln>
        </p:spPr>
      </p:sp>
      <p:sp>
        <p:nvSpPr>
          <p:cNvPr id="18" name="Text 16"/>
          <p:cNvSpPr/>
          <p:nvPr/>
        </p:nvSpPr>
        <p:spPr>
          <a:xfrm>
            <a:off x="932688" y="3227832"/>
            <a:ext cx="3072384" cy="201168"/>
          </a:xfrm>
          <a:prstGeom prst="rect">
            <a:avLst/>
          </a:prstGeom>
          <a:noFill/>
          <a:ln/>
        </p:spPr>
        <p:txBody>
          <a:bodyPr wrap="square" lIns="0" tIns="0" rIns="0" bIns="0" rtlCol="0" anchor="ctr"/>
          <a:lstStyle/>
          <a:p>
            <a:pPr algn="ctr" indent="0" marL="0">
              <a:buNone/>
            </a:pPr>
            <a:r>
              <a:rPr lang="en-US" sz="1300" b="1" dirty="0">
                <a:solidFill>
                  <a:srgbClr val="FFFFFF"/>
                </a:solidFill>
              </a:rPr>
              <a:t>Performance measure</a:t>
            </a:r>
            <a:endParaRPr lang="en-US" sz="1300" dirty="0"/>
          </a:p>
        </p:txBody>
      </p:sp>
      <p:sp>
        <p:nvSpPr>
          <p:cNvPr id="19" name="Text 17"/>
          <p:cNvSpPr/>
          <p:nvPr/>
        </p:nvSpPr>
        <p:spPr>
          <a:xfrm>
            <a:off x="987552" y="3630168"/>
            <a:ext cx="2962656" cy="4389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Score increases from pellets and edible ghosts; death is failure.</a:t>
            </a:r>
            <a:endParaRPr lang="en-US" sz="1300" dirty="0"/>
          </a:p>
        </p:txBody>
      </p:sp>
      <p:sp>
        <p:nvSpPr>
          <p:cNvPr id="20" name="Shape 18"/>
          <p:cNvSpPr/>
          <p:nvPr/>
        </p:nvSpPr>
        <p:spPr>
          <a:xfrm>
            <a:off x="4480560" y="3154680"/>
            <a:ext cx="3291840" cy="1005840"/>
          </a:xfrm>
          <a:prstGeom prst="roundRect">
            <a:avLst>
              <a:gd name="adj" fmla="val 4545"/>
            </a:avLst>
          </a:prstGeom>
          <a:solidFill>
            <a:srgbClr val="FFFFFF"/>
          </a:solidFill>
          <a:ln w="15240">
            <a:solidFill>
              <a:srgbClr val="D4E0EA"/>
            </a:solidFill>
            <a:prstDash val="solid"/>
          </a:ln>
        </p:spPr>
      </p:sp>
      <p:sp>
        <p:nvSpPr>
          <p:cNvPr id="21" name="Shape 19"/>
          <p:cNvSpPr/>
          <p:nvPr/>
        </p:nvSpPr>
        <p:spPr>
          <a:xfrm>
            <a:off x="4480560" y="3154680"/>
            <a:ext cx="3291840" cy="347472"/>
          </a:xfrm>
          <a:prstGeom prst="rect">
            <a:avLst/>
          </a:prstGeom>
          <a:solidFill>
            <a:srgbClr val="F5A623"/>
          </a:solidFill>
          <a:ln w="12700">
            <a:solidFill>
              <a:srgbClr val="F5A623"/>
            </a:solidFill>
            <a:prstDash val="solid"/>
          </a:ln>
        </p:spPr>
      </p:sp>
      <p:sp>
        <p:nvSpPr>
          <p:cNvPr id="22" name="Text 20"/>
          <p:cNvSpPr/>
          <p:nvPr/>
        </p:nvSpPr>
        <p:spPr>
          <a:xfrm>
            <a:off x="4590288" y="3227832"/>
            <a:ext cx="3072384" cy="201168"/>
          </a:xfrm>
          <a:prstGeom prst="rect">
            <a:avLst/>
          </a:prstGeom>
          <a:noFill/>
          <a:ln/>
        </p:spPr>
        <p:txBody>
          <a:bodyPr wrap="square" lIns="0" tIns="0" rIns="0" bIns="0" rtlCol="0" anchor="ctr"/>
          <a:lstStyle/>
          <a:p>
            <a:pPr algn="ctr" indent="0" marL="0">
              <a:buNone/>
            </a:pPr>
            <a:r>
              <a:rPr lang="en-US" sz="1300" b="1" dirty="0">
                <a:solidFill>
                  <a:srgbClr val="FFFFFF"/>
                </a:solidFill>
              </a:rPr>
              <a:t>Rationality</a:t>
            </a:r>
            <a:endParaRPr lang="en-US" sz="1300" dirty="0"/>
          </a:p>
        </p:txBody>
      </p:sp>
      <p:sp>
        <p:nvSpPr>
          <p:cNvPr id="23" name="Text 21"/>
          <p:cNvSpPr/>
          <p:nvPr/>
        </p:nvSpPr>
        <p:spPr>
          <a:xfrm>
            <a:off x="4645152" y="3630168"/>
            <a:ext cx="2962656" cy="4389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The agent chooses actions that are expected to improve performance from available evidence.</a:t>
            </a:r>
            <a:endParaRPr lang="en-US" sz="1300" dirty="0"/>
          </a:p>
        </p:txBody>
      </p:sp>
      <p:sp>
        <p:nvSpPr>
          <p:cNvPr id="24" name="Shape 22"/>
          <p:cNvSpPr/>
          <p:nvPr/>
        </p:nvSpPr>
        <p:spPr>
          <a:xfrm>
            <a:off x="8138160" y="3154680"/>
            <a:ext cx="3291840" cy="1005840"/>
          </a:xfrm>
          <a:prstGeom prst="roundRect">
            <a:avLst>
              <a:gd name="adj" fmla="val 4545"/>
            </a:avLst>
          </a:prstGeom>
          <a:solidFill>
            <a:srgbClr val="FFFFFF"/>
          </a:solidFill>
          <a:ln w="15240">
            <a:solidFill>
              <a:srgbClr val="D4E0EA"/>
            </a:solidFill>
            <a:prstDash val="solid"/>
          </a:ln>
        </p:spPr>
      </p:sp>
      <p:sp>
        <p:nvSpPr>
          <p:cNvPr id="25" name="Shape 23"/>
          <p:cNvSpPr/>
          <p:nvPr/>
        </p:nvSpPr>
        <p:spPr>
          <a:xfrm>
            <a:off x="8138160" y="3154680"/>
            <a:ext cx="3291840" cy="347472"/>
          </a:xfrm>
          <a:prstGeom prst="rect">
            <a:avLst/>
          </a:prstGeom>
          <a:solidFill>
            <a:srgbClr val="008A96"/>
          </a:solidFill>
          <a:ln w="12700">
            <a:solidFill>
              <a:srgbClr val="008A96"/>
            </a:solidFill>
            <a:prstDash val="solid"/>
          </a:ln>
        </p:spPr>
      </p:sp>
      <p:sp>
        <p:nvSpPr>
          <p:cNvPr id="26" name="Text 24"/>
          <p:cNvSpPr/>
          <p:nvPr/>
        </p:nvSpPr>
        <p:spPr>
          <a:xfrm>
            <a:off x="8247888" y="3227832"/>
            <a:ext cx="3072384" cy="201168"/>
          </a:xfrm>
          <a:prstGeom prst="rect">
            <a:avLst/>
          </a:prstGeom>
          <a:noFill/>
          <a:ln/>
        </p:spPr>
        <p:txBody>
          <a:bodyPr wrap="square" lIns="0" tIns="0" rIns="0" bIns="0" rtlCol="0" anchor="ctr"/>
          <a:lstStyle/>
          <a:p>
            <a:pPr algn="ctr" indent="0" marL="0">
              <a:buNone/>
            </a:pPr>
            <a:r>
              <a:rPr lang="en-US" sz="1300" b="1" dirty="0">
                <a:solidFill>
                  <a:srgbClr val="FFFFFF"/>
                </a:solidFill>
              </a:rPr>
              <a:t>Environment type</a:t>
            </a:r>
            <a:endParaRPr lang="en-US" sz="1300" dirty="0"/>
          </a:p>
        </p:txBody>
      </p:sp>
      <p:sp>
        <p:nvSpPr>
          <p:cNvPr id="27" name="Text 25"/>
          <p:cNvSpPr/>
          <p:nvPr/>
        </p:nvSpPr>
        <p:spPr>
          <a:xfrm>
            <a:off x="8302752" y="3630168"/>
            <a:ext cx="2962656" cy="438912"/>
          </a:xfrm>
          <a:prstGeom prst="rect">
            <a:avLst/>
          </a:prstGeom>
          <a:noFill/>
          <a:ln/>
        </p:spPr>
        <p:txBody>
          <a:bodyPr wrap="square" lIns="254" tIns="254" rIns="254" bIns="254" rtlCol="0" anchor="ctr">
            <a:normAutofit/>
          </a:bodyPr>
          <a:lstStyle/>
          <a:p>
            <a:pPr indent="0" marL="0">
              <a:buNone/>
            </a:pPr>
            <a:r>
              <a:rPr lang="en-US" sz="1300" dirty="0">
                <a:solidFill>
                  <a:srgbClr val="14213D"/>
                </a:solidFill>
              </a:rPr>
              <a:t>Sequential, dynamic, multiagent, discrete; partially observable in more realistic versions.</a:t>
            </a:r>
            <a:endParaRPr lang="en-US" sz="1300" dirty="0"/>
          </a:p>
        </p:txBody>
      </p:sp>
      <p:sp>
        <p:nvSpPr>
          <p:cNvPr id="28" name="Text 26"/>
          <p:cNvSpPr/>
          <p:nvPr/>
        </p:nvSpPr>
        <p:spPr>
          <a:xfrm>
            <a:off x="914400" y="5257800"/>
            <a:ext cx="10332720" cy="347472"/>
          </a:xfrm>
          <a:prstGeom prst="rect">
            <a:avLst/>
          </a:prstGeom>
          <a:noFill/>
          <a:ln/>
        </p:spPr>
        <p:txBody>
          <a:bodyPr wrap="square" lIns="0" tIns="0" rIns="0" bIns="0" rtlCol="0" anchor="ctr"/>
          <a:lstStyle/>
          <a:p>
            <a:pPr algn="ctr" indent="0" marL="0">
              <a:buNone/>
            </a:pPr>
            <a:r>
              <a:rPr lang="en-US" sz="1800" b="1" dirty="0">
                <a:solidFill>
                  <a:srgbClr val="0B2D5B"/>
                </a:solidFill>
              </a:rPr>
              <a:t>Ask students: Is this reflex, goal-based, utility-based, or a mixture?</a:t>
            </a:r>
            <a:endParaRPr lang="en-US" sz="1800" dirty="0"/>
          </a:p>
        </p:txBody>
      </p:sp>
      <p:sp>
        <p:nvSpPr>
          <p:cNvPr id="30" name="Text 27"/>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38912" y="164592"/>
            <a:ext cx="11155680" cy="384048"/>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Chapter 2 Takeaways</a:t>
            </a:r>
            <a:endParaRPr lang="en-US" sz="2500" dirty="0"/>
          </a:p>
        </p:txBody>
      </p:sp>
      <p:sp>
        <p:nvSpPr>
          <p:cNvPr id="3" name="Text 1"/>
          <p:cNvSpPr/>
          <p:nvPr/>
        </p:nvSpPr>
        <p:spPr>
          <a:xfrm>
            <a:off x="868680" y="1143000"/>
            <a:ext cx="10424160" cy="292608"/>
          </a:xfrm>
          <a:prstGeom prst="rect">
            <a:avLst/>
          </a:prstGeom>
          <a:noFill/>
          <a:ln/>
        </p:spPr>
        <p:txBody>
          <a:bodyPr wrap="square" lIns="254" tIns="254" rIns="254" bIns="254" rtlCol="0" anchor="t">
            <a:normAutofit/>
          </a:bodyPr>
          <a:lstStyle/>
          <a:p>
            <a:r>
              <a:rPr lang="en-US" sz="1700" dirty="0">
                <a:solidFill>
                  <a:srgbClr val="14213D"/>
                </a:solidFill>
              </a:rPr>
              <a:t>An agent perceives an environment through sensors and acts through actuators.</a:t>
            </a:r>
            <a:endParaRPr lang="en-US" sz="1700" dirty="0"/>
          </a:p>
        </p:txBody>
      </p:sp>
      <p:sp>
        <p:nvSpPr>
          <p:cNvPr id="4" name="Text 2"/>
          <p:cNvSpPr/>
          <p:nvPr/>
        </p:nvSpPr>
        <p:spPr>
          <a:xfrm>
            <a:off x="868680" y="1627632"/>
            <a:ext cx="10424160" cy="292608"/>
          </a:xfrm>
          <a:prstGeom prst="rect">
            <a:avLst/>
          </a:prstGeom>
          <a:noFill/>
          <a:ln/>
        </p:spPr>
        <p:txBody>
          <a:bodyPr wrap="square" lIns="254" tIns="254" rIns="254" bIns="254" rtlCol="0" anchor="t">
            <a:normAutofit/>
          </a:bodyPr>
          <a:lstStyle/>
          <a:p>
            <a:r>
              <a:rPr lang="en-US" sz="1700" dirty="0">
                <a:solidFill>
                  <a:srgbClr val="14213D"/>
                </a:solidFill>
              </a:rPr>
              <a:t>A rational agent maximizes expected performance, not hindsight perfection.</a:t>
            </a:r>
            <a:endParaRPr lang="en-US" sz="1700" dirty="0"/>
          </a:p>
        </p:txBody>
      </p:sp>
      <p:sp>
        <p:nvSpPr>
          <p:cNvPr id="5" name="Text 3"/>
          <p:cNvSpPr/>
          <p:nvPr/>
        </p:nvSpPr>
        <p:spPr>
          <a:xfrm>
            <a:off x="868680" y="2112264"/>
            <a:ext cx="10424160" cy="292608"/>
          </a:xfrm>
          <a:prstGeom prst="rect">
            <a:avLst/>
          </a:prstGeom>
          <a:noFill/>
          <a:ln/>
        </p:spPr>
        <p:txBody>
          <a:bodyPr wrap="square" lIns="254" tIns="254" rIns="254" bIns="254" rtlCol="0" anchor="t">
            <a:normAutofit/>
          </a:bodyPr>
          <a:lstStyle/>
          <a:p>
            <a:r>
              <a:rPr lang="en-US" sz="1700" dirty="0">
                <a:solidFill>
                  <a:srgbClr val="14213D"/>
                </a:solidFill>
              </a:rPr>
              <a:t>PEAS specifies the task: performance, environment, actuators, sensors.</a:t>
            </a:r>
            <a:endParaRPr lang="en-US" sz="1700" dirty="0"/>
          </a:p>
        </p:txBody>
      </p:sp>
      <p:sp>
        <p:nvSpPr>
          <p:cNvPr id="6" name="Text 4"/>
          <p:cNvSpPr/>
          <p:nvPr/>
        </p:nvSpPr>
        <p:spPr>
          <a:xfrm>
            <a:off x="868680" y="2596896"/>
            <a:ext cx="10424160" cy="292608"/>
          </a:xfrm>
          <a:prstGeom prst="rect">
            <a:avLst/>
          </a:prstGeom>
          <a:noFill/>
          <a:ln/>
        </p:spPr>
        <p:txBody>
          <a:bodyPr wrap="square" lIns="254" tIns="254" rIns="254" bIns="254" rtlCol="0" anchor="t">
            <a:normAutofit/>
          </a:bodyPr>
          <a:lstStyle/>
          <a:p>
            <a:r>
              <a:rPr lang="en-US" sz="1700" dirty="0">
                <a:solidFill>
                  <a:srgbClr val="14213D"/>
                </a:solidFill>
              </a:rPr>
              <a:t>Environment properties determine which agent design is appropriate.</a:t>
            </a:r>
            <a:endParaRPr lang="en-US" sz="1700" dirty="0"/>
          </a:p>
        </p:txBody>
      </p:sp>
      <p:sp>
        <p:nvSpPr>
          <p:cNvPr id="7" name="Text 5"/>
          <p:cNvSpPr/>
          <p:nvPr/>
        </p:nvSpPr>
        <p:spPr>
          <a:xfrm>
            <a:off x="868680" y="3081528"/>
            <a:ext cx="10424160" cy="292608"/>
          </a:xfrm>
          <a:prstGeom prst="rect">
            <a:avLst/>
          </a:prstGeom>
          <a:noFill/>
          <a:ln/>
        </p:spPr>
        <p:txBody>
          <a:bodyPr wrap="square" lIns="254" tIns="254" rIns="254" bIns="254" rtlCol="0" anchor="t">
            <a:normAutofit/>
          </a:bodyPr>
          <a:lstStyle/>
          <a:p>
            <a:r>
              <a:rPr lang="en-US" sz="1700" dirty="0">
                <a:solidFill>
                  <a:srgbClr val="14213D"/>
                </a:solidFill>
              </a:rPr>
              <a:t>Agent programs range from simple reflex to model-based, goal-based, utility-based, and learning agents.</a:t>
            </a:r>
            <a:endParaRPr lang="en-US" sz="1700" dirty="0"/>
          </a:p>
        </p:txBody>
      </p:sp>
      <p:sp>
        <p:nvSpPr>
          <p:cNvPr id="8" name="Text 6"/>
          <p:cNvSpPr/>
          <p:nvPr/>
        </p:nvSpPr>
        <p:spPr>
          <a:xfrm>
            <a:off x="868680" y="3566160"/>
            <a:ext cx="10424160" cy="292608"/>
          </a:xfrm>
          <a:prstGeom prst="rect">
            <a:avLst/>
          </a:prstGeom>
          <a:noFill/>
          <a:ln/>
        </p:spPr>
        <p:txBody>
          <a:bodyPr wrap="square" lIns="254" tIns="254" rIns="254" bIns="254" rtlCol="0" anchor="t">
            <a:normAutofit/>
          </a:bodyPr>
          <a:lstStyle/>
          <a:p>
            <a:r>
              <a:rPr lang="en-US" sz="1700" dirty="0">
                <a:solidFill>
                  <a:srgbClr val="14213D"/>
                </a:solidFill>
              </a:rPr>
              <a:t>Representations determine what the agent can express and how hard reasoning becomes.</a:t>
            </a:r>
            <a:endParaRPr lang="en-US" sz="1700" dirty="0"/>
          </a:p>
        </p:txBody>
      </p:sp>
      <p:sp>
        <p:nvSpPr>
          <p:cNvPr id="9" name="Shape 7"/>
          <p:cNvSpPr/>
          <p:nvPr/>
        </p:nvSpPr>
        <p:spPr>
          <a:xfrm>
            <a:off x="1051560" y="4663440"/>
            <a:ext cx="2743200" cy="640080"/>
          </a:xfrm>
          <a:prstGeom prst="roundRect">
            <a:avLst>
              <a:gd name="adj" fmla="val 11429"/>
            </a:avLst>
          </a:prstGeom>
          <a:solidFill>
            <a:srgbClr val="1E73BE"/>
          </a:solidFill>
          <a:ln w="15240">
            <a:solidFill>
              <a:srgbClr val="1E73BE"/>
            </a:solidFill>
            <a:prstDash val="solid"/>
          </a:ln>
        </p:spPr>
      </p:sp>
      <p:sp>
        <p:nvSpPr>
          <p:cNvPr id="10" name="Text 8"/>
          <p:cNvSpPr/>
          <p:nvPr/>
        </p:nvSpPr>
        <p:spPr>
          <a:xfrm>
            <a:off x="1161288" y="4754880"/>
            <a:ext cx="2523744" cy="45720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Define the agent</a:t>
            </a:r>
            <a:endParaRPr lang="en-US" sz="1600" dirty="0"/>
          </a:p>
        </p:txBody>
      </p:sp>
      <p:sp>
        <p:nvSpPr>
          <p:cNvPr id="11" name="Shape 9"/>
          <p:cNvSpPr/>
          <p:nvPr/>
        </p:nvSpPr>
        <p:spPr>
          <a:xfrm>
            <a:off x="3794760" y="4983480"/>
            <a:ext cx="777240" cy="0"/>
          </a:xfrm>
          <a:prstGeom prst="line">
            <a:avLst/>
          </a:prstGeom>
          <a:noFill/>
          <a:ln w="25400">
            <a:solidFill>
              <a:srgbClr val="5B6770"/>
            </a:solidFill>
            <a:prstDash val="solid"/>
            <a:headEnd type="none"/>
            <a:tailEnd type="triangle"/>
          </a:ln>
        </p:spPr>
      </p:sp>
      <p:sp>
        <p:nvSpPr>
          <p:cNvPr id="12" name="Shape 10"/>
          <p:cNvSpPr/>
          <p:nvPr/>
        </p:nvSpPr>
        <p:spPr>
          <a:xfrm>
            <a:off x="4617720" y="4663440"/>
            <a:ext cx="2743200" cy="640080"/>
          </a:xfrm>
          <a:prstGeom prst="roundRect">
            <a:avLst>
              <a:gd name="adj" fmla="val 11429"/>
            </a:avLst>
          </a:prstGeom>
          <a:solidFill>
            <a:srgbClr val="1E7A3B"/>
          </a:solidFill>
          <a:ln w="15240">
            <a:solidFill>
              <a:srgbClr val="1E7A3B"/>
            </a:solidFill>
            <a:prstDash val="solid"/>
          </a:ln>
        </p:spPr>
      </p:sp>
      <p:sp>
        <p:nvSpPr>
          <p:cNvPr id="13" name="Text 11"/>
          <p:cNvSpPr/>
          <p:nvPr/>
        </p:nvSpPr>
        <p:spPr>
          <a:xfrm>
            <a:off x="4727448" y="4754880"/>
            <a:ext cx="2523744" cy="45720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Specify the task</a:t>
            </a:r>
            <a:endParaRPr lang="en-US" sz="1600" dirty="0"/>
          </a:p>
        </p:txBody>
      </p:sp>
      <p:sp>
        <p:nvSpPr>
          <p:cNvPr id="14" name="Shape 12"/>
          <p:cNvSpPr/>
          <p:nvPr/>
        </p:nvSpPr>
        <p:spPr>
          <a:xfrm>
            <a:off x="7360920" y="4983480"/>
            <a:ext cx="777240" cy="0"/>
          </a:xfrm>
          <a:prstGeom prst="line">
            <a:avLst/>
          </a:prstGeom>
          <a:noFill/>
          <a:ln w="25400">
            <a:solidFill>
              <a:srgbClr val="5B6770"/>
            </a:solidFill>
            <a:prstDash val="solid"/>
            <a:headEnd type="none"/>
            <a:tailEnd type="triangle"/>
          </a:ln>
        </p:spPr>
      </p:sp>
      <p:sp>
        <p:nvSpPr>
          <p:cNvPr id="15" name="Shape 13"/>
          <p:cNvSpPr/>
          <p:nvPr/>
        </p:nvSpPr>
        <p:spPr>
          <a:xfrm>
            <a:off x="8183880" y="4663440"/>
            <a:ext cx="2743200" cy="640080"/>
          </a:xfrm>
          <a:prstGeom prst="roundRect">
            <a:avLst>
              <a:gd name="adj" fmla="val 11429"/>
            </a:avLst>
          </a:prstGeom>
          <a:solidFill>
            <a:srgbClr val="6A2FD4"/>
          </a:solidFill>
          <a:ln w="15240">
            <a:solidFill>
              <a:srgbClr val="6A2FD4"/>
            </a:solidFill>
            <a:prstDash val="solid"/>
          </a:ln>
        </p:spPr>
      </p:sp>
      <p:sp>
        <p:nvSpPr>
          <p:cNvPr id="16" name="Text 14"/>
          <p:cNvSpPr/>
          <p:nvPr/>
        </p:nvSpPr>
        <p:spPr>
          <a:xfrm>
            <a:off x="8293608" y="4754880"/>
            <a:ext cx="2523744" cy="45720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Choose the design</a:t>
            </a:r>
            <a:endParaRPr lang="en-US" sz="1600" dirty="0"/>
          </a:p>
        </p:txBody>
      </p:sp>
      <p:sp>
        <p:nvSpPr>
          <p:cNvPr id="18" name="Text 15"/>
          <p:cNvSpPr/>
          <p:nvPr/>
        </p:nvSpPr>
        <p:spPr>
          <a:xfrm>
            <a:off x="530352" y="6547104"/>
            <a:ext cx="3200400" cy="164592"/>
          </a:xfrm>
          <a:prstGeom prst="rect">
            <a:avLst/>
          </a:prstGeom>
          <a:noFill/>
          <a:ln/>
        </p:spPr>
        <p:txBody>
          <a:bodyPr wrap="square" lIns="0" tIns="0" rIns="0" bIns="0" rtlCol="0" anchor="ctr"/>
          <a:lstStyle/>
          <a:p>
            <a:pPr indent="0" marL="0">
              <a:buNone/>
            </a:pPr>
            <a:r>
              <a:rPr lang="en-US" sz="800" dirty="0">
                <a:solidFill>
                  <a:srgbClr val="7C8896"/>
                </a:solidFill>
              </a:rPr>
              <a:t>COMP 469 - Chapter 2</a:t>
            </a:r>
            <a:endParaRPr lang="en-US" sz="800" dirty="0"/>
          </a:p>
        </p:txBody>
      </p:sp>
      <p:sp>
        <p:nvSpPr>
          <p:cNvPr id="25" name="Slide Number Placeholder 0"/>
          <p:cNvSpPr>
            <a:spLocks noGrp="1"/>
          </p:cNvSpPr>
          <p:nvPr>
            <p:ph type="sldNum" sz="quarter" idx="4294967295"/>
          </p:nvPr>
        </p:nvSpPr>
        <p:spPr>
          <a:xfrm>
            <a:off x="10835640" y="6510528"/>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6C7A89"/>
                </a:solidFill>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CSUCI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 Intelligent Agents</dc:title>
  <dc:subject>Chapter 2 Intelligent Agents</dc:subject>
  <dc:creator>COMP 469</dc:creator>
  <cp:lastModifiedBy>COMP 469</cp:lastModifiedBy>
  <cp:revision>1</cp:revision>
  <dcterms:created xsi:type="dcterms:W3CDTF">2026-07-30T07:43:36Z</dcterms:created>
  <dcterms:modified xsi:type="dcterms:W3CDTF">2026-07-30T07:43:36Z</dcterms:modified>
</cp:coreProperties>
</file>