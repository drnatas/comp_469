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move from the broad question “What is AI?” into the Chapter 2 design question: how do we build an intelligent system? The Berkeley Part II lecture frames this as rational-agent design. An agent perceives an environment through sensors, chooses an action using an agent program, and acts through actuators. Throughout this lecture, Pac-Man is a useful running example because students can see the environment, the percepts, the actions, and the consequences of decisions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Berkeley-style quiz. Ask students which tasks they think current AI can do reliably. The purpose is not to settle every item. The purpose is to make students notice that task difficulty depends on the environment. Chess and Go are hard intellectually but have clean rules, full state representation, and limited actions. A dishwasher in any home is physically messy, partially observable, and highly variable. Unknown city streets involve other agents, uncertainty, safety constraints, and real-time decision making. This naturally leads into Chapter 2: to design an AI system, we first define the agent, its environment, its percepts, its actions, and the performance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from the Berkeley capability quiz to the textbook's agent framework. When students say that an AI can play chess, drive, translate, or write, push them to specify the task. What does the system observe? What can it do? How do we score success? This is the same conceptual move Chapter 2 makes. AI is not just “a program that is smart.” It is an agent operating in an environment. Once we define the task environment, we can reason about what kind of agent program is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four-approaches idea from Chapter 1, but Part II uses it to frame Chapter 2. The Berkeley lecture circles “act rationally.” In this course, we are not primarily trying to copy human thought processes or imitate human behavior. We are designing agents that choose actions that work. This is why the rational-agent model becomes the practical foundation for the rest of the course. It gives us a standard: given percepts, actions, and goals, what action should the agent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definition slide. Read it slowly. An agent perceives and acts. A rational agent chooses the action that maximizes expected utility. Expected utility means the best expected outcome when there is uncertainty. The word expected matters because many AI settings are not deterministic. The same decision may have different results depending on hidden state, randomness, other agents, or noisy sensors. The Berkeley lecture also emphasizes that the characteristics of the task determine the technique. A search problem, a game, a probability problem, an MDP, and a learning problem all become different ways of selecting rational actions under different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Pac-Man as the classroom anchor. Pac-Man is the agent. The maze, dots, power pellets, walls, and ghosts are the environment. The agent's percepts are the information it receives: where it is, where the dots are, what legal moves exist, and where the ghosts are if that information is available. Its actions are movement choices such as north, south, east, west, or stop. Its performance measure can be score, survival, pellets eaten, time, or some combination. When you run your autonomous Pac-Man demo, tell students that the code is implementing this same agent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formal Chapter 2 model. The agent receives percepts from the environment through sensors. It sends actions back to the environment through actuators. The important textbook distinction is between the agent function and the agent program. The agent function is the abstract mapping from percept history to action. The agent program is the concrete implementation that runs on hardware. In Pac-Man, the function says what move to choose given the percept history. The program is the Python code that computes the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confuse the agent function with the agent program. Use this wording: the function is the what; the program is the how. The agent function is a mathematical description of behavior: for this history of percepts, choose this action. The agent program is the code that computes that action. The same function could theoretically be implemented in Python, Java, or hardware. The architecture is the machine or platform running the program. This distinction matters later when we discuss limitations. A complete lookup table may define an agent function in principle, but it may be impossible to store or compute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mirrors the Berkeley “Agent design” slide. The environment determines the design. If the environment is partially observable, the agent cannot simply react to the current percept; it needs memory. If the environment is stochastic, the agent must reason about possible outcomes. If it is multi-agent, the agent must consider other agents and may need to behave unpredictably. If the environment is static, the agent has time to compute. If it is continuous-time, the agent may need a controller rather than a one-shot decision. If the physics or rules are unknown, the agent needs exploration. If the performance measure is unknown, the agent may need to observe or interact with a human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reflex agent is the first agent type in Chapter 2. It does not plan ahead and does not maintain a rich model of the world. It checks the current percept and fires a condition-action rule. For example, “if dirt is present, suck” in a vacuum world, or “if a dot is next to Pac-Man, move toward it” in a simplified Pac-Man world. This is easy to understand and fast to compute. The limitation is that it only sees the current situation. If a good decision depends on previous percepts or hidden state, a simple reflex agent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useful because it makes the agent program concrete. The GoWestAgent checks the current percept. If west is a legal action, it returns west. Otherwise it stops. This is not a good Pac-Man player, but it is a valid agent program. It has sensors indirectly through the percept object, and it acts by returning a direction. Ask students: what is missing? It does not know the goal, it does not compare alternatives, it does not avoid ghosts, and it does not remember anything. That sets up why we need more sophisticated agent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improve the reflex rule. Instead of always going west, the agent checks whether any adjacent square has food and moves there. This is more sensible, but it is still a simple reflex agent. It does not plan a path to distant food, it does not evaluate future ghost positions, and it does not reason about power pellets beyond what appears in the current percept. This is a good moment to ask students: how many special cases would we need before this agent behaves well? The answer becomes large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Berkeley lecture asks whether a reflex agent could, in principle, behave well in all standard Pac-Man environments. The answer is no if Pac-Man is not fully observable. Power-pellet duration is a good example. The agent may need to remember when the pellet was eaten to know whether ghosts are still edible. Without memory, the current percept may be ambiguous. In a fully observable setting, a huge lookup table could map every possible state to an action, but that is not a practical design. This prepares students for model-based agents, goal-based agents, utility-based agents, and learning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connect the Berkeley Part II lecture to the full Chapter 2 structure. Part II gets us through the central agent definition, environment-driven design, and simple reflex agents. The textbook then broadens the design space. Model-based reflex agents maintain internal state. Goal-based agents use goals and often require search. Utility-based agents compare outcomes, especially when multiple acceptable goals exist or uncertainty matters. Learning agents improve their behavior from experience. This slide prevents students from thinking that all agents are simple reflex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this lecture with the autonomous Pac-Man demo. Ask students to map the code to the Chapter 2 vocabulary. The sensors are the information the game exposes to the agent: position, pellets, ghosts, and legal moves. The actuators are movement commands. The performance measure is score, survival, and pellet completion. The agent you built is not purely reflex because it calculates distances and utility scores, but it is still limited. It does not perfectly predict the future or maintain a complete model. This makes a natural transition into search: if an agent has a goal, such as reaching a pellet, it can search over possible future action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594360"/>
            <a:ext cx="10972800" cy="475488"/>
          </a:xfrm>
          <a:prstGeom prst="rect">
            <a:avLst/>
          </a:prstGeom>
          <a:noFill/>
          <a:ln/>
        </p:spPr>
        <p:txBody>
          <a:bodyPr wrap="square" lIns="0" tIns="0" rIns="0" bIns="0" rtlCol="0" anchor="ctr"/>
          <a:lstStyle/>
          <a:p>
            <a:pPr algn="ctr" indent="0" marL="0">
              <a:buNone/>
            </a:pPr>
            <a:r>
              <a:rPr lang="en-US" sz="3000" dirty="0">
                <a:solidFill>
                  <a:srgbClr val="303090"/>
                </a:solidFill>
              </a:rPr>
              <a:t>COMP 469</a:t>
            </a:r>
            <a:endParaRPr lang="en-US" sz="3000" dirty="0"/>
          </a:p>
        </p:txBody>
      </p:sp>
      <p:sp>
        <p:nvSpPr>
          <p:cNvPr id="3" name="Text 1"/>
          <p:cNvSpPr/>
          <p:nvPr/>
        </p:nvSpPr>
        <p:spPr>
          <a:xfrm>
            <a:off x="731520" y="1417320"/>
            <a:ext cx="10698480" cy="548640"/>
          </a:xfrm>
          <a:prstGeom prst="rect">
            <a:avLst/>
          </a:prstGeom>
          <a:noFill/>
          <a:ln/>
        </p:spPr>
        <p:txBody>
          <a:bodyPr wrap="square" lIns="0" tIns="0" rIns="0" bIns="0" rtlCol="0" anchor="ctr"/>
          <a:lstStyle/>
          <a:p>
            <a:pPr algn="ctr" indent="0" marL="0">
              <a:buNone/>
            </a:pPr>
            <a:r>
              <a:rPr lang="en-US" sz="3200" dirty="0">
                <a:solidFill>
                  <a:srgbClr val="000000"/>
                </a:solidFill>
              </a:rPr>
              <a:t>Chapter 2: Intelligent Agents</a:t>
            </a:r>
            <a:endParaRPr lang="en-US" sz="3200" dirty="0"/>
          </a:p>
        </p:txBody>
      </p:sp>
      <p:sp>
        <p:nvSpPr>
          <p:cNvPr id="4" name="Text 2"/>
          <p:cNvSpPr/>
          <p:nvPr/>
        </p:nvSpPr>
        <p:spPr>
          <a:xfrm>
            <a:off x="1097280" y="2057400"/>
            <a:ext cx="9966960" cy="329184"/>
          </a:xfrm>
          <a:prstGeom prst="rect">
            <a:avLst/>
          </a:prstGeom>
          <a:noFill/>
          <a:ln/>
        </p:spPr>
        <p:txBody>
          <a:bodyPr wrap="square" lIns="0" tIns="0" rIns="0" bIns="0" rtlCol="0" anchor="ctr"/>
          <a:lstStyle/>
          <a:p>
            <a:pPr algn="ctr" indent="0" marL="0">
              <a:buNone/>
            </a:pPr>
            <a:r>
              <a:rPr lang="en-US" sz="1800" dirty="0">
                <a:solidFill>
                  <a:srgbClr val="666666"/>
                </a:solidFill>
              </a:rPr>
              <a:t>Lecture companion mirroring CS188 Introduction Part II</a:t>
            </a:r>
            <a:endParaRPr lang="en-US" sz="1800" dirty="0"/>
          </a:p>
        </p:txBody>
      </p:sp>
      <p:sp>
        <p:nvSpPr>
          <p:cNvPr id="5" name="Shape 3"/>
          <p:cNvSpPr/>
          <p:nvPr/>
        </p:nvSpPr>
        <p:spPr>
          <a:xfrm>
            <a:off x="0" y="2788920"/>
            <a:ext cx="12191695" cy="0"/>
          </a:xfrm>
          <a:prstGeom prst="line">
            <a:avLst/>
          </a:prstGeom>
          <a:noFill/>
          <a:ln w="35560">
            <a:solidFill>
              <a:srgbClr val="000000"/>
            </a:solidFill>
            <a:prstDash val="solid"/>
          </a:ln>
        </p:spPr>
      </p:sp>
      <p:sp>
        <p:nvSpPr>
          <p:cNvPr id="6" name="Shape 4"/>
          <p:cNvSpPr/>
          <p:nvPr/>
        </p:nvSpPr>
        <p:spPr>
          <a:xfrm>
            <a:off x="0" y="2852928"/>
            <a:ext cx="12191695" cy="0"/>
          </a:xfrm>
          <a:prstGeom prst="line">
            <a:avLst/>
          </a:prstGeom>
          <a:noFill/>
          <a:ln w="17780">
            <a:solidFill>
              <a:srgbClr val="0000A0"/>
            </a:solidFill>
            <a:prstDash val="solid"/>
          </a:ln>
        </p:spPr>
      </p:sp>
      <p:sp>
        <p:nvSpPr>
          <p:cNvPr id="7" name="Text 5"/>
          <p:cNvSpPr/>
          <p:nvPr/>
        </p:nvSpPr>
        <p:spPr>
          <a:xfrm>
            <a:off x="1417320" y="3337560"/>
            <a:ext cx="9418320" cy="685800"/>
          </a:xfrm>
          <a:prstGeom prst="rect">
            <a:avLst/>
          </a:prstGeom>
          <a:noFill/>
          <a:ln/>
        </p:spPr>
        <p:txBody>
          <a:bodyPr wrap="square" lIns="635" tIns="635" rIns="635" bIns="635" rtlCol="0" anchor="ctr">
            <a:normAutofit/>
          </a:bodyPr>
          <a:lstStyle/>
          <a:p>
            <a:pPr algn="ctr" indent="0" marL="0">
              <a:buNone/>
            </a:pPr>
            <a:r>
              <a:rPr lang="en-US" sz="2300" dirty="0">
                <a:solidFill>
                  <a:srgbClr val="303090"/>
                </a:solidFill>
              </a:rPr>
              <a:t>Core idea: design systems that perceive, decide, and act rationally in an environment.</a:t>
            </a:r>
            <a:endParaRPr lang="en-US" sz="2300" dirty="0"/>
          </a:p>
        </p:txBody>
      </p:sp>
      <p:sp>
        <p:nvSpPr>
          <p:cNvPr id="8" name="Text 6"/>
          <p:cNvSpPr/>
          <p:nvPr/>
        </p:nvSpPr>
        <p:spPr>
          <a:xfrm>
            <a:off x="1828800" y="4983480"/>
            <a:ext cx="8595360" cy="320040"/>
          </a:xfrm>
          <a:prstGeom prst="rect">
            <a:avLst/>
          </a:prstGeom>
          <a:noFill/>
          <a:ln/>
        </p:spPr>
        <p:txBody>
          <a:bodyPr wrap="square" lIns="0" tIns="0" rIns="0" bIns="0" rtlCol="0" anchor="ctr"/>
          <a:lstStyle/>
          <a:p>
            <a:pPr algn="ctr" indent="0" marL="0">
              <a:buNone/>
            </a:pPr>
            <a:r>
              <a:rPr lang="en-US" sz="1600" dirty="0">
                <a:solidFill>
                  <a:srgbClr val="666666"/>
                </a:solidFill>
              </a:rPr>
              <a:t>Use this deck as readable speaker notes for the Chapter 2 agent model.</a:t>
            </a:r>
            <a:endParaRPr lang="en-US" sz="1600" dirty="0"/>
          </a:p>
        </p:txBody>
      </p:sp>
      <p:sp>
        <p:nvSpPr>
          <p:cNvPr id="9" name="Text 7"/>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What Can AI Do?</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685800" y="1097280"/>
            <a:ext cx="5760720" cy="274320"/>
          </a:xfrm>
          <a:prstGeom prst="rect">
            <a:avLst/>
          </a:prstGeom>
          <a:noFill/>
          <a:ln/>
        </p:spPr>
        <p:txBody>
          <a:bodyPr wrap="square" lIns="0" tIns="0" rIns="0" bIns="0" rtlCol="0" anchor="ctr"/>
          <a:lstStyle/>
          <a:p>
            <a:pPr indent="0" marL="0">
              <a:buNone/>
            </a:pPr>
            <a:r>
              <a:rPr lang="en-US" sz="1800" dirty="0">
                <a:solidFill>
                  <a:srgbClr val="666666"/>
                </a:solidFill>
              </a:rPr>
              <a:t>Use this as a quick class poll before defining agents.</a:t>
            </a:r>
            <a:endParaRPr lang="en-US" sz="1800" dirty="0"/>
          </a:p>
        </p:txBody>
      </p:sp>
      <p:sp>
        <p:nvSpPr>
          <p:cNvPr id="7" name="Text 5"/>
          <p:cNvSpPr/>
          <p:nvPr/>
        </p:nvSpPr>
        <p:spPr>
          <a:xfrm>
            <a:off x="822960" y="1600200"/>
            <a:ext cx="5669280" cy="3429000"/>
          </a:xfrm>
          <a:prstGeom prst="rect">
            <a:avLst/>
          </a:prstGeom>
          <a:noFill/>
          <a:ln/>
        </p:spPr>
        <p:txBody>
          <a:bodyPr wrap="square" lIns="635" tIns="635" rIns="635" bIns="635" rtlCol="0" anchor="t">
            <a:normAutofit/>
          </a:bodyPr>
          <a:lstStyle/>
          <a:p>
            <a:r>
              <a:rPr lang="en-US" sz="2200" dirty="0">
                <a:solidFill>
                  <a:srgbClr val="303090"/>
                </a:solidFill>
                <a:latin typeface="Aptos" pitchFamily="34" charset="0"/>
                <a:ea typeface="Aptos" pitchFamily="34" charset="-122"/>
                <a:cs typeface="Aptos" pitchFamily="34" charset="-120"/>
              </a:rPr>
              <a:t>Win against any human at chess or Go?</a:t>
            </a:r>
            <a:endParaRPr lang="en-US" sz="2200" dirty="0"/>
          </a:p>
          <a:p>
            <a:r>
              <a:rPr lang="en-US" sz="2200" dirty="0">
                <a:solidFill>
                  <a:srgbClr val="303090"/>
                </a:solidFill>
                <a:latin typeface="Aptos" pitchFamily="34" charset="0"/>
                <a:ea typeface="Aptos" pitchFamily="34" charset="-122"/>
                <a:cs typeface="Aptos" pitchFamily="34" charset="-120"/>
              </a:rPr>
              <a:t>Play table tennis or drive safely?</a:t>
            </a:r>
            <a:endParaRPr lang="en-US" sz="2200" dirty="0"/>
          </a:p>
          <a:p>
            <a:r>
              <a:rPr lang="en-US" sz="2200" dirty="0">
                <a:solidFill>
                  <a:srgbClr val="303090"/>
                </a:solidFill>
                <a:latin typeface="Aptos" pitchFamily="34" charset="0"/>
                <a:ea typeface="Aptos" pitchFamily="34" charset="-122"/>
                <a:cs typeface="Aptos" pitchFamily="34" charset="-120"/>
              </a:rPr>
              <a:t>Unload any dishwasher in any home?</a:t>
            </a:r>
            <a:endParaRPr lang="en-US" sz="2200" dirty="0"/>
          </a:p>
          <a:p>
            <a:r>
              <a:rPr lang="en-US" sz="2200" dirty="0">
                <a:solidFill>
                  <a:srgbClr val="303090"/>
                </a:solidFill>
                <a:latin typeface="Aptos" pitchFamily="34" charset="0"/>
                <a:ea typeface="Aptos" pitchFamily="34" charset="-122"/>
                <a:cs typeface="Aptos" pitchFamily="34" charset="-120"/>
              </a:rPr>
              <a:t>Buy groceries on the web vs. in a store?</a:t>
            </a:r>
            <a:endParaRPr lang="en-US" sz="2200" dirty="0"/>
          </a:p>
          <a:p>
            <a:r>
              <a:rPr lang="en-US" sz="2200" dirty="0">
                <a:solidFill>
                  <a:srgbClr val="303090"/>
                </a:solidFill>
                <a:latin typeface="Aptos" pitchFamily="34" charset="0"/>
                <a:ea typeface="Aptos" pitchFamily="34" charset="-122"/>
                <a:cs typeface="Aptos" pitchFamily="34" charset="-120"/>
              </a:rPr>
              <a:t>Translate speech in real time?</a:t>
            </a:r>
            <a:endParaRPr lang="en-US" sz="2200" dirty="0"/>
          </a:p>
          <a:p>
            <a:r>
              <a:rPr lang="en-US" sz="2200" dirty="0">
                <a:solidFill>
                  <a:srgbClr val="303090"/>
                </a:solidFill>
                <a:latin typeface="Aptos" pitchFamily="34" charset="0"/>
                <a:ea typeface="Aptos" pitchFamily="34" charset="-122"/>
                <a:cs typeface="Aptos" pitchFamily="34" charset="-120"/>
              </a:rPr>
              <a:t>Write jokes, art, or prove new theorems?</a:t>
            </a:r>
            <a:endParaRPr lang="en-US" sz="2200" dirty="0"/>
          </a:p>
        </p:txBody>
      </p:sp>
      <p:sp>
        <p:nvSpPr>
          <p:cNvPr id="8" name="Shape 6"/>
          <p:cNvSpPr/>
          <p:nvPr/>
        </p:nvSpPr>
        <p:spPr>
          <a:xfrm>
            <a:off x="6903720" y="1325880"/>
            <a:ext cx="4343400" cy="3474720"/>
          </a:xfrm>
          <a:prstGeom prst="rect">
            <a:avLst/>
          </a:prstGeom>
          <a:solidFill>
            <a:srgbClr val="EAF1FB"/>
          </a:solidFill>
          <a:ln w="15240">
            <a:solidFill>
              <a:srgbClr val="9CB3D4"/>
            </a:solidFill>
            <a:prstDash val="solid"/>
          </a:ln>
        </p:spPr>
      </p:sp>
      <p:sp>
        <p:nvSpPr>
          <p:cNvPr id="9" name="Text 7"/>
          <p:cNvSpPr/>
          <p:nvPr/>
        </p:nvSpPr>
        <p:spPr>
          <a:xfrm>
            <a:off x="7178040" y="1664208"/>
            <a:ext cx="3749040" cy="320040"/>
          </a:xfrm>
          <a:prstGeom prst="rect">
            <a:avLst/>
          </a:prstGeom>
          <a:noFill/>
          <a:ln/>
        </p:spPr>
        <p:txBody>
          <a:bodyPr wrap="square" lIns="0" tIns="0" rIns="0" bIns="0" rtlCol="0" anchor="ctr"/>
          <a:lstStyle/>
          <a:p>
            <a:pPr algn="ctr" indent="0" marL="0">
              <a:buNone/>
            </a:pPr>
            <a:r>
              <a:rPr lang="en-US" sz="2100" b="1" dirty="0">
                <a:solidFill>
                  <a:srgbClr val="14345E"/>
                </a:solidFill>
              </a:rPr>
              <a:t>Teaching move</a:t>
            </a:r>
            <a:endParaRPr lang="en-US" sz="2100" dirty="0"/>
          </a:p>
        </p:txBody>
      </p:sp>
      <p:sp>
        <p:nvSpPr>
          <p:cNvPr id="10" name="Text 8"/>
          <p:cNvSpPr/>
          <p:nvPr/>
        </p:nvSpPr>
        <p:spPr>
          <a:xfrm>
            <a:off x="7269480" y="2176272"/>
            <a:ext cx="3611880" cy="1965960"/>
          </a:xfrm>
          <a:prstGeom prst="rect">
            <a:avLst/>
          </a:prstGeom>
          <a:noFill/>
          <a:ln/>
        </p:spPr>
        <p:txBody>
          <a:bodyPr wrap="square" lIns="1016" tIns="1016" rIns="1016" bIns="1016" rtlCol="0" anchor="ctr">
            <a:normAutofit/>
          </a:bodyPr>
          <a:lstStyle/>
          <a:p>
            <a:pPr algn="ctr" indent="0" marL="0">
              <a:buNone/>
            </a:pPr>
            <a:r>
              <a:rPr lang="en-US" sz="1800" dirty="0">
                <a:solidFill>
                  <a:srgbClr val="000000"/>
                </a:solidFill>
              </a:rPr>
              <a:t>Do not ask only whether AI “can” do something. Ask what the environment is like, what the agent can perceive, what actions are available, and how success is measured.</a:t>
            </a:r>
            <a:endParaRPr lang="en-US" sz="1800" dirty="0"/>
          </a:p>
        </p:txBody>
      </p:sp>
      <p:sp>
        <p:nvSpPr>
          <p:cNvPr id="11" name="Text 9"/>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From Capability Claims to Agent Design</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731520" y="1078992"/>
            <a:ext cx="10789920" cy="365760"/>
          </a:xfrm>
          <a:prstGeom prst="rect">
            <a:avLst/>
          </a:prstGeom>
          <a:noFill/>
          <a:ln/>
        </p:spPr>
        <p:txBody>
          <a:bodyPr wrap="square" lIns="0" tIns="0" rIns="0" bIns="0" rtlCol="0" anchor="ctr"/>
          <a:lstStyle/>
          <a:p>
            <a:pPr algn="ctr" indent="0" marL="0">
              <a:buNone/>
            </a:pPr>
            <a:r>
              <a:rPr lang="en-US" sz="2400" dirty="0">
                <a:solidFill>
                  <a:srgbClr val="303090"/>
                </a:solidFill>
              </a:rPr>
              <a:t>A capability claim is incomplete until the task environment is specified.</a:t>
            </a:r>
            <a:endParaRPr lang="en-US" sz="2400" dirty="0"/>
          </a:p>
        </p:txBody>
      </p:sp>
      <p:sp>
        <p:nvSpPr>
          <p:cNvPr id="7" name="Shape 5"/>
          <p:cNvSpPr/>
          <p:nvPr/>
        </p:nvSpPr>
        <p:spPr>
          <a:xfrm>
            <a:off x="685800" y="1920240"/>
            <a:ext cx="2331720" cy="2103120"/>
          </a:xfrm>
          <a:prstGeom prst="rect">
            <a:avLst/>
          </a:prstGeom>
          <a:solidFill>
            <a:srgbClr val="DDE8F8"/>
          </a:solidFill>
          <a:ln w="12700">
            <a:solidFill>
              <a:srgbClr val="9AAAC0"/>
            </a:solidFill>
            <a:prstDash val="solid"/>
          </a:ln>
        </p:spPr>
      </p:sp>
      <p:sp>
        <p:nvSpPr>
          <p:cNvPr id="8" name="Text 6"/>
          <p:cNvSpPr/>
          <p:nvPr/>
        </p:nvSpPr>
        <p:spPr>
          <a:xfrm>
            <a:off x="795528" y="2121408"/>
            <a:ext cx="2112264" cy="292608"/>
          </a:xfrm>
          <a:prstGeom prst="rect">
            <a:avLst/>
          </a:prstGeom>
          <a:noFill/>
          <a:ln/>
        </p:spPr>
        <p:txBody>
          <a:bodyPr wrap="square" lIns="0" tIns="0" rIns="0" bIns="0" rtlCol="0" anchor="ctr"/>
          <a:lstStyle/>
          <a:p>
            <a:pPr algn="ctr" indent="0" marL="0">
              <a:buNone/>
            </a:pPr>
            <a:r>
              <a:rPr lang="en-US" sz="1900" b="1" dirty="0">
                <a:solidFill>
                  <a:srgbClr val="14345E"/>
                </a:solidFill>
              </a:rPr>
              <a:t>Task</a:t>
            </a:r>
            <a:endParaRPr lang="en-US" sz="1900" dirty="0"/>
          </a:p>
        </p:txBody>
      </p:sp>
      <p:sp>
        <p:nvSpPr>
          <p:cNvPr id="9" name="Text 7"/>
          <p:cNvSpPr/>
          <p:nvPr/>
        </p:nvSpPr>
        <p:spPr>
          <a:xfrm>
            <a:off x="850392" y="2670048"/>
            <a:ext cx="2011680" cy="868680"/>
          </a:xfrm>
          <a:prstGeom prst="rect">
            <a:avLst/>
          </a:prstGeom>
          <a:noFill/>
          <a:ln/>
        </p:spPr>
        <p:txBody>
          <a:bodyPr wrap="square" lIns="508" tIns="508" rIns="508" bIns="508" rtlCol="0" anchor="ctr">
            <a:normAutofit/>
          </a:bodyPr>
          <a:lstStyle/>
          <a:p>
            <a:pPr algn="ctr" indent="0" marL="0">
              <a:buNone/>
            </a:pPr>
            <a:r>
              <a:rPr lang="en-US" sz="1600" dirty="0">
                <a:solidFill>
                  <a:srgbClr val="000000"/>
                </a:solidFill>
              </a:rPr>
              <a:t>What is the agent trying to do?</a:t>
            </a:r>
            <a:endParaRPr lang="en-US" sz="1600" dirty="0"/>
          </a:p>
        </p:txBody>
      </p:sp>
      <p:sp>
        <p:nvSpPr>
          <p:cNvPr id="10" name="Shape 8"/>
          <p:cNvSpPr/>
          <p:nvPr/>
        </p:nvSpPr>
        <p:spPr>
          <a:xfrm>
            <a:off x="3474720" y="1920240"/>
            <a:ext cx="2331720" cy="2103120"/>
          </a:xfrm>
          <a:prstGeom prst="rect">
            <a:avLst/>
          </a:prstGeom>
          <a:solidFill>
            <a:srgbClr val="F3F5F7"/>
          </a:solidFill>
          <a:ln w="12700">
            <a:solidFill>
              <a:srgbClr val="9AAAC0"/>
            </a:solidFill>
            <a:prstDash val="solid"/>
          </a:ln>
        </p:spPr>
      </p:sp>
      <p:sp>
        <p:nvSpPr>
          <p:cNvPr id="11" name="Text 9"/>
          <p:cNvSpPr/>
          <p:nvPr/>
        </p:nvSpPr>
        <p:spPr>
          <a:xfrm>
            <a:off x="3584448" y="2121408"/>
            <a:ext cx="2112264" cy="292608"/>
          </a:xfrm>
          <a:prstGeom prst="rect">
            <a:avLst/>
          </a:prstGeom>
          <a:noFill/>
          <a:ln/>
        </p:spPr>
        <p:txBody>
          <a:bodyPr wrap="square" lIns="0" tIns="0" rIns="0" bIns="0" rtlCol="0" anchor="ctr"/>
          <a:lstStyle/>
          <a:p>
            <a:pPr algn="ctr" indent="0" marL="0">
              <a:buNone/>
            </a:pPr>
            <a:r>
              <a:rPr lang="en-US" sz="1900" b="1" dirty="0">
                <a:solidFill>
                  <a:srgbClr val="14345E"/>
                </a:solidFill>
              </a:rPr>
              <a:t>Percepts</a:t>
            </a:r>
            <a:endParaRPr lang="en-US" sz="1900" dirty="0"/>
          </a:p>
        </p:txBody>
      </p:sp>
      <p:sp>
        <p:nvSpPr>
          <p:cNvPr id="12" name="Text 10"/>
          <p:cNvSpPr/>
          <p:nvPr/>
        </p:nvSpPr>
        <p:spPr>
          <a:xfrm>
            <a:off x="3639312" y="2670048"/>
            <a:ext cx="2011680" cy="868680"/>
          </a:xfrm>
          <a:prstGeom prst="rect">
            <a:avLst/>
          </a:prstGeom>
          <a:noFill/>
          <a:ln/>
        </p:spPr>
        <p:txBody>
          <a:bodyPr wrap="square" lIns="508" tIns="508" rIns="508" bIns="508" rtlCol="0" anchor="ctr">
            <a:normAutofit/>
          </a:bodyPr>
          <a:lstStyle/>
          <a:p>
            <a:pPr algn="ctr" indent="0" marL="0">
              <a:buNone/>
            </a:pPr>
            <a:r>
              <a:rPr lang="en-US" sz="1600" dirty="0">
                <a:solidFill>
                  <a:srgbClr val="000000"/>
                </a:solidFill>
              </a:rPr>
              <a:t>What information can it receive?</a:t>
            </a:r>
            <a:endParaRPr lang="en-US" sz="1600" dirty="0"/>
          </a:p>
        </p:txBody>
      </p:sp>
      <p:sp>
        <p:nvSpPr>
          <p:cNvPr id="13" name="Shape 11"/>
          <p:cNvSpPr/>
          <p:nvPr/>
        </p:nvSpPr>
        <p:spPr>
          <a:xfrm>
            <a:off x="6263640" y="1920240"/>
            <a:ext cx="2331720" cy="2103120"/>
          </a:xfrm>
          <a:prstGeom prst="rect">
            <a:avLst/>
          </a:prstGeom>
          <a:solidFill>
            <a:srgbClr val="DDE8F8"/>
          </a:solidFill>
          <a:ln w="12700">
            <a:solidFill>
              <a:srgbClr val="9AAAC0"/>
            </a:solidFill>
            <a:prstDash val="solid"/>
          </a:ln>
        </p:spPr>
      </p:sp>
      <p:sp>
        <p:nvSpPr>
          <p:cNvPr id="14" name="Text 12"/>
          <p:cNvSpPr/>
          <p:nvPr/>
        </p:nvSpPr>
        <p:spPr>
          <a:xfrm>
            <a:off x="6373368" y="2121408"/>
            <a:ext cx="2112264" cy="292608"/>
          </a:xfrm>
          <a:prstGeom prst="rect">
            <a:avLst/>
          </a:prstGeom>
          <a:noFill/>
          <a:ln/>
        </p:spPr>
        <p:txBody>
          <a:bodyPr wrap="square" lIns="0" tIns="0" rIns="0" bIns="0" rtlCol="0" anchor="ctr"/>
          <a:lstStyle/>
          <a:p>
            <a:pPr algn="ctr" indent="0" marL="0">
              <a:buNone/>
            </a:pPr>
            <a:r>
              <a:rPr lang="en-US" sz="1900" b="1" dirty="0">
                <a:solidFill>
                  <a:srgbClr val="14345E"/>
                </a:solidFill>
              </a:rPr>
              <a:t>Actions</a:t>
            </a:r>
            <a:endParaRPr lang="en-US" sz="1900" dirty="0"/>
          </a:p>
        </p:txBody>
      </p:sp>
      <p:sp>
        <p:nvSpPr>
          <p:cNvPr id="15" name="Text 13"/>
          <p:cNvSpPr/>
          <p:nvPr/>
        </p:nvSpPr>
        <p:spPr>
          <a:xfrm>
            <a:off x="6428232" y="2670048"/>
            <a:ext cx="2011680" cy="868680"/>
          </a:xfrm>
          <a:prstGeom prst="rect">
            <a:avLst/>
          </a:prstGeom>
          <a:noFill/>
          <a:ln/>
        </p:spPr>
        <p:txBody>
          <a:bodyPr wrap="square" lIns="508" tIns="508" rIns="508" bIns="508" rtlCol="0" anchor="ctr">
            <a:normAutofit/>
          </a:bodyPr>
          <a:lstStyle/>
          <a:p>
            <a:pPr algn="ctr" indent="0" marL="0">
              <a:buNone/>
            </a:pPr>
            <a:r>
              <a:rPr lang="en-US" sz="1600" dirty="0">
                <a:solidFill>
                  <a:srgbClr val="000000"/>
                </a:solidFill>
              </a:rPr>
              <a:t>What choices can it make?</a:t>
            </a:r>
            <a:endParaRPr lang="en-US" sz="1600" dirty="0"/>
          </a:p>
        </p:txBody>
      </p:sp>
      <p:sp>
        <p:nvSpPr>
          <p:cNvPr id="16" name="Shape 14"/>
          <p:cNvSpPr/>
          <p:nvPr/>
        </p:nvSpPr>
        <p:spPr>
          <a:xfrm>
            <a:off x="9052560" y="1920240"/>
            <a:ext cx="2331720" cy="2103120"/>
          </a:xfrm>
          <a:prstGeom prst="rect">
            <a:avLst/>
          </a:prstGeom>
          <a:solidFill>
            <a:srgbClr val="F3F5F7"/>
          </a:solidFill>
          <a:ln w="12700">
            <a:solidFill>
              <a:srgbClr val="9AAAC0"/>
            </a:solidFill>
            <a:prstDash val="solid"/>
          </a:ln>
        </p:spPr>
      </p:sp>
      <p:sp>
        <p:nvSpPr>
          <p:cNvPr id="17" name="Text 15"/>
          <p:cNvSpPr/>
          <p:nvPr/>
        </p:nvSpPr>
        <p:spPr>
          <a:xfrm>
            <a:off x="9162288" y="2121408"/>
            <a:ext cx="2112264" cy="292608"/>
          </a:xfrm>
          <a:prstGeom prst="rect">
            <a:avLst/>
          </a:prstGeom>
          <a:noFill/>
          <a:ln/>
        </p:spPr>
        <p:txBody>
          <a:bodyPr wrap="square" lIns="0" tIns="0" rIns="0" bIns="0" rtlCol="0" anchor="ctr"/>
          <a:lstStyle/>
          <a:p>
            <a:pPr algn="ctr" indent="0" marL="0">
              <a:buNone/>
            </a:pPr>
            <a:r>
              <a:rPr lang="en-US" sz="1900" b="1" dirty="0">
                <a:solidFill>
                  <a:srgbClr val="14345E"/>
                </a:solidFill>
              </a:rPr>
              <a:t>Success</a:t>
            </a:r>
            <a:endParaRPr lang="en-US" sz="1900" dirty="0"/>
          </a:p>
        </p:txBody>
      </p:sp>
      <p:sp>
        <p:nvSpPr>
          <p:cNvPr id="18" name="Text 16"/>
          <p:cNvSpPr/>
          <p:nvPr/>
        </p:nvSpPr>
        <p:spPr>
          <a:xfrm>
            <a:off x="9217152" y="2670048"/>
            <a:ext cx="2011680" cy="868680"/>
          </a:xfrm>
          <a:prstGeom prst="rect">
            <a:avLst/>
          </a:prstGeom>
          <a:noFill/>
          <a:ln/>
        </p:spPr>
        <p:txBody>
          <a:bodyPr wrap="square" lIns="508" tIns="508" rIns="508" bIns="508" rtlCol="0" anchor="ctr">
            <a:normAutofit/>
          </a:bodyPr>
          <a:lstStyle/>
          <a:p>
            <a:pPr algn="ctr" indent="0" marL="0">
              <a:buNone/>
            </a:pPr>
            <a:r>
              <a:rPr lang="en-US" sz="1600" dirty="0">
                <a:solidFill>
                  <a:srgbClr val="000000"/>
                </a:solidFill>
              </a:rPr>
              <a:t>What counts as doing well?</a:t>
            </a:r>
            <a:endParaRPr lang="en-US" sz="1600" dirty="0"/>
          </a:p>
        </p:txBody>
      </p:sp>
      <p:sp>
        <p:nvSpPr>
          <p:cNvPr id="19" name="Text 17"/>
          <p:cNvSpPr/>
          <p:nvPr/>
        </p:nvSpPr>
        <p:spPr>
          <a:xfrm>
            <a:off x="1280160" y="4892040"/>
            <a:ext cx="9601200" cy="411480"/>
          </a:xfrm>
          <a:prstGeom prst="rect">
            <a:avLst/>
          </a:prstGeom>
          <a:noFill/>
          <a:ln/>
        </p:spPr>
        <p:txBody>
          <a:bodyPr wrap="square" lIns="0" tIns="0" rIns="0" bIns="0" rtlCol="0" anchor="ctr"/>
          <a:lstStyle/>
          <a:p>
            <a:pPr algn="ctr" indent="0" marL="0">
              <a:buNone/>
            </a:pPr>
            <a:r>
              <a:rPr lang="en-US" sz="2400" b="1" dirty="0">
                <a:solidFill>
                  <a:srgbClr val="000000"/>
                </a:solidFill>
              </a:rPr>
              <a:t>Chapter 2 answer: represent the system as an agent embedded in an environment.</a:t>
            </a:r>
            <a:endParaRPr lang="en-US" sz="2400" dirty="0"/>
          </a:p>
        </p:txBody>
      </p:sp>
      <p:sp>
        <p:nvSpPr>
          <p:cNvPr id="20" name="Text 18"/>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A Rational-Agent Perspective</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548640" y="1115568"/>
            <a:ext cx="11155680" cy="365760"/>
          </a:xfrm>
          <a:prstGeom prst="rect">
            <a:avLst/>
          </a:prstGeom>
          <a:noFill/>
          <a:ln/>
        </p:spPr>
        <p:txBody>
          <a:bodyPr wrap="square" lIns="0" tIns="0" rIns="0" bIns="0" rtlCol="0" anchor="ctr"/>
          <a:lstStyle/>
          <a:p>
            <a:pPr algn="ctr" indent="0" marL="0">
              <a:buNone/>
            </a:pPr>
            <a:r>
              <a:rPr lang="en-US" sz="2600" dirty="0">
                <a:solidFill>
                  <a:srgbClr val="000000"/>
                </a:solidFill>
              </a:rPr>
              <a:t>Should we make machines that...</a:t>
            </a:r>
            <a:endParaRPr lang="en-US" sz="2600" dirty="0"/>
          </a:p>
        </p:txBody>
      </p:sp>
      <p:sp>
        <p:nvSpPr>
          <p:cNvPr id="7" name="Shape 5"/>
          <p:cNvSpPr/>
          <p:nvPr/>
        </p:nvSpPr>
        <p:spPr>
          <a:xfrm>
            <a:off x="6099048" y="1691640"/>
            <a:ext cx="0" cy="3520440"/>
          </a:xfrm>
          <a:prstGeom prst="line">
            <a:avLst/>
          </a:prstGeom>
          <a:noFill/>
          <a:ln w="31750">
            <a:solidFill>
              <a:srgbClr val="000000"/>
            </a:solidFill>
            <a:prstDash val="solid"/>
          </a:ln>
        </p:spPr>
      </p:sp>
      <p:sp>
        <p:nvSpPr>
          <p:cNvPr id="8" name="Shape 6"/>
          <p:cNvSpPr/>
          <p:nvPr/>
        </p:nvSpPr>
        <p:spPr>
          <a:xfrm>
            <a:off x="3200400" y="3456432"/>
            <a:ext cx="5806440" cy="0"/>
          </a:xfrm>
          <a:prstGeom prst="line">
            <a:avLst/>
          </a:prstGeom>
          <a:noFill/>
          <a:ln w="31750">
            <a:solidFill>
              <a:srgbClr val="000000"/>
            </a:solidFill>
            <a:prstDash val="solid"/>
          </a:ln>
        </p:spPr>
      </p:sp>
      <p:sp>
        <p:nvSpPr>
          <p:cNvPr id="9" name="Text 7"/>
          <p:cNvSpPr/>
          <p:nvPr/>
        </p:nvSpPr>
        <p:spPr>
          <a:xfrm>
            <a:off x="3429000" y="2057400"/>
            <a:ext cx="2286000" cy="411480"/>
          </a:xfrm>
          <a:prstGeom prst="rect">
            <a:avLst/>
          </a:prstGeom>
          <a:noFill/>
          <a:ln/>
        </p:spPr>
        <p:txBody>
          <a:bodyPr wrap="square" lIns="0" tIns="0" rIns="0" bIns="0" rtlCol="0" anchor="ctr"/>
          <a:lstStyle/>
          <a:p>
            <a:pPr algn="ctr" indent="0" marL="0">
              <a:buNone/>
            </a:pPr>
            <a:r>
              <a:rPr lang="en-US" sz="1900" dirty="0">
                <a:solidFill>
                  <a:srgbClr val="303090"/>
                </a:solidFill>
              </a:rPr>
              <a:t>Think like people?</a:t>
            </a:r>
            <a:endParaRPr lang="en-US" sz="1900" dirty="0"/>
          </a:p>
        </p:txBody>
      </p:sp>
      <p:sp>
        <p:nvSpPr>
          <p:cNvPr id="10" name="Text 8"/>
          <p:cNvSpPr/>
          <p:nvPr/>
        </p:nvSpPr>
        <p:spPr>
          <a:xfrm>
            <a:off x="6400800" y="2057400"/>
            <a:ext cx="2286000" cy="411480"/>
          </a:xfrm>
          <a:prstGeom prst="rect">
            <a:avLst/>
          </a:prstGeom>
          <a:noFill/>
          <a:ln/>
        </p:spPr>
        <p:txBody>
          <a:bodyPr wrap="square" lIns="0" tIns="0" rIns="0" bIns="0" rtlCol="0" anchor="ctr"/>
          <a:lstStyle/>
          <a:p>
            <a:pPr algn="ctr" indent="0" marL="0">
              <a:buNone/>
            </a:pPr>
            <a:r>
              <a:rPr lang="en-US" sz="1900" dirty="0">
                <a:solidFill>
                  <a:srgbClr val="303090"/>
                </a:solidFill>
              </a:rPr>
              <a:t>Think rationally?</a:t>
            </a:r>
            <a:endParaRPr lang="en-US" sz="1900" dirty="0"/>
          </a:p>
        </p:txBody>
      </p:sp>
      <p:sp>
        <p:nvSpPr>
          <p:cNvPr id="11" name="Text 9"/>
          <p:cNvSpPr/>
          <p:nvPr/>
        </p:nvSpPr>
        <p:spPr>
          <a:xfrm>
            <a:off x="3429000" y="3794760"/>
            <a:ext cx="2286000" cy="411480"/>
          </a:xfrm>
          <a:prstGeom prst="rect">
            <a:avLst/>
          </a:prstGeom>
          <a:noFill/>
          <a:ln/>
        </p:spPr>
        <p:txBody>
          <a:bodyPr wrap="square" lIns="0" tIns="0" rIns="0" bIns="0" rtlCol="0" anchor="ctr"/>
          <a:lstStyle/>
          <a:p>
            <a:pPr algn="ctr" indent="0" marL="0">
              <a:buNone/>
            </a:pPr>
            <a:r>
              <a:rPr lang="en-US" sz="1900" dirty="0">
                <a:solidFill>
                  <a:srgbClr val="303090"/>
                </a:solidFill>
              </a:rPr>
              <a:t>Act like people?</a:t>
            </a:r>
            <a:endParaRPr lang="en-US" sz="1900" dirty="0"/>
          </a:p>
        </p:txBody>
      </p:sp>
      <p:sp>
        <p:nvSpPr>
          <p:cNvPr id="12" name="Text 10"/>
          <p:cNvSpPr/>
          <p:nvPr/>
        </p:nvSpPr>
        <p:spPr>
          <a:xfrm>
            <a:off x="6400800" y="3794760"/>
            <a:ext cx="2286000" cy="411480"/>
          </a:xfrm>
          <a:prstGeom prst="rect">
            <a:avLst/>
          </a:prstGeom>
          <a:noFill/>
          <a:ln/>
        </p:spPr>
        <p:txBody>
          <a:bodyPr wrap="square" lIns="0" tIns="0" rIns="0" bIns="0" rtlCol="0" anchor="ctr"/>
          <a:lstStyle/>
          <a:p>
            <a:pPr algn="ctr" indent="0" marL="0">
              <a:buNone/>
            </a:pPr>
            <a:r>
              <a:rPr lang="en-US" sz="1900" dirty="0">
                <a:solidFill>
                  <a:srgbClr val="303090"/>
                </a:solidFill>
              </a:rPr>
              <a:t>Act rationally?</a:t>
            </a:r>
            <a:endParaRPr lang="en-US" sz="1900" dirty="0"/>
          </a:p>
        </p:txBody>
      </p:sp>
      <p:sp>
        <p:nvSpPr>
          <p:cNvPr id="13" name="Text 11"/>
          <p:cNvSpPr/>
          <p:nvPr/>
        </p:nvSpPr>
        <p:spPr>
          <a:xfrm>
            <a:off x="6172200" y="4800600"/>
            <a:ext cx="2377440" cy="274320"/>
          </a:xfrm>
          <a:prstGeom prst="rect">
            <a:avLst/>
          </a:prstGeom>
          <a:noFill/>
          <a:ln/>
        </p:spPr>
        <p:txBody>
          <a:bodyPr wrap="square" lIns="0" tIns="0" rIns="0" bIns="0" rtlCol="0" anchor="ctr"/>
          <a:lstStyle/>
          <a:p>
            <a:pPr algn="ctr" indent="0" marL="0">
              <a:buNone/>
            </a:pPr>
            <a:r>
              <a:rPr lang="en-US" sz="1400" b="1" dirty="0">
                <a:solidFill>
                  <a:srgbClr val="C00000"/>
                </a:solidFill>
              </a:rPr>
              <a:t>Course focus: act rationally</a:t>
            </a:r>
            <a:endParaRPr lang="en-US" sz="1400" dirty="0"/>
          </a:p>
        </p:txBody>
      </p:sp>
      <p:sp>
        <p:nvSpPr>
          <p:cNvPr id="14" name="Text 12"/>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This Course: Designing Rational Agents</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685800" y="1188720"/>
            <a:ext cx="6446520" cy="3840480"/>
          </a:xfrm>
          <a:prstGeom prst="rect">
            <a:avLst/>
          </a:prstGeom>
          <a:noFill/>
          <a:ln/>
        </p:spPr>
        <p:txBody>
          <a:bodyPr wrap="square" lIns="635" tIns="635" rIns="635" bIns="635" rtlCol="0" anchor="t">
            <a:normAutofit/>
          </a:bodyPr>
          <a:lstStyle/>
          <a:p>
            <a:r>
              <a:rPr lang="en-US" sz="2300" dirty="0">
                <a:solidFill>
                  <a:srgbClr val="303090"/>
                </a:solidFill>
                <a:latin typeface="Aptos" pitchFamily="34" charset="0"/>
                <a:ea typeface="Aptos" pitchFamily="34" charset="-122"/>
                <a:cs typeface="Aptos" pitchFamily="34" charset="-120"/>
              </a:rPr>
              <a:t>An agent is an entity that perceives and acts.</a:t>
            </a:r>
            <a:endParaRPr lang="en-US" sz="2300" dirty="0"/>
          </a:p>
          <a:p>
            <a:r>
              <a:rPr lang="en-US" sz="2300" dirty="0">
                <a:solidFill>
                  <a:srgbClr val="303090"/>
                </a:solidFill>
                <a:latin typeface="Aptos" pitchFamily="34" charset="0"/>
                <a:ea typeface="Aptos" pitchFamily="34" charset="-122"/>
                <a:cs typeface="Aptos" pitchFamily="34" charset="-120"/>
              </a:rPr>
              <a:t>A rational agent selects actions that maximize expected utility.</a:t>
            </a:r>
            <a:endParaRPr lang="en-US" sz="2300" dirty="0"/>
          </a:p>
          <a:p>
            <a:r>
              <a:rPr lang="en-US" sz="2300" dirty="0">
                <a:solidFill>
                  <a:srgbClr val="303090"/>
                </a:solidFill>
                <a:latin typeface="Aptos" pitchFamily="34" charset="0"/>
                <a:ea typeface="Aptos" pitchFamily="34" charset="-122"/>
                <a:cs typeface="Aptos" pitchFamily="34" charset="-120"/>
              </a:rPr>
              <a:t>The percepts, environment, and action space determine the correct technique.</a:t>
            </a:r>
            <a:endParaRPr lang="en-US" sz="2300" dirty="0"/>
          </a:p>
          <a:p>
            <a:r>
              <a:rPr lang="en-US" sz="2300" dirty="0">
                <a:solidFill>
                  <a:srgbClr val="303090"/>
                </a:solidFill>
                <a:latin typeface="Aptos" pitchFamily="34" charset="0"/>
                <a:ea typeface="Aptos" pitchFamily="34" charset="-122"/>
                <a:cs typeface="Aptos" pitchFamily="34" charset="-120"/>
              </a:rPr>
              <a:t>The course teaches how to recognize which technique fits which problem.</a:t>
            </a:r>
            <a:endParaRPr lang="en-US" sz="2300" dirty="0"/>
          </a:p>
        </p:txBody>
      </p:sp>
      <p:sp>
        <p:nvSpPr>
          <p:cNvPr id="7" name="Shape 5"/>
          <p:cNvSpPr/>
          <p:nvPr/>
        </p:nvSpPr>
        <p:spPr>
          <a:xfrm>
            <a:off x="7543800" y="1691640"/>
            <a:ext cx="1828800" cy="1325880"/>
          </a:xfrm>
          <a:prstGeom prst="rect">
            <a:avLst/>
          </a:prstGeom>
          <a:solidFill>
            <a:srgbClr val="B8C8E8"/>
          </a:solidFill>
          <a:ln w="12700">
            <a:solidFill>
              <a:srgbClr val="000000"/>
            </a:solidFill>
            <a:prstDash val="solid"/>
          </a:ln>
        </p:spPr>
      </p:sp>
      <p:sp>
        <p:nvSpPr>
          <p:cNvPr id="8" name="Text 6"/>
          <p:cNvSpPr/>
          <p:nvPr/>
        </p:nvSpPr>
        <p:spPr>
          <a:xfrm>
            <a:off x="7680960" y="1975104"/>
            <a:ext cx="1554480" cy="457200"/>
          </a:xfrm>
          <a:prstGeom prst="rect">
            <a:avLst/>
          </a:prstGeom>
          <a:noFill/>
          <a:ln/>
        </p:spPr>
        <p:txBody>
          <a:bodyPr wrap="square" lIns="0" tIns="0" rIns="0" bIns="0" rtlCol="0" anchor="ctr"/>
          <a:lstStyle/>
          <a:p>
            <a:pPr algn="ctr" indent="0" marL="0">
              <a:buNone/>
            </a:pPr>
            <a:r>
              <a:rPr lang="en-US" sz="1900" b="1" dirty="0">
                <a:solidFill>
                  <a:srgbClr val="000000"/>
                </a:solidFill>
              </a:rPr>
              <a:t>Agent</a:t>
            </a:r>
            <a:endParaRPr lang="en-US" sz="1900" dirty="0"/>
          </a:p>
          <a:p>
            <a:pPr algn="ctr" indent="0" marL="0">
              <a:buNone/>
            </a:pPr>
            <a:r>
              <a:rPr lang="en-US" sz="1900" b="1" dirty="0">
                <a:solidFill>
                  <a:srgbClr val="000000"/>
                </a:solidFill>
              </a:rPr>
              <a:t>?</a:t>
            </a:r>
            <a:endParaRPr lang="en-US" sz="1900" dirty="0"/>
          </a:p>
        </p:txBody>
      </p:sp>
      <p:sp>
        <p:nvSpPr>
          <p:cNvPr id="9" name="Shape 7"/>
          <p:cNvSpPr/>
          <p:nvPr/>
        </p:nvSpPr>
        <p:spPr>
          <a:xfrm>
            <a:off x="9829800" y="1691640"/>
            <a:ext cx="1645920" cy="1325880"/>
          </a:xfrm>
          <a:prstGeom prst="rect">
            <a:avLst/>
          </a:prstGeom>
          <a:solidFill>
            <a:srgbClr val="B8C8E8"/>
          </a:solidFill>
          <a:ln w="12700">
            <a:solidFill>
              <a:srgbClr val="000000"/>
            </a:solidFill>
            <a:prstDash val="solid"/>
          </a:ln>
        </p:spPr>
      </p:sp>
      <p:sp>
        <p:nvSpPr>
          <p:cNvPr id="10" name="Text 8"/>
          <p:cNvSpPr/>
          <p:nvPr/>
        </p:nvSpPr>
        <p:spPr>
          <a:xfrm>
            <a:off x="9985248" y="2148840"/>
            <a:ext cx="1325880" cy="274320"/>
          </a:xfrm>
          <a:prstGeom prst="rect">
            <a:avLst/>
          </a:prstGeom>
          <a:noFill/>
          <a:ln/>
        </p:spPr>
        <p:txBody>
          <a:bodyPr wrap="square" lIns="0" tIns="0" rIns="0" bIns="0" rtlCol="0" anchor="ctr">
            <a:normAutofit/>
          </a:bodyPr>
          <a:lstStyle/>
          <a:p>
            <a:pPr algn="ctr" indent="0" marL="0">
              <a:buNone/>
            </a:pPr>
            <a:r>
              <a:rPr lang="en-US" sz="1500" b="1" dirty="0">
                <a:solidFill>
                  <a:srgbClr val="000000"/>
                </a:solidFill>
              </a:rPr>
              <a:t>Environment</a:t>
            </a:r>
            <a:endParaRPr lang="en-US" sz="1500" dirty="0"/>
          </a:p>
        </p:txBody>
      </p:sp>
      <p:sp>
        <p:nvSpPr>
          <p:cNvPr id="11" name="Shape 9"/>
          <p:cNvSpPr/>
          <p:nvPr/>
        </p:nvSpPr>
        <p:spPr>
          <a:xfrm>
            <a:off x="9829800" y="2057400"/>
            <a:ext cx="-457200" cy="0"/>
          </a:xfrm>
          <a:prstGeom prst="line">
            <a:avLst/>
          </a:prstGeom>
          <a:noFill/>
          <a:ln w="22860">
            <a:solidFill>
              <a:srgbClr val="000000"/>
            </a:solidFill>
            <a:prstDash val="solid"/>
            <a:headEnd type="triangle"/>
          </a:ln>
        </p:spPr>
      </p:sp>
      <p:sp>
        <p:nvSpPr>
          <p:cNvPr id="12" name="Text 10"/>
          <p:cNvSpPr/>
          <p:nvPr/>
        </p:nvSpPr>
        <p:spPr>
          <a:xfrm>
            <a:off x="9372600" y="1444752"/>
            <a:ext cx="777240" cy="182880"/>
          </a:xfrm>
          <a:prstGeom prst="rect">
            <a:avLst/>
          </a:prstGeom>
          <a:noFill/>
          <a:ln/>
        </p:spPr>
        <p:txBody>
          <a:bodyPr wrap="square" lIns="0" tIns="0" rIns="0" bIns="0" rtlCol="0" anchor="ctr"/>
          <a:lstStyle/>
          <a:p>
            <a:pPr indent="0" marL="0">
              <a:buNone/>
            </a:pPr>
            <a:r>
              <a:rPr lang="en-US" sz="1000" dirty="0">
                <a:solidFill>
                  <a:srgbClr val="000000"/>
                </a:solidFill>
              </a:rPr>
              <a:t>Percepts</a:t>
            </a:r>
            <a:endParaRPr lang="en-US" sz="1000" dirty="0"/>
          </a:p>
        </p:txBody>
      </p:sp>
      <p:sp>
        <p:nvSpPr>
          <p:cNvPr id="13" name="Shape 11"/>
          <p:cNvSpPr/>
          <p:nvPr/>
        </p:nvSpPr>
        <p:spPr>
          <a:xfrm>
            <a:off x="9372600" y="2697480"/>
            <a:ext cx="457200" cy="0"/>
          </a:xfrm>
          <a:prstGeom prst="line">
            <a:avLst/>
          </a:prstGeom>
          <a:noFill/>
          <a:ln w="22860">
            <a:solidFill>
              <a:srgbClr val="000000"/>
            </a:solidFill>
            <a:prstDash val="solid"/>
            <a:tailEnd type="triangle"/>
          </a:ln>
        </p:spPr>
      </p:sp>
      <p:sp>
        <p:nvSpPr>
          <p:cNvPr id="14" name="Text 12"/>
          <p:cNvSpPr/>
          <p:nvPr/>
        </p:nvSpPr>
        <p:spPr>
          <a:xfrm>
            <a:off x="9372600" y="3154680"/>
            <a:ext cx="777240" cy="182880"/>
          </a:xfrm>
          <a:prstGeom prst="rect">
            <a:avLst/>
          </a:prstGeom>
          <a:noFill/>
          <a:ln/>
        </p:spPr>
        <p:txBody>
          <a:bodyPr wrap="square" lIns="0" tIns="0" rIns="0" bIns="0" rtlCol="0" anchor="ctr"/>
          <a:lstStyle/>
          <a:p>
            <a:pPr indent="0" marL="0">
              <a:buNone/>
            </a:pPr>
            <a:r>
              <a:rPr lang="en-US" sz="1000" dirty="0">
                <a:solidFill>
                  <a:srgbClr val="000000"/>
                </a:solidFill>
              </a:rPr>
              <a:t>Actions</a:t>
            </a:r>
            <a:endParaRPr lang="en-US" sz="1000" dirty="0"/>
          </a:p>
        </p:txBody>
      </p:sp>
      <p:sp>
        <p:nvSpPr>
          <p:cNvPr id="15" name="Text 13"/>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Pac-Man as an Agent</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pic>
        <p:nvPicPr>
          <p:cNvPr id="6" name="Image 0" descr="/mnt/data/comp469_ch2_assets/pacman_maze.png">    </p:cNvPr>
          <p:cNvPicPr>
            <a:picLocks noChangeAspect="1"/>
          </p:cNvPicPr>
          <p:nvPr/>
        </p:nvPicPr>
        <p:blipFill>
          <a:blip r:embed="rId1"/>
          <a:srcRect l="0" r="0" t="20422" b="20422"/>
          <a:stretch/>
        </p:blipFill>
        <p:spPr>
          <a:xfrm>
            <a:off x="1188720" y="1234440"/>
            <a:ext cx="9784080" cy="3200400"/>
          </a:xfrm>
          <a:prstGeom prst="rect">
            <a:avLst/>
          </a:prstGeom>
        </p:spPr>
      </p:pic>
      <p:sp>
        <p:nvSpPr>
          <p:cNvPr id="7" name="Text 4"/>
          <p:cNvSpPr/>
          <p:nvPr/>
        </p:nvSpPr>
        <p:spPr>
          <a:xfrm>
            <a:off x="1280160" y="4754880"/>
            <a:ext cx="9601200" cy="320040"/>
          </a:xfrm>
          <a:prstGeom prst="rect">
            <a:avLst/>
          </a:prstGeom>
          <a:noFill/>
          <a:ln/>
        </p:spPr>
        <p:txBody>
          <a:bodyPr wrap="square" lIns="0" tIns="0" rIns="0" bIns="0" rtlCol="0" anchor="ctr"/>
          <a:lstStyle/>
          <a:p>
            <a:pPr algn="ctr" indent="0" marL="0">
              <a:buNone/>
            </a:pPr>
            <a:r>
              <a:rPr lang="en-US" sz="2000" dirty="0">
                <a:solidFill>
                  <a:srgbClr val="303090"/>
                </a:solidFill>
              </a:rPr>
              <a:t>Running example: the agent observes the maze state, evaluates actions, and moves.</a:t>
            </a:r>
            <a:endParaRPr lang="en-US" sz="2000" dirty="0"/>
          </a:p>
        </p:txBody>
      </p:sp>
      <p:sp>
        <p:nvSpPr>
          <p:cNvPr id="8" name="Text 5"/>
          <p:cNvSpPr/>
          <p:nvPr/>
        </p:nvSpPr>
        <p:spPr>
          <a:xfrm>
            <a:off x="1645920" y="5285232"/>
            <a:ext cx="8961120" cy="457200"/>
          </a:xfrm>
          <a:prstGeom prst="rect">
            <a:avLst/>
          </a:prstGeom>
          <a:noFill/>
          <a:ln/>
        </p:spPr>
        <p:txBody>
          <a:bodyPr wrap="square" lIns="254" tIns="254" rIns="254" bIns="254" rtlCol="0" anchor="ctr">
            <a:normAutofit/>
          </a:bodyPr>
          <a:lstStyle/>
          <a:p>
            <a:pPr algn="ctr" indent="0" marL="0">
              <a:buNone/>
            </a:pPr>
            <a:r>
              <a:rPr lang="en-US" sz="1700" dirty="0">
                <a:solidFill>
                  <a:srgbClr val="000000"/>
                </a:solidFill>
              </a:rPr>
              <a:t>Pac-Man is useful because the environment, percepts, legal actions, rewards, and failures are visible.</a:t>
            </a:r>
            <a:endParaRPr lang="en-US" sz="1700" dirty="0"/>
          </a:p>
        </p:txBody>
      </p:sp>
      <p:sp>
        <p:nvSpPr>
          <p:cNvPr id="9" name="Text 6"/>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Agents and Environments</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Shape 4"/>
          <p:cNvSpPr/>
          <p:nvPr/>
        </p:nvSpPr>
        <p:spPr>
          <a:xfrm>
            <a:off x="2331720" y="1508760"/>
            <a:ext cx="2743200" cy="1874520"/>
          </a:xfrm>
          <a:prstGeom prst="rect">
            <a:avLst/>
          </a:prstGeom>
          <a:solidFill>
            <a:srgbClr val="B8C8E8"/>
          </a:solidFill>
          <a:ln w="15240">
            <a:solidFill>
              <a:srgbClr val="000000"/>
            </a:solidFill>
            <a:prstDash val="solid"/>
          </a:ln>
        </p:spPr>
      </p:sp>
      <p:sp>
        <p:nvSpPr>
          <p:cNvPr id="7" name="Text 5"/>
          <p:cNvSpPr/>
          <p:nvPr/>
        </p:nvSpPr>
        <p:spPr>
          <a:xfrm>
            <a:off x="2487168" y="1664208"/>
            <a:ext cx="822960" cy="274320"/>
          </a:xfrm>
          <a:prstGeom prst="rect">
            <a:avLst/>
          </a:prstGeom>
          <a:noFill/>
          <a:ln/>
        </p:spPr>
        <p:txBody>
          <a:bodyPr wrap="square" lIns="0" tIns="0" rIns="0" bIns="0" rtlCol="0" anchor="ctr"/>
          <a:lstStyle/>
          <a:p>
            <a:pPr indent="0" marL="0">
              <a:buNone/>
            </a:pPr>
            <a:r>
              <a:rPr lang="en-US" sz="2200" b="1" dirty="0">
                <a:solidFill>
                  <a:srgbClr val="000000"/>
                </a:solidFill>
              </a:rPr>
              <a:t>Agent</a:t>
            </a:r>
            <a:endParaRPr lang="en-US" sz="2200" dirty="0"/>
          </a:p>
        </p:txBody>
      </p:sp>
      <p:sp>
        <p:nvSpPr>
          <p:cNvPr id="8" name="Text 6"/>
          <p:cNvSpPr/>
          <p:nvPr/>
        </p:nvSpPr>
        <p:spPr>
          <a:xfrm>
            <a:off x="3520440" y="1993392"/>
            <a:ext cx="960120" cy="228600"/>
          </a:xfrm>
          <a:prstGeom prst="rect">
            <a:avLst/>
          </a:prstGeom>
          <a:noFill/>
          <a:ln/>
        </p:spPr>
        <p:txBody>
          <a:bodyPr wrap="square" lIns="0" tIns="0" rIns="0" bIns="0" rtlCol="0" anchor="ctr"/>
          <a:lstStyle/>
          <a:p>
            <a:pPr indent="0" marL="0">
              <a:buNone/>
            </a:pPr>
            <a:r>
              <a:rPr lang="en-US" sz="1700" dirty="0">
                <a:solidFill>
                  <a:srgbClr val="000000"/>
                </a:solidFill>
              </a:rPr>
              <a:t>Sensors</a:t>
            </a:r>
            <a:endParaRPr lang="en-US" sz="1700" dirty="0"/>
          </a:p>
        </p:txBody>
      </p:sp>
      <p:sp>
        <p:nvSpPr>
          <p:cNvPr id="9" name="Text 7"/>
          <p:cNvSpPr/>
          <p:nvPr/>
        </p:nvSpPr>
        <p:spPr>
          <a:xfrm>
            <a:off x="3246120" y="2240280"/>
            <a:ext cx="320040" cy="274320"/>
          </a:xfrm>
          <a:prstGeom prst="rect">
            <a:avLst/>
          </a:prstGeom>
          <a:noFill/>
          <a:ln/>
        </p:spPr>
        <p:txBody>
          <a:bodyPr wrap="square" lIns="0" tIns="0" rIns="0" bIns="0" rtlCol="0" anchor="ctr"/>
          <a:lstStyle/>
          <a:p>
            <a:pPr algn="ctr" indent="0" marL="0">
              <a:buNone/>
            </a:pPr>
            <a:r>
              <a:rPr lang="en-US" sz="1800" b="1" dirty="0">
                <a:solidFill>
                  <a:srgbClr val="000000"/>
                </a:solidFill>
              </a:rPr>
              <a:t>?</a:t>
            </a:r>
            <a:endParaRPr lang="en-US" sz="1800" dirty="0"/>
          </a:p>
        </p:txBody>
      </p:sp>
      <p:sp>
        <p:nvSpPr>
          <p:cNvPr id="10" name="Text 8"/>
          <p:cNvSpPr/>
          <p:nvPr/>
        </p:nvSpPr>
        <p:spPr>
          <a:xfrm>
            <a:off x="2971800" y="2880360"/>
            <a:ext cx="1554480" cy="274320"/>
          </a:xfrm>
          <a:prstGeom prst="rect">
            <a:avLst/>
          </a:prstGeom>
          <a:noFill/>
          <a:ln/>
        </p:spPr>
        <p:txBody>
          <a:bodyPr wrap="square" lIns="0" tIns="0" rIns="0" bIns="0" rtlCol="0" anchor="ctr"/>
          <a:lstStyle/>
          <a:p>
            <a:pPr indent="0" marL="0">
              <a:buNone/>
            </a:pPr>
            <a:r>
              <a:rPr lang="en-US" sz="1700" dirty="0">
                <a:solidFill>
                  <a:srgbClr val="000000"/>
                </a:solidFill>
              </a:rPr>
              <a:t>Actuators</a:t>
            </a:r>
            <a:endParaRPr lang="en-US" sz="1700" dirty="0"/>
          </a:p>
        </p:txBody>
      </p:sp>
      <p:sp>
        <p:nvSpPr>
          <p:cNvPr id="11" name="Shape 9"/>
          <p:cNvSpPr/>
          <p:nvPr/>
        </p:nvSpPr>
        <p:spPr>
          <a:xfrm>
            <a:off x="7315200" y="1508760"/>
            <a:ext cx="2148840" cy="1874520"/>
          </a:xfrm>
          <a:prstGeom prst="rect">
            <a:avLst/>
          </a:prstGeom>
          <a:solidFill>
            <a:srgbClr val="B8C8E8"/>
          </a:solidFill>
          <a:ln w="15240">
            <a:solidFill>
              <a:srgbClr val="000000"/>
            </a:solidFill>
            <a:prstDash val="solid"/>
          </a:ln>
        </p:spPr>
      </p:sp>
      <p:sp>
        <p:nvSpPr>
          <p:cNvPr id="12" name="Text 10"/>
          <p:cNvSpPr/>
          <p:nvPr/>
        </p:nvSpPr>
        <p:spPr>
          <a:xfrm>
            <a:off x="7470648" y="2240280"/>
            <a:ext cx="1828800" cy="274320"/>
          </a:xfrm>
          <a:prstGeom prst="rect">
            <a:avLst/>
          </a:prstGeom>
          <a:noFill/>
          <a:ln/>
        </p:spPr>
        <p:txBody>
          <a:bodyPr wrap="square" lIns="0" tIns="0" rIns="0" bIns="0" rtlCol="0" anchor="ctr"/>
          <a:lstStyle/>
          <a:p>
            <a:pPr algn="ctr" indent="0" marL="0">
              <a:buNone/>
            </a:pPr>
            <a:r>
              <a:rPr lang="en-US" sz="1800" b="1" dirty="0">
                <a:solidFill>
                  <a:srgbClr val="000000"/>
                </a:solidFill>
              </a:rPr>
              <a:t>Environment</a:t>
            </a:r>
            <a:endParaRPr lang="en-US" sz="1800" dirty="0"/>
          </a:p>
        </p:txBody>
      </p:sp>
      <p:sp>
        <p:nvSpPr>
          <p:cNvPr id="13" name="Shape 11"/>
          <p:cNvSpPr/>
          <p:nvPr/>
        </p:nvSpPr>
        <p:spPr>
          <a:xfrm>
            <a:off x="7315200" y="2011680"/>
            <a:ext cx="-2240280" cy="0"/>
          </a:xfrm>
          <a:prstGeom prst="line">
            <a:avLst/>
          </a:prstGeom>
          <a:noFill/>
          <a:ln w="25400">
            <a:solidFill>
              <a:srgbClr val="000000"/>
            </a:solidFill>
            <a:prstDash val="solid"/>
            <a:headEnd type="triangle"/>
          </a:ln>
        </p:spPr>
      </p:sp>
      <p:sp>
        <p:nvSpPr>
          <p:cNvPr id="14" name="Text 12"/>
          <p:cNvSpPr/>
          <p:nvPr/>
        </p:nvSpPr>
        <p:spPr>
          <a:xfrm>
            <a:off x="5715000" y="1828800"/>
            <a:ext cx="1005840" cy="228600"/>
          </a:xfrm>
          <a:prstGeom prst="rect">
            <a:avLst/>
          </a:prstGeom>
          <a:noFill/>
          <a:ln/>
        </p:spPr>
        <p:txBody>
          <a:bodyPr wrap="square" lIns="0" tIns="0" rIns="0" bIns="0" rtlCol="0" anchor="ctr"/>
          <a:lstStyle/>
          <a:p>
            <a:pPr algn="ctr" indent="0" marL="0">
              <a:buNone/>
            </a:pPr>
            <a:r>
              <a:rPr lang="en-US" sz="1400" dirty="0">
                <a:solidFill>
                  <a:srgbClr val="000000"/>
                </a:solidFill>
              </a:rPr>
              <a:t>Percepts</a:t>
            </a:r>
            <a:endParaRPr lang="en-US" sz="1400" dirty="0"/>
          </a:p>
        </p:txBody>
      </p:sp>
      <p:sp>
        <p:nvSpPr>
          <p:cNvPr id="15" name="Shape 13"/>
          <p:cNvSpPr/>
          <p:nvPr/>
        </p:nvSpPr>
        <p:spPr>
          <a:xfrm>
            <a:off x="5074920" y="2880360"/>
            <a:ext cx="2240280" cy="0"/>
          </a:xfrm>
          <a:prstGeom prst="line">
            <a:avLst/>
          </a:prstGeom>
          <a:noFill/>
          <a:ln w="25400">
            <a:solidFill>
              <a:srgbClr val="000000"/>
            </a:solidFill>
            <a:prstDash val="solid"/>
            <a:tailEnd type="triangle"/>
          </a:ln>
        </p:spPr>
      </p:sp>
      <p:sp>
        <p:nvSpPr>
          <p:cNvPr id="16" name="Text 14"/>
          <p:cNvSpPr/>
          <p:nvPr/>
        </p:nvSpPr>
        <p:spPr>
          <a:xfrm>
            <a:off x="5715000" y="2971800"/>
            <a:ext cx="1005840" cy="228600"/>
          </a:xfrm>
          <a:prstGeom prst="rect">
            <a:avLst/>
          </a:prstGeom>
          <a:noFill/>
          <a:ln/>
        </p:spPr>
        <p:txBody>
          <a:bodyPr wrap="square" lIns="0" tIns="0" rIns="0" bIns="0" rtlCol="0" anchor="ctr"/>
          <a:lstStyle/>
          <a:p>
            <a:pPr algn="ctr" indent="0" marL="0">
              <a:buNone/>
            </a:pPr>
            <a:r>
              <a:rPr lang="en-US" sz="1400" dirty="0">
                <a:solidFill>
                  <a:srgbClr val="000000"/>
                </a:solidFill>
              </a:rPr>
              <a:t>Actions</a:t>
            </a:r>
            <a:endParaRPr lang="en-US" sz="1400" dirty="0"/>
          </a:p>
        </p:txBody>
      </p:sp>
      <p:sp>
        <p:nvSpPr>
          <p:cNvPr id="17" name="Text 15"/>
          <p:cNvSpPr/>
          <p:nvPr/>
        </p:nvSpPr>
        <p:spPr>
          <a:xfrm>
            <a:off x="914400" y="4160520"/>
            <a:ext cx="10378440" cy="1234440"/>
          </a:xfrm>
          <a:prstGeom prst="rect">
            <a:avLst/>
          </a:prstGeom>
          <a:noFill/>
          <a:ln/>
        </p:spPr>
        <p:txBody>
          <a:bodyPr wrap="square" lIns="635" tIns="635" rIns="635" bIns="635" rtlCol="0" anchor="t">
            <a:normAutofit/>
          </a:bodyPr>
          <a:lstStyle/>
          <a:p>
            <a:r>
              <a:rPr lang="en-US" sz="2100" dirty="0">
                <a:solidFill>
                  <a:srgbClr val="303090"/>
                </a:solidFill>
                <a:latin typeface="Aptos" pitchFamily="34" charset="0"/>
                <a:ea typeface="Aptos" pitchFamily="34" charset="-122"/>
                <a:cs typeface="Aptos" pitchFamily="34" charset="-120"/>
              </a:rPr>
              <a:t>The agent function maps percept sequences to actions.</a:t>
            </a:r>
            <a:endParaRPr lang="en-US" sz="2100" dirty="0"/>
          </a:p>
          <a:p>
            <a:r>
              <a:rPr lang="en-US" sz="2100" dirty="0">
                <a:solidFill>
                  <a:srgbClr val="303090"/>
                </a:solidFill>
                <a:latin typeface="Aptos" pitchFamily="34" charset="0"/>
                <a:ea typeface="Aptos" pitchFamily="34" charset="-122"/>
                <a:cs typeface="Aptos" pitchFamily="34" charset="-120"/>
              </a:rPr>
              <a:t>The agent program implements that function on a machine.</a:t>
            </a:r>
            <a:endParaRPr lang="en-US" sz="2100" dirty="0"/>
          </a:p>
          <a:p>
            <a:r>
              <a:rPr lang="en-US" sz="2100" dirty="0">
                <a:solidFill>
                  <a:srgbClr val="303090"/>
                </a:solidFill>
                <a:latin typeface="Aptos" pitchFamily="34" charset="0"/>
                <a:ea typeface="Aptos" pitchFamily="34" charset="-122"/>
                <a:cs typeface="Aptos" pitchFamily="34" charset="-120"/>
              </a:rPr>
              <a:t>The environment responds to the agent’s actions.</a:t>
            </a:r>
            <a:endParaRPr lang="en-US" sz="2100" dirty="0"/>
          </a:p>
        </p:txBody>
      </p:sp>
      <p:sp>
        <p:nvSpPr>
          <p:cNvPr id="18" name="Text 16"/>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Agent Function vs. Agent Program</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960120" y="1417320"/>
            <a:ext cx="2743200" cy="365760"/>
          </a:xfrm>
          <a:prstGeom prst="rect">
            <a:avLst/>
          </a:prstGeom>
          <a:noFill/>
          <a:ln/>
        </p:spPr>
        <p:txBody>
          <a:bodyPr wrap="square" lIns="0" tIns="0" rIns="0" bIns="0" rtlCol="0" anchor="ctr"/>
          <a:lstStyle/>
          <a:p>
            <a:pPr algn="r" indent="0" marL="0">
              <a:buNone/>
            </a:pPr>
            <a:r>
              <a:rPr lang="en-US" sz="2300" b="1" dirty="0">
                <a:solidFill>
                  <a:srgbClr val="14345E"/>
                </a:solidFill>
              </a:rPr>
              <a:t>Agent function</a:t>
            </a:r>
            <a:endParaRPr lang="en-US" sz="2300" dirty="0"/>
          </a:p>
        </p:txBody>
      </p:sp>
      <p:sp>
        <p:nvSpPr>
          <p:cNvPr id="7" name="Shape 5"/>
          <p:cNvSpPr/>
          <p:nvPr/>
        </p:nvSpPr>
        <p:spPr>
          <a:xfrm>
            <a:off x="3977640" y="1627632"/>
            <a:ext cx="548640" cy="0"/>
          </a:xfrm>
          <a:prstGeom prst="line">
            <a:avLst/>
          </a:prstGeom>
          <a:noFill/>
          <a:ln w="19050">
            <a:solidFill>
              <a:srgbClr val="000000"/>
            </a:solidFill>
            <a:prstDash val="solid"/>
            <a:tailEnd type="triangle"/>
          </a:ln>
        </p:spPr>
      </p:sp>
      <p:sp>
        <p:nvSpPr>
          <p:cNvPr id="8" name="Text 6"/>
          <p:cNvSpPr/>
          <p:nvPr/>
        </p:nvSpPr>
        <p:spPr>
          <a:xfrm>
            <a:off x="4800600" y="1371600"/>
            <a:ext cx="5760720" cy="502920"/>
          </a:xfrm>
          <a:prstGeom prst="rect">
            <a:avLst/>
          </a:prstGeom>
          <a:noFill/>
          <a:ln/>
        </p:spPr>
        <p:txBody>
          <a:bodyPr wrap="square" lIns="381" tIns="381" rIns="381" bIns="381" rtlCol="0" anchor="ctr">
            <a:normAutofit/>
          </a:bodyPr>
          <a:lstStyle/>
          <a:p>
            <a:pPr indent="0" marL="0">
              <a:buNone/>
            </a:pPr>
            <a:r>
              <a:rPr lang="en-US" sz="2000" dirty="0">
                <a:solidFill>
                  <a:srgbClr val="000000"/>
                </a:solidFill>
              </a:rPr>
              <a:t>Abstract mapping from percept sequence to action</a:t>
            </a:r>
            <a:endParaRPr lang="en-US" sz="2000" dirty="0"/>
          </a:p>
        </p:txBody>
      </p:sp>
      <p:sp>
        <p:nvSpPr>
          <p:cNvPr id="9" name="Text 7"/>
          <p:cNvSpPr/>
          <p:nvPr/>
        </p:nvSpPr>
        <p:spPr>
          <a:xfrm>
            <a:off x="960120" y="2651760"/>
            <a:ext cx="2743200" cy="365760"/>
          </a:xfrm>
          <a:prstGeom prst="rect">
            <a:avLst/>
          </a:prstGeom>
          <a:noFill/>
          <a:ln/>
        </p:spPr>
        <p:txBody>
          <a:bodyPr wrap="square" lIns="0" tIns="0" rIns="0" bIns="0" rtlCol="0" anchor="ctr"/>
          <a:lstStyle/>
          <a:p>
            <a:pPr algn="r" indent="0" marL="0">
              <a:buNone/>
            </a:pPr>
            <a:r>
              <a:rPr lang="en-US" sz="2300" b="1" dirty="0">
                <a:solidFill>
                  <a:srgbClr val="14345E"/>
                </a:solidFill>
              </a:rPr>
              <a:t>Agent program</a:t>
            </a:r>
            <a:endParaRPr lang="en-US" sz="2300" dirty="0"/>
          </a:p>
        </p:txBody>
      </p:sp>
      <p:sp>
        <p:nvSpPr>
          <p:cNvPr id="10" name="Shape 8"/>
          <p:cNvSpPr/>
          <p:nvPr/>
        </p:nvSpPr>
        <p:spPr>
          <a:xfrm>
            <a:off x="3977640" y="2862072"/>
            <a:ext cx="548640" cy="0"/>
          </a:xfrm>
          <a:prstGeom prst="line">
            <a:avLst/>
          </a:prstGeom>
          <a:noFill/>
          <a:ln w="19050">
            <a:solidFill>
              <a:srgbClr val="000000"/>
            </a:solidFill>
            <a:prstDash val="solid"/>
            <a:tailEnd type="triangle"/>
          </a:ln>
        </p:spPr>
      </p:sp>
      <p:sp>
        <p:nvSpPr>
          <p:cNvPr id="11" name="Text 9"/>
          <p:cNvSpPr/>
          <p:nvPr/>
        </p:nvSpPr>
        <p:spPr>
          <a:xfrm>
            <a:off x="4800600" y="2606040"/>
            <a:ext cx="5760720" cy="502920"/>
          </a:xfrm>
          <a:prstGeom prst="rect">
            <a:avLst/>
          </a:prstGeom>
          <a:noFill/>
          <a:ln/>
        </p:spPr>
        <p:txBody>
          <a:bodyPr wrap="square" lIns="381" tIns="381" rIns="381" bIns="381" rtlCol="0" anchor="ctr">
            <a:normAutofit/>
          </a:bodyPr>
          <a:lstStyle/>
          <a:p>
            <a:pPr indent="0" marL="0">
              <a:buNone/>
            </a:pPr>
            <a:r>
              <a:rPr lang="en-US" sz="2000" dirty="0">
                <a:solidFill>
                  <a:srgbClr val="000000"/>
                </a:solidFill>
              </a:rPr>
              <a:t>Executable code that implements the mapping</a:t>
            </a:r>
            <a:endParaRPr lang="en-US" sz="2000" dirty="0"/>
          </a:p>
        </p:txBody>
      </p:sp>
      <p:sp>
        <p:nvSpPr>
          <p:cNvPr id="12" name="Text 10"/>
          <p:cNvSpPr/>
          <p:nvPr/>
        </p:nvSpPr>
        <p:spPr>
          <a:xfrm>
            <a:off x="960120" y="3886200"/>
            <a:ext cx="2743200" cy="365760"/>
          </a:xfrm>
          <a:prstGeom prst="rect">
            <a:avLst/>
          </a:prstGeom>
          <a:noFill/>
          <a:ln/>
        </p:spPr>
        <p:txBody>
          <a:bodyPr wrap="square" lIns="0" tIns="0" rIns="0" bIns="0" rtlCol="0" anchor="ctr"/>
          <a:lstStyle/>
          <a:p>
            <a:pPr algn="r" indent="0" marL="0">
              <a:buNone/>
            </a:pPr>
            <a:r>
              <a:rPr lang="en-US" sz="2300" b="1" dirty="0">
                <a:solidFill>
                  <a:srgbClr val="14345E"/>
                </a:solidFill>
              </a:rPr>
              <a:t>Architecture</a:t>
            </a:r>
            <a:endParaRPr lang="en-US" sz="2300" dirty="0"/>
          </a:p>
        </p:txBody>
      </p:sp>
      <p:sp>
        <p:nvSpPr>
          <p:cNvPr id="13" name="Shape 11"/>
          <p:cNvSpPr/>
          <p:nvPr/>
        </p:nvSpPr>
        <p:spPr>
          <a:xfrm>
            <a:off x="3977640" y="4096512"/>
            <a:ext cx="548640" cy="0"/>
          </a:xfrm>
          <a:prstGeom prst="line">
            <a:avLst/>
          </a:prstGeom>
          <a:noFill/>
          <a:ln w="19050">
            <a:solidFill>
              <a:srgbClr val="000000"/>
            </a:solidFill>
            <a:prstDash val="solid"/>
            <a:tailEnd type="triangle"/>
          </a:ln>
        </p:spPr>
      </p:sp>
      <p:sp>
        <p:nvSpPr>
          <p:cNvPr id="14" name="Text 12"/>
          <p:cNvSpPr/>
          <p:nvPr/>
        </p:nvSpPr>
        <p:spPr>
          <a:xfrm>
            <a:off x="4800600" y="3840480"/>
            <a:ext cx="5760720" cy="502920"/>
          </a:xfrm>
          <a:prstGeom prst="rect">
            <a:avLst/>
          </a:prstGeom>
          <a:noFill/>
          <a:ln/>
        </p:spPr>
        <p:txBody>
          <a:bodyPr wrap="square" lIns="381" tIns="381" rIns="381" bIns="381" rtlCol="0" anchor="ctr">
            <a:normAutofit/>
          </a:bodyPr>
          <a:lstStyle/>
          <a:p>
            <a:pPr indent="0" marL="0">
              <a:buNone/>
            </a:pPr>
            <a:r>
              <a:rPr lang="en-US" sz="2000" dirty="0">
                <a:solidFill>
                  <a:srgbClr val="000000"/>
                </a:solidFill>
              </a:rPr>
              <a:t>Machine or platform the program runs on</a:t>
            </a:r>
            <a:endParaRPr lang="en-US" sz="2000" dirty="0"/>
          </a:p>
        </p:txBody>
      </p:sp>
      <p:sp>
        <p:nvSpPr>
          <p:cNvPr id="15" name="Shape 13"/>
          <p:cNvSpPr/>
          <p:nvPr/>
        </p:nvSpPr>
        <p:spPr>
          <a:xfrm>
            <a:off x="1828800" y="5230368"/>
            <a:ext cx="8549640" cy="512064"/>
          </a:xfrm>
          <a:prstGeom prst="roundRect">
            <a:avLst/>
          </a:prstGeom>
          <a:solidFill>
            <a:srgbClr val="EAF1FB"/>
          </a:solidFill>
          <a:ln w="12700">
            <a:solidFill>
              <a:srgbClr val="9CB3D4"/>
            </a:solidFill>
            <a:prstDash val="solid"/>
          </a:ln>
        </p:spPr>
      </p:sp>
      <p:sp>
        <p:nvSpPr>
          <p:cNvPr id="16" name="Text 14"/>
          <p:cNvSpPr/>
          <p:nvPr/>
        </p:nvSpPr>
        <p:spPr>
          <a:xfrm>
            <a:off x="2011680" y="5376672"/>
            <a:ext cx="8183880" cy="228600"/>
          </a:xfrm>
          <a:prstGeom prst="rect">
            <a:avLst/>
          </a:prstGeom>
          <a:noFill/>
          <a:ln/>
        </p:spPr>
        <p:txBody>
          <a:bodyPr wrap="square" lIns="0" tIns="0" rIns="0" bIns="0" rtlCol="0" anchor="ctr"/>
          <a:lstStyle/>
          <a:p>
            <a:pPr algn="ctr" indent="0" marL="0">
              <a:buNone/>
            </a:pPr>
            <a:r>
              <a:rPr lang="en-US" sz="1800" b="1" dirty="0">
                <a:solidFill>
                  <a:srgbClr val="14345E"/>
                </a:solidFill>
              </a:rPr>
              <a:t>Teaching phrase: function is the “what”; program is the “how.”</a:t>
            </a:r>
            <a:endParaRPr lang="en-US" sz="1800" dirty="0"/>
          </a:p>
        </p:txBody>
      </p:sp>
      <p:sp>
        <p:nvSpPr>
          <p:cNvPr id="17" name="Text 15"/>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Agent Design Depends on the Environment</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822960" y="1143000"/>
            <a:ext cx="2926080" cy="310896"/>
          </a:xfrm>
          <a:prstGeom prst="rect">
            <a:avLst/>
          </a:prstGeom>
          <a:noFill/>
          <a:ln/>
        </p:spPr>
        <p:txBody>
          <a:bodyPr wrap="square" lIns="0" tIns="0" rIns="0" bIns="0" rtlCol="0" anchor="ctr"/>
          <a:lstStyle/>
          <a:p>
            <a:pPr algn="r" indent="0" marL="0">
              <a:buNone/>
            </a:pPr>
            <a:r>
              <a:rPr lang="en-US" sz="1800" b="1" dirty="0">
                <a:solidFill>
                  <a:srgbClr val="303090"/>
                </a:solidFill>
              </a:rPr>
              <a:t>Partially observable</a:t>
            </a:r>
            <a:endParaRPr lang="en-US" sz="1800" dirty="0"/>
          </a:p>
        </p:txBody>
      </p:sp>
      <p:sp>
        <p:nvSpPr>
          <p:cNvPr id="7" name="Text 5"/>
          <p:cNvSpPr/>
          <p:nvPr/>
        </p:nvSpPr>
        <p:spPr>
          <a:xfrm>
            <a:off x="3913632" y="1143000"/>
            <a:ext cx="365760" cy="274320"/>
          </a:xfrm>
          <a:prstGeom prst="rect">
            <a:avLst/>
          </a:prstGeom>
          <a:noFill/>
          <a:ln/>
        </p:spPr>
        <p:txBody>
          <a:bodyPr wrap="square" lIns="0" tIns="0" rIns="0" bIns="0" rtlCol="0" anchor="ctr"/>
          <a:lstStyle/>
          <a:p>
            <a:pPr algn="ctr" indent="0" marL="0">
              <a:buNone/>
            </a:pPr>
            <a:r>
              <a:rPr lang="en-US" sz="1700" b="1" dirty="0">
                <a:solidFill>
                  <a:srgbClr val="000000"/>
                </a:solidFill>
              </a:rPr>
              <a:t>=&gt;</a:t>
            </a:r>
            <a:endParaRPr lang="en-US" sz="1700" dirty="0"/>
          </a:p>
        </p:txBody>
      </p:sp>
      <p:sp>
        <p:nvSpPr>
          <p:cNvPr id="8" name="Text 6"/>
          <p:cNvSpPr/>
          <p:nvPr/>
        </p:nvSpPr>
        <p:spPr>
          <a:xfrm>
            <a:off x="4526280" y="1143000"/>
            <a:ext cx="6355080" cy="310896"/>
          </a:xfrm>
          <a:prstGeom prst="rect">
            <a:avLst/>
          </a:prstGeom>
          <a:noFill/>
          <a:ln/>
        </p:spPr>
        <p:txBody>
          <a:bodyPr wrap="square" lIns="0" tIns="0" rIns="0" bIns="0" rtlCol="0" anchor="ctr">
            <a:normAutofit/>
          </a:bodyPr>
          <a:lstStyle/>
          <a:p>
            <a:pPr indent="0" marL="0">
              <a:buNone/>
            </a:pPr>
            <a:r>
              <a:rPr lang="en-US" sz="1800" dirty="0">
                <a:solidFill>
                  <a:srgbClr val="000000"/>
                </a:solidFill>
              </a:rPr>
              <a:t>Needs memory / internal state</a:t>
            </a:r>
            <a:endParaRPr lang="en-US" sz="1800" dirty="0"/>
          </a:p>
        </p:txBody>
      </p:sp>
      <p:sp>
        <p:nvSpPr>
          <p:cNvPr id="9" name="Text 7"/>
          <p:cNvSpPr/>
          <p:nvPr/>
        </p:nvSpPr>
        <p:spPr>
          <a:xfrm>
            <a:off x="822960" y="1819656"/>
            <a:ext cx="2926080" cy="310896"/>
          </a:xfrm>
          <a:prstGeom prst="rect">
            <a:avLst/>
          </a:prstGeom>
          <a:noFill/>
          <a:ln/>
        </p:spPr>
        <p:txBody>
          <a:bodyPr wrap="square" lIns="0" tIns="0" rIns="0" bIns="0" rtlCol="0" anchor="ctr"/>
          <a:lstStyle/>
          <a:p>
            <a:pPr algn="r" indent="0" marL="0">
              <a:buNone/>
            </a:pPr>
            <a:r>
              <a:rPr lang="en-US" sz="1800" b="1" dirty="0">
                <a:solidFill>
                  <a:srgbClr val="303090"/>
                </a:solidFill>
              </a:rPr>
              <a:t>Stochastic</a:t>
            </a:r>
            <a:endParaRPr lang="en-US" sz="1800" dirty="0"/>
          </a:p>
        </p:txBody>
      </p:sp>
      <p:sp>
        <p:nvSpPr>
          <p:cNvPr id="10" name="Text 8"/>
          <p:cNvSpPr/>
          <p:nvPr/>
        </p:nvSpPr>
        <p:spPr>
          <a:xfrm>
            <a:off x="3913632" y="1819656"/>
            <a:ext cx="365760" cy="274320"/>
          </a:xfrm>
          <a:prstGeom prst="rect">
            <a:avLst/>
          </a:prstGeom>
          <a:noFill/>
          <a:ln/>
        </p:spPr>
        <p:txBody>
          <a:bodyPr wrap="square" lIns="0" tIns="0" rIns="0" bIns="0" rtlCol="0" anchor="ctr"/>
          <a:lstStyle/>
          <a:p>
            <a:pPr algn="ctr" indent="0" marL="0">
              <a:buNone/>
            </a:pPr>
            <a:r>
              <a:rPr lang="en-US" sz="1700" b="1" dirty="0">
                <a:solidFill>
                  <a:srgbClr val="000000"/>
                </a:solidFill>
              </a:rPr>
              <a:t>=&gt;</a:t>
            </a:r>
            <a:endParaRPr lang="en-US" sz="1700" dirty="0"/>
          </a:p>
        </p:txBody>
      </p:sp>
      <p:sp>
        <p:nvSpPr>
          <p:cNvPr id="11" name="Text 9"/>
          <p:cNvSpPr/>
          <p:nvPr/>
        </p:nvSpPr>
        <p:spPr>
          <a:xfrm>
            <a:off x="4526280" y="1819656"/>
            <a:ext cx="6355080" cy="310896"/>
          </a:xfrm>
          <a:prstGeom prst="rect">
            <a:avLst/>
          </a:prstGeom>
          <a:noFill/>
          <a:ln/>
        </p:spPr>
        <p:txBody>
          <a:bodyPr wrap="square" lIns="0" tIns="0" rIns="0" bIns="0" rtlCol="0" anchor="ctr">
            <a:normAutofit/>
          </a:bodyPr>
          <a:lstStyle/>
          <a:p>
            <a:pPr indent="0" marL="0">
              <a:buNone/>
            </a:pPr>
            <a:r>
              <a:rPr lang="en-US" sz="1800" dirty="0">
                <a:solidFill>
                  <a:srgbClr val="000000"/>
                </a:solidFill>
              </a:rPr>
              <a:t>Plans for contingencies</a:t>
            </a:r>
            <a:endParaRPr lang="en-US" sz="1800" dirty="0"/>
          </a:p>
        </p:txBody>
      </p:sp>
      <p:sp>
        <p:nvSpPr>
          <p:cNvPr id="12" name="Text 10"/>
          <p:cNvSpPr/>
          <p:nvPr/>
        </p:nvSpPr>
        <p:spPr>
          <a:xfrm>
            <a:off x="822960" y="2496312"/>
            <a:ext cx="2926080" cy="310896"/>
          </a:xfrm>
          <a:prstGeom prst="rect">
            <a:avLst/>
          </a:prstGeom>
          <a:noFill/>
          <a:ln/>
        </p:spPr>
        <p:txBody>
          <a:bodyPr wrap="square" lIns="0" tIns="0" rIns="0" bIns="0" rtlCol="0" anchor="ctr"/>
          <a:lstStyle/>
          <a:p>
            <a:pPr algn="r" indent="0" marL="0">
              <a:buNone/>
            </a:pPr>
            <a:r>
              <a:rPr lang="en-US" sz="1800" b="1" dirty="0">
                <a:solidFill>
                  <a:srgbClr val="303090"/>
                </a:solidFill>
              </a:rPr>
              <a:t>Multi-agent</a:t>
            </a:r>
            <a:endParaRPr lang="en-US" sz="1800" dirty="0"/>
          </a:p>
        </p:txBody>
      </p:sp>
      <p:sp>
        <p:nvSpPr>
          <p:cNvPr id="13" name="Text 11"/>
          <p:cNvSpPr/>
          <p:nvPr/>
        </p:nvSpPr>
        <p:spPr>
          <a:xfrm>
            <a:off x="3913632" y="2496312"/>
            <a:ext cx="365760" cy="274320"/>
          </a:xfrm>
          <a:prstGeom prst="rect">
            <a:avLst/>
          </a:prstGeom>
          <a:noFill/>
          <a:ln/>
        </p:spPr>
        <p:txBody>
          <a:bodyPr wrap="square" lIns="0" tIns="0" rIns="0" bIns="0" rtlCol="0" anchor="ctr"/>
          <a:lstStyle/>
          <a:p>
            <a:pPr algn="ctr" indent="0" marL="0">
              <a:buNone/>
            </a:pPr>
            <a:r>
              <a:rPr lang="en-US" sz="1700" b="1" dirty="0">
                <a:solidFill>
                  <a:srgbClr val="000000"/>
                </a:solidFill>
              </a:rPr>
              <a:t>=&gt;</a:t>
            </a:r>
            <a:endParaRPr lang="en-US" sz="1700" dirty="0"/>
          </a:p>
        </p:txBody>
      </p:sp>
      <p:sp>
        <p:nvSpPr>
          <p:cNvPr id="14" name="Text 12"/>
          <p:cNvSpPr/>
          <p:nvPr/>
        </p:nvSpPr>
        <p:spPr>
          <a:xfrm>
            <a:off x="4526280" y="2496312"/>
            <a:ext cx="6355080" cy="310896"/>
          </a:xfrm>
          <a:prstGeom prst="rect">
            <a:avLst/>
          </a:prstGeom>
          <a:noFill/>
          <a:ln/>
        </p:spPr>
        <p:txBody>
          <a:bodyPr wrap="square" lIns="0" tIns="0" rIns="0" bIns="0" rtlCol="0" anchor="ctr">
            <a:normAutofit/>
          </a:bodyPr>
          <a:lstStyle/>
          <a:p>
            <a:pPr indent="0" marL="0">
              <a:buNone/>
            </a:pPr>
            <a:r>
              <a:rPr lang="en-US" sz="1800" dirty="0">
                <a:solidFill>
                  <a:srgbClr val="000000"/>
                </a:solidFill>
              </a:rPr>
              <a:t>May need strategic or randomized behavior</a:t>
            </a:r>
            <a:endParaRPr lang="en-US" sz="1800" dirty="0"/>
          </a:p>
        </p:txBody>
      </p:sp>
      <p:sp>
        <p:nvSpPr>
          <p:cNvPr id="15" name="Text 13"/>
          <p:cNvSpPr/>
          <p:nvPr/>
        </p:nvSpPr>
        <p:spPr>
          <a:xfrm>
            <a:off x="822960" y="3172968"/>
            <a:ext cx="2926080" cy="310896"/>
          </a:xfrm>
          <a:prstGeom prst="rect">
            <a:avLst/>
          </a:prstGeom>
          <a:noFill/>
          <a:ln/>
        </p:spPr>
        <p:txBody>
          <a:bodyPr wrap="square" lIns="0" tIns="0" rIns="0" bIns="0" rtlCol="0" anchor="ctr"/>
          <a:lstStyle/>
          <a:p>
            <a:pPr algn="r" indent="0" marL="0">
              <a:buNone/>
            </a:pPr>
            <a:r>
              <a:rPr lang="en-US" sz="1800" b="1" dirty="0">
                <a:solidFill>
                  <a:srgbClr val="303090"/>
                </a:solidFill>
              </a:rPr>
              <a:t>Static</a:t>
            </a:r>
            <a:endParaRPr lang="en-US" sz="1800" dirty="0"/>
          </a:p>
        </p:txBody>
      </p:sp>
      <p:sp>
        <p:nvSpPr>
          <p:cNvPr id="16" name="Text 14"/>
          <p:cNvSpPr/>
          <p:nvPr/>
        </p:nvSpPr>
        <p:spPr>
          <a:xfrm>
            <a:off x="3913632" y="3172968"/>
            <a:ext cx="365760" cy="274320"/>
          </a:xfrm>
          <a:prstGeom prst="rect">
            <a:avLst/>
          </a:prstGeom>
          <a:noFill/>
          <a:ln/>
        </p:spPr>
        <p:txBody>
          <a:bodyPr wrap="square" lIns="0" tIns="0" rIns="0" bIns="0" rtlCol="0" anchor="ctr"/>
          <a:lstStyle/>
          <a:p>
            <a:pPr algn="ctr" indent="0" marL="0">
              <a:buNone/>
            </a:pPr>
            <a:r>
              <a:rPr lang="en-US" sz="1700" b="1" dirty="0">
                <a:solidFill>
                  <a:srgbClr val="000000"/>
                </a:solidFill>
              </a:rPr>
              <a:t>=&gt;</a:t>
            </a:r>
            <a:endParaRPr lang="en-US" sz="1700" dirty="0"/>
          </a:p>
        </p:txBody>
      </p:sp>
      <p:sp>
        <p:nvSpPr>
          <p:cNvPr id="17" name="Text 15"/>
          <p:cNvSpPr/>
          <p:nvPr/>
        </p:nvSpPr>
        <p:spPr>
          <a:xfrm>
            <a:off x="4526280" y="3172968"/>
            <a:ext cx="6355080" cy="310896"/>
          </a:xfrm>
          <a:prstGeom prst="rect">
            <a:avLst/>
          </a:prstGeom>
          <a:noFill/>
          <a:ln/>
        </p:spPr>
        <p:txBody>
          <a:bodyPr wrap="square" lIns="0" tIns="0" rIns="0" bIns="0" rtlCol="0" anchor="ctr">
            <a:normAutofit/>
          </a:bodyPr>
          <a:lstStyle/>
          <a:p>
            <a:pPr indent="0" marL="0">
              <a:buNone/>
            </a:pPr>
            <a:r>
              <a:rPr lang="en-US" sz="1800" dirty="0">
                <a:solidFill>
                  <a:srgbClr val="000000"/>
                </a:solidFill>
              </a:rPr>
              <a:t>Can spend time computing a decision</a:t>
            </a:r>
            <a:endParaRPr lang="en-US" sz="1800" dirty="0"/>
          </a:p>
        </p:txBody>
      </p:sp>
      <p:sp>
        <p:nvSpPr>
          <p:cNvPr id="18" name="Text 16"/>
          <p:cNvSpPr/>
          <p:nvPr/>
        </p:nvSpPr>
        <p:spPr>
          <a:xfrm>
            <a:off x="822960" y="3849624"/>
            <a:ext cx="2926080" cy="310896"/>
          </a:xfrm>
          <a:prstGeom prst="rect">
            <a:avLst/>
          </a:prstGeom>
          <a:noFill/>
          <a:ln/>
        </p:spPr>
        <p:txBody>
          <a:bodyPr wrap="square" lIns="0" tIns="0" rIns="0" bIns="0" rtlCol="0" anchor="ctr"/>
          <a:lstStyle/>
          <a:p>
            <a:pPr algn="r" indent="0" marL="0">
              <a:buNone/>
            </a:pPr>
            <a:r>
              <a:rPr lang="en-US" sz="1800" b="1" dirty="0">
                <a:solidFill>
                  <a:srgbClr val="303090"/>
                </a:solidFill>
              </a:rPr>
              <a:t>Continuous time</a:t>
            </a:r>
            <a:endParaRPr lang="en-US" sz="1800" dirty="0"/>
          </a:p>
        </p:txBody>
      </p:sp>
      <p:sp>
        <p:nvSpPr>
          <p:cNvPr id="19" name="Text 17"/>
          <p:cNvSpPr/>
          <p:nvPr/>
        </p:nvSpPr>
        <p:spPr>
          <a:xfrm>
            <a:off x="3913632" y="3849624"/>
            <a:ext cx="365760" cy="274320"/>
          </a:xfrm>
          <a:prstGeom prst="rect">
            <a:avLst/>
          </a:prstGeom>
          <a:noFill/>
          <a:ln/>
        </p:spPr>
        <p:txBody>
          <a:bodyPr wrap="square" lIns="0" tIns="0" rIns="0" bIns="0" rtlCol="0" anchor="ctr"/>
          <a:lstStyle/>
          <a:p>
            <a:pPr algn="ctr" indent="0" marL="0">
              <a:buNone/>
            </a:pPr>
            <a:r>
              <a:rPr lang="en-US" sz="1700" b="1" dirty="0">
                <a:solidFill>
                  <a:srgbClr val="000000"/>
                </a:solidFill>
              </a:rPr>
              <a:t>=&gt;</a:t>
            </a:r>
            <a:endParaRPr lang="en-US" sz="1700" dirty="0"/>
          </a:p>
        </p:txBody>
      </p:sp>
      <p:sp>
        <p:nvSpPr>
          <p:cNvPr id="20" name="Text 18"/>
          <p:cNvSpPr/>
          <p:nvPr/>
        </p:nvSpPr>
        <p:spPr>
          <a:xfrm>
            <a:off x="4526280" y="3849624"/>
            <a:ext cx="6355080" cy="310896"/>
          </a:xfrm>
          <a:prstGeom prst="rect">
            <a:avLst/>
          </a:prstGeom>
          <a:noFill/>
          <a:ln/>
        </p:spPr>
        <p:txBody>
          <a:bodyPr wrap="square" lIns="0" tIns="0" rIns="0" bIns="0" rtlCol="0" anchor="ctr">
            <a:normAutofit/>
          </a:bodyPr>
          <a:lstStyle/>
          <a:p>
            <a:pPr indent="0" marL="0">
              <a:buNone/>
            </a:pPr>
            <a:r>
              <a:rPr lang="en-US" sz="1800" dirty="0">
                <a:solidFill>
                  <a:srgbClr val="000000"/>
                </a:solidFill>
              </a:rPr>
              <a:t>Needs a continuously operating controller</a:t>
            </a:r>
            <a:endParaRPr lang="en-US" sz="1800" dirty="0"/>
          </a:p>
        </p:txBody>
      </p:sp>
      <p:sp>
        <p:nvSpPr>
          <p:cNvPr id="21" name="Text 19"/>
          <p:cNvSpPr/>
          <p:nvPr/>
        </p:nvSpPr>
        <p:spPr>
          <a:xfrm>
            <a:off x="822960" y="4526280"/>
            <a:ext cx="2926080" cy="310896"/>
          </a:xfrm>
          <a:prstGeom prst="rect">
            <a:avLst/>
          </a:prstGeom>
          <a:noFill/>
          <a:ln/>
        </p:spPr>
        <p:txBody>
          <a:bodyPr wrap="square" lIns="0" tIns="0" rIns="0" bIns="0" rtlCol="0" anchor="ctr"/>
          <a:lstStyle/>
          <a:p>
            <a:pPr algn="r" indent="0" marL="0">
              <a:buNone/>
            </a:pPr>
            <a:r>
              <a:rPr lang="en-US" sz="1800" b="1" dirty="0">
                <a:solidFill>
                  <a:srgbClr val="303090"/>
                </a:solidFill>
              </a:rPr>
              <a:t>Unknown physics</a:t>
            </a:r>
            <a:endParaRPr lang="en-US" sz="1800" dirty="0"/>
          </a:p>
        </p:txBody>
      </p:sp>
      <p:sp>
        <p:nvSpPr>
          <p:cNvPr id="22" name="Text 20"/>
          <p:cNvSpPr/>
          <p:nvPr/>
        </p:nvSpPr>
        <p:spPr>
          <a:xfrm>
            <a:off x="3913632" y="4526280"/>
            <a:ext cx="365760" cy="274320"/>
          </a:xfrm>
          <a:prstGeom prst="rect">
            <a:avLst/>
          </a:prstGeom>
          <a:noFill/>
          <a:ln/>
        </p:spPr>
        <p:txBody>
          <a:bodyPr wrap="square" lIns="0" tIns="0" rIns="0" bIns="0" rtlCol="0" anchor="ctr"/>
          <a:lstStyle/>
          <a:p>
            <a:pPr algn="ctr" indent="0" marL="0">
              <a:buNone/>
            </a:pPr>
            <a:r>
              <a:rPr lang="en-US" sz="1700" b="1" dirty="0">
                <a:solidFill>
                  <a:srgbClr val="000000"/>
                </a:solidFill>
              </a:rPr>
              <a:t>=&gt;</a:t>
            </a:r>
            <a:endParaRPr lang="en-US" sz="1700" dirty="0"/>
          </a:p>
        </p:txBody>
      </p:sp>
      <p:sp>
        <p:nvSpPr>
          <p:cNvPr id="23" name="Text 21"/>
          <p:cNvSpPr/>
          <p:nvPr/>
        </p:nvSpPr>
        <p:spPr>
          <a:xfrm>
            <a:off x="4526280" y="4526280"/>
            <a:ext cx="6355080" cy="310896"/>
          </a:xfrm>
          <a:prstGeom prst="rect">
            <a:avLst/>
          </a:prstGeom>
          <a:noFill/>
          <a:ln/>
        </p:spPr>
        <p:txBody>
          <a:bodyPr wrap="square" lIns="0" tIns="0" rIns="0" bIns="0" rtlCol="0" anchor="ctr">
            <a:normAutofit/>
          </a:bodyPr>
          <a:lstStyle/>
          <a:p>
            <a:pPr indent="0" marL="0">
              <a:buNone/>
            </a:pPr>
            <a:r>
              <a:rPr lang="en-US" sz="1800" dirty="0">
                <a:solidFill>
                  <a:srgbClr val="000000"/>
                </a:solidFill>
              </a:rPr>
              <a:t>Needs exploration</a:t>
            </a:r>
            <a:endParaRPr lang="en-US" sz="1800" dirty="0"/>
          </a:p>
        </p:txBody>
      </p:sp>
      <p:sp>
        <p:nvSpPr>
          <p:cNvPr id="24" name="Text 22"/>
          <p:cNvSpPr/>
          <p:nvPr/>
        </p:nvSpPr>
        <p:spPr>
          <a:xfrm>
            <a:off x="822960" y="5202936"/>
            <a:ext cx="2926080" cy="310896"/>
          </a:xfrm>
          <a:prstGeom prst="rect">
            <a:avLst/>
          </a:prstGeom>
          <a:noFill/>
          <a:ln/>
        </p:spPr>
        <p:txBody>
          <a:bodyPr wrap="square" lIns="0" tIns="0" rIns="0" bIns="0" rtlCol="0" anchor="ctr"/>
          <a:lstStyle/>
          <a:p>
            <a:pPr algn="r" indent="0" marL="0">
              <a:buNone/>
            </a:pPr>
            <a:r>
              <a:rPr lang="en-US" sz="1800" b="1" dirty="0">
                <a:solidFill>
                  <a:srgbClr val="303090"/>
                </a:solidFill>
              </a:rPr>
              <a:t>Unknown performance measure</a:t>
            </a:r>
            <a:endParaRPr lang="en-US" sz="1800" dirty="0"/>
          </a:p>
        </p:txBody>
      </p:sp>
      <p:sp>
        <p:nvSpPr>
          <p:cNvPr id="25" name="Text 23"/>
          <p:cNvSpPr/>
          <p:nvPr/>
        </p:nvSpPr>
        <p:spPr>
          <a:xfrm>
            <a:off x="3913632" y="5202936"/>
            <a:ext cx="365760" cy="274320"/>
          </a:xfrm>
          <a:prstGeom prst="rect">
            <a:avLst/>
          </a:prstGeom>
          <a:noFill/>
          <a:ln/>
        </p:spPr>
        <p:txBody>
          <a:bodyPr wrap="square" lIns="0" tIns="0" rIns="0" bIns="0" rtlCol="0" anchor="ctr"/>
          <a:lstStyle/>
          <a:p>
            <a:pPr algn="ctr" indent="0" marL="0">
              <a:buNone/>
            </a:pPr>
            <a:r>
              <a:rPr lang="en-US" sz="1700" b="1" dirty="0">
                <a:solidFill>
                  <a:srgbClr val="000000"/>
                </a:solidFill>
              </a:rPr>
              <a:t>=&gt;</a:t>
            </a:r>
            <a:endParaRPr lang="en-US" sz="1700" dirty="0"/>
          </a:p>
        </p:txBody>
      </p:sp>
      <p:sp>
        <p:nvSpPr>
          <p:cNvPr id="26" name="Text 24"/>
          <p:cNvSpPr/>
          <p:nvPr/>
        </p:nvSpPr>
        <p:spPr>
          <a:xfrm>
            <a:off x="4526280" y="5202936"/>
            <a:ext cx="6355080" cy="310896"/>
          </a:xfrm>
          <a:prstGeom prst="rect">
            <a:avLst/>
          </a:prstGeom>
          <a:noFill/>
          <a:ln/>
        </p:spPr>
        <p:txBody>
          <a:bodyPr wrap="square" lIns="0" tIns="0" rIns="0" bIns="0" rtlCol="0" anchor="ctr">
            <a:normAutofit/>
          </a:bodyPr>
          <a:lstStyle/>
          <a:p>
            <a:pPr indent="0" marL="0">
              <a:buNone/>
            </a:pPr>
            <a:r>
              <a:rPr lang="en-US" sz="1800" dirty="0">
                <a:solidFill>
                  <a:srgbClr val="000000"/>
                </a:solidFill>
              </a:rPr>
              <a:t>Needs human feedback or preference learning</a:t>
            </a:r>
            <a:endParaRPr lang="en-US" sz="1800" dirty="0"/>
          </a:p>
        </p:txBody>
      </p:sp>
      <p:sp>
        <p:nvSpPr>
          <p:cNvPr id="27" name="Text 25"/>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Simple Reflex Agents</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pic>
        <p:nvPicPr>
          <p:cNvPr id="6" name="Image 0" descr="/mnt/data/comp469_ch2_assets/simple_reflex_diagram.png">    </p:cNvPr>
          <p:cNvPicPr>
            <a:picLocks noChangeAspect="1"/>
          </p:cNvPicPr>
          <p:nvPr/>
        </p:nvPicPr>
        <p:blipFill>
          <a:blip r:embed="rId1"/>
          <a:srcRect l="0" r="0" t="35" b="35"/>
          <a:stretch/>
        </p:blipFill>
        <p:spPr>
          <a:xfrm>
            <a:off x="548640" y="1097280"/>
            <a:ext cx="5669280" cy="2743200"/>
          </a:xfrm>
          <a:prstGeom prst="rect">
            <a:avLst/>
          </a:prstGeom>
        </p:spPr>
      </p:pic>
      <p:sp>
        <p:nvSpPr>
          <p:cNvPr id="7" name="Text 4"/>
          <p:cNvSpPr/>
          <p:nvPr/>
        </p:nvSpPr>
        <p:spPr>
          <a:xfrm>
            <a:off x="6492240" y="1417320"/>
            <a:ext cx="4754880" cy="2926080"/>
          </a:xfrm>
          <a:prstGeom prst="rect">
            <a:avLst/>
          </a:prstGeom>
          <a:noFill/>
          <a:ln/>
        </p:spPr>
        <p:txBody>
          <a:bodyPr wrap="square" lIns="635" tIns="635" rIns="635" bIns="635" rtlCol="0" anchor="t">
            <a:normAutofit/>
          </a:bodyPr>
          <a:lstStyle/>
          <a:p>
            <a:r>
              <a:rPr lang="en-US" sz="2100" dirty="0">
                <a:solidFill>
                  <a:srgbClr val="000000"/>
                </a:solidFill>
                <a:latin typeface="Aptos" pitchFamily="34" charset="0"/>
                <a:ea typeface="Aptos" pitchFamily="34" charset="-122"/>
                <a:cs typeface="Aptos" pitchFamily="34" charset="-120"/>
              </a:rPr>
              <a:t>Use condition-action rules.</a:t>
            </a:r>
            <a:endParaRPr lang="en-US" sz="2100" dirty="0"/>
          </a:p>
          <a:p>
            <a:r>
              <a:rPr lang="en-US" sz="2100" dirty="0">
                <a:solidFill>
                  <a:srgbClr val="000000"/>
                </a:solidFill>
                <a:latin typeface="Aptos" pitchFamily="34" charset="0"/>
                <a:ea typeface="Aptos" pitchFamily="34" charset="-122"/>
                <a:cs typeface="Aptos" pitchFamily="34" charset="-120"/>
              </a:rPr>
              <a:t>Look only at the current percept.</a:t>
            </a:r>
            <a:endParaRPr lang="en-US" sz="2100" dirty="0"/>
          </a:p>
          <a:p>
            <a:r>
              <a:rPr lang="en-US" sz="2100" dirty="0">
                <a:solidFill>
                  <a:srgbClr val="000000"/>
                </a:solidFill>
                <a:latin typeface="Aptos" pitchFamily="34" charset="0"/>
                <a:ea typeface="Aptos" pitchFamily="34" charset="-122"/>
                <a:cs typeface="Aptos" pitchFamily="34" charset="-120"/>
              </a:rPr>
              <a:t>Work best in fully observable, simple environments.</a:t>
            </a:r>
            <a:endParaRPr lang="en-US" sz="2100" dirty="0"/>
          </a:p>
          <a:p>
            <a:r>
              <a:rPr lang="en-US" sz="2100" dirty="0">
                <a:solidFill>
                  <a:srgbClr val="000000"/>
                </a:solidFill>
                <a:latin typeface="Aptos" pitchFamily="34" charset="0"/>
                <a:ea typeface="Aptos" pitchFamily="34" charset="-122"/>
                <a:cs typeface="Aptos" pitchFamily="34" charset="-120"/>
              </a:rPr>
              <a:t>Fail when important state is hidden or history matters.</a:t>
            </a:r>
            <a:endParaRPr lang="en-US" sz="2100" dirty="0"/>
          </a:p>
        </p:txBody>
      </p:sp>
      <p:sp>
        <p:nvSpPr>
          <p:cNvPr id="8" name="Text 5"/>
          <p:cNvSpPr/>
          <p:nvPr/>
        </p:nvSpPr>
        <p:spPr>
          <a:xfrm>
            <a:off x="6446520" y="4800600"/>
            <a:ext cx="4800600" cy="320040"/>
          </a:xfrm>
          <a:prstGeom prst="rect">
            <a:avLst/>
          </a:prstGeom>
          <a:noFill/>
          <a:ln/>
        </p:spPr>
        <p:txBody>
          <a:bodyPr wrap="square" lIns="0" tIns="0" rIns="0" bIns="0" rtlCol="0" anchor="ctr"/>
          <a:lstStyle/>
          <a:p>
            <a:pPr algn="ctr" indent="0" marL="0">
              <a:buNone/>
            </a:pPr>
            <a:r>
              <a:rPr lang="en-US" sz="2200" b="1" dirty="0">
                <a:solidFill>
                  <a:srgbClr val="303090"/>
                </a:solidFill>
              </a:rPr>
              <a:t>Rule form: if condition, then action.</a:t>
            </a:r>
            <a:endParaRPr lang="en-US" sz="2200" dirty="0"/>
          </a:p>
        </p:txBody>
      </p:sp>
      <p:sp>
        <p:nvSpPr>
          <p:cNvPr id="9" name="Text 6"/>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Pac-Man Agent Program in Python</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822960" y="1143000"/>
            <a:ext cx="8961120" cy="310896"/>
          </a:xfrm>
          <a:prstGeom prst="rect">
            <a:avLst/>
          </a:prstGeom>
          <a:noFill/>
          <a:ln/>
        </p:spPr>
        <p:txBody>
          <a:bodyPr wrap="square" lIns="0" tIns="0" rIns="0" bIns="0" rtlCol="0" anchor="ctr"/>
          <a:lstStyle/>
          <a:p>
            <a:pPr indent="0" marL="0">
              <a:buNone/>
            </a:pPr>
            <a:r>
              <a:rPr lang="en-US" sz="2100" dirty="0">
                <a:solidFill>
                  <a:srgbClr val="000000"/>
                </a:solidFill>
              </a:rPr>
              <a:t>A minimal reflex agent can be written as one rule:</a:t>
            </a:r>
            <a:endParaRPr lang="en-US" sz="2100" dirty="0"/>
          </a:p>
        </p:txBody>
      </p:sp>
      <p:sp>
        <p:nvSpPr>
          <p:cNvPr id="7" name="Shape 5"/>
          <p:cNvSpPr/>
          <p:nvPr/>
        </p:nvSpPr>
        <p:spPr>
          <a:xfrm>
            <a:off x="914400" y="1737360"/>
            <a:ext cx="10287000" cy="2743200"/>
          </a:xfrm>
          <a:prstGeom prst="rect">
            <a:avLst/>
          </a:prstGeom>
          <a:solidFill>
            <a:srgbClr val="F7F7F7"/>
          </a:solidFill>
          <a:ln w="12700">
            <a:solidFill>
              <a:srgbClr val="CCCCCC"/>
            </a:solidFill>
            <a:prstDash val="solid"/>
          </a:ln>
        </p:spPr>
      </p:sp>
      <p:sp>
        <p:nvSpPr>
          <p:cNvPr id="8" name="Text 6"/>
          <p:cNvSpPr/>
          <p:nvPr/>
        </p:nvSpPr>
        <p:spPr>
          <a:xfrm>
            <a:off x="1143000" y="1965960"/>
            <a:ext cx="9829800" cy="2194560"/>
          </a:xfrm>
          <a:prstGeom prst="rect">
            <a:avLst/>
          </a:prstGeom>
          <a:noFill/>
          <a:ln/>
        </p:spPr>
        <p:txBody>
          <a:bodyPr wrap="square" lIns="762" tIns="762" rIns="762" bIns="762" rtlCol="0" anchor="ctr">
            <a:normAutofit/>
          </a:bodyPr>
          <a:lstStyle/>
          <a:p>
            <a:pPr indent="0" marL="0">
              <a:buNone/>
            </a:pPr>
            <a:r>
              <a:rPr lang="en-US" sz="1800" dirty="0">
                <a:solidFill>
                  <a:srgbClr val="14345E"/>
                </a:solidFill>
                <a:latin typeface="Cascadia Mono" pitchFamily="34" charset="0"/>
                <a:ea typeface="Cascadia Mono" pitchFamily="34" charset="-122"/>
                <a:cs typeface="Cascadia Mono" pitchFamily="34" charset="-120"/>
              </a:rPr>
              <a:t>class GoWestAgent(Agent):</a:t>
            </a:r>
            <a:endParaRPr lang="en-US" sz="1800" dirty="0"/>
          </a:p>
          <a:p>
            <a:pPr indent="0" marL="0">
              <a:buNone/>
            </a:pPr>
            <a:r>
              <a:rPr lang="en-US" sz="1800" dirty="0">
                <a:solidFill>
                  <a:srgbClr val="14345E"/>
                </a:solidFill>
                <a:latin typeface="Cascadia Mono" pitchFamily="34" charset="0"/>
                <a:ea typeface="Cascadia Mono" pitchFamily="34" charset="-122"/>
                <a:cs typeface="Cascadia Mono" pitchFamily="34" charset="-120"/>
              </a:rPr>
              <a:t>    def getAction(self, percept):</a:t>
            </a:r>
            <a:endParaRPr lang="en-US" sz="1800" dirty="0"/>
          </a:p>
          <a:p>
            <a:pPr indent="0" marL="0">
              <a:buNone/>
            </a:pPr>
            <a:r>
              <a:rPr lang="en-US" sz="1800" dirty="0">
                <a:solidFill>
                  <a:srgbClr val="14345E"/>
                </a:solidFill>
                <a:latin typeface="Cascadia Mono" pitchFamily="34" charset="0"/>
                <a:ea typeface="Cascadia Mono" pitchFamily="34" charset="-122"/>
                <a:cs typeface="Cascadia Mono" pitchFamily="34" charset="-120"/>
              </a:rPr>
              <a:t>        if Directions.WEST in percept.getLegalPacmanActions():</a:t>
            </a:r>
            <a:endParaRPr lang="en-US" sz="1800" dirty="0"/>
          </a:p>
          <a:p>
            <a:pPr indent="0" marL="0">
              <a:buNone/>
            </a:pPr>
            <a:r>
              <a:rPr lang="en-US" sz="1800" dirty="0">
                <a:solidFill>
                  <a:srgbClr val="14345E"/>
                </a:solidFill>
                <a:latin typeface="Cascadia Mono" pitchFamily="34" charset="0"/>
                <a:ea typeface="Cascadia Mono" pitchFamily="34" charset="-122"/>
                <a:cs typeface="Cascadia Mono" pitchFamily="34" charset="-120"/>
              </a:rPr>
              <a:t>            return Directions.WEST</a:t>
            </a:r>
            <a:endParaRPr lang="en-US" sz="1800" dirty="0"/>
          </a:p>
          <a:p>
            <a:pPr indent="0" marL="0">
              <a:buNone/>
            </a:pPr>
            <a:r>
              <a:rPr lang="en-US" sz="1800" dirty="0">
                <a:solidFill>
                  <a:srgbClr val="14345E"/>
                </a:solidFill>
                <a:latin typeface="Cascadia Mono" pitchFamily="34" charset="0"/>
                <a:ea typeface="Cascadia Mono" pitchFamily="34" charset="-122"/>
                <a:cs typeface="Cascadia Mono" pitchFamily="34" charset="-120"/>
              </a:rPr>
              <a:t>        else:</a:t>
            </a:r>
            <a:endParaRPr lang="en-US" sz="1800" dirty="0"/>
          </a:p>
          <a:p>
            <a:pPr indent="0" marL="0">
              <a:buNone/>
            </a:pPr>
            <a:r>
              <a:rPr lang="en-US" sz="1800" dirty="0">
                <a:solidFill>
                  <a:srgbClr val="14345E"/>
                </a:solidFill>
                <a:latin typeface="Cascadia Mono" pitchFamily="34" charset="0"/>
                <a:ea typeface="Cascadia Mono" pitchFamily="34" charset="-122"/>
                <a:cs typeface="Cascadia Mono" pitchFamily="34" charset="-120"/>
              </a:rPr>
              <a:t>            return Directions.STOP</a:t>
            </a:r>
            <a:endParaRPr lang="en-US" sz="1800" dirty="0"/>
          </a:p>
        </p:txBody>
      </p:sp>
      <p:sp>
        <p:nvSpPr>
          <p:cNvPr id="9" name="Text 7"/>
          <p:cNvSpPr/>
          <p:nvPr/>
        </p:nvSpPr>
        <p:spPr>
          <a:xfrm>
            <a:off x="1097280" y="4983480"/>
            <a:ext cx="9966960" cy="365760"/>
          </a:xfrm>
          <a:prstGeom prst="rect">
            <a:avLst/>
          </a:prstGeom>
          <a:noFill/>
          <a:ln/>
        </p:spPr>
        <p:txBody>
          <a:bodyPr wrap="square" lIns="0" tIns="0" rIns="0" bIns="0" rtlCol="0" anchor="ctr"/>
          <a:lstStyle/>
          <a:p>
            <a:pPr algn="ctr" indent="0" marL="0">
              <a:buNone/>
            </a:pPr>
            <a:r>
              <a:rPr lang="en-US" sz="2200" b="1" dirty="0">
                <a:solidFill>
                  <a:srgbClr val="303090"/>
                </a:solidFill>
              </a:rPr>
              <a:t>This is an agent program. It maps a percept to an action.</a:t>
            </a:r>
            <a:endParaRPr lang="en-US" sz="2200" dirty="0"/>
          </a:p>
        </p:txBody>
      </p:sp>
      <p:sp>
        <p:nvSpPr>
          <p:cNvPr id="10" name="Text 8"/>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Better Reflex Rule: Eat an Adjacent Dot</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685800" y="1115568"/>
            <a:ext cx="10972800" cy="320040"/>
          </a:xfrm>
          <a:prstGeom prst="rect">
            <a:avLst/>
          </a:prstGeom>
          <a:noFill/>
          <a:ln/>
        </p:spPr>
        <p:txBody>
          <a:bodyPr wrap="square" lIns="0" tIns="0" rIns="0" bIns="0" rtlCol="0" anchor="ctr"/>
          <a:lstStyle/>
          <a:p>
            <a:pPr algn="ctr" indent="0" marL="0">
              <a:buNone/>
            </a:pPr>
            <a:r>
              <a:rPr lang="en-US" sz="2200" dirty="0">
                <a:solidFill>
                  <a:srgbClr val="000000"/>
                </a:solidFill>
              </a:rPr>
              <a:t>A slightly better reflex agent checks nearby legal moves.</a:t>
            </a:r>
            <a:endParaRPr lang="en-US" sz="2200" dirty="0"/>
          </a:p>
        </p:txBody>
      </p:sp>
      <p:sp>
        <p:nvSpPr>
          <p:cNvPr id="7" name="Shape 5"/>
          <p:cNvSpPr/>
          <p:nvPr/>
        </p:nvSpPr>
        <p:spPr>
          <a:xfrm>
            <a:off x="1234440" y="1828800"/>
            <a:ext cx="5212080" cy="2103120"/>
          </a:xfrm>
          <a:prstGeom prst="rect">
            <a:avLst/>
          </a:prstGeom>
          <a:solidFill>
            <a:srgbClr val="F7F7F7"/>
          </a:solidFill>
          <a:ln w="12700">
            <a:solidFill>
              <a:srgbClr val="CCCCCC"/>
            </a:solidFill>
            <a:prstDash val="solid"/>
          </a:ln>
        </p:spPr>
      </p:sp>
      <p:sp>
        <p:nvSpPr>
          <p:cNvPr id="8" name="Text 6"/>
          <p:cNvSpPr/>
          <p:nvPr/>
        </p:nvSpPr>
        <p:spPr>
          <a:xfrm>
            <a:off x="1417320" y="2057400"/>
            <a:ext cx="4892040" cy="1600200"/>
          </a:xfrm>
          <a:prstGeom prst="rect">
            <a:avLst/>
          </a:prstGeom>
          <a:noFill/>
          <a:ln/>
        </p:spPr>
        <p:txBody>
          <a:bodyPr wrap="square" lIns="508" tIns="508" rIns="508" bIns="508" rtlCol="0" anchor="ctr">
            <a:normAutofit/>
          </a:bodyPr>
          <a:lstStyle/>
          <a:p>
            <a:pPr indent="0" marL="0">
              <a:buNone/>
            </a:pPr>
            <a:r>
              <a:rPr lang="en-US" sz="1550" dirty="0">
                <a:solidFill>
                  <a:srgbClr val="14345E"/>
                </a:solidFill>
                <a:latin typeface="Cascadia Mono" pitchFamily="34" charset="0"/>
                <a:ea typeface="Cascadia Mono" pitchFamily="34" charset="-122"/>
                <a:cs typeface="Cascadia Mono" pitchFamily="34" charset="-120"/>
              </a:rPr>
              <a:t>for action in legal_actions:</a:t>
            </a:r>
            <a:endParaRPr lang="en-US" sz="1550" dirty="0"/>
          </a:p>
          <a:p>
            <a:pPr indent="0" marL="0">
              <a:buNone/>
            </a:pPr>
            <a:r>
              <a:rPr lang="en-US" sz="1550" dirty="0">
                <a:solidFill>
                  <a:srgbClr val="14345E"/>
                </a:solidFill>
                <a:latin typeface="Cascadia Mono" pitchFamily="34" charset="0"/>
                <a:ea typeface="Cascadia Mono" pitchFamily="34" charset="-122"/>
                <a:cs typeface="Cascadia Mono" pitchFamily="34" charset="-120"/>
              </a:rPr>
              <a:t>    next_square = successor_position(action)</a:t>
            </a:r>
            <a:endParaRPr lang="en-US" sz="1550" dirty="0"/>
          </a:p>
          <a:p>
            <a:pPr indent="0" marL="0">
              <a:buNone/>
            </a:pPr>
            <a:r>
              <a:rPr lang="en-US" sz="1550" dirty="0">
                <a:solidFill>
                  <a:srgbClr val="14345E"/>
                </a:solidFill>
                <a:latin typeface="Cascadia Mono" pitchFamily="34" charset="0"/>
                <a:ea typeface="Cascadia Mono" pitchFamily="34" charset="-122"/>
                <a:cs typeface="Cascadia Mono" pitchFamily="34" charset="-120"/>
              </a:rPr>
              <a:t>    if next_square contains food:</a:t>
            </a:r>
            <a:endParaRPr lang="en-US" sz="1550" dirty="0"/>
          </a:p>
          <a:p>
            <a:pPr indent="0" marL="0">
              <a:buNone/>
            </a:pPr>
            <a:r>
              <a:rPr lang="en-US" sz="1550" dirty="0">
                <a:solidFill>
                  <a:srgbClr val="14345E"/>
                </a:solidFill>
                <a:latin typeface="Cascadia Mono" pitchFamily="34" charset="0"/>
                <a:ea typeface="Cascadia Mono" pitchFamily="34" charset="-122"/>
                <a:cs typeface="Cascadia Mono" pitchFamily="34" charset="-120"/>
              </a:rPr>
              <a:t>        return action</a:t>
            </a:r>
            <a:endParaRPr lang="en-US" sz="1550" dirty="0"/>
          </a:p>
          <a:p>
            <a:pPr indent="0" marL="0">
              <a:buNone/>
            </a:pPr>
            <a:r>
              <a:rPr lang="en-US" sz="1550" dirty="0">
                <a:solidFill>
                  <a:srgbClr val="14345E"/>
                </a:solidFill>
                <a:latin typeface="Cascadia Mono" pitchFamily="34" charset="0"/>
                <a:ea typeface="Cascadia Mono" pitchFamily="34" charset="-122"/>
                <a:cs typeface="Cascadia Mono" pitchFamily="34" charset="-120"/>
              </a:rPr>
              <a:t>return default_safe_action</a:t>
            </a:r>
            <a:endParaRPr lang="en-US" sz="1550" dirty="0"/>
          </a:p>
        </p:txBody>
      </p:sp>
      <p:sp>
        <p:nvSpPr>
          <p:cNvPr id="9" name="Text 7"/>
          <p:cNvSpPr/>
          <p:nvPr/>
        </p:nvSpPr>
        <p:spPr>
          <a:xfrm>
            <a:off x="6903720" y="1828800"/>
            <a:ext cx="4297680" cy="2011680"/>
          </a:xfrm>
          <a:prstGeom prst="rect">
            <a:avLst/>
          </a:prstGeom>
          <a:noFill/>
          <a:ln/>
        </p:spPr>
        <p:txBody>
          <a:bodyPr wrap="square" lIns="635" tIns="635" rIns="635" bIns="635" rtlCol="0" anchor="t">
            <a:normAutofit/>
          </a:bodyPr>
          <a:lstStyle/>
          <a:p>
            <a:r>
              <a:rPr lang="en-US" sz="2000" dirty="0">
                <a:solidFill>
                  <a:srgbClr val="000000"/>
                </a:solidFill>
                <a:latin typeface="Aptos" pitchFamily="34" charset="0"/>
                <a:ea typeface="Aptos" pitchFamily="34" charset="-122"/>
                <a:cs typeface="Aptos" pitchFamily="34" charset="-120"/>
              </a:rPr>
              <a:t>Still reflex: no planning horizon.</a:t>
            </a:r>
            <a:endParaRPr lang="en-US" sz="2000" dirty="0"/>
          </a:p>
          <a:p>
            <a:r>
              <a:rPr lang="en-US" sz="2000" dirty="0">
                <a:solidFill>
                  <a:srgbClr val="000000"/>
                </a:solidFill>
                <a:latin typeface="Aptos" pitchFamily="34" charset="0"/>
                <a:ea typeface="Aptos" pitchFamily="34" charset="-122"/>
                <a:cs typeface="Aptos" pitchFamily="34" charset="-120"/>
              </a:rPr>
              <a:t>Improves only by adding more rules.</a:t>
            </a:r>
            <a:endParaRPr lang="en-US" sz="2000" dirty="0"/>
          </a:p>
          <a:p>
            <a:r>
              <a:rPr lang="en-US" sz="2000" dirty="0">
                <a:solidFill>
                  <a:srgbClr val="000000"/>
                </a:solidFill>
                <a:latin typeface="Aptos" pitchFamily="34" charset="0"/>
                <a:ea typeface="Aptos" pitchFamily="34" charset="-122"/>
                <a:cs typeface="Aptos" pitchFamily="34" charset="-120"/>
              </a:rPr>
              <a:t>Can become brittle as the environment gets more complex.</a:t>
            </a:r>
            <a:endParaRPr lang="en-US" sz="2000" dirty="0"/>
          </a:p>
        </p:txBody>
      </p:sp>
      <p:sp>
        <p:nvSpPr>
          <p:cNvPr id="10" name="Text 8"/>
          <p:cNvSpPr/>
          <p:nvPr/>
        </p:nvSpPr>
        <p:spPr>
          <a:xfrm>
            <a:off x="1371600" y="4983480"/>
            <a:ext cx="9326880" cy="384048"/>
          </a:xfrm>
          <a:prstGeom prst="rect">
            <a:avLst/>
          </a:prstGeom>
          <a:noFill/>
          <a:ln/>
        </p:spPr>
        <p:txBody>
          <a:bodyPr wrap="square" lIns="0" tIns="0" rIns="0" bIns="0" rtlCol="0" anchor="ctr"/>
          <a:lstStyle/>
          <a:p>
            <a:pPr algn="ctr" indent="0" marL="0">
              <a:buNone/>
            </a:pPr>
            <a:r>
              <a:rPr lang="en-US" sz="2100" b="1" dirty="0">
                <a:solidFill>
                  <a:srgbClr val="303090"/>
                </a:solidFill>
              </a:rPr>
              <a:t>This is where students should see the limitation of “just add if-statements.”</a:t>
            </a:r>
            <a:endParaRPr lang="en-US" sz="2100" dirty="0"/>
          </a:p>
        </p:txBody>
      </p:sp>
      <p:sp>
        <p:nvSpPr>
          <p:cNvPr id="11" name="Text 9"/>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Limits of Reflex Agents</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731520" y="1188720"/>
            <a:ext cx="10789920" cy="2743200"/>
          </a:xfrm>
          <a:prstGeom prst="rect">
            <a:avLst/>
          </a:prstGeom>
          <a:noFill/>
          <a:ln/>
        </p:spPr>
        <p:txBody>
          <a:bodyPr wrap="square" lIns="635" tIns="635" rIns="635" bIns="635" rtlCol="0" anchor="t">
            <a:normAutofit/>
          </a:bodyPr>
          <a:lstStyle/>
          <a:p>
            <a:r>
              <a:rPr lang="en-US" sz="2300" dirty="0">
                <a:solidFill>
                  <a:srgbClr val="303090"/>
                </a:solidFill>
                <a:latin typeface="Aptos" pitchFamily="34" charset="0"/>
                <a:ea typeface="Aptos" pitchFamily="34" charset="-122"/>
                <a:cs typeface="Aptos" pitchFamily="34" charset="-120"/>
              </a:rPr>
              <a:t>Can we extend a reflex agent to behave well in all Pac-Man environments?</a:t>
            </a:r>
            <a:endParaRPr lang="en-US" sz="2300" dirty="0"/>
          </a:p>
          <a:p>
            <a:r>
              <a:rPr lang="en-US" sz="2300" dirty="0">
                <a:solidFill>
                  <a:srgbClr val="303090"/>
                </a:solidFill>
                <a:latin typeface="Aptos" pitchFamily="34" charset="0"/>
                <a:ea typeface="Aptos" pitchFamily="34" charset="-122"/>
                <a:cs typeface="Aptos" pitchFamily="34" charset="-120"/>
              </a:rPr>
              <a:t>Not reliably, because some relevant information may be hidden.</a:t>
            </a:r>
            <a:endParaRPr lang="en-US" sz="2300" dirty="0"/>
          </a:p>
          <a:p>
            <a:r>
              <a:rPr lang="en-US" sz="2300" dirty="0">
                <a:solidFill>
                  <a:srgbClr val="303090"/>
                </a:solidFill>
                <a:latin typeface="Aptos" pitchFamily="34" charset="0"/>
                <a:ea typeface="Aptos" pitchFamily="34" charset="-122"/>
                <a:cs typeface="Aptos" pitchFamily="34" charset="-120"/>
              </a:rPr>
              <a:t>Example: power-pellet duration may not be fully observable.</a:t>
            </a:r>
            <a:endParaRPr lang="en-US" sz="2300" dirty="0"/>
          </a:p>
          <a:p>
            <a:r>
              <a:rPr lang="en-US" sz="2300" dirty="0">
                <a:solidFill>
                  <a:srgbClr val="303090"/>
                </a:solidFill>
                <a:latin typeface="Aptos" pitchFamily="34" charset="0"/>
                <a:ea typeface="Aptos" pitchFamily="34" charset="-122"/>
                <a:cs typeface="Aptos" pitchFamily="34" charset="-120"/>
              </a:rPr>
              <a:t>A lookup table is possible in principle, but can be infeasibly large.</a:t>
            </a:r>
            <a:endParaRPr lang="en-US" sz="2300" dirty="0"/>
          </a:p>
        </p:txBody>
      </p:sp>
      <p:sp>
        <p:nvSpPr>
          <p:cNvPr id="7" name="Shape 5"/>
          <p:cNvSpPr/>
          <p:nvPr/>
        </p:nvSpPr>
        <p:spPr>
          <a:xfrm>
            <a:off x="1508760" y="4617720"/>
            <a:ext cx="9144000" cy="822960"/>
          </a:xfrm>
          <a:prstGeom prst="roundRect">
            <a:avLst/>
          </a:prstGeom>
          <a:solidFill>
            <a:srgbClr val="FFF2CC"/>
          </a:solidFill>
          <a:ln w="15240">
            <a:solidFill>
              <a:srgbClr val="D9A300"/>
            </a:solidFill>
            <a:prstDash val="solid"/>
          </a:ln>
        </p:spPr>
      </p:sp>
      <p:sp>
        <p:nvSpPr>
          <p:cNvPr id="8" name="Text 6"/>
          <p:cNvSpPr/>
          <p:nvPr/>
        </p:nvSpPr>
        <p:spPr>
          <a:xfrm>
            <a:off x="1783080" y="4864608"/>
            <a:ext cx="8595360" cy="320040"/>
          </a:xfrm>
          <a:prstGeom prst="rect">
            <a:avLst/>
          </a:prstGeom>
          <a:noFill/>
          <a:ln/>
        </p:spPr>
        <p:txBody>
          <a:bodyPr wrap="square" lIns="0" tIns="0" rIns="0" bIns="0" rtlCol="0" anchor="ctr"/>
          <a:lstStyle/>
          <a:p>
            <a:pPr algn="ctr" indent="0" marL="0">
              <a:buNone/>
            </a:pPr>
            <a:r>
              <a:rPr lang="en-US" sz="2400" b="1" dirty="0">
                <a:solidFill>
                  <a:srgbClr val="000000"/>
                </a:solidFill>
              </a:rPr>
              <a:t>Key point: current percept alone is not always enough.</a:t>
            </a:r>
            <a:endParaRPr lang="en-US" sz="2400" dirty="0"/>
          </a:p>
        </p:txBody>
      </p:sp>
      <p:sp>
        <p:nvSpPr>
          <p:cNvPr id="9" name="Text 7"/>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Chapter 2 Roadmap</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640080" y="1234440"/>
            <a:ext cx="2194560" cy="301752"/>
          </a:xfrm>
          <a:prstGeom prst="rect">
            <a:avLst/>
          </a:prstGeom>
          <a:noFill/>
          <a:ln/>
        </p:spPr>
        <p:txBody>
          <a:bodyPr wrap="square" lIns="0" tIns="0" rIns="0" bIns="0" rtlCol="0" anchor="ctr"/>
          <a:lstStyle/>
          <a:p>
            <a:pPr algn="r" indent="0" marL="0">
              <a:buNone/>
            </a:pPr>
            <a:r>
              <a:rPr lang="en-US" sz="1700" b="1" dirty="0">
                <a:solidFill>
                  <a:srgbClr val="14345E"/>
                </a:solidFill>
              </a:rPr>
              <a:t>Simple reflex</a:t>
            </a:r>
            <a:endParaRPr lang="en-US" sz="1700" dirty="0"/>
          </a:p>
        </p:txBody>
      </p:sp>
      <p:sp>
        <p:nvSpPr>
          <p:cNvPr id="7" name="Text 5"/>
          <p:cNvSpPr/>
          <p:nvPr/>
        </p:nvSpPr>
        <p:spPr>
          <a:xfrm>
            <a:off x="3063240" y="1234440"/>
            <a:ext cx="2743200" cy="301752"/>
          </a:xfrm>
          <a:prstGeom prst="rect">
            <a:avLst/>
          </a:prstGeom>
          <a:noFill/>
          <a:ln/>
        </p:spPr>
        <p:txBody>
          <a:bodyPr wrap="square" lIns="0" tIns="0" rIns="0" bIns="0" rtlCol="0" anchor="ctr"/>
          <a:lstStyle/>
          <a:p>
            <a:pPr indent="0" marL="0">
              <a:buNone/>
            </a:pPr>
            <a:r>
              <a:rPr lang="en-US" sz="1700" b="1" dirty="0">
                <a:solidFill>
                  <a:srgbClr val="000000"/>
                </a:solidFill>
              </a:rPr>
              <a:t>Condition-action rules</a:t>
            </a:r>
            <a:endParaRPr lang="en-US" sz="1700" dirty="0"/>
          </a:p>
        </p:txBody>
      </p:sp>
      <p:sp>
        <p:nvSpPr>
          <p:cNvPr id="8" name="Text 6"/>
          <p:cNvSpPr/>
          <p:nvPr/>
        </p:nvSpPr>
        <p:spPr>
          <a:xfrm>
            <a:off x="6080760" y="1234440"/>
            <a:ext cx="5212080" cy="301752"/>
          </a:xfrm>
          <a:prstGeom prst="rect">
            <a:avLst/>
          </a:prstGeom>
          <a:noFill/>
          <a:ln/>
        </p:spPr>
        <p:txBody>
          <a:bodyPr wrap="square" lIns="0" tIns="0" rIns="0" bIns="0" rtlCol="0" anchor="ctr">
            <a:normAutofit/>
          </a:bodyPr>
          <a:lstStyle/>
          <a:p>
            <a:pPr indent="0" marL="0">
              <a:buNone/>
            </a:pPr>
            <a:r>
              <a:rPr lang="en-US" sz="1700" dirty="0">
                <a:solidFill>
                  <a:srgbClr val="000000"/>
                </a:solidFill>
              </a:rPr>
              <a:t>Immediate reactions</a:t>
            </a:r>
            <a:endParaRPr lang="en-US" sz="1700" dirty="0"/>
          </a:p>
        </p:txBody>
      </p:sp>
      <p:sp>
        <p:nvSpPr>
          <p:cNvPr id="9" name="Text 7"/>
          <p:cNvSpPr/>
          <p:nvPr/>
        </p:nvSpPr>
        <p:spPr>
          <a:xfrm>
            <a:off x="640080" y="2103120"/>
            <a:ext cx="2194560" cy="301752"/>
          </a:xfrm>
          <a:prstGeom prst="rect">
            <a:avLst/>
          </a:prstGeom>
          <a:noFill/>
          <a:ln/>
        </p:spPr>
        <p:txBody>
          <a:bodyPr wrap="square" lIns="0" tIns="0" rIns="0" bIns="0" rtlCol="0" anchor="ctr"/>
          <a:lstStyle/>
          <a:p>
            <a:pPr algn="r" indent="0" marL="0">
              <a:buNone/>
            </a:pPr>
            <a:r>
              <a:rPr lang="en-US" sz="1700" b="1" dirty="0">
                <a:solidFill>
                  <a:srgbClr val="14345E"/>
                </a:solidFill>
              </a:rPr>
              <a:t>Model-based reflex</a:t>
            </a:r>
            <a:endParaRPr lang="en-US" sz="1700" dirty="0"/>
          </a:p>
        </p:txBody>
      </p:sp>
      <p:sp>
        <p:nvSpPr>
          <p:cNvPr id="10" name="Text 8"/>
          <p:cNvSpPr/>
          <p:nvPr/>
        </p:nvSpPr>
        <p:spPr>
          <a:xfrm>
            <a:off x="3063240" y="2103120"/>
            <a:ext cx="2743200" cy="301752"/>
          </a:xfrm>
          <a:prstGeom prst="rect">
            <a:avLst/>
          </a:prstGeom>
          <a:noFill/>
          <a:ln/>
        </p:spPr>
        <p:txBody>
          <a:bodyPr wrap="square" lIns="0" tIns="0" rIns="0" bIns="0" rtlCol="0" anchor="ctr"/>
          <a:lstStyle/>
          <a:p>
            <a:pPr indent="0" marL="0">
              <a:buNone/>
            </a:pPr>
            <a:r>
              <a:rPr lang="en-US" sz="1700" b="1" dirty="0">
                <a:solidFill>
                  <a:srgbClr val="000000"/>
                </a:solidFill>
              </a:rPr>
              <a:t>Internal state</a:t>
            </a:r>
            <a:endParaRPr lang="en-US" sz="1700" dirty="0"/>
          </a:p>
        </p:txBody>
      </p:sp>
      <p:sp>
        <p:nvSpPr>
          <p:cNvPr id="11" name="Text 9"/>
          <p:cNvSpPr/>
          <p:nvPr/>
        </p:nvSpPr>
        <p:spPr>
          <a:xfrm>
            <a:off x="6080760" y="2103120"/>
            <a:ext cx="5212080" cy="301752"/>
          </a:xfrm>
          <a:prstGeom prst="rect">
            <a:avLst/>
          </a:prstGeom>
          <a:noFill/>
          <a:ln/>
        </p:spPr>
        <p:txBody>
          <a:bodyPr wrap="square" lIns="0" tIns="0" rIns="0" bIns="0" rtlCol="0" anchor="ctr">
            <a:normAutofit/>
          </a:bodyPr>
          <a:lstStyle/>
          <a:p>
            <a:pPr indent="0" marL="0">
              <a:buNone/>
            </a:pPr>
            <a:r>
              <a:rPr lang="en-US" sz="1700" dirty="0">
                <a:solidFill>
                  <a:srgbClr val="000000"/>
                </a:solidFill>
              </a:rPr>
              <a:t>Partially observable worlds</a:t>
            </a:r>
            <a:endParaRPr lang="en-US" sz="1700" dirty="0"/>
          </a:p>
        </p:txBody>
      </p:sp>
      <p:sp>
        <p:nvSpPr>
          <p:cNvPr id="12" name="Text 10"/>
          <p:cNvSpPr/>
          <p:nvPr/>
        </p:nvSpPr>
        <p:spPr>
          <a:xfrm>
            <a:off x="640080" y="2971800"/>
            <a:ext cx="2194560" cy="301752"/>
          </a:xfrm>
          <a:prstGeom prst="rect">
            <a:avLst/>
          </a:prstGeom>
          <a:noFill/>
          <a:ln/>
        </p:spPr>
        <p:txBody>
          <a:bodyPr wrap="square" lIns="0" tIns="0" rIns="0" bIns="0" rtlCol="0" anchor="ctr"/>
          <a:lstStyle/>
          <a:p>
            <a:pPr algn="r" indent="0" marL="0">
              <a:buNone/>
            </a:pPr>
            <a:r>
              <a:rPr lang="en-US" sz="1700" b="1" dirty="0">
                <a:solidFill>
                  <a:srgbClr val="14345E"/>
                </a:solidFill>
              </a:rPr>
              <a:t>Goal-based</a:t>
            </a:r>
            <a:endParaRPr lang="en-US" sz="1700" dirty="0"/>
          </a:p>
        </p:txBody>
      </p:sp>
      <p:sp>
        <p:nvSpPr>
          <p:cNvPr id="13" name="Text 11"/>
          <p:cNvSpPr/>
          <p:nvPr/>
        </p:nvSpPr>
        <p:spPr>
          <a:xfrm>
            <a:off x="3063240" y="2971800"/>
            <a:ext cx="2743200" cy="301752"/>
          </a:xfrm>
          <a:prstGeom prst="rect">
            <a:avLst/>
          </a:prstGeom>
          <a:noFill/>
          <a:ln/>
        </p:spPr>
        <p:txBody>
          <a:bodyPr wrap="square" lIns="0" tIns="0" rIns="0" bIns="0" rtlCol="0" anchor="ctr"/>
          <a:lstStyle/>
          <a:p>
            <a:pPr indent="0" marL="0">
              <a:buNone/>
            </a:pPr>
            <a:r>
              <a:rPr lang="en-US" sz="1700" b="1" dirty="0">
                <a:solidFill>
                  <a:srgbClr val="000000"/>
                </a:solidFill>
              </a:rPr>
              <a:t>Search/planning</a:t>
            </a:r>
            <a:endParaRPr lang="en-US" sz="1700" dirty="0"/>
          </a:p>
        </p:txBody>
      </p:sp>
      <p:sp>
        <p:nvSpPr>
          <p:cNvPr id="14" name="Text 12"/>
          <p:cNvSpPr/>
          <p:nvPr/>
        </p:nvSpPr>
        <p:spPr>
          <a:xfrm>
            <a:off x="6080760" y="2971800"/>
            <a:ext cx="5212080" cy="301752"/>
          </a:xfrm>
          <a:prstGeom prst="rect">
            <a:avLst/>
          </a:prstGeom>
          <a:noFill/>
          <a:ln/>
        </p:spPr>
        <p:txBody>
          <a:bodyPr wrap="square" lIns="0" tIns="0" rIns="0" bIns="0" rtlCol="0" anchor="ctr">
            <a:normAutofit/>
          </a:bodyPr>
          <a:lstStyle/>
          <a:p>
            <a:pPr indent="0" marL="0">
              <a:buNone/>
            </a:pPr>
            <a:r>
              <a:rPr lang="en-US" sz="1700" dirty="0">
                <a:solidFill>
                  <a:srgbClr val="000000"/>
                </a:solidFill>
              </a:rPr>
              <a:t>Choose actions that reach goals</a:t>
            </a:r>
            <a:endParaRPr lang="en-US" sz="1700" dirty="0"/>
          </a:p>
        </p:txBody>
      </p:sp>
      <p:sp>
        <p:nvSpPr>
          <p:cNvPr id="15" name="Text 13"/>
          <p:cNvSpPr/>
          <p:nvPr/>
        </p:nvSpPr>
        <p:spPr>
          <a:xfrm>
            <a:off x="640080" y="3840480"/>
            <a:ext cx="2194560" cy="301752"/>
          </a:xfrm>
          <a:prstGeom prst="rect">
            <a:avLst/>
          </a:prstGeom>
          <a:noFill/>
          <a:ln/>
        </p:spPr>
        <p:txBody>
          <a:bodyPr wrap="square" lIns="0" tIns="0" rIns="0" bIns="0" rtlCol="0" anchor="ctr"/>
          <a:lstStyle/>
          <a:p>
            <a:pPr algn="r" indent="0" marL="0">
              <a:buNone/>
            </a:pPr>
            <a:r>
              <a:rPr lang="en-US" sz="1700" b="1" dirty="0">
                <a:solidFill>
                  <a:srgbClr val="14345E"/>
                </a:solidFill>
              </a:rPr>
              <a:t>Utility-based</a:t>
            </a:r>
            <a:endParaRPr lang="en-US" sz="1700" dirty="0"/>
          </a:p>
        </p:txBody>
      </p:sp>
      <p:sp>
        <p:nvSpPr>
          <p:cNvPr id="16" name="Text 14"/>
          <p:cNvSpPr/>
          <p:nvPr/>
        </p:nvSpPr>
        <p:spPr>
          <a:xfrm>
            <a:off x="3063240" y="3840480"/>
            <a:ext cx="2743200" cy="301752"/>
          </a:xfrm>
          <a:prstGeom prst="rect">
            <a:avLst/>
          </a:prstGeom>
          <a:noFill/>
          <a:ln/>
        </p:spPr>
        <p:txBody>
          <a:bodyPr wrap="square" lIns="0" tIns="0" rIns="0" bIns="0" rtlCol="0" anchor="ctr"/>
          <a:lstStyle/>
          <a:p>
            <a:pPr indent="0" marL="0">
              <a:buNone/>
            </a:pPr>
            <a:r>
              <a:rPr lang="en-US" sz="1700" b="1" dirty="0">
                <a:solidFill>
                  <a:srgbClr val="000000"/>
                </a:solidFill>
              </a:rPr>
              <a:t>Expected utility</a:t>
            </a:r>
            <a:endParaRPr lang="en-US" sz="1700" dirty="0"/>
          </a:p>
        </p:txBody>
      </p:sp>
      <p:sp>
        <p:nvSpPr>
          <p:cNvPr id="17" name="Text 15"/>
          <p:cNvSpPr/>
          <p:nvPr/>
        </p:nvSpPr>
        <p:spPr>
          <a:xfrm>
            <a:off x="6080760" y="3840480"/>
            <a:ext cx="5212080" cy="301752"/>
          </a:xfrm>
          <a:prstGeom prst="rect">
            <a:avLst/>
          </a:prstGeom>
          <a:noFill/>
          <a:ln/>
        </p:spPr>
        <p:txBody>
          <a:bodyPr wrap="square" lIns="0" tIns="0" rIns="0" bIns="0" rtlCol="0" anchor="ctr">
            <a:normAutofit/>
          </a:bodyPr>
          <a:lstStyle/>
          <a:p>
            <a:pPr indent="0" marL="0">
              <a:buNone/>
            </a:pPr>
            <a:r>
              <a:rPr lang="en-US" sz="1700" dirty="0">
                <a:solidFill>
                  <a:srgbClr val="000000"/>
                </a:solidFill>
              </a:rPr>
              <a:t>Compare tradeoffs under uncertainty</a:t>
            </a:r>
            <a:endParaRPr lang="en-US" sz="1700" dirty="0"/>
          </a:p>
        </p:txBody>
      </p:sp>
      <p:sp>
        <p:nvSpPr>
          <p:cNvPr id="18" name="Text 16"/>
          <p:cNvSpPr/>
          <p:nvPr/>
        </p:nvSpPr>
        <p:spPr>
          <a:xfrm>
            <a:off x="640080" y="4709160"/>
            <a:ext cx="2194560" cy="301752"/>
          </a:xfrm>
          <a:prstGeom prst="rect">
            <a:avLst/>
          </a:prstGeom>
          <a:noFill/>
          <a:ln/>
        </p:spPr>
        <p:txBody>
          <a:bodyPr wrap="square" lIns="0" tIns="0" rIns="0" bIns="0" rtlCol="0" anchor="ctr"/>
          <a:lstStyle/>
          <a:p>
            <a:pPr algn="r" indent="0" marL="0">
              <a:buNone/>
            </a:pPr>
            <a:r>
              <a:rPr lang="en-US" sz="1700" b="1" dirty="0">
                <a:solidFill>
                  <a:srgbClr val="14345E"/>
                </a:solidFill>
              </a:rPr>
              <a:t>Learning agent</a:t>
            </a:r>
            <a:endParaRPr lang="en-US" sz="1700" dirty="0"/>
          </a:p>
        </p:txBody>
      </p:sp>
      <p:sp>
        <p:nvSpPr>
          <p:cNvPr id="19" name="Text 17"/>
          <p:cNvSpPr/>
          <p:nvPr/>
        </p:nvSpPr>
        <p:spPr>
          <a:xfrm>
            <a:off x="3063240" y="4709160"/>
            <a:ext cx="2743200" cy="301752"/>
          </a:xfrm>
          <a:prstGeom prst="rect">
            <a:avLst/>
          </a:prstGeom>
          <a:noFill/>
          <a:ln/>
        </p:spPr>
        <p:txBody>
          <a:bodyPr wrap="square" lIns="0" tIns="0" rIns="0" bIns="0" rtlCol="0" anchor="ctr"/>
          <a:lstStyle/>
          <a:p>
            <a:pPr indent="0" marL="0">
              <a:buNone/>
            </a:pPr>
            <a:r>
              <a:rPr lang="en-US" sz="1700" b="1" dirty="0">
                <a:solidFill>
                  <a:srgbClr val="000000"/>
                </a:solidFill>
              </a:rPr>
              <a:t>Improvement from experience</a:t>
            </a:r>
            <a:endParaRPr lang="en-US" sz="1700" dirty="0"/>
          </a:p>
        </p:txBody>
      </p:sp>
      <p:sp>
        <p:nvSpPr>
          <p:cNvPr id="20" name="Text 18"/>
          <p:cNvSpPr/>
          <p:nvPr/>
        </p:nvSpPr>
        <p:spPr>
          <a:xfrm>
            <a:off x="6080760" y="4709160"/>
            <a:ext cx="5212080" cy="301752"/>
          </a:xfrm>
          <a:prstGeom prst="rect">
            <a:avLst/>
          </a:prstGeom>
          <a:noFill/>
          <a:ln/>
        </p:spPr>
        <p:txBody>
          <a:bodyPr wrap="square" lIns="0" tIns="0" rIns="0" bIns="0" rtlCol="0" anchor="ctr">
            <a:normAutofit/>
          </a:bodyPr>
          <a:lstStyle/>
          <a:p>
            <a:pPr indent="0" marL="0">
              <a:buNone/>
            </a:pPr>
            <a:r>
              <a:rPr lang="en-US" sz="1700" dirty="0">
                <a:solidFill>
                  <a:srgbClr val="000000"/>
                </a:solidFill>
              </a:rPr>
              <a:t>Adapt when model or rules are incomplete</a:t>
            </a:r>
            <a:endParaRPr lang="en-US" sz="1700" dirty="0"/>
          </a:p>
        </p:txBody>
      </p:sp>
      <p:sp>
        <p:nvSpPr>
          <p:cNvPr id="21" name="Text 19"/>
          <p:cNvSpPr/>
          <p:nvPr/>
        </p:nvSpPr>
        <p:spPr>
          <a:xfrm>
            <a:off x="1051560" y="5806440"/>
            <a:ext cx="10058400" cy="292608"/>
          </a:xfrm>
          <a:prstGeom prst="rect">
            <a:avLst/>
          </a:prstGeom>
          <a:noFill/>
          <a:ln/>
        </p:spPr>
        <p:txBody>
          <a:bodyPr wrap="square" lIns="0" tIns="0" rIns="0" bIns="0" rtlCol="0" anchor="ctr">
            <a:normAutofit/>
          </a:bodyPr>
          <a:lstStyle/>
          <a:p>
            <a:pPr algn="ctr" indent="0" marL="0">
              <a:buNone/>
            </a:pPr>
            <a:r>
              <a:rPr lang="en-US" sz="1500" dirty="0">
                <a:solidFill>
                  <a:srgbClr val="666666"/>
                </a:solidFill>
              </a:rPr>
              <a:t>Part II of the Berkeley lecture gets you through the agent model and simple reflex agents; Chapter 2 continues into richer agent architectures.</a:t>
            </a:r>
            <a:endParaRPr lang="en-US" sz="1500" dirty="0"/>
          </a:p>
        </p:txBody>
      </p:sp>
      <p:sp>
        <p:nvSpPr>
          <p:cNvPr id="22" name="Text 20"/>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64592"/>
            <a:ext cx="11521440" cy="530352"/>
          </a:xfrm>
          <a:prstGeom prst="rect">
            <a:avLst/>
          </a:prstGeom>
          <a:noFill/>
          <a:ln/>
        </p:spPr>
        <p:txBody>
          <a:bodyPr wrap="square" lIns="254" tIns="254" rIns="254" bIns="254" rtlCol="0" anchor="ctr">
            <a:normAutofit/>
          </a:bodyPr>
          <a:lstStyle/>
          <a:p>
            <a:pPr algn="ctr" indent="0" marL="0">
              <a:buNone/>
            </a:pPr>
            <a:r>
              <a:rPr lang="en-US" sz="3000" dirty="0">
                <a:solidFill>
                  <a:srgbClr val="000000"/>
                </a:solidFill>
                <a:latin typeface="Aptos Display" pitchFamily="34" charset="0"/>
                <a:ea typeface="Aptos Display" pitchFamily="34" charset="-122"/>
                <a:cs typeface="Aptos Display" pitchFamily="34" charset="-120"/>
              </a:rPr>
              <a:t>Classroom Demo: Autonomous Pac-Man</a:t>
            </a:r>
            <a:endParaRPr lang="en-US" sz="3000" dirty="0"/>
          </a:p>
        </p:txBody>
      </p:sp>
      <p:sp>
        <p:nvSpPr>
          <p:cNvPr id="3" name="Shape 1"/>
          <p:cNvSpPr/>
          <p:nvPr/>
        </p:nvSpPr>
        <p:spPr>
          <a:xfrm>
            <a:off x="0" y="832104"/>
            <a:ext cx="12191695" cy="0"/>
          </a:xfrm>
          <a:prstGeom prst="line">
            <a:avLst/>
          </a:prstGeom>
          <a:noFill/>
          <a:ln w="31750">
            <a:solidFill>
              <a:srgbClr val="000000"/>
            </a:solidFill>
            <a:prstDash val="solid"/>
          </a:ln>
        </p:spPr>
      </p:sp>
      <p:sp>
        <p:nvSpPr>
          <p:cNvPr id="4" name="Shape 2"/>
          <p:cNvSpPr/>
          <p:nvPr/>
        </p:nvSpPr>
        <p:spPr>
          <a:xfrm>
            <a:off x="0" y="877824"/>
            <a:ext cx="12191695" cy="0"/>
          </a:xfrm>
          <a:prstGeom prst="line">
            <a:avLst/>
          </a:prstGeom>
          <a:noFill/>
          <a:ln w="19050">
            <a:solidFill>
              <a:srgbClr val="0000A0"/>
            </a:solidFill>
            <a:prstDash val="solid"/>
          </a:ln>
        </p:spPr>
      </p:sp>
      <p:sp>
        <p:nvSpPr>
          <p:cNvPr id="5" name="Text 3"/>
          <p:cNvSpPr/>
          <p:nvPr/>
        </p:nvSpPr>
        <p:spPr>
          <a:xfrm>
            <a:off x="9601200" y="6547104"/>
            <a:ext cx="2331720" cy="164592"/>
          </a:xfrm>
          <a:prstGeom prst="rect">
            <a:avLst/>
          </a:prstGeom>
          <a:noFill/>
          <a:ln/>
        </p:spPr>
        <p:txBody>
          <a:bodyPr wrap="square" lIns="0" tIns="0" rIns="0" bIns="0" rtlCol="0" anchor="ctr"/>
          <a:lstStyle/>
          <a:p>
            <a:pPr algn="r" indent="0" marL="0">
              <a:buNone/>
            </a:pPr>
            <a:r>
              <a:rPr lang="en-US" sz="750" dirty="0">
                <a:solidFill>
                  <a:srgbClr val="777777"/>
                </a:solidFill>
              </a:rPr>
              <a:t>Chapter 2: Intelligent Agents</a:t>
            </a:r>
            <a:endParaRPr lang="en-US" sz="750" dirty="0"/>
          </a:p>
        </p:txBody>
      </p:sp>
      <p:sp>
        <p:nvSpPr>
          <p:cNvPr id="6" name="Text 4"/>
          <p:cNvSpPr/>
          <p:nvPr/>
        </p:nvSpPr>
        <p:spPr>
          <a:xfrm>
            <a:off x="822960" y="1078992"/>
            <a:ext cx="10515600" cy="365760"/>
          </a:xfrm>
          <a:prstGeom prst="rect">
            <a:avLst/>
          </a:prstGeom>
          <a:noFill/>
          <a:ln/>
        </p:spPr>
        <p:txBody>
          <a:bodyPr wrap="square" lIns="0" tIns="0" rIns="0" bIns="0" rtlCol="0" anchor="ctr"/>
          <a:lstStyle/>
          <a:p>
            <a:pPr algn="ctr" indent="0" marL="0">
              <a:buNone/>
            </a:pPr>
            <a:r>
              <a:rPr lang="en-US" sz="2300" dirty="0">
                <a:solidFill>
                  <a:srgbClr val="000000"/>
                </a:solidFill>
              </a:rPr>
              <a:t>Ask students to identify the agent components in the running code.</a:t>
            </a:r>
            <a:endParaRPr lang="en-US" sz="2300" dirty="0"/>
          </a:p>
        </p:txBody>
      </p:sp>
      <p:sp>
        <p:nvSpPr>
          <p:cNvPr id="7" name="Text 5"/>
          <p:cNvSpPr/>
          <p:nvPr/>
        </p:nvSpPr>
        <p:spPr>
          <a:xfrm>
            <a:off x="1280160" y="1737360"/>
            <a:ext cx="9326880" cy="2834640"/>
          </a:xfrm>
          <a:prstGeom prst="rect">
            <a:avLst/>
          </a:prstGeom>
          <a:noFill/>
          <a:ln/>
        </p:spPr>
        <p:txBody>
          <a:bodyPr wrap="square" lIns="635" tIns="635" rIns="635" bIns="635" rtlCol="0" anchor="t">
            <a:normAutofit/>
          </a:bodyPr>
          <a:lstStyle/>
          <a:p>
            <a:r>
              <a:rPr lang="en-US" sz="2300" dirty="0">
                <a:solidFill>
                  <a:srgbClr val="303090"/>
                </a:solidFill>
                <a:latin typeface="Aptos" pitchFamily="34" charset="0"/>
                <a:ea typeface="Aptos" pitchFamily="34" charset="-122"/>
                <a:cs typeface="Aptos" pitchFamily="34" charset="-120"/>
              </a:rPr>
              <a:t>What are the sensors/percepts?</a:t>
            </a:r>
            <a:endParaRPr lang="en-US" sz="2300" dirty="0"/>
          </a:p>
          <a:p>
            <a:r>
              <a:rPr lang="en-US" sz="2300" dirty="0">
                <a:solidFill>
                  <a:srgbClr val="303090"/>
                </a:solidFill>
                <a:latin typeface="Aptos" pitchFamily="34" charset="0"/>
                <a:ea typeface="Aptos" pitchFamily="34" charset="-122"/>
                <a:cs typeface="Aptos" pitchFamily="34" charset="-120"/>
              </a:rPr>
              <a:t>What are the actuators/actions?</a:t>
            </a:r>
            <a:endParaRPr lang="en-US" sz="2300" dirty="0"/>
          </a:p>
          <a:p>
            <a:r>
              <a:rPr lang="en-US" sz="2300" dirty="0">
                <a:solidFill>
                  <a:srgbClr val="303090"/>
                </a:solidFill>
                <a:latin typeface="Aptos" pitchFamily="34" charset="0"/>
                <a:ea typeface="Aptos" pitchFamily="34" charset="-122"/>
                <a:cs typeface="Aptos" pitchFamily="34" charset="-120"/>
              </a:rPr>
              <a:t>What is the performance measure?</a:t>
            </a:r>
            <a:endParaRPr lang="en-US" sz="2300" dirty="0"/>
          </a:p>
          <a:p>
            <a:r>
              <a:rPr lang="en-US" sz="2300" dirty="0">
                <a:solidFill>
                  <a:srgbClr val="303090"/>
                </a:solidFill>
                <a:latin typeface="Aptos" pitchFamily="34" charset="0"/>
                <a:ea typeface="Aptos" pitchFamily="34" charset="-122"/>
                <a:cs typeface="Aptos" pitchFamily="34" charset="-120"/>
              </a:rPr>
              <a:t>Is the agent reflex, goal-based, utility-based, or mixed?</a:t>
            </a:r>
            <a:endParaRPr lang="en-US" sz="2300" dirty="0"/>
          </a:p>
          <a:p>
            <a:r>
              <a:rPr lang="en-US" sz="2300" dirty="0">
                <a:solidFill>
                  <a:srgbClr val="303090"/>
                </a:solidFill>
                <a:latin typeface="Aptos" pitchFamily="34" charset="0"/>
                <a:ea typeface="Aptos" pitchFamily="34" charset="-122"/>
                <a:cs typeface="Aptos" pitchFamily="34" charset="-120"/>
              </a:rPr>
              <a:t>What hidden state or memory would improve it?</a:t>
            </a:r>
            <a:endParaRPr lang="en-US" sz="2300" dirty="0"/>
          </a:p>
        </p:txBody>
      </p:sp>
      <p:sp>
        <p:nvSpPr>
          <p:cNvPr id="8" name="Shape 6"/>
          <p:cNvSpPr/>
          <p:nvPr/>
        </p:nvSpPr>
        <p:spPr>
          <a:xfrm>
            <a:off x="1874520" y="5230368"/>
            <a:ext cx="8458200" cy="502920"/>
          </a:xfrm>
          <a:prstGeom prst="roundRect">
            <a:avLst/>
          </a:prstGeom>
          <a:solidFill>
            <a:srgbClr val="EAF1FB"/>
          </a:solidFill>
          <a:ln w="12700">
            <a:solidFill>
              <a:srgbClr val="9CB3D4"/>
            </a:solidFill>
            <a:prstDash val="solid"/>
          </a:ln>
        </p:spPr>
      </p:sp>
      <p:sp>
        <p:nvSpPr>
          <p:cNvPr id="9" name="Text 7"/>
          <p:cNvSpPr/>
          <p:nvPr/>
        </p:nvSpPr>
        <p:spPr>
          <a:xfrm>
            <a:off x="2057400" y="5385816"/>
            <a:ext cx="8092440" cy="219456"/>
          </a:xfrm>
          <a:prstGeom prst="rect">
            <a:avLst/>
          </a:prstGeom>
          <a:noFill/>
          <a:ln/>
        </p:spPr>
        <p:txBody>
          <a:bodyPr wrap="square" lIns="0" tIns="0" rIns="0" bIns="0" rtlCol="0" anchor="ctr">
            <a:normAutofit/>
          </a:bodyPr>
          <a:lstStyle/>
          <a:p>
            <a:pPr algn="ctr" indent="0" marL="0">
              <a:buNone/>
            </a:pPr>
            <a:r>
              <a:rPr lang="en-US" sz="1600" b="1" dirty="0">
                <a:solidFill>
                  <a:srgbClr val="14345E"/>
                </a:solidFill>
              </a:rPr>
              <a:t>Transition: search algorithms are one way to make goal-based agents act rationally.</a:t>
            </a:r>
            <a:endParaRPr lang="en-US" sz="1600" dirty="0"/>
          </a:p>
        </p:txBody>
      </p:sp>
      <p:sp>
        <p:nvSpPr>
          <p:cNvPr id="10" name="Text 8"/>
          <p:cNvSpPr/>
          <p:nvPr/>
        </p:nvSpPr>
        <p:spPr>
          <a:xfrm>
            <a:off x="320040" y="6364224"/>
            <a:ext cx="7589520" cy="201168"/>
          </a:xfrm>
          <a:prstGeom prst="rect">
            <a:avLst/>
          </a:prstGeom>
          <a:noFill/>
          <a:ln/>
        </p:spPr>
        <p:txBody>
          <a:bodyPr wrap="square" lIns="0" tIns="0" rIns="0" bIns="0" rtlCol="0" anchor="ctr"/>
          <a:lstStyle/>
          <a:p>
            <a:pPr indent="0" marL="0">
              <a:buNone/>
            </a:pPr>
            <a:r>
              <a:rPr lang="en-US" sz="850" dirty="0">
                <a:solidFill>
                  <a:srgbClr val="777777"/>
                </a:solidFill>
              </a:rPr>
              <a:t>Based on UC Berkeley CS188 Lecture 1, Introduction Part II; aligned to AIMA Ch. 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CSUCI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2 - Intelligent Agents: Berkeley Lecture Part II Companion</dc:title>
  <dc:subject>COMP 469 Chapter 2 - Intelligent Agents</dc:subject>
  <dc:creator>OpenAI</dc:creator>
  <cp:lastModifiedBy>OpenAI</cp:lastModifiedBy>
  <cp:revision>1</cp:revision>
  <dcterms:created xsi:type="dcterms:W3CDTF">2026-07-30T07:22:19Z</dcterms:created>
  <dcterms:modified xsi:type="dcterms:W3CDTF">2026-07-30T07:22:19Z</dcterms:modified>
</cp:coreProperties>
</file>