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Lst>
  <p:notesMasterIdLst>
    <p:notesMasterId r:id="rId55"/>
  </p:notesMasterIdLst>
  <p:sldIdLst>
    <p:sldId id="307"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9155" autoAdjust="0"/>
  </p:normalViewPr>
  <p:slideViewPr>
    <p:cSldViewPr snapToGrid="0">
      <p:cViewPr varScale="1">
        <p:scale>
          <a:sx n="78" d="100"/>
          <a:sy n="78" d="100"/>
        </p:scale>
        <p:origin x="13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defTabSz="914400">
              <a:lnSpc>
                <a:spcPct val="90000"/>
              </a:lnSpc>
              <a:tabLst>
                <a:tab pos="0" algn="l"/>
              </a:tabLst>
            </a:pPr>
            <a:r>
              <a:rPr lang="en-US" sz="1800" b="0" u="none" strike="noStrike">
                <a:solidFill>
                  <a:schemeClr val="dk1"/>
                </a:solidFill>
                <a:effectLst/>
                <a:uFillTx/>
                <a:latin typeface="Aptos"/>
              </a:rPr>
              <a:t>Click to move the slide</a:t>
            </a:r>
          </a:p>
        </p:txBody>
      </p:sp>
      <p:sp>
        <p:nvSpPr>
          <p:cNvPr id="1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1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13"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4"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15"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A96BC95-9F5C-433D-9CF0-615C03E81685}"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lIns="91440" tIns="45720" rIns="91440" bIns="45720" anchor="t">
            <a:normAutofit fontScale="92500" lnSpcReduction="20000"/>
          </a:bodyPr>
          <a:lstStyle/>
          <a:p>
            <a:pPr indent="0" algn="l">
              <a:lnSpc>
                <a:spcPct val="100000"/>
              </a:lnSpc>
              <a:buNone/>
            </a:pPr>
            <a:r>
              <a:rPr lang="en-US" sz="1400" b="1" i="0" u="none" strike="noStrike" dirty="0">
                <a:solidFill>
                  <a:srgbClr val="1F4E79"/>
                </a:solidFill>
                <a:effectLst/>
                <a:uFillTx/>
                <a:latin typeface="Arial"/>
              </a:rPr>
              <a:t>SLIDE 1  ·  Chapter 2 cover</a:t>
            </a:r>
          </a:p>
          <a:p>
            <a:pPr indent="0" algn="l">
              <a:lnSpc>
                <a:spcPct val="100000"/>
              </a:lnSpc>
              <a:buNone/>
            </a:pPr>
            <a:r>
              <a:rPr lang="en-US" sz="1150" b="0" i="0" u="none" strike="noStrike" dirty="0">
                <a:solidFill>
                  <a:srgbClr val="595959"/>
                </a:solidFill>
                <a:effectLst/>
                <a:uFillTx/>
                <a:latin typeface="Arial"/>
              </a:rPr>
              <a:t>Suggested time: 1 minutes  ·  Running total: 1 min  ·  Chapter alignment: Chapter opening</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INSTRUCTOR CUE</a:t>
            </a:r>
          </a:p>
          <a:p>
            <a:pPr indent="0" algn="l">
              <a:lnSpc>
                <a:spcPct val="100000"/>
              </a:lnSpc>
              <a:buNone/>
            </a:pPr>
            <a:r>
              <a:rPr lang="en-US" sz="1400" b="0" i="0" u="none" strike="noStrike" dirty="0">
                <a:solidFill>
                  <a:srgbClr val="000000"/>
                </a:solidFill>
                <a:effectLst/>
                <a:uFillTx/>
                <a:latin typeface="Arial"/>
              </a:rPr>
              <a:t>Replaced cover. The original graphic on this slide read "CHAPTER 2 - PROBLEM SOLVING &amp; SEARCH" and listed state-space representation, BFS, DFS, uniform cost, iterative deepening, greedy best-first, A*, and search complexity. Those are the Chapter 3 objectives. This cover carries the Chapter 2 objectives instead, in the deck's own colors and type.</a:t>
            </a:r>
          </a:p>
          <a:p>
            <a:pPr indent="0" algn="l">
              <a:lnSpc>
                <a:spcPct val="100000"/>
              </a:lnSpc>
              <a:buNone/>
            </a:pPr>
            <a:r>
              <a:rPr lang="en-US" sz="1400" b="0" i="0" u="none" strike="noStrike" dirty="0">
                <a:solidFill>
                  <a:srgbClr val="000000"/>
                </a:solidFill>
                <a:effectLst/>
                <a:uFillTx/>
                <a:latin typeface="Arial"/>
              </a:rPr>
              <a:t>Worth keeping the old one for Chapter 3 - it is a usable cover for that deck, just not for this one.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Slide 2 opens the chapter properly with the sense-decide-act loop.</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(Intelligent Agents).</a:t>
            </a:r>
          </a:p>
          <a:p>
            <a:pPr indent="0" algn="l">
              <a:lnSpc>
                <a:spcPct val="100000"/>
              </a:lnSpc>
              <a:buNone/>
            </a:pPr>
            <a:r>
              <a:rPr lang="en-US" sz="1150" b="0" i="0" u="none" strike="noStrike" dirty="0">
                <a:solidFill>
                  <a:srgbClr val="595959"/>
                </a:solidFill>
                <a:effectLst/>
                <a:uFillTx/>
                <a:latin typeface="Arial"/>
              </a:rPr>
              <a:t>Objectives drawn from the deck roadmap on slide 5.</a:t>
            </a:r>
          </a:p>
        </p:txBody>
      </p:sp>
      <p:sp>
        <p:nvSpPr>
          <p:cNvPr id="4" name="Slide Number Placeholder 3"/>
          <p:cNvSpPr>
            <a:spLocks noGrp="1"/>
          </p:cNvSpPr>
          <p:nvPr>
            <p:ph type="sldNum" idx="3"/>
          </p:nvPr>
        </p:nvSpPr>
        <p:spPr/>
        <p:txBody>
          <a:bodyPr/>
          <a:lstStyle/>
          <a:p>
            <a:pPr indent="0" algn="r">
              <a:buNone/>
            </a:pPr>
            <a:fld id="{2A96BC95-9F5C-433D-9CF0-615C03E81685}" type="slidenum">
              <a:rPr lang="en-US" sz="1400" b="0" u="none" strike="noStrike" smtClean="0">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697163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 name="PlaceHolder 1"/>
          <p:cNvSpPr>
            <a:spLocks noGrp="1" noRot="1" noChangeAspect="1"/>
          </p:cNvSpPr>
          <p:nvPr>
            <p:ph type="sldImg"/>
          </p:nvPr>
        </p:nvSpPr>
        <p:spPr>
          <a:xfrm>
            <a:off x="685800" y="1143000"/>
            <a:ext cx="5484813" cy="3084513"/>
          </a:xfrm>
          <a:prstGeom prst="rect">
            <a:avLst/>
          </a:prstGeom>
          <a:ln w="0">
            <a:noFill/>
          </a:ln>
        </p:spPr>
      </p:sp>
      <p:sp>
        <p:nvSpPr>
          <p:cNvPr id="136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2  ·  Chapter 2: Intelligent Agents</a:t>
            </a:r>
          </a:p>
          <a:p>
            <a:pPr indent="0" algn="l">
              <a:lnSpc>
                <a:spcPct val="100000"/>
              </a:lnSpc>
              <a:buNone/>
            </a:pPr>
            <a:r>
              <a:rPr lang="en-US" sz="1150" b="0" i="0" u="none" strike="noStrike" dirty="0">
                <a:solidFill>
                  <a:srgbClr val="595959"/>
                </a:solidFill>
                <a:effectLst/>
                <a:uFillTx/>
                <a:latin typeface="Arial"/>
              </a:rPr>
              <a:t>Suggested time: 2 minutes  ·  Running total: 3 min  ·  Chapter alignment: Chapter introduction and Section 2.1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Welcome back to COMP 469. Chapter 1 gave us several ways to define artificial intelligence and ended by emphasizing the rational-agent approach. Chapter 2 now turns that broad idea into an engineering framework. Instead of asking only whether a machine appears intelligent, we ask what the machine perceives, what actions it can take, what environment it operates in, and what counts as successful behavior.</a:t>
            </a:r>
          </a:p>
          <a:p>
            <a:pPr indent="0" algn="l">
              <a:lnSpc>
                <a:spcPct val="100000"/>
              </a:lnSpc>
              <a:buNone/>
            </a:pPr>
            <a:r>
              <a:rPr lang="en-US" sz="1400" b="0" i="0" u="none" strike="noStrike" dirty="0">
                <a:solidFill>
                  <a:srgbClr val="000000"/>
                </a:solidFill>
                <a:effectLst/>
                <a:uFillTx/>
                <a:latin typeface="Arial"/>
              </a:rPr>
              <a:t>The three words on this slide—sense, decide, and act—summarize the central loop. The agent receives information from the environment, chooses an action, changes the environment through that action, and then receives a new percept. Intelligent behavior is therefore not a single calculation. It is an ongoing interaction between an agent and the world around it.</a:t>
            </a:r>
          </a:p>
          <a:p>
            <a:pPr indent="0" algn="l">
              <a:lnSpc>
                <a:spcPct val="100000"/>
              </a:lnSpc>
              <a:buNone/>
            </a:pPr>
            <a:r>
              <a:rPr lang="en-US" sz="1400" b="0" i="0" u="none" strike="noStrike" dirty="0">
                <a:solidFill>
                  <a:srgbClr val="000000"/>
                </a:solidFill>
                <a:effectLst/>
                <a:uFillTx/>
                <a:latin typeface="Arial"/>
              </a:rPr>
              <a:t>Throughout the lecture, we will use Pac-Man, the two-square vacuum world, and an automated taxi as examples. These examples vary in complexity, but they all let us ask the same design question: given what the agent has perceived so far, what should it do next? By the end of the lecture, you should be able to define an agent formally, specify a task using PEAS, classify an environment, and distinguish the major agent program designs in the chapter.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We will begin with a quick capability question that reveals why the environment matters so much.</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introduction and Section 2.1.</a:t>
            </a:r>
          </a:p>
        </p:txBody>
      </p:sp>
      <p:sp>
        <p:nvSpPr>
          <p:cNvPr id="1368" name="PlaceHolder 3"/>
          <p:cNvSpPr>
            <a:spLocks noGrp="1"/>
          </p:cNvSpPr>
          <p:nvPr>
            <p:ph type="sldNum" idx="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E62CD8D-5BEF-4739-A6E6-56508D147A23}"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9" name="PlaceHolder 1"/>
          <p:cNvSpPr>
            <a:spLocks noGrp="1" noRot="1" noChangeAspect="1"/>
          </p:cNvSpPr>
          <p:nvPr>
            <p:ph type="sldImg"/>
          </p:nvPr>
        </p:nvSpPr>
        <p:spPr>
          <a:xfrm>
            <a:off x="685800" y="1143000"/>
            <a:ext cx="5484813" cy="3084513"/>
          </a:xfrm>
          <a:prstGeom prst="rect">
            <a:avLst/>
          </a:prstGeom>
          <a:ln w="0">
            <a:noFill/>
          </a:ln>
        </p:spPr>
      </p:sp>
      <p:sp>
        <p:nvSpPr>
          <p:cNvPr id="137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3  ·  What Can AI Do?</a:t>
            </a:r>
          </a:p>
          <a:p>
            <a:pPr indent="0" algn="l">
              <a:lnSpc>
                <a:spcPct val="100000"/>
              </a:lnSpc>
              <a:buNone/>
            </a:pPr>
            <a:r>
              <a:rPr lang="en-US" sz="1150" b="0" i="0" u="none" strike="noStrike" dirty="0">
                <a:solidFill>
                  <a:srgbClr val="595959"/>
                </a:solidFill>
                <a:effectLst/>
                <a:uFillTx/>
                <a:latin typeface="Arial"/>
              </a:rPr>
              <a:t>Suggested time: 4 minutes  ·  Running total: 7 min  ·  Chapter alignment: Motivating task environments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Before we define an agent formally, consider the tasks on this slide. Some AI systems perform extremely well in formal environments such as chess or Go. Those games are difficult, but their rules are explicit, the legal actions are limited, and the state can be represented precisely. Other tasks that look ordinary to people—such as unloading any dishwasher in any home—are difficult because the physical environment varies, objects may be hidden, sensors are noisy, and the system must manipulate unfamiliar items safely.</a:t>
            </a:r>
          </a:p>
          <a:p>
            <a:pPr indent="0" algn="l">
              <a:lnSpc>
                <a:spcPct val="100000"/>
              </a:lnSpc>
              <a:buNone/>
            </a:pPr>
            <a:r>
              <a:rPr lang="en-US" sz="1400" b="0" i="0" u="none" strike="noStrike" dirty="0">
                <a:solidFill>
                  <a:srgbClr val="000000"/>
                </a:solidFill>
                <a:effectLst/>
                <a:uFillTx/>
                <a:latin typeface="Arial"/>
              </a:rPr>
              <a:t>The important question is not simply, 'Can AI do this?' A better set of questions is: What information does the system receive? What actions are available? Does the environment change while the system is deciding? Are other agents present? What errors are acceptable? How will success be measured? A task can become easier or harder depending on how we answer those questions.</a:t>
            </a:r>
          </a:p>
          <a:p>
            <a:pPr indent="0" algn="l">
              <a:lnSpc>
                <a:spcPct val="100000"/>
              </a:lnSpc>
              <a:buNone/>
            </a:pPr>
            <a:r>
              <a:rPr lang="en-US" sz="1400" b="0" i="0" u="none" strike="noStrike" dirty="0">
                <a:solidFill>
                  <a:srgbClr val="000000"/>
                </a:solidFill>
                <a:effectLst/>
                <a:uFillTx/>
                <a:latin typeface="Arial"/>
              </a:rPr>
              <a:t>For example, buying groceries on a website is primarily a software interaction with structured pages, product records, and digital payment systems. Buying groceries in a physical store requires vision, navigation, object manipulation, social interaction, and adaptation to unexpected conditions. The high-level goal sounds similar, but the task environments are very different.</a:t>
            </a:r>
          </a:p>
          <a:p>
            <a:pPr indent="0" algn="l">
              <a:lnSpc>
                <a:spcPct val="100000"/>
              </a:lnSpc>
              <a:buNone/>
            </a:pPr>
            <a:r>
              <a:rPr lang="en-US" sz="1400" b="0" i="0" u="none" strike="noStrike" dirty="0">
                <a:solidFill>
                  <a:srgbClr val="000000"/>
                </a:solidFill>
                <a:effectLst/>
                <a:uFillTx/>
                <a:latin typeface="Arial"/>
              </a:rPr>
              <a:t>Use this slide as a warm-up poll. The purpose is not to settle every capability claim. The purpose is to notice that intelligence must be evaluated relative to a specified task environment. That observation leads directly to the agent framework used throughout Chapter 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To evaluate these systems consistently, the course adopts the rational-agent perspective.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introduction; lecture deck warm-up framing.</a:t>
            </a:r>
          </a:p>
        </p:txBody>
      </p:sp>
      <p:sp>
        <p:nvSpPr>
          <p:cNvPr id="1371" name="PlaceHolder 3"/>
          <p:cNvSpPr>
            <a:spLocks noGrp="1"/>
          </p:cNvSpPr>
          <p:nvPr>
            <p:ph type="sldNum" idx="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67BC25B-DE23-4C2D-BD04-21309B05B6B2}"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 name="PlaceHolder 1"/>
          <p:cNvSpPr>
            <a:spLocks noGrp="1" noRot="1" noChangeAspect="1"/>
          </p:cNvSpPr>
          <p:nvPr>
            <p:ph type="sldImg"/>
          </p:nvPr>
        </p:nvSpPr>
        <p:spPr>
          <a:xfrm>
            <a:off x="685800" y="1143000"/>
            <a:ext cx="5484813" cy="3084513"/>
          </a:xfrm>
          <a:prstGeom prst="rect">
            <a:avLst/>
          </a:prstGeom>
          <a:ln w="0">
            <a:noFill/>
          </a:ln>
        </p:spPr>
      </p:sp>
      <p:sp>
        <p:nvSpPr>
          <p:cNvPr id="137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4  ·  A Rational-Agent Perspective</a:t>
            </a:r>
          </a:p>
          <a:p>
            <a:pPr indent="0" algn="l">
              <a:lnSpc>
                <a:spcPct val="100000"/>
              </a:lnSpc>
              <a:buNone/>
            </a:pPr>
            <a:r>
              <a:rPr lang="en-US" sz="1150" b="0" i="0" u="none" strike="noStrike" dirty="0">
                <a:solidFill>
                  <a:srgbClr val="595959"/>
                </a:solidFill>
                <a:effectLst/>
                <a:uFillTx/>
                <a:latin typeface="Arial"/>
              </a:rPr>
              <a:t>Suggested time: 3 minutes  ·  Running total: 10 min  ·  Chapter alignment: Bridge from Chapter 1 to Chapter 2</a:t>
            </a:r>
          </a:p>
          <a:p>
            <a:pPr indent="0" algn="l">
              <a:lnSpc>
                <a:spcPct val="100000"/>
              </a:lnSpc>
              <a:buNone/>
            </a:pPr>
            <a:endParaRPr lang="en-US" sz="1400" b="0" i="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Chapter 1 organized definitions of AI around two dimensions: human versus rational, and thinking versus acting. This course focuses on acting rationally. That does not mean that human thought, human behavior, or formal reasoning are unimportant. It means that our primary engineering standard is whether the system selects actions that are expected to achieve its objective.</a:t>
            </a:r>
          </a:p>
          <a:p>
            <a:pPr indent="0" algn="l">
              <a:lnSpc>
                <a:spcPct val="100000"/>
              </a:lnSpc>
              <a:buNone/>
            </a:pPr>
            <a:r>
              <a:rPr lang="en-US" sz="1400" b="0" i="0" u="none" strike="noStrike" dirty="0">
                <a:solidFill>
                  <a:srgbClr val="000000"/>
                </a:solidFill>
                <a:effectLst/>
                <a:uFillTx/>
                <a:latin typeface="Arial"/>
              </a:rPr>
              <a:t>A system that acts like a person may reproduce human strengths, but it may also reproduce human mistakes, bias, inconsistency, or fatigue. A system that reasons correctly may still fail to act in time, may lack necessary information, or may be operating in an uncertain environment where formal deduction alone does not identify the best action. Rational action is broader than either imitation or logic.</a:t>
            </a:r>
          </a:p>
          <a:p>
            <a:pPr indent="0" algn="l">
              <a:lnSpc>
                <a:spcPct val="100000"/>
              </a:lnSpc>
              <a:buNone/>
            </a:pPr>
            <a:r>
              <a:rPr lang="en-US" sz="1400" b="0" i="0" u="none" strike="noStrike" dirty="0">
                <a:solidFill>
                  <a:srgbClr val="000000"/>
                </a:solidFill>
                <a:effectLst/>
                <a:uFillTx/>
                <a:latin typeface="Arial"/>
              </a:rPr>
              <a:t>The phrase 'act rationally' must always be interpreted relative to a performance measure, available evidence, built-in knowledge, and available actions. Chapter 2 will make each of those elements explicit. The result is a framework that can be applied to a vacuum cleaner, a software assistant, a robot, an automated taxi, or a game-playing program.</a:t>
            </a:r>
            <a:endParaRPr lang="en-US" sz="1400" b="0" u="none" strike="noStrike" dirty="0">
              <a:solidFill>
                <a:srgbClr val="000000"/>
              </a:solidFill>
              <a:effectLst/>
              <a:uFillTx/>
              <a:latin typeface="Arial"/>
            </a:endParaRP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roadmap shows how we move from this perspective to concrete agent designs.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Chapters 1 and 2.</a:t>
            </a:r>
          </a:p>
        </p:txBody>
      </p:sp>
      <p:sp>
        <p:nvSpPr>
          <p:cNvPr id="1374" name="PlaceHolder 3"/>
          <p:cNvSpPr>
            <a:spLocks noGrp="1"/>
          </p:cNvSpPr>
          <p:nvPr>
            <p:ph type="sldNum" idx="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C5ED3F7-BFC0-4C3A-912F-36AB1409D9C4}"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5" name="PlaceHolder 1"/>
          <p:cNvSpPr>
            <a:spLocks noGrp="1" noRot="1" noChangeAspect="1"/>
          </p:cNvSpPr>
          <p:nvPr>
            <p:ph type="sldImg"/>
          </p:nvPr>
        </p:nvSpPr>
        <p:spPr>
          <a:xfrm>
            <a:off x="685800" y="1143000"/>
            <a:ext cx="5484813" cy="3084513"/>
          </a:xfrm>
          <a:prstGeom prst="rect">
            <a:avLst/>
          </a:prstGeom>
          <a:ln w="0">
            <a:noFill/>
          </a:ln>
        </p:spPr>
      </p:sp>
      <p:sp>
        <p:nvSpPr>
          <p:cNvPr id="137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62500" lnSpcReduction="20000"/>
          </a:bodyPr>
          <a:lstStyle/>
          <a:p>
            <a:pPr indent="0" algn="l">
              <a:lnSpc>
                <a:spcPct val="100000"/>
              </a:lnSpc>
              <a:buNone/>
            </a:pPr>
            <a:r>
              <a:rPr lang="en-US" sz="1400" b="1" i="0" u="none" strike="noStrike" dirty="0">
                <a:solidFill>
                  <a:srgbClr val="1F4E79"/>
                </a:solidFill>
                <a:effectLst/>
                <a:uFillTx/>
                <a:latin typeface="Arial"/>
              </a:rPr>
              <a:t>SLIDE 5  ·  2.0 Roadmap: From Agent Loop to Agent Design</a:t>
            </a:r>
          </a:p>
          <a:p>
            <a:pPr indent="0" algn="l">
              <a:lnSpc>
                <a:spcPct val="100000"/>
              </a:lnSpc>
              <a:buNone/>
            </a:pPr>
            <a:r>
              <a:rPr lang="en-US" sz="1150" b="0" i="0" u="none" strike="noStrike" dirty="0">
                <a:solidFill>
                  <a:srgbClr val="595959"/>
                </a:solidFill>
                <a:effectLst/>
                <a:uFillTx/>
                <a:latin typeface="Arial"/>
              </a:rPr>
              <a:t>Suggested time: 2 minutes  ·  Running total: 12 min  ·  Chapter alignment: Lecture roadmap</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chapter is a design framework rather than a single algorithm. We begin with the agent loop: percepts come in and actions go out. We then define rationality so that we have a standard for judging behavior. Next, we specify the task with PEAS—performance measure, environment, actuators, and sensors.</a:t>
            </a:r>
          </a:p>
          <a:p>
            <a:pPr indent="0" algn="l">
              <a:lnSpc>
                <a:spcPct val="100000"/>
              </a:lnSpc>
              <a:buNone/>
            </a:pPr>
            <a:r>
              <a:rPr lang="en-US" sz="1400" b="0" i="0" u="none" strike="noStrike" dirty="0">
                <a:solidFill>
                  <a:srgbClr val="000000"/>
                </a:solidFill>
                <a:effectLst/>
                <a:uFillTx/>
                <a:latin typeface="Arial"/>
              </a:rPr>
              <a:t>After the task is specified, we classify the environment. Is it fully or partially observable? Is it deterministic or uncertain? Is it static or changing? Those properties determine what kind of agent program is appropriate. We then examine the major designs, starting with a table-driven baseline and progressing through simple reflex, model-based reflex, goal-based, utility-based, and learning agents.</a:t>
            </a:r>
          </a:p>
          <a:p>
            <a:pPr indent="0" algn="l">
              <a:lnSpc>
                <a:spcPct val="100000"/>
              </a:lnSpc>
              <a:buNone/>
            </a:pPr>
            <a:r>
              <a:rPr lang="en-US" sz="1400" b="0" i="0" u="none" strike="noStrike" dirty="0">
                <a:solidFill>
                  <a:srgbClr val="000000"/>
                </a:solidFill>
                <a:effectLst/>
                <a:uFillTx/>
                <a:latin typeface="Arial"/>
              </a:rPr>
              <a:t>The final topic is representation: how the agent stores information about the world. Keep this workflow in mind throughout the lecture: define the interaction, define success, characterize the environment, and then choose the agent design.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We will now define the perceive-act loop formally.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structure.</a:t>
            </a:r>
          </a:p>
        </p:txBody>
      </p:sp>
      <p:sp>
        <p:nvSpPr>
          <p:cNvPr id="1377" name="PlaceHolder 3"/>
          <p:cNvSpPr>
            <a:spLocks noGrp="1"/>
          </p:cNvSpPr>
          <p:nvPr>
            <p:ph type="sldNum" idx="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C34A1C1-AB98-4B2F-B84A-DD59A85E0AF3}"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8" name="PlaceHolder 1"/>
          <p:cNvSpPr>
            <a:spLocks noGrp="1" noRot="1" noChangeAspect="1"/>
          </p:cNvSpPr>
          <p:nvPr>
            <p:ph type="sldImg"/>
          </p:nvPr>
        </p:nvSpPr>
        <p:spPr>
          <a:xfrm>
            <a:off x="685800" y="1143000"/>
            <a:ext cx="5486400" cy="3086100"/>
          </a:xfrm>
          <a:prstGeom prst="rect">
            <a:avLst/>
          </a:prstGeom>
          <a:ln w="0">
            <a:noFill/>
          </a:ln>
        </p:spPr>
      </p:sp>
      <p:sp>
        <p:nvSpPr>
          <p:cNvPr id="137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6  ·  2.1 Agents and Environments: The Perceive-Act Loop</a:t>
            </a:r>
          </a:p>
          <a:p>
            <a:pPr indent="0" algn="l">
              <a:lnSpc>
                <a:spcPct val="100000"/>
              </a:lnSpc>
              <a:buNone/>
            </a:pPr>
            <a:r>
              <a:rPr lang="en-US" sz="1150" b="0" i="0" u="none" strike="noStrike" dirty="0">
                <a:solidFill>
                  <a:srgbClr val="595959"/>
                </a:solidFill>
                <a:effectLst/>
                <a:uFillTx/>
                <a:latin typeface="Arial"/>
              </a:rPr>
              <a:t>Suggested time: 4 minutes  ·  Running total: 16 min  ·  Chapter alignment: Section 2.1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An agent is anything that can be viewed as perceiving its environment through sensors and acting upon that environment through actuators. This definition is deliberately broad. A human agent uses eyes, ears, and other organs as sensors, and uses hands, legs, and the vocal tract as actuators. A robotic agent may use cameras, lidar, infrared range finders, and tactile sensors, with motors and joints as actuators. A software agent may receive files, network packets, keyboard input, or API responses and may act by writing files, sending messages, displaying information, or generating sound.</a:t>
            </a:r>
          </a:p>
          <a:p>
            <a:pPr indent="0" algn="l">
              <a:lnSpc>
                <a:spcPct val="100000"/>
              </a:lnSpc>
              <a:buNone/>
            </a:pPr>
            <a:r>
              <a:rPr lang="en-US" sz="1400" b="0" i="0" u="none" strike="noStrike" dirty="0">
                <a:solidFill>
                  <a:srgbClr val="000000"/>
                </a:solidFill>
                <a:effectLst/>
                <a:uFillTx/>
                <a:latin typeface="Arial"/>
              </a:rPr>
              <a:t>The environment is the part of the world that matters for the design. It is not automatically the entire universe. For an email-filtering agent, the relevant environment may include incoming messages, user preferences, organizational policies, and attacker behavior. For Pac-Man, it includes the maze, pellets, ghosts, power pellets, and scoring rules.</a:t>
            </a:r>
          </a:p>
          <a:p>
            <a:pPr indent="0" algn="l">
              <a:lnSpc>
                <a:spcPct val="100000"/>
              </a:lnSpc>
              <a:buNone/>
            </a:pPr>
            <a:r>
              <a:rPr lang="en-US" sz="1400" b="0" i="0" u="none" strike="noStrike" dirty="0">
                <a:solidFill>
                  <a:srgbClr val="000000"/>
                </a:solidFill>
                <a:effectLst/>
                <a:uFillTx/>
                <a:latin typeface="Arial"/>
              </a:rPr>
              <a:t>The arrows in the diagram are important. Percepts travel from the environment to the agent through sensors. Actions travel from the agent back to the environment through actuators. Once an action changes the environment, the next percept may be different. The agent therefore operates in a feedback loop.</a:t>
            </a:r>
          </a:p>
          <a:p>
            <a:pPr indent="0" algn="l">
              <a:lnSpc>
                <a:spcPct val="100000"/>
              </a:lnSpc>
              <a:buNone/>
            </a:pPr>
            <a:r>
              <a:rPr lang="en-US" sz="1400" b="0" i="0" u="none" strike="noStrike" dirty="0">
                <a:solidFill>
                  <a:srgbClr val="000000"/>
                </a:solidFill>
                <a:effectLst/>
                <a:uFillTx/>
                <a:latin typeface="Arial"/>
              </a:rPr>
              <a:t>This definition is a tool for analysis. We could describe a calculator as an agent, but that description may not add much. The agent framework becomes especially useful when the system has meaningful choices, significant computational resources, and a task environment that requires nontrivial decision making.</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To describe the agent's behavior precisely, we need the terms percept, percept sequence, agent function, and agent program.</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2.1 and Figure 2.1.</a:t>
            </a:r>
          </a:p>
        </p:txBody>
      </p:sp>
      <p:sp>
        <p:nvSpPr>
          <p:cNvPr id="1380" name="PlaceHolder 3"/>
          <p:cNvSpPr>
            <a:spLocks noGrp="1"/>
          </p:cNvSpPr>
          <p:nvPr>
            <p:ph type="sldNum" idx="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171C2EB-21E6-49AB-8C2C-B01A1A5C1C95}"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1" name="PlaceHolder 1"/>
          <p:cNvSpPr>
            <a:spLocks noGrp="1" noRot="1" noChangeAspect="1"/>
          </p:cNvSpPr>
          <p:nvPr>
            <p:ph type="sldImg"/>
          </p:nvPr>
        </p:nvSpPr>
        <p:spPr>
          <a:xfrm>
            <a:off x="685800" y="1143000"/>
            <a:ext cx="5484813" cy="3084513"/>
          </a:xfrm>
          <a:prstGeom prst="rect">
            <a:avLst/>
          </a:prstGeom>
          <a:ln w="0">
            <a:noFill/>
          </a:ln>
        </p:spPr>
      </p:sp>
      <p:sp>
        <p:nvSpPr>
          <p:cNvPr id="138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7  ·  2.1 From Percepts to Agent Functions</a:t>
            </a:r>
          </a:p>
          <a:p>
            <a:pPr indent="0" algn="l">
              <a:lnSpc>
                <a:spcPct val="100000"/>
              </a:lnSpc>
              <a:buNone/>
            </a:pPr>
            <a:r>
              <a:rPr lang="en-US" sz="1150" b="0" i="0" u="none" strike="noStrike" dirty="0">
                <a:solidFill>
                  <a:srgbClr val="595959"/>
                </a:solidFill>
                <a:effectLst/>
                <a:uFillTx/>
                <a:latin typeface="Arial"/>
              </a:rPr>
              <a:t>Suggested time: 4 minutes  ·  Running total: 20 min  ·  Chapter alignment: Section 2.1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A percept is the content currently received by the agent's sensors. In Pac-Man, a percept might include the current position, nearby walls, visible ghosts, remaining pellets, and legal moves. A percept sequence is the complete history of everything the agent has perceived so far.</a:t>
            </a:r>
          </a:p>
          <a:p>
            <a:pPr indent="0" algn="l">
              <a:lnSpc>
                <a:spcPct val="100000"/>
              </a:lnSpc>
              <a:buNone/>
            </a:pPr>
            <a:r>
              <a:rPr lang="en-US" sz="1400" b="0" i="0" u="none" strike="noStrike" dirty="0">
                <a:solidFill>
                  <a:srgbClr val="000000"/>
                </a:solidFill>
                <a:effectLst/>
                <a:uFillTx/>
                <a:latin typeface="Arial"/>
              </a:rPr>
              <a:t>The distinction matters because the best action may depend on history. A single camera frame may not reveal whether a car's lights have just turned on, but two consecutive frames can. A current Pac-Man screen may not reveal how long a power-pellet effect has been active unless the agent remembers when the pellet was eaten.</a:t>
            </a:r>
          </a:p>
          <a:p>
            <a:pPr indent="0" algn="l">
              <a:lnSpc>
                <a:spcPct val="100000"/>
              </a:lnSpc>
              <a:buNone/>
            </a:pPr>
            <a:r>
              <a:rPr lang="en-US" sz="1400" b="0" i="0" u="none" strike="noStrike" dirty="0">
                <a:solidFill>
                  <a:srgbClr val="000000"/>
                </a:solidFill>
                <a:effectLst/>
                <a:uFillTx/>
                <a:latin typeface="Arial"/>
              </a:rPr>
              <a:t>The agent function is an abstract mathematical mapping from percept sequences to actions. It describes what the agent would do for every possible history of percepts. The agent program is the concrete implementation that runs on a physical or computational architecture. A useful teaching phrase is: the function is the behavior we want; the program is the mechanism that computes it.</a:t>
            </a:r>
          </a:p>
          <a:p>
            <a:pPr indent="0" algn="l">
              <a:lnSpc>
                <a:spcPct val="100000"/>
              </a:lnSpc>
              <a:buNone/>
            </a:pPr>
            <a:r>
              <a:rPr lang="en-US" sz="1400" b="0" i="0" u="none" strike="noStrike" dirty="0">
                <a:solidFill>
                  <a:srgbClr val="000000"/>
                </a:solidFill>
                <a:effectLst/>
                <a:uFillTx/>
                <a:latin typeface="Arial"/>
              </a:rPr>
              <a:t>An agent program normally receives the current percept as input. If the agent function depends on the entire percept sequence, the program must store relevant history in memory. This is why internal state becomes central when we move from simple reflex agents to model-based agents.</a:t>
            </a:r>
          </a:p>
          <a:p>
            <a:pPr indent="0" algn="l">
              <a:lnSpc>
                <a:spcPct val="100000"/>
              </a:lnSpc>
              <a:buNone/>
            </a:pPr>
            <a:r>
              <a:rPr lang="en-US" sz="1400" b="0" i="0" u="none" strike="noStrike" dirty="0">
                <a:solidFill>
                  <a:srgbClr val="000000"/>
                </a:solidFill>
                <a:effectLst/>
                <a:uFillTx/>
                <a:latin typeface="Arial"/>
              </a:rPr>
              <a:t>Chapter 2's central engineering problem is not merely to define a rational mapping in principle. It is to produce rational behavior from a program that is compact enough to store, efficient enough to run, and capable of operating in the actual environment.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Now that behavior can be described, we need a standard for deciding whether the behavior is good.</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2.1.</a:t>
            </a:r>
          </a:p>
        </p:txBody>
      </p:sp>
      <p:sp>
        <p:nvSpPr>
          <p:cNvPr id="1383" name="PlaceHolder 3"/>
          <p:cNvSpPr>
            <a:spLocks noGrp="1"/>
          </p:cNvSpPr>
          <p:nvPr>
            <p:ph type="sldNum" idx="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51C8388-C9B2-43B4-B2F9-DC0AD25A37CA}"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4" name="PlaceHolder 1"/>
          <p:cNvSpPr>
            <a:spLocks noGrp="1" noRot="1" noChangeAspect="1"/>
          </p:cNvSpPr>
          <p:nvPr>
            <p:ph type="sldImg"/>
          </p:nvPr>
        </p:nvSpPr>
        <p:spPr>
          <a:xfrm>
            <a:off x="685800" y="1143000"/>
            <a:ext cx="5484813" cy="3084513"/>
          </a:xfrm>
          <a:prstGeom prst="rect">
            <a:avLst/>
          </a:prstGeom>
          <a:ln w="0">
            <a:noFill/>
          </a:ln>
        </p:spPr>
      </p:sp>
      <p:sp>
        <p:nvSpPr>
          <p:cNvPr id="138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8  ·  2.1 The Vacuum World and Its Agent Function</a:t>
            </a:r>
          </a:p>
          <a:p>
            <a:pPr indent="0" algn="l">
              <a:lnSpc>
                <a:spcPct val="100000"/>
              </a:lnSpc>
              <a:buNone/>
            </a:pPr>
            <a:r>
              <a:rPr lang="en-US" sz="1150" b="0" i="0" u="none" strike="noStrike" dirty="0">
                <a:solidFill>
                  <a:srgbClr val="595959"/>
                </a:solidFill>
                <a:effectLst/>
                <a:uFillTx/>
                <a:latin typeface="Arial"/>
              </a:rPr>
              <a:t>Suggested time: 4 minutes  ·  Running total: 24 min  ·  Chapter alignment: Section 2.1, Figures 2.2 and 2.3</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is the example we will return to for the rest of the chapter, so it is worth setting up carefully. The world has two squares, A and B. Each square is either clean or dirty. The agent perceives which square it currently occupies and whether that square contains dirt. It can move left, move right, suck, or do nothing, and it starts in square A.</a:t>
            </a:r>
          </a:p>
          <a:p>
            <a:pPr indent="0" algn="l">
              <a:lnSpc>
                <a:spcPct val="100000"/>
              </a:lnSpc>
              <a:buNone/>
            </a:pPr>
            <a:r>
              <a:rPr lang="en-US" sz="1400" b="0" i="0" u="none" strike="noStrike" dirty="0">
                <a:solidFill>
                  <a:srgbClr val="000000"/>
                </a:solidFill>
                <a:effectLst/>
                <a:uFillTx/>
                <a:latin typeface="Arial"/>
              </a:rPr>
              <a:t>The agent function is the mapping from percept sequences to actions, and here we can actually write part of it down. Look at the first four rows. Given the single percept that we are in A and A is clean, this particular agent moves Right. Given that we are in A and A is dirty, it sucks. The pattern continues for square B. The next two rows show what happens with a percept sequence of length two, and the table continues from there.</a:t>
            </a:r>
          </a:p>
          <a:p>
            <a:pPr indent="0" algn="l">
              <a:lnSpc>
                <a:spcPct val="100000"/>
              </a:lnSpc>
              <a:buNone/>
            </a:pPr>
            <a:r>
              <a:rPr lang="en-US" sz="1400" b="0" i="0" u="none" strike="noStrike" dirty="0">
                <a:solidFill>
                  <a:srgbClr val="000000"/>
                </a:solidFill>
                <a:effectLst/>
                <a:uFillTx/>
                <a:latin typeface="Arial"/>
              </a:rPr>
              <a:t>Two things are worth pausing on. First, the table grows extremely quickly. With four possible percepts and a lifetime of T steps, a complete table needs four plus four squared plus four cubed, and so on, up to four to the T. Without a bound on sequence length the table is infinite. Second, and more importantly for design: this table is an external characterization. It describes what the agent does, not how it does it. The little rule underneath the left figure produces exactly these rows using two comparisons and no memory at all.</a:t>
            </a:r>
          </a:p>
          <a:p>
            <a:pPr indent="0" algn="l">
              <a:lnSpc>
                <a:spcPct val="100000"/>
              </a:lnSpc>
              <a:buNone/>
            </a:pPr>
            <a:r>
              <a:rPr lang="en-US" sz="1400" b="0" i="0" u="none" strike="noStrike" dirty="0">
                <a:solidFill>
                  <a:srgbClr val="000000"/>
                </a:solidFill>
                <a:effectLst/>
                <a:uFillTx/>
                <a:latin typeface="Arial"/>
              </a:rPr>
              <a:t>That gap between the table and the rule is the whole engineering problem of Chapter 2. The obvious question then becomes: what is the right way to fill in the right-hand column? Filling it in differently gives a different agent, and some of those agents are better than others. Deciding which are better requires a standard, which is what rationality gives us.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To say which column is the right one, we need a standard for judging behaviour.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2.1, Figures 2.2 and 2.3.</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6" name="PlaceHolder 1"/>
          <p:cNvSpPr>
            <a:spLocks noGrp="1" noRot="1" noChangeAspect="1"/>
          </p:cNvSpPr>
          <p:nvPr>
            <p:ph type="sldImg"/>
          </p:nvPr>
        </p:nvSpPr>
        <p:spPr>
          <a:xfrm>
            <a:off x="685800" y="1143000"/>
            <a:ext cx="5484813" cy="3084513"/>
          </a:xfrm>
          <a:prstGeom prst="rect">
            <a:avLst/>
          </a:prstGeom>
          <a:ln w="0">
            <a:noFill/>
          </a:ln>
        </p:spPr>
      </p:sp>
      <p:sp>
        <p:nvSpPr>
          <p:cNvPr id="138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9  ·  2.2 Good Behavior: Rationality Is Expected Performance</a:t>
            </a:r>
          </a:p>
          <a:p>
            <a:pPr indent="0" algn="l">
              <a:lnSpc>
                <a:spcPct val="100000"/>
              </a:lnSpc>
              <a:buNone/>
            </a:pPr>
            <a:r>
              <a:rPr lang="en-US" sz="1150" b="0" i="0" u="none" strike="noStrike" dirty="0">
                <a:solidFill>
                  <a:srgbClr val="595959"/>
                </a:solidFill>
                <a:effectLst/>
                <a:uFillTx/>
                <a:latin typeface="Arial"/>
              </a:rPr>
              <a:t>Suggested time: 5 minutes  ·  Running total: 29 min  ·  Chapter alignment: Sections 2.2.1 and 2.2.2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A rational agent is one that does the right thing, but Chapter 2 gives that phrase a technical meaning. The agent's behavior is evaluated by a performance measure. The performance measure scores the consequences produced in the environment, not the internal elegance of the program.</a:t>
            </a:r>
          </a:p>
          <a:p>
            <a:pPr indent="0" algn="l">
              <a:lnSpc>
                <a:spcPct val="100000"/>
              </a:lnSpc>
              <a:buNone/>
            </a:pPr>
            <a:r>
              <a:rPr lang="en-US" sz="1400" b="0" i="0" u="none" strike="noStrike" dirty="0">
                <a:solidFill>
                  <a:srgbClr val="000000"/>
                </a:solidFill>
                <a:effectLst/>
                <a:uFillTx/>
                <a:latin typeface="Arial"/>
              </a:rPr>
              <a:t>What is rational at a particular moment depends on four things. First is the performance measure that defines success. Second is the agent's prior knowledge of the environment. Third is the set of actions available to the agent. Fourth is the percept sequence observed so far. Change any one of these and the rational action may change.</a:t>
            </a:r>
          </a:p>
          <a:p>
            <a:pPr indent="0" algn="l">
              <a:lnSpc>
                <a:spcPct val="100000"/>
              </a:lnSpc>
              <a:buNone/>
            </a:pPr>
            <a:r>
              <a:rPr lang="en-US" sz="1400" b="0" i="0" u="none" strike="noStrike" dirty="0">
                <a:solidFill>
                  <a:srgbClr val="000000"/>
                </a:solidFill>
                <a:effectLst/>
                <a:uFillTx/>
                <a:latin typeface="Arial"/>
              </a:rPr>
              <a:t>The formal idea is that, for each possible percept sequence, the agent should choose the action expected to maximize the performance measure, given the evidence in that percept sequence and the built-in knowledge it has. The word expected is essential. The agent chooses under uncertainty and cannot be judged as if it had access to facts it never perceived.</a:t>
            </a:r>
          </a:p>
          <a:p>
            <a:pPr indent="0" algn="l">
              <a:lnSpc>
                <a:spcPct val="100000"/>
              </a:lnSpc>
              <a:buNone/>
            </a:pPr>
            <a:r>
              <a:rPr lang="en-US" sz="1400" b="0" i="0" u="none" strike="noStrike" dirty="0">
                <a:solidFill>
                  <a:srgbClr val="000000"/>
                </a:solidFill>
                <a:effectLst/>
                <a:uFillTx/>
                <a:latin typeface="Arial"/>
              </a:rPr>
              <a:t>Consider the two-square vacuum agent. The rule 'if dirty, suck; otherwise move to the other square' can be rational if the layout is known, the dirt does not reappear, movement has no cost, the available actions are limited, and the agent correctly perceives location and dirt status. The same rule becomes irrational if movement is penalized, if the environment is larger, if dirt reappears, or if the agent cannot perceive its location.</a:t>
            </a:r>
          </a:p>
          <a:p>
            <a:pPr indent="0" algn="l">
              <a:lnSpc>
                <a:spcPct val="100000"/>
              </a:lnSpc>
              <a:buNone/>
            </a:pPr>
            <a:r>
              <a:rPr lang="en-US" sz="1400" b="0" i="0" u="none" strike="noStrike" dirty="0">
                <a:solidFill>
                  <a:srgbClr val="000000"/>
                </a:solidFill>
                <a:effectLst/>
                <a:uFillTx/>
                <a:latin typeface="Arial"/>
              </a:rPr>
              <a:t>Rationality is therefore not an isolated property of a piece of code. It is a relationship among the agent, its evidence, its capabilities, its objective, and its environment.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Because rational agents optimize what we specify, the design of the performance measure is critical.</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2.2.1 and 2.2.2.</a:t>
            </a:r>
          </a:p>
        </p:txBody>
      </p:sp>
      <p:sp>
        <p:nvSpPr>
          <p:cNvPr id="1388" name="PlaceHolder 3"/>
          <p:cNvSpPr>
            <a:spLocks noGrp="1"/>
          </p:cNvSpPr>
          <p:nvPr>
            <p:ph type="sldNum" idx="1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1F23561-7929-481B-B15B-786F6E02B375}"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 name="PlaceHolder 1"/>
          <p:cNvSpPr>
            <a:spLocks noGrp="1" noRot="1" noChangeAspect="1"/>
          </p:cNvSpPr>
          <p:nvPr>
            <p:ph type="sldImg"/>
          </p:nvPr>
        </p:nvSpPr>
        <p:spPr>
          <a:xfrm>
            <a:off x="685800" y="1143000"/>
            <a:ext cx="5484813" cy="3084513"/>
          </a:xfrm>
          <a:prstGeom prst="rect">
            <a:avLst/>
          </a:prstGeom>
          <a:ln w="0">
            <a:noFill/>
          </a:ln>
        </p:spPr>
      </p:sp>
      <p:sp>
        <p:nvSpPr>
          <p:cNvPr id="139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10  ·  2.2 Rational? Only Under Stated Assumptions</a:t>
            </a:r>
          </a:p>
          <a:p>
            <a:pPr indent="0" algn="l">
              <a:lnSpc>
                <a:spcPct val="100000"/>
              </a:lnSpc>
              <a:buNone/>
            </a:pPr>
            <a:r>
              <a:rPr lang="en-US" sz="1150" b="0" i="0" u="none" strike="noStrike" dirty="0">
                <a:solidFill>
                  <a:srgbClr val="595959"/>
                </a:solidFill>
                <a:effectLst/>
                <a:uFillTx/>
                <a:latin typeface="Arial"/>
              </a:rPr>
              <a:t>Suggested time: 5 minutes  ·  Running total: 34 min  ·  Chapter alignment: Section 2.2.2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We just defined rationality in terms of four things: the performance measure, the agent's prior knowledge, the actions available, and the percept sequence to date. This slide makes that definition do real work.</a:t>
            </a:r>
          </a:p>
          <a:p>
            <a:pPr indent="0" algn="l">
              <a:lnSpc>
                <a:spcPct val="100000"/>
              </a:lnSpc>
              <a:buNone/>
            </a:pPr>
            <a:r>
              <a:rPr lang="en-US" sz="1400" b="0" i="0" u="none" strike="noStrike" dirty="0">
                <a:solidFill>
                  <a:srgbClr val="000000"/>
                </a:solidFill>
                <a:effectLst/>
                <a:uFillTx/>
                <a:latin typeface="Arial"/>
              </a:rPr>
              <a:t>On the left are the assumptions under which the simple vacuum rule is genuinely rational. Notice how specific they have to be. The performance measure awards a point per clean square per time step over a thousand steps. The geography is known but the dirt and the starting square are not. Clean squares stay clean. There are exactly three actions. Perception is accurate. Under those conditions, no other agent does better in expectation, so this one is rational — not merely acceptable, but optimal.</a:t>
            </a:r>
          </a:p>
          <a:p>
            <a:pPr indent="0" algn="l">
              <a:lnSpc>
                <a:spcPct val="100000"/>
              </a:lnSpc>
              <a:buNone/>
            </a:pPr>
            <a:r>
              <a:rPr lang="en-US" sz="1400" b="0" i="0" u="none" strike="noStrike" dirty="0">
                <a:solidFill>
                  <a:srgbClr val="000000"/>
                </a:solidFill>
                <a:effectLst/>
                <a:uFillTx/>
                <a:latin typeface="Arial"/>
              </a:rPr>
              <a:t>Now read the right column. Add a one-point penalty for each movement and the agent's behaviour after the floor is clean turns into pure loss; it should do nothing once it is sure everything is clean. Let dirt reappear and a good agent has to re-check squares. Take away the map and the agent must explore first. Take away the location sensor and the percept [Clean] no longer determines whether Left or Right is correct — that is the infinite-loop case we will see under simple reflex agents.</a:t>
            </a:r>
          </a:p>
          <a:p>
            <a:pPr indent="0" algn="l">
              <a:lnSpc>
                <a:spcPct val="100000"/>
              </a:lnSpc>
              <a:buNone/>
            </a:pPr>
            <a:r>
              <a:rPr lang="en-US" sz="1400" b="0" i="0" u="none" strike="noStrike" dirty="0">
                <a:solidFill>
                  <a:srgbClr val="000000"/>
                </a:solidFill>
                <a:effectLst/>
                <a:uFillTx/>
                <a:latin typeface="Arial"/>
              </a:rPr>
              <a:t>The lesson students should carry out of this slide is that you cannot look at a piece of code and pronounce it rational. Rationality is a relationship among the agent, its evidence, its capabilities, its objective, and its environment. When an exam question asks whether an agent is rational, the correct first move is to ask what is being assumed.</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Because rational agents optimize exactly what we specify, the design of the performance measure deserves its own scrutiny.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2.2.2; Exercise 2.VACR.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1" name="PlaceHolder 1"/>
          <p:cNvSpPr>
            <a:spLocks noGrp="1" noRot="1" noChangeAspect="1"/>
          </p:cNvSpPr>
          <p:nvPr>
            <p:ph type="sldImg"/>
          </p:nvPr>
        </p:nvSpPr>
        <p:spPr>
          <a:xfrm>
            <a:off x="685800" y="1143000"/>
            <a:ext cx="5484813" cy="3084513"/>
          </a:xfrm>
          <a:prstGeom prst="rect">
            <a:avLst/>
          </a:prstGeom>
          <a:ln w="0">
            <a:noFill/>
          </a:ln>
        </p:spPr>
      </p:sp>
      <p:sp>
        <p:nvSpPr>
          <p:cNvPr id="139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11  ·  2.2 Performance Measures: Be Careful What You Ask For</a:t>
            </a:r>
          </a:p>
          <a:p>
            <a:pPr indent="0" algn="l">
              <a:lnSpc>
                <a:spcPct val="100000"/>
              </a:lnSpc>
              <a:buNone/>
            </a:pPr>
            <a:r>
              <a:rPr lang="en-US" sz="1150" b="0" i="0" u="none" strike="noStrike" dirty="0">
                <a:solidFill>
                  <a:srgbClr val="595959"/>
                </a:solidFill>
                <a:effectLst/>
                <a:uFillTx/>
                <a:latin typeface="Arial"/>
              </a:rPr>
              <a:t>Suggested time: 4 minutes  ·  Running total: 38 min  ·  Chapter alignment: Section 2.2.1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A performance measure should reward the state of the environment that we actually want, not a convenient proxy for effort. The vacuum example makes this clear. If we reward the amount of dirt cleaned, a perfectly rational optimizer could clean the dirt, dump it back onto the floor, and clean it again. The measured activity increases, but the real objective is not achieved.</a:t>
            </a:r>
          </a:p>
          <a:p>
            <a:pPr indent="0" algn="l">
              <a:lnSpc>
                <a:spcPct val="100000"/>
              </a:lnSpc>
              <a:buNone/>
            </a:pPr>
            <a:r>
              <a:rPr lang="en-US" sz="1400" b="0" i="0" u="none" strike="noStrike" dirty="0">
                <a:solidFill>
                  <a:srgbClr val="000000"/>
                </a:solidFill>
                <a:effectLst/>
                <a:uFillTx/>
                <a:latin typeface="Arial"/>
              </a:rPr>
              <a:t>A better measure rewards clean squares over time. We might also include penalties for electricity use, noise, damage, or unnecessary movement. The exact measure depends on what the designer and users value. The important principle is to specify the desired outcome rather than prescribing a visible behavior that can be manipulated.</a:t>
            </a:r>
          </a:p>
          <a:p>
            <a:pPr indent="0" algn="l">
              <a:lnSpc>
                <a:spcPct val="100000"/>
              </a:lnSpc>
              <a:buNone/>
            </a:pPr>
            <a:r>
              <a:rPr lang="en-US" sz="1400" b="0" i="0" u="none" strike="noStrike" dirty="0">
                <a:solidFill>
                  <a:srgbClr val="000000"/>
                </a:solidFill>
                <a:effectLst/>
                <a:uFillTx/>
                <a:latin typeface="Arial"/>
              </a:rPr>
              <a:t>This is the same basic problem discussed in Chapter 1 through the King Midas and value-alignment examples. A capable system can optimize an objective faithfully while producing an outcome that people did not intend. Greater capability does not repair a badly specified objective; it may make the consequences more severe.</a:t>
            </a:r>
          </a:p>
          <a:p>
            <a:pPr indent="0" algn="l">
              <a:lnSpc>
                <a:spcPct val="100000"/>
              </a:lnSpc>
              <a:buNone/>
            </a:pPr>
            <a:r>
              <a:rPr lang="en-US" sz="1400" b="0" i="0" u="none" strike="noStrike" dirty="0">
                <a:solidFill>
                  <a:srgbClr val="000000"/>
                </a:solidFill>
                <a:effectLst/>
                <a:uFillTx/>
                <a:latin typeface="Arial"/>
              </a:rPr>
              <a:t>Performance measures can also involve genuine tradeoffs. A taxi should be safe, legal, fast, comfortable, fuel-efficient, and profitable. Those goals can conflict. Chapter 2 assumes that a usable measure can often be specified, but it also acknowledges that the measure may be incomplete, uncertain, or different for different users.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A well-designed objective is necessary, but rationality still does not require perfect knowledge of the future.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2.2.1; Chapter 1 value-alignment discussion.</a:t>
            </a:r>
          </a:p>
        </p:txBody>
      </p:sp>
      <p:sp>
        <p:nvSpPr>
          <p:cNvPr id="1393" name="PlaceHolder 3"/>
          <p:cNvSpPr>
            <a:spLocks noGrp="1"/>
          </p:cNvSpPr>
          <p:nvPr>
            <p:ph type="sldNum" idx="1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5B02162-58B1-49E5-AAFB-F3189063FD36}"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4" name="PlaceHolder 1"/>
          <p:cNvSpPr>
            <a:spLocks noGrp="1" noRot="1" noChangeAspect="1"/>
          </p:cNvSpPr>
          <p:nvPr>
            <p:ph type="sldImg"/>
          </p:nvPr>
        </p:nvSpPr>
        <p:spPr>
          <a:xfrm>
            <a:off x="685800" y="1143000"/>
            <a:ext cx="5484813" cy="3084513"/>
          </a:xfrm>
          <a:prstGeom prst="rect">
            <a:avLst/>
          </a:prstGeom>
          <a:ln w="0">
            <a:noFill/>
          </a:ln>
        </p:spPr>
      </p:sp>
      <p:sp>
        <p:nvSpPr>
          <p:cNvPr id="139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12  ·  2.2.1 Consequentialism and the Trouble with Averages</a:t>
            </a:r>
          </a:p>
          <a:p>
            <a:pPr indent="0" algn="l">
              <a:lnSpc>
                <a:spcPct val="100000"/>
              </a:lnSpc>
              <a:buNone/>
            </a:pPr>
            <a:r>
              <a:rPr lang="en-US" sz="1150" b="0" i="0" u="none" strike="noStrike" dirty="0">
                <a:solidFill>
                  <a:srgbClr val="595959"/>
                </a:solidFill>
                <a:effectLst/>
                <a:uFillTx/>
                <a:latin typeface="Arial"/>
              </a:rPr>
              <a:t>Suggested time: 4 minutes  ·  Running total: 42 min  ·  Chapter alignment: Section 2.2.1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Start with the word at the top, because it is the one students most often miss. Consequentialism is the commitment that we evaluate an agent by what happens as a result of its actions, not by whether its reasoning looks elegant, not by whether it resembles human thought, and not by how hard it appears to be working. The agent acts, the environment moves through a sequence of states, and the performance measure scores that sequence.</a:t>
            </a:r>
          </a:p>
          <a:p>
            <a:pPr indent="0" algn="l">
              <a:lnSpc>
                <a:spcPct val="100000"/>
              </a:lnSpc>
              <a:buNone/>
            </a:pPr>
            <a:r>
              <a:rPr lang="en-US" sz="1400" b="0" i="0" u="none" strike="noStrike" dirty="0">
                <a:solidFill>
                  <a:srgbClr val="000000"/>
                </a:solidFill>
                <a:effectLst/>
                <a:uFillTx/>
                <a:latin typeface="Arial"/>
              </a:rPr>
              <a:t>Now the harder half of the slide. Suppose we fix the obvious bug from the previous slide and reward clean floor rather than dirt collected. We are still not finished. Average cleanliness over time is one number, and two very different agents can produce it. Agent A does a mediocre job constantly. Agent B cleans energetically and then takes long breaks. The average is the same. Which do we prefer?</a:t>
            </a:r>
          </a:p>
          <a:p>
            <a:pPr indent="0" algn="l">
              <a:lnSpc>
                <a:spcPct val="100000"/>
              </a:lnSpc>
              <a:buNone/>
            </a:pPr>
            <a:r>
              <a:rPr lang="en-US" sz="1400" b="0" i="0" u="none" strike="noStrike" dirty="0">
                <a:solidFill>
                  <a:srgbClr val="000000"/>
                </a:solidFill>
                <a:effectLst/>
                <a:uFillTx/>
                <a:latin typeface="Arial"/>
              </a:rPr>
              <a:t>The textbook calls this a fine point of janitorial science and then immediately notes that it is nothing of the kind. It is the same structure as the question of whether a reckless life of highs and lows beats a safe but dull one, or whether an economy of uniform moderate poverty beats one where some live in plenty and others do not. The point for us as designers is that a summary statistic quietly encodes an answer to a question we never explicitly asked. If variance matters, the performance measure has to say so.</a:t>
            </a:r>
          </a:p>
          <a:p>
            <a:pPr indent="0" algn="l">
              <a:lnSpc>
                <a:spcPct val="100000"/>
              </a:lnSpc>
              <a:buNone/>
            </a:pPr>
            <a:r>
              <a:rPr lang="en-US" sz="1400" b="0" i="0" u="none" strike="noStrike" dirty="0">
                <a:solidFill>
                  <a:srgbClr val="000000"/>
                </a:solidFill>
                <a:effectLst/>
                <a:uFillTx/>
                <a:latin typeface="Arial"/>
              </a:rPr>
              <a:t>Finally, the box at the bottom. In practice the designer often cannot write down the right measure at all, because copies of the same software go to different users with different preferences. A taxi passenger may want a leisurely ride or a fast one; a virtual assistant starts out knowing nothing about its new owner. That pushes us toward agents that hold the performance measure as something uncertain and learn about it through interaction — which is exactly the thread picked up in Chapters 16, 18, and 22.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2.2.1.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6" name="PlaceHolder 1"/>
          <p:cNvSpPr>
            <a:spLocks noGrp="1" noRot="1" noChangeAspect="1"/>
          </p:cNvSpPr>
          <p:nvPr>
            <p:ph type="sldImg"/>
          </p:nvPr>
        </p:nvSpPr>
        <p:spPr>
          <a:xfrm>
            <a:off x="685800" y="1143000"/>
            <a:ext cx="5484813" cy="3084513"/>
          </a:xfrm>
          <a:prstGeom prst="rect">
            <a:avLst/>
          </a:prstGeom>
          <a:ln w="0">
            <a:noFill/>
          </a:ln>
        </p:spPr>
      </p:sp>
      <p:sp>
        <p:nvSpPr>
          <p:cNvPr id="139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13  ·  2.2 Rationality Is Not Omniscience</a:t>
            </a:r>
          </a:p>
          <a:p>
            <a:pPr indent="0" algn="l">
              <a:lnSpc>
                <a:spcPct val="100000"/>
              </a:lnSpc>
              <a:buNone/>
            </a:pPr>
            <a:r>
              <a:rPr lang="en-US" sz="1150" b="0" i="0" u="none" strike="noStrike" dirty="0">
                <a:solidFill>
                  <a:srgbClr val="595959"/>
                </a:solidFill>
                <a:effectLst/>
                <a:uFillTx/>
                <a:latin typeface="Arial"/>
              </a:rPr>
              <a:t>Suggested time: 5 minutes  ·  Running total: 47 min  ·  Chapter alignment: Section 2.2.3</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Omniscience means knowing the actual outcome of every action before acting. Rationality does not require omniscience, because omniscience is impossible in realistic environments. A rational agent maximizes expected performance using the evidence available at the time; a perfect agent would maximize the outcome that is actually best after all uncertainty has been resolved.</a:t>
            </a:r>
          </a:p>
          <a:p>
            <a:pPr indent="0" algn="l">
              <a:lnSpc>
                <a:spcPct val="100000"/>
              </a:lnSpc>
              <a:buNone/>
            </a:pPr>
            <a:r>
              <a:rPr lang="en-US" sz="1400" b="0" i="0" u="none" strike="noStrike" dirty="0">
                <a:solidFill>
                  <a:srgbClr val="000000"/>
                </a:solidFill>
                <a:effectLst/>
                <a:uFillTx/>
                <a:latin typeface="Arial"/>
              </a:rPr>
              <a:t>The chapter's street-crossing example illustrates the difference. A person looks, sees no traffic, and begins to cross. An unforeseeable event then causes an accident. The bad outcome does not prove that the original decision was irrational. The decision must be judged from the information available when it was made.</a:t>
            </a:r>
          </a:p>
          <a:p>
            <a:pPr indent="0" algn="l">
              <a:lnSpc>
                <a:spcPct val="100000"/>
              </a:lnSpc>
              <a:buNone/>
            </a:pPr>
            <a:r>
              <a:rPr lang="en-US" sz="1400" b="0" i="0" u="none" strike="noStrike" dirty="0">
                <a:solidFill>
                  <a:srgbClr val="000000"/>
                </a:solidFill>
                <a:effectLst/>
                <a:uFillTx/>
                <a:latin typeface="Arial"/>
              </a:rPr>
              <a:t>Rationality can also require information-gathering actions. Looking both ways before crossing does not directly move the agent toward the other side, but it improves the percept sequence and therefore supports a better later decision. Exploration in an unknown environment serves the same purpose.</a:t>
            </a:r>
          </a:p>
          <a:p>
            <a:pPr indent="0" algn="l">
              <a:lnSpc>
                <a:spcPct val="100000"/>
              </a:lnSpc>
              <a:buNone/>
            </a:pPr>
            <a:r>
              <a:rPr lang="en-US" sz="1400" b="0" i="0" u="none" strike="noStrike" dirty="0">
                <a:solidFill>
                  <a:srgbClr val="000000"/>
                </a:solidFill>
                <a:effectLst/>
                <a:uFillTx/>
                <a:latin typeface="Arial"/>
              </a:rPr>
              <a:t>A rational agent should learn from experience. An agent that relies completely on assumptions supplied by its designer lacks autonomy. The chapter's dung beetle and sphex wasp examples show rigid behavior that continues even after environmental assumptions have been violated. An autonomous artificial agent should use percepts and learning to compensate for incomplete or incorrect prior knowledge.</a:t>
            </a:r>
          </a:p>
          <a:p>
            <a:pPr indent="0" algn="l">
              <a:lnSpc>
                <a:spcPct val="100000"/>
              </a:lnSpc>
              <a:buNone/>
            </a:pPr>
            <a:r>
              <a:rPr lang="en-US" sz="1400" b="0" i="0" u="none" strike="noStrike" dirty="0">
                <a:solidFill>
                  <a:srgbClr val="000000"/>
                </a:solidFill>
                <a:effectLst/>
                <a:uFillTx/>
                <a:latin typeface="Arial"/>
              </a:rPr>
              <a:t>Complete autonomy is not required at the beginning. Designers normally supply initial knowledge, just as biological systems begin with useful reflexes. The goal is that experience gradually makes the agent less dependent on those initial assumptions.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To design such an agent, we must first specify the task environment completely enough to know what success and available interaction mean.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2.2.3.</a:t>
            </a:r>
          </a:p>
        </p:txBody>
      </p:sp>
      <p:sp>
        <p:nvSpPr>
          <p:cNvPr id="1398" name="PlaceHolder 3"/>
          <p:cNvSpPr>
            <a:spLocks noGrp="1"/>
          </p:cNvSpPr>
          <p:nvPr>
            <p:ph type="sldNum" idx="1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85D04F2-3F37-4F1E-B208-3E67B36CD993}"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9" name="PlaceHolder 1"/>
          <p:cNvSpPr>
            <a:spLocks noGrp="1" noRot="1" noChangeAspect="1"/>
          </p:cNvSpPr>
          <p:nvPr>
            <p:ph type="sldImg"/>
          </p:nvPr>
        </p:nvSpPr>
        <p:spPr>
          <a:xfrm>
            <a:off x="685800" y="1143000"/>
            <a:ext cx="5484813" cy="3084513"/>
          </a:xfrm>
          <a:prstGeom prst="rect">
            <a:avLst/>
          </a:prstGeom>
          <a:ln w="0">
            <a:noFill/>
          </a:ln>
        </p:spPr>
      </p:sp>
      <p:sp>
        <p:nvSpPr>
          <p:cNvPr id="140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14  ·  2.2.3 Three Cautionary Agents</a:t>
            </a:r>
          </a:p>
          <a:p>
            <a:pPr indent="0" algn="l">
              <a:lnSpc>
                <a:spcPct val="100000"/>
              </a:lnSpc>
              <a:buNone/>
            </a:pPr>
            <a:r>
              <a:rPr lang="en-US" sz="1150" b="0" i="0" u="none" strike="noStrike" dirty="0">
                <a:solidFill>
                  <a:srgbClr val="595959"/>
                </a:solidFill>
                <a:effectLst/>
                <a:uFillTx/>
                <a:latin typeface="Arial"/>
              </a:rPr>
              <a:t>Suggested time: 5 minutes  ·  Running total: 52 min  ·  Chapter alignment: Section 2.2.3</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These three stories do a lot of work in a small space, and students remember them long after they have forgotten the formal definition, so it is worth telling them properly.</a:t>
            </a:r>
          </a:p>
          <a:p>
            <a:pPr indent="0" algn="l">
              <a:lnSpc>
                <a:spcPct val="100000"/>
              </a:lnSpc>
              <a:buNone/>
            </a:pPr>
            <a:r>
              <a:rPr lang="en-US" sz="1400" b="0" i="0" u="none" strike="noStrike" dirty="0">
                <a:solidFill>
                  <a:srgbClr val="000000"/>
                </a:solidFill>
                <a:effectLst/>
                <a:uFillTx/>
                <a:latin typeface="Arial"/>
              </a:rPr>
              <a:t>The first is the textbook's own first-person example. I am walking along the Champs Élysées, I see an old friend across the street, there is no traffic and nothing else demanding my attention, so I start to cross. Meanwhile a cargo door falls off an airliner at thirty-three thousand feet and I am flattened before I reach the other side. Was crossing irrational? Obviously not. Rationality maximizes expected performance given the evidence; perfection maximizes actual performance. Demanding the second is not merely unfair to the agent — it makes the design problem impossible, because we would need crystal balls.</a:t>
            </a:r>
          </a:p>
          <a:p>
            <a:pPr indent="0" algn="l">
              <a:lnSpc>
                <a:spcPct val="100000"/>
              </a:lnSpc>
              <a:buNone/>
            </a:pPr>
            <a:r>
              <a:rPr lang="en-US" sz="1400" b="0" i="0" u="none" strike="noStrike" dirty="0">
                <a:solidFill>
                  <a:srgbClr val="000000"/>
                </a:solidFill>
                <a:effectLst/>
                <a:uFillTx/>
                <a:latin typeface="Arial"/>
              </a:rPr>
              <a:t>The second and third stories cut the opposite way, and this is the part students often miss. Having established that we do not require omniscience, we have to be careful not to have licensed stupidity. The dung beetle plugs its nest with a ball of dung; remove the ball on the way and it goes through the plugging motions with nothing in its grasp. The sphex wasp drags a caterpillar to its burrow, goes in to check that all is well, then drags the caterpillar inside. Move the caterpillar a few inches while the wasp is inside and it goes back to the dragging step — and it will do that dozens of times without ever concluding that something is wrong.</a:t>
            </a:r>
          </a:p>
          <a:p>
            <a:pPr indent="0" algn="l">
              <a:lnSpc>
                <a:spcPct val="100000"/>
              </a:lnSpc>
              <a:buNone/>
            </a:pPr>
            <a:r>
              <a:rPr lang="en-US" sz="1400" b="0" i="0" u="none" strike="noStrike" dirty="0">
                <a:solidFill>
                  <a:srgbClr val="000000"/>
                </a:solidFill>
                <a:effectLst/>
                <a:uFillTx/>
                <a:latin typeface="Arial"/>
              </a:rPr>
              <a:t>Neither animal is failing to perceive. Each is failing to learn. Their behaviour is rational only in the exact environment their prior knowledge assumes, and it degrades to nonsense the moment that assumption is violated. That is what the chapter means by lacking autonomy. A rational agent should learn what it can, precisely so that it does not depend on the designer having been right about everything.</a:t>
            </a:r>
          </a:p>
          <a:p>
            <a:pPr indent="0" algn="l">
              <a:lnSpc>
                <a:spcPct val="100000"/>
              </a:lnSpc>
              <a:buNone/>
            </a:pPr>
            <a:r>
              <a:rPr lang="en-US" sz="1400" b="0" i="0" u="none" strike="noStrike" dirty="0">
                <a:solidFill>
                  <a:srgbClr val="000000"/>
                </a:solidFill>
                <a:effectLst/>
                <a:uFillTx/>
                <a:latin typeface="Arial"/>
              </a:rPr>
              <a:t>Connect this back to the previous slide's requirement to look before crossing. Gathering information is itself a rational action, because better percepts improve later decisions. An agent that neither gathers information nor learns from it is not excused by our retreat from omniscience.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With rationality defined, we can specify the task an agent is meant to solve.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2.2.3.</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 name="PlaceHolder 1"/>
          <p:cNvSpPr>
            <a:spLocks noGrp="1" noRot="1" noChangeAspect="1"/>
          </p:cNvSpPr>
          <p:nvPr>
            <p:ph type="sldImg"/>
          </p:nvPr>
        </p:nvSpPr>
        <p:spPr>
          <a:xfrm>
            <a:off x="685800" y="1143000"/>
            <a:ext cx="5484813" cy="3084513"/>
          </a:xfrm>
          <a:prstGeom prst="rect">
            <a:avLst/>
          </a:prstGeom>
          <a:ln w="0">
            <a:noFill/>
          </a:ln>
        </p:spPr>
      </p:sp>
      <p:sp>
        <p:nvSpPr>
          <p:cNvPr id="140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15  ·  2.3.1 PEAS: Specify the Task Before Designing the Agent</a:t>
            </a:r>
          </a:p>
          <a:p>
            <a:pPr indent="0" algn="l">
              <a:lnSpc>
                <a:spcPct val="100000"/>
              </a:lnSpc>
              <a:buNone/>
            </a:pPr>
            <a:r>
              <a:rPr lang="en-US" sz="1150" b="0" i="0" u="none" strike="noStrike" dirty="0">
                <a:solidFill>
                  <a:srgbClr val="595959"/>
                </a:solidFill>
                <a:effectLst/>
                <a:uFillTx/>
                <a:latin typeface="Arial"/>
              </a:rPr>
              <a:t>Suggested time: 6 minutes  ·  Running total: 58 min  ·  Chapter alignment: Section 2.3.1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PEAS stands for Performance measure, Environment, Actuators, and Sensors. It is the chapter's basic checklist for specifying a task environment. Before choosing an algorithm, model, or programming language, the designer should define these four elements as fully as possible.</a:t>
            </a:r>
          </a:p>
          <a:p>
            <a:pPr indent="0" algn="l">
              <a:lnSpc>
                <a:spcPct val="100000"/>
              </a:lnSpc>
              <a:buNone/>
            </a:pPr>
            <a:r>
              <a:rPr lang="en-US" sz="1400" b="0" i="0" u="none" strike="noStrike" dirty="0">
                <a:solidFill>
                  <a:srgbClr val="000000"/>
                </a:solidFill>
                <a:effectLst/>
                <a:uFillTx/>
                <a:latin typeface="Arial"/>
              </a:rPr>
              <a:t>For an automated taxi, the performance measure may include reaching the correct destination, safety, compliance with traffic laws, passenger comfort, trip time, fuel use, vehicle wear, cost, and profit. These criteria can conflict, so the designer must decide how tradeoffs will be handled.</a:t>
            </a:r>
          </a:p>
          <a:p>
            <a:pPr indent="0" algn="l">
              <a:lnSpc>
                <a:spcPct val="100000"/>
              </a:lnSpc>
              <a:buNone/>
            </a:pPr>
            <a:r>
              <a:rPr lang="en-US" sz="1400" b="0" i="0" u="none" strike="noStrike" dirty="0">
                <a:solidFill>
                  <a:srgbClr val="000000"/>
                </a:solidFill>
                <a:effectLst/>
                <a:uFillTx/>
                <a:latin typeface="Arial"/>
              </a:rPr>
              <a:t>The environment includes rural roads, city streets, freeways, traffic, pedestrians, animals, road work, police vehicles, weather, potholes, passengers, and other conditions that affect driving. Restricting the environment makes the problem easier. A system designed only for a mapped, controlled route faces a different task from one expected to drive in any country and in any weather.</a:t>
            </a:r>
          </a:p>
          <a:p>
            <a:pPr indent="0" algn="l">
              <a:lnSpc>
                <a:spcPct val="100000"/>
              </a:lnSpc>
              <a:buNone/>
            </a:pPr>
            <a:r>
              <a:rPr lang="en-US" sz="1400" b="0" i="0" u="none" strike="noStrike" dirty="0">
                <a:solidFill>
                  <a:srgbClr val="000000"/>
                </a:solidFill>
                <a:effectLst/>
                <a:uFillTx/>
                <a:latin typeface="Arial"/>
              </a:rPr>
              <a:t>The actuators include steering, acceleration, braking, turn signals, displays, speech, and possibly communication with other vehicles. The sensors include cameras, lidar, radar or ultrasound, GPS, speedometer, accelerometer, engine and fuel sensors, and passenger input through voice or a touchscreen.</a:t>
            </a:r>
          </a:p>
          <a:p>
            <a:pPr indent="0" algn="l">
              <a:lnSpc>
                <a:spcPct val="100000"/>
              </a:lnSpc>
              <a:buNone/>
            </a:pPr>
            <a:r>
              <a:rPr lang="en-US" sz="1400" b="0" i="0" u="none" strike="noStrike" dirty="0">
                <a:solidFill>
                  <a:srgbClr val="000000"/>
                </a:solidFill>
                <a:effectLst/>
                <a:uFillTx/>
                <a:latin typeface="Arial"/>
              </a:rPr>
              <a:t>Notice that PEAS is not an implementation diagram. It does not yet tell us whether to use search, machine learning, rules, or probability. It tells us what problem those techniques must solve. If PEAS is vague, the system requirements and the evaluation criteria will also be vague.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shows that the same PEAS structure applies to very different physical and software agents.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2.3.1 and Figure 2.4.</a:t>
            </a:r>
          </a:p>
        </p:txBody>
      </p:sp>
      <p:sp>
        <p:nvSpPr>
          <p:cNvPr id="1403" name="PlaceHolder 3"/>
          <p:cNvSpPr>
            <a:spLocks noGrp="1"/>
          </p:cNvSpPr>
          <p:nvPr>
            <p:ph type="sldNum" idx="1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F5D0334-BEC7-4E19-9106-A1C444F88D2B}"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 name="PlaceHolder 1"/>
          <p:cNvSpPr>
            <a:spLocks noGrp="1" noRot="1" noChangeAspect="1"/>
          </p:cNvSpPr>
          <p:nvPr>
            <p:ph type="sldImg"/>
          </p:nvPr>
        </p:nvSpPr>
        <p:spPr>
          <a:xfrm>
            <a:off x="685800" y="1143000"/>
            <a:ext cx="5484813" cy="3084513"/>
          </a:xfrm>
          <a:prstGeom prst="rect">
            <a:avLst/>
          </a:prstGeom>
          <a:ln w="0">
            <a:noFill/>
          </a:ln>
        </p:spPr>
      </p:sp>
      <p:sp>
        <p:nvSpPr>
          <p:cNvPr id="140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16  ·  2.3.1 PEAS Examples: Agent Types and Task Environments</a:t>
            </a:r>
          </a:p>
          <a:p>
            <a:pPr indent="0" algn="l">
              <a:lnSpc>
                <a:spcPct val="100000"/>
              </a:lnSpc>
              <a:buNone/>
            </a:pPr>
            <a:r>
              <a:rPr lang="en-US" sz="1150" b="0" i="0" u="none" strike="noStrike" dirty="0">
                <a:solidFill>
                  <a:srgbClr val="595959"/>
                </a:solidFill>
                <a:effectLst/>
                <a:uFillTx/>
                <a:latin typeface="Arial"/>
              </a:rPr>
              <a:t>Suggested time: 6 minutes  ·  Running total: 64 min  ·  Chapter alignment: Section 2.3.1 and Figure 2.5</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table applies PEAS to five different systems. The purpose is not to memorize every cell. The purpose is to see that an agent is defined by a complete interaction task, not merely by its algorithm.</a:t>
            </a:r>
          </a:p>
          <a:p>
            <a:pPr indent="0" algn="l">
              <a:lnSpc>
                <a:spcPct val="100000"/>
              </a:lnSpc>
              <a:buNone/>
            </a:pPr>
            <a:r>
              <a:rPr lang="en-US" sz="1400" b="0" i="0" u="none" strike="noStrike" dirty="0">
                <a:solidFill>
                  <a:srgbClr val="000000"/>
                </a:solidFill>
                <a:effectLst/>
                <a:uFillTx/>
                <a:latin typeface="Arial"/>
              </a:rPr>
              <a:t>For a medical diagnosis system, success means a healthy patient at reduced cost. The environment includes the patient, hospital, and staff. The system acts by asking questions, recommending tests, presenting diagnoses, or suggesting treatments. Its sensors are the entered symptoms and findings.</a:t>
            </a:r>
          </a:p>
          <a:p>
            <a:pPr indent="0" algn="l">
              <a:lnSpc>
                <a:spcPct val="100000"/>
              </a:lnSpc>
              <a:buNone/>
            </a:pPr>
            <a:r>
              <a:rPr lang="en-US" sz="1400" b="0" i="0" u="none" strike="noStrike" dirty="0">
                <a:solidFill>
                  <a:srgbClr val="000000"/>
                </a:solidFill>
                <a:effectLst/>
                <a:uFillTx/>
                <a:latin typeface="Arial"/>
              </a:rPr>
              <a:t>A satellite image analysis system receives high-resolution digital imagery and acts by producing a categorization of objects or terrain. A part-picking robot senses with cameras, tactile sensors, and joint-angle sensors, then acts through a jointed arm and hand. A refinery controller receives temperature, pressure, flow, and chemical measurements and controls valves, pumps, heaters, stirrers, and displays. An interactive English tutor receives keyboard or voice input and acts through exercises, feedback, displays, and speech.</a:t>
            </a:r>
          </a:p>
          <a:p>
            <a:pPr indent="0" algn="l">
              <a:lnSpc>
                <a:spcPct val="100000"/>
              </a:lnSpc>
              <a:buNone/>
            </a:pPr>
            <a:r>
              <a:rPr lang="en-US" sz="1400" b="0" i="0" u="none" strike="noStrike" dirty="0">
                <a:solidFill>
                  <a:srgbClr val="000000"/>
                </a:solidFill>
                <a:effectLst/>
                <a:uFillTx/>
                <a:latin typeface="Arial"/>
              </a:rPr>
              <a:t>Physical and virtual environments can both be complex. A software agent may interact with millions of users and billions of objects. The fact that an environment is digital does not automatically make it simple, fully observable, or deterministic.</a:t>
            </a:r>
          </a:p>
          <a:p>
            <a:pPr indent="0" algn="l">
              <a:lnSpc>
                <a:spcPct val="100000"/>
              </a:lnSpc>
              <a:buNone/>
            </a:pPr>
            <a:r>
              <a:rPr lang="en-US" sz="1400" b="0" i="0" u="none" strike="noStrike" dirty="0">
                <a:solidFill>
                  <a:srgbClr val="000000"/>
                </a:solidFill>
                <a:effectLst/>
                <a:uFillTx/>
                <a:latin typeface="Arial"/>
              </a:rPr>
              <a:t>When you design your own agent, use PEAS to expose missing assumptions. If the performance measure says only 'be helpful,' it is not yet measurable. If the sensors do not provide information needed for the requested action, the task may be impossible as specified. If the actuators cannot change the environment in the required way, the architecture is incomplete.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Once the task is specified, the next step is to classify the environment along dimensions that determine the difficulty of agent design.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2.3.1 and Figure 2.5.</a:t>
            </a:r>
          </a:p>
        </p:txBody>
      </p:sp>
      <p:sp>
        <p:nvSpPr>
          <p:cNvPr id="1406" name="PlaceHolder 3"/>
          <p:cNvSpPr>
            <a:spLocks noGrp="1"/>
          </p:cNvSpPr>
          <p:nvPr>
            <p:ph type="sldNum" idx="1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F6ACC57-25BF-4481-B54F-B5501E17E659}"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7" name="PlaceHolder 1"/>
          <p:cNvSpPr>
            <a:spLocks noGrp="1" noRot="1" noChangeAspect="1"/>
          </p:cNvSpPr>
          <p:nvPr>
            <p:ph type="sldImg"/>
          </p:nvPr>
        </p:nvSpPr>
        <p:spPr>
          <a:xfrm>
            <a:off x="685800" y="1143000"/>
            <a:ext cx="5484813" cy="3084513"/>
          </a:xfrm>
          <a:prstGeom prst="rect">
            <a:avLst/>
          </a:prstGeom>
          <a:ln w="0">
            <a:noFill/>
          </a:ln>
        </p:spPr>
      </p:sp>
      <p:sp>
        <p:nvSpPr>
          <p:cNvPr id="140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0000" lnSpcReduction="20000"/>
          </a:bodyPr>
          <a:lstStyle/>
          <a:p>
            <a:pPr indent="0" algn="l">
              <a:lnSpc>
                <a:spcPct val="100000"/>
              </a:lnSpc>
              <a:buNone/>
            </a:pPr>
            <a:r>
              <a:rPr lang="en-US" sz="1400" b="1" i="0" u="none" strike="noStrike" dirty="0">
                <a:solidFill>
                  <a:srgbClr val="1F4E79"/>
                </a:solidFill>
                <a:effectLst/>
                <a:uFillTx/>
                <a:latin typeface="Arial"/>
              </a:rPr>
              <a:t>SLIDE 17  ·  2.3.2 Task Environment Properties</a:t>
            </a:r>
          </a:p>
          <a:p>
            <a:pPr indent="0" algn="l">
              <a:lnSpc>
                <a:spcPct val="100000"/>
              </a:lnSpc>
              <a:buNone/>
            </a:pPr>
            <a:r>
              <a:rPr lang="en-US" sz="1150" b="0" i="0" u="none" strike="noStrike" dirty="0">
                <a:solidFill>
                  <a:srgbClr val="595959"/>
                </a:solidFill>
                <a:effectLst/>
                <a:uFillTx/>
                <a:latin typeface="Arial"/>
              </a:rPr>
              <a:t>Suggested time: 9 minutes  ·  Running total: 73 min  ·  Chapter alignment: Section 2.3.2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Task environments vary along several dimensions. These dimensions matter because they determine what information the agent needs and which agent designs are likely to work.</a:t>
            </a:r>
          </a:p>
          <a:p>
            <a:pPr indent="0" algn="l">
              <a:lnSpc>
                <a:spcPct val="100000"/>
              </a:lnSpc>
              <a:buNone/>
            </a:pPr>
            <a:r>
              <a:rPr lang="en-US" sz="1400" b="0" i="0" u="none" strike="noStrike" dirty="0">
                <a:solidFill>
                  <a:srgbClr val="000000"/>
                </a:solidFill>
                <a:effectLst/>
                <a:uFillTx/>
                <a:latin typeface="Arial"/>
              </a:rPr>
              <a:t>First is fully observable versus partially observable. An environment is fully observable when the sensors provide all aspects of state that are relevant to selecting an action. Partial observability can result from missing information, occlusion, or noisy sensors. Observability is relative to the performance measure: the agent does not need every fact in the universe, only the facts relevant to the decision.</a:t>
            </a:r>
          </a:p>
          <a:p>
            <a:pPr indent="0" algn="l">
              <a:lnSpc>
                <a:spcPct val="100000"/>
              </a:lnSpc>
              <a:buNone/>
            </a:pPr>
            <a:r>
              <a:rPr lang="en-US" sz="1400" b="0" i="0" u="none" strike="noStrike" dirty="0">
                <a:solidFill>
                  <a:srgbClr val="000000"/>
                </a:solidFill>
                <a:effectLst/>
                <a:uFillTx/>
                <a:latin typeface="Arial"/>
              </a:rPr>
              <a:t>Second is single-agent versus multiagent. A crossword puzzle is usually single-agent. Chess is competitive multiagent because the opponent is selecting actions to improve a performance measure that conflicts with ours. Taxi driving is partly cooperative because drivers share an interest in avoiding collisions, and partly competitive because resources such as parking spaces are limited.</a:t>
            </a:r>
          </a:p>
          <a:p>
            <a:pPr indent="0" algn="l">
              <a:lnSpc>
                <a:spcPct val="100000"/>
              </a:lnSpc>
              <a:buNone/>
            </a:pPr>
            <a:r>
              <a:rPr lang="en-US" sz="1400" b="0" i="0" u="none" strike="noStrike" dirty="0">
                <a:solidFill>
                  <a:srgbClr val="000000"/>
                </a:solidFill>
                <a:effectLst/>
                <a:uFillTx/>
                <a:latin typeface="Arial"/>
              </a:rPr>
              <a:t>Third is deterministic versus nondeterministic. In a deterministic environment, the current state and action determine the next state. In a nondeterministic environment, more than one outcome is possible. The chapter uses stochastic for models that assign explicit probabilities to outcomes. Real driving must be treated as uncertain because other drivers, mechanical failures, and unobserved conditions cannot be predicted exactly.</a:t>
            </a:r>
          </a:p>
          <a:p>
            <a:pPr indent="0" algn="l">
              <a:lnSpc>
                <a:spcPct val="100000"/>
              </a:lnSpc>
              <a:buNone/>
            </a:pPr>
            <a:r>
              <a:rPr lang="en-US" sz="1400" b="0" i="0" u="none" strike="noStrike" dirty="0">
                <a:solidFill>
                  <a:srgbClr val="000000"/>
                </a:solidFill>
                <a:effectLst/>
                <a:uFillTx/>
                <a:latin typeface="Arial"/>
              </a:rPr>
              <a:t>Fourth is episodic versus sequential. In an episodic task, each decision is independent of previous decisions. Classifying separate images is often episodic. In a sequential task, current actions affect future states and future choices. Chess, driving, and Pac-Man are sequential.</a:t>
            </a:r>
          </a:p>
          <a:p>
            <a:pPr indent="0" algn="l">
              <a:lnSpc>
                <a:spcPct val="100000"/>
              </a:lnSpc>
              <a:buNone/>
            </a:pPr>
            <a:r>
              <a:rPr lang="en-US" sz="1400" b="0" i="0" u="none" strike="noStrike" dirty="0">
                <a:solidFill>
                  <a:srgbClr val="000000"/>
                </a:solidFill>
                <a:effectLst/>
                <a:uFillTx/>
                <a:latin typeface="Arial"/>
              </a:rPr>
              <a:t>Fifth is static versus dynamic. A static environment does not change while the agent deliberates. A dynamic environment does. A timed chess game is semidynamic: the board may not change during thought, but the performance score changes as the clock runs.</a:t>
            </a:r>
          </a:p>
          <a:p>
            <a:pPr indent="0" algn="l">
              <a:lnSpc>
                <a:spcPct val="100000"/>
              </a:lnSpc>
              <a:buNone/>
            </a:pPr>
            <a:r>
              <a:rPr lang="en-US" sz="1400" b="0" i="0" u="none" strike="noStrike" dirty="0">
                <a:solidFill>
                  <a:srgbClr val="000000"/>
                </a:solidFill>
                <a:effectLst/>
                <a:uFillTx/>
                <a:latin typeface="Arial"/>
              </a:rPr>
              <a:t>Sixth is discrete versus continuous. Chess uses discrete states and actions. Driving has continuous positions, velocities, time, and steering angles, even though digital sensors sample those quantities.</a:t>
            </a:r>
          </a:p>
          <a:p>
            <a:pPr indent="0" algn="l">
              <a:lnSpc>
                <a:spcPct val="100000"/>
              </a:lnSpc>
              <a:buNone/>
            </a:pPr>
            <a:r>
              <a:rPr lang="en-US" sz="1400" b="0" i="0" u="none" strike="noStrike" dirty="0">
                <a:solidFill>
                  <a:srgbClr val="000000"/>
                </a:solidFill>
                <a:effectLst/>
                <a:uFillTx/>
                <a:latin typeface="Arial"/>
              </a:rPr>
              <a:t>Seventh is known versus unknown. This is about whether the agent knows the rules or transition behavior. It is different from observability. Solitaire can be known but partially observable: the rules are known, but hidden cards are not visible. A new video game can be fully observable but initially unknown: the screen shows the complete state, but the player does not yet know what each control does.</a:t>
            </a:r>
          </a:p>
          <a:p>
            <a:pPr indent="0" algn="l">
              <a:lnSpc>
                <a:spcPct val="100000"/>
              </a:lnSpc>
              <a:buNone/>
            </a:pPr>
            <a:r>
              <a:rPr lang="en-US" sz="1400" b="0" i="0" u="none" strike="noStrike" dirty="0">
                <a:solidFill>
                  <a:srgbClr val="000000"/>
                </a:solidFill>
                <a:effectLst/>
                <a:uFillTx/>
                <a:latin typeface="Arial"/>
              </a:rPr>
              <a:t>The hardest general case is partially observable, multiagent, nondeterministic, sequential, dynamic, continuous, and unknown. Real tasks often combine several of these properties, and the classifications are not always absolute. The purpose is to guide design, not to force every task into a perfectly clean category.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Pac-Man gives us a compact environment in which many of these properties are visible at once.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2.3.2 and Figure 2.6.</a:t>
            </a:r>
          </a:p>
        </p:txBody>
      </p:sp>
      <p:sp>
        <p:nvSpPr>
          <p:cNvPr id="1409" name="PlaceHolder 3"/>
          <p:cNvSpPr>
            <a:spLocks noGrp="1"/>
          </p:cNvSpPr>
          <p:nvPr>
            <p:ph type="sldNum" idx="1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406C4A7-A3E0-495F-BDCD-24A7E85105D6}"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 name="PlaceHolder 1"/>
          <p:cNvSpPr>
            <a:spLocks noGrp="1" noRot="1" noChangeAspect="1"/>
          </p:cNvSpPr>
          <p:nvPr>
            <p:ph type="sldImg"/>
          </p:nvPr>
        </p:nvSpPr>
        <p:spPr>
          <a:xfrm>
            <a:off x="685800" y="1143000"/>
            <a:ext cx="5484813" cy="3084513"/>
          </a:xfrm>
          <a:prstGeom prst="rect">
            <a:avLst/>
          </a:prstGeom>
          <a:ln w="0">
            <a:noFill/>
          </a:ln>
        </p:spPr>
      </p:sp>
      <p:sp>
        <p:nvSpPr>
          <p:cNvPr id="141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18  ·  2.3.2 Reading the Fine Print on Three Dimensions</a:t>
            </a:r>
          </a:p>
          <a:p>
            <a:pPr indent="0" algn="l">
              <a:lnSpc>
                <a:spcPct val="100000"/>
              </a:lnSpc>
              <a:buNone/>
            </a:pPr>
            <a:r>
              <a:rPr lang="en-US" sz="1150" b="0" i="0" u="none" strike="noStrike" dirty="0">
                <a:solidFill>
                  <a:srgbClr val="595959"/>
                </a:solidFill>
                <a:effectLst/>
                <a:uFillTx/>
                <a:latin typeface="Arial"/>
              </a:rPr>
              <a:t>Suggested time: 5 minutes  ·  Running total: 78 min  ·  Chapter alignment: Section 2.3.2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The previous slide gave you the seven dimensions as a list. This one covers the three places where students most often lose points, because the textbook's definitions are narrower than the everyday words suggest.</a:t>
            </a:r>
          </a:p>
          <a:p>
            <a:pPr indent="0" algn="l">
              <a:lnSpc>
                <a:spcPct val="100000"/>
              </a:lnSpc>
              <a:buNone/>
            </a:pPr>
            <a:r>
              <a:rPr lang="en-US" sz="1400" b="0" i="0" u="none" strike="noStrike" dirty="0">
                <a:solidFill>
                  <a:srgbClr val="000000"/>
                </a:solidFill>
                <a:effectLst/>
                <a:uFillTx/>
                <a:latin typeface="Arial"/>
              </a:rPr>
              <a:t>First, nondeterministic versus stochastic. Many sources treat these as synonyms. This textbook does not. Both say the next state is not fully determined by the current state and the action. The distinction is whether the model quantifies the uncertainty. A stochastic model says there is a twenty-five percent chance of rain. A nondeterministic model says there is a chance of rain and stops there. So a model is stochastic when it explicitly deals with probabilities. If you write nondeterministic on an exam for a system with a probability distribution attached, you have described it imprecisely.</a:t>
            </a:r>
          </a:p>
          <a:p>
            <a:pPr indent="0" algn="l">
              <a:lnSpc>
                <a:spcPct val="100000"/>
              </a:lnSpc>
              <a:buNone/>
            </a:pPr>
            <a:r>
              <a:rPr lang="en-US" sz="1400" b="0" i="0" u="none" strike="noStrike" dirty="0">
                <a:solidFill>
                  <a:srgbClr val="000000"/>
                </a:solidFill>
                <a:effectLst/>
                <a:uFillTx/>
                <a:latin typeface="Arial"/>
              </a:rPr>
              <a:t>Second, single-agent versus multiagent, and then competitive versus cooperative. The subtle question is not whether another entity exists but whether we should model it as an agent. The test is whether that entity's behaviour is best described as maximizing a performance measure whose value depends on our agent's behaviour. Waves at the beach do not pass that test; a chess opponent does. Chess is competitive because by the rules of the game the opponent's maximization is our minimization. Taxi driving is partially cooperative, because avoiding collisions raises everyone's score, and partially competitive, because only one car fits in the parking space.</a:t>
            </a:r>
          </a:p>
          <a:p>
            <a:pPr indent="0" algn="l">
              <a:lnSpc>
                <a:spcPct val="100000"/>
              </a:lnSpc>
              <a:buNone/>
            </a:pPr>
            <a:r>
              <a:rPr lang="en-US" sz="1400" b="0" i="0" u="none" strike="noStrike" dirty="0">
                <a:solidFill>
                  <a:srgbClr val="000000"/>
                </a:solidFill>
                <a:effectLst/>
                <a:uFillTx/>
                <a:latin typeface="Arial"/>
              </a:rPr>
              <a:t>Third, observability is a spectrum rather than a switch. An environment is effectively fully observable when the sensors detect everything relevant to the choice of action — and what counts as relevant depends on the performance measure, so the same sensors can be sufficient for one objective and insufficient for another. At the far end, an agent with no sensors at all faces an unobservable environment. That sounds hopeless, but Chapter 4 shows that goals can sometimes still be achieved with certainty.</a:t>
            </a:r>
          </a:p>
          <a:p>
            <a:pPr indent="0" algn="l">
              <a:lnSpc>
                <a:spcPct val="100000"/>
              </a:lnSpc>
              <a:buNone/>
            </a:pPr>
            <a:r>
              <a:rPr lang="en-US" sz="1400" b="0" i="0" u="none" strike="noStrike" dirty="0">
                <a:solidFill>
                  <a:srgbClr val="000000"/>
                </a:solidFill>
                <a:effectLst/>
                <a:uFillTx/>
                <a:latin typeface="Arial"/>
              </a:rPr>
              <a:t>The box at the bottom adds semidynamic, which is the one dimension students tend to drop entirely: the environment itself does not change while you deliberate, but your performance score does. Chess with a clock is the standard example.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One pair of dimensions gets confused so often that it deserves its own slide.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2.3.2.</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2" name="PlaceHolder 1"/>
          <p:cNvSpPr>
            <a:spLocks noGrp="1" noRot="1" noChangeAspect="1"/>
          </p:cNvSpPr>
          <p:nvPr>
            <p:ph type="sldImg"/>
          </p:nvPr>
        </p:nvSpPr>
        <p:spPr>
          <a:xfrm>
            <a:off x="685800" y="1143000"/>
            <a:ext cx="5484813" cy="3084513"/>
          </a:xfrm>
          <a:prstGeom prst="rect">
            <a:avLst/>
          </a:prstGeom>
          <a:ln w="0">
            <a:noFill/>
          </a:ln>
        </p:spPr>
      </p:sp>
      <p:sp>
        <p:nvSpPr>
          <p:cNvPr id="141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19  ·  2.3.2 Known Is Not the Same as Observable</a:t>
            </a:r>
          </a:p>
          <a:p>
            <a:pPr indent="0" algn="l">
              <a:lnSpc>
                <a:spcPct val="100000"/>
              </a:lnSpc>
              <a:buNone/>
            </a:pPr>
            <a:r>
              <a:rPr lang="en-US" sz="1150" b="0" i="0" u="none" strike="noStrike" dirty="0">
                <a:solidFill>
                  <a:srgbClr val="595959"/>
                </a:solidFill>
                <a:effectLst/>
                <a:uFillTx/>
                <a:latin typeface="Arial"/>
              </a:rPr>
              <a:t>Suggested time: 4 minutes  ·  Running total: 82 min  ·  Chapter alignment: Section 2.3.2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is the single most common confusion in the whole environment taxonomy, so we are spending a slide on it. Known versus unknown is not a property of the environment at all. It describes the state of knowledge that the agent or the designer has about the laws of physics of the environment — what the actions do, and with what outcomes or outcome probabilities. Observability describes what the sensors deliver at run time. They are independent, and the grid shows all four combinations.</a:t>
            </a:r>
          </a:p>
          <a:p>
            <a:pPr indent="0" algn="l">
              <a:lnSpc>
                <a:spcPct val="100000"/>
              </a:lnSpc>
              <a:buNone/>
            </a:pPr>
            <a:r>
              <a:rPr lang="en-US" sz="1400" b="0" i="0" u="none" strike="noStrike" dirty="0">
                <a:solidFill>
                  <a:srgbClr val="000000"/>
                </a:solidFill>
                <a:effectLst/>
                <a:uFillTx/>
                <a:latin typeface="Arial"/>
              </a:rPr>
              <a:t>Top left, chess. The rules are handed to you and the entire board is visible. Known and fully observable.</a:t>
            </a:r>
          </a:p>
          <a:p>
            <a:pPr indent="0" algn="l">
              <a:lnSpc>
                <a:spcPct val="100000"/>
              </a:lnSpc>
              <a:buNone/>
            </a:pPr>
            <a:r>
              <a:rPr lang="en-US" sz="1400" b="0" i="0" u="none" strike="noStrike" dirty="0">
                <a:solidFill>
                  <a:srgbClr val="000000"/>
                </a:solidFill>
                <a:effectLst/>
                <a:uFillTx/>
                <a:latin typeface="Arial"/>
              </a:rPr>
              <a:t>Top right, solitaire. You know the rules exactly — you could recite them — and you still cannot see the cards that have not been turned over. Known but partially observable.</a:t>
            </a:r>
          </a:p>
          <a:p>
            <a:pPr indent="0" algn="l">
              <a:lnSpc>
                <a:spcPct val="100000"/>
              </a:lnSpc>
              <a:buNone/>
            </a:pPr>
            <a:r>
              <a:rPr lang="en-US" sz="1400" b="0" i="0" u="none" strike="noStrike" dirty="0">
                <a:solidFill>
                  <a:srgbClr val="000000"/>
                </a:solidFill>
                <a:effectLst/>
                <a:uFillTx/>
                <a:latin typeface="Arial"/>
              </a:rPr>
              <a:t>Bottom left, a new video game. The screen shows you the complete game state, so there is nothing hidden, and yet you have no idea what the buttons do until you try them. Fully observable but unknown. This is the case that convinces students the two axes really are independent.</a:t>
            </a:r>
          </a:p>
          <a:p>
            <a:pPr indent="0" algn="l">
              <a:lnSpc>
                <a:spcPct val="100000"/>
              </a:lnSpc>
              <a:buNone/>
            </a:pPr>
            <a:r>
              <a:rPr lang="en-US" sz="1400" b="0" i="0" u="none" strike="noStrike" dirty="0">
                <a:solidFill>
                  <a:srgbClr val="000000"/>
                </a:solidFill>
                <a:effectLst/>
                <a:uFillTx/>
                <a:latin typeface="Arial"/>
              </a:rPr>
              <a:t>Bottom right, driving a rented car in a country you do not know, with unfamiliar traffic laws and nervous passengers. Unknown and partially observable — and the chapter uses precisely this to point out that ordinary taxi driving is hard on every dimension except that the rules are mostly known.</a:t>
            </a:r>
          </a:p>
          <a:p>
            <a:pPr indent="0" algn="l">
              <a:lnSpc>
                <a:spcPct val="100000"/>
              </a:lnSpc>
              <a:buNone/>
            </a:pPr>
            <a:r>
              <a:rPr lang="en-US" sz="1400" b="0" i="0" u="none" strike="noStrike" dirty="0">
                <a:solidFill>
                  <a:srgbClr val="000000"/>
                </a:solidFill>
                <a:effectLst/>
                <a:uFillTx/>
                <a:latin typeface="Arial"/>
              </a:rPr>
              <a:t>The design consequence is on the bottom line. If the environment is unknown, learning is not optional; the agent has to work out how the world responds before it can choose well. And recall from the performance-measure discussion that the objective itself may be unknown, because the person whose preferences matter has not told us. That pulls the user into the task environment as another agent.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With the task specified and the environment classified, we can finally look inside the agent.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2.3.2.</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4" name="PlaceHolder 1"/>
          <p:cNvSpPr>
            <a:spLocks noGrp="1" noRot="1" noChangeAspect="1"/>
          </p:cNvSpPr>
          <p:nvPr>
            <p:ph type="sldImg"/>
          </p:nvPr>
        </p:nvSpPr>
        <p:spPr>
          <a:xfrm>
            <a:off x="685800" y="1143000"/>
            <a:ext cx="5486400" cy="3086100"/>
          </a:xfrm>
          <a:prstGeom prst="rect">
            <a:avLst/>
          </a:prstGeom>
          <a:ln w="0">
            <a:noFill/>
          </a:ln>
        </p:spPr>
      </p:sp>
      <p:sp>
        <p:nvSpPr>
          <p:cNvPr id="141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20  ·  Pac-Man as a Chapter 2 Agent</a:t>
            </a:r>
          </a:p>
          <a:p>
            <a:pPr indent="0" algn="l">
              <a:lnSpc>
                <a:spcPct val="100000"/>
              </a:lnSpc>
              <a:buNone/>
            </a:pPr>
            <a:r>
              <a:rPr lang="en-US" sz="1150" b="0" i="0" u="none" strike="noStrike" dirty="0">
                <a:solidFill>
                  <a:srgbClr val="595959"/>
                </a:solidFill>
                <a:effectLst/>
                <a:uFillTx/>
                <a:latin typeface="Arial"/>
              </a:rPr>
              <a:t>Suggested time: 4 minutes  ·  Running total: 86 min  ·  Chapter alignment: Running example across Sections 2.1-2.4</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Pac-Man is useful because the agent, environment, percepts, actions, and performance measure are easy to see. The agent is Pac-Man. The environment includes the maze, walls, pellets, power pellets, ghosts, score, and timing rules.</a:t>
            </a:r>
          </a:p>
          <a:p>
            <a:pPr indent="0" algn="l">
              <a:lnSpc>
                <a:spcPct val="100000"/>
              </a:lnSpc>
              <a:buNone/>
            </a:pPr>
            <a:r>
              <a:rPr lang="en-US" sz="1400" b="0" i="0" u="none" strike="noStrike" dirty="0">
                <a:solidFill>
                  <a:srgbClr val="000000"/>
                </a:solidFill>
                <a:effectLst/>
                <a:uFillTx/>
                <a:latin typeface="Arial"/>
              </a:rPr>
              <a:t>The percepts depend on what the program is allowed to observe. They may include Pac-Man's position, legal moves, remaining pellets, ghost positions, and power-mode status. The actions are movement commands: left, right, up, down, and sometimes stop.</a:t>
            </a:r>
          </a:p>
          <a:p>
            <a:pPr indent="0" algn="l">
              <a:lnSpc>
                <a:spcPct val="100000"/>
              </a:lnSpc>
              <a:buNone/>
            </a:pPr>
            <a:r>
              <a:rPr lang="en-US" sz="1400" b="0" i="0" u="none" strike="noStrike" dirty="0">
                <a:solidFill>
                  <a:srgbClr val="000000"/>
                </a:solidFill>
                <a:effectLst/>
                <a:uFillTx/>
                <a:latin typeface="Arial"/>
              </a:rPr>
              <a:t>The performance measure might reward score, pellet completion, survival, speed, or a combination. A high score alone may not be enough if the agent repeatedly takes reckless risks. A survival-only measure may produce an agent that hides and never completes the task. The measure determines what rational behavior means.</a:t>
            </a:r>
          </a:p>
          <a:p>
            <a:pPr indent="0" algn="l">
              <a:lnSpc>
                <a:spcPct val="100000"/>
              </a:lnSpc>
              <a:buNone/>
            </a:pPr>
            <a:r>
              <a:rPr lang="en-US" sz="1400" b="0" i="0" u="none" strike="noStrike" dirty="0">
                <a:solidFill>
                  <a:srgbClr val="000000"/>
                </a:solidFill>
                <a:effectLst/>
                <a:uFillTx/>
                <a:latin typeface="Arial"/>
              </a:rPr>
              <a:t>The task is sequential because each movement changes future options. It is dynamic because ghosts move while play continues. It is multiagent if ghost behavior is modeled as goal-directed. It is discrete at the grid level. A simplified implementation may be fully observable, while a richer version can include hidden timers or uncertain ghost behavior.</a:t>
            </a:r>
          </a:p>
          <a:p>
            <a:pPr indent="0" algn="l">
              <a:lnSpc>
                <a:spcPct val="100000"/>
              </a:lnSpc>
              <a:buNone/>
            </a:pPr>
            <a:r>
              <a:rPr lang="en-US" sz="1400" b="0" i="0" u="none" strike="noStrike" dirty="0">
                <a:solidFill>
                  <a:srgbClr val="000000"/>
                </a:solidFill>
                <a:effectLst/>
                <a:uFillTx/>
                <a:latin typeface="Arial"/>
              </a:rPr>
              <a:t>When we run the autonomous Pac-Man code later, we will use this vocabulary to identify the agent program and ask whether it is reflex, model-based, goal-based, utility-based, or a combination.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Before we move inside the agent, we will stress-test a simple reflex Pac-Man program in two maze levels and use its failures to motivate stronger designs.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2.1-2.4; lecture deck Pac-Man example.</a:t>
            </a:r>
          </a:p>
        </p:txBody>
      </p:sp>
      <p:sp>
        <p:nvSpPr>
          <p:cNvPr id="1416" name="PlaceHolder 3"/>
          <p:cNvSpPr>
            <a:spLocks noGrp="1"/>
          </p:cNvSpPr>
          <p:nvPr>
            <p:ph type="sldNum" idx="1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60F0101-BAC8-4665-B9EA-3D4165FC56F4}"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lIns="91440" tIns="45720" rIns="91440" bIns="45720" anchor="t">
            <a:normAutofit fontScale="62500" lnSpcReduction="20000"/>
          </a:bodyPr>
          <a:lstStyle/>
          <a:p>
            <a:pPr indent="0" algn="l">
              <a:lnSpc>
                <a:spcPct val="100000"/>
              </a:lnSpc>
              <a:buNone/>
            </a:pPr>
            <a:r>
              <a:rPr lang="en-US" sz="1400" b="1" i="0" u="none" strike="noStrike" dirty="0">
                <a:solidFill>
                  <a:srgbClr val="1F4E79"/>
                </a:solidFill>
                <a:effectLst/>
                <a:uFillTx/>
                <a:latin typeface="Arial"/>
              </a:rPr>
              <a:t>SLIDE 21  ·  Pac-Man Simple Reflex Demo — Level 1</a:t>
            </a:r>
          </a:p>
          <a:p>
            <a:pPr indent="0" algn="l">
              <a:lnSpc>
                <a:spcPct val="100000"/>
              </a:lnSpc>
              <a:buNone/>
            </a:pPr>
            <a:r>
              <a:rPr lang="en-US" sz="1150" b="0" i="0" u="none" strike="noStrike" dirty="0">
                <a:solidFill>
                  <a:srgbClr val="595959"/>
                </a:solidFill>
                <a:effectLst/>
                <a:uFillTx/>
                <a:latin typeface="Arial"/>
              </a:rPr>
              <a:t>Suggested time: 3 minutes  ·  Running total: 89 min  ·  Chapter alignment: Section 2.4.2; simple reflex agents and motivation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first Pac-Man clip is a deliberately small stress test for a simple reflex agent. Watch the decision trace below the maze rather than just the score. The program receives the current percept, applies an ordered set of condition-action rules, and returns one movement. It has no memory of where it has been, no model of the maze, no explicit goal state, and no utility calculation.</a:t>
            </a:r>
          </a:p>
          <a:p>
            <a:pPr indent="0" algn="l">
              <a:lnSpc>
                <a:spcPct val="100000"/>
              </a:lnSpc>
              <a:buNone/>
            </a:pPr>
            <a:r>
              <a:rPr lang="en-US" sz="1400" b="0" i="0" u="none" strike="noStrike" dirty="0">
                <a:solidFill>
                  <a:srgbClr val="000000"/>
                </a:solidFill>
                <a:effectLst/>
                <a:uFillTx/>
                <a:latin typeface="Arial"/>
              </a:rPr>
              <a:t>At first, that limitation is easy to miss. In a straight corridor, a local rule such as 'eat an adjacent pellet' or 'continue in a legal direction' can look intelligent because the geometry happens to make the locally convenient action also useful globally. The agent earns points and appears to make progress.</a:t>
            </a:r>
          </a:p>
          <a:p>
            <a:pPr indent="0" algn="l">
              <a:lnSpc>
                <a:spcPct val="100000"/>
              </a:lnSpc>
              <a:buNone/>
            </a:pPr>
            <a:r>
              <a:rPr lang="en-US" sz="1400" b="0" i="0" u="none" strike="noStrike" dirty="0">
                <a:solidFill>
                  <a:srgbClr val="000000"/>
                </a:solidFill>
                <a:effectLst/>
                <a:uFillTx/>
                <a:latin typeface="Arial"/>
              </a:rPr>
              <a:t>The important moment comes when useful food is no longer adjacent or when reaching it requires temporarily moving away from the most obvious local direction. The program has no representation of 'remaining food over there' and no route that connects its current square to that food. It can only fire another rule from the current percept.</a:t>
            </a:r>
          </a:p>
          <a:p>
            <a:pPr indent="0" algn="l">
              <a:lnSpc>
                <a:spcPct val="100000"/>
              </a:lnSpc>
              <a:buNone/>
            </a:pPr>
            <a:r>
              <a:rPr lang="en-US" sz="1400" b="0" i="0" u="none" strike="noStrike" dirty="0">
                <a:solidFill>
                  <a:srgbClr val="000000"/>
                </a:solidFill>
                <a:effectLst/>
                <a:uFillTx/>
                <a:latin typeface="Arial"/>
              </a:rPr>
              <a:t>This is the distinction to keep in mind: successful behavior in a simple environment does not prove that the architecture can solve a more demanding version of the task. A reflex agent can be fast and compact while still being brittle when the current percept does not contain enough information for a good long-term choice.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Level 2 keeps the same basic agent design but adds detours and branches, making the architectural limitation much harder to hide.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Embedded Pac-Man simple-reflex demonstration in this deck.</a:t>
            </a:r>
          </a:p>
          <a:p>
            <a:pPr indent="0" algn="l">
              <a:lnSpc>
                <a:spcPct val="100000"/>
              </a:lnSpc>
              <a:buNone/>
            </a:pPr>
            <a:r>
              <a:rPr lang="en-US" sz="1150" b="0" i="0" u="none" strike="noStrike" dirty="0">
                <a:solidFill>
                  <a:srgbClr val="595959"/>
                </a:solidFill>
                <a:effectLst/>
                <a:uFillTx/>
                <a:latin typeface="Arial"/>
              </a:rPr>
              <a:t>AIMA 4e, Section 2.4.2.</a:t>
            </a:r>
          </a:p>
        </p:txBody>
      </p:sp>
      <p:sp>
        <p:nvSpPr>
          <p:cNvPr id="4" name="Slide Number Placeholder 3"/>
          <p:cNvSpPr>
            <a:spLocks noGrp="1"/>
          </p:cNvSpPr>
          <p:nvPr>
            <p:ph type="sldNum" idx="3"/>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lIns="91440" tIns="45720" rIns="91440" bIns="45720" anchor="t">
            <a:normAutofit fontScale="62500" lnSpcReduction="20000"/>
          </a:bodyPr>
          <a:lstStyle/>
          <a:p>
            <a:pPr indent="0" algn="l">
              <a:lnSpc>
                <a:spcPct val="100000"/>
              </a:lnSpc>
              <a:buNone/>
            </a:pPr>
            <a:r>
              <a:rPr lang="en-US" sz="1400" b="1" i="0" u="none" strike="noStrike" dirty="0">
                <a:solidFill>
                  <a:srgbClr val="1F4E79"/>
                </a:solidFill>
                <a:effectLst/>
                <a:uFillTx/>
                <a:latin typeface="Arial"/>
              </a:rPr>
              <a:t>SLIDE 22  ·  Pac-Man Simple Reflex Demo — Level 2</a:t>
            </a:r>
          </a:p>
          <a:p>
            <a:pPr indent="0" algn="l">
              <a:lnSpc>
                <a:spcPct val="100000"/>
              </a:lnSpc>
              <a:buNone/>
            </a:pPr>
            <a:r>
              <a:rPr lang="en-US" sz="1150" b="0" i="0" u="none" strike="noStrike" dirty="0">
                <a:solidFill>
                  <a:srgbClr val="595959"/>
                </a:solidFill>
                <a:effectLst/>
                <a:uFillTx/>
                <a:latin typeface="Arial"/>
              </a:rPr>
              <a:t>Suggested time: 4 minutes  ·  Running total: 93 min  ·  Chapter alignment: Section 2.4.2; limitations of simple reflex behavior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Now the maze has branches and detours. The key experimental control is that the agent program has not become more sophisticated. It still reacts to the current percept with ordered rules, with no remembered route, no internal model of unvisited corridors, and no goal such as 'reach the nearest remaining pellet.' Only the environment has become more demanding.</a:t>
            </a:r>
          </a:p>
          <a:p>
            <a:pPr indent="0" algn="l">
              <a:lnSpc>
                <a:spcPct val="100000"/>
              </a:lnSpc>
              <a:buNone/>
            </a:pPr>
            <a:r>
              <a:rPr lang="en-US" sz="1400" b="0" i="0" u="none" strike="noStrike" dirty="0">
                <a:solidFill>
                  <a:srgbClr val="000000"/>
                </a:solidFill>
                <a:effectLst/>
                <a:uFillTx/>
                <a:latin typeface="Arial"/>
              </a:rPr>
              <a:t>Watch what happens after the easy adjacent pellets disappear. The agent may continue in a default direction, revisit locations, or choose the first legal action even when that action does not make meaningful progress toward the remaining food. From the program's point of view, two locations that produce the same local percept can trigger the same action even when their broader maze contexts call for different choices.</a:t>
            </a:r>
          </a:p>
          <a:p>
            <a:pPr indent="0" algn="l">
              <a:lnSpc>
                <a:spcPct val="100000"/>
              </a:lnSpc>
              <a:buNone/>
            </a:pPr>
            <a:r>
              <a:rPr lang="en-US" sz="1400" b="0" i="0" u="none" strike="noStrike" dirty="0">
                <a:solidFill>
                  <a:srgbClr val="000000"/>
                </a:solidFill>
                <a:effectLst/>
                <a:uFillTx/>
                <a:latin typeface="Arial"/>
              </a:rPr>
              <a:t>This is why environment classification matters. A rule set can look adequate when the task effectively reduces to local reactions, then fail when success becomes sequential and requires a multi-step route. The failure is not that the program is too slow. It is that the information used by the decision procedure is too weak for the task.</a:t>
            </a:r>
          </a:p>
          <a:p>
            <a:pPr indent="0" algn="l">
              <a:lnSpc>
                <a:spcPct val="100000"/>
              </a:lnSpc>
              <a:buNone/>
            </a:pPr>
            <a:r>
              <a:rPr lang="en-US" sz="1400" b="0" i="0" u="none" strike="noStrike" dirty="0">
                <a:solidFill>
                  <a:srgbClr val="000000"/>
                </a:solidFill>
                <a:effectLst/>
                <a:uFillTx/>
                <a:latin typeface="Arial"/>
              </a:rPr>
              <a:t>Also notice what is not happening: the agent is not exploring a search frontier. It is not storing visited states, expanding successor states, selecting a target pellet, or reconstructing a path. Those are planning operations, and they require additional state and problem structure beyond a simple reflex mapping.</a:t>
            </a:r>
          </a:p>
          <a:p>
            <a:pPr indent="0" algn="l">
              <a:lnSpc>
                <a:spcPct val="100000"/>
              </a:lnSpc>
              <a:buNone/>
            </a:pPr>
            <a:r>
              <a:rPr lang="en-US" sz="1400" b="1" i="0" u="none" strike="noStrike" dirty="0">
                <a:solidFill>
                  <a:srgbClr val="0B5F55"/>
                </a:solidFill>
                <a:effectLst/>
                <a:uFillTx/>
                <a:latin typeface="Arial"/>
              </a:rPr>
              <a:t>answer: </a:t>
            </a:r>
            <a:r>
              <a:rPr lang="en-US" sz="1400" b="0" i="0" u="none" strike="noStrike" dirty="0">
                <a:solidFill>
                  <a:srgbClr val="0B5F55"/>
                </a:solidFill>
                <a:effectLst/>
                <a:uFillTx/>
                <a:latin typeface="Arial"/>
              </a:rPr>
              <a:t>Their broader context, history, route structure, or goals can differ. A current-percept-only rule cannot represent those differences.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separates the root architectural problem from the search algorithm that could be used inside a stronger agent.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Embedded Pac-Man simple-reflex demonstration in this deck.</a:t>
            </a:r>
          </a:p>
          <a:p>
            <a:pPr indent="0" algn="l">
              <a:lnSpc>
                <a:spcPct val="100000"/>
              </a:lnSpc>
              <a:buNone/>
            </a:pPr>
            <a:r>
              <a:rPr lang="en-US" sz="1150" b="0" i="0" u="none" strike="noStrike" dirty="0">
                <a:solidFill>
                  <a:srgbClr val="595959"/>
                </a:solidFill>
                <a:effectLst/>
                <a:uFillTx/>
                <a:latin typeface="Arial"/>
              </a:rPr>
              <a:t>AIMA 4e, Sections 2.3.2 and 2.4.2.</a:t>
            </a:r>
          </a:p>
        </p:txBody>
      </p:sp>
      <p:sp>
        <p:nvSpPr>
          <p:cNvPr id="4" name="Slide Number Placeholder 3"/>
          <p:cNvSpPr>
            <a:spLocks noGrp="1"/>
          </p:cNvSpPr>
          <p:nvPr>
            <p:ph type="sldNum" idx="3"/>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7" name="PlaceHolder 1"/>
          <p:cNvSpPr>
            <a:spLocks noGrp="1" noRot="1" noChangeAspect="1"/>
          </p:cNvSpPr>
          <p:nvPr>
            <p:ph type="sldImg"/>
          </p:nvPr>
        </p:nvSpPr>
        <p:spPr>
          <a:xfrm>
            <a:off x="0" y="763588"/>
            <a:ext cx="0" cy="0"/>
          </a:xfrm>
          <a:prstGeom prst="rect">
            <a:avLst/>
          </a:prstGeom>
          <a:ln w="0">
            <a:noFill/>
          </a:ln>
        </p:spPr>
      </p:sp>
      <p:sp>
        <p:nvSpPr>
          <p:cNvPr id="1418" name="PlaceHolder 2"/>
          <p:cNvSpPr>
            <a:spLocks noGrp="1"/>
          </p:cNvSpPr>
          <p:nvPr>
            <p:ph type="body"/>
          </p:nvPr>
        </p:nvSpPr>
        <p:spPr>
          <a:xfrm>
            <a:off x="777240" y="4777560"/>
            <a:ext cx="6217200" cy="4525560"/>
          </a:xfrm>
          <a:prstGeom prst="rect">
            <a:avLst/>
          </a:prstGeom>
          <a:noFill/>
          <a:ln w="0">
            <a:noFill/>
          </a:ln>
        </p:spPr>
        <p:txBody>
          <a:bodyPr lIns="91440" tIns="45720" rIns="91440" bIns="45720" anchor="t">
            <a:normAutofit fontScale="62500" lnSpcReduction="20000"/>
          </a:bodyPr>
          <a:lstStyle/>
          <a:p>
            <a:pPr indent="0" algn="l">
              <a:lnSpc>
                <a:spcPct val="100000"/>
              </a:lnSpc>
              <a:buNone/>
            </a:pPr>
            <a:r>
              <a:rPr lang="en-US" sz="1400" b="1" i="0" u="none" strike="noStrike" dirty="0">
                <a:solidFill>
                  <a:srgbClr val="1F4E79"/>
                </a:solidFill>
                <a:effectLst/>
                <a:uFillTx/>
                <a:latin typeface="Arial"/>
              </a:rPr>
              <a:t>SLIDE 23  ·  What breaks in Levels 1 and 2</a:t>
            </a:r>
          </a:p>
          <a:p>
            <a:pPr indent="0" algn="l">
              <a:lnSpc>
                <a:spcPct val="100000"/>
              </a:lnSpc>
              <a:buNone/>
            </a:pPr>
            <a:r>
              <a:rPr lang="en-US" sz="1150" b="0" i="0" u="none" strike="noStrike" dirty="0">
                <a:solidFill>
                  <a:srgbClr val="595959"/>
                </a:solidFill>
                <a:effectLst/>
                <a:uFillTx/>
                <a:latin typeface="Arial"/>
              </a:rPr>
              <a:t>Suggested time: 5 minutes  ·  Running total: 98 min  ·  Chapter alignment: Sections 2.4.2 and 2.4.4; bridge from reflex behavior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These two demonstrations fail for a specific reason: the agent is making local decisions without constructing a route to the remaining food. Its rules can react to adjacent pellets and legal moves, but once useful food is not adjacent, the agent has no search frontier, no record of unvisited corridors, and no explicit target that defines where a route should end.</a:t>
            </a:r>
          </a:p>
          <a:p>
            <a:pPr indent="0" algn="l">
              <a:lnSpc>
                <a:spcPct val="100000"/>
              </a:lnSpc>
              <a:buNone/>
            </a:pPr>
            <a:r>
              <a:rPr lang="en-US" sz="1400" b="0" i="0" u="none" strike="noStrike" dirty="0">
                <a:solidFill>
                  <a:srgbClr val="000000"/>
                </a:solidFill>
                <a:effectLst/>
                <a:uFillTx/>
                <a:latin typeface="Arial"/>
              </a:rPr>
              <a:t>The middle-left box is important because it prevents a category error. This is not a breadth-first-search failure. Breadth-first search is never called by the simple reflex program. The program is doing exactly what its architecture says to do: current percept, ordered rule, action. Blaming BFS would be like blaming a database query that the program never executed.</a:t>
            </a:r>
          </a:p>
          <a:p>
            <a:pPr indent="0" algn="l">
              <a:lnSpc>
                <a:spcPct val="100000"/>
              </a:lnSpc>
              <a:buNone/>
            </a:pPr>
            <a:r>
              <a:rPr lang="en-US" sz="1400" b="0" i="0" u="none" strike="noStrike" dirty="0">
                <a:solidFill>
                  <a:srgbClr val="000000"/>
                </a:solidFill>
                <a:effectLst/>
                <a:uFillTx/>
                <a:latin typeface="Arial"/>
              </a:rPr>
              <a:t>What would BFS add? Given a state representation, a successor function, and a selected goal, BFS can expand reachable grid states level by level and return a shortest path in an unweighted maze. That means it can find a route whose first step temporarily moves away from the visible pellet, something a purely local rule may never choose.</a:t>
            </a:r>
          </a:p>
          <a:p>
            <a:pPr indent="0" algn="l">
              <a:lnSpc>
                <a:spcPct val="100000"/>
              </a:lnSpc>
              <a:buNone/>
            </a:pPr>
            <a:r>
              <a:rPr lang="en-US" sz="1400" b="0" i="0" u="none" strike="noStrike" dirty="0">
                <a:solidFill>
                  <a:srgbClr val="000000"/>
                </a:solidFill>
                <a:effectLst/>
                <a:uFillTx/>
                <a:latin typeface="Arial"/>
              </a:rPr>
              <a:t>But BFS does not supply the rest of the agent design. Before search is useful, the agent still needs a representation of state, knowledge of walls and legal transitions, a policy for selecting which pellet or condition counts as the goal, and a mechanism for turning the returned path into actions. In a changing game, it also needs to notice when the world has changed and decide when to replan.</a:t>
            </a:r>
          </a:p>
          <a:p>
            <a:pPr indent="0" algn="l">
              <a:lnSpc>
                <a:spcPct val="100000"/>
              </a:lnSpc>
              <a:buNone/>
            </a:pPr>
            <a:r>
              <a:rPr lang="en-US" sz="1400" b="0" i="0" u="none" strike="noStrike" dirty="0">
                <a:solidFill>
                  <a:srgbClr val="000000"/>
                </a:solidFill>
                <a:effectLst/>
                <a:uFillTx/>
                <a:latin typeface="Arial"/>
              </a:rPr>
              <a:t>So the bottom line has two parts. The root cause of the observed behavior is no memory, no model, and no goal. BFS can add route search, but route search by itself is not a complete theory of intelligent behavior.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Even after we add BFS as a planner, several limitations remain, especially once the world becomes dynamic or the objective is richer than minimum number of moves.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2.4.2 and 2.4.4; search terminology used here as a</a:t>
            </a:r>
          </a:p>
          <a:p>
            <a:pPr indent="0" algn="l">
              <a:lnSpc>
                <a:spcPct val="100000"/>
              </a:lnSpc>
              <a:buNone/>
            </a:pPr>
            <a:r>
              <a:rPr lang="en-US" sz="1150" b="0" i="0" u="none" strike="noStrike" dirty="0">
                <a:solidFill>
                  <a:srgbClr val="595959"/>
                </a:solidFill>
                <a:effectLst/>
                <a:uFillTx/>
                <a:latin typeface="Arial"/>
              </a:rPr>
              <a:t>forward reference to the next unit.</a:t>
            </a:r>
          </a:p>
          <a:p>
            <a:pPr indent="0" algn="l">
              <a:lnSpc>
                <a:spcPct val="100000"/>
              </a:lnSpc>
              <a:buNone/>
            </a:pPr>
            <a:r>
              <a:rPr lang="en-US" sz="1150" b="0" i="0" u="none" strike="noStrike" dirty="0">
                <a:solidFill>
                  <a:srgbClr val="595959"/>
                </a:solidFill>
                <a:effectLst/>
                <a:uFillTx/>
                <a:latin typeface="Arial"/>
              </a:rPr>
              <a:t>Pac-Man demonstrations and analysis on this slide.</a:t>
            </a:r>
          </a:p>
        </p:txBody>
      </p:sp>
      <p:sp>
        <p:nvSpPr>
          <p:cNvPr id="1419" name="PlaceHolder 3"/>
          <p:cNvSpPr>
            <a:spLocks noGrp="1"/>
          </p:cNvSpPr>
          <p:nvPr>
            <p:ph type="sldNum" idx="17"/>
          </p:nvPr>
        </p:nvSpPr>
        <p:spPr>
          <a:xfrm>
            <a:off x="4399200" y="9555480"/>
            <a:ext cx="3372480" cy="502200"/>
          </a:xfrm>
          <a:prstGeom prst="rect">
            <a:avLst/>
          </a:prstGeom>
          <a:noFill/>
          <a:ln w="0">
            <a:noFill/>
          </a:ln>
        </p:spPr>
        <p:txBody>
          <a:bodyPr lIns="0" tIns="0" rIns="0" bIns="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7C483039-C438-4438-84BB-262BDF4526EF}" type="slidenum">
              <a:rPr lang="en-US" sz="1400" b="0" u="none" strike="noStrike">
                <a:solidFill>
                  <a:srgbClr val="000000"/>
                </a:solidFill>
                <a:effectLst/>
                <a:uFillTx/>
                <a:latin typeface="Times New Roman"/>
                <a:ea typeface="+mn-ea"/>
              </a:rPr>
              <a:t>23</a:t>
            </a:fld>
            <a:endParaRPr lang="en-US" sz="14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0" name="PlaceHolder 1"/>
          <p:cNvSpPr>
            <a:spLocks noGrp="1" noRot="1" noChangeAspect="1"/>
          </p:cNvSpPr>
          <p:nvPr>
            <p:ph type="sldImg"/>
          </p:nvPr>
        </p:nvSpPr>
        <p:spPr>
          <a:xfrm>
            <a:off x="0" y="763588"/>
            <a:ext cx="0" cy="0"/>
          </a:xfrm>
          <a:prstGeom prst="rect">
            <a:avLst/>
          </a:prstGeom>
          <a:ln w="0">
            <a:noFill/>
          </a:ln>
        </p:spPr>
      </p:sp>
      <p:sp>
        <p:nvSpPr>
          <p:cNvPr id="1421" name="PlaceHolder 2"/>
          <p:cNvSpPr>
            <a:spLocks noGrp="1"/>
          </p:cNvSpPr>
          <p:nvPr>
            <p:ph type="body"/>
          </p:nvPr>
        </p:nvSpPr>
        <p:spPr>
          <a:xfrm>
            <a:off x="777240" y="4777560"/>
            <a:ext cx="6217200" cy="452556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24  ·  BFS helps with reachability, but it is still limited</a:t>
            </a:r>
          </a:p>
          <a:p>
            <a:pPr indent="0" algn="l">
              <a:lnSpc>
                <a:spcPct val="100000"/>
              </a:lnSpc>
              <a:buNone/>
            </a:pPr>
            <a:r>
              <a:rPr lang="en-US" sz="1150" b="0" i="0" u="none" strike="noStrike" dirty="0">
                <a:solidFill>
                  <a:srgbClr val="595959"/>
                </a:solidFill>
                <a:effectLst/>
                <a:uFillTx/>
                <a:latin typeface="Arial"/>
              </a:rPr>
              <a:t>Suggested time: 5 minutes  ·  Running total: 103 min  ·  Chapter alignment: Section 2.4.4; forward reference to search and</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slide shows exactly where BFS fits. Start with a grid state containing Pac-Man's position, the walls, and the relevant food configuration. BFS places the start state in a queue, expands states level by level, records a visited set to avoid cycling, and when it reaches a selected goal it can reconstruct a shortest path in an unweighted graph. The agent then executes the next action from that path.</a:t>
            </a:r>
          </a:p>
          <a:p>
            <a:pPr indent="0" algn="l">
              <a:lnSpc>
                <a:spcPct val="100000"/>
              </a:lnSpc>
              <a:buNone/>
            </a:pPr>
            <a:r>
              <a:rPr lang="en-US" sz="1400" b="0" i="0" u="none" strike="noStrike" dirty="0">
                <a:solidFill>
                  <a:srgbClr val="000000"/>
                </a:solidFill>
                <a:effectLst/>
                <a:uFillTx/>
                <a:latin typeface="Arial"/>
              </a:rPr>
              <a:t>That solves reachability, but it does not solve the entire decision problem. The first limitation is the static-model assumption. Classic BFS searches a graph as though the state-transition structure remains fixed during the search. In Pac-Man, ghosts move, frightened timers expire, and pellets disappear after they are eaten. A practical agent therefore has to observe again and replan when the state changes.</a:t>
            </a:r>
          </a:p>
          <a:p>
            <a:pPr indent="0" algn="l">
              <a:lnSpc>
                <a:spcPct val="100000"/>
              </a:lnSpc>
              <a:buNone/>
            </a:pPr>
            <a:r>
              <a:rPr lang="en-US" sz="1400" b="0" i="0" u="none" strike="noStrike" dirty="0">
                <a:solidFill>
                  <a:srgbClr val="000000"/>
                </a:solidFill>
                <a:effectLst/>
                <a:uFillTx/>
                <a:latin typeface="Arial"/>
              </a:rPr>
              <a:t>The second limitation is the objective. BFS minimizes the number of edges. It does not automatically minimize danger, maximize score, time a power pellet, trade speed against safety, or reason about probabilities. Once actions have different costs, uniform-cost search becomes more appropriate; with informative heuristics, A* can reduce search; and when several uncertain outcomes must be ranked, utility-based reasoning becomes relevant.</a:t>
            </a:r>
          </a:p>
          <a:p>
            <a:pPr indent="0" algn="l">
              <a:lnSpc>
                <a:spcPct val="100000"/>
              </a:lnSpc>
              <a:buNone/>
            </a:pPr>
            <a:r>
              <a:rPr lang="en-US" sz="1400" b="0" i="0" u="none" strike="noStrike" dirty="0">
                <a:solidFill>
                  <a:srgbClr val="000000"/>
                </a:solidFill>
                <a:effectLst/>
                <a:uFillTx/>
                <a:latin typeface="Arial"/>
              </a:rPr>
              <a:t>The third limitation is state explosion. A state containing only position is small. Add the set of remaining pellets, ghost positions, frightened timers, and other variables, and the number of distinct states grows rapidly. BFS is memory intensive because it stores a frontier and a visited set, so a richer representation can become expensive before the policy becomes strategically strong.</a:t>
            </a:r>
          </a:p>
          <a:p>
            <a:pPr indent="0" algn="l">
              <a:lnSpc>
                <a:spcPct val="100000"/>
              </a:lnSpc>
              <a:buNone/>
            </a:pPr>
            <a:r>
              <a:rPr lang="en-US" sz="1400" b="0" i="0" u="none" strike="noStrike" dirty="0">
                <a:solidFill>
                  <a:srgbClr val="000000"/>
                </a:solidFill>
                <a:effectLst/>
                <a:uFillTx/>
                <a:latin typeface="Arial"/>
              </a:rPr>
              <a:t>The takeaway is architectural. BFS is a planning component that can live inside a model-based or goal-based agent. It is not a substitute for the agent architecture. The agent still needs percepts, internal state or a world model, a goal policy, action execution, and repeated interaction with the environment.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With that motivation in place, we can now formalize what sits inside an agent: the architecture that provides capabilities and the program that maps percepts to actions.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2.4.4; BFS details are a forward reference to the</a:t>
            </a:r>
          </a:p>
          <a:p>
            <a:pPr indent="0" algn="l">
              <a:lnSpc>
                <a:spcPct val="100000"/>
              </a:lnSpc>
              <a:buNone/>
            </a:pPr>
            <a:r>
              <a:rPr lang="en-US" sz="1150" b="0" i="0" u="none" strike="noStrike" dirty="0">
                <a:solidFill>
                  <a:srgbClr val="595959"/>
                </a:solidFill>
                <a:effectLst/>
                <a:uFillTx/>
                <a:latin typeface="Arial"/>
              </a:rPr>
              <a:t>search chapters.</a:t>
            </a:r>
          </a:p>
          <a:p>
            <a:pPr indent="0" algn="l">
              <a:lnSpc>
                <a:spcPct val="100000"/>
              </a:lnSpc>
              <a:buNone/>
            </a:pPr>
            <a:r>
              <a:rPr lang="en-US" sz="1150" b="0" i="0" u="none" strike="noStrike" dirty="0">
                <a:solidFill>
                  <a:srgbClr val="595959"/>
                </a:solidFill>
                <a:effectLst/>
                <a:uFillTx/>
                <a:latin typeface="Arial"/>
              </a:rPr>
              <a:t>Pac-Man demonstration analysis in this deck.</a:t>
            </a:r>
          </a:p>
        </p:txBody>
      </p:sp>
      <p:sp>
        <p:nvSpPr>
          <p:cNvPr id="1422" name="PlaceHolder 3"/>
          <p:cNvSpPr>
            <a:spLocks noGrp="1"/>
          </p:cNvSpPr>
          <p:nvPr>
            <p:ph type="sldNum" idx="18"/>
          </p:nvPr>
        </p:nvSpPr>
        <p:spPr>
          <a:xfrm>
            <a:off x="4399200" y="9555480"/>
            <a:ext cx="3372480" cy="502200"/>
          </a:xfrm>
          <a:prstGeom prst="rect">
            <a:avLst/>
          </a:prstGeom>
          <a:noFill/>
          <a:ln w="0">
            <a:noFill/>
          </a:ln>
        </p:spPr>
        <p:txBody>
          <a:bodyPr lIns="0" tIns="0" rIns="0" bIns="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CBDFECD2-E23F-4FA0-9D30-8024CECB011D}" type="slidenum">
              <a:rPr lang="en-US" sz="1400" b="0" u="none" strike="noStrike">
                <a:solidFill>
                  <a:srgbClr val="000000"/>
                </a:solidFill>
                <a:effectLst/>
                <a:uFillTx/>
                <a:latin typeface="Times New Roman"/>
                <a:ea typeface="+mn-ea"/>
              </a:rPr>
              <a:t>24</a:t>
            </a:fld>
            <a:endParaRPr lang="en-US" sz="14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 name="PlaceHolder 1"/>
          <p:cNvSpPr>
            <a:spLocks noGrp="1" noRot="1" noChangeAspect="1"/>
          </p:cNvSpPr>
          <p:nvPr>
            <p:ph type="sldImg"/>
          </p:nvPr>
        </p:nvSpPr>
        <p:spPr>
          <a:xfrm>
            <a:off x="685800" y="1143000"/>
            <a:ext cx="5486400" cy="3086100"/>
          </a:xfrm>
          <a:prstGeom prst="rect">
            <a:avLst/>
          </a:prstGeom>
          <a:ln w="0">
            <a:noFill/>
          </a:ln>
        </p:spPr>
      </p:sp>
      <p:sp>
        <p:nvSpPr>
          <p:cNvPr id="142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25  ·  2.4 Agent Structure: Architecture + Program</a:t>
            </a:r>
          </a:p>
          <a:p>
            <a:pPr indent="0" algn="l">
              <a:lnSpc>
                <a:spcPct val="100000"/>
              </a:lnSpc>
              <a:buNone/>
            </a:pPr>
            <a:r>
              <a:rPr lang="en-US" sz="1150" b="0" i="0" u="none" strike="noStrike" dirty="0">
                <a:solidFill>
                  <a:srgbClr val="595959"/>
                </a:solidFill>
                <a:effectLst/>
                <a:uFillTx/>
                <a:latin typeface="Arial"/>
              </a:rPr>
              <a:t>Suggested time: 4 minutes  ·  Running total: 107 min  ·  Chapter alignment: Sections 2.4 and 2.4.1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Chapter 2 summarizes an artificial agent with the equation: agent equals architecture plus program. The architecture is the physical or computational platform. It provides sensors, processors, memory, communication interfaces, and actuators. The agent program receives percepts from that architecture and returns actions for the architecture to execute.</a:t>
            </a:r>
          </a:p>
          <a:p>
            <a:pPr indent="0" algn="l">
              <a:lnSpc>
                <a:spcPct val="100000"/>
              </a:lnSpc>
              <a:buNone/>
            </a:pPr>
            <a:r>
              <a:rPr lang="en-US" sz="1400" b="0" i="0" u="none" strike="noStrike" dirty="0">
                <a:solidFill>
                  <a:srgbClr val="000000"/>
                </a:solidFill>
                <a:effectLst/>
                <a:uFillTx/>
                <a:latin typeface="Arial"/>
              </a:rPr>
              <a:t>The program must be appropriate for the architecture. A program that selects the action 'walk forward' is useless on a machine with no means of locomotion. A program that expects lidar data cannot operate correctly if the architecture provides only a keyboard.</a:t>
            </a:r>
          </a:p>
          <a:p>
            <a:pPr indent="0" algn="l">
              <a:lnSpc>
                <a:spcPct val="100000"/>
              </a:lnSpc>
              <a:buNone/>
            </a:pPr>
            <a:r>
              <a:rPr lang="en-US" sz="1400" b="0" i="0" u="none" strike="noStrike" dirty="0">
                <a:solidFill>
                  <a:srgbClr val="000000"/>
                </a:solidFill>
                <a:effectLst/>
                <a:uFillTx/>
                <a:latin typeface="Arial"/>
              </a:rPr>
              <a:t>The agent function remains the abstract mapping from percept sequence to action. The program is one implementation of that mapping. Different programs and architectures can sometimes implement similar behavior, but practical limits such as memory, processing time, sensor quality, and actuator precision affect what can actually be achieved.</a:t>
            </a:r>
          </a:p>
          <a:p>
            <a:pPr indent="0" algn="l">
              <a:lnSpc>
                <a:spcPct val="100000"/>
              </a:lnSpc>
              <a:buNone/>
            </a:pPr>
            <a:r>
              <a:rPr lang="en-US" sz="1400" b="0" i="0" u="none" strike="noStrike" dirty="0">
                <a:solidFill>
                  <a:srgbClr val="000000"/>
                </a:solidFill>
                <a:effectLst/>
                <a:uFillTx/>
                <a:latin typeface="Arial"/>
              </a:rPr>
              <a:t>One conceptually simple implementation is a lookup table containing the correct action for every percept sequence. The next slides use the table-driven agent to show why a complete mapping may be clear in theory but impossible to implement in realistic environments.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table-driven agent is our conceptual baseline for implementing an agent function.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2.4 and 2.4.1.</a:t>
            </a:r>
          </a:p>
        </p:txBody>
      </p:sp>
      <p:sp>
        <p:nvSpPr>
          <p:cNvPr id="1425" name="PlaceHolder 3"/>
          <p:cNvSpPr>
            <a:spLocks noGrp="1"/>
          </p:cNvSpPr>
          <p:nvPr>
            <p:ph type="sldNum" idx="1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5E415A9-C29F-4D26-8CB4-3086102597F3}"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 name="PlaceHolder 1"/>
          <p:cNvSpPr>
            <a:spLocks noGrp="1" noRot="1" noChangeAspect="1"/>
          </p:cNvSpPr>
          <p:nvPr>
            <p:ph type="sldImg"/>
          </p:nvPr>
        </p:nvSpPr>
        <p:spPr>
          <a:xfrm>
            <a:off x="685800" y="1143000"/>
            <a:ext cx="5484813" cy="3084513"/>
          </a:xfrm>
          <a:prstGeom prst="rect">
            <a:avLst/>
          </a:prstGeom>
          <a:ln w="0">
            <a:noFill/>
          </a:ln>
        </p:spPr>
      </p:sp>
      <p:sp>
        <p:nvSpPr>
          <p:cNvPr id="142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26  ·  2.4.1 Table-Driven Agent</a:t>
            </a:r>
          </a:p>
          <a:p>
            <a:pPr indent="0" algn="l">
              <a:lnSpc>
                <a:spcPct val="100000"/>
              </a:lnSpc>
              <a:buNone/>
            </a:pPr>
            <a:r>
              <a:rPr lang="en-US" sz="1150" b="0" i="0" u="none" strike="noStrike" dirty="0">
                <a:solidFill>
                  <a:srgbClr val="595959"/>
                </a:solidFill>
                <a:effectLst/>
                <a:uFillTx/>
                <a:latin typeface="Arial"/>
              </a:rPr>
              <a:t>Suggested time: 5 minutes  ·  Running total: 112 min  ·  Chapter alignment: Section 2.4.1 and Figure 2.7</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is the table-driven agent. It is important because it represents the agent function explicitly, even though it is not a practical design for realistic systems.</a:t>
            </a:r>
          </a:p>
          <a:p>
            <a:pPr indent="0" algn="l">
              <a:lnSpc>
                <a:spcPct val="100000"/>
              </a:lnSpc>
              <a:buNone/>
            </a:pPr>
            <a:r>
              <a:rPr lang="en-US" sz="1400" b="0" i="0" u="none" strike="noStrike" dirty="0">
                <a:solidFill>
                  <a:srgbClr val="000000"/>
                </a:solidFill>
                <a:effectLst/>
                <a:uFillTx/>
                <a:latin typeface="Arial"/>
              </a:rPr>
              <a:t>Read the pseudocode from top to bottom. The function receives the current percept and returns an action. It has two persistent variables. The first is percepts, a sequence that begins empty and retains the complete percept history. The second is table, a fully specified mapping indexed by percept sequences.</a:t>
            </a:r>
          </a:p>
          <a:p>
            <a:pPr indent="0" algn="l">
              <a:lnSpc>
                <a:spcPct val="100000"/>
              </a:lnSpc>
              <a:buNone/>
            </a:pPr>
            <a:r>
              <a:rPr lang="en-US" sz="1400" b="0" i="0" u="none" strike="noStrike" dirty="0">
                <a:solidFill>
                  <a:srgbClr val="000000"/>
                </a:solidFill>
                <a:effectLst/>
                <a:uFillTx/>
                <a:latin typeface="Arial"/>
              </a:rPr>
              <a:t>Each time the function is called, it appends the new percept to the stored sequence. It then performs a lookup using the entire percept history and returns the action stored in the table. If the table contains the correct action for every possible history, the program implements the desired agent function.</a:t>
            </a:r>
          </a:p>
          <a:p>
            <a:pPr indent="0" algn="l">
              <a:lnSpc>
                <a:spcPct val="100000"/>
              </a:lnSpc>
              <a:buNone/>
            </a:pPr>
            <a:r>
              <a:rPr lang="en-US" sz="1400" b="0" i="0" u="none" strike="noStrike" dirty="0">
                <a:solidFill>
                  <a:srgbClr val="000000"/>
                </a:solidFill>
                <a:effectLst/>
                <a:uFillTx/>
                <a:latin typeface="Arial"/>
              </a:rPr>
              <a:t>The design has no need to interpret the percept, reason about goals, estimate state, or generalize from similar situations. All of that work has already been performed by whoever created the table. The program simply remembers and looks up.</a:t>
            </a:r>
          </a:p>
          <a:p>
            <a:pPr indent="0" algn="l">
              <a:lnSpc>
                <a:spcPct val="100000"/>
              </a:lnSpc>
              <a:buNone/>
            </a:pPr>
            <a:r>
              <a:rPr lang="en-US" sz="1400" b="0" i="0" u="none" strike="noStrike" dirty="0">
                <a:solidFill>
                  <a:srgbClr val="000000"/>
                </a:solidFill>
                <a:effectLst/>
                <a:uFillTx/>
                <a:latin typeface="Arial"/>
              </a:rPr>
              <a:t>This makes the table-driven agent useful as a conceptual reference. It demonstrates the difference between an agent function and an agent program. It also makes the scalability problem visible: as the number of possible percepts and the length of the percept history increase, the number of table entries grows explosively.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explains why this correct-in-principle design fails as an engineering solution.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2.4.1 and Figure 2.7.</a:t>
            </a:r>
          </a:p>
        </p:txBody>
      </p:sp>
      <p:sp>
        <p:nvSpPr>
          <p:cNvPr id="1428" name="PlaceHolder 3"/>
          <p:cNvSpPr>
            <a:spLocks noGrp="1"/>
          </p:cNvSpPr>
          <p:nvPr>
            <p:ph type="sldNum" idx="2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BC501BC-67C3-4A48-86AB-5E925DAFDA0F}"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9" name="PlaceHolder 1"/>
          <p:cNvSpPr>
            <a:spLocks noGrp="1" noRot="1" noChangeAspect="1"/>
          </p:cNvSpPr>
          <p:nvPr>
            <p:ph type="sldImg"/>
          </p:nvPr>
        </p:nvSpPr>
        <p:spPr>
          <a:xfrm>
            <a:off x="685800" y="1143000"/>
            <a:ext cx="5484813" cy="3084513"/>
          </a:xfrm>
          <a:prstGeom prst="rect">
            <a:avLst/>
          </a:prstGeom>
          <a:ln w="0">
            <a:noFill/>
          </a:ln>
        </p:spPr>
      </p:sp>
      <p:sp>
        <p:nvSpPr>
          <p:cNvPr id="143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27  ·  Why Table-Driven Agents Fail in Practice</a:t>
            </a:r>
          </a:p>
          <a:p>
            <a:pPr indent="0" algn="l">
              <a:lnSpc>
                <a:spcPct val="100000"/>
              </a:lnSpc>
              <a:buNone/>
            </a:pPr>
            <a:r>
              <a:rPr lang="en-US" sz="1150" b="0" i="0" u="none" strike="noStrike" dirty="0">
                <a:solidFill>
                  <a:srgbClr val="595959"/>
                </a:solidFill>
                <a:effectLst/>
                <a:uFillTx/>
                <a:latin typeface="Arial"/>
              </a:rPr>
              <a:t>Suggested time: 4 minutes  ·  Running total: 116 min  ·  Chapter alignment: Section 2.4.1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The lookup table grows across every possible percept sequence, not merely every current percept. If an agent can receive many different percepts over a long lifetime, the number of possible histories becomes enormous.</a:t>
            </a:r>
          </a:p>
          <a:p>
            <a:pPr indent="0" algn="l">
              <a:lnSpc>
                <a:spcPct val="100000"/>
              </a:lnSpc>
              <a:buNone/>
            </a:pPr>
            <a:r>
              <a:rPr lang="en-US" sz="1400" b="0" i="0" u="none" strike="noStrike" dirty="0">
                <a:solidFill>
                  <a:srgbClr val="000000"/>
                </a:solidFill>
                <a:effectLst/>
                <a:uFillTx/>
                <a:latin typeface="Arial"/>
              </a:rPr>
              <a:t>This creates three separate failures. First is the space problem: no realistic machine can store every entry. Second is the design problem: no human designer can specify the correct action for every history. Third is the learning problem: no agent can experience enough cases to learn every table entry independently.</a:t>
            </a:r>
          </a:p>
          <a:p>
            <a:pPr indent="0" algn="l">
              <a:lnSpc>
                <a:spcPct val="100000"/>
              </a:lnSpc>
              <a:buNone/>
            </a:pPr>
            <a:r>
              <a:rPr lang="en-US" sz="1400" b="0" i="0" u="none" strike="noStrike" dirty="0">
                <a:solidFill>
                  <a:srgbClr val="000000"/>
                </a:solidFill>
                <a:effectLst/>
                <a:uFillTx/>
                <a:latin typeface="Arial"/>
              </a:rPr>
              <a:t>The chapter gives extreme examples from automated driving and chess to show that even tightly defined tasks produce tables far larger than any practical storage system. The precise numbers are less important than the growth pattern. A table treats every percept history as a separate case and receives no benefit from structure, similarity, rules, models, goals, or learned generalization.</a:t>
            </a:r>
          </a:p>
          <a:p>
            <a:pPr indent="0" algn="l">
              <a:lnSpc>
                <a:spcPct val="100000"/>
              </a:lnSpc>
              <a:buNone/>
            </a:pPr>
            <a:r>
              <a:rPr lang="en-US" sz="1400" b="0" i="0" u="none" strike="noStrike" dirty="0">
                <a:solidFill>
                  <a:srgbClr val="000000"/>
                </a:solidFill>
                <a:effectLst/>
                <a:uFillTx/>
                <a:latin typeface="Arial"/>
              </a:rPr>
              <a:t>The table-driven agent still teaches an important lesson. The desired agent function may exist, and a table could represent it in theory, but AI must find compact programs that produce rational behavior without enumerating every possible history. The rest of the agent designs are attempts to exploit structure in the task.</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simplest compact alternative is a reflex agent that uses condition-action rules.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2.4.1.</a:t>
            </a:r>
          </a:p>
        </p:txBody>
      </p:sp>
      <p:sp>
        <p:nvSpPr>
          <p:cNvPr id="1431" name="PlaceHolder 3"/>
          <p:cNvSpPr>
            <a:spLocks noGrp="1"/>
          </p:cNvSpPr>
          <p:nvPr>
            <p:ph type="sldNum" idx="2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09FC01D-F856-4989-9251-CB1D7A53A84A}"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 name="PlaceHolder 1"/>
          <p:cNvSpPr>
            <a:spLocks noGrp="1" noRot="1" noChangeAspect="1"/>
          </p:cNvSpPr>
          <p:nvPr>
            <p:ph type="sldImg"/>
          </p:nvPr>
        </p:nvSpPr>
        <p:spPr>
          <a:xfrm>
            <a:off x="685800" y="1143000"/>
            <a:ext cx="5484813" cy="3084513"/>
          </a:xfrm>
          <a:prstGeom prst="rect">
            <a:avLst/>
          </a:prstGeom>
          <a:ln w="0">
            <a:noFill/>
          </a:ln>
        </p:spPr>
      </p:sp>
      <p:sp>
        <p:nvSpPr>
          <p:cNvPr id="143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28  ·  2.4.1 The Numbers Behind the Failure</a:t>
            </a:r>
          </a:p>
          <a:p>
            <a:pPr indent="0" algn="l">
              <a:lnSpc>
                <a:spcPct val="100000"/>
              </a:lnSpc>
              <a:buNone/>
            </a:pPr>
            <a:r>
              <a:rPr lang="en-US" sz="1150" b="0" i="0" u="none" strike="noStrike" dirty="0">
                <a:solidFill>
                  <a:srgbClr val="595959"/>
                </a:solidFill>
                <a:effectLst/>
                <a:uFillTx/>
                <a:latin typeface="Arial"/>
              </a:rPr>
              <a:t>Suggested time: 4 minutes  ·  Running total: 120 min  ·  Chapter alignment: Section 2.4.1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The previous slide said the table-driven approach is infeasible. This slide is where that claim stops being hand-waving, and the numbers are worth reading out loud because they are genuinely startling.</a:t>
            </a:r>
          </a:p>
          <a:p>
            <a:pPr indent="0" algn="l">
              <a:lnSpc>
                <a:spcPct val="100000"/>
              </a:lnSpc>
              <a:buNone/>
            </a:pPr>
            <a:r>
              <a:rPr lang="en-US" sz="1400" b="0" i="0" u="none" strike="noStrike" dirty="0">
                <a:solidFill>
                  <a:srgbClr val="000000"/>
                </a:solidFill>
                <a:effectLst/>
                <a:uFillTx/>
                <a:latin typeface="Arial"/>
              </a:rPr>
              <a:t>Start with the input rate. One camera on an automated taxi, at thirty frames per second, 1080 by 720 pixels, twenty-four bits of colour, produces roughly seventy megabytes per second. Eight cameras is a typical configuration. Now count the distinct percept sequences an hour of driving could produce and you get a lookup table with more than ten to the six hundred billion entries.</a:t>
            </a:r>
          </a:p>
          <a:p>
            <a:pPr indent="0" algn="l">
              <a:lnSpc>
                <a:spcPct val="100000"/>
              </a:lnSpc>
              <a:buNone/>
            </a:pPr>
            <a:r>
              <a:rPr lang="en-US" sz="1400" b="0" i="0" u="none" strike="noStrike" dirty="0">
                <a:solidFill>
                  <a:srgbClr val="000000"/>
                </a:solidFill>
                <a:effectLst/>
                <a:uFillTx/>
                <a:latin typeface="Arial"/>
              </a:rPr>
              <a:t>That number is hard to feel, so anchor it. Chess — a tiny, closed, perfectly-specified fragment of the world — needs a table with at least ten to the one hundred fifty entries. And the number of atoms in the observable universe is less than ten to the eightieth. Chess alone overruns the physical universe by seventy orders of magnitude.</a:t>
            </a:r>
          </a:p>
          <a:p>
            <a:pPr indent="0" algn="l">
              <a:lnSpc>
                <a:spcPct val="100000"/>
              </a:lnSpc>
              <a:buNone/>
            </a:pPr>
            <a:r>
              <a:rPr lang="en-US" sz="1400" b="0" i="0" u="none" strike="noStrike" dirty="0">
                <a:solidFill>
                  <a:srgbClr val="000000"/>
                </a:solidFill>
                <a:effectLst/>
                <a:uFillTx/>
                <a:latin typeface="Arial"/>
              </a:rPr>
              <a:t>Three consequences follow, and they are independent. No physical agent has the space to store the table. No designer has the time to fill it in. And no agent could ever have enough experience to learn all the right entries. Note that the approach is not incorrect: fill the table in properly and TABLE-DRIVEN-AGENT implements precisely the agent function we wanted. It is correct and unbuildable at the same time, which is a useful thing for students to hold in their heads.</a:t>
            </a:r>
          </a:p>
          <a:p>
            <a:pPr indent="0" algn="l">
              <a:lnSpc>
                <a:spcPct val="100000"/>
              </a:lnSpc>
              <a:buNone/>
            </a:pPr>
            <a:r>
              <a:rPr lang="en-US" sz="1400" b="0" i="0" u="none" strike="noStrike" dirty="0">
                <a:solidFill>
                  <a:srgbClr val="000000"/>
                </a:solidFill>
                <a:effectLst/>
                <a:uFillTx/>
                <a:latin typeface="Arial"/>
              </a:rPr>
              <a:t>The box in the middle is the optimistic half. Before the 1970s, square roots came out of large printed tables that people carried around. Newton's method, five lines on a calculator, made all of those tables obsolete — not by compressing them, but by capturing the structure that generated them. The question that organizes the rest of this chapter and much of this course is whether we can do for general intelligent behaviour what Newton did for square roots. The chapter's answer is yes, and everything from simple reflex agents onward is an attempt to demonstrate it.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first and smallest such program is the simple reflex agent.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2.4.1.</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 name="PlaceHolder 1"/>
          <p:cNvSpPr>
            <a:spLocks noGrp="1" noRot="1" noChangeAspect="1"/>
          </p:cNvSpPr>
          <p:nvPr>
            <p:ph type="sldImg"/>
          </p:nvPr>
        </p:nvSpPr>
        <p:spPr>
          <a:xfrm>
            <a:off x="685800" y="1143000"/>
            <a:ext cx="5484813" cy="3084513"/>
          </a:xfrm>
          <a:prstGeom prst="rect">
            <a:avLst/>
          </a:prstGeom>
          <a:ln w="0">
            <a:noFill/>
          </a:ln>
        </p:spPr>
      </p:sp>
      <p:sp>
        <p:nvSpPr>
          <p:cNvPr id="143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29  ·  2.4.2 Simple Reflex Agents: Vacuum Pseudocode</a:t>
            </a:r>
          </a:p>
          <a:p>
            <a:pPr indent="0" algn="l">
              <a:lnSpc>
                <a:spcPct val="100000"/>
              </a:lnSpc>
              <a:buNone/>
            </a:pPr>
            <a:r>
              <a:rPr lang="en-US" sz="1150" b="0" i="0" u="none" strike="noStrike" dirty="0">
                <a:solidFill>
                  <a:srgbClr val="595959"/>
                </a:solidFill>
                <a:effectLst/>
                <a:uFillTx/>
                <a:latin typeface="Arial"/>
              </a:rPr>
              <a:t>Suggested time: 5 minutes  ·  Running total: 125 min  ·  Chapter alignment: Section 2.4.2 and Figure 2.8</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A simple reflex agent selects an action from the current percept and ignores the rest of the percept history. The vacuum pseudocode shows the idea in its smallest useful form.</a:t>
            </a:r>
          </a:p>
          <a:p>
            <a:pPr indent="0" algn="l">
              <a:lnSpc>
                <a:spcPct val="100000"/>
              </a:lnSpc>
              <a:buNone/>
            </a:pPr>
            <a:r>
              <a:rPr lang="en-US" sz="1400" b="0" i="0" u="none" strike="noStrike" dirty="0">
                <a:solidFill>
                  <a:srgbClr val="000000"/>
                </a:solidFill>
                <a:effectLst/>
                <a:uFillTx/>
                <a:latin typeface="Arial"/>
              </a:rPr>
              <a:t>The input contains location and status. If status is Dirty, the agent returns Suck. Otherwise, if the location is A, it returns Right. If the location is B, it returns Left. The program does not store previous percepts, remember previous actions, represent a goal, or compare utilities.</a:t>
            </a:r>
          </a:p>
          <a:p>
            <a:pPr indent="0" algn="l">
              <a:lnSpc>
                <a:spcPct val="100000"/>
              </a:lnSpc>
              <a:buNone/>
            </a:pPr>
            <a:r>
              <a:rPr lang="en-US" sz="1400" b="0" i="0" u="none" strike="noStrike" dirty="0">
                <a:solidFill>
                  <a:srgbClr val="000000"/>
                </a:solidFill>
                <a:effectLst/>
                <a:uFillTx/>
                <a:latin typeface="Arial"/>
              </a:rPr>
              <a:t>This small program can implement rational behavior under a specific set of assumptions: two locations, correct location and dirt sensors, reliable actions, no cost for movement, and dirt that does not reappear. Its compactness comes from using regularities in the environment. The action for a dirty square is the same regardless of history, so the program does not need a separate entry for every percept sequence.</a:t>
            </a:r>
          </a:p>
          <a:p>
            <a:pPr indent="0" algn="l">
              <a:lnSpc>
                <a:spcPct val="100000"/>
              </a:lnSpc>
              <a:buNone/>
            </a:pPr>
            <a:r>
              <a:rPr lang="en-US" sz="1400" b="0" i="0" u="none" strike="noStrike" dirty="0">
                <a:solidFill>
                  <a:srgbClr val="000000"/>
                </a:solidFill>
                <a:effectLst/>
                <a:uFillTx/>
                <a:latin typeface="Arial"/>
              </a:rPr>
              <a:t>Simple reflex behavior also appears in complex systems. A driving rule might say: if the car in front is braking, initiate braking. The condition-action connection can be implemented with traditional code, a Boolean circuit, or a learned classifier. What makes the agent reflex is not the programming language; it is that action selection depends on the current interpreted percept rather than explicit reasoning about future consequences.</a:t>
            </a:r>
          </a:p>
          <a:p>
            <a:pPr indent="0" algn="l">
              <a:lnSpc>
                <a:spcPct val="100000"/>
              </a:lnSpc>
              <a:buNone/>
            </a:pPr>
            <a:r>
              <a:rPr lang="en-US" sz="1400" b="0" i="0" u="none" strike="noStrike" dirty="0">
                <a:solidFill>
                  <a:srgbClr val="000000"/>
                </a:solidFill>
                <a:effectLst/>
                <a:uFillTx/>
                <a:latin typeface="Arial"/>
              </a:rPr>
              <a:t>The strength is speed and compactness. The weakness is that the current percept may not contain enough information to identify the true state of the world.</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A general simple reflex architecture separates percept interpretation from rule matching.</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2.4.2 and Figure 2.8.</a:t>
            </a:r>
          </a:p>
        </p:txBody>
      </p:sp>
      <p:sp>
        <p:nvSpPr>
          <p:cNvPr id="1436" name="PlaceHolder 3"/>
          <p:cNvSpPr>
            <a:spLocks noGrp="1"/>
          </p:cNvSpPr>
          <p:nvPr>
            <p:ph type="sldNum" idx="2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B73E41-A6B8-442C-B7F5-FAD8C8925EAA}"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7" name="PlaceHolder 1"/>
          <p:cNvSpPr>
            <a:spLocks noGrp="1" noRot="1" noChangeAspect="1"/>
          </p:cNvSpPr>
          <p:nvPr>
            <p:ph type="sldImg"/>
          </p:nvPr>
        </p:nvSpPr>
        <p:spPr>
          <a:xfrm>
            <a:off x="685800" y="1143000"/>
            <a:ext cx="5486400" cy="3086100"/>
          </a:xfrm>
          <a:prstGeom prst="rect">
            <a:avLst/>
          </a:prstGeom>
          <a:ln w="0">
            <a:noFill/>
          </a:ln>
        </p:spPr>
      </p:sp>
      <p:sp>
        <p:nvSpPr>
          <p:cNvPr id="143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30  ·  2.4.2 General Simple Reflex Agent</a:t>
            </a:r>
          </a:p>
          <a:p>
            <a:pPr indent="0" algn="l">
              <a:lnSpc>
                <a:spcPct val="100000"/>
              </a:lnSpc>
              <a:buNone/>
            </a:pPr>
            <a:r>
              <a:rPr lang="en-US" sz="1150" b="0" i="0" u="none" strike="noStrike" dirty="0">
                <a:solidFill>
                  <a:srgbClr val="595959"/>
                </a:solidFill>
                <a:effectLst/>
                <a:uFillTx/>
                <a:latin typeface="Arial"/>
              </a:rPr>
              <a:t>Suggested time: 5 minutes  ·  Running total: 130 min  ·  Chapter alignment: Section 2.4.2 and Figures 2.9-2.10</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slide generalizes the vacuum program. The agent receives a percept, interprets it as a description of the current state, matches that state against condition-action rules, and returns the action associated with the first matching rule.</a:t>
            </a:r>
          </a:p>
          <a:p>
            <a:pPr indent="0" algn="l">
              <a:lnSpc>
                <a:spcPct val="100000"/>
              </a:lnSpc>
              <a:buNone/>
            </a:pPr>
            <a:r>
              <a:rPr lang="en-US" sz="1400" b="0" i="0" u="none" strike="noStrike" dirty="0">
                <a:solidFill>
                  <a:srgbClr val="000000"/>
                </a:solidFill>
                <a:effectLst/>
                <a:uFillTx/>
                <a:latin typeface="Arial"/>
              </a:rPr>
              <a:t>In the pseudocode, rules are persistent. INTERPRET-INPUT converts raw sensor data into a useful state description. For a driving agent, raw pixels might be interpreted as the condition 'car in front is braking.' RULE-MATCH finds a rule whose condition is satisfied. The program then selects rule dot ACTION and returns it.</a:t>
            </a:r>
          </a:p>
          <a:p>
            <a:pPr indent="0" algn="l">
              <a:lnSpc>
                <a:spcPct val="100000"/>
              </a:lnSpc>
              <a:buNone/>
            </a:pPr>
            <a:r>
              <a:rPr lang="en-US" sz="1400" b="0" i="0" u="none" strike="noStrike" dirty="0">
                <a:solidFill>
                  <a:srgbClr val="000000"/>
                </a:solidFill>
                <a:effectLst/>
                <a:uFillTx/>
                <a:latin typeface="Arial"/>
              </a:rPr>
              <a:t>The diagram separates two questions: what is the world like now, and what action should I do now? A simple reflex agent answers the second question with a condition-action rule. It does not explicitly ask what will happen after the action or whether the action advances a long-term goal.</a:t>
            </a:r>
          </a:p>
          <a:p>
            <a:pPr indent="0" algn="l">
              <a:lnSpc>
                <a:spcPct val="100000"/>
              </a:lnSpc>
              <a:buNone/>
            </a:pPr>
            <a:r>
              <a:rPr lang="en-US" sz="1400" b="0" i="0" u="none" strike="noStrike" dirty="0">
                <a:solidFill>
                  <a:srgbClr val="000000"/>
                </a:solidFill>
                <a:effectLst/>
                <a:uFillTx/>
                <a:latin typeface="Arial"/>
              </a:rPr>
              <a:t>The chapter notes that 'rules' and 'matching' are conceptual descriptions. An implementation could use if-statements, logic gates, decision trees, or neural components. The architecture is still simple reflex if the chosen action is based only on the current percept-derived state.</a:t>
            </a:r>
          </a:p>
          <a:p>
            <a:pPr indent="0" algn="l">
              <a:lnSpc>
                <a:spcPct val="100000"/>
              </a:lnSpc>
              <a:buNone/>
            </a:pPr>
            <a:r>
              <a:rPr lang="en-US" sz="1400" b="0" i="0" u="none" strike="noStrike" dirty="0">
                <a:solidFill>
                  <a:srgbClr val="000000"/>
                </a:solidFill>
                <a:effectLst/>
                <a:uFillTx/>
                <a:latin typeface="Arial"/>
              </a:rPr>
              <a:t>This design works best when the environment is fully observable and the correct action can be determined from the current state. When relevant information is hidden or must be inferred from history, the same current percept can require different actions.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Partial observability exposes the central limitation of simple reflex behavior.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2.4.2 and Figures 2.9-2.10.</a:t>
            </a:r>
          </a:p>
        </p:txBody>
      </p:sp>
      <p:sp>
        <p:nvSpPr>
          <p:cNvPr id="1439" name="PlaceHolder 3"/>
          <p:cNvSpPr>
            <a:spLocks noGrp="1"/>
          </p:cNvSpPr>
          <p:nvPr>
            <p:ph type="sldNum" idx="2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A9A893C-0F29-4F43-B010-A05EE61B62F9}"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 name="PlaceHolder 1"/>
          <p:cNvSpPr>
            <a:spLocks noGrp="1" noRot="1" noChangeAspect="1"/>
          </p:cNvSpPr>
          <p:nvPr>
            <p:ph type="sldImg"/>
          </p:nvPr>
        </p:nvSpPr>
        <p:spPr>
          <a:xfrm>
            <a:off x="685800" y="1143000"/>
            <a:ext cx="5484813" cy="3084513"/>
          </a:xfrm>
          <a:prstGeom prst="rect">
            <a:avLst/>
          </a:prstGeom>
          <a:ln w="0">
            <a:noFill/>
          </a:ln>
        </p:spPr>
      </p:sp>
      <p:sp>
        <p:nvSpPr>
          <p:cNvPr id="144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31  ·  2.4.2 Condition--Action Rules: Power and Limits</a:t>
            </a:r>
          </a:p>
          <a:p>
            <a:pPr indent="0" algn="l">
              <a:lnSpc>
                <a:spcPct val="100000"/>
              </a:lnSpc>
              <a:buNone/>
            </a:pPr>
            <a:r>
              <a:rPr lang="en-US" sz="1150" b="0" i="0" u="none" strike="noStrike" dirty="0">
                <a:solidFill>
                  <a:srgbClr val="595959"/>
                </a:solidFill>
                <a:effectLst/>
                <a:uFillTx/>
                <a:latin typeface="Arial"/>
              </a:rPr>
              <a:t>Suggested time: 4 minutes  ·  Running total: 134 min  ·  Chapter alignment: Section 2.4.2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We have seen the general simple reflex structure. This slide takes it out of the vacuum world and shows both what the design buys you and where it breaks.</a:t>
            </a:r>
          </a:p>
          <a:p>
            <a:pPr indent="0" algn="l">
              <a:lnSpc>
                <a:spcPct val="100000"/>
              </a:lnSpc>
              <a:buNone/>
            </a:pPr>
            <a:r>
              <a:rPr lang="en-US" sz="1400" b="0" i="0" u="none" strike="noStrike" dirty="0">
                <a:solidFill>
                  <a:srgbClr val="000000"/>
                </a:solidFill>
                <a:effectLst/>
                <a:uFillTx/>
                <a:latin typeface="Arial"/>
              </a:rPr>
              <a:t>Start with the rule in the dark box. If the car in front is braking, then initiate braking. That is a condition--action rule, and note what has to happen for it to work: some processing on the visual input must establish the condition we are calling car-in-front-is-braking, and then a fixed connection in the agent program fires the action. Humans run enormous numbers of these. Some are learned, like this one; some are innate, like blinking when something approaches your eye.</a:t>
            </a:r>
          </a:p>
          <a:p>
            <a:pPr indent="0" algn="l">
              <a:lnSpc>
                <a:spcPct val="100000"/>
              </a:lnSpc>
              <a:buNone/>
            </a:pPr>
            <a:r>
              <a:rPr lang="en-US" sz="1400" b="0" i="0" u="none" strike="noStrike" dirty="0">
                <a:solidFill>
                  <a:srgbClr val="000000"/>
                </a:solidFill>
                <a:effectLst/>
                <a:uFillTx/>
                <a:latin typeface="Arial"/>
              </a:rPr>
              <a:t>Now the three cards on the right, which are the case for the design. The compression is dramatic: ignoring percept history takes the vacuum agent from four to the T relevant percept sequences down to four. A further small reduction comes from noticing that when the square is dirty, the action does not depend on where you are. And the resulting program is simple enough to be a Boolean circuit — or, swapping logic gates for nonlinear units, a neural circuit, which is where Chapter 21 picks the thread back up.</a:t>
            </a:r>
          </a:p>
          <a:p>
            <a:pPr indent="0" algn="l">
              <a:lnSpc>
                <a:spcPct val="100000"/>
              </a:lnSpc>
              <a:buNone/>
            </a:pPr>
            <a:r>
              <a:rPr lang="en-US" sz="1400" b="0" i="0" u="none" strike="noStrike" dirty="0">
                <a:solidFill>
                  <a:srgbClr val="000000"/>
                </a:solidFill>
                <a:effectLst/>
                <a:uFillTx/>
                <a:latin typeface="Arial"/>
              </a:rPr>
              <a:t>Then the failure, in red. The braking rule assumes the condition is determinable from the current percept, meaning one frame of video. That holds if the car ahead has a centrally mounted brake light. It does not hold for older models with different taillight arrangements, where a single image cannot distinguish braking from the lights merely being on. The reflex agent behind such a car either brakes continuously and unnecessarily, or — worse — never brakes at all. A little bit of unobservability causes serious trouble.</a:t>
            </a:r>
          </a:p>
          <a:p>
            <a:pPr indent="0" algn="l">
              <a:lnSpc>
                <a:spcPct val="100000"/>
              </a:lnSpc>
              <a:buNone/>
            </a:pPr>
            <a:r>
              <a:rPr lang="en-US" sz="1400" b="0" i="0" u="none" strike="noStrike" dirty="0">
                <a:solidFill>
                  <a:srgbClr val="000000"/>
                </a:solidFill>
                <a:effectLst/>
                <a:uFillTx/>
                <a:latin typeface="Arial"/>
              </a:rPr>
              <a:t>Finally the bottom line. The vacuum agent without a location sensor loops forever, and randomization does escape the loop: flip a coin between Left and Right and you reach the other square in two steps on average. But be clear with students about what that is. It is a useful trick, not intelligence. Randomized behaviour of the right kind can be rational in multiagent environments precisely because it avoids being predictable. In single-agent environments it usually is not, and a more sophisticated deterministic agent does better. The real fix is internal state, which is the next design.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works through the vacuum version of this failure in detail, and then we build the fix: an agent that keeps internal state.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2.4.2.</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2" name="PlaceHolder 1"/>
          <p:cNvSpPr>
            <a:spLocks noGrp="1" noRot="1" noChangeAspect="1"/>
          </p:cNvSpPr>
          <p:nvPr>
            <p:ph type="sldImg"/>
          </p:nvPr>
        </p:nvSpPr>
        <p:spPr>
          <a:xfrm>
            <a:off x="685800" y="1143000"/>
            <a:ext cx="5486400" cy="3086100"/>
          </a:xfrm>
          <a:prstGeom prst="rect">
            <a:avLst/>
          </a:prstGeom>
          <a:ln w="0">
            <a:noFill/>
          </a:ln>
        </p:spPr>
      </p:sp>
      <p:sp>
        <p:nvSpPr>
          <p:cNvPr id="144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32  ·  When Simple Reflex Fails: Partial Observability</a:t>
            </a:r>
          </a:p>
          <a:p>
            <a:pPr indent="0" algn="l">
              <a:lnSpc>
                <a:spcPct val="100000"/>
              </a:lnSpc>
              <a:buNone/>
            </a:pPr>
            <a:r>
              <a:rPr lang="en-US" sz="1150" b="0" i="0" u="none" strike="noStrike" dirty="0">
                <a:solidFill>
                  <a:srgbClr val="595959"/>
                </a:solidFill>
                <a:effectLst/>
                <a:uFillTx/>
                <a:latin typeface="Arial"/>
              </a:rPr>
              <a:t>Suggested time: 4 minutes  ·  Running total: 138 min  ·  Chapter alignment: Section 2.4.2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Suppose the vacuum agent loses its location sensor and can perceive only Clean or Dirty. The response to Dirty is still clear: Suck. The response to Clean is now ambiguous. If the agent always moves Left, it can fail forever when it starts in A. If it always moves Right, it can fail forever when it starts in B.</a:t>
            </a:r>
          </a:p>
          <a:p>
            <a:pPr indent="0" algn="l">
              <a:lnSpc>
                <a:spcPct val="100000"/>
              </a:lnSpc>
              <a:buNone/>
            </a:pPr>
            <a:r>
              <a:rPr lang="en-US" sz="1400" b="0" i="0" u="none" strike="noStrike" dirty="0">
                <a:solidFill>
                  <a:srgbClr val="000000"/>
                </a:solidFill>
                <a:effectLst/>
                <a:uFillTx/>
                <a:latin typeface="Arial"/>
              </a:rPr>
              <a:t>The problem is not a missing condition-action rule. The problem is that the current percept does not identify the relevant state. The same percept, Clean, can occur in different situations that require different actions.</a:t>
            </a:r>
          </a:p>
          <a:p>
            <a:pPr indent="0" algn="l">
              <a:lnSpc>
                <a:spcPct val="100000"/>
              </a:lnSpc>
              <a:buNone/>
            </a:pPr>
            <a:r>
              <a:rPr lang="en-US" sz="1400" b="0" i="0" u="none" strike="noStrike" dirty="0">
                <a:solidFill>
                  <a:srgbClr val="000000"/>
                </a:solidFill>
                <a:effectLst/>
                <a:uFillTx/>
                <a:latin typeface="Arial"/>
              </a:rPr>
              <a:t>Randomization can sometimes escape a loop. The vacuum might randomly choose Left or Right when it sees Clean. In this tiny environment, that may eventually reach the other square. The chapter treats randomization as a useful trick, not a general replacement for knowledge. In many tasks, random action would be inefficient or unsafe.</a:t>
            </a:r>
          </a:p>
          <a:p>
            <a:pPr indent="0" algn="l">
              <a:lnSpc>
                <a:spcPct val="100000"/>
              </a:lnSpc>
              <a:buNone/>
            </a:pPr>
            <a:r>
              <a:rPr lang="en-US" sz="1400" b="0" i="0" u="none" strike="noStrike" dirty="0">
                <a:solidFill>
                  <a:srgbClr val="000000"/>
                </a:solidFill>
                <a:effectLst/>
                <a:uFillTx/>
                <a:latin typeface="Arial"/>
              </a:rPr>
              <a:t>Pac-Man can have the same issue. If the current screen does not reveal how much frightened time remains, a reflex rule may chase a ghost when the power effect is about to end. The agent needs some representation of history or hidden state.</a:t>
            </a:r>
          </a:p>
          <a:p>
            <a:pPr indent="0" algn="l">
              <a:lnSpc>
                <a:spcPct val="100000"/>
              </a:lnSpc>
              <a:buNone/>
            </a:pPr>
            <a:r>
              <a:rPr lang="en-US" sz="1400" b="0" i="0" u="none" strike="noStrike" dirty="0">
                <a:solidFill>
                  <a:srgbClr val="000000"/>
                </a:solidFill>
                <a:effectLst/>
                <a:uFillTx/>
                <a:latin typeface="Arial"/>
              </a:rPr>
              <a:t>The more general solution is to maintain internal state—a best estimate of the parts of the world that are not directly visible now. That leads to the model-based reflex agent.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Model-based agents use internal state plus models of the world and sensors.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2.4.2.</a:t>
            </a:r>
          </a:p>
        </p:txBody>
      </p:sp>
      <p:sp>
        <p:nvSpPr>
          <p:cNvPr id="1444" name="PlaceHolder 3"/>
          <p:cNvSpPr>
            <a:spLocks noGrp="1"/>
          </p:cNvSpPr>
          <p:nvPr>
            <p:ph type="sldNum" idx="2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9231CEF-4DC2-443C-8693-61A464C26244}"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5" name="PlaceHolder 1"/>
          <p:cNvSpPr>
            <a:spLocks noGrp="1" noRot="1" noChangeAspect="1"/>
          </p:cNvSpPr>
          <p:nvPr>
            <p:ph type="sldImg"/>
          </p:nvPr>
        </p:nvSpPr>
        <p:spPr>
          <a:xfrm>
            <a:off x="685800" y="1143000"/>
            <a:ext cx="5486400" cy="3086100"/>
          </a:xfrm>
          <a:prstGeom prst="rect">
            <a:avLst/>
          </a:prstGeom>
          <a:ln w="0">
            <a:noFill/>
          </a:ln>
        </p:spPr>
      </p:sp>
      <p:sp>
        <p:nvSpPr>
          <p:cNvPr id="144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33  ·  2.4.3 Model-Based Reflex Agents</a:t>
            </a:r>
          </a:p>
          <a:p>
            <a:pPr indent="0" algn="l">
              <a:lnSpc>
                <a:spcPct val="100000"/>
              </a:lnSpc>
              <a:buNone/>
            </a:pPr>
            <a:r>
              <a:rPr lang="en-US" sz="1150" b="0" i="0" u="none" strike="noStrike" dirty="0">
                <a:solidFill>
                  <a:srgbClr val="595959"/>
                </a:solidFill>
                <a:effectLst/>
                <a:uFillTx/>
                <a:latin typeface="Arial"/>
              </a:rPr>
              <a:t>Suggested time: 6 minutes  ·  Running total: 144 min  ·  Chapter alignment: Section 2.4.3 and Figure 2.11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A model-based reflex agent maintains an internal state that represents its best estimate of what the world is like now. This internal state depends on the percept history, even though the program receives one current percept at a time.</a:t>
            </a:r>
          </a:p>
          <a:p>
            <a:pPr indent="0" algn="l">
              <a:lnSpc>
                <a:spcPct val="100000"/>
              </a:lnSpc>
              <a:buNone/>
            </a:pPr>
            <a:r>
              <a:rPr lang="en-US" sz="1400" b="0" i="0" u="none" strike="noStrike" dirty="0">
                <a:solidFill>
                  <a:srgbClr val="000000"/>
                </a:solidFill>
                <a:effectLst/>
                <a:uFillTx/>
                <a:latin typeface="Arial"/>
              </a:rPr>
              <a:t>Updating internal state requires two kinds of knowledge. The transition model describes how the world changes over time and how the agent's actions affect it. If a car turns the steering wheel, the model predicts how the vehicle's direction changes. If ghosts move after Pac-Man acts, the model predicts possible new ghost positions.</a:t>
            </a:r>
          </a:p>
          <a:p>
            <a:pPr indent="0" algn="l">
              <a:lnSpc>
                <a:spcPct val="100000"/>
              </a:lnSpc>
              <a:buNone/>
            </a:pPr>
            <a:r>
              <a:rPr lang="en-US" sz="1400" b="0" i="0" u="none" strike="noStrike" dirty="0">
                <a:solidFill>
                  <a:srgbClr val="000000"/>
                </a:solidFill>
                <a:effectLst/>
                <a:uFillTx/>
                <a:latin typeface="Arial"/>
              </a:rPr>
              <a:t>The sensor model describes how states of the world generate percepts. Brake lights in the world create illuminated regions in a camera image. A wet camera lens creates patterns that partially obscure the road. The agent uses the sensor model to interpret what a percept suggests about the underlying state.</a:t>
            </a:r>
          </a:p>
          <a:p>
            <a:pPr indent="0" algn="l">
              <a:lnSpc>
                <a:spcPct val="100000"/>
              </a:lnSpc>
              <a:buNone/>
            </a:pPr>
            <a:r>
              <a:rPr lang="en-US" sz="1400" b="0" i="0" u="none" strike="noStrike" dirty="0">
                <a:solidFill>
                  <a:srgbClr val="000000"/>
                </a:solidFill>
                <a:effectLst/>
                <a:uFillTx/>
                <a:latin typeface="Arial"/>
              </a:rPr>
              <a:t>The diagram combines the previous internal state, the last action, the transition model, the current percept, and the sensor model to produce an updated state estimate. Condition-action rules can then select an action from that estimated state.</a:t>
            </a:r>
          </a:p>
          <a:p>
            <a:pPr indent="0" algn="l">
              <a:lnSpc>
                <a:spcPct val="100000"/>
              </a:lnSpc>
              <a:buNone/>
            </a:pPr>
            <a:r>
              <a:rPr lang="en-US" sz="1400" b="0" i="0" u="none" strike="noStrike" dirty="0">
                <a:solidFill>
                  <a:srgbClr val="000000"/>
                </a:solidFill>
                <a:effectLst/>
                <a:uFillTx/>
                <a:latin typeface="Arial"/>
              </a:rPr>
              <a:t>This agent is still called reflex because the final action is selected by rules rather than explicit goal search or utility comparison. The important improvement is memory and state estimation. In a partially observable environment, the internal state may be uncertain or contain several possibilities. It is a best guess, not guaranteed ground truth.</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pseudocode shows exactly where state, action history, and models enter the decision loop.</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2.4.3 and Figure 2.11.</a:t>
            </a:r>
          </a:p>
        </p:txBody>
      </p:sp>
      <p:sp>
        <p:nvSpPr>
          <p:cNvPr id="1447" name="PlaceHolder 3"/>
          <p:cNvSpPr>
            <a:spLocks noGrp="1"/>
          </p:cNvSpPr>
          <p:nvPr>
            <p:ph type="sldNum" idx="2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CAFC221-E14A-4530-8649-3B02E26AE78E}"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8" name="PlaceHolder 1"/>
          <p:cNvSpPr>
            <a:spLocks noGrp="1" noRot="1" noChangeAspect="1"/>
          </p:cNvSpPr>
          <p:nvPr>
            <p:ph type="sldImg"/>
          </p:nvPr>
        </p:nvSpPr>
        <p:spPr>
          <a:xfrm>
            <a:off x="685800" y="1143000"/>
            <a:ext cx="5484813" cy="3084513"/>
          </a:xfrm>
          <a:prstGeom prst="rect">
            <a:avLst/>
          </a:prstGeom>
          <a:ln w="0">
            <a:noFill/>
          </a:ln>
        </p:spPr>
      </p:sp>
      <p:sp>
        <p:nvSpPr>
          <p:cNvPr id="144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34  ·  2.4.3 Model-Based Reflex Agent Pseudocode</a:t>
            </a:r>
          </a:p>
          <a:p>
            <a:pPr indent="0" algn="l">
              <a:lnSpc>
                <a:spcPct val="100000"/>
              </a:lnSpc>
              <a:buNone/>
            </a:pPr>
            <a:r>
              <a:rPr lang="en-US" sz="1150" b="0" i="0" u="none" strike="noStrike" dirty="0">
                <a:solidFill>
                  <a:srgbClr val="595959"/>
                </a:solidFill>
                <a:effectLst/>
                <a:uFillTx/>
                <a:latin typeface="Arial"/>
              </a:rPr>
              <a:t>Suggested time: 6 minutes  ·  Running total: 150 min  ·  Chapter alignment: Section 2.4.3 and Figure 2.12</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The model-based pseudocode adds persistent variables that the simple reflex agent did not have. These include state, the agent's current conception of the world; transition model, which explains how the world changes; sensor model, which explains how states produce percepts; rules, which connect estimated states to actions; and action, the previous action taken.</a:t>
            </a:r>
          </a:p>
          <a:p>
            <a:pPr indent="0" algn="l">
              <a:lnSpc>
                <a:spcPct val="100000"/>
              </a:lnSpc>
              <a:buNone/>
            </a:pPr>
            <a:r>
              <a:rPr lang="en-US" sz="1400" b="0" i="0" u="none" strike="noStrike" dirty="0">
                <a:solidFill>
                  <a:srgbClr val="000000"/>
                </a:solidFill>
                <a:effectLst/>
                <a:uFillTx/>
                <a:latin typeface="Arial"/>
              </a:rPr>
              <a:t>The key line is UPDATE-STATE. It combines the old state, the previous action, the new percept, the transition model, and the sensor model. The result is a new internal state description.</a:t>
            </a:r>
          </a:p>
          <a:p>
            <a:pPr indent="0" algn="l">
              <a:lnSpc>
                <a:spcPct val="100000"/>
              </a:lnSpc>
              <a:buNone/>
            </a:pPr>
            <a:r>
              <a:rPr lang="en-US" sz="1400" b="0" i="0" u="none" strike="noStrike" dirty="0">
                <a:solidFill>
                  <a:srgbClr val="000000"/>
                </a:solidFill>
                <a:effectLst/>
                <a:uFillTx/>
                <a:latin typeface="Arial"/>
              </a:rPr>
              <a:t>The program then uses RULE-MATCH on that updated state, selects the rule's action, stores the action for use during the next update, and returns it to the actuators. The previous action matters because state change depends partly on what the agent itself just did.</a:t>
            </a:r>
          </a:p>
          <a:p>
            <a:pPr indent="0" algn="l">
              <a:lnSpc>
                <a:spcPct val="100000"/>
              </a:lnSpc>
              <a:buNone/>
            </a:pPr>
            <a:r>
              <a:rPr lang="en-US" sz="1400" b="0" i="0" u="none" strike="noStrike" dirty="0">
                <a:solidFill>
                  <a:srgbClr val="000000"/>
                </a:solidFill>
                <a:effectLst/>
                <a:uFillTx/>
                <a:latin typeface="Arial"/>
              </a:rPr>
              <a:t>Notice what the program does not contain. It does not yet contain an explicit goal test or utility function. It estimates the current state and reacts according to rules. That is the difference between model-based reflex behavior and the goal-based and utility-based designs that follow.</a:t>
            </a:r>
          </a:p>
          <a:p>
            <a:pPr indent="0" algn="l">
              <a:lnSpc>
                <a:spcPct val="100000"/>
              </a:lnSpc>
              <a:buNone/>
            </a:pPr>
            <a:r>
              <a:rPr lang="en-US" sz="1400" b="0" i="0" u="none" strike="noStrike" dirty="0">
                <a:solidFill>
                  <a:srgbClr val="000000"/>
                </a:solidFill>
                <a:effectLst/>
                <a:uFillTx/>
                <a:latin typeface="Arial"/>
              </a:rPr>
              <a:t>In a real implementation, UPDATE-STATE may be simple or extremely sophisticated. It could update a few Boolean variables, track object positions, maintain probabilities over possible states, or process a learned world model. The pseudocode describes the functional role rather than requiring one specific technology.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Internal state tells the agent where it believes it is; a goal tells the agent where it wants to go.</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2.4.3 and Figure 2.12.</a:t>
            </a:r>
          </a:p>
        </p:txBody>
      </p:sp>
      <p:sp>
        <p:nvSpPr>
          <p:cNvPr id="1450" name="PlaceHolder 3"/>
          <p:cNvSpPr>
            <a:spLocks noGrp="1"/>
          </p:cNvSpPr>
          <p:nvPr>
            <p:ph type="sldNum" idx="2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B495026-4464-4BF8-85AD-E20C18AA007B}"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1" name="PlaceHolder 1"/>
          <p:cNvSpPr>
            <a:spLocks noGrp="1" noRot="1" noChangeAspect="1"/>
          </p:cNvSpPr>
          <p:nvPr>
            <p:ph type="sldImg"/>
          </p:nvPr>
        </p:nvSpPr>
        <p:spPr>
          <a:xfrm>
            <a:off x="685800" y="1143000"/>
            <a:ext cx="5486400" cy="3086100"/>
          </a:xfrm>
          <a:prstGeom prst="rect">
            <a:avLst/>
          </a:prstGeom>
          <a:ln w="0">
            <a:noFill/>
          </a:ln>
        </p:spPr>
      </p:sp>
      <p:sp>
        <p:nvSpPr>
          <p:cNvPr id="145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35  ·  2.4.4 Goal-Based Agents</a:t>
            </a:r>
          </a:p>
          <a:p>
            <a:pPr indent="0" algn="l">
              <a:lnSpc>
                <a:spcPct val="100000"/>
              </a:lnSpc>
              <a:buNone/>
            </a:pPr>
            <a:r>
              <a:rPr lang="en-US" sz="1150" b="0" i="0" u="none" strike="noStrike" dirty="0">
                <a:solidFill>
                  <a:srgbClr val="595959"/>
                </a:solidFill>
                <a:effectLst/>
                <a:uFillTx/>
                <a:latin typeface="Arial"/>
              </a:rPr>
              <a:t>Suggested time: 6 minutes  ·  Running total: 156 min  ·  Chapter alignment: Section 2.4.4 and Figure 2.13</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Knowing the current state is not always enough to choose an action. At an intersection, a taxi may be able to turn left, turn right, or continue straight. The correct choice depends on the destination. A goal-based agent therefore combines a state description with goal information.</a:t>
            </a:r>
          </a:p>
          <a:p>
            <a:pPr indent="0" algn="l">
              <a:lnSpc>
                <a:spcPct val="100000"/>
              </a:lnSpc>
              <a:buNone/>
            </a:pPr>
            <a:r>
              <a:rPr lang="en-US" sz="1400" b="0" i="0" u="none" strike="noStrike" dirty="0">
                <a:solidFill>
                  <a:srgbClr val="000000"/>
                </a:solidFill>
                <a:effectLst/>
                <a:uFillTx/>
                <a:latin typeface="Arial"/>
              </a:rPr>
              <a:t>The agent uses a model to predict what the world will be like after possible actions. It then asks whether those predicted states lead to the goal. When one action immediately achieves the goal, selection is simple. When the goal requires a long sequence of actions, the agent must consider alternative futures.</a:t>
            </a:r>
          </a:p>
          <a:p>
            <a:pPr indent="0" algn="l">
              <a:lnSpc>
                <a:spcPct val="100000"/>
              </a:lnSpc>
              <a:buNone/>
            </a:pPr>
            <a:r>
              <a:rPr lang="en-US" sz="1400" b="0" i="0" u="none" strike="noStrike" dirty="0">
                <a:solidFill>
                  <a:srgbClr val="000000"/>
                </a:solidFill>
                <a:effectLst/>
                <a:uFillTx/>
                <a:latin typeface="Arial"/>
              </a:rPr>
              <a:t>Search and planning are the AI subfields that find action sequences leading to goals. That is why this slide is the conceptual bridge from Chapter 2 to Chapters 3 through 5. Chapter 2 defines the goal-based architecture; the next chapters develop algorithms for searching through possible action sequences.</a:t>
            </a:r>
          </a:p>
          <a:p>
            <a:pPr indent="0" algn="l">
              <a:lnSpc>
                <a:spcPct val="100000"/>
              </a:lnSpc>
              <a:buNone/>
            </a:pPr>
            <a:r>
              <a:rPr lang="en-US" sz="1400" b="0" i="0" u="none" strike="noStrike" dirty="0">
                <a:solidFill>
                  <a:srgbClr val="000000"/>
                </a:solidFill>
                <a:effectLst/>
                <a:uFillTx/>
                <a:latin typeface="Arial"/>
              </a:rPr>
              <a:t>Goal-based decision making differs from a condition-action rule because it represents the reason for the action. A reflex agent brakes when brake lights appear because a rule fires. A goal-based agent brakes because the predicted consequence of not braking conflicts with the goal of avoiding a collision.</a:t>
            </a:r>
          </a:p>
          <a:p>
            <a:pPr indent="0" algn="l">
              <a:lnSpc>
                <a:spcPct val="100000"/>
              </a:lnSpc>
              <a:buNone/>
            </a:pPr>
            <a:r>
              <a:rPr lang="en-US" sz="1400" b="0" i="0" u="none" strike="noStrike" dirty="0">
                <a:solidFill>
                  <a:srgbClr val="000000"/>
                </a:solidFill>
                <a:effectLst/>
                <a:uFillTx/>
                <a:latin typeface="Arial"/>
              </a:rPr>
              <a:t>Goal-based agents are more flexible. Change the destination and the same model can support a new route. A reflex agent may require a new set of rules for each destination. The cost of flexibility is computation: predicting and comparing future action sequences can be expensive.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planning video makes the difference between reaction and look-ahead behavior visible.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2.4.4 and Figure 2.13.</a:t>
            </a:r>
          </a:p>
        </p:txBody>
      </p:sp>
      <p:sp>
        <p:nvSpPr>
          <p:cNvPr id="1453" name="PlaceHolder 3"/>
          <p:cNvSpPr>
            <a:spLocks noGrp="1"/>
          </p:cNvSpPr>
          <p:nvPr>
            <p:ph type="sldNum" idx="2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21B8E69-CC47-45FC-91D1-3676C19B1031}"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 name="PlaceHolder 1"/>
          <p:cNvSpPr>
            <a:spLocks noGrp="1" noRot="1" noChangeAspect="1"/>
          </p:cNvSpPr>
          <p:nvPr>
            <p:ph type="sldImg"/>
          </p:nvPr>
        </p:nvSpPr>
        <p:spPr>
          <a:xfrm>
            <a:off x="685800" y="1143000"/>
            <a:ext cx="5486400" cy="3086100"/>
          </a:xfrm>
          <a:prstGeom prst="rect">
            <a:avLst/>
          </a:prstGeom>
          <a:ln w="0">
            <a:noFill/>
          </a:ln>
        </p:spPr>
      </p:sp>
      <p:sp>
        <p:nvSpPr>
          <p:cNvPr id="145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36  ·  Planning Video Bridge: Reflex vs. Planning</a:t>
            </a:r>
          </a:p>
          <a:p>
            <a:pPr indent="0" algn="l">
              <a:lnSpc>
                <a:spcPct val="100000"/>
              </a:lnSpc>
              <a:buNone/>
            </a:pPr>
            <a:r>
              <a:rPr lang="en-US" sz="1150" b="0" i="0" u="none" strike="noStrike" dirty="0">
                <a:solidFill>
                  <a:srgbClr val="595959"/>
                </a:solidFill>
                <a:effectLst/>
                <a:uFillTx/>
                <a:latin typeface="Arial"/>
              </a:rPr>
              <a:t>Suggested time: 7 minutes  ·  Running total: 163 min  ·  Chapter alignment: Goal-based agents and transition to search</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slide is the bridge between Chapter 2 agent design and the next unit on search. The reflex agent chooses from the current percept, and possibly memory, but it does not explicitly evaluate future consequences. It asks, in effect, what rule applies now?</a:t>
            </a:r>
          </a:p>
          <a:p>
            <a:pPr indent="0" algn="l">
              <a:lnSpc>
                <a:spcPct val="100000"/>
              </a:lnSpc>
              <a:buNone/>
            </a:pPr>
            <a:r>
              <a:rPr lang="en-US" sz="1400" b="0" i="0" u="none" strike="noStrike" dirty="0">
                <a:solidFill>
                  <a:srgbClr val="000000"/>
                </a:solidFill>
                <a:effectLst/>
                <a:uFillTx/>
                <a:latin typeface="Arial"/>
              </a:rPr>
              <a:t>A planning agent asks a different question: what if I take this action, and then what happens after that? To answer that question, the agent needs a model of how the world evolves, a model of what its actions do, and a goal test for recognizing whether a predicted future is acceptable.</a:t>
            </a:r>
          </a:p>
          <a:p>
            <a:pPr indent="0" algn="l">
              <a:lnSpc>
                <a:spcPct val="100000"/>
              </a:lnSpc>
              <a:buNone/>
            </a:pPr>
            <a:r>
              <a:rPr lang="en-US" sz="1400" b="0" i="0" u="none" strike="noStrike" dirty="0">
                <a:solidFill>
                  <a:srgbClr val="000000"/>
                </a:solidFill>
                <a:effectLst/>
                <a:uFillTx/>
                <a:latin typeface="Arial"/>
              </a:rPr>
              <a:t>The Pac-Man examples make this distinction visible. A reflex Pac-Man may move toward an adjacent pellet because a rule fires. A planning Pac-Man can temporarily move away from a pellet if that helps it reach a better future state. Replanning means the agent looks ahead, acts, observes the new state, and plans again. That differs from computing one complete path and following it forever.</a:t>
            </a:r>
          </a:p>
          <a:p>
            <a:pPr indent="0" algn="l">
              <a:lnSpc>
                <a:spcPct val="100000"/>
              </a:lnSpc>
              <a:buNone/>
            </a:pPr>
            <a:r>
              <a:rPr lang="en-US" sz="1400" b="0" i="0" u="none" strike="noStrike" dirty="0">
                <a:solidFill>
                  <a:srgbClr val="000000"/>
                </a:solidFill>
                <a:effectLst/>
                <a:uFillTx/>
                <a:latin typeface="Arial"/>
              </a:rPr>
              <a:t>The slide also introduces two planning distinctions. Optimal planning concerns whether the agent finds the best solution according to cost or quality. Complete planning concerns whether the agent is guaranteed to find some solution if one exists. Planning versus replanning asks whether the agent commits to one long action sequence or repeatedly revises the plan as percepts change.</a:t>
            </a:r>
          </a:p>
          <a:p>
            <a:pPr indent="0" algn="l">
              <a:lnSpc>
                <a:spcPct val="100000"/>
              </a:lnSpc>
              <a:buNone/>
            </a:pPr>
            <a:r>
              <a:rPr lang="en-US" sz="1400" b="0" i="0" u="none" strike="noStrike" dirty="0">
                <a:solidFill>
                  <a:srgbClr val="000000"/>
                </a:solidFill>
                <a:effectLst/>
                <a:uFillTx/>
                <a:latin typeface="Arial"/>
              </a:rPr>
              <a:t>For this chapter, keep the boundary clear: Chapter 2 explains why a goal-based agent needs to consider future consequences. Chapter 3 explains the search algorithms that implement that look-ahead in detail.</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Goals tell the agent what counts as success, but they do not rank multiple successful outcomes. Utility provides that ranking.</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Planning video transcript, approximately 1:19-10:05.</a:t>
            </a:r>
          </a:p>
          <a:p>
            <a:pPr indent="0" algn="l">
              <a:lnSpc>
                <a:spcPct val="100000"/>
              </a:lnSpc>
              <a:buNone/>
            </a:pPr>
            <a:r>
              <a:rPr lang="en-US" sz="1150" b="0" i="0" u="none" strike="noStrike" dirty="0">
                <a:solidFill>
                  <a:srgbClr val="595959"/>
                </a:solidFill>
                <a:effectLst/>
                <a:uFillTx/>
                <a:latin typeface="Arial"/>
              </a:rPr>
              <a:t>AIMA Chapter 2, Section 2.4.4.</a:t>
            </a:r>
          </a:p>
        </p:txBody>
      </p:sp>
      <p:sp>
        <p:nvSpPr>
          <p:cNvPr id="1456" name="PlaceHolder 3"/>
          <p:cNvSpPr>
            <a:spLocks noGrp="1"/>
          </p:cNvSpPr>
          <p:nvPr>
            <p:ph type="sldNum" idx="2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2E1D11A-0B86-47D8-B806-A54C533FAA44}"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7" name="PlaceHolder 1"/>
          <p:cNvSpPr>
            <a:spLocks noGrp="1" noRot="1" noChangeAspect="1"/>
          </p:cNvSpPr>
          <p:nvPr>
            <p:ph type="sldImg"/>
          </p:nvPr>
        </p:nvSpPr>
        <p:spPr>
          <a:xfrm>
            <a:off x="685800" y="1143000"/>
            <a:ext cx="5486400" cy="3086100"/>
          </a:xfrm>
          <a:prstGeom prst="rect">
            <a:avLst/>
          </a:prstGeom>
          <a:ln w="0">
            <a:noFill/>
          </a:ln>
        </p:spPr>
      </p:sp>
      <p:sp>
        <p:nvSpPr>
          <p:cNvPr id="145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37  ·  2.4.5 Utility-Based Agents</a:t>
            </a:r>
          </a:p>
          <a:p>
            <a:pPr indent="0" algn="l">
              <a:lnSpc>
                <a:spcPct val="100000"/>
              </a:lnSpc>
              <a:buNone/>
            </a:pPr>
            <a:r>
              <a:rPr lang="en-US" sz="1150" b="0" i="0" u="none" strike="noStrike" dirty="0">
                <a:solidFill>
                  <a:srgbClr val="595959"/>
                </a:solidFill>
                <a:effectLst/>
                <a:uFillTx/>
                <a:latin typeface="Arial"/>
              </a:rPr>
              <a:t>Suggested time: 6 minutes  ·  Running total: 169 min  ·  Chapter alignment: Section 2.4.5 and Figure 2.14</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A goal usually gives a binary distinction: the destination is reached or it is not. In most environments, that is not enough to produce high-quality behavior. Many routes may reach the same destination, but they differ in safety, speed, cost, comfort, reliability, and energy use.</a:t>
            </a:r>
          </a:p>
          <a:p>
            <a:pPr indent="0" algn="l">
              <a:lnSpc>
                <a:spcPct val="100000"/>
              </a:lnSpc>
              <a:buNone/>
            </a:pPr>
            <a:r>
              <a:rPr lang="en-US" sz="1400" b="0" i="0" u="none" strike="noStrike" dirty="0">
                <a:solidFill>
                  <a:srgbClr val="000000"/>
                </a:solidFill>
                <a:effectLst/>
                <a:uFillTx/>
                <a:latin typeface="Arial"/>
              </a:rPr>
              <a:t>A utility function assigns a degree of desirability to outcomes. The agent predicts possible future states, evaluates how desirable those states are, and chooses an action that leads to the best expected result.</a:t>
            </a:r>
          </a:p>
          <a:p>
            <a:pPr indent="0" algn="l">
              <a:lnSpc>
                <a:spcPct val="100000"/>
              </a:lnSpc>
              <a:buNone/>
            </a:pPr>
            <a:r>
              <a:rPr lang="en-US" sz="1400" b="0" i="0" u="none" strike="noStrike" dirty="0">
                <a:solidFill>
                  <a:srgbClr val="000000"/>
                </a:solidFill>
                <a:effectLst/>
                <a:uFillTx/>
                <a:latin typeface="Arial"/>
              </a:rPr>
              <a:t>The chapter describes the utility function as an internalization of the performance measure. The performance measure is the external standard used to evaluate the agent. The utility function is the agent's internal representation of how desirable outcomes are. When the two agree, maximizing utility supports rational behavior according to the external standard.</a:t>
            </a:r>
          </a:p>
          <a:p>
            <a:pPr indent="0" algn="l">
              <a:lnSpc>
                <a:spcPct val="100000"/>
              </a:lnSpc>
              <a:buNone/>
            </a:pPr>
            <a:r>
              <a:rPr lang="en-US" sz="1400" b="0" i="0" u="none" strike="noStrike" dirty="0">
                <a:solidFill>
                  <a:srgbClr val="000000"/>
                </a:solidFill>
                <a:effectLst/>
                <a:uFillTx/>
                <a:latin typeface="Arial"/>
              </a:rPr>
              <a:t>Utility is especially useful in two situations. First, goals may conflict. A taxi may need to trade speed against safety or comfort against cost. Second, outcomes may be uncertain. No action may guarantee success, so the agent must weigh both the value and probability of each possible outcome.</a:t>
            </a:r>
          </a:p>
          <a:p>
            <a:pPr indent="0" algn="l">
              <a:lnSpc>
                <a:spcPct val="100000"/>
              </a:lnSpc>
              <a:buNone/>
            </a:pPr>
            <a:r>
              <a:rPr lang="en-US" sz="1400" b="0" i="0" u="none" strike="noStrike" dirty="0">
                <a:solidFill>
                  <a:srgbClr val="000000"/>
                </a:solidFill>
                <a:effectLst/>
                <a:uFillTx/>
                <a:latin typeface="Arial"/>
              </a:rPr>
              <a:t>A utility-based agent is not automatically simple. It still needs perception, state estimation, a model of possible outcomes, and an algorithm for comparing choices. The utility function makes the decision criterion explicit; it does not remove the computational difficulty.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focuses on the two main reasons utility is more expressive than goals: tradeoffs and uncertainty.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2.4.5 and Figure 2.14.</a:t>
            </a:r>
          </a:p>
        </p:txBody>
      </p:sp>
      <p:sp>
        <p:nvSpPr>
          <p:cNvPr id="1459" name="PlaceHolder 3"/>
          <p:cNvSpPr>
            <a:spLocks noGrp="1"/>
          </p:cNvSpPr>
          <p:nvPr>
            <p:ph type="sldNum" idx="2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366EF3A-EF07-4E01-BE0A-1CC8CE5C6DB7}" type="slidenum">
              <a:rPr lang="en-US" sz="1200" b="0" u="none" strike="noStrike">
                <a:solidFill>
                  <a:schemeClr val="dk1"/>
                </a:solidFill>
                <a:effectLst/>
                <a:uFillTx/>
                <a:latin typeface="+mn-lt"/>
                <a:ea typeface="+mn-ea"/>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0" name="PlaceHolder 1"/>
          <p:cNvSpPr>
            <a:spLocks noGrp="1" noRot="1" noChangeAspect="1"/>
          </p:cNvSpPr>
          <p:nvPr>
            <p:ph type="sldImg"/>
          </p:nvPr>
        </p:nvSpPr>
        <p:spPr>
          <a:xfrm>
            <a:off x="685800" y="1143000"/>
            <a:ext cx="5484813" cy="3084513"/>
          </a:xfrm>
          <a:prstGeom prst="rect">
            <a:avLst/>
          </a:prstGeom>
          <a:ln w="0">
            <a:noFill/>
          </a:ln>
        </p:spPr>
      </p:sp>
      <p:sp>
        <p:nvSpPr>
          <p:cNvPr id="146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38  ·  Utility Handles Tradeoffs and Uncertainty</a:t>
            </a:r>
          </a:p>
          <a:p>
            <a:pPr indent="0" algn="l">
              <a:lnSpc>
                <a:spcPct val="100000"/>
              </a:lnSpc>
              <a:buNone/>
            </a:pPr>
            <a:r>
              <a:rPr lang="en-US" sz="1150" b="0" i="0" u="none" strike="noStrike" dirty="0">
                <a:solidFill>
                  <a:srgbClr val="595959"/>
                </a:solidFill>
                <a:effectLst/>
                <a:uFillTx/>
                <a:latin typeface="Arial"/>
              </a:rPr>
              <a:t>Suggested time: 5 minutes  ·  Running total: 174 min  ·  Chapter alignment: Section 2.4.5</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Utility provides a common scale for comparing outcomes that satisfy different goals to different degrees. When speed and safety conflict, a utility function specifies how much one is worth relative to the other. When several outcomes are possible, expected utility combines each outcome's value with its probability.</a:t>
            </a:r>
          </a:p>
          <a:p>
            <a:pPr indent="0" algn="l">
              <a:lnSpc>
                <a:spcPct val="100000"/>
              </a:lnSpc>
              <a:buNone/>
            </a:pPr>
            <a:r>
              <a:rPr lang="en-US" sz="1400" b="0" i="0" u="none" strike="noStrike" dirty="0">
                <a:solidFill>
                  <a:srgbClr val="000000"/>
                </a:solidFill>
                <a:effectLst/>
                <a:uFillTx/>
                <a:latin typeface="Arial"/>
              </a:rPr>
              <a:t>Expected utility does not mean that the agent always receives the outcome with the highest utility. It means the agent chooses the action with the best probability-weighted average according to its model. A rational decision can still produce an unfortunate result because uncertainty remains.</a:t>
            </a:r>
          </a:p>
          <a:p>
            <a:pPr indent="0" algn="l">
              <a:lnSpc>
                <a:spcPct val="100000"/>
              </a:lnSpc>
              <a:buNone/>
            </a:pPr>
            <a:r>
              <a:rPr lang="en-US" sz="1400" b="0" i="0" u="none" strike="noStrike" dirty="0">
                <a:solidFill>
                  <a:srgbClr val="000000"/>
                </a:solidFill>
                <a:effectLst/>
                <a:uFillTx/>
                <a:latin typeface="Arial"/>
              </a:rPr>
              <a:t>In Pac-Man, an agent might compare an action that safely reaches one pellet with an action that could reach a power pellet and several ghosts but carries a greater risk of being caught. A utility function can assign values to score, survival, completion, and risk. The selected action depends on those values and the estimated probabilities.</a:t>
            </a:r>
          </a:p>
          <a:p>
            <a:pPr indent="0" algn="l">
              <a:lnSpc>
                <a:spcPct val="100000"/>
              </a:lnSpc>
              <a:buNone/>
            </a:pPr>
            <a:r>
              <a:rPr lang="en-US" sz="1400" b="0" i="0" u="none" strike="noStrike" dirty="0">
                <a:solidFill>
                  <a:srgbClr val="000000"/>
                </a:solidFill>
                <a:effectLst/>
                <a:uFillTx/>
                <a:latin typeface="Arial"/>
              </a:rPr>
              <a:t>The major caution is alignment. If the internal utility function does not match the external performance measure, the agent may optimize the wrong objective. Utility-based behavior is powerful because it is general; that same generality makes correct objective specification essential.</a:t>
            </a:r>
          </a:p>
          <a:p>
            <a:pPr indent="0" algn="l">
              <a:lnSpc>
                <a:spcPct val="100000"/>
              </a:lnSpc>
              <a:buNone/>
            </a:pPr>
            <a:r>
              <a:rPr lang="en-US" sz="1400" b="0" i="0" u="none" strike="noStrike" dirty="0">
                <a:solidFill>
                  <a:srgbClr val="000000"/>
                </a:solidFill>
                <a:effectLst/>
                <a:uFillTx/>
                <a:latin typeface="Arial"/>
              </a:rPr>
              <a:t>The chapter also notes that perfect rationality is usually computationally unattainable. Even when a utility function is correct, the agent may not have enough time or processing power to evaluate every possible action sequence. Practical agents approximate the best decision under resource limits.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So far, every design assumes that the agent's rules, models, goals, or utility already exist. Learning explains how those components can improve.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2.4.5.</a:t>
            </a:r>
          </a:p>
        </p:txBody>
      </p:sp>
      <p:sp>
        <p:nvSpPr>
          <p:cNvPr id="1462" name="PlaceHolder 3"/>
          <p:cNvSpPr>
            <a:spLocks noGrp="1"/>
          </p:cNvSpPr>
          <p:nvPr>
            <p:ph type="sldNum" idx="3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DD5D127-696D-4DCD-BC3D-667710BE8BFC}"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3" name="PlaceHolder 1"/>
          <p:cNvSpPr>
            <a:spLocks noGrp="1" noRot="1" noChangeAspect="1"/>
          </p:cNvSpPr>
          <p:nvPr>
            <p:ph type="sldImg"/>
          </p:nvPr>
        </p:nvSpPr>
        <p:spPr>
          <a:xfrm>
            <a:off x="685800" y="1143000"/>
            <a:ext cx="5486400" cy="3086100"/>
          </a:xfrm>
          <a:prstGeom prst="rect">
            <a:avLst/>
          </a:prstGeom>
          <a:ln w="0">
            <a:noFill/>
          </a:ln>
        </p:spPr>
      </p:sp>
      <p:sp>
        <p:nvSpPr>
          <p:cNvPr id="146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39  ·  2.4.6 Learning Agents</a:t>
            </a:r>
          </a:p>
          <a:p>
            <a:pPr indent="0" algn="l">
              <a:lnSpc>
                <a:spcPct val="100000"/>
              </a:lnSpc>
              <a:buNone/>
            </a:pPr>
            <a:r>
              <a:rPr lang="en-US" sz="1150" b="0" i="0" u="none" strike="noStrike" dirty="0">
                <a:solidFill>
                  <a:srgbClr val="595959"/>
                </a:solidFill>
                <a:effectLst/>
                <a:uFillTx/>
                <a:latin typeface="Arial"/>
              </a:rPr>
              <a:t>Suggested time: 7 minutes  ·  Running total: 181 min  ·  Chapter alignment: Section 2.4.6 and Figure 2.15</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Any of the agent types we have discussed can be built as a learning agent. Learning is not a separate alternative that replaces reflex, model-based, goal-based, or utility-based design. It is a way for the components of those agents to improve through experience.</a:t>
            </a:r>
          </a:p>
          <a:p>
            <a:pPr indent="0" algn="l">
              <a:lnSpc>
                <a:spcPct val="100000"/>
              </a:lnSpc>
              <a:buNone/>
            </a:pPr>
            <a:r>
              <a:rPr lang="en-US" sz="1400" b="0" i="0" u="none" strike="noStrike" dirty="0">
                <a:solidFill>
                  <a:srgbClr val="000000"/>
                </a:solidFill>
                <a:effectLst/>
                <a:uFillTx/>
                <a:latin typeface="Arial"/>
              </a:rPr>
              <a:t>The chapter divides a learning agent into four conceptual components. The performance element selects external actions. It is the part we previously treated as the entire agent. The learning element modifies the performance element so that future behavior improves.</a:t>
            </a:r>
          </a:p>
          <a:p>
            <a:pPr indent="0" algn="l">
              <a:lnSpc>
                <a:spcPct val="100000"/>
              </a:lnSpc>
              <a:buNone/>
            </a:pPr>
            <a:r>
              <a:rPr lang="en-US" sz="1400" b="0" i="0" u="none" strike="noStrike" dirty="0">
                <a:solidFill>
                  <a:srgbClr val="000000"/>
                </a:solidFill>
                <a:effectLst/>
                <a:uFillTx/>
                <a:latin typeface="Arial"/>
              </a:rPr>
              <a:t>The critic evaluates how well the agent is doing relative to a fixed performance standard. Percepts alone do not automatically tell the agent whether an outcome is good. A chess program may perceive checkmate, but the critic and performance standard identify that result as success or failure.</a:t>
            </a:r>
          </a:p>
          <a:p>
            <a:pPr indent="0" algn="l">
              <a:lnSpc>
                <a:spcPct val="100000"/>
              </a:lnSpc>
              <a:buNone/>
            </a:pPr>
            <a:r>
              <a:rPr lang="en-US" sz="1400" b="0" i="0" u="none" strike="noStrike" dirty="0">
                <a:solidFill>
                  <a:srgbClr val="000000"/>
                </a:solidFill>
                <a:effectLst/>
                <a:uFillTx/>
                <a:latin typeface="Arial"/>
              </a:rPr>
              <a:t>The problem generator suggests exploratory actions that may produce informative experience. If the performance element always chooses the best-known action, the agent may never discover a better alternative. Exploration can reduce short-term performance while improving long-term knowledge.</a:t>
            </a:r>
          </a:p>
          <a:p>
            <a:pPr indent="0" algn="l">
              <a:lnSpc>
                <a:spcPct val="100000"/>
              </a:lnSpc>
              <a:buNone/>
            </a:pPr>
            <a:r>
              <a:rPr lang="en-US" sz="1400" b="0" i="0" u="none" strike="noStrike" dirty="0">
                <a:solidFill>
                  <a:srgbClr val="000000"/>
                </a:solidFill>
                <a:effectLst/>
                <a:uFillTx/>
                <a:latin typeface="Arial"/>
              </a:rPr>
              <a:t>Turing argued that programming every intelligent behavior by hand would be too slow and that learning machines should instead be taught. The same motivation applies here. Learning allows the agent to operate in unknown environments, correct inaccurate prior assumptions, and become more competent than its initial programming alone would allow.</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next slide asks exactly which internal components a learning process can modify.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2.4.6 and Figure 2.15.</a:t>
            </a:r>
          </a:p>
        </p:txBody>
      </p:sp>
      <p:sp>
        <p:nvSpPr>
          <p:cNvPr id="1465" name="PlaceHolder 3"/>
          <p:cNvSpPr>
            <a:spLocks noGrp="1"/>
          </p:cNvSpPr>
          <p:nvPr>
            <p:ph type="sldNum" idx="3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960FA01-0152-4EC7-BB9C-53D4C81078FF}"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6" name="PlaceHolder 1"/>
          <p:cNvSpPr>
            <a:spLocks noGrp="1" noRot="1" noChangeAspect="1"/>
          </p:cNvSpPr>
          <p:nvPr>
            <p:ph type="sldImg"/>
          </p:nvPr>
        </p:nvSpPr>
        <p:spPr>
          <a:xfrm>
            <a:off x="685800" y="1143000"/>
            <a:ext cx="5484813" cy="3084513"/>
          </a:xfrm>
          <a:prstGeom prst="rect">
            <a:avLst/>
          </a:prstGeom>
          <a:ln w="0">
            <a:noFill/>
          </a:ln>
        </p:spPr>
      </p:sp>
      <p:sp>
        <p:nvSpPr>
          <p:cNvPr id="146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40  ·  Learning Agent Components: What Improves?</a:t>
            </a:r>
          </a:p>
          <a:p>
            <a:pPr indent="0" algn="l">
              <a:lnSpc>
                <a:spcPct val="100000"/>
              </a:lnSpc>
              <a:buNone/>
            </a:pPr>
            <a:r>
              <a:rPr lang="en-US" sz="1150" b="0" i="0" u="none" strike="noStrike" dirty="0">
                <a:solidFill>
                  <a:srgbClr val="595959"/>
                </a:solidFill>
                <a:effectLst/>
                <a:uFillTx/>
                <a:latin typeface="Arial"/>
              </a:rPr>
              <a:t>Suggested time: 6 minutes  ·  Running total: 187 min  ·  Chapter alignment: Section 2.4.6</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The design of the learning element depends on the performance element. Before asking how an agent will learn, we should ask what mechanism will select actions after learning has occurred. Learning can then improve the components used by that mechanism.</a:t>
            </a:r>
          </a:p>
          <a:p>
            <a:pPr indent="0" algn="l">
              <a:lnSpc>
                <a:spcPct val="100000"/>
              </a:lnSpc>
              <a:buNone/>
            </a:pPr>
            <a:r>
              <a:rPr lang="en-US" sz="1400" b="0" i="0" u="none" strike="noStrike" dirty="0">
                <a:solidFill>
                  <a:srgbClr val="000000"/>
                </a:solidFill>
                <a:effectLst/>
                <a:uFillTx/>
                <a:latin typeface="Arial"/>
              </a:rPr>
              <a:t>The agent can learn a transition model by observing how states change after actions. An automated taxi can learn how braking pressure affects deceleration on wet pavement. The agent can improve a sensor model by learning how conditions such as glare, rain, or occlusion affect observations.</a:t>
            </a:r>
          </a:p>
          <a:p>
            <a:pPr indent="0" algn="l">
              <a:lnSpc>
                <a:spcPct val="100000"/>
              </a:lnSpc>
              <a:buNone/>
            </a:pPr>
            <a:r>
              <a:rPr lang="en-US" sz="1400" b="0" i="0" u="none" strike="noStrike" dirty="0">
                <a:solidFill>
                  <a:srgbClr val="000000"/>
                </a:solidFill>
                <a:effectLst/>
                <a:uFillTx/>
                <a:latin typeface="Arial"/>
              </a:rPr>
              <a:t>It can learn condition-action rules, a policy, a utility function, or parameters used by the performance element. Feedback from the critic identifies which changes improve performance. The performance standard should remain fixed conceptually; otherwise, the agent could improve its apparent score by changing the standard rather than improving its behavior.</a:t>
            </a:r>
          </a:p>
          <a:p>
            <a:pPr indent="0" algn="l">
              <a:lnSpc>
                <a:spcPct val="100000"/>
              </a:lnSpc>
              <a:buNone/>
            </a:pPr>
            <a:r>
              <a:rPr lang="en-US" sz="1400" b="0" i="0" u="none" strike="noStrike" dirty="0">
                <a:solidFill>
                  <a:srgbClr val="000000"/>
                </a:solidFill>
                <a:effectLst/>
                <a:uFillTx/>
                <a:latin typeface="Arial"/>
              </a:rPr>
              <a:t>The problem generator supports exploration. It identifies uncertain or poorly understood parts of the model and proposes actions that produce useful evidence. This is similar to an experiment: the immediate action may not be valuable for the task, but the information gained can improve future decisions.</a:t>
            </a:r>
          </a:p>
          <a:p>
            <a:pPr indent="0" algn="l">
              <a:lnSpc>
                <a:spcPct val="100000"/>
              </a:lnSpc>
              <a:buNone/>
            </a:pPr>
            <a:r>
              <a:rPr lang="en-US" sz="1400" b="0" i="0" u="none" strike="noStrike" dirty="0">
                <a:solidFill>
                  <a:srgbClr val="000000"/>
                </a:solidFill>
                <a:effectLst/>
                <a:uFillTx/>
                <a:latin typeface="Arial"/>
              </a:rPr>
              <a:t>The unifying idea is modification. Learning brings the agent's internal components into closer agreement with available feedback and with the actual environment. A system may learn one component while other components remain hand-designed.</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Learning and reasoning both depend on how the agent represents states, attributes, objects, and relationships.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2.4.6.</a:t>
            </a:r>
          </a:p>
        </p:txBody>
      </p:sp>
      <p:sp>
        <p:nvSpPr>
          <p:cNvPr id="1468" name="PlaceHolder 3"/>
          <p:cNvSpPr>
            <a:spLocks noGrp="1"/>
          </p:cNvSpPr>
          <p:nvPr>
            <p:ph type="sldNum" idx="3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E0AF53A-F55E-4526-B4DD-109D31155600}" type="slidenum">
              <a:rPr lang="en-US" sz="1200" b="0" u="none" strike="noStrike">
                <a:solidFill>
                  <a:schemeClr val="dk1"/>
                </a:solidFill>
                <a:effectLst/>
                <a:uFillTx/>
                <a:latin typeface="+mn-lt"/>
                <a:ea typeface="+mn-ea"/>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9" name="PlaceHolder 1"/>
          <p:cNvSpPr>
            <a:spLocks noGrp="1" noRot="1" noChangeAspect="1"/>
          </p:cNvSpPr>
          <p:nvPr>
            <p:ph type="sldImg"/>
          </p:nvPr>
        </p:nvSpPr>
        <p:spPr>
          <a:xfrm>
            <a:off x="685800" y="1143000"/>
            <a:ext cx="5484813" cy="3084513"/>
          </a:xfrm>
          <a:prstGeom prst="rect">
            <a:avLst/>
          </a:prstGeom>
          <a:ln w="0">
            <a:noFill/>
          </a:ln>
        </p:spPr>
      </p:sp>
      <p:sp>
        <p:nvSpPr>
          <p:cNvPr id="147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0000" lnSpcReduction="20000"/>
          </a:bodyPr>
          <a:lstStyle/>
          <a:p>
            <a:pPr indent="0" algn="l">
              <a:lnSpc>
                <a:spcPct val="100000"/>
              </a:lnSpc>
              <a:buNone/>
            </a:pPr>
            <a:r>
              <a:rPr lang="en-US" sz="1400" b="1" i="0" u="none" strike="noStrike" dirty="0">
                <a:solidFill>
                  <a:srgbClr val="1F4E79"/>
                </a:solidFill>
                <a:effectLst/>
                <a:uFillTx/>
                <a:latin typeface="Arial"/>
              </a:rPr>
              <a:t>SLIDE 41  ·  2.4.6 Turing's Bet and the Fixed Standard</a:t>
            </a:r>
          </a:p>
          <a:p>
            <a:pPr indent="0" algn="l">
              <a:lnSpc>
                <a:spcPct val="100000"/>
              </a:lnSpc>
              <a:buNone/>
            </a:pPr>
            <a:r>
              <a:rPr lang="en-US" sz="1150" b="0" i="0" u="none" strike="noStrike" dirty="0">
                <a:solidFill>
                  <a:srgbClr val="595959"/>
                </a:solidFill>
                <a:effectLst/>
                <a:uFillTx/>
                <a:latin typeface="Arial"/>
              </a:rPr>
              <a:t>Suggested time: 5 minutes  ·  Running total: 192 min  ·  Chapter alignment: Section 2.4.6</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We have the four components of a learning agent. This slide is about why three of them are shaped the way they are.</a:t>
            </a:r>
          </a:p>
          <a:p>
            <a:pPr indent="0" algn="l">
              <a:lnSpc>
                <a:spcPct val="100000"/>
              </a:lnSpc>
              <a:buNone/>
            </a:pPr>
            <a:r>
              <a:rPr lang="en-US" sz="1400" b="0" i="0" u="none" strike="noStrike" dirty="0">
                <a:solidFill>
                  <a:srgbClr val="000000"/>
                </a:solidFill>
                <a:effectLst/>
                <a:uFillTx/>
                <a:latin typeface="Arial"/>
              </a:rPr>
              <a:t>Start with Turing, because it frames the whole enterprise. In his 1950 paper he seriously considered hand-programming an intelligent machine, estimated how much labour that would take, and concluded that some more expeditious method seemed desirable. His proposal was to build machines that learn and then teach them. That is now the preferred route to state-of-the-art systems across most of AI, and it is worth telling students that the idea is more than seventy-five years old.</a:t>
            </a:r>
          </a:p>
          <a:p>
            <a:pPr indent="0" algn="l">
              <a:lnSpc>
                <a:spcPct val="100000"/>
              </a:lnSpc>
              <a:buNone/>
            </a:pPr>
            <a:r>
              <a:rPr lang="en-US" sz="1400" b="0" i="0" u="none" strike="noStrike" dirty="0">
                <a:solidFill>
                  <a:srgbClr val="000000"/>
                </a:solidFill>
                <a:effectLst/>
                <a:uFillTx/>
                <a:latin typeface="Arial"/>
              </a:rPr>
              <a:t>Now the critic, and this is the conceptually important one. The critic tells the learning element how well the agent is doing against a performance standard, and the standard has to be fixed. Why? Because percepts by themselves carry no verdict. A chess program can receive a percept indicating that it has checkmated its opponent; nothing in that percept says checkmating is good. The standard supplies that. And it must sit conceptually outside the agent, because an agent that could modify its own standard could always succeed by lowering the bar. When students later meet reward hacking, this is the slide to point back to.</a:t>
            </a:r>
          </a:p>
          <a:p>
            <a:pPr indent="0" algn="l">
              <a:lnSpc>
                <a:spcPct val="100000"/>
              </a:lnSpc>
              <a:buNone/>
            </a:pPr>
            <a:r>
              <a:rPr lang="en-US" sz="1400" b="0" i="0" u="none" strike="noStrike" dirty="0">
                <a:solidFill>
                  <a:srgbClr val="000000"/>
                </a:solidFill>
                <a:effectLst/>
                <a:uFillTx/>
                <a:latin typeface="Arial"/>
              </a:rPr>
              <a:t>The problem generator gets Galileo. Dropping rocks from the tower at Pisa had no value in itself — he was not trying to break the rocks, and he was certainly not trying to modify the brains of any pedestrians below. He was trying to modify his own brain by getting a better theory of motion. That is exactly the problem generator's job: propose actions that look suboptimal by current knowledge because they will produce informative experience. If the performance element always got its way, the agent would keep doing whatever is currently best and never discover anything better.</a:t>
            </a:r>
          </a:p>
          <a:p>
            <a:pPr indent="0" algn="l">
              <a:lnSpc>
                <a:spcPct val="100000"/>
              </a:lnSpc>
              <a:buNone/>
            </a:pPr>
            <a:r>
              <a:rPr lang="en-US" sz="1400" b="0" i="0" u="none" strike="noStrike" dirty="0">
                <a:solidFill>
                  <a:srgbClr val="000000"/>
                </a:solidFill>
                <a:effectLst/>
                <a:uFillTx/>
                <a:latin typeface="Arial"/>
              </a:rPr>
              <a:t>The third card is about where information for learning comes from. The taxi that shakes its passengers up receives no tips, and the external standard has to tell it that lost tips are a negative contribution, at which point it can learn that violent manoeuvres do not serve it. The taxi that sounds its horn continuously to warn pedestrians observes people covering their ears, using bad language, and occasionally cutting the wires to the horn — human behaviour that is evidence about human preferences. In this sense the performance standard singles out part of the incoming percept as reward or penalty. Pain and hunger in animals are hard-wired versions of the same mechanism.</a:t>
            </a:r>
          </a:p>
          <a:p>
            <a:pPr indent="0" algn="l">
              <a:lnSpc>
                <a:spcPct val="100000"/>
              </a:lnSpc>
              <a:buNone/>
            </a:pPr>
            <a:r>
              <a:rPr lang="en-US" sz="1400" b="0" i="0" u="none" strike="noStrike" dirty="0">
                <a:solidFill>
                  <a:srgbClr val="000000"/>
                </a:solidFill>
                <a:effectLst/>
                <a:uFillTx/>
                <a:latin typeface="Arial"/>
              </a:rPr>
              <a:t>One asymmetry to close on, on the bottom line: improving the model components so they match reality is almost always a good idea regardless of the external standard. Improving a reflex rule or a utility function is not — that specifically requires information from the standard, because there is no other way to know which behaviour was better.</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That covers how components improve. The last question is how they represent the world in the first place.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2.4.6; Turing (1950).</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 name="PlaceHolder 1"/>
          <p:cNvSpPr>
            <a:spLocks noGrp="1" noRot="1" noChangeAspect="1"/>
          </p:cNvSpPr>
          <p:nvPr>
            <p:ph type="sldImg"/>
          </p:nvPr>
        </p:nvSpPr>
        <p:spPr>
          <a:xfrm>
            <a:off x="685800" y="1143000"/>
            <a:ext cx="5484813" cy="3084513"/>
          </a:xfrm>
          <a:prstGeom prst="rect">
            <a:avLst/>
          </a:prstGeom>
          <a:ln w="0">
            <a:noFill/>
          </a:ln>
        </p:spPr>
      </p:sp>
      <p:sp>
        <p:nvSpPr>
          <p:cNvPr id="147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42  ·  2.4.7 Representing the World Inside the Agent</a:t>
            </a:r>
          </a:p>
          <a:p>
            <a:pPr indent="0" algn="l">
              <a:lnSpc>
                <a:spcPct val="100000"/>
              </a:lnSpc>
              <a:buNone/>
            </a:pPr>
            <a:r>
              <a:rPr lang="en-US" sz="1150" b="0" i="0" u="none" strike="noStrike" dirty="0">
                <a:solidFill>
                  <a:srgbClr val="595959"/>
                </a:solidFill>
                <a:effectLst/>
                <a:uFillTx/>
                <a:latin typeface="Arial"/>
              </a:rPr>
              <a:t>Suggested time: 7 minutes  ·  Running total: 199 min  ·  Chapter alignment: Section 2.4.7 and Figure 2.16</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Chapter 2 closes by comparing three levels of representation: atomic, factored, and structured. These are not agent types. They describe how agent components represent states and relationships in the environment.</a:t>
            </a:r>
          </a:p>
          <a:p>
            <a:pPr indent="0" algn="l">
              <a:lnSpc>
                <a:spcPct val="100000"/>
              </a:lnSpc>
              <a:buNone/>
            </a:pPr>
            <a:r>
              <a:rPr lang="en-US" sz="1400" b="0" i="0" u="none" strike="noStrike" dirty="0">
                <a:solidFill>
                  <a:srgbClr val="000000"/>
                </a:solidFill>
                <a:effectLst/>
                <a:uFillTx/>
                <a:latin typeface="Arial"/>
              </a:rPr>
              <a:t>In an atomic representation, each state is an indivisible label. A route-planning state might be represented only by the current city. The system can distinguish Arad from Bucharest, but the state itself has no internal attributes. Search, game-playing, hidden Markov models, and Markov decision processes often use atomic states.</a:t>
            </a:r>
          </a:p>
          <a:p>
            <a:pPr indent="0" algn="l">
              <a:lnSpc>
                <a:spcPct val="100000"/>
              </a:lnSpc>
              <a:buNone/>
            </a:pPr>
            <a:r>
              <a:rPr lang="en-US" sz="1400" b="0" i="0" u="none" strike="noStrike" dirty="0">
                <a:solidFill>
                  <a:srgbClr val="000000"/>
                </a:solidFill>
                <a:effectLst/>
                <a:uFillTx/>
                <a:latin typeface="Arial"/>
              </a:rPr>
              <a:t>In a factored representation, a state is a collection of variables and values. A driving state might include location, fuel level, speed, weather, warning lights, and available money for tolls. Two states can share some attributes while differing in others. Constraint satisfaction, propositional logic, planning, Bayesian networks, and many machine-learning methods use factored representations.</a:t>
            </a:r>
          </a:p>
          <a:p>
            <a:pPr indent="0" algn="l">
              <a:lnSpc>
                <a:spcPct val="100000"/>
              </a:lnSpc>
              <a:buNone/>
            </a:pPr>
            <a:r>
              <a:rPr lang="en-US" sz="1400" b="0" i="0" u="none" strike="noStrike" dirty="0">
                <a:solidFill>
                  <a:srgbClr val="000000"/>
                </a:solidFill>
                <a:effectLst/>
                <a:uFillTx/>
                <a:latin typeface="Arial"/>
              </a:rPr>
              <a:t>In a structured representation, the system represents objects and relationships explicitly. Instead of one giant variable describing a truck, cow, road, and driveway situation, the representation contains separate objects and relations among them. First-order logic, relational databases, and much of natural-language understanding rely on structured representations.</a:t>
            </a:r>
          </a:p>
          <a:p>
            <a:pPr indent="0" algn="l">
              <a:lnSpc>
                <a:spcPct val="100000"/>
              </a:lnSpc>
              <a:buNone/>
            </a:pPr>
            <a:r>
              <a:rPr lang="en-US" sz="1400" b="0" i="0" u="none" strike="noStrike" dirty="0">
                <a:solidFill>
                  <a:srgbClr val="000000"/>
                </a:solidFill>
                <a:effectLst/>
                <a:uFillTx/>
                <a:latin typeface="Arial"/>
              </a:rPr>
              <a:t>More expressive representations can describe complex situations more naturally and concisely, but reasoning and learning usually become more difficult. The design goal is not maximum expressiveness; it is enough expressive power for the task while remaining computationally manageable. The chapter also notes that concepts can be stored locally or distributed across many memory locations, an idea that becomes important later in neural representations.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We can now compare all of the agent program designs in one view.</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2.4.7 and Figure 2.16.</a:t>
            </a:r>
          </a:p>
        </p:txBody>
      </p:sp>
      <p:sp>
        <p:nvSpPr>
          <p:cNvPr id="1473" name="PlaceHolder 3"/>
          <p:cNvSpPr>
            <a:spLocks noGrp="1"/>
          </p:cNvSpPr>
          <p:nvPr>
            <p:ph type="sldNum" idx="3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87913C2-3398-49F6-9A6C-C51FFBC5FD52}"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 name="PlaceHolder 1"/>
          <p:cNvSpPr>
            <a:spLocks noGrp="1" noRot="1" noChangeAspect="1"/>
          </p:cNvSpPr>
          <p:nvPr>
            <p:ph type="sldImg"/>
          </p:nvPr>
        </p:nvSpPr>
        <p:spPr>
          <a:xfrm>
            <a:off x="685800" y="1143000"/>
            <a:ext cx="5484813" cy="3084513"/>
          </a:xfrm>
          <a:prstGeom prst="rect">
            <a:avLst/>
          </a:prstGeom>
          <a:ln w="0">
            <a:noFill/>
          </a:ln>
        </p:spPr>
      </p:sp>
      <p:sp>
        <p:nvSpPr>
          <p:cNvPr id="147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43  ·  2.4.7 Expressiveness Has a Price</a:t>
            </a:r>
          </a:p>
          <a:p>
            <a:pPr indent="0" algn="l">
              <a:lnSpc>
                <a:spcPct val="100000"/>
              </a:lnSpc>
              <a:buNone/>
            </a:pPr>
            <a:r>
              <a:rPr lang="en-US" sz="1150" b="0" i="0" u="none" strike="noStrike" dirty="0">
                <a:solidFill>
                  <a:srgbClr val="595959"/>
                </a:solidFill>
                <a:effectLst/>
                <a:uFillTx/>
                <a:latin typeface="Arial"/>
              </a:rPr>
              <a:t>Suggested time: 3 minutes  ·  Running total: 202 min  ·  Chapter alignment: Section 2.4.7</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The previous slide gave you atomic, factored, and structured as an axis of increasing expressiveness. This slide puts a number on what that axis costs, using one worked example: how long does it take to write down the rules of chess?</a:t>
            </a:r>
          </a:p>
          <a:p>
            <a:pPr indent="0" algn="l">
              <a:lnSpc>
                <a:spcPct val="100000"/>
              </a:lnSpc>
              <a:buNone/>
            </a:pPr>
            <a:r>
              <a:rPr lang="en-US" sz="1400" b="0" i="0" u="none" strike="noStrike" dirty="0">
                <a:solidFill>
                  <a:srgbClr val="000000"/>
                </a:solidFill>
                <a:effectLst/>
                <a:uFillTx/>
                <a:latin typeface="Arial"/>
              </a:rPr>
              <a:t>In a structured representation — first-order logic, where you can talk about objects like pieces and squares and relations like attacks and occupies — it takes a page or two. In a factored representation like propositional logic, where a state is a fixed set of variables with values, it takes thousands of pages, because you have to spell out every combination that first-order logic captured with quantified variables. And in an atomic representation, where each state is an indivisible black box and the only question you can ask about two states is whether they are the same or different, it takes on the order of ten to the thirty-eighth pages.</a:t>
            </a:r>
          </a:p>
          <a:p>
            <a:pPr indent="0" algn="l">
              <a:lnSpc>
                <a:spcPct val="100000"/>
              </a:lnSpc>
              <a:buNone/>
            </a:pPr>
            <a:r>
              <a:rPr lang="en-US" sz="1400" b="0" i="0" u="none" strike="noStrike" dirty="0">
                <a:solidFill>
                  <a:srgbClr val="000000"/>
                </a:solidFill>
                <a:effectLst/>
                <a:uFillTx/>
                <a:latin typeface="Arial"/>
              </a:rPr>
              <a:t>That is the sense in which expressiveness is a real engineering property and not a matter of taste. A more expressive language can capture, at least as concisely, everything a less expressive one captures, plus more — and often far more concisely.</a:t>
            </a:r>
          </a:p>
          <a:p>
            <a:pPr indent="0" algn="l">
              <a:lnSpc>
                <a:spcPct val="100000"/>
              </a:lnSpc>
              <a:buNone/>
            </a:pPr>
            <a:r>
              <a:rPr lang="en-US" sz="1400" b="0" i="0" u="none" strike="noStrike" dirty="0">
                <a:solidFill>
                  <a:srgbClr val="000000"/>
                </a:solidFill>
                <a:effectLst/>
                <a:uFillTx/>
                <a:latin typeface="Arial"/>
              </a:rPr>
              <a:t>The catch is on the other side. Reasoning and learning become more complex as expressive power increases. First-order inference is harder than propositional inference, which is harder than search over atomic states. So the design question is not which representation is most powerful. It is which is the least expressive representation that still captures what the task actually requires. And the chapter's closing observation is that real-world systems may need to operate at several points on the axis simultaneously — atomic search inside a factored planner inside a structured knowledge base.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There is a second, independent representation axis that the chapter mentions only briefly and that turns out to matter enormously.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2.4.7.</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6" name="PlaceHolder 1"/>
          <p:cNvSpPr>
            <a:spLocks noGrp="1" noRot="1" noChangeAspect="1"/>
          </p:cNvSpPr>
          <p:nvPr>
            <p:ph type="sldImg"/>
          </p:nvPr>
        </p:nvSpPr>
        <p:spPr>
          <a:xfrm>
            <a:off x="685800" y="1143000"/>
            <a:ext cx="5484813" cy="3084513"/>
          </a:xfrm>
          <a:prstGeom prst="rect">
            <a:avLst/>
          </a:prstGeom>
          <a:ln w="0">
            <a:noFill/>
          </a:ln>
        </p:spPr>
      </p:sp>
      <p:sp>
        <p:nvSpPr>
          <p:cNvPr id="147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44  ·  2.4.7 Localist and Distributed Representations</a:t>
            </a:r>
          </a:p>
          <a:p>
            <a:pPr indent="0" algn="l">
              <a:lnSpc>
                <a:spcPct val="100000"/>
              </a:lnSpc>
              <a:buNone/>
            </a:pPr>
            <a:r>
              <a:rPr lang="en-US" sz="1150" b="0" i="0" u="none" strike="noStrike" dirty="0">
                <a:solidFill>
                  <a:srgbClr val="595959"/>
                </a:solidFill>
                <a:effectLst/>
                <a:uFillTx/>
                <a:latin typeface="Arial"/>
              </a:rPr>
              <a:t>Suggested time: 3 minutes  ·  Running total: 205 min  ·  Chapter alignment: Section 2.4.7</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The chapter closes with a second representation axis, and it gets only a paragraph in the text, which undersells how much it matters for anyone who will go on to work with neural systems. It is a separate question from atomic versus factored versus structured. That first axis asked how much a representation can express. This one asks where the information physically sits, whether in a computer's memory or in a brain.</a:t>
            </a:r>
          </a:p>
          <a:p>
            <a:pPr indent="0" algn="l">
              <a:lnSpc>
                <a:spcPct val="100000"/>
              </a:lnSpc>
              <a:buNone/>
            </a:pPr>
            <a:r>
              <a:rPr lang="en-US" sz="1400" b="0" i="0" u="none" strike="noStrike" dirty="0">
                <a:solidFill>
                  <a:srgbClr val="000000"/>
                </a:solidFill>
                <a:effectLst/>
                <a:uFillTx/>
                <a:latin typeface="Arial"/>
              </a:rPr>
              <a:t>A localist representation has a one-to-one mapping between concepts and memory locations. Concept, cell. Concept, cell. The mapping is arbitrary — nothing about the location tells you anything about the meaning. The consequence is the example on the left. If a transmission error garbles a few bits, the address you land on has no relationship to the address you left, so Truck can turn into Truce, a completely unrelated concept. Nearness in memory carries no information about nearness in meaning.</a:t>
            </a:r>
          </a:p>
          <a:p>
            <a:pPr indent="0" algn="l">
              <a:lnSpc>
                <a:spcPct val="100000"/>
              </a:lnSpc>
              <a:buNone/>
            </a:pPr>
            <a:r>
              <a:rPr lang="en-US" sz="1400" b="0" i="0" u="none" strike="noStrike" dirty="0">
                <a:solidFill>
                  <a:srgbClr val="000000"/>
                </a:solidFill>
                <a:effectLst/>
                <a:uFillTx/>
                <a:latin typeface="Arial"/>
              </a:rPr>
              <a:t>A distributed representation spreads each concept over many locations, and each location participates in representing many different concepts. The useful way to think about it is geometric: each concept is a point in a multidimensional space. Now garble a few bits and you move a short distance in that space — you land on a nearby point, which has a similar meaning. The representation degrades gracefully instead of catastrophically.</a:t>
            </a:r>
          </a:p>
          <a:p>
            <a:pPr indent="0" algn="l">
              <a:lnSpc>
                <a:spcPct val="100000"/>
              </a:lnSpc>
              <a:buNone/>
            </a:pPr>
            <a:r>
              <a:rPr lang="en-US" sz="1400" b="0" i="0" u="none" strike="noStrike" dirty="0">
                <a:solidFill>
                  <a:srgbClr val="000000"/>
                </a:solidFill>
                <a:effectLst/>
                <a:uFillTx/>
                <a:latin typeface="Arial"/>
              </a:rPr>
              <a:t>That robustness against noise and information loss is the headline property. It is also, and I want students to see this connection explicitly, exactly the property that makes learned vector representations work in modern systems. When you encounter embeddings — where similar items sit close together and arithmetic on the vectors is meaningful — you are looking at a distributed representation, and this paragraph in Chapter 2 is where the idea enters the book.</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That completes the chapter's technical content. Before the summary, it is worth seeing where these ideas came from.</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2.4.7.</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8" name="PlaceHolder 1"/>
          <p:cNvSpPr>
            <a:spLocks noGrp="1" noRot="1" noChangeAspect="1"/>
          </p:cNvSpPr>
          <p:nvPr>
            <p:ph type="sldImg"/>
          </p:nvPr>
        </p:nvSpPr>
        <p:spPr>
          <a:xfrm>
            <a:off x="685800" y="1143000"/>
            <a:ext cx="5484813" cy="3084513"/>
          </a:xfrm>
          <a:prstGeom prst="rect">
            <a:avLst/>
          </a:prstGeom>
          <a:ln w="0">
            <a:noFill/>
          </a:ln>
        </p:spPr>
      </p:sp>
      <p:sp>
        <p:nvSpPr>
          <p:cNvPr id="147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45  ·  All Agent Program Designs in Chapter 2</a:t>
            </a:r>
          </a:p>
          <a:p>
            <a:pPr indent="0" algn="l">
              <a:lnSpc>
                <a:spcPct val="100000"/>
              </a:lnSpc>
              <a:buNone/>
            </a:pPr>
            <a:r>
              <a:rPr lang="en-US" sz="1150" b="0" i="0" u="none" strike="noStrike" dirty="0">
                <a:solidFill>
                  <a:srgbClr val="595959"/>
                </a:solidFill>
                <a:effectLst/>
                <a:uFillTx/>
                <a:latin typeface="Arial"/>
              </a:rPr>
              <a:t>Suggested time: 5 minutes  ·  Running total: 210 min  ·  Chapter alignment: Synthesis of Sections 2.4.1-2.4.6</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slide is a checkpoint covering every agent design presented in the lecture. The table-driven agent stores the percept history and looks up an action. It represents the complete agent function explicitly but does not scale.</a:t>
            </a:r>
          </a:p>
          <a:p>
            <a:pPr indent="0" algn="l">
              <a:lnSpc>
                <a:spcPct val="100000"/>
              </a:lnSpc>
              <a:buNone/>
            </a:pPr>
            <a:r>
              <a:rPr lang="en-US" sz="1400" b="0" i="0" u="none" strike="noStrike" dirty="0">
                <a:solidFill>
                  <a:srgbClr val="000000"/>
                </a:solidFill>
                <a:effectLst/>
                <a:uFillTx/>
                <a:latin typeface="Arial"/>
              </a:rPr>
              <a:t>The simple reflex agent maps the current percept-derived state directly to an action using condition-action rules. It is compact and fast but depends on sufficient observability.</a:t>
            </a:r>
          </a:p>
          <a:p>
            <a:pPr indent="0" algn="l">
              <a:lnSpc>
                <a:spcPct val="100000"/>
              </a:lnSpc>
              <a:buNone/>
            </a:pPr>
            <a:r>
              <a:rPr lang="en-US" sz="1400" b="0" i="0" u="none" strike="noStrike" dirty="0">
                <a:solidFill>
                  <a:srgbClr val="000000"/>
                </a:solidFill>
                <a:effectLst/>
                <a:uFillTx/>
                <a:latin typeface="Arial"/>
              </a:rPr>
              <a:t>The model-based reflex agent maintains internal state using a transition model and sensor model, then applies rules to the estimated current state. It is designed for partial observability.</a:t>
            </a:r>
          </a:p>
          <a:p>
            <a:pPr indent="0" algn="l">
              <a:lnSpc>
                <a:spcPct val="100000"/>
              </a:lnSpc>
              <a:buNone/>
            </a:pPr>
            <a:r>
              <a:rPr lang="en-US" sz="1400" b="0" i="0" u="none" strike="noStrike" dirty="0">
                <a:solidFill>
                  <a:srgbClr val="000000"/>
                </a:solidFill>
                <a:effectLst/>
                <a:uFillTx/>
                <a:latin typeface="Arial"/>
              </a:rPr>
              <a:t>The goal-based agent adds a goal and predicts future states to find an action sequence that reaches that goal. Search and planning provide the mechanisms for this look-ahead behavior.</a:t>
            </a:r>
          </a:p>
          <a:p>
            <a:pPr indent="0" algn="l">
              <a:lnSpc>
                <a:spcPct val="100000"/>
              </a:lnSpc>
              <a:buNone/>
            </a:pPr>
            <a:r>
              <a:rPr lang="en-US" sz="1400" b="0" i="0" u="none" strike="noStrike" dirty="0">
                <a:solidFill>
                  <a:srgbClr val="000000"/>
                </a:solidFill>
                <a:effectLst/>
                <a:uFillTx/>
                <a:latin typeface="Arial"/>
              </a:rPr>
              <a:t>The utility-based agent ranks outcomes and chooses the action with the highest expected utility. It supports tradeoffs and uncertainty when a binary goal is not enough.</a:t>
            </a:r>
          </a:p>
          <a:p>
            <a:pPr indent="0" algn="l">
              <a:lnSpc>
                <a:spcPct val="100000"/>
              </a:lnSpc>
              <a:buNone/>
            </a:pPr>
            <a:r>
              <a:rPr lang="en-US" sz="1400" b="0" i="0" u="none" strike="noStrike" dirty="0">
                <a:solidFill>
                  <a:srgbClr val="000000"/>
                </a:solidFill>
                <a:effectLst/>
                <a:uFillTx/>
                <a:latin typeface="Arial"/>
              </a:rPr>
              <a:t>The learning agent improves components through feedback and exploration. Learning can be added to any of the other designs. A model-based utility agent can learn its transition model; a reflex agent can learn rules; a goal-based agent can learn better search guidance.</a:t>
            </a:r>
          </a:p>
          <a:p>
            <a:pPr indent="0" algn="l">
              <a:lnSpc>
                <a:spcPct val="100000"/>
              </a:lnSpc>
              <a:buNone/>
            </a:pPr>
            <a:r>
              <a:rPr lang="en-US" sz="1400" b="0" i="0" u="none" strike="noStrike" dirty="0">
                <a:solidFill>
                  <a:srgbClr val="000000"/>
                </a:solidFill>
                <a:effectLst/>
                <a:uFillTx/>
                <a:latin typeface="Arial"/>
              </a:rPr>
              <a:t>These are design patterns, not rigid boxes. Real systems commonly combine them. The most useful classification is the one that explains what information the system represents and how it selects actions.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environment properties tell us which of these design capabilities are necessary.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2.4.1-2.4.6.</a:t>
            </a:r>
          </a:p>
        </p:txBody>
      </p:sp>
      <p:sp>
        <p:nvSpPr>
          <p:cNvPr id="1480" name="PlaceHolder 3"/>
          <p:cNvSpPr>
            <a:spLocks noGrp="1"/>
          </p:cNvSpPr>
          <p:nvPr>
            <p:ph type="sldNum" idx="3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033F8C2-057B-49D0-B2CC-F52BD4936C03}" type="slidenum">
              <a:rPr lang="en-US" sz="1200" b="0" u="none" strike="noStrike">
                <a:solidFill>
                  <a:schemeClr val="dk1"/>
                </a:solidFill>
                <a:effectLst/>
                <a:uFillTx/>
                <a:latin typeface="+mn-lt"/>
                <a:ea typeface="+mn-ea"/>
              </a:rPr>
              <a:t>45</a:t>
            </a:fld>
            <a:endParaRPr lang="en-US" sz="1200" b="0" u="none" strike="noStrike">
              <a:solidFill>
                <a:srgbClr val="000000"/>
              </a:solidFill>
              <a:effectLst/>
              <a:uFillTx/>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1" name="PlaceHolder 1"/>
          <p:cNvSpPr>
            <a:spLocks noGrp="1" noRot="1" noChangeAspect="1"/>
          </p:cNvSpPr>
          <p:nvPr>
            <p:ph type="sldImg"/>
          </p:nvPr>
        </p:nvSpPr>
        <p:spPr>
          <a:xfrm>
            <a:off x="685800" y="1143000"/>
            <a:ext cx="5484813" cy="3084513"/>
          </a:xfrm>
          <a:prstGeom prst="rect">
            <a:avLst/>
          </a:prstGeom>
          <a:ln w="0">
            <a:noFill/>
          </a:ln>
        </p:spPr>
      </p:sp>
      <p:sp>
        <p:nvSpPr>
          <p:cNvPr id="148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46  ·  Choosing an Agent Design from Environment Properties</a:t>
            </a:r>
          </a:p>
          <a:p>
            <a:pPr indent="0" algn="l">
              <a:lnSpc>
                <a:spcPct val="100000"/>
              </a:lnSpc>
              <a:buNone/>
            </a:pPr>
            <a:r>
              <a:rPr lang="en-US" sz="1150" b="0" i="0" u="none" strike="noStrike" dirty="0">
                <a:solidFill>
                  <a:srgbClr val="595959"/>
                </a:solidFill>
                <a:effectLst/>
                <a:uFillTx/>
                <a:latin typeface="Arial"/>
              </a:rPr>
              <a:t>Suggested time: 6 minutes  ·  Running total: 216 min  ·  Chapter alignment: Synthesis of Sections 2.3 and 2.4</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The practical design rule is to let the task environment drive the agent architecture. In a fully observable, simple environment, a simple reflex agent may be sufficient. There is no benefit in building a complex planner when a reliable current-state rule produces the correct action.</a:t>
            </a:r>
          </a:p>
          <a:p>
            <a:pPr indent="0" algn="l">
              <a:lnSpc>
                <a:spcPct val="100000"/>
              </a:lnSpc>
              <a:buNone/>
            </a:pPr>
            <a:r>
              <a:rPr lang="en-US" sz="1400" b="0" i="0" u="none" strike="noStrike" dirty="0">
                <a:solidFill>
                  <a:srgbClr val="000000"/>
                </a:solidFill>
                <a:effectLst/>
                <a:uFillTx/>
                <a:latin typeface="Arial"/>
              </a:rPr>
              <a:t>Partial observability creates a need for memory and state estimation, which points toward a model-based agent. A long-term objective that requires a sequence of actions creates a need for goals, prediction, search, or planning.</a:t>
            </a:r>
          </a:p>
          <a:p>
            <a:pPr indent="0" algn="l">
              <a:lnSpc>
                <a:spcPct val="100000"/>
              </a:lnSpc>
              <a:buNone/>
            </a:pPr>
            <a:r>
              <a:rPr lang="en-US" sz="1400" b="0" i="0" u="none" strike="noStrike" dirty="0">
                <a:solidFill>
                  <a:srgbClr val="000000"/>
                </a:solidFill>
                <a:effectLst/>
                <a:uFillTx/>
                <a:latin typeface="Arial"/>
              </a:rPr>
              <a:t>When several successful outcomes differ in quality, or when outcomes are uncertain, utility provides a way to compare them. When the rules, models, environment, or performance measure are unknown or changing, learning becomes necessary.</a:t>
            </a:r>
          </a:p>
          <a:p>
            <a:pPr indent="0" algn="l">
              <a:lnSpc>
                <a:spcPct val="100000"/>
              </a:lnSpc>
              <a:buNone/>
            </a:pPr>
            <a:r>
              <a:rPr lang="en-US" sz="1400" b="0" i="0" u="none" strike="noStrike" dirty="0">
                <a:solidFill>
                  <a:srgbClr val="000000"/>
                </a:solidFill>
                <a:effectLst/>
                <a:uFillTx/>
                <a:latin typeface="Arial"/>
              </a:rPr>
              <a:t>These choices are cumulative rather than exclusive. A self-driving system may be model-based because it tracks hidden state, goal-based because it navigates to a destination, utility-based because it balances safety and travel time, and learning-based because it improves perception and prediction from data. It may also contain simple reflex safety rules for immediate braking.</a:t>
            </a:r>
          </a:p>
          <a:p>
            <a:pPr indent="0" algn="l">
              <a:lnSpc>
                <a:spcPct val="100000"/>
              </a:lnSpc>
              <a:buNone/>
            </a:pPr>
            <a:r>
              <a:rPr lang="en-US" sz="1400" b="0" i="0" u="none" strike="noStrike" dirty="0">
                <a:solidFill>
                  <a:srgbClr val="000000"/>
                </a:solidFill>
                <a:effectLst/>
                <a:uFillTx/>
                <a:latin typeface="Arial"/>
              </a:rPr>
              <a:t>A disciplined design process therefore follows four steps. First, define the agent and environment. Second, specify PEAS. Third, classify the environment. Fourth, select the least complex agent design that can represent the required information and make adequate decisions.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The PEAS activity lets students apply this workflow before proposing an algorithm.</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2.3 and 2.4.</a:t>
            </a:r>
          </a:p>
        </p:txBody>
      </p:sp>
      <p:sp>
        <p:nvSpPr>
          <p:cNvPr id="1483" name="PlaceHolder 3"/>
          <p:cNvSpPr>
            <a:spLocks noGrp="1"/>
          </p:cNvSpPr>
          <p:nvPr>
            <p:ph type="sldNum" idx="3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8FB10B9-9962-4AF0-8D3F-DB657E98BC57}" type="slidenum">
              <a:rPr lang="en-US" sz="1200" b="0" u="none" strike="noStrike">
                <a:solidFill>
                  <a:schemeClr val="dk1"/>
                </a:solidFill>
                <a:effectLst/>
                <a:uFillTx/>
                <a:latin typeface="+mn-lt"/>
                <a:ea typeface="+mn-ea"/>
              </a:rPr>
              <a:t>46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 name="PlaceHolder 1"/>
          <p:cNvSpPr>
            <a:spLocks noGrp="1" noRot="1" noChangeAspect="1"/>
          </p:cNvSpPr>
          <p:nvPr>
            <p:ph type="sldImg"/>
          </p:nvPr>
        </p:nvSpPr>
        <p:spPr>
          <a:xfrm>
            <a:off x="685800" y="1143000"/>
            <a:ext cx="5484813" cy="3084513"/>
          </a:xfrm>
          <a:prstGeom prst="rect">
            <a:avLst/>
          </a:prstGeom>
          <a:ln w="0">
            <a:noFill/>
          </a:ln>
        </p:spPr>
      </p:sp>
      <p:sp>
        <p:nvSpPr>
          <p:cNvPr id="148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47  ·  Class Activity: Build a PEAS Description</a:t>
            </a:r>
          </a:p>
          <a:p>
            <a:pPr indent="0" algn="l">
              <a:lnSpc>
                <a:spcPct val="100000"/>
              </a:lnSpc>
              <a:buNone/>
            </a:pPr>
            <a:r>
              <a:rPr lang="en-US" sz="1150" b="0" i="0" u="none" strike="noStrike" dirty="0">
                <a:solidFill>
                  <a:srgbClr val="595959"/>
                </a:solidFill>
                <a:effectLst/>
                <a:uFillTx/>
                <a:latin typeface="Arial"/>
              </a:rPr>
              <a:t>Suggested time: 12 minutes  ·  Running total: 228 min  ·  Chapter alignment: Applied Section 2.3.1</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We are going to pause the lecture and specify a task before discussing an implementation. Each group will choose one system: autonomous Pac-Man, a campus chatbot, an email phishing triage agent, or a robotic delivery cart.</a:t>
            </a:r>
          </a:p>
          <a:p>
            <a:pPr indent="0" algn="l">
              <a:lnSpc>
                <a:spcPct val="100000"/>
              </a:lnSpc>
              <a:buNone/>
            </a:pPr>
            <a:r>
              <a:rPr lang="en-US" sz="1400" b="0" i="0" u="none" strike="noStrike" dirty="0">
                <a:solidFill>
                  <a:srgbClr val="000000"/>
                </a:solidFill>
                <a:effectLst/>
                <a:uFillTx/>
                <a:latin typeface="Arial"/>
              </a:rPr>
              <a:t>Your group must write at least two concrete items for each PEAS category. For Performance, avoid vague words such as 'good' or 'smart.' State what successful behavior means and identify at least one failure or cost. For Environment, identify the entities and conditions the agent must handle. For Actuators, list the outputs or actions that can change the environment. For Sensors, list the information the agent can actually receive.</a:t>
            </a:r>
          </a:p>
          <a:p>
            <a:pPr indent="0" algn="l">
              <a:lnSpc>
                <a:spcPct val="100000"/>
              </a:lnSpc>
              <a:buNone/>
            </a:pPr>
            <a:r>
              <a:rPr lang="en-US" sz="1400" b="0" i="0" u="none" strike="noStrike" dirty="0">
                <a:solidFill>
                  <a:srgbClr val="000000"/>
                </a:solidFill>
                <a:effectLst/>
                <a:uFillTx/>
                <a:latin typeface="Arial"/>
              </a:rPr>
              <a:t>After PEAS, classify the environment on at least three dimensions and recommend an agent design. Be prepared to explain why the design matches the environment. You have approximately eight minutes, followed by short reports.</a:t>
            </a:r>
          </a:p>
          <a:p>
            <a:pPr indent="0" algn="l">
              <a:lnSpc>
                <a:spcPct val="100000"/>
              </a:lnSpc>
              <a:buNone/>
            </a:pPr>
            <a:r>
              <a:rPr lang="en-US" sz="1400" b="0" i="0" u="none" strike="noStrike" dirty="0">
                <a:solidFill>
                  <a:srgbClr val="000000"/>
                </a:solidFill>
                <a:effectLst/>
                <a:uFillTx/>
                <a:latin typeface="Arial"/>
              </a:rPr>
              <a:t>As you work, remember that an algorithm cannot compensate for missing task specification. If the performance measure is unclear, there is no objective definition of rational behavior. If the sensors cannot provide relevant information, the agent may need memory, a model, exploration, or a redesigned architecture.</a:t>
            </a:r>
          </a:p>
          <a:p>
            <a:pPr indent="0" algn="l">
              <a:lnSpc>
                <a:spcPct val="100000"/>
              </a:lnSpc>
              <a:buNone/>
            </a:pPr>
            <a:r>
              <a:rPr lang="en-US" sz="1400" b="0" i="0" u="none" strike="noStrike" dirty="0">
                <a:solidFill>
                  <a:srgbClr val="000000"/>
                </a:solidFill>
                <a:effectLst/>
                <a:uFillTx/>
                <a:latin typeface="Arial"/>
              </a:rPr>
              <a:t>When groups report, listen for mismatches. A chatbot that can only display text cannot directly reset an account unless an actuator or integration provides that capability. A phishing triage system cannot inspect attachment behavior if the sensors provide only the subject line. A delivery cart expected to operate in rain needs sensors and environmental assumptions that support that requirement.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We will now apply the same vocabulary to the autonomous Pac-Man program used in the class demonstration.</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 2.3.1; lecture deck activity.</a:t>
            </a:r>
          </a:p>
        </p:txBody>
      </p:sp>
      <p:sp>
        <p:nvSpPr>
          <p:cNvPr id="1486" name="PlaceHolder 3"/>
          <p:cNvSpPr>
            <a:spLocks noGrp="1"/>
          </p:cNvSpPr>
          <p:nvPr>
            <p:ph type="sldNum" idx="3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2879195-7CB5-4641-84E4-52754EFCE681}" type="slidenum">
              <a:rPr lang="en-US" sz="1200" b="0" u="none" strike="noStrike">
                <a:solidFill>
                  <a:schemeClr val="dk1"/>
                </a:solidFill>
                <a:effectLst/>
                <a:uFillTx/>
                <a:latin typeface="+mn-lt"/>
                <a:ea typeface="+mn-ea"/>
              </a:rPr>
              <a:t>47</a:t>
            </a:fld>
            <a:endParaRPr lang="en-US" sz="1200" b="0" u="none" strike="noStrike">
              <a:solidFill>
                <a:srgbClr val="000000"/>
              </a:solidFill>
              <a:effectLst/>
              <a:uFillTx/>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7" name="PlaceHolder 1"/>
          <p:cNvSpPr>
            <a:spLocks noGrp="1" noRot="1" noChangeAspect="1"/>
          </p:cNvSpPr>
          <p:nvPr>
            <p:ph type="sldImg"/>
          </p:nvPr>
        </p:nvSpPr>
        <p:spPr>
          <a:xfrm>
            <a:off x="685800" y="1143000"/>
            <a:ext cx="5484813" cy="3084513"/>
          </a:xfrm>
          <a:prstGeom prst="rect">
            <a:avLst/>
          </a:prstGeom>
          <a:ln w="0">
            <a:noFill/>
          </a:ln>
        </p:spPr>
      </p:sp>
      <p:sp>
        <p:nvSpPr>
          <p:cNvPr id="148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48  ·  Class Demo: Autonomous Pac-Man Agent</a:t>
            </a:r>
          </a:p>
          <a:p>
            <a:pPr indent="0" algn="l">
              <a:lnSpc>
                <a:spcPct val="100000"/>
              </a:lnSpc>
              <a:buNone/>
            </a:pPr>
            <a:r>
              <a:rPr lang="en-US" sz="1150" b="0" i="0" u="none" strike="noStrike" dirty="0">
                <a:solidFill>
                  <a:srgbClr val="595959"/>
                </a:solidFill>
                <a:effectLst/>
                <a:uFillTx/>
                <a:latin typeface="Arial"/>
              </a:rPr>
              <a:t>Suggested time: 10 minutes  ·  Running total: 238 min  ·  Chapter alignment: Applied Sections 2.1-2.4.6</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As the game runs, do not evaluate it only by whether Pac-Man wins. Identify the agent design. The environment is the maze with walls, pellets, power pellets, ghosts, and scoring rules. The percept supplied to the program includes position, legal moves, remaining pellets, power-pellet state, and ghost information.</a:t>
            </a:r>
          </a:p>
          <a:p>
            <a:pPr indent="0" algn="l">
              <a:lnSpc>
                <a:spcPct val="100000"/>
              </a:lnSpc>
              <a:buNone/>
            </a:pPr>
            <a:r>
              <a:rPr lang="en-US" sz="1400" b="0" i="0" u="none" strike="noStrike" dirty="0">
                <a:solidFill>
                  <a:srgbClr val="000000"/>
                </a:solidFill>
                <a:effectLst/>
                <a:uFillTx/>
                <a:latin typeface="Arial"/>
              </a:rPr>
              <a:t>The actuators are the movement actions returned by the program. Each action changes the state and produces a new percept. The performance measure includes score, survival, and completion. If the program chooses the action with the highest calculated value, it has a utility-based component. If it searches paths to pellets, it has a goal-based component. If it tracks timers or ghost release state, it has a model-based component.</a:t>
            </a:r>
          </a:p>
          <a:p>
            <a:pPr indent="0" algn="l">
              <a:lnSpc>
                <a:spcPct val="100000"/>
              </a:lnSpc>
              <a:buNone/>
            </a:pPr>
            <a:r>
              <a:rPr lang="en-US" sz="1400" b="0" i="0" u="none" strike="noStrike" dirty="0">
                <a:solidFill>
                  <a:srgbClr val="000000"/>
                </a:solidFill>
                <a:effectLst/>
                <a:uFillTx/>
                <a:latin typeface="Arial"/>
              </a:rPr>
              <a:t>Watch for the power pellet. A normal pellet changes the score only. A power pellet changes the environment by placing ghosts into a frightened state for a limited time. If the agent tracks the remaining duration, that information becomes internal state. During frightened mode, the utility of approaching a ghost changes from strongly negative to positive.</a:t>
            </a:r>
          </a:p>
          <a:p>
            <a:pPr indent="0" algn="l">
              <a:lnSpc>
                <a:spcPct val="100000"/>
              </a:lnSpc>
              <a:buNone/>
            </a:pPr>
            <a:r>
              <a:rPr lang="en-US" sz="1400" b="0" i="0" u="none" strike="noStrike" dirty="0">
                <a:solidFill>
                  <a:srgbClr val="000000"/>
                </a:solidFill>
                <a:effectLst/>
                <a:uFillTx/>
                <a:latin typeface="Arial"/>
              </a:rPr>
              <a:t>Ask whether the agent is rational. The answer depends on the performance measure and the information available. A locally reasonable move can still lead to a poor later outcome if the agent has a short planning horizon. A system can therefore be rational relative to a limited model while remaining less capable than a more complete planner.</a:t>
            </a:r>
          </a:p>
          <a:p>
            <a:pPr indent="0" algn="l">
              <a:lnSpc>
                <a:spcPct val="100000"/>
              </a:lnSpc>
              <a:buNone/>
            </a:pPr>
            <a:r>
              <a:rPr lang="en-US" sz="1400" b="0" i="0" u="none" strike="noStrike" dirty="0">
                <a:solidFill>
                  <a:srgbClr val="000000"/>
                </a:solidFill>
                <a:effectLst/>
                <a:uFillTx/>
                <a:latin typeface="Arial"/>
              </a:rPr>
              <a:t>This demonstration illustrates why the textbook categories can overlap in real code. The program does not need to fit one pure box. The categories help us identify which information is explicit and which decision mechanism is being used.</a:t>
            </a:r>
          </a:p>
          <a:p>
            <a:pPr indent="0" algn="l">
              <a:lnSpc>
                <a:spcPct val="100000"/>
              </a:lnSpc>
              <a:buNone/>
            </a:pPr>
            <a:r>
              <a:rPr lang="en-US" sz="1400" b="0" i="0" u="none" strike="noStrike" dirty="0">
                <a:solidFill>
                  <a:srgbClr val="000000"/>
                </a:solidFill>
                <a:effectLst/>
                <a:uFillTx/>
                <a:latin typeface="Arial"/>
              </a:rPr>
              <a:t>After this vocabulary mapping, the next slide identifies the live code files. The point of the live demo is not to teach Pygame. The point is to show that the visual environment can remain fixed while the agent program changes. That separation reinforces the Chapter 2 formula: agent equals architecture plus program.</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Next, we will connect the live Pac-Man behavior to the specific Python agent files that implement the Chapter 2 agent designs.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Sections 2.1-2.4.6; autonomous Pac-Man classroom code.</a:t>
            </a:r>
          </a:p>
        </p:txBody>
      </p:sp>
      <p:sp>
        <p:nvSpPr>
          <p:cNvPr id="1489" name="PlaceHolder 3"/>
          <p:cNvSpPr>
            <a:spLocks noGrp="1"/>
          </p:cNvSpPr>
          <p:nvPr>
            <p:ph type="sldNum" idx="3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EA1619B-1EA4-4D4C-B44F-3F3AD03946DB}" type="slidenum">
              <a:rPr lang="en-US" sz="1200" b="0" u="none" strike="noStrike">
                <a:solidFill>
                  <a:schemeClr val="dk1"/>
                </a:solidFill>
                <a:effectLst/>
                <a:uFillTx/>
                <a:latin typeface="+mn-lt"/>
                <a:ea typeface="+mn-ea"/>
              </a:rPr>
              <a:t>48</a:t>
            </a:fld>
            <a:endParaRPr lang="en-US" sz="1200" b="0" u="none" strike="noStrike">
              <a:solidFill>
                <a:srgbClr val="000000"/>
              </a:solidFill>
              <a:effectLst/>
              <a:uFillTx/>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0" name="PlaceHolder 1"/>
          <p:cNvSpPr>
            <a:spLocks noGrp="1" noRot="1" noChangeAspect="1"/>
          </p:cNvSpPr>
          <p:nvPr>
            <p:ph type="sldImg"/>
          </p:nvPr>
        </p:nvSpPr>
        <p:spPr>
          <a:xfrm>
            <a:off x="0" y="763588"/>
            <a:ext cx="0" cy="0"/>
          </a:xfrm>
          <a:prstGeom prst="rect">
            <a:avLst/>
          </a:prstGeom>
          <a:ln w="0">
            <a:noFill/>
          </a:ln>
        </p:spPr>
      </p:sp>
      <p:sp>
        <p:nvSpPr>
          <p:cNvPr id="1491" name="PlaceHolder 2"/>
          <p:cNvSpPr>
            <a:spLocks noGrp="1"/>
          </p:cNvSpPr>
          <p:nvPr>
            <p:ph type="body"/>
          </p:nvPr>
        </p:nvSpPr>
        <p:spPr>
          <a:xfrm>
            <a:off x="777240" y="4777560"/>
            <a:ext cx="6217200" cy="452556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49  ·  Live Code Demo: Five Chapter 2 Agent Programs</a:t>
            </a:r>
          </a:p>
          <a:p>
            <a:pPr indent="0" algn="l">
              <a:lnSpc>
                <a:spcPct val="100000"/>
              </a:lnSpc>
              <a:buNone/>
            </a:pPr>
            <a:r>
              <a:rPr lang="en-US" sz="1150" b="0" i="0" u="none" strike="noStrike" dirty="0">
                <a:solidFill>
                  <a:srgbClr val="595959"/>
                </a:solidFill>
                <a:effectLst/>
                <a:uFillTx/>
                <a:latin typeface="Arial"/>
              </a:rPr>
              <a:t>Suggested time: 10 minutes  ·  Running total: 248 min  ·  Chapter alignment: Live demonstration files; Section 2.4 agent program</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slide identifies the code we will use for the live demonstration. The shared file, pacman_chapter2_engine.py, represents the environment and architecture. It handles the maze, graphics, sensors, actuators, ghosts, scoring, and performance feedback. We are not studying that file first because it is support code for the classroom display.</a:t>
            </a:r>
          </a:p>
          <a:p>
            <a:pPr indent="0" algn="l">
              <a:lnSpc>
                <a:spcPct val="100000"/>
              </a:lnSpc>
              <a:buNone/>
            </a:pPr>
            <a:r>
              <a:rPr lang="en-US" sz="1400" b="0" i="0" u="none" strike="noStrike" dirty="0">
                <a:solidFill>
                  <a:srgbClr val="000000"/>
                </a:solidFill>
                <a:effectLst/>
                <a:uFillTx/>
                <a:latin typeface="Arial"/>
              </a:rPr>
              <a:t>The important instructional point is that the environment remains fixed while the agent program changes. Each numbered file contains one Chapter 2 agent program. Project the section marked CHAPTER 2 AGENT PROGRAM STARTS HERE, then run the file so students can connect the code to the visible behavior.</a:t>
            </a:r>
          </a:p>
          <a:p>
            <a:pPr indent="0" algn="l">
              <a:lnSpc>
                <a:spcPct val="100000"/>
              </a:lnSpc>
              <a:buNone/>
            </a:pPr>
            <a:r>
              <a:rPr lang="en-US" sz="1400" b="0" i="0" u="none" strike="noStrike" dirty="0">
                <a:solidFill>
                  <a:srgbClr val="000000"/>
                </a:solidFill>
                <a:effectLst/>
                <a:uFillTx/>
                <a:latin typeface="Arial"/>
              </a:rPr>
              <a:t>Start with 01_simple_reflex_agent_ch2.py. Point out that the decision method receives only the current percept and applies ordered condition-action rules. It has no memory, model, goal, utility function, or learning component.</a:t>
            </a:r>
          </a:p>
          <a:p>
            <a:pPr indent="0" algn="l">
              <a:lnSpc>
                <a:spcPct val="100000"/>
              </a:lnSpc>
              <a:buNone/>
            </a:pPr>
            <a:r>
              <a:rPr lang="en-US" sz="1400" b="0" i="0" u="none" strike="noStrike" dirty="0">
                <a:solidFill>
                  <a:srgbClr val="000000"/>
                </a:solidFill>
                <a:effectLst/>
                <a:uFillTx/>
                <a:latin typeface="Arial"/>
              </a:rPr>
              <a:t>Then use 02_model_based_reflex_agent_ch2.py. Show the InternalState structure and the transition_model, sensor_model, update_state, and choose_action methods. This agent still fires reflex rules, but those rules operate on an updated internal state instead of the current percept alone.</a:t>
            </a:r>
          </a:p>
          <a:p>
            <a:pPr indent="0" algn="l">
              <a:lnSpc>
                <a:spcPct val="100000"/>
              </a:lnSpc>
              <a:buNone/>
            </a:pPr>
            <a:r>
              <a:rPr lang="en-US" sz="1400" b="0" i="0" u="none" strike="noStrike" dirty="0">
                <a:solidFill>
                  <a:srgbClr val="000000"/>
                </a:solidFill>
                <a:effectLst/>
                <a:uFillTx/>
                <a:latin typeface="Arial"/>
              </a:rPr>
              <a:t>Next use 03_goal_based_agent_ch2.py. Show formulate_goal, make_plan, and choose_action. The agent selects a desired future state, creates an action sequence, and executes the first step. Treat the path-planning helper as a black box for now; the search algorithm itself belongs to Chapter 3.</a:t>
            </a:r>
          </a:p>
          <a:p>
            <a:pPr indent="0" algn="l">
              <a:lnSpc>
                <a:spcPct val="100000"/>
              </a:lnSpc>
              <a:buNone/>
            </a:pPr>
            <a:r>
              <a:rPr lang="en-US" sz="1400" b="0" i="0" u="none" strike="noStrike" dirty="0">
                <a:solidFill>
                  <a:srgbClr val="000000"/>
                </a:solidFill>
                <a:effectLst/>
                <a:uFillTx/>
                <a:latin typeface="Arial"/>
              </a:rPr>
              <a:t>Then use 04_utility_based_agent_ch2.py. Show expected_utility and choose_action. This agent does not commit to a single stored plan. It evaluates legal actions by expected desirability, including food reward, movement cost, and ghost risk, then chooses the action with maximum expected utility.</a:t>
            </a:r>
          </a:p>
          <a:p>
            <a:pPr indent="0" algn="l">
              <a:lnSpc>
                <a:spcPct val="100000"/>
              </a:lnSpc>
              <a:buNone/>
            </a:pPr>
            <a:r>
              <a:rPr lang="en-US" sz="1400" b="0" i="0" u="none" strike="noStrike" dirty="0">
                <a:solidFill>
                  <a:srgbClr val="000000"/>
                </a:solidFill>
                <a:effectLst/>
                <a:uFillTx/>
                <a:latin typeface="Arial"/>
              </a:rPr>
              <a:t>Finally use 05_learning_agent_ch2.py. Show the four Chapter 2 learning-agent components: performance_element, learning_element, critic, and problem_generator. The performance element chooses actions; the critic supplies feedback; the learning element modifies future preferences; and the problem generator encourages exploration.</a:t>
            </a:r>
          </a:p>
          <a:p>
            <a:pPr indent="0" algn="l">
              <a:lnSpc>
                <a:spcPct val="100000"/>
              </a:lnSpc>
              <a:buNone/>
            </a:pPr>
            <a:r>
              <a:rPr lang="en-US" sz="1400" b="0" i="0" u="none" strike="noStrike" dirty="0">
                <a:solidFill>
                  <a:srgbClr val="000000"/>
                </a:solidFill>
                <a:effectLst/>
                <a:uFillTx/>
                <a:latin typeface="Arial"/>
              </a:rPr>
              <a:t>The teaching sequence is one through five. After each run, ask the same question: what information did this agent use that the previous one did not? That comparison keeps the demonstration anchored in Chapter 2 rather than turning it into a programming exercise.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After the code demonstration, we will return to the planning video boundary and separate Chapter 2 concepts from Chapter 3 algorithms.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Uploaded files: pacman_chapter2_engine.py and 01-05 *_agent_ch2.py.</a:t>
            </a:r>
          </a:p>
          <a:p>
            <a:pPr indent="0" algn="l">
              <a:lnSpc>
                <a:spcPct val="100000"/>
              </a:lnSpc>
              <a:buNone/>
            </a:pPr>
            <a:r>
              <a:rPr lang="en-US" sz="1150" b="0" i="0" u="none" strike="noStrike" dirty="0">
                <a:solidFill>
                  <a:srgbClr val="595959"/>
                </a:solidFill>
                <a:effectLst/>
                <a:uFillTx/>
                <a:latin typeface="Arial"/>
              </a:rPr>
              <a:t>AIMA Chapter 2, Sections 2.4.1-2.4.6.</a:t>
            </a:r>
          </a:p>
        </p:txBody>
      </p:sp>
      <p:sp>
        <p:nvSpPr>
          <p:cNvPr id="1492" name="PlaceHolder 3"/>
          <p:cNvSpPr>
            <a:spLocks noGrp="1"/>
          </p:cNvSpPr>
          <p:nvPr>
            <p:ph type="sldNum" idx="38"/>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37004DEB-C0C6-401B-9683-854D7E4BFF51}" type="slidenum">
              <a:rPr lang="en-US" sz="1400" b="0" u="none" strike="noStrike">
                <a:solidFill>
                  <a:srgbClr val="000000"/>
                </a:solidFill>
                <a:effectLst/>
                <a:uFillTx/>
                <a:latin typeface="Times New Roman"/>
              </a:rPr>
              <a:t>49</a:t>
            </a:fld>
            <a:endParaRPr lang="en-US" sz="1400" b="0" u="none" strike="noStrike">
              <a:solidFill>
                <a:srgbClr val="000000"/>
              </a:solidFill>
              <a:effectLst/>
              <a:uFillTx/>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3" name="PlaceHolder 1"/>
          <p:cNvSpPr>
            <a:spLocks noGrp="1" noRot="1" noChangeAspect="1"/>
          </p:cNvSpPr>
          <p:nvPr>
            <p:ph type="sldImg"/>
          </p:nvPr>
        </p:nvSpPr>
        <p:spPr>
          <a:xfrm>
            <a:off x="685800" y="1143000"/>
            <a:ext cx="5484813" cy="3084513"/>
          </a:xfrm>
          <a:prstGeom prst="rect">
            <a:avLst/>
          </a:prstGeom>
          <a:ln w="0">
            <a:noFill/>
          </a:ln>
        </p:spPr>
      </p:sp>
      <p:sp>
        <p:nvSpPr>
          <p:cNvPr id="149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50  ·  How the Planning Video Fits This Chapter</a:t>
            </a:r>
          </a:p>
          <a:p>
            <a:pPr indent="0" algn="l">
              <a:lnSpc>
                <a:spcPct val="100000"/>
              </a:lnSpc>
              <a:buNone/>
            </a:pPr>
            <a:r>
              <a:rPr lang="en-US" sz="1150" b="0" i="0" u="none" strike="noStrike" dirty="0">
                <a:solidFill>
                  <a:srgbClr val="595959"/>
                </a:solidFill>
                <a:effectLst/>
                <a:uFillTx/>
                <a:latin typeface="Arial"/>
              </a:rPr>
              <a:t>Suggested time: 2 minutes  ·  Running total: 250 min  ·  Chapter alignment: Chapter boundary and course sequencing</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This slide establishes the boundary between the current chapter and the next unit. The first portion of the planning video belongs here because it compares reflex agents with agents that predict future consequences. The Pac-Man demonstrations show why local condition-action rules can fail and why a goal-based agent may need to plan or replan.</a:t>
            </a:r>
          </a:p>
          <a:p>
            <a:pPr indent="0" algn="l">
              <a:lnSpc>
                <a:spcPct val="100000"/>
              </a:lnSpc>
              <a:buNone/>
            </a:pPr>
            <a:r>
              <a:rPr lang="en-US" sz="1400" b="0" i="0" u="none" strike="noStrike" dirty="0">
                <a:solidFill>
                  <a:srgbClr val="000000"/>
                </a:solidFill>
                <a:effectLst/>
                <a:uFillTx/>
                <a:latin typeface="Arial"/>
              </a:rPr>
              <a:t>After approximately eleven minutes, the lecture begins formal search problem formulation: state spaces, start states, successor functions, goal tests, search trees, depth-first search, breadth-first search, and uniform-cost search. Those topics belong to Chapter 3.</a:t>
            </a:r>
          </a:p>
          <a:p>
            <a:pPr indent="0" algn="l">
              <a:lnSpc>
                <a:spcPct val="100000"/>
              </a:lnSpc>
              <a:buNone/>
            </a:pPr>
            <a:r>
              <a:rPr lang="en-US" sz="1400" b="0" i="0" u="none" strike="noStrike" dirty="0">
                <a:solidFill>
                  <a:srgbClr val="000000"/>
                </a:solidFill>
                <a:effectLst/>
                <a:uFillTx/>
                <a:latin typeface="Arial"/>
              </a:rPr>
              <a:t>The conceptual sequence is simple. Chapter 2 explains what a goal-based agent needs: a state, a model of action consequences, and a goal. Chapter 3 explains how search can compute an action sequence that reaches that goal. Keeping the boundary clear prevents the agent architecture and the search algorithm from being treated as the same concept.</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We will close by compressing the chapter into a small set of design rules.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Planning video transcript, approximately 1:19 onward.</a:t>
            </a:r>
          </a:p>
          <a:p>
            <a:pPr indent="0" algn="l">
              <a:lnSpc>
                <a:spcPct val="100000"/>
              </a:lnSpc>
              <a:buNone/>
            </a:pPr>
            <a:r>
              <a:rPr lang="en-US" sz="1150" b="0" i="0" u="none" strike="noStrike" dirty="0">
                <a:solidFill>
                  <a:srgbClr val="595959"/>
                </a:solidFill>
                <a:effectLst/>
                <a:uFillTx/>
                <a:latin typeface="Arial"/>
              </a:rPr>
              <a:t>AIMA 4e, Section 2.4.4.</a:t>
            </a:r>
          </a:p>
        </p:txBody>
      </p:sp>
      <p:sp>
        <p:nvSpPr>
          <p:cNvPr id="1495" name="PlaceHolder 3"/>
          <p:cNvSpPr>
            <a:spLocks noGrp="1"/>
          </p:cNvSpPr>
          <p:nvPr>
            <p:ph type="sldNum" idx="3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1B1B84F-5B3E-4B8B-85E9-EBC5AC7136D7}" type="slidenum">
              <a:rPr lang="en-US" sz="1200" b="0" u="none" strike="noStrike">
                <a:solidFill>
                  <a:schemeClr val="dk1"/>
                </a:solidFill>
                <a:effectLst/>
                <a:uFillTx/>
                <a:latin typeface="+mn-lt"/>
                <a:ea typeface="+mn-ea"/>
              </a:rPr>
              <a:t>50</a:t>
            </a:fld>
            <a:endParaRPr lang="en-US" sz="12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6" name="PlaceHolder 1"/>
          <p:cNvSpPr>
            <a:spLocks noGrp="1" noRot="1" noChangeAspect="1"/>
          </p:cNvSpPr>
          <p:nvPr>
            <p:ph type="sldImg"/>
          </p:nvPr>
        </p:nvSpPr>
        <p:spPr>
          <a:xfrm>
            <a:off x="685800" y="1143000"/>
            <a:ext cx="5484813" cy="3084513"/>
          </a:xfrm>
          <a:prstGeom prst="rect">
            <a:avLst/>
          </a:prstGeom>
          <a:ln w="0">
            <a:noFill/>
          </a:ln>
        </p:spPr>
      </p:sp>
      <p:sp>
        <p:nvSpPr>
          <p:cNvPr id="149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47500" lnSpcReduction="20000"/>
          </a:bodyPr>
          <a:lstStyle/>
          <a:p>
            <a:pPr indent="0" algn="l">
              <a:lnSpc>
                <a:spcPct val="100000"/>
              </a:lnSpc>
              <a:buNone/>
            </a:pPr>
            <a:r>
              <a:rPr lang="en-US" sz="1400" b="1" i="0" u="none" strike="noStrike" dirty="0">
                <a:solidFill>
                  <a:srgbClr val="1F4E79"/>
                </a:solidFill>
                <a:effectLst/>
                <a:uFillTx/>
                <a:latin typeface="Arial"/>
              </a:rPr>
              <a:t>SLIDE 51  ·  Where These Ideas Came From</a:t>
            </a:r>
          </a:p>
          <a:p>
            <a:pPr indent="0" algn="l">
              <a:lnSpc>
                <a:spcPct val="100000"/>
              </a:lnSpc>
              <a:buNone/>
            </a:pPr>
            <a:r>
              <a:rPr lang="en-US" sz="1150" b="0" i="0" u="none" strike="noStrike" dirty="0">
                <a:solidFill>
                  <a:srgbClr val="595959"/>
                </a:solidFill>
                <a:effectLst/>
                <a:uFillTx/>
                <a:latin typeface="Arial"/>
              </a:rPr>
              <a:t>Suggested time: 3 minutes  ·  Running total: 253 min  ·  Chapter alignment: Bibliographical and Historical Notes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Before the summary, a short slide on lineage. Upper-division students benefit from knowing that these ideas have addresses, and it makes the reading list navigable.</a:t>
            </a:r>
          </a:p>
          <a:p>
            <a:pPr indent="0" algn="l">
              <a:lnSpc>
                <a:spcPct val="100000"/>
              </a:lnSpc>
              <a:buNone/>
            </a:pPr>
            <a:r>
              <a:rPr lang="en-US" sz="1400" b="0" i="0" u="none" strike="noStrike" dirty="0">
                <a:solidFill>
                  <a:srgbClr val="000000"/>
                </a:solidFill>
                <a:effectLst/>
                <a:uFillTx/>
                <a:latin typeface="Arial"/>
              </a:rPr>
              <a:t>The idea that action sits at the centre of intelligence — practical reasoning — goes back at least to Aristotle's Nicomachean Ethics, and it resurfaces in McCarthy's 1958 paper Programs with Common Sense, which is where the logical, goal-directed strand of AI really starts. Turing's 1950 paper is the origin of the learning-agent argument we saw two slides ago. Arthur Samuel's checkers program, in 1959 and again in 1967, is the earliest well-known program that actually embodies the learning-agent design rather than merely describing it. Shakey, from Fikes and Nilsson in 1971, is the first robot to embody a logical, goal-based agent.</a:t>
            </a:r>
          </a:p>
          <a:p>
            <a:pPr indent="0" algn="l">
              <a:lnSpc>
                <a:spcPct val="100000"/>
              </a:lnSpc>
              <a:buNone/>
            </a:pPr>
            <a:r>
              <a:rPr lang="en-US" sz="1400" b="0" i="0" u="none" strike="noStrike" dirty="0">
                <a:solidFill>
                  <a:srgbClr val="000000"/>
                </a:solidFill>
                <a:effectLst/>
                <a:uFillTx/>
                <a:latin typeface="Arial"/>
              </a:rPr>
              <a:t>Two entries mark turning points in how the field saw itself. Jon Doyle in 1983 predicted that rational agent design would come to be regarded as AI's core mission while other popular topics spun off into separate disciplines — a prediction that reads as fairly accurate. And Judea Pearl's 1988 text was the first in AI to treat probability and utility theory in depth; the chapter credits it as probably the single biggest factor in the rapid shift toward utility-based agents in the 1990s.</a:t>
            </a:r>
          </a:p>
          <a:p>
            <a:pPr indent="0" algn="l">
              <a:lnSpc>
                <a:spcPct val="100000"/>
              </a:lnSpc>
              <a:buNone/>
            </a:pPr>
            <a:r>
              <a:rPr lang="en-US" sz="1400" b="0" i="0" u="none" strike="noStrike" dirty="0">
                <a:solidFill>
                  <a:srgbClr val="000000"/>
                </a:solidFill>
                <a:effectLst/>
                <a:uFillTx/>
                <a:latin typeface="Arial"/>
              </a:rPr>
              <a:t>The last card is the one students find most surprising. Control theory has been designing agents all along under a different vocabulary — the concept of a controller is identical to that of an agent. Classical control handles fully observable, deterministic environments; stochastic optimal control handles partially observable, stochastic ones; hybrid control handles environments with both discrete and continuous elements. Our environment dimensions are not arbitrary; they carve the space the same way a neighbouring discipline already did.</a:t>
            </a:r>
          </a:p>
          <a:p>
            <a:pPr indent="0" algn="l">
              <a:lnSpc>
                <a:spcPct val="100000"/>
              </a:lnSpc>
              <a:buNone/>
            </a:pPr>
            <a:r>
              <a:rPr lang="en-US" sz="1400" b="0" i="0" u="none" strike="noStrike" dirty="0">
                <a:solidFill>
                  <a:srgbClr val="000000"/>
                </a:solidFill>
                <a:effectLst/>
                <a:uFillTx/>
                <a:latin typeface="Arial"/>
              </a:rPr>
              <a:t>The bottom line is worth saying out loud. For most of its history AI concentrated on isolated components — question answerers, theorem provers, vision systems — rather than whole agents. Genesereth and Nilsson in 1987 were an influential exception. The whole-agent view that organizes this entire course is comparatively recent, and it now runs through software engineering, operating systems, and a dedicated conference series in AAMAS.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TRANSITION</a:t>
            </a:r>
          </a:p>
          <a:p>
            <a:pPr indent="0" algn="l">
              <a:lnSpc>
                <a:spcPct val="100000"/>
              </a:lnSpc>
              <a:buNone/>
            </a:pPr>
            <a:r>
              <a:rPr lang="en-US" sz="1400" b="0" i="0" u="none" strike="noStrike" dirty="0">
                <a:solidFill>
                  <a:srgbClr val="000000"/>
                </a:solidFill>
                <a:effectLst/>
                <a:uFillTx/>
                <a:latin typeface="Arial"/>
              </a:rPr>
              <a:t>That is the chapter. Let us collect the points you should be able to use.</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Bibliographical and Historical Notes.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8" name="PlaceHolder 1"/>
          <p:cNvSpPr>
            <a:spLocks noGrp="1" noRot="1" noChangeAspect="1"/>
          </p:cNvSpPr>
          <p:nvPr>
            <p:ph type="sldImg"/>
          </p:nvPr>
        </p:nvSpPr>
        <p:spPr>
          <a:xfrm>
            <a:off x="685800" y="1143000"/>
            <a:ext cx="5486400" cy="3086100"/>
          </a:xfrm>
          <a:prstGeom prst="rect">
            <a:avLst/>
          </a:prstGeom>
          <a:ln w="0">
            <a:noFill/>
          </a:ln>
        </p:spPr>
      </p:sp>
      <p:sp>
        <p:nvSpPr>
          <p:cNvPr id="149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rmAutofit fontScale="55000" lnSpcReduction="20000"/>
          </a:bodyPr>
          <a:lstStyle/>
          <a:p>
            <a:pPr indent="0" algn="l">
              <a:lnSpc>
                <a:spcPct val="100000"/>
              </a:lnSpc>
              <a:buNone/>
            </a:pPr>
            <a:r>
              <a:rPr lang="en-US" sz="1400" b="1" i="0" u="none" strike="noStrike" dirty="0">
                <a:solidFill>
                  <a:srgbClr val="1F4E79"/>
                </a:solidFill>
                <a:effectLst/>
                <a:uFillTx/>
                <a:latin typeface="Arial"/>
              </a:rPr>
              <a:t>SLIDE 52  ·  Chapter 2 Takeaways</a:t>
            </a:r>
          </a:p>
          <a:p>
            <a:pPr indent="0" algn="l">
              <a:lnSpc>
                <a:spcPct val="100000"/>
              </a:lnSpc>
              <a:buNone/>
            </a:pPr>
            <a:r>
              <a:rPr lang="en-US" sz="1150" b="0" i="0" u="none" strike="noStrike" dirty="0">
                <a:solidFill>
                  <a:srgbClr val="595959"/>
                </a:solidFill>
                <a:effectLst/>
                <a:uFillTx/>
                <a:latin typeface="Arial"/>
              </a:rPr>
              <a:t>Suggested time: 4 minutes  ·  Running total: 257 min  ·  Chapter alignment: Chapter summary</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400" b="0" i="0" u="none" strike="noStrike" dirty="0">
                <a:solidFill>
                  <a:srgbClr val="000000"/>
                </a:solidFill>
                <a:effectLst/>
                <a:uFillTx/>
                <a:latin typeface="Arial"/>
              </a:rPr>
              <a:t>Chapter 2 presents AI as the science and engineering of agent design. An agent perceives an environment through sensors and acts through actuators. The agent function maps percept sequences to actions, while the agent program implements that mapping on an architecture.</a:t>
            </a:r>
          </a:p>
          <a:p>
            <a:pPr indent="0" algn="l">
              <a:lnSpc>
                <a:spcPct val="100000"/>
              </a:lnSpc>
              <a:buNone/>
            </a:pPr>
            <a:r>
              <a:rPr lang="en-US" sz="1400" b="0" i="0" u="none" strike="noStrike" dirty="0">
                <a:solidFill>
                  <a:srgbClr val="000000"/>
                </a:solidFill>
                <a:effectLst/>
                <a:uFillTx/>
                <a:latin typeface="Arial"/>
              </a:rPr>
              <a:t>A rational agent chooses the action expected to maximize its performance measure, given its prior knowledge, available actions, and percept sequence. Rationality is not omniscience or hindsight perfection. Information gathering, learning, and autonomy can all be rational because they improve later decisions.</a:t>
            </a:r>
          </a:p>
          <a:p>
            <a:pPr indent="0" algn="l">
              <a:lnSpc>
                <a:spcPct val="100000"/>
              </a:lnSpc>
              <a:buNone/>
            </a:pPr>
            <a:r>
              <a:rPr lang="en-US" sz="1400" b="0" i="0" u="none" strike="noStrike" dirty="0">
                <a:solidFill>
                  <a:srgbClr val="000000"/>
                </a:solidFill>
                <a:effectLst/>
                <a:uFillTx/>
                <a:latin typeface="Arial"/>
              </a:rPr>
              <a:t>PEAS specifies the task through Performance measure, Environment, Actuators, and Sensors. Environment dimensions—observability, number of agents, determinism, episodic or sequential structure, static or dynamic behavior, discrete or continuous state, and known or unknown rules—guide the design.</a:t>
            </a:r>
          </a:p>
          <a:p>
            <a:pPr indent="0" algn="l">
              <a:lnSpc>
                <a:spcPct val="100000"/>
              </a:lnSpc>
              <a:buNone/>
            </a:pPr>
            <a:r>
              <a:rPr lang="en-US" sz="1400" b="0" i="0" u="none" strike="noStrike" dirty="0">
                <a:solidFill>
                  <a:srgbClr val="000000"/>
                </a:solidFill>
                <a:effectLst/>
                <a:uFillTx/>
                <a:latin typeface="Arial"/>
              </a:rPr>
              <a:t>The table-driven agent is a conceptual baseline but does not scale. Simple reflex agents use current-percept rules. Model-based reflex agents maintain internal state. Goal-based agents predict futures that achieve goals. Utility-based agents compare outcomes and uncertainty. Learning agents improve components through feedback and exploration.</a:t>
            </a:r>
          </a:p>
          <a:p>
            <a:pPr indent="0" algn="l">
              <a:lnSpc>
                <a:spcPct val="100000"/>
              </a:lnSpc>
              <a:buNone/>
            </a:pPr>
            <a:r>
              <a:rPr lang="en-US" sz="1400" b="0" i="0" u="none" strike="noStrike" dirty="0">
                <a:solidFill>
                  <a:srgbClr val="000000"/>
                </a:solidFill>
                <a:effectLst/>
                <a:uFillTx/>
                <a:latin typeface="Arial"/>
              </a:rPr>
              <a:t>Finally, internal representations can be atomic, factored, or structured. More expressive representations describe richer worlds but usually require more complex reasoning.</a:t>
            </a:r>
          </a:p>
          <a:p>
            <a:pPr indent="0" algn="l">
              <a:lnSpc>
                <a:spcPct val="100000"/>
              </a:lnSpc>
              <a:buNone/>
            </a:pPr>
            <a:r>
              <a:rPr lang="en-US" sz="1400" b="0" i="0" u="none" strike="noStrike" dirty="0">
                <a:solidFill>
                  <a:srgbClr val="000000"/>
                </a:solidFill>
                <a:effectLst/>
                <a:uFillTx/>
                <a:latin typeface="Arial"/>
              </a:rPr>
              <a:t>The complete workflow is: define the agent, specify the task, classify the environment, and choose the design. The next unit begins with goal-based agents and develops search algorithms for finding action sequences.</a:t>
            </a:r>
          </a:p>
          <a:p>
            <a:pPr indent="0" algn="l">
              <a:lnSpc>
                <a:spcPct val="100000"/>
              </a:lnSpc>
              <a:buNone/>
            </a:pPr>
            <a:endParaRPr lang="en-US" sz="1400" b="0" u="none" strike="noStrike" dirty="0">
              <a:solidFill>
                <a:srgbClr val="000000"/>
              </a:solidFill>
              <a:effectLst/>
              <a:uFillTx/>
              <a:latin typeface="Arial"/>
            </a:endParaRPr>
          </a:p>
          <a:p>
            <a:pPr indent="0" algn="l">
              <a:lnSpc>
                <a:spcPct val="100000"/>
              </a:lnSpc>
              <a:buNone/>
            </a:pPr>
            <a:r>
              <a:rPr lang="en-US" sz="1150" b="1" i="0" u="none" strike="noStrike" dirty="0">
                <a:solidFill>
                  <a:srgbClr val="1F4E79"/>
                </a:solidFill>
                <a:effectLst/>
                <a:uFillTx/>
                <a:latin typeface="Arial"/>
              </a:rPr>
              <a:t>SOURCES</a:t>
            </a:r>
          </a:p>
          <a:p>
            <a:pPr indent="0" algn="l">
              <a:lnSpc>
                <a:spcPct val="100000"/>
              </a:lnSpc>
              <a:buNone/>
            </a:pPr>
            <a:r>
              <a:rPr lang="en-US" sz="1150" b="0" i="0" u="none" strike="noStrike" dirty="0">
                <a:solidFill>
                  <a:srgbClr val="595959"/>
                </a:solidFill>
                <a:effectLst/>
                <a:uFillTx/>
                <a:latin typeface="Arial"/>
              </a:rPr>
              <a:t>AIMA 4e, Chapter 2 summary.</a:t>
            </a:r>
          </a:p>
        </p:txBody>
      </p:sp>
      <p:sp>
        <p:nvSpPr>
          <p:cNvPr id="1500" name="PlaceHolder 3"/>
          <p:cNvSpPr>
            <a:spLocks noGrp="1"/>
          </p:cNvSpPr>
          <p:nvPr>
            <p:ph type="sldNum" idx="4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0C47AB4-B796-42C9-80C3-995C48F94745}" type="slidenum">
              <a:rPr lang="en-US" sz="1200" b="0" u="none" strike="noStrike">
                <a:solidFill>
                  <a:schemeClr val="dk1"/>
                </a:solidFill>
                <a:effectLst/>
                <a:uFillTx/>
                <a:latin typeface="+mn-lt"/>
                <a:ea typeface="+mn-ea"/>
              </a:rPr>
              <a:t>52</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722160"/>
            <a:ext cx="10971360" cy="24732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1800" b="0" u="none" strike="noStrike">
                <a:solidFill>
                  <a:schemeClr val="dk1"/>
                </a:solidFill>
                <a:effectLst/>
                <a:uFillTx/>
                <a:latin typeface="Aptos"/>
              </a:defRPr>
            </a:lvl1pPr>
          </a:lstStyle>
          <a:p>
            <a:pPr indent="0" algn="l" defTabSz="914400">
              <a:lnSpc>
                <a:spcPct val="90000"/>
              </a:lnSpc>
              <a:buNone/>
              <a:tabLst>
                <a:tab pos="0" algn="l"/>
              </a:tabLst>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1800" b="0" u="none" strike="noStrike">
                <a:solidFill>
                  <a:schemeClr val="dk1"/>
                </a:solidFill>
                <a:effectLst/>
                <a:uFillTx/>
                <a:latin typeface="Aptos"/>
              </a:defRPr>
            </a:lvl1pPr>
          </a:lstStyle>
          <a:p>
            <a:pPr indent="0" algn="l" defTabSz="914400">
              <a:lnSpc>
                <a:spcPct val="90000"/>
              </a:lnSpc>
              <a:buNone/>
              <a:tabLst>
                <a:tab pos="0" algn="l"/>
              </a:tabLst>
            </a:pPr>
            <a:r>
              <a:rPr lang="en-US" sz="1800" b="0" u="none" strike="noStrike">
                <a:solidFill>
                  <a:schemeClr val="dk1"/>
                </a:solidFill>
                <a:effectLst/>
                <a:uFillTx/>
                <a:latin typeface="Aptos"/>
              </a:rPr>
              <a:t>Click to edit the title text format</a:t>
            </a:r>
          </a:p>
        </p:txBody>
      </p:sp>
      <p:sp>
        <p:nvSpPr>
          <p:cNvPr id="5"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defTabSz="914400">
              <a:lnSpc>
                <a:spcPct val="90000"/>
              </a:lnSpc>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324000" algn="l"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lgn="l" defTabSz="914400">
              <a:lnSpc>
                <a:spcPct val="90000"/>
              </a:lnSpc>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lgn="l" defTabSz="914400">
              <a:lnSpc>
                <a:spcPct val="90000"/>
              </a:lnSpc>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DEFAUL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p>
        </p:txBody>
      </p:sp>
      <p:sp>
        <p:nvSpPr>
          <p:cNvPr id="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Default 1">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efault 2">
    <p:bg>
      <p:bgPr>
        <a:solidFill>
          <a:srgbClr val="FFFFFF"/>
        </a:solidFill>
        <a:effectLst/>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722160"/>
            <a:ext cx="10971360" cy="24732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1800" b="0" u="none" strike="noStrike">
                <a:solidFill>
                  <a:srgbClr val="000000"/>
                </a:solidFill>
                <a:effectLst/>
                <a:uFillTx/>
                <a:latin typeface="Arial"/>
                <a:ea typeface="DejaVu Sans"/>
              </a:defRPr>
            </a:lvl1pPr>
          </a:lstStyle>
          <a:p>
            <a:pPr indent="0" algn="l" defTabSz="914400">
              <a:lnSpc>
                <a:spcPct val="90000"/>
              </a:lnSpc>
              <a:buNone/>
              <a:tabLst>
                <a:tab pos="0" algn="l"/>
              </a:tabLst>
            </a:pPr>
            <a:r>
              <a:rPr lang="en-US" sz="1800" b="0" u="none" strike="noStrike">
                <a:solidFill>
                  <a:srgbClr val="000000"/>
                </a:solidFill>
                <a:effectLst/>
                <a:uFillTx/>
                <a:latin typeface="Arial"/>
                <a:ea typeface="DejaVu Sans"/>
              </a:rPr>
              <a:t>Click to edit the title text format</a:t>
            </a:r>
            <a:endParaRPr lang="en-US" sz="1800" b="0" u="none" strike="noStrike">
              <a:solidFill>
                <a:srgbClr val="000000"/>
              </a:solidFill>
              <a:effectLst/>
              <a:uFillTx/>
              <a:latin typeface="Arial"/>
            </a:endParaRPr>
          </a:p>
        </p:txBody>
      </p:sp>
      <p:sp>
        <p:nvSpPr>
          <p:cNvPr id="9"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en-US" sz="3200" b="0" u="none" strike="noStrike">
                <a:solidFill>
                  <a:srgbClr val="000000"/>
                </a:solidFill>
                <a:effectLst/>
                <a:uFillTx/>
                <a:latin typeface="Arial"/>
                <a:ea typeface="DejaVu Sans"/>
              </a:defRPr>
            </a:lvl1pPr>
            <a:lvl2pPr lvl="1" algn="l" defTabSz="914400">
              <a:lnSpc>
                <a:spcPct val="90000"/>
              </a:lnSpc>
              <a:spcBef>
                <a:spcPts val="1134"/>
              </a:spcBef>
              <a:buClr>
                <a:srgbClr val="000000"/>
              </a:buClr>
              <a:buSzPct val="75000"/>
              <a:buFont typeface="Symbol" charset="2"/>
              <a:buChar char=""/>
              <a:defRPr lang="en-US" sz="2800" b="0" u="none" strike="noStrike">
                <a:solidFill>
                  <a:srgbClr val="000000"/>
                </a:solidFill>
                <a:effectLst/>
                <a:uFillTx/>
                <a:latin typeface="Arial"/>
                <a:ea typeface="DejaVu Sans"/>
              </a:defRPr>
            </a:lvl2pPr>
            <a:lvl3pPr lvl="2" algn="l" defTabSz="914400">
              <a:lnSpc>
                <a:spcPct val="90000"/>
              </a:lnSpc>
              <a:spcBef>
                <a:spcPts val="850"/>
              </a:spcBef>
              <a:buClr>
                <a:srgbClr val="000000"/>
              </a:buClr>
              <a:buSzPct val="45000"/>
              <a:buFont typeface="Wingdings" charset="2"/>
              <a:buChar char=""/>
              <a:defRPr lang="en-US" sz="2400" b="0" u="none" strike="noStrike">
                <a:solidFill>
                  <a:srgbClr val="000000"/>
                </a:solidFill>
                <a:effectLst/>
                <a:uFillTx/>
                <a:latin typeface="Arial"/>
                <a:ea typeface="DejaVu Sans"/>
              </a:defRPr>
            </a:lvl3pPr>
            <a:lvl4pPr lvl="3" algn="l" defTabSz="914400">
              <a:lnSpc>
                <a:spcPct val="90000"/>
              </a:lnSpc>
              <a:spcBef>
                <a:spcPts val="567"/>
              </a:spcBef>
              <a:buClr>
                <a:srgbClr val="000000"/>
              </a:buClr>
              <a:buSzPct val="75000"/>
              <a:buFont typeface="Symbol" charset="2"/>
              <a:buChar char=""/>
              <a:defRPr lang="en-US" sz="2000" b="0" u="none" strike="noStrike">
                <a:solidFill>
                  <a:srgbClr val="000000"/>
                </a:solidFill>
                <a:effectLst/>
                <a:uFillTx/>
                <a:latin typeface="Arial"/>
                <a:ea typeface="DejaVu Sans"/>
              </a:defRPr>
            </a:lvl4pPr>
            <a:lvl5pPr lvl="4"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Arial"/>
                <a:ea typeface="DejaVu Sans"/>
              </a:defRPr>
            </a:lvl5pPr>
            <a:lvl6pPr lvl="5"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Arial"/>
                <a:ea typeface="DejaVu Sans"/>
              </a:defRPr>
            </a:lvl6pPr>
            <a:lvl7pPr lvl="6"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Arial"/>
                <a:ea typeface="DejaVu Sans"/>
              </a:defRPr>
            </a:lvl7pPr>
          </a:lstStyle>
          <a:p>
            <a:pPr marL="432000" indent="-324000" algn="l" defTabSz="914400">
              <a:lnSpc>
                <a:spcPct val="90000"/>
              </a:lnSpc>
              <a:spcBef>
                <a:spcPts val="1417"/>
              </a:spcBef>
              <a:buClr>
                <a:srgbClr val="000000"/>
              </a:buClr>
              <a:buSzPct val="45000"/>
              <a:buFont typeface="Wingdings" charset="2"/>
              <a:buChar char=""/>
            </a:pPr>
            <a:r>
              <a:rPr lang="en-US" sz="3200" b="0" u="none" strike="noStrike">
                <a:solidFill>
                  <a:srgbClr val="000000"/>
                </a:solidFill>
                <a:effectLst/>
                <a:uFillTx/>
                <a:latin typeface="Arial"/>
                <a:ea typeface="DejaVu Sans"/>
              </a:rPr>
              <a:t>Click to edit the outline text format</a:t>
            </a:r>
            <a:endParaRPr lang="en-US" sz="3200" b="0" u="none" strike="noStrike">
              <a:solidFill>
                <a:srgbClr val="000000"/>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en-US" sz="2800" b="0" u="none" strike="noStrike">
                <a:solidFill>
                  <a:srgbClr val="000000"/>
                </a:solidFill>
                <a:effectLst/>
                <a:uFillTx/>
                <a:latin typeface="Arial"/>
                <a:ea typeface="DejaVu Sans"/>
              </a:rPr>
              <a:t>Second Outline Level</a:t>
            </a:r>
            <a:endParaRPr lang="en-US" sz="2800" b="0" u="none" strike="noStrike">
              <a:solidFill>
                <a:srgbClr val="000000"/>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en-US" sz="2400" b="0" u="none" strike="noStrike">
                <a:solidFill>
                  <a:srgbClr val="000000"/>
                </a:solidFill>
                <a:effectLst/>
                <a:uFillTx/>
                <a:latin typeface="Arial"/>
                <a:ea typeface="DejaVu Sans"/>
              </a:rPr>
              <a:t>Third Outline Level</a:t>
            </a:r>
            <a:endParaRPr lang="en-US" sz="2400" b="0" u="none" strike="noStrike">
              <a:solidFill>
                <a:srgbClr val="000000"/>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rgbClr val="000000"/>
                </a:solidFill>
                <a:effectLst/>
                <a:uFillTx/>
                <a:latin typeface="Arial"/>
                <a:ea typeface="DejaVu Sans"/>
              </a:rPr>
              <a:t>Fourth Outline Level</a:t>
            </a:r>
            <a:endParaRPr lang="en-US" sz="2000" b="0" u="none" strike="noStrike">
              <a:solidFill>
                <a:srgbClr val="000000"/>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Arial"/>
                <a:ea typeface="DejaVu Sans"/>
              </a:rPr>
              <a:t>Fifth Outline Level</a:t>
            </a:r>
            <a:endParaRPr lang="en-US" sz="2000" b="0" u="none" strike="noStrike">
              <a:solidFill>
                <a:srgbClr val="000000"/>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Arial"/>
                <a:ea typeface="DejaVu Sans"/>
              </a:rPr>
              <a:t>Sixth Outline Level</a:t>
            </a:r>
            <a:endParaRPr lang="en-US" sz="2000" b="0" u="none" strike="noStrike">
              <a:solidFill>
                <a:srgbClr val="000000"/>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Arial"/>
                <a:ea typeface="DejaVu Sans"/>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11"/>
          <p:cNvSpPr/>
          <p:nvPr/>
        </p:nvSpPr>
        <p:spPr>
          <a:xfrm>
            <a:off x="0" y="0"/>
            <a:ext cx="12190680" cy="6856920"/>
          </a:xfrm>
          <a:prstGeom prst="rect">
            <a:avLst/>
          </a:prstGeom>
          <a:solidFill>
            <a:srgbClr val="F2F6FA"/>
          </a:solidFill>
          <a:ln w="12700">
            <a:solidFill>
              <a:srgbClr val="F2F6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 name="Shape 12"/>
          <p:cNvSpPr/>
          <p:nvPr/>
        </p:nvSpPr>
        <p:spPr>
          <a:xfrm>
            <a:off x="0" y="0"/>
            <a:ext cx="12190680" cy="105048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 name="Shape 13"/>
          <p:cNvSpPr/>
          <p:nvPr/>
        </p:nvSpPr>
        <p:spPr>
          <a:xfrm>
            <a:off x="0" y="1051560"/>
            <a:ext cx="12190680" cy="8136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 name="Text 14"/>
          <p:cNvSpPr/>
          <p:nvPr/>
        </p:nvSpPr>
        <p:spPr>
          <a:xfrm>
            <a:off x="685800" y="311040"/>
            <a:ext cx="830000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800" b="1" i="0" u="none" strike="noStrike">
                <a:solidFill>
                  <a:srgbClr val="FFFFFF"/>
                </a:solidFill>
                <a:effectLst/>
                <a:uFillTx/>
                <a:latin typeface="Aptos"/>
                <a:ea typeface="Aptos"/>
              </a:rPr>
              <a:t>AI COMP 469  ·  Introduction to Artificial Intelligence</a:t>
            </a:r>
            <a:endParaRPr lang="en-US" sz="1200" b="0" u="none" strike="noStrike">
              <a:solidFill>
                <a:srgbClr val="000000"/>
              </a:solidFill>
              <a:effectLst/>
              <a:uFillTx/>
              <a:latin typeface="Arial"/>
            </a:endParaRPr>
          </a:p>
        </p:txBody>
      </p:sp>
      <p:sp>
        <p:nvSpPr>
          <p:cNvPr id="15" name="Shape 15"/>
          <p:cNvSpPr/>
          <p:nvPr/>
        </p:nvSpPr>
        <p:spPr>
          <a:xfrm>
            <a:off x="9220000" y="168000"/>
            <a:ext cx="2420000" cy="714480"/>
          </a:xfrm>
          <a:prstGeom prst="roundRect">
            <a:avLst>
              <a:gd name="adj" fmla="val 1400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 name="Text 17"/>
          <p:cNvSpPr/>
          <p:nvPr/>
        </p:nvSpPr>
        <p:spPr>
          <a:xfrm>
            <a:off x="685800" y="1560000"/>
            <a:ext cx="4000000" cy="38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2400" b="1" i="0" u="none" strike="noStrike" spc="180">
                <a:solidFill>
                  <a:srgbClr val="2B6CB0"/>
                </a:solidFill>
                <a:effectLst/>
                <a:uFillTx/>
                <a:latin typeface="Aptos"/>
                <a:ea typeface="Aptos"/>
              </a:rPr>
              <a:t>CHAPTER 2</a:t>
            </a:r>
            <a:endParaRPr lang="en-US" sz="1200" b="0" u="none" strike="noStrike">
              <a:solidFill>
                <a:srgbClr val="000000"/>
              </a:solidFill>
              <a:effectLst/>
              <a:uFillTx/>
              <a:latin typeface="Arial"/>
            </a:endParaRPr>
          </a:p>
        </p:txBody>
      </p:sp>
      <p:sp>
        <p:nvSpPr>
          <p:cNvPr id="18" name="Text 18"/>
          <p:cNvSpPr/>
          <p:nvPr/>
        </p:nvSpPr>
        <p:spPr>
          <a:xfrm>
            <a:off x="685800" y="1990000"/>
            <a:ext cx="6400000" cy="80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92000"/>
              </a:lnSpc>
              <a:tabLst>
                <a:tab pos="0" algn="l"/>
              </a:tabLst>
            </a:pPr>
            <a:r>
              <a:rPr lang="en-US" sz="5400" b="1" i="0" u="none" strike="noStrike">
                <a:solidFill>
                  <a:srgbClr val="0B1F3A"/>
                </a:solidFill>
                <a:effectLst/>
                <a:uFillTx/>
                <a:latin typeface="Aptos Display"/>
                <a:ea typeface="Aptos Display"/>
              </a:rPr>
              <a:t>INTELLIGENT</a:t>
            </a:r>
            <a:endParaRPr lang="en-US" sz="1200" b="0" u="none" strike="noStrike">
              <a:solidFill>
                <a:srgbClr val="000000"/>
              </a:solidFill>
              <a:effectLst/>
              <a:uFillTx/>
              <a:latin typeface="Arial"/>
            </a:endParaRPr>
          </a:p>
        </p:txBody>
      </p:sp>
      <p:sp>
        <p:nvSpPr>
          <p:cNvPr id="19" name="Text 19"/>
          <p:cNvSpPr/>
          <p:nvPr/>
        </p:nvSpPr>
        <p:spPr>
          <a:xfrm>
            <a:off x="685800" y="2740000"/>
            <a:ext cx="6400000" cy="80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92000"/>
              </a:lnSpc>
              <a:tabLst>
                <a:tab pos="0" algn="l"/>
              </a:tabLst>
            </a:pPr>
            <a:r>
              <a:rPr lang="en-US" sz="5400" b="1" i="0" u="none" strike="noStrike">
                <a:solidFill>
                  <a:srgbClr val="0B1F3A"/>
                </a:solidFill>
                <a:effectLst/>
                <a:uFillTx/>
                <a:latin typeface="Aptos Display"/>
                <a:ea typeface="Aptos Display"/>
              </a:rPr>
              <a:t>AGENTS</a:t>
            </a:r>
            <a:endParaRPr lang="en-US" sz="1200" b="0" u="none" strike="noStrike">
              <a:solidFill>
                <a:srgbClr val="000000"/>
              </a:solidFill>
              <a:effectLst/>
              <a:uFillTx/>
              <a:latin typeface="Arial"/>
            </a:endParaRPr>
          </a:p>
        </p:txBody>
      </p:sp>
      <p:sp>
        <p:nvSpPr>
          <p:cNvPr id="20" name="Shape 20"/>
          <p:cNvSpPr/>
          <p:nvPr/>
        </p:nvSpPr>
        <p:spPr>
          <a:xfrm>
            <a:off x="685800" y="3690000"/>
            <a:ext cx="760000" cy="66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 name="Text 21"/>
          <p:cNvSpPr/>
          <p:nvPr/>
        </p:nvSpPr>
        <p:spPr>
          <a:xfrm>
            <a:off x="685800" y="3880000"/>
            <a:ext cx="6100000" cy="86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l" defTabSz="914400">
              <a:lnSpc>
                <a:spcPct val="130000"/>
              </a:lnSpc>
              <a:tabLst>
                <a:tab pos="0" algn="l"/>
              </a:tabLst>
            </a:pPr>
            <a:r>
              <a:rPr lang="en-US" sz="1400" b="0" i="0" u="none" strike="noStrike">
                <a:solidFill>
                  <a:srgbClr val="5E7088"/>
                </a:solidFill>
                <a:effectLst/>
                <a:uFillTx/>
                <a:latin typeface="Aptos"/>
                <a:ea typeface="Aptos"/>
              </a:rPr>
              <a:t>This chapter builds the framework the rest of the course runs on: what an agent is, what makes its behavior rational, and how the task environment decides which agent design fits.</a:t>
            </a:r>
            <a:endParaRPr lang="en-US" sz="1200" b="0" u="none" strike="noStrike">
              <a:solidFill>
                <a:srgbClr val="000000"/>
              </a:solidFill>
              <a:effectLst/>
              <a:uFillTx/>
              <a:latin typeface="Arial"/>
            </a:endParaRPr>
          </a:p>
        </p:txBody>
      </p:sp>
      <p:sp>
        <p:nvSpPr>
          <p:cNvPr id="22" name="Shape 22"/>
          <p:cNvSpPr/>
          <p:nvPr/>
        </p:nvSpPr>
        <p:spPr>
          <a:xfrm>
            <a:off x="9250000" y="1540000"/>
            <a:ext cx="800000" cy="800000"/>
          </a:xfrm>
          <a:prstGeom prst="ellipse">
            <a:avLst/>
          </a:prstGeom>
          <a:solidFill>
            <a:srgbClr val="2B6CB0"/>
          </a:solidFill>
          <a:ln w="12700">
            <a:solidFill>
              <a:srgbClr val="2B6CB0"/>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 name="Text 23"/>
          <p:cNvSpPr/>
          <p:nvPr/>
        </p:nvSpPr>
        <p:spPr>
          <a:xfrm>
            <a:off x="9250000" y="1780520"/>
            <a:ext cx="8000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i="0" u="none" strike="noStrike">
                <a:solidFill>
                  <a:srgbClr val="FFFFFF"/>
                </a:solidFill>
                <a:effectLst/>
                <a:uFillTx/>
                <a:latin typeface="Aptos"/>
                <a:ea typeface="Aptos"/>
              </a:rPr>
              <a:t>Sense</a:t>
            </a:r>
            <a:endParaRPr lang="en-US" sz="1200" b="0" u="none" strike="noStrike">
              <a:solidFill>
                <a:srgbClr val="000000"/>
              </a:solidFill>
              <a:effectLst/>
              <a:uFillTx/>
              <a:latin typeface="Arial"/>
            </a:endParaRPr>
          </a:p>
        </p:txBody>
      </p:sp>
      <p:sp>
        <p:nvSpPr>
          <p:cNvPr id="24" name="Shape 24"/>
          <p:cNvSpPr/>
          <p:nvPr/>
        </p:nvSpPr>
        <p:spPr>
          <a:xfrm>
            <a:off x="9510000" y="2400000"/>
            <a:ext cx="280000" cy="200000"/>
          </a:xfrm>
          <a:prstGeom prst="downArrow">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 name="Shape 25"/>
          <p:cNvSpPr/>
          <p:nvPr/>
        </p:nvSpPr>
        <p:spPr>
          <a:xfrm>
            <a:off x="9250000" y="2660000"/>
            <a:ext cx="800000" cy="800000"/>
          </a:xfrm>
          <a:prstGeom prst="ellipse">
            <a:avLst/>
          </a:prstGeom>
          <a:solidFill>
            <a:srgbClr val="048A97"/>
          </a:solidFill>
          <a:ln w="12700">
            <a:solidFill>
              <a:srgbClr val="048A97"/>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 name="Text 26"/>
          <p:cNvSpPr/>
          <p:nvPr/>
        </p:nvSpPr>
        <p:spPr>
          <a:xfrm>
            <a:off x="9250000" y="2900520"/>
            <a:ext cx="8000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i="0" u="none" strike="noStrike">
                <a:solidFill>
                  <a:srgbClr val="FFFFFF"/>
                </a:solidFill>
                <a:effectLst/>
                <a:uFillTx/>
                <a:latin typeface="Aptos"/>
                <a:ea typeface="Aptos"/>
              </a:rPr>
              <a:t>Decide</a:t>
            </a:r>
            <a:endParaRPr lang="en-US" sz="1200" b="0" u="none" strike="noStrike">
              <a:solidFill>
                <a:srgbClr val="000000"/>
              </a:solidFill>
              <a:effectLst/>
              <a:uFillTx/>
              <a:latin typeface="Arial"/>
            </a:endParaRPr>
          </a:p>
        </p:txBody>
      </p:sp>
      <p:sp>
        <p:nvSpPr>
          <p:cNvPr id="27" name="Shape 27"/>
          <p:cNvSpPr/>
          <p:nvPr/>
        </p:nvSpPr>
        <p:spPr>
          <a:xfrm>
            <a:off x="9510000" y="3520000"/>
            <a:ext cx="280000" cy="200000"/>
          </a:xfrm>
          <a:prstGeom prst="downArrow">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 name="Shape 28"/>
          <p:cNvSpPr/>
          <p:nvPr/>
        </p:nvSpPr>
        <p:spPr>
          <a:xfrm>
            <a:off x="9250000" y="3780000"/>
            <a:ext cx="800000" cy="800000"/>
          </a:xfrm>
          <a:prstGeom prst="ellipse">
            <a:avLst/>
          </a:prstGeom>
          <a:solidFill>
            <a:srgbClr val="1B7A45"/>
          </a:solidFill>
          <a:ln w="12700">
            <a:solidFill>
              <a:srgbClr val="1B7A45"/>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 name="Text 29"/>
          <p:cNvSpPr/>
          <p:nvPr/>
        </p:nvSpPr>
        <p:spPr>
          <a:xfrm>
            <a:off x="9250000" y="4020520"/>
            <a:ext cx="8000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i="0" u="none" strike="noStrike">
                <a:solidFill>
                  <a:srgbClr val="FFFFFF"/>
                </a:solidFill>
                <a:effectLst/>
                <a:uFillTx/>
                <a:latin typeface="Aptos"/>
                <a:ea typeface="Aptos"/>
              </a:rPr>
              <a:t>Act</a:t>
            </a:r>
            <a:endParaRPr lang="en-US" sz="1200" b="0" u="none" strike="noStrike">
              <a:solidFill>
                <a:srgbClr val="000000"/>
              </a:solidFill>
              <a:effectLst/>
              <a:uFillTx/>
              <a:latin typeface="Arial"/>
            </a:endParaRPr>
          </a:p>
        </p:txBody>
      </p:sp>
      <p:sp>
        <p:nvSpPr>
          <p:cNvPr id="30" name="Shape 30"/>
          <p:cNvSpPr/>
          <p:nvPr/>
        </p:nvSpPr>
        <p:spPr>
          <a:xfrm>
            <a:off x="685800" y="4780000"/>
            <a:ext cx="10819080" cy="1540000"/>
          </a:xfrm>
          <a:prstGeom prst="roundRect">
            <a:avLst>
              <a:gd name="adj" fmla="val 7000"/>
            </a:avLst>
          </a:prstGeom>
          <a:solidFill>
            <a:srgbClr val="0B1F3A"/>
          </a:solidFill>
          <a:ln w="12700">
            <a:solidFill>
              <a:srgbClr val="0B1F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 name="Text 31"/>
          <p:cNvSpPr/>
          <p:nvPr/>
        </p:nvSpPr>
        <p:spPr>
          <a:xfrm>
            <a:off x="985800" y="5110000"/>
            <a:ext cx="2200000" cy="36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300" b="1" i="0" u="none" strike="noStrike" spc="200">
                <a:solidFill>
                  <a:srgbClr val="FFFFFF"/>
                </a:solidFill>
                <a:effectLst/>
                <a:uFillTx/>
                <a:latin typeface="Aptos"/>
                <a:ea typeface="Aptos"/>
              </a:rPr>
              <a:t>IN THIS CHAPTER</a:t>
            </a:r>
            <a:endParaRPr lang="en-US" sz="1200" b="0" u="none" strike="noStrike">
              <a:solidFill>
                <a:srgbClr val="000000"/>
              </a:solidFill>
              <a:effectLst/>
              <a:uFillTx/>
              <a:latin typeface="Arial"/>
            </a:endParaRPr>
          </a:p>
        </p:txBody>
      </p:sp>
      <p:sp>
        <p:nvSpPr>
          <p:cNvPr id="32" name="Text 32"/>
          <p:cNvSpPr/>
          <p:nvPr/>
        </p:nvSpPr>
        <p:spPr>
          <a:xfrm>
            <a:off x="985800" y="5480000"/>
            <a:ext cx="2200000" cy="36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050" b="0" i="0" u="none" strike="noStrike">
                <a:solidFill>
                  <a:srgbClr val="F5A21B"/>
                </a:solidFill>
                <a:effectLst/>
                <a:uFillTx/>
                <a:latin typeface="Aptos"/>
                <a:ea typeface="Aptos"/>
              </a:rPr>
              <a:t>Russell &amp; Norvig, AIMA 4e</a:t>
            </a:r>
            <a:endParaRPr lang="en-US" sz="1200" b="0" u="none" strike="noStrike">
              <a:solidFill>
                <a:srgbClr val="000000"/>
              </a:solidFill>
              <a:effectLst/>
              <a:uFillTx/>
              <a:latin typeface="Arial"/>
            </a:endParaRPr>
          </a:p>
        </p:txBody>
      </p:sp>
      <p:sp>
        <p:nvSpPr>
          <p:cNvPr id="33" name="Shape 33"/>
          <p:cNvSpPr/>
          <p:nvPr/>
        </p:nvSpPr>
        <p:spPr>
          <a:xfrm>
            <a:off x="3635800" y="5062000"/>
            <a:ext cx="84000" cy="8400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 name="Text 34"/>
          <p:cNvSpPr/>
          <p:nvPr/>
        </p:nvSpPr>
        <p:spPr>
          <a:xfrm>
            <a:off x="3845800" y="4980000"/>
            <a:ext cx="5420000" cy="2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200" b="0" i="0" u="none" strike="noStrike">
                <a:solidFill>
                  <a:srgbClr val="FFFFFF"/>
                </a:solidFill>
                <a:effectLst/>
                <a:uFillTx/>
                <a:latin typeface="Aptos"/>
                <a:ea typeface="Aptos"/>
              </a:rPr>
              <a:t>Define agents: percepts, agent functions, agent programs</a:t>
            </a:r>
            <a:endParaRPr lang="en-US" sz="1200" b="0" u="none" strike="noStrike">
              <a:solidFill>
                <a:srgbClr val="000000"/>
              </a:solidFill>
              <a:effectLst/>
              <a:uFillTx/>
              <a:latin typeface="Arial"/>
            </a:endParaRPr>
          </a:p>
        </p:txBody>
      </p:sp>
      <p:sp>
        <p:nvSpPr>
          <p:cNvPr id="35" name="Shape 35"/>
          <p:cNvSpPr/>
          <p:nvPr/>
        </p:nvSpPr>
        <p:spPr>
          <a:xfrm>
            <a:off x="3635800" y="5312000"/>
            <a:ext cx="84000" cy="8400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 name="Text 36"/>
          <p:cNvSpPr/>
          <p:nvPr/>
        </p:nvSpPr>
        <p:spPr>
          <a:xfrm>
            <a:off x="3845800" y="5230000"/>
            <a:ext cx="5420000" cy="2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200" b="0" i="0" u="none" strike="noStrike">
                <a:solidFill>
                  <a:srgbClr val="FFFFFF"/>
                </a:solidFill>
                <a:effectLst/>
                <a:uFillTx/>
                <a:latin typeface="Aptos"/>
                <a:ea typeface="Aptos"/>
              </a:rPr>
              <a:t>Judge rationality against a stated performance measure</a:t>
            </a:r>
            <a:endParaRPr lang="en-US" sz="1200" b="0" u="none" strike="noStrike">
              <a:solidFill>
                <a:srgbClr val="000000"/>
              </a:solidFill>
              <a:effectLst/>
              <a:uFillTx/>
              <a:latin typeface="Arial"/>
            </a:endParaRPr>
          </a:p>
        </p:txBody>
      </p:sp>
      <p:sp>
        <p:nvSpPr>
          <p:cNvPr id="37" name="Shape 37"/>
          <p:cNvSpPr/>
          <p:nvPr/>
        </p:nvSpPr>
        <p:spPr>
          <a:xfrm>
            <a:off x="3635800" y="5562000"/>
            <a:ext cx="84000" cy="8400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Text 38"/>
          <p:cNvSpPr/>
          <p:nvPr/>
        </p:nvSpPr>
        <p:spPr>
          <a:xfrm>
            <a:off x="3845800" y="5480000"/>
            <a:ext cx="5420000" cy="2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200" b="0" i="0" u="none" strike="noStrike">
                <a:solidFill>
                  <a:srgbClr val="FFFFFF"/>
                </a:solidFill>
                <a:effectLst/>
                <a:uFillTx/>
                <a:latin typeface="Aptos"/>
                <a:ea typeface="Aptos"/>
              </a:rPr>
              <a:t>Specify tasks with PEAS; classify task environments</a:t>
            </a:r>
            <a:endParaRPr lang="en-US" sz="1200" b="0" u="none" strike="noStrike">
              <a:solidFill>
                <a:srgbClr val="000000"/>
              </a:solidFill>
              <a:effectLst/>
              <a:uFillTx/>
              <a:latin typeface="Arial"/>
            </a:endParaRPr>
          </a:p>
        </p:txBody>
      </p:sp>
      <p:sp>
        <p:nvSpPr>
          <p:cNvPr id="39" name="Shape 39"/>
          <p:cNvSpPr/>
          <p:nvPr/>
        </p:nvSpPr>
        <p:spPr>
          <a:xfrm>
            <a:off x="3635800" y="5812000"/>
            <a:ext cx="84000" cy="8400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 name="Text 40"/>
          <p:cNvSpPr/>
          <p:nvPr/>
        </p:nvSpPr>
        <p:spPr>
          <a:xfrm>
            <a:off x="3845800" y="5730000"/>
            <a:ext cx="5420000" cy="2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200" b="0" i="0" u="none" strike="noStrike">
                <a:solidFill>
                  <a:srgbClr val="FFFFFF"/>
                </a:solidFill>
                <a:effectLst/>
                <a:uFillTx/>
                <a:latin typeface="Aptos"/>
                <a:ea typeface="Aptos"/>
              </a:rPr>
              <a:t>Compare reflex, model-based, goal-based, utility-based agents</a:t>
            </a:r>
            <a:endParaRPr lang="en-US" sz="1200" b="0" u="none" strike="noStrike">
              <a:solidFill>
                <a:srgbClr val="000000"/>
              </a:solidFill>
              <a:effectLst/>
              <a:uFillTx/>
              <a:latin typeface="Arial"/>
            </a:endParaRPr>
          </a:p>
        </p:txBody>
      </p:sp>
      <p:sp>
        <p:nvSpPr>
          <p:cNvPr id="41" name="Shape 41"/>
          <p:cNvSpPr/>
          <p:nvPr/>
        </p:nvSpPr>
        <p:spPr>
          <a:xfrm>
            <a:off x="3635800" y="6062000"/>
            <a:ext cx="84000" cy="8400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 name="Text 42"/>
          <p:cNvSpPr/>
          <p:nvPr/>
        </p:nvSpPr>
        <p:spPr>
          <a:xfrm>
            <a:off x="3845800" y="5980000"/>
            <a:ext cx="5420000" cy="25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200" b="0" i="0" u="none" strike="noStrike">
                <a:solidFill>
                  <a:srgbClr val="FFFFFF"/>
                </a:solidFill>
                <a:effectLst/>
                <a:uFillTx/>
                <a:latin typeface="Aptos"/>
                <a:ea typeface="Aptos"/>
              </a:rPr>
              <a:t>Add learning; choose atomic, factored, or structured state</a:t>
            </a:r>
            <a:endParaRPr lang="en-US" sz="1200" b="0" u="none" strike="noStrike">
              <a:solidFill>
                <a:srgbClr val="000000"/>
              </a:solidFill>
              <a:effectLst/>
              <a:uFillTx/>
              <a:latin typeface="Arial"/>
            </a:endParaRPr>
          </a:p>
        </p:txBody>
      </p:sp>
      <p:sp>
        <p:nvSpPr>
          <p:cNvPr id="43" name="Shape 43"/>
          <p:cNvSpPr/>
          <p:nvPr/>
        </p:nvSpPr>
        <p:spPr>
          <a:xfrm>
            <a:off x="9445800" y="5060000"/>
            <a:ext cx="11000" cy="980000"/>
          </a:xfrm>
          <a:prstGeom prst="rect">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 name="Text 44"/>
          <p:cNvSpPr/>
          <p:nvPr/>
        </p:nvSpPr>
        <p:spPr>
          <a:xfrm>
            <a:off x="9665800" y="5080000"/>
            <a:ext cx="1720000" cy="90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l" defTabSz="914400">
              <a:lnSpc>
                <a:spcPct val="126000"/>
              </a:lnSpc>
              <a:tabLst>
                <a:tab pos="0" algn="l"/>
              </a:tabLst>
            </a:pPr>
            <a:r>
              <a:rPr lang="en-US" sz="1200" b="0" i="1" u="none" strike="noStrike">
                <a:solidFill>
                  <a:srgbClr val="FFFFFF"/>
                </a:solidFill>
                <a:effectLst/>
                <a:uFillTx/>
                <a:latin typeface="Aptos"/>
                <a:ea typeface="Aptos"/>
              </a:rPr>
              <a:t>Core question: how should an agent choose actions in an environment?</a:t>
            </a:r>
            <a:endParaRPr lang="en-US" sz="1200" b="0" u="none" strike="noStrike">
              <a:solidFill>
                <a:srgbClr val="000000"/>
              </a:solidFill>
              <a:effectLst/>
              <a:uFillTx/>
              <a:latin typeface="Arial"/>
            </a:endParaRPr>
          </a:p>
        </p:txBody>
      </p:sp>
      <p:sp>
        <p:nvSpPr>
          <p:cNvPr id="45" name="Shape 45"/>
          <p:cNvSpPr/>
          <p:nvPr/>
        </p:nvSpPr>
        <p:spPr>
          <a:xfrm>
            <a:off x="0" y="6456000"/>
            <a:ext cx="12190680" cy="400920"/>
          </a:xfrm>
          <a:prstGeom prst="rect">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 name="Text 46"/>
          <p:cNvSpPr/>
          <p:nvPr/>
        </p:nvSpPr>
        <p:spPr>
          <a:xfrm>
            <a:off x="685800" y="6540000"/>
            <a:ext cx="3000000" cy="24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tabLst>
                <a:tab pos="0" algn="l"/>
              </a:tabLst>
            </a:pPr>
            <a:r>
              <a:rPr lang="en-US" sz="1100" b="1" i="0" u="none" strike="noStrike" spc="120">
                <a:solidFill>
                  <a:srgbClr val="FFFFFF"/>
                </a:solidFill>
                <a:effectLst/>
                <a:uFillTx/>
                <a:latin typeface="Aptos"/>
                <a:ea typeface="Aptos"/>
              </a:rPr>
              <a:t>AI COMP 469</a:t>
            </a:r>
            <a:endParaRPr lang="en-US" sz="1200" b="0" u="none" strike="noStrike">
              <a:solidFill>
                <a:srgbClr val="000000"/>
              </a:solidFill>
              <a:effectLst/>
              <a:uFillTx/>
              <a:latin typeface="Arial"/>
            </a:endParaRPr>
          </a:p>
        </p:txBody>
      </p:sp>
      <p:sp>
        <p:nvSpPr>
          <p:cNvPr id="47" name="Text 47"/>
          <p:cNvSpPr/>
          <p:nvPr/>
        </p:nvSpPr>
        <p:spPr>
          <a:xfrm>
            <a:off x="7904880" y="6540000"/>
            <a:ext cx="3600000" cy="24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1" i="0" u="none" strike="noStrike" spc="120">
                <a:solidFill>
                  <a:srgbClr val="FFFFFF"/>
                </a:solidFill>
                <a:effectLst/>
                <a:uFillTx/>
                <a:latin typeface="Aptos"/>
                <a:ea typeface="Aptos"/>
              </a:rPr>
              <a:t>CSU CHANNEL ISLANDS</a:t>
            </a:r>
            <a:endParaRPr lang="en-US" sz="1200" b="0" u="none" strike="noStrike">
              <a:solidFill>
                <a:srgbClr val="000000"/>
              </a:solidFill>
              <a:effectLst/>
              <a:uFillTx/>
              <a:latin typeface="Arial"/>
            </a:endParaRPr>
          </a:p>
        </p:txBody>
      </p:sp>
      <p:pic>
        <p:nvPicPr>
          <p:cNvPr id="2" name="Picture 1" descr="CSUCI unveils refreshed brand identity rooted in opportunity, connection and a distinctive sense of place – Amigos805.com">
            <a:extLst>
              <a:ext uri="{FF2B5EF4-FFF2-40B4-BE49-F238E27FC236}">
                <a16:creationId xmlns:a16="http://schemas.microsoft.com/office/drawing/2014/main" id="{4E0FD2E4-8D9D-372A-E242-ACAB8D80B333}"/>
              </a:ext>
            </a:extLst>
          </p:cNvPr>
          <p:cNvPicPr>
            <a:picLocks noChangeAspect="1"/>
          </p:cNvPicPr>
          <p:nvPr/>
        </p:nvPicPr>
        <p:blipFill>
          <a:blip r:embed="rId3"/>
          <a:stretch>
            <a:fillRect/>
          </a:stretch>
        </p:blipFill>
        <p:spPr>
          <a:xfrm>
            <a:off x="9849667" y="219106"/>
            <a:ext cx="1160666" cy="6463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6" name="Shape 0"/>
          <p:cNvSpPr/>
          <p:nvPr/>
        </p:nvSpPr>
        <p:spPr>
          <a:xfrm>
            <a:off x="0" y="0"/>
            <a:ext cx="12190680" cy="6856920"/>
          </a:xfrm>
          <a:prstGeom prst="rect">
            <a:avLst/>
          </a:prstGeom>
          <a:solidFill>
            <a:srgbClr val="F2F6FA"/>
          </a:solidFill>
          <a:ln w="12700">
            <a:solidFill>
              <a:srgbClr val="F2F6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 name="Shape 1"/>
          <p:cNvSpPr/>
          <p:nvPr/>
        </p:nvSpPr>
        <p:spPr>
          <a:xfrm>
            <a:off x="0" y="0"/>
            <a:ext cx="12190680" cy="105048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 name="Shape 2"/>
          <p:cNvSpPr/>
          <p:nvPr/>
        </p:nvSpPr>
        <p:spPr>
          <a:xfrm>
            <a:off x="0" y="1051560"/>
            <a:ext cx="12190680" cy="8136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000000"/>
              </a:solidFill>
              <a:effectLst/>
              <a:uFillTx/>
              <a:latin typeface="Arial"/>
            </a:endParaRPr>
          </a:p>
        </p:txBody>
      </p:sp>
      <p:sp>
        <p:nvSpPr>
          <p:cNvPr id="19" name="Text 3"/>
          <p:cNvSpPr/>
          <p:nvPr/>
        </p:nvSpPr>
        <p:spPr>
          <a:xfrm>
            <a:off x="685800" y="311040"/>
            <a:ext cx="201060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Aptos"/>
              </a:rPr>
              <a:t>COMP 469</a:t>
            </a:r>
            <a:endParaRPr lang="en-US" sz="2000" b="0" u="none" strike="noStrike">
              <a:solidFill>
                <a:srgbClr val="000000"/>
              </a:solidFill>
              <a:effectLst/>
              <a:uFillTx/>
              <a:latin typeface="Arial"/>
            </a:endParaRPr>
          </a:p>
        </p:txBody>
      </p:sp>
      <p:sp>
        <p:nvSpPr>
          <p:cNvPr id="20" name="Text 4"/>
          <p:cNvSpPr/>
          <p:nvPr/>
        </p:nvSpPr>
        <p:spPr>
          <a:xfrm>
            <a:off x="685800" y="1828800"/>
            <a:ext cx="9874440" cy="63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u="none" strike="noStrike">
                <a:solidFill>
                  <a:srgbClr val="0B1F3A"/>
                </a:solidFill>
                <a:effectLst/>
                <a:uFillTx/>
                <a:latin typeface="Aptos Display"/>
                <a:ea typeface="Aptos Display"/>
              </a:rPr>
              <a:t>Chapter 2: Intelligent Agents</a:t>
            </a:r>
            <a:endParaRPr lang="en-US" sz="3600" b="0" u="none" strike="noStrike">
              <a:solidFill>
                <a:srgbClr val="000000"/>
              </a:solidFill>
              <a:effectLst/>
              <a:uFillTx/>
              <a:latin typeface="Arial"/>
            </a:endParaRPr>
          </a:p>
        </p:txBody>
      </p:sp>
      <p:sp>
        <p:nvSpPr>
          <p:cNvPr id="21" name="Text 5"/>
          <p:cNvSpPr/>
          <p:nvPr/>
        </p:nvSpPr>
        <p:spPr>
          <a:xfrm>
            <a:off x="713160" y="2541960"/>
            <a:ext cx="74970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u="none" strike="noStrike">
                <a:solidFill>
                  <a:srgbClr val="5E7088"/>
                </a:solidFill>
                <a:effectLst/>
                <a:uFillTx/>
                <a:latin typeface="Aptos"/>
              </a:rPr>
              <a:t>CSU Channel Islands · Department of Computer Science</a:t>
            </a:r>
            <a:endParaRPr lang="en-US" sz="1500" b="0" u="none" strike="noStrike">
              <a:solidFill>
                <a:srgbClr val="000000"/>
              </a:solidFill>
              <a:effectLst/>
              <a:uFillTx/>
              <a:latin typeface="Arial"/>
            </a:endParaRPr>
          </a:p>
        </p:txBody>
      </p:sp>
      <p:sp>
        <p:nvSpPr>
          <p:cNvPr id="22" name="Shape 6"/>
          <p:cNvSpPr/>
          <p:nvPr/>
        </p:nvSpPr>
        <p:spPr>
          <a:xfrm>
            <a:off x="960120" y="3886200"/>
            <a:ext cx="1553400" cy="1553400"/>
          </a:xfrm>
          <a:prstGeom prst="ellipse">
            <a:avLst/>
          </a:prstGeom>
          <a:solidFill>
            <a:srgbClr val="2B6CB0"/>
          </a:solidFill>
          <a:ln w="12700">
            <a:solidFill>
              <a:srgbClr val="2B6CB0"/>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 name="Text 7"/>
          <p:cNvSpPr/>
          <p:nvPr/>
        </p:nvSpPr>
        <p:spPr>
          <a:xfrm>
            <a:off x="960120" y="4370760"/>
            <a:ext cx="1553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Sense</a:t>
            </a:r>
            <a:endParaRPr lang="en-US" sz="1800" b="0" u="none" strike="noStrike">
              <a:solidFill>
                <a:srgbClr val="000000"/>
              </a:solidFill>
              <a:effectLst/>
              <a:uFillTx/>
              <a:latin typeface="Arial"/>
            </a:endParaRPr>
          </a:p>
        </p:txBody>
      </p:sp>
      <p:sp>
        <p:nvSpPr>
          <p:cNvPr id="24" name="Shape 8"/>
          <p:cNvSpPr/>
          <p:nvPr/>
        </p:nvSpPr>
        <p:spPr>
          <a:xfrm>
            <a:off x="2834640" y="4370760"/>
            <a:ext cx="1233360" cy="593280"/>
          </a:xfrm>
          <a:prstGeom prst="chevron">
            <a:avLst>
              <a:gd name="adj" fmla="val 5000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 name="Shape 9"/>
          <p:cNvSpPr/>
          <p:nvPr/>
        </p:nvSpPr>
        <p:spPr>
          <a:xfrm>
            <a:off x="4343400" y="3886200"/>
            <a:ext cx="1553400" cy="1553400"/>
          </a:xfrm>
          <a:prstGeom prst="ellipse">
            <a:avLst/>
          </a:prstGeom>
          <a:solidFill>
            <a:srgbClr val="048A97"/>
          </a:solidFill>
          <a:ln w="12700">
            <a:solidFill>
              <a:srgbClr val="048A97"/>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 name="Text 10"/>
          <p:cNvSpPr/>
          <p:nvPr/>
        </p:nvSpPr>
        <p:spPr>
          <a:xfrm>
            <a:off x="4343400" y="4370760"/>
            <a:ext cx="1553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Decide</a:t>
            </a:r>
            <a:endParaRPr lang="en-US" sz="1800" b="0" u="none" strike="noStrike">
              <a:solidFill>
                <a:srgbClr val="000000"/>
              </a:solidFill>
              <a:effectLst/>
              <a:uFillTx/>
              <a:latin typeface="Arial"/>
            </a:endParaRPr>
          </a:p>
        </p:txBody>
      </p:sp>
      <p:sp>
        <p:nvSpPr>
          <p:cNvPr id="27" name="Shape 11"/>
          <p:cNvSpPr/>
          <p:nvPr/>
        </p:nvSpPr>
        <p:spPr>
          <a:xfrm>
            <a:off x="6217920" y="4370760"/>
            <a:ext cx="1233360" cy="593280"/>
          </a:xfrm>
          <a:prstGeom prst="chevron">
            <a:avLst>
              <a:gd name="adj" fmla="val 5000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 name="Shape 12"/>
          <p:cNvSpPr/>
          <p:nvPr/>
        </p:nvSpPr>
        <p:spPr>
          <a:xfrm>
            <a:off x="7818120" y="3886200"/>
            <a:ext cx="1553400" cy="1553400"/>
          </a:xfrm>
          <a:prstGeom prst="ellipse">
            <a:avLst/>
          </a:prstGeom>
          <a:solidFill>
            <a:srgbClr val="1B7A45"/>
          </a:solidFill>
          <a:ln w="12700">
            <a:solidFill>
              <a:srgbClr val="1B7A45"/>
            </a:solidFill>
            <a:round/>
          </a:ln>
          <a:effectLst>
            <a:outerShdw blurRad="25560" dist="12218"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 name="Text 13"/>
          <p:cNvSpPr/>
          <p:nvPr/>
        </p:nvSpPr>
        <p:spPr>
          <a:xfrm>
            <a:off x="7818120" y="4370760"/>
            <a:ext cx="1553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Act</a:t>
            </a:r>
            <a:endParaRPr lang="en-US" sz="1800" b="0" u="none" strike="noStrike">
              <a:solidFill>
                <a:srgbClr val="000000"/>
              </a:solidFill>
              <a:effectLst/>
              <a:uFillTx/>
              <a:latin typeface="Arial"/>
            </a:endParaRPr>
          </a:p>
        </p:txBody>
      </p:sp>
      <p:sp>
        <p:nvSpPr>
          <p:cNvPr id="30" name="Text 14"/>
          <p:cNvSpPr/>
          <p:nvPr/>
        </p:nvSpPr>
        <p:spPr>
          <a:xfrm>
            <a:off x="713160" y="5916240"/>
            <a:ext cx="10880280" cy="30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Core question: how should an agent choose actions in an environment?</a:t>
            </a:r>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3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What Can AI Do?</a:t>
            </a:r>
            <a:endParaRPr lang="en-US" sz="2300" b="0" u="none" strike="noStrike">
              <a:solidFill>
                <a:srgbClr val="000000"/>
              </a:solidFill>
              <a:effectLst/>
              <a:uFillTx/>
              <a:latin typeface="Arial"/>
            </a:endParaRPr>
          </a:p>
        </p:txBody>
      </p:sp>
      <p:sp>
        <p:nvSpPr>
          <p:cNvPr id="3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Warm-up</a:t>
            </a:r>
            <a:endParaRPr lang="en-US" sz="1200" b="0" u="none" strike="noStrike">
              <a:solidFill>
                <a:srgbClr val="000000"/>
              </a:solidFill>
              <a:effectLst/>
              <a:uFillTx/>
              <a:latin typeface="Arial"/>
            </a:endParaRPr>
          </a:p>
        </p:txBody>
      </p:sp>
      <p:sp>
        <p:nvSpPr>
          <p:cNvPr id="3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a:t>
            </a:r>
            <a:endParaRPr lang="en-US" sz="1800" b="0" u="none" strike="noStrike">
              <a:solidFill>
                <a:srgbClr val="000000"/>
              </a:solidFill>
              <a:effectLst/>
              <a:uFillTx/>
              <a:latin typeface="Arial"/>
            </a:endParaRPr>
          </a:p>
        </p:txBody>
      </p:sp>
      <p:sp>
        <p:nvSpPr>
          <p:cNvPr id="37" name="Shape 6"/>
          <p:cNvSpPr/>
          <p:nvPr/>
        </p:nvSpPr>
        <p:spPr>
          <a:xfrm>
            <a:off x="658440" y="1234440"/>
            <a:ext cx="3016440" cy="1964880"/>
          </a:xfrm>
          <a:prstGeom prst="roundRect">
            <a:avLst>
              <a:gd name="adj" fmla="val 2791"/>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 name="Text 7"/>
          <p:cNvSpPr/>
          <p:nvPr/>
        </p:nvSpPr>
        <p:spPr>
          <a:xfrm>
            <a:off x="822960" y="1380600"/>
            <a:ext cx="26874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Reliable in formal worlds</a:t>
            </a:r>
            <a:endParaRPr lang="en-US" sz="1500" b="0" u="none" strike="noStrike">
              <a:solidFill>
                <a:srgbClr val="000000"/>
              </a:solidFill>
              <a:effectLst/>
              <a:uFillTx/>
              <a:latin typeface="Arial"/>
            </a:endParaRPr>
          </a:p>
        </p:txBody>
      </p:sp>
      <p:sp>
        <p:nvSpPr>
          <p:cNvPr id="39" name="Text 8"/>
          <p:cNvSpPr/>
          <p:nvPr/>
        </p:nvSpPr>
        <p:spPr>
          <a:xfrm>
            <a:off x="822960" y="1710000"/>
            <a:ext cx="2687400" cy="1370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Win at chess or Go</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Translate speech</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Classify images</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Answer structured questions</a:t>
            </a:r>
            <a:endParaRPr lang="en-US" sz="1250" b="0" u="none" strike="noStrike">
              <a:solidFill>
                <a:srgbClr val="000000"/>
              </a:solidFill>
              <a:effectLst/>
              <a:uFillTx/>
              <a:latin typeface="Arial"/>
            </a:endParaRPr>
          </a:p>
        </p:txBody>
      </p:sp>
      <p:sp>
        <p:nvSpPr>
          <p:cNvPr id="40" name="Shape 9"/>
          <p:cNvSpPr/>
          <p:nvPr/>
        </p:nvSpPr>
        <p:spPr>
          <a:xfrm>
            <a:off x="3886200" y="1234440"/>
            <a:ext cx="3793680" cy="1964880"/>
          </a:xfrm>
          <a:prstGeom prst="roundRect">
            <a:avLst>
              <a:gd name="adj" fmla="val 2791"/>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 name="Text 10"/>
          <p:cNvSpPr/>
          <p:nvPr/>
        </p:nvSpPr>
        <p:spPr>
          <a:xfrm>
            <a:off x="4050720" y="1380600"/>
            <a:ext cx="34646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A32020"/>
                </a:solidFill>
                <a:effectLst/>
                <a:uFillTx/>
                <a:latin typeface="Aptos"/>
              </a:rPr>
              <a:t>Harder in open worlds</a:t>
            </a:r>
            <a:endParaRPr lang="en-US" sz="1500" b="0" u="none" strike="noStrike">
              <a:solidFill>
                <a:srgbClr val="000000"/>
              </a:solidFill>
              <a:effectLst/>
              <a:uFillTx/>
              <a:latin typeface="Arial"/>
            </a:endParaRPr>
          </a:p>
        </p:txBody>
      </p:sp>
      <p:sp>
        <p:nvSpPr>
          <p:cNvPr id="42" name="Text 11"/>
          <p:cNvSpPr/>
          <p:nvPr/>
        </p:nvSpPr>
        <p:spPr>
          <a:xfrm>
            <a:off x="4050720" y="1710000"/>
            <a:ext cx="3464640" cy="1370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Drive safely in all conditions</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Unload any dishwasher in any home</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Buy groceries in a physical store</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Act with incomplete information</a:t>
            </a:r>
            <a:endParaRPr lang="en-US" sz="1250" b="0" u="none" strike="noStrike">
              <a:solidFill>
                <a:srgbClr val="000000"/>
              </a:solidFill>
              <a:effectLst/>
              <a:uFillTx/>
              <a:latin typeface="Arial"/>
            </a:endParaRPr>
          </a:p>
        </p:txBody>
      </p:sp>
      <p:sp>
        <p:nvSpPr>
          <p:cNvPr id="43" name="Shape 12"/>
          <p:cNvSpPr/>
          <p:nvPr/>
        </p:nvSpPr>
        <p:spPr>
          <a:xfrm>
            <a:off x="7900560" y="1234440"/>
            <a:ext cx="3565080" cy="1964880"/>
          </a:xfrm>
          <a:prstGeom prst="roundRect">
            <a:avLst>
              <a:gd name="adj" fmla="val 2791"/>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 name="Text 13"/>
          <p:cNvSpPr/>
          <p:nvPr/>
        </p:nvSpPr>
        <p:spPr>
          <a:xfrm>
            <a:off x="8065080" y="1380600"/>
            <a:ext cx="32360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A better question to ask</a:t>
            </a:r>
            <a:endParaRPr lang="en-US" sz="1500" b="0" u="none" strike="noStrike">
              <a:solidFill>
                <a:srgbClr val="000000"/>
              </a:solidFill>
              <a:effectLst/>
              <a:uFillTx/>
              <a:latin typeface="Arial"/>
            </a:endParaRPr>
          </a:p>
        </p:txBody>
      </p:sp>
      <p:sp>
        <p:nvSpPr>
          <p:cNvPr id="45" name="Text 14"/>
          <p:cNvSpPr/>
          <p:nvPr/>
        </p:nvSpPr>
        <p:spPr>
          <a:xfrm>
            <a:off x="8065080" y="1710000"/>
            <a:ext cx="3236040" cy="1370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Do not ask only whether AI “can” do something. Ask what the environment is, what the agent can perceive, what actions are available, and how success is measured.</a:t>
            </a:r>
            <a:endParaRPr lang="en-US" sz="1250" b="0" u="none" strike="noStrike">
              <a:solidFill>
                <a:srgbClr val="000000"/>
              </a:solidFill>
              <a:effectLst/>
              <a:uFillTx/>
              <a:latin typeface="Arial"/>
            </a:endParaRPr>
          </a:p>
        </p:txBody>
      </p:sp>
      <p:sp>
        <p:nvSpPr>
          <p:cNvPr id="46" name="Shape 15"/>
          <p:cNvSpPr/>
          <p:nvPr/>
        </p:nvSpPr>
        <p:spPr>
          <a:xfrm>
            <a:off x="1005840" y="4297680"/>
            <a:ext cx="10241280" cy="360"/>
          </a:xfrm>
          <a:prstGeom prst="line">
            <a:avLst/>
          </a:prstGeom>
          <a:ln w="254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7" name="Text 16"/>
          <p:cNvSpPr/>
          <p:nvPr/>
        </p:nvSpPr>
        <p:spPr>
          <a:xfrm>
            <a:off x="1005840" y="4526280"/>
            <a:ext cx="1024020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300" b="1" u="none" strike="noStrike">
                <a:solidFill>
                  <a:srgbClr val="0B2B5C"/>
                </a:solidFill>
                <a:effectLst/>
                <a:uFillTx/>
                <a:latin typeface="Aptos"/>
              </a:rPr>
              <a:t>Task difficulty depends on environment structure.</a:t>
            </a:r>
            <a:endParaRPr lang="en-US" sz="2300" b="0" u="none" strike="noStrike">
              <a:solidFill>
                <a:srgbClr val="000000"/>
              </a:solidFill>
              <a:effectLst/>
              <a:uFillTx/>
              <a:latin typeface="Arial"/>
            </a:endParaRPr>
          </a:p>
        </p:txBody>
      </p:sp>
      <p:sp>
        <p:nvSpPr>
          <p:cNvPr id="48" name="Text 17"/>
          <p:cNvSpPr/>
          <p:nvPr/>
        </p:nvSpPr>
        <p:spPr>
          <a:xfrm>
            <a:off x="1005840" y="5010840"/>
            <a:ext cx="102402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0" u="none" strike="noStrike">
                <a:solidFill>
                  <a:srgbClr val="5E7088"/>
                </a:solidFill>
                <a:effectLst/>
                <a:uFillTx/>
                <a:latin typeface="Aptos"/>
              </a:rPr>
              <a:t>Pick one task from each column and name the property that makes it easy or hard.</a:t>
            </a:r>
            <a:endParaRPr lang="en-US" sz="13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4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5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A Rational-Agent Perspective</a:t>
            </a:r>
            <a:endParaRPr lang="en-US" sz="2300" b="0" u="none" strike="noStrike">
              <a:solidFill>
                <a:srgbClr val="000000"/>
              </a:solidFill>
              <a:effectLst/>
              <a:uFillTx/>
              <a:latin typeface="Arial"/>
            </a:endParaRPr>
          </a:p>
        </p:txBody>
      </p:sp>
      <p:sp>
        <p:nvSpPr>
          <p:cNvPr id="5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Framing</a:t>
            </a:r>
            <a:endParaRPr lang="en-US" sz="1200" b="0" u="none" strike="noStrike">
              <a:solidFill>
                <a:srgbClr val="000000"/>
              </a:solidFill>
              <a:effectLst/>
              <a:uFillTx/>
              <a:latin typeface="Arial"/>
            </a:endParaRPr>
          </a:p>
        </p:txBody>
      </p:sp>
      <p:sp>
        <p:nvSpPr>
          <p:cNvPr id="5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5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a:t>
            </a:r>
            <a:endParaRPr lang="en-US" sz="1800" b="0" u="none" strike="noStrike">
              <a:solidFill>
                <a:srgbClr val="000000"/>
              </a:solidFill>
              <a:effectLst/>
              <a:uFillTx/>
              <a:latin typeface="Arial"/>
            </a:endParaRPr>
          </a:p>
        </p:txBody>
      </p:sp>
      <p:sp>
        <p:nvSpPr>
          <p:cNvPr id="55" name="Text 6"/>
          <p:cNvSpPr/>
          <p:nvPr/>
        </p:nvSpPr>
        <p:spPr>
          <a:xfrm>
            <a:off x="777240" y="1234440"/>
            <a:ext cx="594252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a:solidFill>
                  <a:srgbClr val="0B1F3A"/>
                </a:solidFill>
                <a:effectLst/>
                <a:uFillTx/>
                <a:latin typeface="Aptos"/>
              </a:rPr>
              <a:t>Should we make machines that...</a:t>
            </a:r>
            <a:endParaRPr lang="en-US" sz="2100" b="0" u="none" strike="noStrike">
              <a:solidFill>
                <a:srgbClr val="000000"/>
              </a:solidFill>
              <a:effectLst/>
              <a:uFillTx/>
              <a:latin typeface="Arial"/>
            </a:endParaRPr>
          </a:p>
        </p:txBody>
      </p:sp>
      <p:sp>
        <p:nvSpPr>
          <p:cNvPr id="56" name="Shape 7"/>
          <p:cNvSpPr/>
          <p:nvPr/>
        </p:nvSpPr>
        <p:spPr>
          <a:xfrm>
            <a:off x="960120" y="187452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 name="Text 8"/>
          <p:cNvSpPr/>
          <p:nvPr/>
        </p:nvSpPr>
        <p:spPr>
          <a:xfrm>
            <a:off x="1124640" y="202068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6DA3D9"/>
                </a:solidFill>
                <a:effectLst/>
                <a:uFillTx/>
                <a:latin typeface="Aptos"/>
              </a:rPr>
              <a:t>Think like people</a:t>
            </a:r>
            <a:endParaRPr lang="en-US" sz="1900" b="0" u="none" strike="noStrike">
              <a:solidFill>
                <a:srgbClr val="000000"/>
              </a:solidFill>
              <a:effectLst/>
              <a:uFillTx/>
              <a:latin typeface="Arial"/>
            </a:endParaRPr>
          </a:p>
        </p:txBody>
      </p:sp>
      <p:sp>
        <p:nvSpPr>
          <p:cNvPr id="58" name="Text 9"/>
          <p:cNvSpPr/>
          <p:nvPr/>
        </p:nvSpPr>
        <p:spPr>
          <a:xfrm>
            <a:off x="1124640" y="235008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human thought process</a:t>
            </a:r>
            <a:endParaRPr lang="en-US" sz="1400" b="0" u="none" strike="noStrike">
              <a:solidFill>
                <a:srgbClr val="000000"/>
              </a:solidFill>
              <a:effectLst/>
              <a:uFillTx/>
              <a:latin typeface="Arial"/>
            </a:endParaRPr>
          </a:p>
        </p:txBody>
      </p:sp>
      <p:sp>
        <p:nvSpPr>
          <p:cNvPr id="59" name="Shape 10"/>
          <p:cNvSpPr/>
          <p:nvPr/>
        </p:nvSpPr>
        <p:spPr>
          <a:xfrm>
            <a:off x="6400800" y="187452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0" name="Text 11"/>
          <p:cNvSpPr/>
          <p:nvPr/>
        </p:nvSpPr>
        <p:spPr>
          <a:xfrm>
            <a:off x="6565320" y="202068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048A97"/>
                </a:solidFill>
                <a:effectLst/>
                <a:uFillTx/>
                <a:latin typeface="Aptos"/>
              </a:rPr>
              <a:t>Think rationally</a:t>
            </a:r>
            <a:endParaRPr lang="en-US" sz="1900" b="0" u="none" strike="noStrike">
              <a:solidFill>
                <a:srgbClr val="000000"/>
              </a:solidFill>
              <a:effectLst/>
              <a:uFillTx/>
              <a:latin typeface="Arial"/>
            </a:endParaRPr>
          </a:p>
        </p:txBody>
      </p:sp>
      <p:sp>
        <p:nvSpPr>
          <p:cNvPr id="61" name="Text 12"/>
          <p:cNvSpPr/>
          <p:nvPr/>
        </p:nvSpPr>
        <p:spPr>
          <a:xfrm>
            <a:off x="6565320" y="235008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formal reasoning</a:t>
            </a:r>
            <a:endParaRPr lang="en-US" sz="1400" b="0" u="none" strike="noStrike">
              <a:solidFill>
                <a:srgbClr val="000000"/>
              </a:solidFill>
              <a:effectLst/>
              <a:uFillTx/>
              <a:latin typeface="Arial"/>
            </a:endParaRPr>
          </a:p>
        </p:txBody>
      </p:sp>
      <p:sp>
        <p:nvSpPr>
          <p:cNvPr id="62" name="Shape 13"/>
          <p:cNvSpPr/>
          <p:nvPr/>
        </p:nvSpPr>
        <p:spPr>
          <a:xfrm>
            <a:off x="960120" y="384048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 name="Text 14"/>
          <p:cNvSpPr/>
          <p:nvPr/>
        </p:nvSpPr>
        <p:spPr>
          <a:xfrm>
            <a:off x="1124640" y="398664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5B35B1"/>
                </a:solidFill>
                <a:effectLst/>
                <a:uFillTx/>
                <a:latin typeface="Aptos"/>
              </a:rPr>
              <a:t>Act like people</a:t>
            </a:r>
            <a:endParaRPr lang="en-US" sz="1900" b="0" u="none" strike="noStrike">
              <a:solidFill>
                <a:srgbClr val="000000"/>
              </a:solidFill>
              <a:effectLst/>
              <a:uFillTx/>
              <a:latin typeface="Arial"/>
            </a:endParaRPr>
          </a:p>
        </p:txBody>
      </p:sp>
      <p:sp>
        <p:nvSpPr>
          <p:cNvPr id="64" name="Text 15"/>
          <p:cNvSpPr/>
          <p:nvPr/>
        </p:nvSpPr>
        <p:spPr>
          <a:xfrm>
            <a:off x="1124640" y="431604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human-like behavior</a:t>
            </a:r>
            <a:endParaRPr lang="en-US" sz="1400" b="0" u="none" strike="noStrike">
              <a:solidFill>
                <a:srgbClr val="000000"/>
              </a:solidFill>
              <a:effectLst/>
              <a:uFillTx/>
              <a:latin typeface="Arial"/>
            </a:endParaRPr>
          </a:p>
        </p:txBody>
      </p:sp>
      <p:sp>
        <p:nvSpPr>
          <p:cNvPr id="65" name="Shape 16"/>
          <p:cNvSpPr/>
          <p:nvPr/>
        </p:nvSpPr>
        <p:spPr>
          <a:xfrm>
            <a:off x="6400800" y="3840480"/>
            <a:ext cx="4433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6" name="Text 17"/>
          <p:cNvSpPr/>
          <p:nvPr/>
        </p:nvSpPr>
        <p:spPr>
          <a:xfrm>
            <a:off x="6565320" y="3986640"/>
            <a:ext cx="410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1B7A45"/>
                </a:solidFill>
                <a:effectLst/>
                <a:uFillTx/>
                <a:latin typeface="Aptos"/>
              </a:rPr>
              <a:t>Act rationally</a:t>
            </a:r>
            <a:endParaRPr lang="en-US" sz="1900" b="0" u="none" strike="noStrike">
              <a:solidFill>
                <a:srgbClr val="000000"/>
              </a:solidFill>
              <a:effectLst/>
              <a:uFillTx/>
              <a:latin typeface="Arial"/>
            </a:endParaRPr>
          </a:p>
        </p:txBody>
      </p:sp>
      <p:sp>
        <p:nvSpPr>
          <p:cNvPr id="67" name="Text 18"/>
          <p:cNvSpPr/>
          <p:nvPr/>
        </p:nvSpPr>
        <p:spPr>
          <a:xfrm>
            <a:off x="6565320" y="4316040"/>
            <a:ext cx="4104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choose effective actions</a:t>
            </a:r>
            <a:endParaRPr lang="en-US" sz="1400" b="0" u="none" strike="noStrike">
              <a:solidFill>
                <a:srgbClr val="000000"/>
              </a:solidFill>
              <a:effectLst/>
              <a:uFillTx/>
              <a:latin typeface="Arial"/>
            </a:endParaRPr>
          </a:p>
        </p:txBody>
      </p:sp>
      <p:sp>
        <p:nvSpPr>
          <p:cNvPr id="68" name="Shape 19"/>
          <p:cNvSpPr/>
          <p:nvPr/>
        </p:nvSpPr>
        <p:spPr>
          <a:xfrm>
            <a:off x="6236280" y="3730680"/>
            <a:ext cx="4735440" cy="1443600"/>
          </a:xfrm>
          <a:prstGeom prst="roundRect">
            <a:avLst>
              <a:gd name="adj" fmla="val 4430"/>
            </a:avLst>
          </a:prstGeom>
          <a:noFill/>
          <a:ln w="381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6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7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2.0 Roadmap: From Agent Loop to Agent Design</a:t>
            </a:r>
            <a:endParaRPr lang="en-US" sz="2300" b="0" u="none" strike="noStrike">
              <a:solidFill>
                <a:srgbClr val="000000"/>
              </a:solidFill>
              <a:effectLst/>
              <a:uFillTx/>
              <a:latin typeface="Arial"/>
            </a:endParaRPr>
          </a:p>
        </p:txBody>
      </p:sp>
      <p:sp>
        <p:nvSpPr>
          <p:cNvPr id="7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Roadmap</a:t>
            </a:r>
            <a:endParaRPr lang="en-US" sz="1200" b="0" u="none" strike="noStrike">
              <a:solidFill>
                <a:srgbClr val="000000"/>
              </a:solidFill>
              <a:effectLst/>
              <a:uFillTx/>
              <a:latin typeface="Arial"/>
            </a:endParaRPr>
          </a:p>
        </p:txBody>
      </p:sp>
      <p:sp>
        <p:nvSpPr>
          <p:cNvPr id="7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a:t>
            </a:r>
            <a:endParaRPr lang="en-US" sz="1800" b="0" u="none" strike="noStrike">
              <a:solidFill>
                <a:srgbClr val="000000"/>
              </a:solidFill>
              <a:effectLst/>
              <a:uFillTx/>
              <a:latin typeface="Arial"/>
            </a:endParaRPr>
          </a:p>
        </p:txBody>
      </p:sp>
      <p:sp>
        <p:nvSpPr>
          <p:cNvPr id="75" name="Shape 6"/>
          <p:cNvSpPr/>
          <p:nvPr/>
        </p:nvSpPr>
        <p:spPr>
          <a:xfrm>
            <a:off x="502920" y="123444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 name="Text 7"/>
          <p:cNvSpPr/>
          <p:nvPr/>
        </p:nvSpPr>
        <p:spPr>
          <a:xfrm>
            <a:off x="667440" y="13806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Agent loop</a:t>
            </a:r>
            <a:endParaRPr lang="en-US" sz="1800" b="0" u="none" strike="noStrike">
              <a:solidFill>
                <a:srgbClr val="000000"/>
              </a:solidFill>
              <a:effectLst/>
              <a:uFillTx/>
              <a:latin typeface="Arial"/>
            </a:endParaRPr>
          </a:p>
        </p:txBody>
      </p:sp>
      <p:sp>
        <p:nvSpPr>
          <p:cNvPr id="77" name="Text 8"/>
          <p:cNvSpPr/>
          <p:nvPr/>
        </p:nvSpPr>
        <p:spPr>
          <a:xfrm>
            <a:off x="667440" y="171000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percepts -&gt; action</a:t>
            </a:r>
            <a:endParaRPr lang="en-US" sz="1300" b="0" u="none" strike="noStrike">
              <a:solidFill>
                <a:srgbClr val="000000"/>
              </a:solidFill>
              <a:effectLst/>
              <a:uFillTx/>
              <a:latin typeface="Arial"/>
            </a:endParaRPr>
          </a:p>
        </p:txBody>
      </p:sp>
      <p:sp>
        <p:nvSpPr>
          <p:cNvPr id="78" name="Shape 9"/>
          <p:cNvSpPr/>
          <p:nvPr/>
        </p:nvSpPr>
        <p:spPr>
          <a:xfrm>
            <a:off x="4297680" y="123444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 name="Text 10"/>
          <p:cNvSpPr/>
          <p:nvPr/>
        </p:nvSpPr>
        <p:spPr>
          <a:xfrm>
            <a:off x="4462200" y="13806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48A97"/>
                </a:solidFill>
                <a:effectLst/>
                <a:uFillTx/>
                <a:latin typeface="Aptos"/>
              </a:rPr>
              <a:t>Rationality</a:t>
            </a:r>
            <a:endParaRPr lang="en-US" sz="1800" b="0" u="none" strike="noStrike">
              <a:solidFill>
                <a:srgbClr val="000000"/>
              </a:solidFill>
              <a:effectLst/>
              <a:uFillTx/>
              <a:latin typeface="Arial"/>
            </a:endParaRPr>
          </a:p>
        </p:txBody>
      </p:sp>
      <p:sp>
        <p:nvSpPr>
          <p:cNvPr id="80" name="Text 11"/>
          <p:cNvSpPr/>
          <p:nvPr/>
        </p:nvSpPr>
        <p:spPr>
          <a:xfrm>
            <a:off x="4462200" y="171000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expected performance</a:t>
            </a:r>
            <a:endParaRPr lang="en-US" sz="1300" b="0" u="none" strike="noStrike">
              <a:solidFill>
                <a:srgbClr val="000000"/>
              </a:solidFill>
              <a:effectLst/>
              <a:uFillTx/>
              <a:latin typeface="Arial"/>
            </a:endParaRPr>
          </a:p>
        </p:txBody>
      </p:sp>
      <p:sp>
        <p:nvSpPr>
          <p:cNvPr id="81" name="Shape 12"/>
          <p:cNvSpPr/>
          <p:nvPr/>
        </p:nvSpPr>
        <p:spPr>
          <a:xfrm>
            <a:off x="8092440" y="123444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 name="Text 13"/>
          <p:cNvSpPr/>
          <p:nvPr/>
        </p:nvSpPr>
        <p:spPr>
          <a:xfrm>
            <a:off x="8256960" y="13806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PEAS</a:t>
            </a:r>
            <a:endParaRPr lang="en-US" sz="1800" b="0" u="none" strike="noStrike">
              <a:solidFill>
                <a:srgbClr val="000000"/>
              </a:solidFill>
              <a:effectLst/>
              <a:uFillTx/>
              <a:latin typeface="Arial"/>
            </a:endParaRPr>
          </a:p>
        </p:txBody>
      </p:sp>
      <p:sp>
        <p:nvSpPr>
          <p:cNvPr id="83" name="Text 14"/>
          <p:cNvSpPr/>
          <p:nvPr/>
        </p:nvSpPr>
        <p:spPr>
          <a:xfrm>
            <a:off x="8256960" y="171000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task specification</a:t>
            </a:r>
            <a:endParaRPr lang="en-US" sz="1300" b="0" u="none" strike="noStrike">
              <a:solidFill>
                <a:srgbClr val="000000"/>
              </a:solidFill>
              <a:effectLst/>
              <a:uFillTx/>
              <a:latin typeface="Arial"/>
            </a:endParaRPr>
          </a:p>
        </p:txBody>
      </p:sp>
      <p:sp>
        <p:nvSpPr>
          <p:cNvPr id="84" name="Shape 15"/>
          <p:cNvSpPr/>
          <p:nvPr/>
        </p:nvSpPr>
        <p:spPr>
          <a:xfrm>
            <a:off x="502920" y="278892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 name="Text 16"/>
          <p:cNvSpPr/>
          <p:nvPr/>
        </p:nvSpPr>
        <p:spPr>
          <a:xfrm>
            <a:off x="667440" y="293508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Environment</a:t>
            </a:r>
            <a:endParaRPr lang="en-US" sz="1800" b="0" u="none" strike="noStrike">
              <a:solidFill>
                <a:srgbClr val="000000"/>
              </a:solidFill>
              <a:effectLst/>
              <a:uFillTx/>
              <a:latin typeface="Arial"/>
            </a:endParaRPr>
          </a:p>
        </p:txBody>
      </p:sp>
      <p:sp>
        <p:nvSpPr>
          <p:cNvPr id="86" name="Text 17"/>
          <p:cNvSpPr/>
          <p:nvPr/>
        </p:nvSpPr>
        <p:spPr>
          <a:xfrm>
            <a:off x="667440" y="326448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makes it hard</a:t>
            </a:r>
            <a:endParaRPr lang="en-US" sz="1300" b="0" u="none" strike="noStrike">
              <a:solidFill>
                <a:srgbClr val="000000"/>
              </a:solidFill>
              <a:effectLst/>
              <a:uFillTx/>
              <a:latin typeface="Arial"/>
            </a:endParaRPr>
          </a:p>
        </p:txBody>
      </p:sp>
      <p:sp>
        <p:nvSpPr>
          <p:cNvPr id="87" name="Shape 18"/>
          <p:cNvSpPr/>
          <p:nvPr/>
        </p:nvSpPr>
        <p:spPr>
          <a:xfrm>
            <a:off x="4297680" y="278892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Text 19"/>
          <p:cNvSpPr/>
          <p:nvPr/>
        </p:nvSpPr>
        <p:spPr>
          <a:xfrm>
            <a:off x="4462200" y="293508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Agent types</a:t>
            </a:r>
            <a:endParaRPr lang="en-US" sz="1800" b="0" u="none" strike="noStrike">
              <a:solidFill>
                <a:srgbClr val="000000"/>
              </a:solidFill>
              <a:effectLst/>
              <a:uFillTx/>
              <a:latin typeface="Arial"/>
            </a:endParaRPr>
          </a:p>
        </p:txBody>
      </p:sp>
      <p:sp>
        <p:nvSpPr>
          <p:cNvPr id="89" name="Text 20"/>
          <p:cNvSpPr/>
          <p:nvPr/>
        </p:nvSpPr>
        <p:spPr>
          <a:xfrm>
            <a:off x="4462200" y="326448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table-driven -&gt; learning</a:t>
            </a:r>
            <a:endParaRPr lang="en-US" sz="1300" b="0" u="none" strike="noStrike">
              <a:solidFill>
                <a:srgbClr val="000000"/>
              </a:solidFill>
              <a:effectLst/>
              <a:uFillTx/>
              <a:latin typeface="Arial"/>
            </a:endParaRPr>
          </a:p>
        </p:txBody>
      </p:sp>
      <p:sp>
        <p:nvSpPr>
          <p:cNvPr id="90" name="Shape 21"/>
          <p:cNvSpPr/>
          <p:nvPr/>
        </p:nvSpPr>
        <p:spPr>
          <a:xfrm>
            <a:off x="8092440" y="2788920"/>
            <a:ext cx="338220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 name="Text 22"/>
          <p:cNvSpPr/>
          <p:nvPr/>
        </p:nvSpPr>
        <p:spPr>
          <a:xfrm>
            <a:off x="8256960" y="293508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Representation</a:t>
            </a:r>
            <a:endParaRPr lang="en-US" sz="1800" b="0" u="none" strike="noStrike">
              <a:solidFill>
                <a:srgbClr val="000000"/>
              </a:solidFill>
              <a:effectLst/>
              <a:uFillTx/>
              <a:latin typeface="Arial"/>
            </a:endParaRPr>
          </a:p>
        </p:txBody>
      </p:sp>
      <p:sp>
        <p:nvSpPr>
          <p:cNvPr id="92" name="Text 23"/>
          <p:cNvSpPr/>
          <p:nvPr/>
        </p:nvSpPr>
        <p:spPr>
          <a:xfrm>
            <a:off x="8256960" y="3264480"/>
            <a:ext cx="305316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how the world is encoded</a:t>
            </a:r>
            <a:endParaRPr lang="en-US" sz="1300" b="0" u="none" strike="noStrike">
              <a:solidFill>
                <a:srgbClr val="000000"/>
              </a:solidFill>
              <a:effectLst/>
              <a:uFillTx/>
              <a:latin typeface="Arial"/>
            </a:endParaRPr>
          </a:p>
        </p:txBody>
      </p:sp>
      <p:sp>
        <p:nvSpPr>
          <p:cNvPr id="93" name="Text 24"/>
          <p:cNvSpPr/>
          <p:nvPr/>
        </p:nvSpPr>
        <p:spPr>
          <a:xfrm>
            <a:off x="685800" y="4892040"/>
            <a:ext cx="10880280" cy="4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How the chapter builds: intuition -&gt; formal model -&gt; environment classification -&gt; agent architecture -&gt; demo.</a:t>
            </a:r>
            <a:endParaRPr lang="en-US" sz="18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4"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6"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2.1 Agents and Environments: The Perceive-Act Loop</a:t>
            </a:r>
            <a:endParaRPr lang="en-US" sz="2300" b="0" u="none" strike="noStrike">
              <a:solidFill>
                <a:srgbClr val="000000"/>
              </a:solidFill>
              <a:effectLst/>
              <a:uFillTx/>
              <a:latin typeface="Arial"/>
            </a:endParaRPr>
          </a:p>
        </p:txBody>
      </p:sp>
      <p:sp>
        <p:nvSpPr>
          <p:cNvPr id="97"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98"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9"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5</a:t>
            </a:r>
            <a:endParaRPr lang="en-US" sz="1800" b="0" u="none" strike="noStrike">
              <a:solidFill>
                <a:srgbClr val="000000"/>
              </a:solidFill>
              <a:effectLst/>
              <a:uFillTx/>
              <a:latin typeface="Arial"/>
            </a:endParaRPr>
          </a:p>
        </p:txBody>
      </p:sp>
      <p:sp>
        <p:nvSpPr>
          <p:cNvPr id="100" name="Text 9"/>
          <p:cNvSpPr/>
          <p:nvPr/>
        </p:nvSpPr>
        <p:spPr>
          <a:xfrm>
            <a:off x="1883160" y="2715840"/>
            <a:ext cx="607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01" name="Text 18"/>
          <p:cNvSpPr/>
          <p:nvPr/>
        </p:nvSpPr>
        <p:spPr>
          <a:xfrm>
            <a:off x="7818120" y="1371600"/>
            <a:ext cx="34736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B2B5C"/>
                </a:solidFill>
                <a:effectLst/>
                <a:uFillTx/>
                <a:latin typeface="Aptos"/>
              </a:rPr>
              <a:t>Examples</a:t>
            </a:r>
            <a:endParaRPr lang="en-US" sz="2000" b="0" u="none" strike="noStrike">
              <a:solidFill>
                <a:srgbClr val="000000"/>
              </a:solidFill>
              <a:effectLst/>
              <a:uFillTx/>
              <a:latin typeface="Arial"/>
            </a:endParaRPr>
          </a:p>
        </p:txBody>
      </p:sp>
      <p:sp>
        <p:nvSpPr>
          <p:cNvPr id="102" name="Text 19"/>
          <p:cNvSpPr/>
          <p:nvPr/>
        </p:nvSpPr>
        <p:spPr>
          <a:xfrm>
            <a:off x="7818120" y="1874520"/>
            <a:ext cx="3747960" cy="12333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77500" lnSpcReduction="20000"/>
          </a:bodyPr>
          <a:lstStyle/>
          <a:p>
            <a:pPr defTabSz="914400">
              <a:lnSpc>
                <a:spcPct val="100000"/>
              </a:lnSpc>
            </a:pPr>
            <a:r>
              <a:rPr lang="en-US" sz="2100" b="0" u="none" strike="noStrike">
                <a:solidFill>
                  <a:srgbClr val="0B1F3A"/>
                </a:solidFill>
                <a:effectLst/>
                <a:uFillTx/>
                <a:latin typeface="Aptos"/>
                <a:ea typeface="Aptos"/>
              </a:rPr>
              <a:t>Human: eyes/ears -&gt; hands/voice</a:t>
            </a:r>
            <a:endParaRPr lang="en-US" sz="2100" b="0" u="none" strike="noStrike">
              <a:solidFill>
                <a:srgbClr val="000000"/>
              </a:solidFill>
              <a:effectLst/>
              <a:uFillTx/>
              <a:latin typeface="Arial"/>
            </a:endParaRPr>
          </a:p>
          <a:p>
            <a:pPr defTabSz="914400">
              <a:lnSpc>
                <a:spcPct val="100000"/>
              </a:lnSpc>
            </a:pPr>
            <a:endParaRPr lang="en-US" sz="2100" b="0" u="none" strike="noStrike">
              <a:solidFill>
                <a:srgbClr val="000000"/>
              </a:solidFill>
              <a:effectLst/>
              <a:uFillTx/>
              <a:latin typeface="Arial"/>
            </a:endParaRPr>
          </a:p>
          <a:p>
            <a:pPr defTabSz="914400">
              <a:lnSpc>
                <a:spcPct val="100000"/>
              </a:lnSpc>
            </a:pPr>
            <a:r>
              <a:rPr lang="en-US" sz="2100" b="0" u="none" strike="noStrike">
                <a:solidFill>
                  <a:srgbClr val="0B1F3A"/>
                </a:solidFill>
                <a:effectLst/>
                <a:uFillTx/>
                <a:latin typeface="Aptos"/>
                <a:ea typeface="Aptos"/>
              </a:rPr>
              <a:t>Robot: camera/lidar -&gt; motors</a:t>
            </a:r>
            <a:endParaRPr lang="en-US" sz="2100" b="0" u="none" strike="noStrike">
              <a:solidFill>
                <a:srgbClr val="000000"/>
              </a:solidFill>
              <a:effectLst/>
              <a:uFillTx/>
              <a:latin typeface="Arial"/>
            </a:endParaRPr>
          </a:p>
          <a:p>
            <a:pPr defTabSz="914400">
              <a:lnSpc>
                <a:spcPct val="100000"/>
              </a:lnSpc>
            </a:pPr>
            <a:endParaRPr lang="en-US" sz="2100" b="0" u="none" strike="noStrike">
              <a:solidFill>
                <a:srgbClr val="000000"/>
              </a:solidFill>
              <a:effectLst/>
              <a:uFillTx/>
              <a:latin typeface="Arial"/>
            </a:endParaRPr>
          </a:p>
          <a:p>
            <a:pPr defTabSz="914400">
              <a:lnSpc>
                <a:spcPct val="100000"/>
              </a:lnSpc>
            </a:pPr>
            <a:r>
              <a:rPr lang="en-US" sz="2100" b="0" u="none" strike="noStrike">
                <a:solidFill>
                  <a:srgbClr val="0B1F3A"/>
                </a:solidFill>
                <a:effectLst/>
                <a:uFillTx/>
                <a:latin typeface="Aptos"/>
                <a:ea typeface="Aptos"/>
              </a:rPr>
              <a:t>Software: packets/input -&gt; files/network</a:t>
            </a:r>
            <a:endParaRPr lang="en-US" sz="2100" b="0" u="none" strike="noStrike">
              <a:solidFill>
                <a:srgbClr val="000000"/>
              </a:solidFill>
              <a:effectLst/>
              <a:uFillTx/>
              <a:latin typeface="Arial"/>
            </a:endParaRPr>
          </a:p>
        </p:txBody>
      </p:sp>
      <p:pic>
        <p:nvPicPr>
          <p:cNvPr id="103" name="Image 0" descr="/mnt/data/ch2_docx_unzipped/word/media/image1.png"/>
          <p:cNvPicPr/>
          <p:nvPr/>
        </p:nvPicPr>
        <p:blipFill>
          <a:blip r:embed="rId3"/>
          <a:stretch/>
        </p:blipFill>
        <p:spPr>
          <a:xfrm>
            <a:off x="970560" y="1143000"/>
            <a:ext cx="5886720" cy="4239720"/>
          </a:xfrm>
          <a:prstGeom prst="rect">
            <a:avLst/>
          </a:prstGeom>
          <a:noFill/>
          <a:ln w="0">
            <a:noFill/>
          </a:ln>
        </p:spPr>
      </p:pic>
      <p:sp>
        <p:nvSpPr>
          <p:cNvPr id="104" name="Text 20"/>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a:t>
            </a:r>
            <a:endParaRPr lang="en-US" sz="7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5"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6"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7"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2.1 From Percepts to Agent Functions</a:t>
            </a:r>
            <a:endParaRPr lang="en-US" sz="2300" b="0" u="none" strike="noStrike">
              <a:solidFill>
                <a:srgbClr val="000000"/>
              </a:solidFill>
              <a:effectLst/>
              <a:uFillTx/>
              <a:latin typeface="Arial"/>
            </a:endParaRPr>
          </a:p>
        </p:txBody>
      </p:sp>
      <p:sp>
        <p:nvSpPr>
          <p:cNvPr id="108"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109"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10"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6</a:t>
            </a:r>
            <a:endParaRPr lang="en-US" sz="1800" b="0" u="none" strike="noStrike">
              <a:solidFill>
                <a:srgbClr val="000000"/>
              </a:solidFill>
              <a:effectLst/>
              <a:uFillTx/>
              <a:latin typeface="Arial"/>
            </a:endParaRPr>
          </a:p>
        </p:txBody>
      </p:sp>
      <p:sp>
        <p:nvSpPr>
          <p:cNvPr id="111" name="Shape 6"/>
          <p:cNvSpPr/>
          <p:nvPr/>
        </p:nvSpPr>
        <p:spPr>
          <a:xfrm>
            <a:off x="65844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 name="Text 7"/>
          <p:cNvSpPr/>
          <p:nvPr/>
        </p:nvSpPr>
        <p:spPr>
          <a:xfrm>
            <a:off x="82296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Percept</a:t>
            </a:r>
            <a:endParaRPr lang="en-US" sz="1500" b="0" u="none" strike="noStrike">
              <a:solidFill>
                <a:srgbClr val="000000"/>
              </a:solidFill>
              <a:effectLst/>
              <a:uFillTx/>
              <a:latin typeface="Arial"/>
            </a:endParaRPr>
          </a:p>
        </p:txBody>
      </p:sp>
      <p:sp>
        <p:nvSpPr>
          <p:cNvPr id="113" name="Text 8"/>
          <p:cNvSpPr/>
          <p:nvPr/>
        </p:nvSpPr>
        <p:spPr>
          <a:xfrm>
            <a:off x="82296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Current sensor content.</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Example: current Pac-Man tile, nearby wall, visible ghost.</a:t>
            </a:r>
            <a:endParaRPr lang="en-US" sz="1250" b="0" u="none" strike="noStrike">
              <a:solidFill>
                <a:srgbClr val="000000"/>
              </a:solidFill>
              <a:effectLst/>
              <a:uFillTx/>
              <a:latin typeface="Arial"/>
            </a:endParaRPr>
          </a:p>
        </p:txBody>
      </p:sp>
      <p:sp>
        <p:nvSpPr>
          <p:cNvPr id="114" name="Shape 9"/>
          <p:cNvSpPr/>
          <p:nvPr/>
        </p:nvSpPr>
        <p:spPr>
          <a:xfrm>
            <a:off x="345636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 name="Text 10"/>
          <p:cNvSpPr/>
          <p:nvPr/>
        </p:nvSpPr>
        <p:spPr>
          <a:xfrm>
            <a:off x="362088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Percept sequence</a:t>
            </a:r>
            <a:endParaRPr lang="en-US" sz="1500" b="0" u="none" strike="noStrike">
              <a:solidFill>
                <a:srgbClr val="000000"/>
              </a:solidFill>
              <a:effectLst/>
              <a:uFillTx/>
              <a:latin typeface="Arial"/>
            </a:endParaRPr>
          </a:p>
        </p:txBody>
      </p:sp>
      <p:sp>
        <p:nvSpPr>
          <p:cNvPr id="116" name="Text 11"/>
          <p:cNvSpPr/>
          <p:nvPr/>
        </p:nvSpPr>
        <p:spPr>
          <a:xfrm>
            <a:off x="362088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Complete history of everything the agent has perceived.</a:t>
            </a:r>
            <a:endParaRPr lang="en-US" sz="1250" b="0" u="none" strike="noStrike">
              <a:solidFill>
                <a:srgbClr val="000000"/>
              </a:solidFill>
              <a:effectLst/>
              <a:uFillTx/>
              <a:latin typeface="Arial"/>
            </a:endParaRPr>
          </a:p>
        </p:txBody>
      </p:sp>
      <p:sp>
        <p:nvSpPr>
          <p:cNvPr id="117" name="Shape 12"/>
          <p:cNvSpPr/>
          <p:nvPr/>
        </p:nvSpPr>
        <p:spPr>
          <a:xfrm>
            <a:off x="626364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 name="Text 13"/>
          <p:cNvSpPr/>
          <p:nvPr/>
        </p:nvSpPr>
        <p:spPr>
          <a:xfrm>
            <a:off x="642816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Agent function</a:t>
            </a:r>
            <a:endParaRPr lang="en-US" sz="1500" b="0" u="none" strike="noStrike">
              <a:solidFill>
                <a:srgbClr val="000000"/>
              </a:solidFill>
              <a:effectLst/>
              <a:uFillTx/>
              <a:latin typeface="Arial"/>
            </a:endParaRPr>
          </a:p>
        </p:txBody>
      </p:sp>
      <p:sp>
        <p:nvSpPr>
          <p:cNvPr id="119" name="Text 14"/>
          <p:cNvSpPr/>
          <p:nvPr/>
        </p:nvSpPr>
        <p:spPr>
          <a:xfrm>
            <a:off x="642816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Abstract mapping:</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percept sequence -&gt; action</a:t>
            </a:r>
            <a:endParaRPr lang="en-US" sz="1250" b="0" u="none" strike="noStrike">
              <a:solidFill>
                <a:srgbClr val="000000"/>
              </a:solidFill>
              <a:effectLst/>
              <a:uFillTx/>
              <a:latin typeface="Arial"/>
            </a:endParaRPr>
          </a:p>
        </p:txBody>
      </p:sp>
      <p:sp>
        <p:nvSpPr>
          <p:cNvPr id="120" name="Shape 15"/>
          <p:cNvSpPr/>
          <p:nvPr/>
        </p:nvSpPr>
        <p:spPr>
          <a:xfrm>
            <a:off x="9070920" y="1143000"/>
            <a:ext cx="2559240" cy="1233360"/>
          </a:xfrm>
          <a:prstGeom prst="roundRect">
            <a:avLst>
              <a:gd name="adj" fmla="val 4444"/>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 name="Text 16"/>
          <p:cNvSpPr/>
          <p:nvPr/>
        </p:nvSpPr>
        <p:spPr>
          <a:xfrm>
            <a:off x="9235440" y="128916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Agent program</a:t>
            </a:r>
            <a:endParaRPr lang="en-US" sz="1500" b="0" u="none" strike="noStrike">
              <a:solidFill>
                <a:srgbClr val="000000"/>
              </a:solidFill>
              <a:effectLst/>
              <a:uFillTx/>
              <a:latin typeface="Arial"/>
            </a:endParaRPr>
          </a:p>
        </p:txBody>
      </p:sp>
      <p:sp>
        <p:nvSpPr>
          <p:cNvPr id="122" name="Text 17"/>
          <p:cNvSpPr/>
          <p:nvPr/>
        </p:nvSpPr>
        <p:spPr>
          <a:xfrm>
            <a:off x="9235440" y="1618560"/>
            <a:ext cx="223020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Concrete implementation running on an architecture.</a:t>
            </a:r>
            <a:endParaRPr lang="en-US" sz="1250" b="0" u="none" strike="noStrike">
              <a:solidFill>
                <a:srgbClr val="000000"/>
              </a:solidFill>
              <a:effectLst/>
              <a:uFillTx/>
              <a:latin typeface="Arial"/>
            </a:endParaRPr>
          </a:p>
        </p:txBody>
      </p:sp>
      <p:sp>
        <p:nvSpPr>
          <p:cNvPr id="123" name="Shape 18"/>
          <p:cNvSpPr/>
          <p:nvPr/>
        </p:nvSpPr>
        <p:spPr>
          <a:xfrm>
            <a:off x="1920240" y="3246120"/>
            <a:ext cx="8046720" cy="360"/>
          </a:xfrm>
          <a:prstGeom prst="line">
            <a:avLst/>
          </a:prstGeom>
          <a:ln w="25400">
            <a:solidFill>
              <a:srgbClr val="F5A21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4" name="Text 19"/>
          <p:cNvSpPr/>
          <p:nvPr/>
        </p:nvSpPr>
        <p:spPr>
          <a:xfrm>
            <a:off x="2148840" y="2834640"/>
            <a:ext cx="21020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1F3A"/>
                </a:solidFill>
                <a:effectLst/>
                <a:uFillTx/>
                <a:latin typeface="Aptos"/>
              </a:rPr>
              <a:t>percept sequence</a:t>
            </a:r>
            <a:endParaRPr lang="en-US" sz="1400" b="0" u="none" strike="noStrike">
              <a:solidFill>
                <a:srgbClr val="000000"/>
              </a:solidFill>
              <a:effectLst/>
              <a:uFillTx/>
              <a:latin typeface="Arial"/>
            </a:endParaRPr>
          </a:p>
        </p:txBody>
      </p:sp>
      <p:sp>
        <p:nvSpPr>
          <p:cNvPr id="125" name="Text 20"/>
          <p:cNvSpPr/>
          <p:nvPr/>
        </p:nvSpPr>
        <p:spPr>
          <a:xfrm>
            <a:off x="8046720" y="2834640"/>
            <a:ext cx="1279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1F3A"/>
                </a:solidFill>
                <a:effectLst/>
                <a:uFillTx/>
                <a:latin typeface="Aptos"/>
              </a:rPr>
              <a:t>action</a:t>
            </a:r>
            <a:endParaRPr lang="en-US" sz="1400" b="0" u="none" strike="noStrike">
              <a:solidFill>
                <a:srgbClr val="000000"/>
              </a:solidFill>
              <a:effectLst/>
              <a:uFillTx/>
              <a:latin typeface="Arial"/>
            </a:endParaRPr>
          </a:p>
        </p:txBody>
      </p:sp>
      <p:sp>
        <p:nvSpPr>
          <p:cNvPr id="126" name="Text 21"/>
          <p:cNvSpPr/>
          <p:nvPr/>
        </p:nvSpPr>
        <p:spPr>
          <a:xfrm>
            <a:off x="1051560" y="3977640"/>
            <a:ext cx="2833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0B2B5C"/>
                </a:solidFill>
                <a:effectLst/>
                <a:uFillTx/>
                <a:latin typeface="Aptos"/>
              </a:rPr>
              <a:t>Do not confuse these two:</a:t>
            </a:r>
            <a:endParaRPr lang="en-US" sz="1900" b="0" u="none" strike="noStrike">
              <a:solidFill>
                <a:srgbClr val="000000"/>
              </a:solidFill>
              <a:effectLst/>
              <a:uFillTx/>
              <a:latin typeface="Arial"/>
            </a:endParaRPr>
          </a:p>
        </p:txBody>
      </p:sp>
      <p:sp>
        <p:nvSpPr>
          <p:cNvPr id="127" name="Text 22"/>
          <p:cNvSpPr/>
          <p:nvPr/>
        </p:nvSpPr>
        <p:spPr>
          <a:xfrm>
            <a:off x="1051560" y="4443840"/>
            <a:ext cx="9965880" cy="712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u="none" strike="noStrike">
                <a:solidFill>
                  <a:srgbClr val="0B1F3A"/>
                </a:solidFill>
                <a:effectLst/>
                <a:uFillTx/>
                <a:latin typeface="Aptos"/>
              </a:rPr>
              <a:t>Agent function = external mathematical description of behavior</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0B1F3A"/>
                </a:solidFill>
                <a:effectLst/>
                <a:uFillTx/>
                <a:latin typeface="Aptos"/>
              </a:rPr>
              <a:t>Agent program = internal code that receives current percept and returns an action</a:t>
            </a:r>
            <a:endParaRPr lang="en-US" sz="1700" b="0" u="none" strike="noStrike">
              <a:solidFill>
                <a:srgbClr val="000000"/>
              </a:solidFill>
              <a:effectLst/>
              <a:uFillTx/>
              <a:latin typeface="Arial"/>
            </a:endParaRPr>
          </a:p>
        </p:txBody>
      </p:sp>
      <p:sp>
        <p:nvSpPr>
          <p:cNvPr id="128" name="Text 23"/>
          <p:cNvSpPr/>
          <p:nvPr/>
        </p:nvSpPr>
        <p:spPr>
          <a:xfrm>
            <a:off x="1051560" y="5669280"/>
            <a:ext cx="996588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Chapter 2 problem: produce rational behavior from a compact program, not a vast lookup table.</a:t>
            </a:r>
            <a:endParaRPr lang="en-US" sz="18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9"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31"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2.1 The Vacuum World and Its Agent Function</a:t>
            </a:r>
            <a:endParaRPr lang="en-US" sz="2300" b="0" u="none" strike="noStrike">
              <a:solidFill>
                <a:srgbClr val="000000"/>
              </a:solidFill>
              <a:effectLst/>
              <a:uFillTx/>
              <a:latin typeface="Arial"/>
            </a:endParaRPr>
          </a:p>
        </p:txBody>
      </p:sp>
      <p:sp>
        <p:nvSpPr>
          <p:cNvPr id="132"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2.1</a:t>
            </a:r>
            <a:endParaRPr lang="en-US" sz="1200" b="0" u="none" strike="noStrike">
              <a:solidFill>
                <a:srgbClr val="000000"/>
              </a:solidFill>
              <a:effectLst/>
              <a:uFillTx/>
              <a:latin typeface="Arial"/>
            </a:endParaRPr>
          </a:p>
        </p:txBody>
      </p:sp>
      <p:sp>
        <p:nvSpPr>
          <p:cNvPr id="133" name="Shape 5"/>
          <p:cNvSpPr/>
          <p:nvPr/>
        </p:nvSpPr>
        <p:spPr>
          <a:xfrm>
            <a:off x="868680" y="1188720"/>
            <a:ext cx="5074560" cy="3702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 name="Text 6"/>
          <p:cNvSpPr/>
          <p:nvPr/>
        </p:nvSpPr>
        <p:spPr>
          <a:xfrm>
            <a:off x="1033200" y="13348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B2B5C"/>
                </a:solidFill>
                <a:effectLst/>
                <a:uFillTx/>
                <a:latin typeface="Aptos"/>
                <a:ea typeface="Aptos"/>
              </a:rPr>
              <a:t>Figure 2.2 — Two squares, A and B</a:t>
            </a:r>
            <a:endParaRPr lang="en-US" sz="1600" b="0" u="none" strike="noStrike">
              <a:solidFill>
                <a:srgbClr val="000000"/>
              </a:solidFill>
              <a:effectLst/>
              <a:uFillTx/>
              <a:latin typeface="Arial"/>
            </a:endParaRPr>
          </a:p>
        </p:txBody>
      </p:sp>
      <p:sp>
        <p:nvSpPr>
          <p:cNvPr id="135" name="Shape 7"/>
          <p:cNvSpPr/>
          <p:nvPr/>
        </p:nvSpPr>
        <p:spPr>
          <a:xfrm>
            <a:off x="1325880" y="1828800"/>
            <a:ext cx="1919880" cy="1462680"/>
          </a:xfrm>
          <a:prstGeom prst="rect">
            <a:avLst/>
          </a:prstGeom>
          <a:solidFill>
            <a:srgbClr val="EDF3F9"/>
          </a:solidFill>
          <a:ln w="1905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 name="Shape 8"/>
          <p:cNvSpPr/>
          <p:nvPr/>
        </p:nvSpPr>
        <p:spPr>
          <a:xfrm>
            <a:off x="3566160" y="1828800"/>
            <a:ext cx="1919880" cy="1462680"/>
          </a:xfrm>
          <a:prstGeom prst="rect">
            <a:avLst/>
          </a:prstGeom>
          <a:solidFill>
            <a:srgbClr val="EDF3F9"/>
          </a:solidFill>
          <a:ln w="1905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 name="Text 9"/>
          <p:cNvSpPr/>
          <p:nvPr/>
        </p:nvSpPr>
        <p:spPr>
          <a:xfrm>
            <a:off x="1325880" y="18745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2B5C"/>
                </a:solidFill>
                <a:effectLst/>
                <a:uFillTx/>
                <a:latin typeface="Aptos"/>
                <a:ea typeface="Aptos"/>
              </a:rPr>
              <a:t>A</a:t>
            </a:r>
            <a:endParaRPr lang="en-US" sz="1400" b="0" u="none" strike="noStrike">
              <a:solidFill>
                <a:srgbClr val="000000"/>
              </a:solidFill>
              <a:effectLst/>
              <a:uFillTx/>
              <a:latin typeface="Arial"/>
            </a:endParaRPr>
          </a:p>
        </p:txBody>
      </p:sp>
      <p:sp>
        <p:nvSpPr>
          <p:cNvPr id="138" name="Text 10"/>
          <p:cNvSpPr/>
          <p:nvPr/>
        </p:nvSpPr>
        <p:spPr>
          <a:xfrm>
            <a:off x="3566160" y="18745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B2B5C"/>
                </a:solidFill>
                <a:effectLst/>
                <a:uFillTx/>
                <a:latin typeface="Aptos"/>
                <a:ea typeface="Aptos"/>
              </a:rPr>
              <a:t>B</a:t>
            </a:r>
            <a:endParaRPr lang="en-US" sz="1400" b="0" u="none" strike="noStrike">
              <a:solidFill>
                <a:srgbClr val="000000"/>
              </a:solidFill>
              <a:effectLst/>
              <a:uFillTx/>
              <a:latin typeface="Arial"/>
            </a:endParaRPr>
          </a:p>
        </p:txBody>
      </p:sp>
      <p:sp>
        <p:nvSpPr>
          <p:cNvPr id="139" name="Shape 11"/>
          <p:cNvSpPr/>
          <p:nvPr/>
        </p:nvSpPr>
        <p:spPr>
          <a:xfrm>
            <a:off x="1874520" y="2377440"/>
            <a:ext cx="822600" cy="658080"/>
          </a:xfrm>
          <a:prstGeom prst="roundRect">
            <a:avLst>
              <a:gd name="adj" fmla="val 25000"/>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0" name="Text 12"/>
          <p:cNvSpPr/>
          <p:nvPr/>
        </p:nvSpPr>
        <p:spPr>
          <a:xfrm>
            <a:off x="1874520" y="2377440"/>
            <a:ext cx="8226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FFFFFF"/>
                </a:solidFill>
                <a:effectLst/>
                <a:uFillTx/>
                <a:latin typeface="Aptos"/>
                <a:ea typeface="Aptos"/>
              </a:rPr>
              <a:t>agent</a:t>
            </a:r>
            <a:endParaRPr lang="en-US" sz="900" b="0" u="none" strike="noStrike">
              <a:solidFill>
                <a:srgbClr val="000000"/>
              </a:solidFill>
              <a:effectLst/>
              <a:uFillTx/>
              <a:latin typeface="Arial"/>
            </a:endParaRPr>
          </a:p>
        </p:txBody>
      </p:sp>
      <p:sp>
        <p:nvSpPr>
          <p:cNvPr id="141" name="Shape 13"/>
          <p:cNvSpPr/>
          <p:nvPr/>
        </p:nvSpPr>
        <p:spPr>
          <a:xfrm>
            <a:off x="3977640" y="246888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2" name="Shape 14"/>
          <p:cNvSpPr/>
          <p:nvPr/>
        </p:nvSpPr>
        <p:spPr>
          <a:xfrm>
            <a:off x="4434840" y="278892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3" name="Shape 15"/>
          <p:cNvSpPr/>
          <p:nvPr/>
        </p:nvSpPr>
        <p:spPr>
          <a:xfrm>
            <a:off x="4892040" y="242316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4" name="Shape 16"/>
          <p:cNvSpPr/>
          <p:nvPr/>
        </p:nvSpPr>
        <p:spPr>
          <a:xfrm>
            <a:off x="4206240" y="2926080"/>
            <a:ext cx="200880" cy="200880"/>
          </a:xfrm>
          <a:prstGeom prst="roundRect">
            <a:avLst>
              <a:gd name="adj" fmla="val 50000"/>
            </a:avLst>
          </a:prstGeom>
          <a:solidFill>
            <a:srgbClr val="8A6A3A"/>
          </a:solidFill>
          <a:ln w="12700">
            <a:solidFill>
              <a:srgbClr val="8A6A3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5" name="Text 17"/>
          <p:cNvSpPr/>
          <p:nvPr/>
        </p:nvSpPr>
        <p:spPr>
          <a:xfrm>
            <a:off x="3566160" y="299916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6B5326"/>
                </a:solidFill>
                <a:effectLst/>
                <a:uFillTx/>
                <a:latin typeface="Aptos"/>
                <a:ea typeface="Aptos"/>
              </a:rPr>
              <a:t>dirt</a:t>
            </a:r>
            <a:endParaRPr lang="en-US" sz="1000" b="0" u="none" strike="noStrike">
              <a:solidFill>
                <a:srgbClr val="000000"/>
              </a:solidFill>
              <a:effectLst/>
              <a:uFillTx/>
              <a:latin typeface="Arial"/>
            </a:endParaRPr>
          </a:p>
        </p:txBody>
      </p:sp>
      <p:sp>
        <p:nvSpPr>
          <p:cNvPr id="146" name="Text 18"/>
          <p:cNvSpPr/>
          <p:nvPr/>
        </p:nvSpPr>
        <p:spPr>
          <a:xfrm>
            <a:off x="1033200" y="3474720"/>
            <a:ext cx="474552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u="none" strike="noStrike">
                <a:solidFill>
                  <a:srgbClr val="0B2B5C"/>
                </a:solidFill>
                <a:effectLst/>
                <a:uFillTx/>
                <a:latin typeface="Aptos"/>
                <a:ea typeface="Aptos"/>
              </a:rPr>
              <a:t>One agent function: </a:t>
            </a:r>
            <a:r>
              <a:rPr lang="en-US" sz="1300" b="0" u="none" strike="noStrike">
                <a:solidFill>
                  <a:srgbClr val="0B1F3A"/>
                </a:solidFill>
                <a:effectLst/>
                <a:uFillTx/>
                <a:latin typeface="Aptos"/>
                <a:ea typeface="Aptos"/>
              </a:rPr>
              <a:t>if the current square is dirty, then Suck; otherwise move to the other square.</a:t>
            </a:r>
            <a:endParaRPr lang="en-US" sz="1300" b="0" u="none" strike="noStrike">
              <a:solidFill>
                <a:srgbClr val="000000"/>
              </a:solidFill>
              <a:effectLst/>
              <a:uFillTx/>
              <a:latin typeface="Arial"/>
            </a:endParaRPr>
          </a:p>
        </p:txBody>
      </p:sp>
      <p:sp>
        <p:nvSpPr>
          <p:cNvPr id="147" name="Text 19"/>
          <p:cNvSpPr/>
          <p:nvPr/>
        </p:nvSpPr>
        <p:spPr>
          <a:xfrm>
            <a:off x="1033200" y="4133160"/>
            <a:ext cx="47455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u="none" strike="noStrike">
                <a:solidFill>
                  <a:srgbClr val="5E7088"/>
                </a:solidFill>
                <a:effectLst/>
                <a:uFillTx/>
                <a:latin typeface="Aptos"/>
                <a:ea typeface="Aptos"/>
              </a:rPr>
              <a:t>Percepts: </a:t>
            </a:r>
            <a:r>
              <a:rPr lang="en-US" sz="1200" b="0" u="none" strike="noStrike">
                <a:solidFill>
                  <a:srgbClr val="0B1F3A"/>
                </a:solidFill>
                <a:effectLst/>
                <a:uFillTx/>
                <a:latin typeface="Aptos"/>
                <a:ea typeface="Aptos"/>
              </a:rPr>
              <a:t>which square, and whether it is dirty.</a:t>
            </a:r>
            <a:endParaRPr lang="en-US" sz="1200" b="0" u="none" strike="noStrike">
              <a:solidFill>
                <a:srgbClr val="000000"/>
              </a:solidFill>
              <a:effectLst/>
              <a:uFillTx/>
              <a:latin typeface="Arial"/>
            </a:endParaRPr>
          </a:p>
          <a:p>
            <a:pPr defTabSz="914400">
              <a:lnSpc>
                <a:spcPct val="100000"/>
              </a:lnSpc>
              <a:spcBef>
                <a:spcPts val="300"/>
              </a:spcBef>
              <a:tabLst>
                <a:tab pos="0" algn="l"/>
              </a:tabLst>
            </a:pPr>
            <a:r>
              <a:rPr lang="en-US" sz="1200" b="1" u="none" strike="noStrike">
                <a:solidFill>
                  <a:srgbClr val="5E7088"/>
                </a:solidFill>
                <a:effectLst/>
                <a:uFillTx/>
                <a:latin typeface="Aptos"/>
                <a:ea typeface="Aptos"/>
              </a:rPr>
              <a:t>Actions: </a:t>
            </a:r>
            <a:r>
              <a:rPr lang="en-US" sz="1200" b="0" u="none" strike="noStrike">
                <a:solidFill>
                  <a:srgbClr val="0B1F3A"/>
                </a:solidFill>
                <a:effectLst/>
                <a:uFillTx/>
                <a:latin typeface="Aptos"/>
                <a:ea typeface="Aptos"/>
              </a:rPr>
              <a:t>Left, Right, and Suck; NoOp is added in some variants.  The agent starts in A.</a:t>
            </a:r>
            <a:endParaRPr lang="en-US" sz="1200" b="0" u="none" strike="noStrike">
              <a:solidFill>
                <a:srgbClr val="000000"/>
              </a:solidFill>
              <a:effectLst/>
              <a:uFillTx/>
              <a:latin typeface="Arial"/>
            </a:endParaRPr>
          </a:p>
        </p:txBody>
      </p:sp>
      <p:sp>
        <p:nvSpPr>
          <p:cNvPr id="148" name="Shape 20"/>
          <p:cNvSpPr/>
          <p:nvPr/>
        </p:nvSpPr>
        <p:spPr>
          <a:xfrm>
            <a:off x="6217920" y="1188720"/>
            <a:ext cx="5074560" cy="3702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9" name="Text 21"/>
          <p:cNvSpPr/>
          <p:nvPr/>
        </p:nvSpPr>
        <p:spPr>
          <a:xfrm>
            <a:off x="6382440" y="13348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B2B5C"/>
                </a:solidFill>
                <a:effectLst/>
                <a:uFillTx/>
                <a:latin typeface="Aptos"/>
                <a:ea typeface="Aptos"/>
              </a:rPr>
              <a:t>Figure 2.3 — Partial tabulation</a:t>
            </a:r>
            <a:endParaRPr lang="en-US" sz="1600" b="0" u="none" strike="noStrike">
              <a:solidFill>
                <a:srgbClr val="000000"/>
              </a:solidFill>
              <a:effectLst/>
              <a:uFillTx/>
              <a:latin typeface="Arial"/>
            </a:endParaRPr>
          </a:p>
        </p:txBody>
      </p:sp>
      <p:sp>
        <p:nvSpPr>
          <p:cNvPr id="150" name="Shape 22"/>
          <p:cNvSpPr/>
          <p:nvPr/>
        </p:nvSpPr>
        <p:spPr>
          <a:xfrm>
            <a:off x="6382440" y="1700640"/>
            <a:ext cx="4745520" cy="310680"/>
          </a:xfrm>
          <a:prstGeom prst="roundRect">
            <a:avLst>
              <a:gd name="adj" fmla="val 12000"/>
            </a:avLst>
          </a:prstGeom>
          <a:solidFill>
            <a:srgbClr val="E4ECF5"/>
          </a:solidFill>
          <a:ln w="12700">
            <a:solidFill>
              <a:srgbClr val="E4EC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1" name="Text 23"/>
          <p:cNvSpPr/>
          <p:nvPr/>
        </p:nvSpPr>
        <p:spPr>
          <a:xfrm>
            <a:off x="6492240" y="1700640"/>
            <a:ext cx="32457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0B2B5C"/>
                </a:solidFill>
                <a:effectLst/>
                <a:uFillTx/>
                <a:latin typeface="Aptos"/>
                <a:ea typeface="Aptos"/>
              </a:rPr>
              <a:t>Percept sequence</a:t>
            </a:r>
            <a:endParaRPr lang="en-US" sz="1150" b="0" u="none" strike="noStrike">
              <a:solidFill>
                <a:srgbClr val="000000"/>
              </a:solidFill>
              <a:effectLst/>
              <a:uFillTx/>
              <a:latin typeface="Arial"/>
            </a:endParaRPr>
          </a:p>
        </p:txBody>
      </p:sp>
      <p:sp>
        <p:nvSpPr>
          <p:cNvPr id="152" name="Text 24"/>
          <p:cNvSpPr/>
          <p:nvPr/>
        </p:nvSpPr>
        <p:spPr>
          <a:xfrm>
            <a:off x="9829800" y="1700640"/>
            <a:ext cx="12981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u="none" strike="noStrike">
                <a:solidFill>
                  <a:srgbClr val="0B2B5C"/>
                </a:solidFill>
                <a:effectLst/>
                <a:uFillTx/>
                <a:latin typeface="Aptos"/>
                <a:ea typeface="Aptos"/>
              </a:rPr>
              <a:t>Action</a:t>
            </a:r>
            <a:endParaRPr lang="en-US" sz="1150" b="0" u="none" strike="noStrike">
              <a:solidFill>
                <a:srgbClr val="000000"/>
              </a:solidFill>
              <a:effectLst/>
              <a:uFillTx/>
              <a:latin typeface="Arial"/>
            </a:endParaRPr>
          </a:p>
        </p:txBody>
      </p:sp>
      <p:sp>
        <p:nvSpPr>
          <p:cNvPr id="153" name="Text 25"/>
          <p:cNvSpPr/>
          <p:nvPr/>
        </p:nvSpPr>
        <p:spPr>
          <a:xfrm>
            <a:off x="6492240" y="210312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Clean]</a:t>
            </a:r>
            <a:endParaRPr lang="en-US" sz="1200" b="0" u="none" strike="noStrike">
              <a:solidFill>
                <a:srgbClr val="000000"/>
              </a:solidFill>
              <a:effectLst/>
              <a:uFillTx/>
              <a:latin typeface="Arial"/>
            </a:endParaRPr>
          </a:p>
        </p:txBody>
      </p:sp>
      <p:sp>
        <p:nvSpPr>
          <p:cNvPr id="154" name="Text 26"/>
          <p:cNvSpPr/>
          <p:nvPr/>
        </p:nvSpPr>
        <p:spPr>
          <a:xfrm>
            <a:off x="9829800" y="210312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Right</a:t>
            </a:r>
            <a:endParaRPr lang="en-US" sz="1200" b="0" u="none" strike="noStrike">
              <a:solidFill>
                <a:srgbClr val="000000"/>
              </a:solidFill>
              <a:effectLst/>
              <a:uFillTx/>
              <a:latin typeface="Arial"/>
            </a:endParaRPr>
          </a:p>
        </p:txBody>
      </p:sp>
      <p:sp>
        <p:nvSpPr>
          <p:cNvPr id="155" name="Shape 27"/>
          <p:cNvSpPr/>
          <p:nvPr/>
        </p:nvSpPr>
        <p:spPr>
          <a:xfrm>
            <a:off x="6382440" y="2432160"/>
            <a:ext cx="4745520" cy="328680"/>
          </a:xfrm>
          <a:prstGeom prst="rect">
            <a:avLst/>
          </a:prstGeom>
          <a:solidFill>
            <a:srgbClr val="F7FAFD"/>
          </a:solidFill>
          <a:ln w="12700">
            <a:solidFill>
              <a:srgbClr val="F7FA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6" name="Text 28"/>
          <p:cNvSpPr/>
          <p:nvPr/>
        </p:nvSpPr>
        <p:spPr>
          <a:xfrm>
            <a:off x="6492240" y="246888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Dirty]</a:t>
            </a:r>
            <a:endParaRPr lang="en-US" sz="1200" b="0" u="none" strike="noStrike">
              <a:solidFill>
                <a:srgbClr val="000000"/>
              </a:solidFill>
              <a:effectLst/>
              <a:uFillTx/>
              <a:latin typeface="Arial"/>
            </a:endParaRPr>
          </a:p>
        </p:txBody>
      </p:sp>
      <p:sp>
        <p:nvSpPr>
          <p:cNvPr id="157" name="Text 29"/>
          <p:cNvSpPr/>
          <p:nvPr/>
        </p:nvSpPr>
        <p:spPr>
          <a:xfrm>
            <a:off x="9829800" y="246888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Suck</a:t>
            </a:r>
            <a:endParaRPr lang="en-US" sz="1200" b="0" u="none" strike="noStrike">
              <a:solidFill>
                <a:srgbClr val="000000"/>
              </a:solidFill>
              <a:effectLst/>
              <a:uFillTx/>
              <a:latin typeface="Arial"/>
            </a:endParaRPr>
          </a:p>
        </p:txBody>
      </p:sp>
      <p:sp>
        <p:nvSpPr>
          <p:cNvPr id="158" name="Text 30"/>
          <p:cNvSpPr/>
          <p:nvPr/>
        </p:nvSpPr>
        <p:spPr>
          <a:xfrm>
            <a:off x="6492240" y="283464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[B, Clean]</a:t>
            </a:r>
            <a:endParaRPr lang="en-US" sz="1200" b="0" u="none" strike="noStrike">
              <a:solidFill>
                <a:srgbClr val="000000"/>
              </a:solidFill>
              <a:effectLst/>
              <a:uFillTx/>
              <a:latin typeface="Arial"/>
            </a:endParaRPr>
          </a:p>
        </p:txBody>
      </p:sp>
      <p:sp>
        <p:nvSpPr>
          <p:cNvPr id="159" name="Text 31"/>
          <p:cNvSpPr/>
          <p:nvPr/>
        </p:nvSpPr>
        <p:spPr>
          <a:xfrm>
            <a:off x="9829800" y="283464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Left</a:t>
            </a:r>
            <a:endParaRPr lang="en-US" sz="1200" b="0" u="none" strike="noStrike">
              <a:solidFill>
                <a:srgbClr val="000000"/>
              </a:solidFill>
              <a:effectLst/>
              <a:uFillTx/>
              <a:latin typeface="Arial"/>
            </a:endParaRPr>
          </a:p>
        </p:txBody>
      </p:sp>
      <p:sp>
        <p:nvSpPr>
          <p:cNvPr id="160" name="Shape 32"/>
          <p:cNvSpPr/>
          <p:nvPr/>
        </p:nvSpPr>
        <p:spPr>
          <a:xfrm>
            <a:off x="6382440" y="3163680"/>
            <a:ext cx="4745520" cy="328680"/>
          </a:xfrm>
          <a:prstGeom prst="rect">
            <a:avLst/>
          </a:prstGeom>
          <a:solidFill>
            <a:srgbClr val="F7FAFD"/>
          </a:solidFill>
          <a:ln w="12700">
            <a:solidFill>
              <a:srgbClr val="F7FA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1" name="Text 33"/>
          <p:cNvSpPr/>
          <p:nvPr/>
        </p:nvSpPr>
        <p:spPr>
          <a:xfrm>
            <a:off x="6492240" y="320040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[B, Dirty]</a:t>
            </a:r>
            <a:endParaRPr lang="en-US" sz="1200" b="0" u="none" strike="noStrike">
              <a:solidFill>
                <a:srgbClr val="000000"/>
              </a:solidFill>
              <a:effectLst/>
              <a:uFillTx/>
              <a:latin typeface="Arial"/>
            </a:endParaRPr>
          </a:p>
        </p:txBody>
      </p:sp>
      <p:sp>
        <p:nvSpPr>
          <p:cNvPr id="162" name="Text 34"/>
          <p:cNvSpPr/>
          <p:nvPr/>
        </p:nvSpPr>
        <p:spPr>
          <a:xfrm>
            <a:off x="9829800" y="320040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Suck</a:t>
            </a:r>
            <a:endParaRPr lang="en-US" sz="1200" b="0" u="none" strike="noStrike">
              <a:solidFill>
                <a:srgbClr val="000000"/>
              </a:solidFill>
              <a:effectLst/>
              <a:uFillTx/>
              <a:latin typeface="Arial"/>
            </a:endParaRPr>
          </a:p>
        </p:txBody>
      </p:sp>
      <p:sp>
        <p:nvSpPr>
          <p:cNvPr id="163" name="Text 35"/>
          <p:cNvSpPr/>
          <p:nvPr/>
        </p:nvSpPr>
        <p:spPr>
          <a:xfrm>
            <a:off x="6492240" y="356616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Clean], [A, Clean]</a:t>
            </a:r>
            <a:endParaRPr lang="en-US" sz="1200" b="0" u="none" strike="noStrike">
              <a:solidFill>
                <a:srgbClr val="000000"/>
              </a:solidFill>
              <a:effectLst/>
              <a:uFillTx/>
              <a:latin typeface="Arial"/>
            </a:endParaRPr>
          </a:p>
        </p:txBody>
      </p:sp>
      <p:sp>
        <p:nvSpPr>
          <p:cNvPr id="164" name="Text 36"/>
          <p:cNvSpPr/>
          <p:nvPr/>
        </p:nvSpPr>
        <p:spPr>
          <a:xfrm>
            <a:off x="9829800" y="356616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Right</a:t>
            </a:r>
            <a:endParaRPr lang="en-US" sz="1200" b="0" u="none" strike="noStrike">
              <a:solidFill>
                <a:srgbClr val="000000"/>
              </a:solidFill>
              <a:effectLst/>
              <a:uFillTx/>
              <a:latin typeface="Arial"/>
            </a:endParaRPr>
          </a:p>
        </p:txBody>
      </p:sp>
      <p:sp>
        <p:nvSpPr>
          <p:cNvPr id="165" name="Shape 37"/>
          <p:cNvSpPr/>
          <p:nvPr/>
        </p:nvSpPr>
        <p:spPr>
          <a:xfrm>
            <a:off x="6382440" y="3895200"/>
            <a:ext cx="4745520" cy="328680"/>
          </a:xfrm>
          <a:prstGeom prst="rect">
            <a:avLst/>
          </a:prstGeom>
          <a:solidFill>
            <a:srgbClr val="F7FAFD"/>
          </a:solidFill>
          <a:ln w="12700">
            <a:solidFill>
              <a:srgbClr val="F7FAF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6" name="Text 38"/>
          <p:cNvSpPr/>
          <p:nvPr/>
        </p:nvSpPr>
        <p:spPr>
          <a:xfrm>
            <a:off x="6492240" y="3931920"/>
            <a:ext cx="3245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Clean], [A, Dirty]</a:t>
            </a:r>
            <a:endParaRPr lang="en-US" sz="1200" b="0" u="none" strike="noStrike">
              <a:solidFill>
                <a:srgbClr val="000000"/>
              </a:solidFill>
              <a:effectLst/>
              <a:uFillTx/>
              <a:latin typeface="Arial"/>
            </a:endParaRPr>
          </a:p>
        </p:txBody>
      </p:sp>
      <p:sp>
        <p:nvSpPr>
          <p:cNvPr id="167" name="Text 39"/>
          <p:cNvSpPr/>
          <p:nvPr/>
        </p:nvSpPr>
        <p:spPr>
          <a:xfrm>
            <a:off x="9829800" y="3931920"/>
            <a:ext cx="1298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1B7A45"/>
                </a:solidFill>
                <a:effectLst/>
                <a:uFillTx/>
                <a:latin typeface="Aptos"/>
                <a:ea typeface="Aptos"/>
              </a:rPr>
              <a:t>Suck</a:t>
            </a:r>
            <a:endParaRPr lang="en-US" sz="1200" b="0" u="none" strike="noStrike">
              <a:solidFill>
                <a:srgbClr val="000000"/>
              </a:solidFill>
              <a:effectLst/>
              <a:uFillTx/>
              <a:latin typeface="Arial"/>
            </a:endParaRPr>
          </a:p>
        </p:txBody>
      </p:sp>
      <p:sp>
        <p:nvSpPr>
          <p:cNvPr id="168" name="Text 40"/>
          <p:cNvSpPr/>
          <p:nvPr/>
        </p:nvSpPr>
        <p:spPr>
          <a:xfrm>
            <a:off x="6492240" y="4316040"/>
            <a:ext cx="4480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5E7088"/>
                </a:solidFill>
                <a:effectLst/>
                <a:uFillTx/>
                <a:latin typeface="Aptos"/>
                <a:ea typeface="Aptos"/>
              </a:rPr>
              <a:t>⋮                                    ⋮</a:t>
            </a:r>
            <a:endParaRPr lang="en-US" sz="1200" b="0" u="none" strike="noStrike">
              <a:solidFill>
                <a:srgbClr val="000000"/>
              </a:solidFill>
              <a:effectLst/>
              <a:uFillTx/>
              <a:latin typeface="Arial"/>
            </a:endParaRPr>
          </a:p>
        </p:txBody>
      </p:sp>
      <p:sp>
        <p:nvSpPr>
          <p:cNvPr id="169" name="Text 41"/>
          <p:cNvSpPr/>
          <p:nvPr/>
        </p:nvSpPr>
        <p:spPr>
          <a:xfrm>
            <a:off x="914400" y="51390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ea typeface="Aptos"/>
              </a:rPr>
              <a:t>Fill the right-hand column differently and you have a different agent</a:t>
            </a:r>
            <a:endParaRPr lang="en-US" sz="2000" b="0" u="none" strike="noStrike">
              <a:solidFill>
                <a:srgbClr val="000000"/>
              </a:solidFill>
              <a:effectLst/>
              <a:uFillTx/>
              <a:latin typeface="Arial"/>
            </a:endParaRPr>
          </a:p>
        </p:txBody>
      </p:sp>
      <p:sp>
        <p:nvSpPr>
          <p:cNvPr id="170" name="Text 42"/>
          <p:cNvSpPr/>
          <p:nvPr/>
        </p:nvSpPr>
        <p:spPr>
          <a:xfrm>
            <a:off x="1005840" y="5614560"/>
            <a:ext cx="101494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Bound the percept sequence at length T and the table still needs |P| + |P|² + … + |P|ᵀ rows. The tabulation is an external description of behavior; the agent program is what we actually have to write.</a:t>
            </a:r>
            <a:endParaRPr lang="en-US" sz="1400" b="0" u="none" strike="noStrike">
              <a:solidFill>
                <a:srgbClr val="000000"/>
              </a:solidFill>
              <a:effectLst/>
              <a:uFillTx/>
              <a:latin typeface="Arial"/>
            </a:endParaRPr>
          </a:p>
        </p:txBody>
      </p:sp>
      <p:sp>
        <p:nvSpPr>
          <p:cNvPr id="171" name="Text 43"/>
          <p:cNvSpPr/>
          <p:nvPr/>
        </p:nvSpPr>
        <p:spPr>
          <a:xfrm>
            <a:off x="475560" y="630936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a:solidFill>
                  <a:srgbClr val="5E7088"/>
                </a:solidFill>
                <a:effectLst/>
                <a:uFillTx/>
                <a:latin typeface="Aptos"/>
                <a:ea typeface="Aptos"/>
              </a:rPr>
              <a:t>Figures 2.2 and 2.3</a:t>
            </a:r>
            <a:endParaRPr lang="en-US" sz="1000" b="0" u="none" strike="noStrike">
              <a:solidFill>
                <a:srgbClr val="000000"/>
              </a:solidFill>
              <a:effectLst/>
              <a:uFillTx/>
              <a:latin typeface="Arial"/>
            </a:endParaRPr>
          </a:p>
        </p:txBody>
      </p:sp>
      <p:sp>
        <p:nvSpPr>
          <p:cNvPr id="172" name="Text 4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73" name="Text 4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7</a:t>
            </a:r>
            <a:endParaRPr lang="en-US" sz="8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74"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5"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76"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2.2 Good Behavior: Rationality Is Expected Performance</a:t>
            </a:r>
            <a:endParaRPr lang="en-US" sz="2300" b="0" u="none" strike="noStrike">
              <a:solidFill>
                <a:srgbClr val="000000"/>
              </a:solidFill>
              <a:effectLst/>
              <a:uFillTx/>
              <a:latin typeface="Arial"/>
            </a:endParaRPr>
          </a:p>
        </p:txBody>
      </p:sp>
      <p:sp>
        <p:nvSpPr>
          <p:cNvPr id="177"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78"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79"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8</a:t>
            </a:r>
            <a:endParaRPr lang="en-US" sz="1800" b="0" u="none" strike="noStrike">
              <a:solidFill>
                <a:srgbClr val="000000"/>
              </a:solidFill>
              <a:effectLst/>
              <a:uFillTx/>
              <a:latin typeface="Arial"/>
            </a:endParaRPr>
          </a:p>
        </p:txBody>
      </p:sp>
      <p:sp>
        <p:nvSpPr>
          <p:cNvPr id="180" name="Text 6"/>
          <p:cNvSpPr/>
          <p:nvPr/>
        </p:nvSpPr>
        <p:spPr>
          <a:xfrm>
            <a:off x="777240" y="1143000"/>
            <a:ext cx="10697400" cy="41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rPr>
              <a:t>A rational agent selects the action expected to maximize its performance measure.</a:t>
            </a:r>
            <a:endParaRPr lang="en-US" sz="2100" b="0" u="none" strike="noStrike">
              <a:solidFill>
                <a:srgbClr val="000000"/>
              </a:solidFill>
              <a:effectLst/>
              <a:uFillTx/>
              <a:latin typeface="Arial"/>
            </a:endParaRPr>
          </a:p>
        </p:txBody>
      </p:sp>
      <p:sp>
        <p:nvSpPr>
          <p:cNvPr id="181" name="Shape 7"/>
          <p:cNvSpPr/>
          <p:nvPr/>
        </p:nvSpPr>
        <p:spPr>
          <a:xfrm>
            <a:off x="914400" y="196596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2" name="Text 8"/>
          <p:cNvSpPr/>
          <p:nvPr/>
        </p:nvSpPr>
        <p:spPr>
          <a:xfrm>
            <a:off x="1078920" y="211212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Performance measure</a:t>
            </a:r>
            <a:endParaRPr lang="en-US" sz="1700" b="0" u="none" strike="noStrike">
              <a:solidFill>
                <a:srgbClr val="000000"/>
              </a:solidFill>
              <a:effectLst/>
              <a:uFillTx/>
              <a:latin typeface="Arial"/>
            </a:endParaRPr>
          </a:p>
        </p:txBody>
      </p:sp>
      <p:sp>
        <p:nvSpPr>
          <p:cNvPr id="183" name="Text 9"/>
          <p:cNvSpPr/>
          <p:nvPr/>
        </p:nvSpPr>
        <p:spPr>
          <a:xfrm>
            <a:off x="1078920" y="244152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counts as success?</a:t>
            </a:r>
            <a:endParaRPr lang="en-US" sz="1300" b="0" u="none" strike="noStrike">
              <a:solidFill>
                <a:srgbClr val="000000"/>
              </a:solidFill>
              <a:effectLst/>
              <a:uFillTx/>
              <a:latin typeface="Arial"/>
            </a:endParaRPr>
          </a:p>
        </p:txBody>
      </p:sp>
      <p:sp>
        <p:nvSpPr>
          <p:cNvPr id="184" name="Shape 10"/>
          <p:cNvSpPr/>
          <p:nvPr/>
        </p:nvSpPr>
        <p:spPr>
          <a:xfrm>
            <a:off x="6172200" y="196596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5" name="Text 11"/>
          <p:cNvSpPr/>
          <p:nvPr/>
        </p:nvSpPr>
        <p:spPr>
          <a:xfrm>
            <a:off x="6336720" y="211212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48A97"/>
                </a:solidFill>
                <a:effectLst/>
                <a:uFillTx/>
                <a:latin typeface="Aptos"/>
              </a:rPr>
              <a:t>Prior knowledge</a:t>
            </a:r>
            <a:endParaRPr lang="en-US" sz="1700" b="0" u="none" strike="noStrike">
              <a:solidFill>
                <a:srgbClr val="000000"/>
              </a:solidFill>
              <a:effectLst/>
              <a:uFillTx/>
              <a:latin typeface="Arial"/>
            </a:endParaRPr>
          </a:p>
        </p:txBody>
      </p:sp>
      <p:sp>
        <p:nvSpPr>
          <p:cNvPr id="186" name="Text 12"/>
          <p:cNvSpPr/>
          <p:nvPr/>
        </p:nvSpPr>
        <p:spPr>
          <a:xfrm>
            <a:off x="6336720" y="244152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does the agent already know?</a:t>
            </a:r>
            <a:endParaRPr lang="en-US" sz="1300" b="0" u="none" strike="noStrike">
              <a:solidFill>
                <a:srgbClr val="000000"/>
              </a:solidFill>
              <a:effectLst/>
              <a:uFillTx/>
              <a:latin typeface="Arial"/>
            </a:endParaRPr>
          </a:p>
        </p:txBody>
      </p:sp>
      <p:sp>
        <p:nvSpPr>
          <p:cNvPr id="187" name="Shape 13"/>
          <p:cNvSpPr/>
          <p:nvPr/>
        </p:nvSpPr>
        <p:spPr>
          <a:xfrm>
            <a:off x="914400" y="338328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8" name="Text 14"/>
          <p:cNvSpPr/>
          <p:nvPr/>
        </p:nvSpPr>
        <p:spPr>
          <a:xfrm>
            <a:off x="1078920" y="352944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rPr>
              <a:t>Available actions</a:t>
            </a:r>
            <a:endParaRPr lang="en-US" sz="1700" b="0" u="none" strike="noStrike">
              <a:solidFill>
                <a:srgbClr val="000000"/>
              </a:solidFill>
              <a:effectLst/>
              <a:uFillTx/>
              <a:latin typeface="Arial"/>
            </a:endParaRPr>
          </a:p>
        </p:txBody>
      </p:sp>
      <p:sp>
        <p:nvSpPr>
          <p:cNvPr id="189" name="Text 15"/>
          <p:cNvSpPr/>
          <p:nvPr/>
        </p:nvSpPr>
        <p:spPr>
          <a:xfrm>
            <a:off x="1078920" y="385884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can the agent actually do?</a:t>
            </a:r>
            <a:endParaRPr lang="en-US" sz="1300" b="0" u="none" strike="noStrike">
              <a:solidFill>
                <a:srgbClr val="000000"/>
              </a:solidFill>
              <a:effectLst/>
              <a:uFillTx/>
              <a:latin typeface="Arial"/>
            </a:endParaRPr>
          </a:p>
        </p:txBody>
      </p:sp>
      <p:sp>
        <p:nvSpPr>
          <p:cNvPr id="190" name="Shape 16"/>
          <p:cNvSpPr/>
          <p:nvPr/>
        </p:nvSpPr>
        <p:spPr>
          <a:xfrm>
            <a:off x="6172200" y="3383280"/>
            <a:ext cx="475380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1" name="Text 17"/>
          <p:cNvSpPr/>
          <p:nvPr/>
        </p:nvSpPr>
        <p:spPr>
          <a:xfrm>
            <a:off x="6336720" y="352944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Percept sequence</a:t>
            </a:r>
            <a:endParaRPr lang="en-US" sz="1700" b="0" u="none" strike="noStrike">
              <a:solidFill>
                <a:srgbClr val="000000"/>
              </a:solidFill>
              <a:effectLst/>
              <a:uFillTx/>
              <a:latin typeface="Arial"/>
            </a:endParaRPr>
          </a:p>
        </p:txBody>
      </p:sp>
      <p:sp>
        <p:nvSpPr>
          <p:cNvPr id="192" name="Text 18"/>
          <p:cNvSpPr/>
          <p:nvPr/>
        </p:nvSpPr>
        <p:spPr>
          <a:xfrm>
            <a:off x="6336720" y="3858840"/>
            <a:ext cx="442476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evidence has it observed?</a:t>
            </a:r>
            <a:endParaRPr lang="en-US" sz="1300" b="0" u="none" strike="noStrike">
              <a:solidFill>
                <a:srgbClr val="000000"/>
              </a:solidFill>
              <a:effectLst/>
              <a:uFillTx/>
              <a:latin typeface="Arial"/>
            </a:endParaRPr>
          </a:p>
        </p:txBody>
      </p:sp>
      <p:sp>
        <p:nvSpPr>
          <p:cNvPr id="193" name="Text 19"/>
          <p:cNvSpPr/>
          <p:nvPr/>
        </p:nvSpPr>
        <p:spPr>
          <a:xfrm>
            <a:off x="914400" y="5166360"/>
            <a:ext cx="10331640" cy="43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rPr>
              <a:t>Rationality is not hindsight perfection. It uses evidence available at the time.</a:t>
            </a:r>
            <a:endParaRPr lang="en-US" sz="19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94"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5"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96"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2.2 Rational? Only Under Stated Assumptions</a:t>
            </a:r>
            <a:endParaRPr lang="en-US" sz="2300" b="0" u="none" strike="noStrike">
              <a:solidFill>
                <a:srgbClr val="000000"/>
              </a:solidFill>
              <a:effectLst/>
              <a:uFillTx/>
              <a:latin typeface="Arial"/>
            </a:endParaRPr>
          </a:p>
        </p:txBody>
      </p:sp>
      <p:sp>
        <p:nvSpPr>
          <p:cNvPr id="197"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198" name="Shape 5"/>
          <p:cNvSpPr/>
          <p:nvPr/>
        </p:nvSpPr>
        <p:spPr>
          <a:xfrm>
            <a:off x="868680" y="1188720"/>
            <a:ext cx="5074560" cy="342864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9" name="Text 6"/>
          <p:cNvSpPr/>
          <p:nvPr/>
        </p:nvSpPr>
        <p:spPr>
          <a:xfrm>
            <a:off x="1033200" y="13366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ea typeface="Aptos"/>
              </a:rPr>
              <a:t>What makes this agent rational</a:t>
            </a:r>
            <a:endParaRPr lang="en-US" sz="1700" b="0" u="none" strike="noStrike">
              <a:solidFill>
                <a:srgbClr val="000000"/>
              </a:solidFill>
              <a:effectLst/>
              <a:uFillTx/>
              <a:latin typeface="Arial"/>
            </a:endParaRPr>
          </a:p>
        </p:txBody>
      </p:sp>
      <p:sp>
        <p:nvSpPr>
          <p:cNvPr id="200" name="Text 7"/>
          <p:cNvSpPr/>
          <p:nvPr/>
        </p:nvSpPr>
        <p:spPr>
          <a:xfrm>
            <a:off x="1033200" y="1666080"/>
            <a:ext cx="4745520" cy="2819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dirty="0">
                <a:solidFill>
                  <a:srgbClr val="0070C0"/>
                </a:solidFill>
                <a:effectLst/>
                <a:uFillTx/>
                <a:latin typeface="Aptos"/>
                <a:ea typeface="Aptos"/>
              </a:rPr>
              <a:t>Performance: </a:t>
            </a:r>
            <a:r>
              <a:rPr lang="en-US" sz="1300" b="0" u="none" strike="noStrike" dirty="0">
                <a:solidFill>
                  <a:srgbClr val="0B1F3A"/>
                </a:solidFill>
                <a:effectLst/>
                <a:uFillTx/>
                <a:latin typeface="Aptos"/>
                <a:ea typeface="Aptos"/>
              </a:rPr>
              <a:t>one point for each clean square at each time step, over a lifetime of 1000 steps.</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The geography is known in advance, but the dirt distribution and the starting square are not.</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Clean squares stay clean; Suck cleans the current square; moving into a wall leaves the agent where it is.</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The only actions are Right, Left, and Suck, and the agent perceives its location and dirt status correctly.</a:t>
            </a:r>
            <a:endParaRPr lang="en-US" sz="1300" b="0" u="none" strike="noStrike" dirty="0">
              <a:solidFill>
                <a:srgbClr val="000000"/>
              </a:solidFill>
              <a:effectLst/>
              <a:uFillTx/>
              <a:latin typeface="Arial"/>
            </a:endParaRPr>
          </a:p>
        </p:txBody>
      </p:sp>
      <p:sp>
        <p:nvSpPr>
          <p:cNvPr id="201" name="Shape 8"/>
          <p:cNvSpPr/>
          <p:nvPr/>
        </p:nvSpPr>
        <p:spPr>
          <a:xfrm>
            <a:off x="6217920" y="1188720"/>
            <a:ext cx="5074560" cy="342864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2" name="Text 9"/>
          <p:cNvSpPr/>
          <p:nvPr/>
        </p:nvSpPr>
        <p:spPr>
          <a:xfrm>
            <a:off x="6382440" y="133668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ea typeface="Aptos"/>
              </a:rPr>
              <a:t>Change one line and it is irrational</a:t>
            </a:r>
            <a:endParaRPr lang="en-US" sz="1700" b="0" u="none" strike="noStrike">
              <a:solidFill>
                <a:srgbClr val="000000"/>
              </a:solidFill>
              <a:effectLst/>
              <a:uFillTx/>
              <a:latin typeface="Arial"/>
            </a:endParaRPr>
          </a:p>
        </p:txBody>
      </p:sp>
      <p:sp>
        <p:nvSpPr>
          <p:cNvPr id="203" name="Text 10"/>
          <p:cNvSpPr/>
          <p:nvPr/>
        </p:nvSpPr>
        <p:spPr>
          <a:xfrm>
            <a:off x="6382440" y="1666080"/>
            <a:ext cx="4745520" cy="2819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dirty="0">
                <a:solidFill>
                  <a:srgbClr val="0070C0"/>
                </a:solidFill>
                <a:effectLst/>
                <a:uFillTx/>
                <a:latin typeface="Aptos"/>
                <a:ea typeface="Aptos"/>
              </a:rPr>
              <a:t>Penalize each movement: </a:t>
            </a:r>
            <a:r>
              <a:rPr lang="en-US" sz="1300" b="0" u="none" strike="noStrike" dirty="0">
                <a:solidFill>
                  <a:srgbClr val="0B1F3A"/>
                </a:solidFill>
                <a:effectLst/>
                <a:uFillTx/>
                <a:latin typeface="Aptos"/>
                <a:ea typeface="Aptos"/>
              </a:rPr>
              <a:t>once the floor is clean the agent oscillates forever and bleeds points. Add </a:t>
            </a:r>
            <a:r>
              <a:rPr lang="en-US" sz="1300" b="0" u="none" strike="noStrike" dirty="0" err="1">
                <a:solidFill>
                  <a:srgbClr val="0B1F3A"/>
                </a:solidFill>
                <a:effectLst/>
                <a:uFillTx/>
                <a:latin typeface="Aptos"/>
                <a:ea typeface="Aptos"/>
              </a:rPr>
              <a:t>NoOp</a:t>
            </a:r>
            <a:r>
              <a:rPr lang="en-US" sz="1300" b="0" u="none" strike="noStrike" dirty="0">
                <a:solidFill>
                  <a:srgbClr val="0B1F3A"/>
                </a:solidFill>
                <a:effectLst/>
                <a:uFillTx/>
                <a:latin typeface="Aptos"/>
                <a:ea typeface="Aptos"/>
              </a:rPr>
              <a:t> and stopping becomes the rational choice.</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Let clean squares become dirty again: it must go back and re-check them periodically.</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Hide the geography: it now has to explore before it can clean efficiently.</a:t>
            </a:r>
            <a:endParaRPr lang="en-US" sz="1300" b="0" u="none" strike="noStrike" dirty="0">
              <a:solidFill>
                <a:srgbClr val="000000"/>
              </a:solidFill>
              <a:effectLst/>
              <a:uFillTx/>
              <a:latin typeface="Arial"/>
            </a:endParaRPr>
          </a:p>
          <a:p>
            <a:pPr defTabSz="914400">
              <a:lnSpc>
                <a:spcPct val="100000"/>
              </a:lnSpc>
              <a:spcBef>
                <a:spcPts val="400"/>
              </a:spcBef>
              <a:tabLst>
                <a:tab pos="0" algn="l"/>
              </a:tabLst>
            </a:pPr>
            <a:r>
              <a:rPr lang="en-US" sz="1300" b="0" u="none" strike="noStrike" dirty="0">
                <a:solidFill>
                  <a:srgbClr val="0B1F3A"/>
                </a:solidFill>
                <a:effectLst/>
                <a:uFillTx/>
                <a:latin typeface="Aptos"/>
                <a:ea typeface="Aptos"/>
              </a:rPr>
              <a:t>Remove the location sensor: [Clean] no longer tells it whether to go Left or Right.</a:t>
            </a:r>
            <a:endParaRPr lang="en-US" sz="1300" b="0" u="none" strike="noStrike" dirty="0">
              <a:solidFill>
                <a:srgbClr val="000000"/>
              </a:solidFill>
              <a:effectLst/>
              <a:uFillTx/>
              <a:latin typeface="Arial"/>
            </a:endParaRPr>
          </a:p>
        </p:txBody>
      </p:sp>
      <p:sp>
        <p:nvSpPr>
          <p:cNvPr id="204" name="Text 11"/>
          <p:cNvSpPr/>
          <p:nvPr/>
        </p:nvSpPr>
        <p:spPr>
          <a:xfrm>
            <a:off x="914400" y="48920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ea typeface="Aptos"/>
              </a:rPr>
              <a:t>Rationality is a relation, not a property of the program</a:t>
            </a:r>
            <a:endParaRPr lang="en-US" sz="2200" b="0" u="none" strike="noStrike">
              <a:solidFill>
                <a:srgbClr val="000000"/>
              </a:solidFill>
              <a:effectLst/>
              <a:uFillTx/>
              <a:latin typeface="Arial"/>
            </a:endParaRPr>
          </a:p>
        </p:txBody>
      </p:sp>
      <p:sp>
        <p:nvSpPr>
          <p:cNvPr id="205" name="Text 12"/>
          <p:cNvSpPr/>
          <p:nvPr/>
        </p:nvSpPr>
        <p:spPr>
          <a:xfrm>
            <a:off x="1005840" y="5394960"/>
            <a:ext cx="101494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The same four lines of code are rational under the left column and irrational under the right. Nothing about the code changed — the performance measure, the prior knowledge, the action set, or the percepts did.</a:t>
            </a:r>
            <a:endParaRPr lang="en-US" sz="1400" b="0" u="none" strike="noStrike">
              <a:solidFill>
                <a:srgbClr val="000000"/>
              </a:solidFill>
              <a:effectLst/>
              <a:uFillTx/>
              <a:latin typeface="Arial"/>
            </a:endParaRPr>
          </a:p>
          <a:p>
            <a:pPr algn="ctr" defTabSz="914400">
              <a:lnSpc>
                <a:spcPct val="100000"/>
              </a:lnSpc>
              <a:spcBef>
                <a:spcPts val="499"/>
              </a:spcBef>
              <a:tabLst>
                <a:tab pos="0" algn="l"/>
              </a:tabLst>
            </a:pPr>
            <a:r>
              <a:rPr lang="en-US" sz="1400" b="0" u="none" strike="noStrike">
                <a:solidFill>
                  <a:srgbClr val="0B1F3A"/>
                </a:solidFill>
                <a:effectLst/>
                <a:uFillTx/>
                <a:latin typeface="Aptos"/>
                <a:ea typeface="Aptos"/>
              </a:rPr>
              <a:t>Exercise 2.VACR asks you to design agents for each of these variants.</a:t>
            </a:r>
            <a:endParaRPr lang="en-US" sz="1400" b="0" u="none" strike="noStrike">
              <a:solidFill>
                <a:srgbClr val="000000"/>
              </a:solidFill>
              <a:effectLst/>
              <a:uFillTx/>
              <a:latin typeface="Arial"/>
            </a:endParaRPr>
          </a:p>
        </p:txBody>
      </p:sp>
      <p:sp>
        <p:nvSpPr>
          <p:cNvPr id="206" name="Text 13"/>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207" name="Text 14"/>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9</a:t>
            </a:r>
            <a:endParaRPr lang="en-US" sz="8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0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21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2.2 Performance Measures: Be Careful What You Ask For</a:t>
            </a:r>
            <a:endParaRPr lang="en-US" sz="2300" b="0" u="none" strike="noStrike">
              <a:solidFill>
                <a:srgbClr val="000000"/>
              </a:solidFill>
              <a:effectLst/>
              <a:uFillTx/>
              <a:latin typeface="Arial"/>
            </a:endParaRPr>
          </a:p>
        </p:txBody>
      </p:sp>
      <p:sp>
        <p:nvSpPr>
          <p:cNvPr id="21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21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1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10</a:t>
            </a:r>
            <a:endParaRPr lang="en-US" sz="1800" b="0" u="none" strike="noStrike">
              <a:solidFill>
                <a:srgbClr val="000000"/>
              </a:solidFill>
              <a:effectLst/>
              <a:uFillTx/>
              <a:latin typeface="Arial"/>
            </a:endParaRPr>
          </a:p>
        </p:txBody>
      </p:sp>
      <p:sp>
        <p:nvSpPr>
          <p:cNvPr id="214" name="Shape 6"/>
          <p:cNvSpPr/>
          <p:nvPr/>
        </p:nvSpPr>
        <p:spPr>
          <a:xfrm>
            <a:off x="868680" y="1234440"/>
            <a:ext cx="4845240" cy="1827720"/>
          </a:xfrm>
          <a:prstGeom prst="roundRect">
            <a:avLst>
              <a:gd name="adj" fmla="val 30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5" name="Text 7"/>
          <p:cNvSpPr/>
          <p:nvPr/>
        </p:nvSpPr>
        <p:spPr>
          <a:xfrm>
            <a:off x="1033200" y="1380600"/>
            <a:ext cx="4516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A32020"/>
                </a:solidFill>
                <a:effectLst/>
                <a:uFillTx/>
                <a:latin typeface="Aptos"/>
              </a:rPr>
              <a:t>Bad measure</a:t>
            </a:r>
            <a:endParaRPr lang="en-US" sz="2000" b="0" u="none" strike="noStrike">
              <a:solidFill>
                <a:srgbClr val="000000"/>
              </a:solidFill>
              <a:effectLst/>
              <a:uFillTx/>
              <a:latin typeface="Arial"/>
            </a:endParaRPr>
          </a:p>
        </p:txBody>
      </p:sp>
      <p:sp>
        <p:nvSpPr>
          <p:cNvPr id="216" name="Text 8"/>
          <p:cNvSpPr/>
          <p:nvPr/>
        </p:nvSpPr>
        <p:spPr>
          <a:xfrm>
            <a:off x="1033200" y="1710000"/>
            <a:ext cx="4516200" cy="1233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00" b="0" u="none" strike="noStrike">
                <a:solidFill>
                  <a:srgbClr val="0B1F3A"/>
                </a:solidFill>
                <a:effectLst/>
                <a:uFillTx/>
                <a:latin typeface="Aptos"/>
              </a:rPr>
              <a:t>Reward the vacuum for amount of dirt cleaned.</a:t>
            </a:r>
            <a:endParaRPr lang="en-US" sz="1500" b="0" u="none" strike="noStrike">
              <a:solidFill>
                <a:srgbClr val="000000"/>
              </a:solidFill>
              <a:effectLst/>
              <a:uFillTx/>
              <a:latin typeface="Arial"/>
            </a:endParaRPr>
          </a:p>
          <a:p>
            <a:pPr defTabSz="914400">
              <a:lnSpc>
                <a:spcPct val="100000"/>
              </a:lnSpc>
              <a:tabLst>
                <a:tab pos="0" algn="l"/>
              </a:tabLst>
            </a:pP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0B1F3A"/>
                </a:solidFill>
                <a:effectLst/>
                <a:uFillTx/>
                <a:latin typeface="Aptos"/>
              </a:rPr>
              <a:t>Failure mode: dump dirt, clean it, dump it again.</a:t>
            </a:r>
            <a:endParaRPr lang="en-US" sz="1500" b="0" u="none" strike="noStrike">
              <a:solidFill>
                <a:srgbClr val="000000"/>
              </a:solidFill>
              <a:effectLst/>
              <a:uFillTx/>
              <a:latin typeface="Arial"/>
            </a:endParaRPr>
          </a:p>
        </p:txBody>
      </p:sp>
      <p:sp>
        <p:nvSpPr>
          <p:cNvPr id="217" name="Shape 9"/>
          <p:cNvSpPr/>
          <p:nvPr/>
        </p:nvSpPr>
        <p:spPr>
          <a:xfrm>
            <a:off x="6446520" y="1234440"/>
            <a:ext cx="4845240" cy="1827720"/>
          </a:xfrm>
          <a:prstGeom prst="roundRect">
            <a:avLst>
              <a:gd name="adj" fmla="val 30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8" name="Text 10"/>
          <p:cNvSpPr/>
          <p:nvPr/>
        </p:nvSpPr>
        <p:spPr>
          <a:xfrm>
            <a:off x="6611040" y="1380600"/>
            <a:ext cx="4516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1B7A45"/>
                </a:solidFill>
                <a:effectLst/>
                <a:uFillTx/>
                <a:latin typeface="Aptos"/>
              </a:rPr>
              <a:t>Better measure</a:t>
            </a:r>
            <a:endParaRPr lang="en-US" sz="2000" b="0" u="none" strike="noStrike">
              <a:solidFill>
                <a:srgbClr val="000000"/>
              </a:solidFill>
              <a:effectLst/>
              <a:uFillTx/>
              <a:latin typeface="Arial"/>
            </a:endParaRPr>
          </a:p>
        </p:txBody>
      </p:sp>
      <p:sp>
        <p:nvSpPr>
          <p:cNvPr id="219" name="Text 11"/>
          <p:cNvSpPr/>
          <p:nvPr/>
        </p:nvSpPr>
        <p:spPr>
          <a:xfrm>
            <a:off x="6611040" y="1710000"/>
            <a:ext cx="4516200" cy="1233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500" b="0" u="none" strike="noStrike">
                <a:solidFill>
                  <a:srgbClr val="0B1F3A"/>
                </a:solidFill>
                <a:effectLst/>
                <a:uFillTx/>
                <a:latin typeface="Aptos"/>
              </a:rPr>
              <a:t>Reward clean squares over time.</a:t>
            </a:r>
            <a:endParaRPr lang="en-US" sz="1500" b="0" u="none" strike="noStrike">
              <a:solidFill>
                <a:srgbClr val="000000"/>
              </a:solidFill>
              <a:effectLst/>
              <a:uFillTx/>
              <a:latin typeface="Arial"/>
            </a:endParaRPr>
          </a:p>
          <a:p>
            <a:pPr defTabSz="914400">
              <a:lnSpc>
                <a:spcPct val="100000"/>
              </a:lnSpc>
              <a:tabLst>
                <a:tab pos="0" algn="l"/>
              </a:tabLst>
            </a:pP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0B1F3A"/>
                </a:solidFill>
                <a:effectLst/>
                <a:uFillTx/>
                <a:latin typeface="Aptos"/>
              </a:rPr>
              <a:t>Measure the environment outcome, not the agent’s visible effort.</a:t>
            </a:r>
            <a:endParaRPr lang="en-US" sz="1500" b="0" u="none" strike="noStrike">
              <a:solidFill>
                <a:srgbClr val="000000"/>
              </a:solidFill>
              <a:effectLst/>
              <a:uFillTx/>
              <a:latin typeface="Arial"/>
            </a:endParaRPr>
          </a:p>
        </p:txBody>
      </p:sp>
      <p:sp>
        <p:nvSpPr>
          <p:cNvPr id="220" name="Shape 12"/>
          <p:cNvSpPr/>
          <p:nvPr/>
        </p:nvSpPr>
        <p:spPr>
          <a:xfrm>
            <a:off x="5742360" y="1874520"/>
            <a:ext cx="547560" cy="547560"/>
          </a:xfrm>
          <a:prstGeom prst="chevron">
            <a:avLst>
              <a:gd name="adj" fmla="val 5000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1" name="Text 13"/>
          <p:cNvSpPr/>
          <p:nvPr/>
        </p:nvSpPr>
        <p:spPr>
          <a:xfrm>
            <a:off x="868680" y="3977640"/>
            <a:ext cx="104230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rPr>
              <a:t>General lesson</a:t>
            </a:r>
            <a:endParaRPr lang="en-US" sz="2200" b="0" u="none" strike="noStrike">
              <a:solidFill>
                <a:srgbClr val="000000"/>
              </a:solidFill>
              <a:effectLst/>
              <a:uFillTx/>
              <a:latin typeface="Arial"/>
            </a:endParaRPr>
          </a:p>
        </p:txBody>
      </p:sp>
      <p:sp>
        <p:nvSpPr>
          <p:cNvPr id="222" name="Text 14"/>
          <p:cNvSpPr/>
          <p:nvPr/>
        </p:nvSpPr>
        <p:spPr>
          <a:xfrm>
            <a:off x="1143000" y="4507920"/>
            <a:ext cx="9874440" cy="4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1F3A"/>
                </a:solidFill>
                <a:effectLst/>
                <a:uFillTx/>
                <a:latin typeface="Aptos"/>
              </a:rPr>
              <a:t>Design performance measures according to what you actually want achieved in the environment.</a:t>
            </a:r>
            <a:endParaRPr lang="en-US" sz="2000" b="0" u="none" strike="noStrike">
              <a:solidFill>
                <a:srgbClr val="000000"/>
              </a:solidFill>
              <a:effectLst/>
              <a:uFillTx/>
              <a:latin typeface="Arial"/>
            </a:endParaRPr>
          </a:p>
        </p:txBody>
      </p:sp>
      <p:sp>
        <p:nvSpPr>
          <p:cNvPr id="223" name="Text 15"/>
          <p:cNvSpPr/>
          <p:nvPr/>
        </p:nvSpPr>
        <p:spPr>
          <a:xfrm>
            <a:off x="1143000" y="5212080"/>
            <a:ext cx="98744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0" u="none" strike="noStrike">
                <a:solidFill>
                  <a:srgbClr val="5E7088"/>
                </a:solidFill>
                <a:effectLst/>
                <a:uFillTx/>
                <a:latin typeface="Aptos"/>
              </a:rPr>
              <a:t>Connection to Chapter 1: wrong objectives create the King Midas / value-alignment problem.</a:t>
            </a:r>
            <a:endParaRPr lang="en-US" sz="14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24"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5"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226"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2.2.1 Consequentialism and the Trouble with Averages</a:t>
            </a:r>
            <a:endParaRPr lang="en-US" sz="2300" b="0" u="none" strike="noStrike">
              <a:solidFill>
                <a:srgbClr val="000000"/>
              </a:solidFill>
              <a:effectLst/>
              <a:uFillTx/>
              <a:latin typeface="Arial"/>
            </a:endParaRPr>
          </a:p>
        </p:txBody>
      </p:sp>
      <p:sp>
        <p:nvSpPr>
          <p:cNvPr id="227"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2.2.1</a:t>
            </a:r>
            <a:endParaRPr lang="en-US" sz="1200" b="0" u="none" strike="noStrike">
              <a:solidFill>
                <a:srgbClr val="000000"/>
              </a:solidFill>
              <a:effectLst/>
              <a:uFillTx/>
              <a:latin typeface="Arial"/>
            </a:endParaRPr>
          </a:p>
        </p:txBody>
      </p:sp>
      <p:sp>
        <p:nvSpPr>
          <p:cNvPr id="228" name="Shape 5"/>
          <p:cNvSpPr/>
          <p:nvPr/>
        </p:nvSpPr>
        <p:spPr>
          <a:xfrm>
            <a:off x="868680" y="1097280"/>
            <a:ext cx="10423800" cy="11700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9" name="Text 6"/>
          <p:cNvSpPr/>
          <p:nvPr/>
        </p:nvSpPr>
        <p:spPr>
          <a:xfrm>
            <a:off x="1033200" y="1245240"/>
            <a:ext cx="100947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ea typeface="Aptos"/>
              </a:rPr>
              <a:t>Consequentialism</a:t>
            </a:r>
            <a:endParaRPr lang="en-US" sz="1700" b="0" u="none" strike="noStrike">
              <a:solidFill>
                <a:srgbClr val="000000"/>
              </a:solidFill>
              <a:effectLst/>
              <a:uFillTx/>
              <a:latin typeface="Arial"/>
            </a:endParaRPr>
          </a:p>
        </p:txBody>
      </p:sp>
      <p:sp>
        <p:nvSpPr>
          <p:cNvPr id="230" name="Text 7"/>
          <p:cNvSpPr/>
          <p:nvPr/>
        </p:nvSpPr>
        <p:spPr>
          <a:xfrm>
            <a:off x="1033200" y="1574640"/>
            <a:ext cx="10094760" cy="561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Moral philosophy offers several accounts of the right thing to do. AI has largely adopted one: judge an agent by its consequences. Actions drive the environment through a sequence of states, and the performance measure scores that sequence.</a:t>
            </a:r>
            <a:endParaRPr lang="en-US" sz="1300" b="0" u="none" strike="noStrike">
              <a:solidFill>
                <a:srgbClr val="000000"/>
              </a:solidFill>
              <a:effectLst/>
              <a:uFillTx/>
              <a:latin typeface="Arial"/>
            </a:endParaRPr>
          </a:p>
        </p:txBody>
      </p:sp>
      <p:sp>
        <p:nvSpPr>
          <p:cNvPr id="231" name="Shape 8"/>
          <p:cNvSpPr/>
          <p:nvPr/>
        </p:nvSpPr>
        <p:spPr>
          <a:xfrm>
            <a:off x="868680" y="2359080"/>
            <a:ext cx="5074560" cy="1416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2" name="Text 9"/>
          <p:cNvSpPr/>
          <p:nvPr/>
        </p:nvSpPr>
        <p:spPr>
          <a:xfrm>
            <a:off x="1033200" y="250740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ea typeface="Aptos"/>
              </a:rPr>
              <a:t>Agent A — steady mediocrity</a:t>
            </a:r>
            <a:endParaRPr lang="en-US" sz="1600" b="0" u="none" strike="noStrike">
              <a:solidFill>
                <a:srgbClr val="000000"/>
              </a:solidFill>
              <a:effectLst/>
              <a:uFillTx/>
              <a:latin typeface="Arial"/>
            </a:endParaRPr>
          </a:p>
        </p:txBody>
      </p:sp>
      <p:sp>
        <p:nvSpPr>
          <p:cNvPr id="233" name="Text 10"/>
          <p:cNvSpPr/>
          <p:nvPr/>
        </p:nvSpPr>
        <p:spPr>
          <a:xfrm>
            <a:off x="1033200" y="2836440"/>
            <a:ext cx="4745520" cy="80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Cleans at a moderate level, continuously, for the whole shift. Never impressive, never absent.</a:t>
            </a:r>
            <a:endParaRPr lang="en-US" sz="1300" b="0" u="none" strike="noStrike">
              <a:solidFill>
                <a:srgbClr val="000000"/>
              </a:solidFill>
              <a:effectLst/>
              <a:uFillTx/>
              <a:latin typeface="Arial"/>
            </a:endParaRPr>
          </a:p>
        </p:txBody>
      </p:sp>
      <p:sp>
        <p:nvSpPr>
          <p:cNvPr id="234" name="Shape 11"/>
          <p:cNvSpPr/>
          <p:nvPr/>
        </p:nvSpPr>
        <p:spPr>
          <a:xfrm>
            <a:off x="6217920" y="2359080"/>
            <a:ext cx="5074560" cy="14169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5" name="Text 12"/>
          <p:cNvSpPr/>
          <p:nvPr/>
        </p:nvSpPr>
        <p:spPr>
          <a:xfrm>
            <a:off x="6382440" y="250740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ea typeface="Aptos"/>
              </a:rPr>
              <a:t>Agent B — bursts and long breaks</a:t>
            </a:r>
            <a:endParaRPr lang="en-US" sz="1600" b="0" u="none" strike="noStrike">
              <a:solidFill>
                <a:srgbClr val="000000"/>
              </a:solidFill>
              <a:effectLst/>
              <a:uFillTx/>
              <a:latin typeface="Arial"/>
            </a:endParaRPr>
          </a:p>
        </p:txBody>
      </p:sp>
      <p:sp>
        <p:nvSpPr>
          <p:cNvPr id="236" name="Text 13"/>
          <p:cNvSpPr/>
          <p:nvPr/>
        </p:nvSpPr>
        <p:spPr>
          <a:xfrm>
            <a:off x="6382440" y="2836440"/>
            <a:ext cx="4745520" cy="807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Cleans energetically, then rests for long stretches. Spectacular in bursts, absent in between.</a:t>
            </a:r>
            <a:endParaRPr lang="en-US" sz="1300" b="0" u="none" strike="noStrike">
              <a:solidFill>
                <a:srgbClr val="000000"/>
              </a:solidFill>
              <a:effectLst/>
              <a:uFillTx/>
              <a:latin typeface="Arial"/>
            </a:endParaRPr>
          </a:p>
        </p:txBody>
      </p:sp>
      <p:sp>
        <p:nvSpPr>
          <p:cNvPr id="237" name="Text 14"/>
          <p:cNvSpPr/>
          <p:nvPr/>
        </p:nvSpPr>
        <p:spPr>
          <a:xfrm>
            <a:off x="914400" y="39866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ea typeface="Aptos"/>
              </a:rPr>
              <a:t>Identical average cleanliness. Which one do you want?</a:t>
            </a:r>
            <a:endParaRPr lang="en-US" sz="2100" b="0" u="none" strike="noStrike">
              <a:solidFill>
                <a:srgbClr val="000000"/>
              </a:solidFill>
              <a:effectLst/>
              <a:uFillTx/>
              <a:latin typeface="Arial"/>
            </a:endParaRPr>
          </a:p>
        </p:txBody>
      </p:sp>
      <p:sp>
        <p:nvSpPr>
          <p:cNvPr id="238" name="Text 15"/>
          <p:cNvSpPr/>
          <p:nvPr/>
        </p:nvSpPr>
        <p:spPr>
          <a:xfrm>
            <a:off x="1005840" y="4480560"/>
            <a:ext cx="1014948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A reckless life of highs and lows, or a safe but humdrum existence? An economy where everyone lives in moderate poverty, or one where some live in plenty and others very poorly? An average hides the question rather than answering it.</a:t>
            </a:r>
            <a:endParaRPr lang="en-US" sz="1400" b="0" u="none" strike="noStrike">
              <a:solidFill>
                <a:srgbClr val="000000"/>
              </a:solidFill>
              <a:effectLst/>
              <a:uFillTx/>
              <a:latin typeface="Arial"/>
            </a:endParaRPr>
          </a:p>
        </p:txBody>
      </p:sp>
      <p:sp>
        <p:nvSpPr>
          <p:cNvPr id="239" name="Shape 16"/>
          <p:cNvSpPr/>
          <p:nvPr/>
        </p:nvSpPr>
        <p:spPr>
          <a:xfrm>
            <a:off x="868680" y="5303520"/>
            <a:ext cx="10423800" cy="959760"/>
          </a:xfrm>
          <a:prstGeom prst="roundRect">
            <a:avLst>
              <a:gd name="adj" fmla="val 4444"/>
            </a:avLst>
          </a:prstGeom>
          <a:solidFill>
            <a:srgbClr val="FDF3E3"/>
          </a:solidFill>
          <a:ln w="12700">
            <a:solidFill>
              <a:srgbClr val="F0D9A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0" name="Text 17"/>
          <p:cNvSpPr/>
          <p:nvPr/>
        </p:nvSpPr>
        <p:spPr>
          <a:xfrm>
            <a:off x="1097280" y="5449680"/>
            <a:ext cx="99666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A32020"/>
                </a:solidFill>
                <a:effectLst/>
                <a:uFillTx/>
                <a:latin typeface="Aptos"/>
                <a:ea typeface="Aptos"/>
              </a:rPr>
              <a:t>And the measure itself may be unknown. </a:t>
            </a:r>
            <a:r>
              <a:rPr lang="en-US" sz="1400" b="0" u="none" strike="noStrike">
                <a:solidFill>
                  <a:srgbClr val="0B1F3A"/>
                </a:solidFill>
                <a:effectLst/>
                <a:uFillTx/>
                <a:latin typeface="Aptos"/>
                <a:ea typeface="Aptos"/>
              </a:rPr>
              <a:t>One piece of software ships to many users, and we cannot anticipate each one's preferences. That argues for agents that stay uncertain about the true objective and learn it over time (Chapters 16, 18, 22).</a:t>
            </a:r>
            <a:endParaRPr lang="en-US" sz="1400" b="0" u="none" strike="noStrike">
              <a:solidFill>
                <a:srgbClr val="000000"/>
              </a:solidFill>
              <a:effectLst/>
              <a:uFillTx/>
              <a:latin typeface="Arial"/>
            </a:endParaRPr>
          </a:p>
        </p:txBody>
      </p:sp>
      <p:sp>
        <p:nvSpPr>
          <p:cNvPr id="241" name="Text 18"/>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242" name="Text 19"/>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11</a:t>
            </a:r>
            <a:endParaRPr lang="en-US" sz="85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4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24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2.2 Rationality Is Not Omniscience</a:t>
            </a:r>
            <a:endParaRPr lang="en-US" sz="2300" b="0" u="none" strike="noStrike">
              <a:solidFill>
                <a:srgbClr val="000000"/>
              </a:solidFill>
              <a:effectLst/>
              <a:uFillTx/>
              <a:latin typeface="Arial"/>
            </a:endParaRPr>
          </a:p>
        </p:txBody>
      </p:sp>
      <p:sp>
        <p:nvSpPr>
          <p:cNvPr id="24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a:t>
            </a:r>
            <a:endParaRPr lang="en-US" sz="1200" b="0" u="none" strike="noStrike">
              <a:solidFill>
                <a:srgbClr val="000000"/>
              </a:solidFill>
              <a:effectLst/>
              <a:uFillTx/>
              <a:latin typeface="Arial"/>
            </a:endParaRPr>
          </a:p>
        </p:txBody>
      </p:sp>
      <p:sp>
        <p:nvSpPr>
          <p:cNvPr id="24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4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12</a:t>
            </a:r>
            <a:endParaRPr lang="en-US" sz="1800" b="0" u="none" strike="noStrike">
              <a:solidFill>
                <a:srgbClr val="000000"/>
              </a:solidFill>
              <a:effectLst/>
              <a:uFillTx/>
              <a:latin typeface="Arial"/>
            </a:endParaRPr>
          </a:p>
        </p:txBody>
      </p:sp>
      <p:sp>
        <p:nvSpPr>
          <p:cNvPr id="249" name="Shape 6"/>
          <p:cNvSpPr/>
          <p:nvPr/>
        </p:nvSpPr>
        <p:spPr>
          <a:xfrm>
            <a:off x="731520" y="1234440"/>
            <a:ext cx="356508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0" name="Text 7"/>
          <p:cNvSpPr/>
          <p:nvPr/>
        </p:nvSpPr>
        <p:spPr>
          <a:xfrm>
            <a:off x="896040" y="1380600"/>
            <a:ext cx="32360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Omniscience</a:t>
            </a:r>
            <a:endParaRPr lang="en-US" sz="1800" b="0" u="none" strike="noStrike">
              <a:solidFill>
                <a:srgbClr val="000000"/>
              </a:solidFill>
              <a:effectLst/>
              <a:uFillTx/>
              <a:latin typeface="Arial"/>
            </a:endParaRPr>
          </a:p>
        </p:txBody>
      </p:sp>
      <p:sp>
        <p:nvSpPr>
          <p:cNvPr id="251" name="Text 8"/>
          <p:cNvSpPr/>
          <p:nvPr/>
        </p:nvSpPr>
        <p:spPr>
          <a:xfrm>
            <a:off x="896040" y="1710000"/>
            <a:ext cx="323604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Knows the actual outcome of every action. Impossible in realistic environments.</a:t>
            </a:r>
            <a:endParaRPr lang="en-US" sz="1300" b="0" u="none" strike="noStrike">
              <a:solidFill>
                <a:srgbClr val="000000"/>
              </a:solidFill>
              <a:effectLst/>
              <a:uFillTx/>
              <a:latin typeface="Arial"/>
            </a:endParaRPr>
          </a:p>
        </p:txBody>
      </p:sp>
      <p:sp>
        <p:nvSpPr>
          <p:cNvPr id="252" name="Shape 9"/>
          <p:cNvSpPr/>
          <p:nvPr/>
        </p:nvSpPr>
        <p:spPr>
          <a:xfrm>
            <a:off x="4526280" y="1234440"/>
            <a:ext cx="356508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3" name="Text 10"/>
          <p:cNvSpPr/>
          <p:nvPr/>
        </p:nvSpPr>
        <p:spPr>
          <a:xfrm>
            <a:off x="4690800" y="1380600"/>
            <a:ext cx="32360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Rationality</a:t>
            </a:r>
            <a:endParaRPr lang="en-US" sz="1800" b="0" u="none" strike="noStrike">
              <a:solidFill>
                <a:srgbClr val="000000"/>
              </a:solidFill>
              <a:effectLst/>
              <a:uFillTx/>
              <a:latin typeface="Arial"/>
            </a:endParaRPr>
          </a:p>
        </p:txBody>
      </p:sp>
      <p:sp>
        <p:nvSpPr>
          <p:cNvPr id="254" name="Text 11"/>
          <p:cNvSpPr/>
          <p:nvPr/>
        </p:nvSpPr>
        <p:spPr>
          <a:xfrm>
            <a:off x="4690800" y="1710000"/>
            <a:ext cx="323604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Chooses the action with best expected performance from available evidence.</a:t>
            </a:r>
            <a:endParaRPr lang="en-US" sz="1300" b="0" u="none" strike="noStrike">
              <a:solidFill>
                <a:srgbClr val="000000"/>
              </a:solidFill>
              <a:effectLst/>
              <a:uFillTx/>
              <a:latin typeface="Arial"/>
            </a:endParaRPr>
          </a:p>
        </p:txBody>
      </p:sp>
      <p:sp>
        <p:nvSpPr>
          <p:cNvPr id="255" name="Shape 12"/>
          <p:cNvSpPr/>
          <p:nvPr/>
        </p:nvSpPr>
        <p:spPr>
          <a:xfrm>
            <a:off x="8321040" y="1234440"/>
            <a:ext cx="310788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6" name="Text 13"/>
          <p:cNvSpPr/>
          <p:nvPr/>
        </p:nvSpPr>
        <p:spPr>
          <a:xfrm>
            <a:off x="8485560" y="1380600"/>
            <a:ext cx="2778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Autonomy</a:t>
            </a:r>
            <a:endParaRPr lang="en-US" sz="1800" b="0" u="none" strike="noStrike">
              <a:solidFill>
                <a:srgbClr val="000000"/>
              </a:solidFill>
              <a:effectLst/>
              <a:uFillTx/>
              <a:latin typeface="Arial"/>
            </a:endParaRPr>
          </a:p>
        </p:txBody>
      </p:sp>
      <p:sp>
        <p:nvSpPr>
          <p:cNvPr id="257" name="Text 14"/>
          <p:cNvSpPr/>
          <p:nvPr/>
        </p:nvSpPr>
        <p:spPr>
          <a:xfrm>
            <a:off x="8485560" y="1710000"/>
            <a:ext cx="277884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Learns from percepts rather than depending only on designer assumptions.</a:t>
            </a:r>
            <a:endParaRPr lang="en-US" sz="1300" b="0" u="none" strike="noStrike">
              <a:solidFill>
                <a:srgbClr val="000000"/>
              </a:solidFill>
              <a:effectLst/>
              <a:uFillTx/>
              <a:latin typeface="Arial"/>
            </a:endParaRPr>
          </a:p>
        </p:txBody>
      </p:sp>
      <p:sp>
        <p:nvSpPr>
          <p:cNvPr id="258" name="Shape 15"/>
          <p:cNvSpPr/>
          <p:nvPr/>
        </p:nvSpPr>
        <p:spPr>
          <a:xfrm>
            <a:off x="1554480" y="3794760"/>
            <a:ext cx="1141920" cy="1141920"/>
          </a:xfrm>
          <a:prstGeom prst="ellipse">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9" name="Text 16"/>
          <p:cNvSpPr/>
          <p:nvPr/>
        </p:nvSpPr>
        <p:spPr>
          <a:xfrm>
            <a:off x="155448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Look</a:t>
            </a:r>
            <a:endParaRPr lang="en-US" sz="1400" b="0" u="none" strike="noStrike">
              <a:solidFill>
                <a:srgbClr val="000000"/>
              </a:solidFill>
              <a:effectLst/>
              <a:uFillTx/>
              <a:latin typeface="Arial"/>
            </a:endParaRPr>
          </a:p>
        </p:txBody>
      </p:sp>
      <p:sp>
        <p:nvSpPr>
          <p:cNvPr id="260" name="Shape 17"/>
          <p:cNvSpPr/>
          <p:nvPr/>
        </p:nvSpPr>
        <p:spPr>
          <a:xfrm>
            <a:off x="2788920" y="4361400"/>
            <a:ext cx="1051560" cy="360"/>
          </a:xfrm>
          <a:prstGeom prst="line">
            <a:avLst/>
          </a:prstGeom>
          <a:ln w="1778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1" name="Shape 18"/>
          <p:cNvSpPr/>
          <p:nvPr/>
        </p:nvSpPr>
        <p:spPr>
          <a:xfrm>
            <a:off x="3977640" y="3794760"/>
            <a:ext cx="1141920" cy="1141920"/>
          </a:xfrm>
          <a:prstGeom prst="ellipse">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2" name="Text 19"/>
          <p:cNvSpPr/>
          <p:nvPr/>
        </p:nvSpPr>
        <p:spPr>
          <a:xfrm>
            <a:off x="397764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Learn</a:t>
            </a:r>
            <a:endParaRPr lang="en-US" sz="1400" b="0" u="none" strike="noStrike">
              <a:solidFill>
                <a:srgbClr val="000000"/>
              </a:solidFill>
              <a:effectLst/>
              <a:uFillTx/>
              <a:latin typeface="Arial"/>
            </a:endParaRPr>
          </a:p>
        </p:txBody>
      </p:sp>
      <p:sp>
        <p:nvSpPr>
          <p:cNvPr id="263" name="Shape 20"/>
          <p:cNvSpPr/>
          <p:nvPr/>
        </p:nvSpPr>
        <p:spPr>
          <a:xfrm>
            <a:off x="5212080" y="4361400"/>
            <a:ext cx="1051560" cy="360"/>
          </a:xfrm>
          <a:prstGeom prst="line">
            <a:avLst/>
          </a:prstGeom>
          <a:ln w="1778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4" name="Shape 21"/>
          <p:cNvSpPr/>
          <p:nvPr/>
        </p:nvSpPr>
        <p:spPr>
          <a:xfrm>
            <a:off x="6400800" y="3794760"/>
            <a:ext cx="1141920" cy="114192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5" name="Text 22"/>
          <p:cNvSpPr/>
          <p:nvPr/>
        </p:nvSpPr>
        <p:spPr>
          <a:xfrm>
            <a:off x="640080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Act</a:t>
            </a:r>
            <a:endParaRPr lang="en-US" sz="1400" b="0" u="none" strike="noStrike">
              <a:solidFill>
                <a:srgbClr val="000000"/>
              </a:solidFill>
              <a:effectLst/>
              <a:uFillTx/>
              <a:latin typeface="Arial"/>
            </a:endParaRPr>
          </a:p>
        </p:txBody>
      </p:sp>
      <p:sp>
        <p:nvSpPr>
          <p:cNvPr id="266" name="Shape 23"/>
          <p:cNvSpPr/>
          <p:nvPr/>
        </p:nvSpPr>
        <p:spPr>
          <a:xfrm>
            <a:off x="7635240" y="4361400"/>
            <a:ext cx="1051560" cy="360"/>
          </a:xfrm>
          <a:prstGeom prst="line">
            <a:avLst/>
          </a:prstGeom>
          <a:ln w="1778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7" name="Shape 24"/>
          <p:cNvSpPr/>
          <p:nvPr/>
        </p:nvSpPr>
        <p:spPr>
          <a:xfrm>
            <a:off x="8823960" y="3794760"/>
            <a:ext cx="1141920" cy="1141920"/>
          </a:xfrm>
          <a:prstGeom prst="ellipse">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8" name="Text 25"/>
          <p:cNvSpPr/>
          <p:nvPr/>
        </p:nvSpPr>
        <p:spPr>
          <a:xfrm>
            <a:off x="8823960" y="4133160"/>
            <a:ext cx="1141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Improve</a:t>
            </a:r>
            <a:endParaRPr lang="en-US" sz="1400" b="0" u="none" strike="noStrike">
              <a:solidFill>
                <a:srgbClr val="000000"/>
              </a:solidFill>
              <a:effectLst/>
              <a:uFillTx/>
              <a:latin typeface="Arial"/>
            </a:endParaRPr>
          </a:p>
        </p:txBody>
      </p:sp>
      <p:sp>
        <p:nvSpPr>
          <p:cNvPr id="269" name="Text 26"/>
          <p:cNvSpPr/>
          <p:nvPr/>
        </p:nvSpPr>
        <p:spPr>
          <a:xfrm>
            <a:off x="914400" y="5257800"/>
            <a:ext cx="10331640" cy="41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Information gathering is rational when better percepts improve later decisions.</a:t>
            </a:r>
            <a:endParaRPr lang="en-US" sz="18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70"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1"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272"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2.2.3 Three Cautionary Agents</a:t>
            </a:r>
            <a:endParaRPr lang="en-US" sz="2300" b="0" u="none" strike="noStrike">
              <a:solidFill>
                <a:srgbClr val="000000"/>
              </a:solidFill>
              <a:effectLst/>
              <a:uFillTx/>
              <a:latin typeface="Arial"/>
            </a:endParaRPr>
          </a:p>
        </p:txBody>
      </p:sp>
      <p:sp>
        <p:nvSpPr>
          <p:cNvPr id="273"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2.2.3</a:t>
            </a:r>
            <a:endParaRPr lang="en-US" sz="1200" b="0" u="none" strike="noStrike">
              <a:solidFill>
                <a:srgbClr val="000000"/>
              </a:solidFill>
              <a:effectLst/>
              <a:uFillTx/>
              <a:latin typeface="Arial"/>
            </a:endParaRPr>
          </a:p>
        </p:txBody>
      </p:sp>
      <p:sp>
        <p:nvSpPr>
          <p:cNvPr id="274" name="Shape 5"/>
          <p:cNvSpPr/>
          <p:nvPr/>
        </p:nvSpPr>
        <p:spPr>
          <a:xfrm>
            <a:off x="868680" y="1188720"/>
            <a:ext cx="3291480" cy="35200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5" name="Text 6"/>
          <p:cNvSpPr/>
          <p:nvPr/>
        </p:nvSpPr>
        <p:spPr>
          <a:xfrm>
            <a:off x="1033200" y="1334880"/>
            <a:ext cx="2962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ea typeface="Aptos"/>
              </a:rPr>
              <a:t>The cargo door</a:t>
            </a:r>
            <a:endParaRPr lang="en-US" sz="1800" b="0" u="none" strike="noStrike">
              <a:solidFill>
                <a:srgbClr val="000000"/>
              </a:solidFill>
              <a:effectLst/>
              <a:uFillTx/>
              <a:latin typeface="Arial"/>
            </a:endParaRPr>
          </a:p>
        </p:txBody>
      </p:sp>
      <p:sp>
        <p:nvSpPr>
          <p:cNvPr id="276" name="Text 7"/>
          <p:cNvSpPr/>
          <p:nvPr/>
        </p:nvSpPr>
        <p:spPr>
          <a:xfrm>
            <a:off x="1033200" y="1719000"/>
            <a:ext cx="296244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You see a friend across an empty street and start to cross. At 33,000 feet a cargo door falls off a passing airliner and flattens you. Your obituary will not read “Idiot attempts to cross street.”</a:t>
            </a:r>
            <a:endParaRPr lang="en-US" sz="1300" b="0" u="none" strike="noStrike">
              <a:solidFill>
                <a:srgbClr val="000000"/>
              </a:solidFill>
              <a:effectLst/>
              <a:uFillTx/>
              <a:latin typeface="Arial"/>
            </a:endParaRPr>
          </a:p>
        </p:txBody>
      </p:sp>
      <p:sp>
        <p:nvSpPr>
          <p:cNvPr id="277" name="Shape 8"/>
          <p:cNvSpPr/>
          <p:nvPr/>
        </p:nvSpPr>
        <p:spPr>
          <a:xfrm>
            <a:off x="1033200" y="3429000"/>
            <a:ext cx="2962440" cy="1115280"/>
          </a:xfrm>
          <a:prstGeom prst="roundRect">
            <a:avLst>
              <a:gd name="adj" fmla="val 9000"/>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8" name="Text 9"/>
          <p:cNvSpPr/>
          <p:nvPr/>
        </p:nvSpPr>
        <p:spPr>
          <a:xfrm>
            <a:off x="1161360" y="3502080"/>
            <a:ext cx="2706120" cy="96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200" b="1" u="none" strike="noStrike">
                <a:solidFill>
                  <a:srgbClr val="0B2B5C"/>
                </a:solidFill>
                <a:effectLst/>
                <a:uFillTx/>
                <a:latin typeface="Aptos"/>
                <a:ea typeface="Aptos"/>
              </a:rPr>
              <a:t>Rationality maximizes expected performance; perfection maximizes actual performance.</a:t>
            </a:r>
            <a:endParaRPr lang="en-US" sz="1200" b="0" u="none" strike="noStrike">
              <a:solidFill>
                <a:srgbClr val="000000"/>
              </a:solidFill>
              <a:effectLst/>
              <a:uFillTx/>
              <a:latin typeface="Arial"/>
            </a:endParaRPr>
          </a:p>
        </p:txBody>
      </p:sp>
      <p:sp>
        <p:nvSpPr>
          <p:cNvPr id="279" name="Shape 10"/>
          <p:cNvSpPr/>
          <p:nvPr/>
        </p:nvSpPr>
        <p:spPr>
          <a:xfrm>
            <a:off x="4434840" y="1188720"/>
            <a:ext cx="3291480" cy="35200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0" name="Text 11"/>
          <p:cNvSpPr/>
          <p:nvPr/>
        </p:nvSpPr>
        <p:spPr>
          <a:xfrm>
            <a:off x="4599360" y="1334880"/>
            <a:ext cx="2962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ea typeface="Aptos"/>
              </a:rPr>
              <a:t>The dung beetle</a:t>
            </a:r>
            <a:endParaRPr lang="en-US" sz="1800" b="0" u="none" strike="noStrike">
              <a:solidFill>
                <a:srgbClr val="000000"/>
              </a:solidFill>
              <a:effectLst/>
              <a:uFillTx/>
              <a:latin typeface="Arial"/>
            </a:endParaRPr>
          </a:p>
        </p:txBody>
      </p:sp>
      <p:sp>
        <p:nvSpPr>
          <p:cNvPr id="281" name="Text 12"/>
          <p:cNvSpPr/>
          <p:nvPr/>
        </p:nvSpPr>
        <p:spPr>
          <a:xfrm>
            <a:off x="4599360" y="1719000"/>
            <a:ext cx="296244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It fetches a ball of dung to plug its nest. Take the ball away en route and it pantomimes the plugging anyway, never noticing the ball is gone. Evolution built the assumption in.</a:t>
            </a:r>
            <a:endParaRPr lang="en-US" sz="1300" b="0" u="none" strike="noStrike">
              <a:solidFill>
                <a:srgbClr val="000000"/>
              </a:solidFill>
              <a:effectLst/>
              <a:uFillTx/>
              <a:latin typeface="Arial"/>
            </a:endParaRPr>
          </a:p>
        </p:txBody>
      </p:sp>
      <p:sp>
        <p:nvSpPr>
          <p:cNvPr id="282" name="Shape 13"/>
          <p:cNvSpPr/>
          <p:nvPr/>
        </p:nvSpPr>
        <p:spPr>
          <a:xfrm>
            <a:off x="4599360" y="3429000"/>
            <a:ext cx="2962440" cy="1115280"/>
          </a:xfrm>
          <a:prstGeom prst="roundRect">
            <a:avLst>
              <a:gd name="adj" fmla="val 9000"/>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3" name="Text 14"/>
          <p:cNvSpPr/>
          <p:nvPr/>
        </p:nvSpPr>
        <p:spPr>
          <a:xfrm>
            <a:off x="4727520" y="3502080"/>
            <a:ext cx="2706120" cy="96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200" b="1" u="none" strike="noStrike">
                <a:solidFill>
                  <a:srgbClr val="0B2B5C"/>
                </a:solidFill>
                <a:effectLst/>
                <a:uFillTx/>
                <a:latin typeface="Aptos"/>
                <a:ea typeface="Aptos"/>
              </a:rPr>
              <a:t>No learning, so a violated assumption produces confidently wrong behavior.</a:t>
            </a:r>
            <a:endParaRPr lang="en-US" sz="1200" b="0" u="none" strike="noStrike">
              <a:solidFill>
                <a:srgbClr val="000000"/>
              </a:solidFill>
              <a:effectLst/>
              <a:uFillTx/>
              <a:latin typeface="Arial"/>
            </a:endParaRPr>
          </a:p>
        </p:txBody>
      </p:sp>
      <p:sp>
        <p:nvSpPr>
          <p:cNvPr id="284" name="Shape 15"/>
          <p:cNvSpPr/>
          <p:nvPr/>
        </p:nvSpPr>
        <p:spPr>
          <a:xfrm>
            <a:off x="8001000" y="1188720"/>
            <a:ext cx="3291480" cy="35200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5" name="Text 16"/>
          <p:cNvSpPr/>
          <p:nvPr/>
        </p:nvSpPr>
        <p:spPr>
          <a:xfrm>
            <a:off x="8165520" y="1334880"/>
            <a:ext cx="2962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ea typeface="Aptos"/>
              </a:rPr>
              <a:t>The sphex wasp</a:t>
            </a:r>
            <a:endParaRPr lang="en-US" sz="1800" b="0" u="none" strike="noStrike">
              <a:solidFill>
                <a:srgbClr val="000000"/>
              </a:solidFill>
              <a:effectLst/>
              <a:uFillTx/>
              <a:latin typeface="Arial"/>
            </a:endParaRPr>
          </a:p>
        </p:txBody>
      </p:sp>
      <p:sp>
        <p:nvSpPr>
          <p:cNvPr id="286" name="Text 17"/>
          <p:cNvSpPr/>
          <p:nvPr/>
        </p:nvSpPr>
        <p:spPr>
          <a:xfrm>
            <a:off x="8165520" y="1719000"/>
            <a:ext cx="2962440" cy="15998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It drags a caterpillar to the burrow, steps inside to check, then drags it in. Nudge the caterpillar a few inches during the check and it restarts the drag step — dozens of times in a row.</a:t>
            </a:r>
            <a:endParaRPr lang="en-US" sz="1300" b="0" u="none" strike="noStrike">
              <a:solidFill>
                <a:srgbClr val="000000"/>
              </a:solidFill>
              <a:effectLst/>
              <a:uFillTx/>
              <a:latin typeface="Arial"/>
            </a:endParaRPr>
          </a:p>
        </p:txBody>
      </p:sp>
      <p:sp>
        <p:nvSpPr>
          <p:cNvPr id="287" name="Shape 18"/>
          <p:cNvSpPr/>
          <p:nvPr/>
        </p:nvSpPr>
        <p:spPr>
          <a:xfrm>
            <a:off x="8165520" y="3429000"/>
            <a:ext cx="2962440" cy="1115280"/>
          </a:xfrm>
          <a:prstGeom prst="roundRect">
            <a:avLst>
              <a:gd name="adj" fmla="val 9000"/>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8" name="Text 19"/>
          <p:cNvSpPr/>
          <p:nvPr/>
        </p:nvSpPr>
        <p:spPr>
          <a:xfrm>
            <a:off x="8293680" y="3502080"/>
            <a:ext cx="2706120" cy="96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200" b="1" u="none" strike="noStrike">
                <a:solidFill>
                  <a:srgbClr val="0B2B5C"/>
                </a:solidFill>
                <a:effectLst/>
                <a:uFillTx/>
                <a:latin typeface="Aptos"/>
                <a:ea typeface="Aptos"/>
              </a:rPr>
              <a:t>It cannot notice that its own innate plan is failing, so it cannot change it.</a:t>
            </a:r>
            <a:endParaRPr lang="en-US" sz="1200" b="0" u="none" strike="noStrike">
              <a:solidFill>
                <a:srgbClr val="000000"/>
              </a:solidFill>
              <a:effectLst/>
              <a:uFillTx/>
              <a:latin typeface="Arial"/>
            </a:endParaRPr>
          </a:p>
        </p:txBody>
      </p:sp>
      <p:sp>
        <p:nvSpPr>
          <p:cNvPr id="289" name="Text 20"/>
          <p:cNvSpPr/>
          <p:nvPr/>
        </p:nvSpPr>
        <p:spPr>
          <a:xfrm>
            <a:off x="914400" y="498348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ea typeface="Aptos"/>
              </a:rPr>
              <a:t>Autonomy: learn enough to compensate for partial or wrong prior knowledge</a:t>
            </a:r>
            <a:endParaRPr lang="en-US" sz="2100" b="0" u="none" strike="noStrike">
              <a:solidFill>
                <a:srgbClr val="000000"/>
              </a:solidFill>
              <a:effectLst/>
              <a:uFillTx/>
              <a:latin typeface="Arial"/>
            </a:endParaRPr>
          </a:p>
        </p:txBody>
      </p:sp>
      <p:sp>
        <p:nvSpPr>
          <p:cNvPr id="290" name="Text 21"/>
          <p:cNvSpPr/>
          <p:nvPr/>
        </p:nvSpPr>
        <p:spPr>
          <a:xfrm>
            <a:off x="1005840" y="5486400"/>
            <a:ext cx="101494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Complete autonomy is rarely required from the start — an agent with no experience would have to act at random. Give it initial knowledge and the ability to learn, and after enough experience its behavior becomes effectively independent of what it was told at design time.</a:t>
            </a:r>
            <a:endParaRPr lang="en-US" sz="1400" b="0" u="none" strike="noStrike">
              <a:solidFill>
                <a:srgbClr val="000000"/>
              </a:solidFill>
              <a:effectLst/>
              <a:uFillTx/>
              <a:latin typeface="Arial"/>
            </a:endParaRPr>
          </a:p>
        </p:txBody>
      </p:sp>
      <p:sp>
        <p:nvSpPr>
          <p:cNvPr id="291" name="Text 22"/>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292" name="Text 23"/>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13</a:t>
            </a:r>
            <a:endParaRPr lang="en-US" sz="8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9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29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2.3.1 PEAS: Specify the Task Before Designing the Agent</a:t>
            </a:r>
            <a:endParaRPr lang="en-US" sz="2300" b="0" u="none" strike="noStrike">
              <a:solidFill>
                <a:srgbClr val="000000"/>
              </a:solidFill>
              <a:effectLst/>
              <a:uFillTx/>
              <a:latin typeface="Arial"/>
            </a:endParaRPr>
          </a:p>
        </p:txBody>
      </p:sp>
      <p:sp>
        <p:nvSpPr>
          <p:cNvPr id="29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2.3.1</a:t>
            </a:r>
            <a:endParaRPr lang="en-US" sz="1200" b="0" u="none" strike="noStrike">
              <a:solidFill>
                <a:srgbClr val="000000"/>
              </a:solidFill>
              <a:effectLst/>
              <a:uFillTx/>
              <a:latin typeface="Arial"/>
            </a:endParaRPr>
          </a:p>
        </p:txBody>
      </p:sp>
      <p:sp>
        <p:nvSpPr>
          <p:cNvPr id="29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29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14</a:t>
            </a:r>
            <a:endParaRPr lang="en-US" sz="1800" b="0" u="none" strike="noStrike">
              <a:solidFill>
                <a:srgbClr val="000000"/>
              </a:solidFill>
              <a:effectLst/>
              <a:uFillTx/>
              <a:latin typeface="Arial"/>
            </a:endParaRPr>
          </a:p>
        </p:txBody>
      </p:sp>
      <p:sp>
        <p:nvSpPr>
          <p:cNvPr id="299" name="Text 6"/>
          <p:cNvSpPr/>
          <p:nvPr/>
        </p:nvSpPr>
        <p:spPr>
          <a:xfrm>
            <a:off x="777240" y="1078920"/>
            <a:ext cx="10697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rPr>
              <a:t>PEAS = Performance measure, Environment, Actuators, Sensors</a:t>
            </a:r>
            <a:endParaRPr lang="en-US" sz="2100" b="0" u="none" strike="noStrike">
              <a:solidFill>
                <a:srgbClr val="000000"/>
              </a:solidFill>
              <a:effectLst/>
              <a:uFillTx/>
              <a:latin typeface="Arial"/>
            </a:endParaRPr>
          </a:p>
        </p:txBody>
      </p:sp>
      <p:sp>
        <p:nvSpPr>
          <p:cNvPr id="300" name="Shape 7"/>
          <p:cNvSpPr/>
          <p:nvPr/>
        </p:nvSpPr>
        <p:spPr>
          <a:xfrm>
            <a:off x="704160" y="1828800"/>
            <a:ext cx="684720" cy="684720"/>
          </a:xfrm>
          <a:prstGeom prst="ellipse">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1" name="Text 8"/>
          <p:cNvSpPr/>
          <p:nvPr/>
        </p:nvSpPr>
        <p:spPr>
          <a:xfrm>
            <a:off x="70416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P</a:t>
            </a:r>
            <a:endParaRPr lang="en-US" sz="1800" b="0" u="none" strike="noStrike">
              <a:solidFill>
                <a:srgbClr val="000000"/>
              </a:solidFill>
              <a:effectLst/>
              <a:uFillTx/>
              <a:latin typeface="Arial"/>
            </a:endParaRPr>
          </a:p>
        </p:txBody>
      </p:sp>
      <p:sp>
        <p:nvSpPr>
          <p:cNvPr id="302" name="Shape 9"/>
          <p:cNvSpPr/>
          <p:nvPr/>
        </p:nvSpPr>
        <p:spPr>
          <a:xfrm>
            <a:off x="65844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3" name="Text 10"/>
          <p:cNvSpPr/>
          <p:nvPr/>
        </p:nvSpPr>
        <p:spPr>
          <a:xfrm>
            <a:off x="82296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a:t>
            </a:r>
            <a:endParaRPr lang="en-US" sz="1600" b="0" u="none" strike="noStrike">
              <a:solidFill>
                <a:srgbClr val="000000"/>
              </a:solidFill>
              <a:effectLst/>
              <a:uFillTx/>
              <a:latin typeface="Arial"/>
            </a:endParaRPr>
          </a:p>
        </p:txBody>
      </p:sp>
      <p:sp>
        <p:nvSpPr>
          <p:cNvPr id="304" name="Text 11"/>
          <p:cNvSpPr/>
          <p:nvPr/>
        </p:nvSpPr>
        <p:spPr>
          <a:xfrm>
            <a:off x="82296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Safe, fast, legal, comfortable trip; minimize time/cost; maximize profit</a:t>
            </a:r>
            <a:endParaRPr lang="en-US" sz="1250" b="0" u="none" strike="noStrike">
              <a:solidFill>
                <a:srgbClr val="000000"/>
              </a:solidFill>
              <a:effectLst/>
              <a:uFillTx/>
              <a:latin typeface="Arial"/>
            </a:endParaRPr>
          </a:p>
        </p:txBody>
      </p:sp>
      <p:sp>
        <p:nvSpPr>
          <p:cNvPr id="305" name="Shape 12"/>
          <p:cNvSpPr/>
          <p:nvPr/>
        </p:nvSpPr>
        <p:spPr>
          <a:xfrm>
            <a:off x="3584520" y="1828800"/>
            <a:ext cx="684720" cy="684720"/>
          </a:xfrm>
          <a:prstGeom prst="ellipse">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6" name="Text 13"/>
          <p:cNvSpPr/>
          <p:nvPr/>
        </p:nvSpPr>
        <p:spPr>
          <a:xfrm>
            <a:off x="358452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E</a:t>
            </a:r>
            <a:endParaRPr lang="en-US" sz="1800" b="0" u="none" strike="noStrike">
              <a:solidFill>
                <a:srgbClr val="000000"/>
              </a:solidFill>
              <a:effectLst/>
              <a:uFillTx/>
              <a:latin typeface="Arial"/>
            </a:endParaRPr>
          </a:p>
        </p:txBody>
      </p:sp>
      <p:sp>
        <p:nvSpPr>
          <p:cNvPr id="307" name="Shape 14"/>
          <p:cNvSpPr/>
          <p:nvPr/>
        </p:nvSpPr>
        <p:spPr>
          <a:xfrm>
            <a:off x="353880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8" name="Text 15"/>
          <p:cNvSpPr/>
          <p:nvPr/>
        </p:nvSpPr>
        <p:spPr>
          <a:xfrm>
            <a:off x="370332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Environment</a:t>
            </a:r>
            <a:endParaRPr lang="en-US" sz="1600" b="0" u="none" strike="noStrike">
              <a:solidFill>
                <a:srgbClr val="000000"/>
              </a:solidFill>
              <a:effectLst/>
              <a:uFillTx/>
              <a:latin typeface="Arial"/>
            </a:endParaRPr>
          </a:p>
        </p:txBody>
      </p:sp>
      <p:sp>
        <p:nvSpPr>
          <p:cNvPr id="309" name="Text 16"/>
          <p:cNvSpPr/>
          <p:nvPr/>
        </p:nvSpPr>
        <p:spPr>
          <a:xfrm>
            <a:off x="370332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Roads, traffic, pedestrians, weather, passengers, police, construction</a:t>
            </a:r>
            <a:endParaRPr lang="en-US" sz="1250" b="0" u="none" strike="noStrike">
              <a:solidFill>
                <a:srgbClr val="000000"/>
              </a:solidFill>
              <a:effectLst/>
              <a:uFillTx/>
              <a:latin typeface="Arial"/>
            </a:endParaRPr>
          </a:p>
        </p:txBody>
      </p:sp>
      <p:sp>
        <p:nvSpPr>
          <p:cNvPr id="310" name="Shape 17"/>
          <p:cNvSpPr/>
          <p:nvPr/>
        </p:nvSpPr>
        <p:spPr>
          <a:xfrm>
            <a:off x="6464880" y="1828800"/>
            <a:ext cx="684720" cy="684720"/>
          </a:xfrm>
          <a:prstGeom prst="ellipse">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1" name="Text 18"/>
          <p:cNvSpPr/>
          <p:nvPr/>
        </p:nvSpPr>
        <p:spPr>
          <a:xfrm>
            <a:off x="646488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A</a:t>
            </a:r>
            <a:endParaRPr lang="en-US" sz="1800" b="0" u="none" strike="noStrike">
              <a:solidFill>
                <a:srgbClr val="000000"/>
              </a:solidFill>
              <a:effectLst/>
              <a:uFillTx/>
              <a:latin typeface="Arial"/>
            </a:endParaRPr>
          </a:p>
        </p:txBody>
      </p:sp>
      <p:sp>
        <p:nvSpPr>
          <p:cNvPr id="312" name="Shape 19"/>
          <p:cNvSpPr/>
          <p:nvPr/>
        </p:nvSpPr>
        <p:spPr>
          <a:xfrm>
            <a:off x="641916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3" name="Text 20"/>
          <p:cNvSpPr/>
          <p:nvPr/>
        </p:nvSpPr>
        <p:spPr>
          <a:xfrm>
            <a:off x="658368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Actuators</a:t>
            </a:r>
            <a:endParaRPr lang="en-US" sz="1600" b="0" u="none" strike="noStrike">
              <a:solidFill>
                <a:srgbClr val="000000"/>
              </a:solidFill>
              <a:effectLst/>
              <a:uFillTx/>
              <a:latin typeface="Arial"/>
            </a:endParaRPr>
          </a:p>
        </p:txBody>
      </p:sp>
      <p:sp>
        <p:nvSpPr>
          <p:cNvPr id="314" name="Text 21"/>
          <p:cNvSpPr/>
          <p:nvPr/>
        </p:nvSpPr>
        <p:spPr>
          <a:xfrm>
            <a:off x="658368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Steering, accelerator, brake, signals, horn, display, speech</a:t>
            </a:r>
            <a:endParaRPr lang="en-US" sz="1250" b="0" u="none" strike="noStrike">
              <a:solidFill>
                <a:srgbClr val="000000"/>
              </a:solidFill>
              <a:effectLst/>
              <a:uFillTx/>
              <a:latin typeface="Arial"/>
            </a:endParaRPr>
          </a:p>
        </p:txBody>
      </p:sp>
      <p:sp>
        <p:nvSpPr>
          <p:cNvPr id="315" name="Shape 22"/>
          <p:cNvSpPr/>
          <p:nvPr/>
        </p:nvSpPr>
        <p:spPr>
          <a:xfrm>
            <a:off x="9345240" y="1828800"/>
            <a:ext cx="684720" cy="684720"/>
          </a:xfrm>
          <a:prstGeom prst="ellipse">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6" name="Text 23"/>
          <p:cNvSpPr/>
          <p:nvPr/>
        </p:nvSpPr>
        <p:spPr>
          <a:xfrm>
            <a:off x="9345240" y="2002680"/>
            <a:ext cx="684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ptos"/>
              </a:rPr>
              <a:t>S</a:t>
            </a:r>
            <a:endParaRPr lang="en-US" sz="1800" b="0" u="none" strike="noStrike">
              <a:solidFill>
                <a:srgbClr val="000000"/>
              </a:solidFill>
              <a:effectLst/>
              <a:uFillTx/>
              <a:latin typeface="Arial"/>
            </a:endParaRPr>
          </a:p>
        </p:txBody>
      </p:sp>
      <p:sp>
        <p:nvSpPr>
          <p:cNvPr id="317" name="Shape 24"/>
          <p:cNvSpPr/>
          <p:nvPr/>
        </p:nvSpPr>
        <p:spPr>
          <a:xfrm>
            <a:off x="9299520" y="2697480"/>
            <a:ext cx="2513520" cy="1461960"/>
          </a:xfrm>
          <a:prstGeom prst="roundRect">
            <a:avLst>
              <a:gd name="adj" fmla="val 375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8" name="Text 25"/>
          <p:cNvSpPr/>
          <p:nvPr/>
        </p:nvSpPr>
        <p:spPr>
          <a:xfrm>
            <a:off x="9464040" y="2843640"/>
            <a:ext cx="21844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Sensors</a:t>
            </a:r>
            <a:endParaRPr lang="en-US" sz="1600" b="0" u="none" strike="noStrike">
              <a:solidFill>
                <a:srgbClr val="000000"/>
              </a:solidFill>
              <a:effectLst/>
              <a:uFillTx/>
              <a:latin typeface="Arial"/>
            </a:endParaRPr>
          </a:p>
        </p:txBody>
      </p:sp>
      <p:sp>
        <p:nvSpPr>
          <p:cNvPr id="319" name="Text 26"/>
          <p:cNvSpPr/>
          <p:nvPr/>
        </p:nvSpPr>
        <p:spPr>
          <a:xfrm>
            <a:off x="9464040" y="3173040"/>
            <a:ext cx="2184480" cy="867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Cameras, lidar, radar, GPS, speedometer, engine sensors, voice/touch input</a:t>
            </a:r>
            <a:endParaRPr lang="en-US" sz="1250" b="0" u="none" strike="noStrike">
              <a:solidFill>
                <a:srgbClr val="000000"/>
              </a:solidFill>
              <a:effectLst/>
              <a:uFillTx/>
              <a:latin typeface="Arial"/>
            </a:endParaRPr>
          </a:p>
        </p:txBody>
      </p:sp>
      <p:pic>
        <p:nvPicPr>
          <p:cNvPr id="320" name="Image 0" descr="/mnt/data/ch2_docx_unzipped/word/media/image3.png"/>
          <p:cNvPicPr/>
          <p:nvPr/>
        </p:nvPicPr>
        <p:blipFill>
          <a:blip r:embed="rId3"/>
          <a:stretch/>
        </p:blipFill>
        <p:spPr>
          <a:xfrm>
            <a:off x="3217679" y="4207680"/>
            <a:ext cx="5020885" cy="1845720"/>
          </a:xfrm>
          <a:prstGeom prst="rect">
            <a:avLst/>
          </a:prstGeom>
          <a:noFill/>
          <a:ln w="0">
            <a:noFill/>
          </a:ln>
        </p:spPr>
      </p:pic>
      <p:sp>
        <p:nvSpPr>
          <p:cNvPr id="321" name="Text 27"/>
          <p:cNvSpPr/>
          <p:nvPr/>
        </p:nvSpPr>
        <p:spPr>
          <a:xfrm>
            <a:off x="703620" y="6058440"/>
            <a:ext cx="10697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dirty="0">
                <a:solidFill>
                  <a:srgbClr val="0B2B5C"/>
                </a:solidFill>
                <a:effectLst/>
                <a:uFillTx/>
                <a:latin typeface="Aptos"/>
              </a:rPr>
              <a:t>Design rule: specify the task environment as fully as possible first.</a:t>
            </a:r>
            <a:endParaRPr lang="en-US" sz="1800" b="0" u="none" strike="noStrike" dirty="0">
              <a:solidFill>
                <a:srgbClr val="000000"/>
              </a:solidFill>
              <a:effectLst/>
              <a:uFillTx/>
              <a:latin typeface="Arial"/>
            </a:endParaRPr>
          </a:p>
        </p:txBody>
      </p:sp>
      <p:sp>
        <p:nvSpPr>
          <p:cNvPr id="322" name="Text 2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2.4</a:t>
            </a:r>
            <a:endParaRPr lang="en-US" sz="75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2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32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2.3.1 PEAS Examples: Agent Types and Task Environments</a:t>
            </a:r>
            <a:endParaRPr lang="en-US" sz="2300" b="0" u="none" strike="noStrike">
              <a:solidFill>
                <a:srgbClr val="000000"/>
              </a:solidFill>
              <a:effectLst/>
              <a:uFillTx/>
              <a:latin typeface="Arial"/>
            </a:endParaRPr>
          </a:p>
        </p:txBody>
      </p:sp>
      <p:sp>
        <p:nvSpPr>
          <p:cNvPr id="32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2.3.1</a:t>
            </a:r>
            <a:endParaRPr lang="en-US" sz="1200" b="0" u="none" strike="noStrike">
              <a:solidFill>
                <a:srgbClr val="000000"/>
              </a:solidFill>
              <a:effectLst/>
              <a:uFillTx/>
              <a:latin typeface="Arial"/>
            </a:endParaRPr>
          </a:p>
        </p:txBody>
      </p:sp>
      <p:sp>
        <p:nvSpPr>
          <p:cNvPr id="32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2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15</a:t>
            </a:r>
            <a:endParaRPr lang="en-US" sz="1800" b="0" u="none" strike="noStrike">
              <a:solidFill>
                <a:srgbClr val="000000"/>
              </a:solidFill>
              <a:effectLst/>
              <a:uFillTx/>
              <a:latin typeface="Arial"/>
            </a:endParaRPr>
          </a:p>
        </p:txBody>
      </p:sp>
      <p:sp>
        <p:nvSpPr>
          <p:cNvPr id="329" name="Text 6"/>
          <p:cNvSpPr/>
          <p:nvPr/>
        </p:nvSpPr>
        <p:spPr>
          <a:xfrm>
            <a:off x="685800" y="1060560"/>
            <a:ext cx="1088028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50" b="1" u="none" strike="noStrike">
                <a:solidFill>
                  <a:srgbClr val="0B2B5C"/>
                </a:solidFill>
                <a:effectLst/>
                <a:uFillTx/>
                <a:latin typeface="Aptos"/>
              </a:rPr>
              <a:t>PEAS forces the designer to specify success, the world, available actions, and perceptual inputs before choosing an algorithm.</a:t>
            </a:r>
            <a:endParaRPr lang="en-US" sz="1750" b="0" u="none" strike="noStrike">
              <a:solidFill>
                <a:srgbClr val="000000"/>
              </a:solidFill>
              <a:effectLst/>
              <a:uFillTx/>
              <a:latin typeface="Arial"/>
            </a:endParaRPr>
          </a:p>
        </p:txBody>
      </p:sp>
      <p:pic>
        <p:nvPicPr>
          <p:cNvPr id="330" name="Image 0" descr="/mnt/data/ch2_docx_unzipped/word/media/image4.png"/>
          <p:cNvPicPr/>
          <p:nvPr/>
        </p:nvPicPr>
        <p:blipFill>
          <a:blip r:embed="rId3"/>
          <a:stretch/>
        </p:blipFill>
        <p:spPr>
          <a:xfrm>
            <a:off x="3657600" y="1691640"/>
            <a:ext cx="4692600" cy="4056120"/>
          </a:xfrm>
          <a:prstGeom prst="rect">
            <a:avLst/>
          </a:prstGeom>
          <a:noFill/>
          <a:ln w="0">
            <a:noFill/>
          </a:ln>
        </p:spPr>
      </p:pic>
      <p:sp>
        <p:nvSpPr>
          <p:cNvPr id="331" name="Text 7"/>
          <p:cNvSpPr/>
          <p:nvPr/>
        </p:nvSpPr>
        <p:spPr>
          <a:xfrm>
            <a:off x="822960" y="5806440"/>
            <a:ext cx="10560240" cy="30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Design checkpoint: if PEAS is vague, the agent design will be vague.</a:t>
            </a:r>
            <a:endParaRPr lang="en-US" sz="1800" b="0" u="none" strike="noStrike">
              <a:solidFill>
                <a:srgbClr val="000000"/>
              </a:solidFill>
              <a:effectLst/>
              <a:uFillTx/>
              <a:latin typeface="Arial"/>
            </a:endParaRPr>
          </a:p>
        </p:txBody>
      </p:sp>
      <p:sp>
        <p:nvSpPr>
          <p:cNvPr id="332" name="Text 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2.5</a:t>
            </a:r>
            <a:endParaRPr lang="en-US" sz="75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3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33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2.3.2 Task Environment Properties</a:t>
            </a:r>
            <a:endParaRPr lang="en-US" sz="2300" b="0" u="none" strike="noStrike">
              <a:solidFill>
                <a:srgbClr val="000000"/>
              </a:solidFill>
              <a:effectLst/>
              <a:uFillTx/>
              <a:latin typeface="Arial"/>
            </a:endParaRPr>
          </a:p>
        </p:txBody>
      </p:sp>
      <p:sp>
        <p:nvSpPr>
          <p:cNvPr id="33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2.3.2</a:t>
            </a:r>
            <a:endParaRPr lang="en-US" sz="1200" b="0" u="none" strike="noStrike">
              <a:solidFill>
                <a:srgbClr val="000000"/>
              </a:solidFill>
              <a:effectLst/>
              <a:uFillTx/>
              <a:latin typeface="Arial"/>
            </a:endParaRPr>
          </a:p>
        </p:txBody>
      </p:sp>
      <p:sp>
        <p:nvSpPr>
          <p:cNvPr id="33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33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16</a:t>
            </a:r>
            <a:endParaRPr lang="en-US" sz="1800" b="0" u="none" strike="noStrike">
              <a:solidFill>
                <a:srgbClr val="000000"/>
              </a:solidFill>
              <a:effectLst/>
              <a:uFillTx/>
              <a:latin typeface="Arial"/>
            </a:endParaRPr>
          </a:p>
        </p:txBody>
      </p:sp>
      <p:sp>
        <p:nvSpPr>
          <p:cNvPr id="339" name="Shape 6"/>
          <p:cNvSpPr/>
          <p:nvPr/>
        </p:nvSpPr>
        <p:spPr>
          <a:xfrm>
            <a:off x="50292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0" name="Text 7"/>
          <p:cNvSpPr/>
          <p:nvPr/>
        </p:nvSpPr>
        <p:spPr>
          <a:xfrm>
            <a:off x="66744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Observable</a:t>
            </a:r>
            <a:endParaRPr lang="en-US" sz="1500" b="0" u="none" strike="noStrike">
              <a:solidFill>
                <a:srgbClr val="000000"/>
              </a:solidFill>
              <a:effectLst/>
              <a:uFillTx/>
              <a:latin typeface="Arial"/>
            </a:endParaRPr>
          </a:p>
        </p:txBody>
      </p:sp>
      <p:sp>
        <p:nvSpPr>
          <p:cNvPr id="341" name="Text 8"/>
          <p:cNvSpPr/>
          <p:nvPr/>
        </p:nvSpPr>
        <p:spPr>
          <a:xfrm>
            <a:off x="66744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Fully  &lt;-&gt;  Partially</a:t>
            </a:r>
            <a:endParaRPr lang="en-US" sz="1150" b="0" u="none" strike="noStrike">
              <a:solidFill>
                <a:srgbClr val="000000"/>
              </a:solidFill>
              <a:effectLst/>
              <a:uFillTx/>
              <a:latin typeface="Arial"/>
            </a:endParaRPr>
          </a:p>
        </p:txBody>
      </p:sp>
      <p:sp>
        <p:nvSpPr>
          <p:cNvPr id="342" name="Shape 9"/>
          <p:cNvSpPr/>
          <p:nvPr/>
        </p:nvSpPr>
        <p:spPr>
          <a:xfrm>
            <a:off x="338328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3" name="Text 10"/>
          <p:cNvSpPr/>
          <p:nvPr/>
        </p:nvSpPr>
        <p:spPr>
          <a:xfrm>
            <a:off x="354780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Agents</a:t>
            </a:r>
            <a:endParaRPr lang="en-US" sz="1500" b="0" u="none" strike="noStrike">
              <a:solidFill>
                <a:srgbClr val="000000"/>
              </a:solidFill>
              <a:effectLst/>
              <a:uFillTx/>
              <a:latin typeface="Arial"/>
            </a:endParaRPr>
          </a:p>
        </p:txBody>
      </p:sp>
      <p:sp>
        <p:nvSpPr>
          <p:cNvPr id="344" name="Text 11"/>
          <p:cNvSpPr/>
          <p:nvPr/>
        </p:nvSpPr>
        <p:spPr>
          <a:xfrm>
            <a:off x="354780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Single  &lt;-&gt;  Multi</a:t>
            </a:r>
            <a:endParaRPr lang="en-US" sz="1150" b="0" u="none" strike="noStrike">
              <a:solidFill>
                <a:srgbClr val="000000"/>
              </a:solidFill>
              <a:effectLst/>
              <a:uFillTx/>
              <a:latin typeface="Arial"/>
            </a:endParaRPr>
          </a:p>
        </p:txBody>
      </p:sp>
      <p:sp>
        <p:nvSpPr>
          <p:cNvPr id="345" name="Shape 12"/>
          <p:cNvSpPr/>
          <p:nvPr/>
        </p:nvSpPr>
        <p:spPr>
          <a:xfrm>
            <a:off x="626364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6" name="Text 13"/>
          <p:cNvSpPr/>
          <p:nvPr/>
        </p:nvSpPr>
        <p:spPr>
          <a:xfrm>
            <a:off x="642816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F5A21B"/>
                </a:solidFill>
                <a:effectLst/>
                <a:uFillTx/>
                <a:latin typeface="Aptos"/>
              </a:rPr>
              <a:t>Transition</a:t>
            </a:r>
            <a:endParaRPr lang="en-US" sz="1500" b="0" u="none" strike="noStrike">
              <a:solidFill>
                <a:srgbClr val="000000"/>
              </a:solidFill>
              <a:effectLst/>
              <a:uFillTx/>
              <a:latin typeface="Arial"/>
            </a:endParaRPr>
          </a:p>
        </p:txBody>
      </p:sp>
      <p:sp>
        <p:nvSpPr>
          <p:cNvPr id="347" name="Text 14"/>
          <p:cNvSpPr/>
          <p:nvPr/>
        </p:nvSpPr>
        <p:spPr>
          <a:xfrm>
            <a:off x="642816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Deterministic  &lt;-&gt;  Nondeterministic / stochastic</a:t>
            </a:r>
            <a:endParaRPr lang="en-US" sz="1150" b="0" u="none" strike="noStrike">
              <a:solidFill>
                <a:srgbClr val="000000"/>
              </a:solidFill>
              <a:effectLst/>
              <a:uFillTx/>
              <a:latin typeface="Arial"/>
            </a:endParaRPr>
          </a:p>
        </p:txBody>
      </p:sp>
      <p:sp>
        <p:nvSpPr>
          <p:cNvPr id="348" name="Shape 15"/>
          <p:cNvSpPr/>
          <p:nvPr/>
        </p:nvSpPr>
        <p:spPr>
          <a:xfrm>
            <a:off x="9144000" y="118872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9" name="Text 16"/>
          <p:cNvSpPr/>
          <p:nvPr/>
        </p:nvSpPr>
        <p:spPr>
          <a:xfrm>
            <a:off x="9308520" y="133488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Episodes</a:t>
            </a:r>
            <a:endParaRPr lang="en-US" sz="1500" b="0" u="none" strike="noStrike">
              <a:solidFill>
                <a:srgbClr val="000000"/>
              </a:solidFill>
              <a:effectLst/>
              <a:uFillTx/>
              <a:latin typeface="Arial"/>
            </a:endParaRPr>
          </a:p>
        </p:txBody>
      </p:sp>
      <p:sp>
        <p:nvSpPr>
          <p:cNvPr id="350" name="Text 17"/>
          <p:cNvSpPr/>
          <p:nvPr/>
        </p:nvSpPr>
        <p:spPr>
          <a:xfrm>
            <a:off x="9308520" y="166428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Episodic  &lt;-&gt;  Sequential</a:t>
            </a:r>
            <a:endParaRPr lang="en-US" sz="1150" b="0" u="none" strike="noStrike">
              <a:solidFill>
                <a:srgbClr val="000000"/>
              </a:solidFill>
              <a:effectLst/>
              <a:uFillTx/>
              <a:latin typeface="Arial"/>
            </a:endParaRPr>
          </a:p>
        </p:txBody>
      </p:sp>
      <p:sp>
        <p:nvSpPr>
          <p:cNvPr id="351" name="Shape 18"/>
          <p:cNvSpPr/>
          <p:nvPr/>
        </p:nvSpPr>
        <p:spPr>
          <a:xfrm>
            <a:off x="502920" y="269748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2" name="Text 19"/>
          <p:cNvSpPr/>
          <p:nvPr/>
        </p:nvSpPr>
        <p:spPr>
          <a:xfrm>
            <a:off x="667440" y="284364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A32020"/>
                </a:solidFill>
                <a:effectLst/>
                <a:uFillTx/>
                <a:latin typeface="Aptos"/>
              </a:rPr>
              <a:t>Time</a:t>
            </a:r>
            <a:endParaRPr lang="en-US" sz="1500" b="0" u="none" strike="noStrike">
              <a:solidFill>
                <a:srgbClr val="000000"/>
              </a:solidFill>
              <a:effectLst/>
              <a:uFillTx/>
              <a:latin typeface="Arial"/>
            </a:endParaRPr>
          </a:p>
        </p:txBody>
      </p:sp>
      <p:sp>
        <p:nvSpPr>
          <p:cNvPr id="353" name="Text 20"/>
          <p:cNvSpPr/>
          <p:nvPr/>
        </p:nvSpPr>
        <p:spPr>
          <a:xfrm>
            <a:off x="667440" y="317304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Static  &lt;-&gt;  Dynamic / semidynamic</a:t>
            </a:r>
            <a:endParaRPr lang="en-US" sz="1150" b="0" u="none" strike="noStrike">
              <a:solidFill>
                <a:srgbClr val="000000"/>
              </a:solidFill>
              <a:effectLst/>
              <a:uFillTx/>
              <a:latin typeface="Arial"/>
            </a:endParaRPr>
          </a:p>
        </p:txBody>
      </p:sp>
      <p:sp>
        <p:nvSpPr>
          <p:cNvPr id="354" name="Shape 21"/>
          <p:cNvSpPr/>
          <p:nvPr/>
        </p:nvSpPr>
        <p:spPr>
          <a:xfrm>
            <a:off x="3383280" y="269748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5" name="Text 22"/>
          <p:cNvSpPr/>
          <p:nvPr/>
        </p:nvSpPr>
        <p:spPr>
          <a:xfrm>
            <a:off x="3547800" y="284364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State/action</a:t>
            </a:r>
            <a:endParaRPr lang="en-US" sz="1500" b="0" u="none" strike="noStrike">
              <a:solidFill>
                <a:srgbClr val="000000"/>
              </a:solidFill>
              <a:effectLst/>
              <a:uFillTx/>
              <a:latin typeface="Arial"/>
            </a:endParaRPr>
          </a:p>
        </p:txBody>
      </p:sp>
      <p:sp>
        <p:nvSpPr>
          <p:cNvPr id="356" name="Text 23"/>
          <p:cNvSpPr/>
          <p:nvPr/>
        </p:nvSpPr>
        <p:spPr>
          <a:xfrm>
            <a:off x="3547800" y="317304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Discrete  &lt;-&gt;  Continuous</a:t>
            </a:r>
            <a:endParaRPr lang="en-US" sz="1150" b="0" u="none" strike="noStrike">
              <a:solidFill>
                <a:srgbClr val="000000"/>
              </a:solidFill>
              <a:effectLst/>
              <a:uFillTx/>
              <a:latin typeface="Arial"/>
            </a:endParaRPr>
          </a:p>
        </p:txBody>
      </p:sp>
      <p:sp>
        <p:nvSpPr>
          <p:cNvPr id="357" name="Shape 24"/>
          <p:cNvSpPr/>
          <p:nvPr/>
        </p:nvSpPr>
        <p:spPr>
          <a:xfrm>
            <a:off x="6263640" y="2697480"/>
            <a:ext cx="2559240" cy="1023120"/>
          </a:xfrm>
          <a:prstGeom prst="roundRect">
            <a:avLst>
              <a:gd name="adj" fmla="val 5357"/>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8" name="Text 25"/>
          <p:cNvSpPr/>
          <p:nvPr/>
        </p:nvSpPr>
        <p:spPr>
          <a:xfrm>
            <a:off x="6428160" y="2843640"/>
            <a:ext cx="22302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B2B5C"/>
                </a:solidFill>
                <a:effectLst/>
                <a:uFillTx/>
                <a:latin typeface="Aptos"/>
              </a:rPr>
              <a:t>Knowledge</a:t>
            </a:r>
            <a:endParaRPr lang="en-US" sz="1500" b="0" u="none" strike="noStrike">
              <a:solidFill>
                <a:srgbClr val="000000"/>
              </a:solidFill>
              <a:effectLst/>
              <a:uFillTx/>
              <a:latin typeface="Arial"/>
            </a:endParaRPr>
          </a:p>
        </p:txBody>
      </p:sp>
      <p:sp>
        <p:nvSpPr>
          <p:cNvPr id="359" name="Text 26"/>
          <p:cNvSpPr/>
          <p:nvPr/>
        </p:nvSpPr>
        <p:spPr>
          <a:xfrm>
            <a:off x="6428160" y="3173040"/>
            <a:ext cx="2230200" cy="428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150" b="0" u="none" strike="noStrike">
                <a:solidFill>
                  <a:srgbClr val="0B1F3A"/>
                </a:solidFill>
                <a:effectLst/>
                <a:uFillTx/>
                <a:latin typeface="Aptos"/>
              </a:rPr>
              <a:t>Known  &lt;-&gt;  Unknown</a:t>
            </a:r>
            <a:endParaRPr lang="en-US" sz="1150" b="0" u="none" strike="noStrike">
              <a:solidFill>
                <a:srgbClr val="000000"/>
              </a:solidFill>
              <a:effectLst/>
              <a:uFillTx/>
              <a:latin typeface="Arial"/>
            </a:endParaRPr>
          </a:p>
        </p:txBody>
      </p:sp>
      <p:pic>
        <p:nvPicPr>
          <p:cNvPr id="360" name="Image 0" descr="/mnt/data/ch2_docx_unzipped/word/media/image5.png"/>
          <p:cNvPicPr/>
          <p:nvPr/>
        </p:nvPicPr>
        <p:blipFill>
          <a:blip r:embed="rId3"/>
          <a:stretch/>
        </p:blipFill>
        <p:spPr>
          <a:xfrm>
            <a:off x="3657599" y="3886200"/>
            <a:ext cx="4554071" cy="2477880"/>
          </a:xfrm>
          <a:prstGeom prst="rect">
            <a:avLst/>
          </a:prstGeom>
          <a:noFill/>
          <a:ln w="0">
            <a:noFill/>
          </a:ln>
        </p:spPr>
      </p:pic>
      <p:sp>
        <p:nvSpPr>
          <p:cNvPr id="361" name="Text 27"/>
          <p:cNvSpPr/>
          <p:nvPr/>
        </p:nvSpPr>
        <p:spPr>
          <a:xfrm>
            <a:off x="502920" y="6227460"/>
            <a:ext cx="108802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50" b="1" u="none" strike="noStrike" dirty="0">
                <a:solidFill>
                  <a:srgbClr val="0B2B5C"/>
                </a:solidFill>
                <a:effectLst/>
                <a:uFillTx/>
                <a:latin typeface="Aptos"/>
              </a:rPr>
              <a:t>Hardest case: partially observable, multiagent, nondeterministic, sequential, dynamic, continuous, unknown.</a:t>
            </a:r>
            <a:endParaRPr lang="en-US" sz="1550" b="0" u="none" strike="noStrike" dirty="0">
              <a:solidFill>
                <a:srgbClr val="000000"/>
              </a:solidFill>
              <a:effectLst/>
              <a:uFillTx/>
              <a:latin typeface="Arial"/>
            </a:endParaRPr>
          </a:p>
        </p:txBody>
      </p:sp>
      <p:sp>
        <p:nvSpPr>
          <p:cNvPr id="362" name="Text 2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2.6</a:t>
            </a:r>
            <a:endParaRPr lang="en-US" sz="75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63"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4"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365"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2.3.2 Reading the Fine Print on Three Dimensions</a:t>
            </a:r>
            <a:endParaRPr lang="en-US" sz="2300" b="0" u="none" strike="noStrike">
              <a:solidFill>
                <a:srgbClr val="000000"/>
              </a:solidFill>
              <a:effectLst/>
              <a:uFillTx/>
              <a:latin typeface="Arial"/>
            </a:endParaRPr>
          </a:p>
        </p:txBody>
      </p:sp>
      <p:sp>
        <p:nvSpPr>
          <p:cNvPr id="366"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2.3.2</a:t>
            </a:r>
            <a:endParaRPr lang="en-US" sz="1200" b="0" u="none" strike="noStrike">
              <a:solidFill>
                <a:srgbClr val="000000"/>
              </a:solidFill>
              <a:effectLst/>
              <a:uFillTx/>
              <a:latin typeface="Arial"/>
            </a:endParaRPr>
          </a:p>
        </p:txBody>
      </p:sp>
      <p:sp>
        <p:nvSpPr>
          <p:cNvPr id="367" name="Shape 5"/>
          <p:cNvSpPr/>
          <p:nvPr/>
        </p:nvSpPr>
        <p:spPr>
          <a:xfrm>
            <a:off x="868680" y="1188720"/>
            <a:ext cx="3291480" cy="31543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8" name="Text 6"/>
          <p:cNvSpPr/>
          <p:nvPr/>
        </p:nvSpPr>
        <p:spPr>
          <a:xfrm>
            <a:off x="1033200" y="1334880"/>
            <a:ext cx="29624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u="none" strike="noStrike">
                <a:solidFill>
                  <a:srgbClr val="2B6CB0"/>
                </a:solidFill>
                <a:effectLst/>
                <a:uFillTx/>
                <a:latin typeface="Aptos"/>
                <a:ea typeface="Aptos"/>
              </a:rPr>
              <a:t>Nondeterministic vs. stochastic</a:t>
            </a:r>
            <a:endParaRPr lang="en-US" sz="1700" b="0" u="none" strike="noStrike">
              <a:solidFill>
                <a:srgbClr val="000000"/>
              </a:solidFill>
              <a:effectLst/>
              <a:uFillTx/>
              <a:latin typeface="Arial"/>
            </a:endParaRPr>
          </a:p>
        </p:txBody>
      </p:sp>
      <p:sp>
        <p:nvSpPr>
          <p:cNvPr id="369" name="Text 7"/>
          <p:cNvSpPr/>
          <p:nvPr/>
        </p:nvSpPr>
        <p:spPr>
          <a:xfrm>
            <a:off x="1033200" y="1993320"/>
            <a:ext cx="2962440" cy="219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Both mean the next state is not guaranteed. The chapter reserves stochastic for models that quantify the uncertainty — “a 25% chance of rain.” Nondeterministic means the possibilities are listed without probabilities — “there is a chance of rain.”</a:t>
            </a:r>
            <a:endParaRPr lang="en-US" sz="1300" b="0" u="none" strike="noStrike">
              <a:solidFill>
                <a:srgbClr val="000000"/>
              </a:solidFill>
              <a:effectLst/>
              <a:uFillTx/>
              <a:latin typeface="Arial"/>
            </a:endParaRPr>
          </a:p>
        </p:txBody>
      </p:sp>
      <p:sp>
        <p:nvSpPr>
          <p:cNvPr id="370" name="Shape 8"/>
          <p:cNvSpPr/>
          <p:nvPr/>
        </p:nvSpPr>
        <p:spPr>
          <a:xfrm>
            <a:off x="4434840" y="1188720"/>
            <a:ext cx="3291480" cy="31543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1" name="Text 9"/>
          <p:cNvSpPr/>
          <p:nvPr/>
        </p:nvSpPr>
        <p:spPr>
          <a:xfrm>
            <a:off x="4599360" y="1334880"/>
            <a:ext cx="29624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u="none" strike="noStrike">
                <a:solidFill>
                  <a:srgbClr val="048A97"/>
                </a:solidFill>
                <a:effectLst/>
                <a:uFillTx/>
                <a:latin typeface="Aptos"/>
                <a:ea typeface="Aptos"/>
              </a:rPr>
              <a:t>Competitive vs. cooperative</a:t>
            </a:r>
            <a:endParaRPr lang="en-US" sz="1700" b="0" u="none" strike="noStrike">
              <a:solidFill>
                <a:srgbClr val="000000"/>
              </a:solidFill>
              <a:effectLst/>
              <a:uFillTx/>
              <a:latin typeface="Arial"/>
            </a:endParaRPr>
          </a:p>
        </p:txBody>
      </p:sp>
      <p:sp>
        <p:nvSpPr>
          <p:cNvPr id="372" name="Text 10"/>
          <p:cNvSpPr/>
          <p:nvPr/>
        </p:nvSpPr>
        <p:spPr>
          <a:xfrm>
            <a:off x="4599360" y="1993320"/>
            <a:ext cx="2962440" cy="219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Treat B as an agent when B's performance measure depends on A's behavior. In chess B's gain is A's loss, so it is competitive. For taxis, avoiding collisions raises everyone's score — cooperative, yet still competitive over one parking space.</a:t>
            </a:r>
            <a:endParaRPr lang="en-US" sz="1300" b="0" u="none" strike="noStrike">
              <a:solidFill>
                <a:srgbClr val="000000"/>
              </a:solidFill>
              <a:effectLst/>
              <a:uFillTx/>
              <a:latin typeface="Arial"/>
            </a:endParaRPr>
          </a:p>
        </p:txBody>
      </p:sp>
      <p:sp>
        <p:nvSpPr>
          <p:cNvPr id="373" name="Shape 11"/>
          <p:cNvSpPr/>
          <p:nvPr/>
        </p:nvSpPr>
        <p:spPr>
          <a:xfrm>
            <a:off x="8001000" y="1188720"/>
            <a:ext cx="3291480" cy="31543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4" name="Text 12"/>
          <p:cNvSpPr/>
          <p:nvPr/>
        </p:nvSpPr>
        <p:spPr>
          <a:xfrm>
            <a:off x="8165520" y="1334880"/>
            <a:ext cx="29624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u="none" strike="noStrike">
                <a:solidFill>
                  <a:srgbClr val="5B35B1"/>
                </a:solidFill>
                <a:effectLst/>
                <a:uFillTx/>
                <a:latin typeface="Aptos"/>
                <a:ea typeface="Aptos"/>
              </a:rPr>
              <a:t>Effectively fully observable</a:t>
            </a:r>
            <a:endParaRPr lang="en-US" sz="1700" b="0" u="none" strike="noStrike">
              <a:solidFill>
                <a:srgbClr val="000000"/>
              </a:solidFill>
              <a:effectLst/>
              <a:uFillTx/>
              <a:latin typeface="Arial"/>
            </a:endParaRPr>
          </a:p>
        </p:txBody>
      </p:sp>
      <p:sp>
        <p:nvSpPr>
          <p:cNvPr id="375" name="Text 13"/>
          <p:cNvSpPr/>
          <p:nvPr/>
        </p:nvSpPr>
        <p:spPr>
          <a:xfrm>
            <a:off x="8165520" y="1993320"/>
            <a:ext cx="2962440" cy="219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Sensors need not capture the entire state, only everything relevant to the choice of action, and relevance depends on the performance measure. With no sensors at all the environment is unobservable — and goals may still be achievable (Chapter 4).</a:t>
            </a:r>
            <a:endParaRPr lang="en-US" sz="1300" b="0" u="none" strike="noStrike">
              <a:solidFill>
                <a:srgbClr val="000000"/>
              </a:solidFill>
              <a:effectLst/>
              <a:uFillTx/>
              <a:latin typeface="Arial"/>
            </a:endParaRPr>
          </a:p>
        </p:txBody>
      </p:sp>
      <p:sp>
        <p:nvSpPr>
          <p:cNvPr id="376" name="Shape 14"/>
          <p:cNvSpPr/>
          <p:nvPr/>
        </p:nvSpPr>
        <p:spPr>
          <a:xfrm>
            <a:off x="868680" y="4617720"/>
            <a:ext cx="10423800" cy="86832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7" name="Text 15"/>
          <p:cNvSpPr/>
          <p:nvPr/>
        </p:nvSpPr>
        <p:spPr>
          <a:xfrm>
            <a:off x="1097280" y="4754880"/>
            <a:ext cx="99666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50" b="1" u="none" strike="noStrike">
                <a:solidFill>
                  <a:srgbClr val="0B2B5C"/>
                </a:solidFill>
                <a:effectLst/>
                <a:uFillTx/>
                <a:latin typeface="Aptos"/>
                <a:ea typeface="Aptos"/>
              </a:rPr>
              <a:t>One more: semidynamic. </a:t>
            </a:r>
            <a:r>
              <a:rPr lang="en-US" sz="1450" b="0" u="none" strike="noStrike">
                <a:solidFill>
                  <a:srgbClr val="0B1F3A"/>
                </a:solidFill>
                <a:effectLst/>
                <a:uFillTx/>
                <a:latin typeface="Aptos"/>
                <a:ea typeface="Aptos"/>
              </a:rPr>
              <a:t>The world holds still while you think, but your score does not. Chess with a clock. Crossword puzzles are simply static.</a:t>
            </a:r>
            <a:endParaRPr lang="en-US" sz="1450" b="0" u="none" strike="noStrike">
              <a:solidFill>
                <a:srgbClr val="000000"/>
              </a:solidFill>
              <a:effectLst/>
              <a:uFillTx/>
              <a:latin typeface="Arial"/>
            </a:endParaRPr>
          </a:p>
        </p:txBody>
      </p:sp>
      <p:sp>
        <p:nvSpPr>
          <p:cNvPr id="378" name="Text 16"/>
          <p:cNvSpPr/>
          <p:nvPr/>
        </p:nvSpPr>
        <p:spPr>
          <a:xfrm>
            <a:off x="1005840" y="5715000"/>
            <a:ext cx="101494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5E7088"/>
                </a:solidFill>
                <a:effectLst/>
                <a:uFillTx/>
                <a:latin typeface="Aptos"/>
                <a:ea typeface="Aptos"/>
              </a:rPr>
              <a:t>Classifying an environment is an argument you have to defend, not a label you look up. Expect to justify the one you pick.</a:t>
            </a:r>
            <a:endParaRPr lang="en-US" sz="1400" b="0" u="none" strike="noStrike">
              <a:solidFill>
                <a:srgbClr val="000000"/>
              </a:solidFill>
              <a:effectLst/>
              <a:uFillTx/>
              <a:latin typeface="Arial"/>
            </a:endParaRPr>
          </a:p>
        </p:txBody>
      </p:sp>
      <p:sp>
        <p:nvSpPr>
          <p:cNvPr id="379" name="Text 17"/>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380" name="Text 18"/>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17</a:t>
            </a:r>
            <a:endParaRPr lang="en-US" sz="85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381"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2"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383"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2.3.2 Known Is Not the Same as Observable</a:t>
            </a:r>
            <a:endParaRPr lang="en-US" sz="2300" b="0" u="none" strike="noStrike">
              <a:solidFill>
                <a:srgbClr val="000000"/>
              </a:solidFill>
              <a:effectLst/>
              <a:uFillTx/>
              <a:latin typeface="Arial"/>
            </a:endParaRPr>
          </a:p>
        </p:txBody>
      </p:sp>
      <p:sp>
        <p:nvSpPr>
          <p:cNvPr id="384"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2.3.2</a:t>
            </a:r>
            <a:endParaRPr lang="en-US" sz="1200" b="0" u="none" strike="noStrike">
              <a:solidFill>
                <a:srgbClr val="000000"/>
              </a:solidFill>
              <a:effectLst/>
              <a:uFillTx/>
              <a:latin typeface="Arial"/>
            </a:endParaRPr>
          </a:p>
        </p:txBody>
      </p:sp>
      <p:sp>
        <p:nvSpPr>
          <p:cNvPr id="385" name="Text 5"/>
          <p:cNvSpPr/>
          <p:nvPr/>
        </p:nvSpPr>
        <p:spPr>
          <a:xfrm>
            <a:off x="2468880" y="1115640"/>
            <a:ext cx="4297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0B2B5C"/>
                </a:solidFill>
                <a:effectLst/>
                <a:uFillTx/>
                <a:latin typeface="Aptos"/>
                <a:ea typeface="Aptos"/>
              </a:rPr>
              <a:t>Fully observable</a:t>
            </a:r>
            <a:endParaRPr lang="en-US" sz="1500" b="0" u="none" strike="noStrike">
              <a:solidFill>
                <a:srgbClr val="000000"/>
              </a:solidFill>
              <a:effectLst/>
              <a:uFillTx/>
              <a:latin typeface="Arial"/>
            </a:endParaRPr>
          </a:p>
        </p:txBody>
      </p:sp>
      <p:sp>
        <p:nvSpPr>
          <p:cNvPr id="386" name="Text 6"/>
          <p:cNvSpPr/>
          <p:nvPr/>
        </p:nvSpPr>
        <p:spPr>
          <a:xfrm>
            <a:off x="6903720" y="1115640"/>
            <a:ext cx="42973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0B2B5C"/>
                </a:solidFill>
                <a:effectLst/>
                <a:uFillTx/>
                <a:latin typeface="Aptos"/>
                <a:ea typeface="Aptos"/>
              </a:rPr>
              <a:t>Partially observable</a:t>
            </a:r>
            <a:endParaRPr lang="en-US" sz="1500" b="0" u="none" strike="noStrike">
              <a:solidFill>
                <a:srgbClr val="000000"/>
              </a:solidFill>
              <a:effectLst/>
              <a:uFillTx/>
              <a:latin typeface="Arial"/>
            </a:endParaRPr>
          </a:p>
        </p:txBody>
      </p:sp>
      <p:sp>
        <p:nvSpPr>
          <p:cNvPr id="387" name="Shape 7"/>
          <p:cNvSpPr/>
          <p:nvPr/>
        </p:nvSpPr>
        <p:spPr>
          <a:xfrm>
            <a:off x="2468880" y="14814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8" name="Text 8"/>
          <p:cNvSpPr/>
          <p:nvPr/>
        </p:nvSpPr>
        <p:spPr>
          <a:xfrm>
            <a:off x="2651760" y="16275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ea typeface="Aptos"/>
              </a:rPr>
              <a:t>Chess</a:t>
            </a:r>
            <a:endParaRPr lang="en-US" sz="1700" b="0" u="none" strike="noStrike">
              <a:solidFill>
                <a:srgbClr val="000000"/>
              </a:solidFill>
              <a:effectLst/>
              <a:uFillTx/>
              <a:latin typeface="Arial"/>
            </a:endParaRPr>
          </a:p>
        </p:txBody>
      </p:sp>
      <p:sp>
        <p:nvSpPr>
          <p:cNvPr id="389" name="Text 9"/>
          <p:cNvSpPr/>
          <p:nvPr/>
        </p:nvSpPr>
        <p:spPr>
          <a:xfrm>
            <a:off x="2651760" y="20116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The rules are given and the whole board is in front of you.</a:t>
            </a:r>
            <a:endParaRPr lang="en-US" sz="1300" b="0" u="none" strike="noStrike">
              <a:solidFill>
                <a:srgbClr val="000000"/>
              </a:solidFill>
              <a:effectLst/>
              <a:uFillTx/>
              <a:latin typeface="Arial"/>
            </a:endParaRPr>
          </a:p>
        </p:txBody>
      </p:sp>
      <p:sp>
        <p:nvSpPr>
          <p:cNvPr id="390" name="Shape 10"/>
          <p:cNvSpPr/>
          <p:nvPr/>
        </p:nvSpPr>
        <p:spPr>
          <a:xfrm>
            <a:off x="6903720" y="14814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1" name="Text 11"/>
          <p:cNvSpPr/>
          <p:nvPr/>
        </p:nvSpPr>
        <p:spPr>
          <a:xfrm>
            <a:off x="7086600" y="16275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ea typeface="Aptos"/>
              </a:rPr>
              <a:t>Solitaire</a:t>
            </a:r>
            <a:endParaRPr lang="en-US" sz="1700" b="0" u="none" strike="noStrike">
              <a:solidFill>
                <a:srgbClr val="000000"/>
              </a:solidFill>
              <a:effectLst/>
              <a:uFillTx/>
              <a:latin typeface="Arial"/>
            </a:endParaRPr>
          </a:p>
        </p:txBody>
      </p:sp>
      <p:sp>
        <p:nvSpPr>
          <p:cNvPr id="392" name="Text 12"/>
          <p:cNvSpPr/>
          <p:nvPr/>
        </p:nvSpPr>
        <p:spPr>
          <a:xfrm>
            <a:off x="7086600" y="20116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You know the rules perfectly, but you cannot see the cards that have not been turned over.</a:t>
            </a:r>
            <a:endParaRPr lang="en-US" sz="1300" b="0" u="none" strike="noStrike">
              <a:solidFill>
                <a:srgbClr val="000000"/>
              </a:solidFill>
              <a:effectLst/>
              <a:uFillTx/>
              <a:latin typeface="Arial"/>
            </a:endParaRPr>
          </a:p>
        </p:txBody>
      </p:sp>
      <p:sp>
        <p:nvSpPr>
          <p:cNvPr id="393" name="Shape 13"/>
          <p:cNvSpPr/>
          <p:nvPr/>
        </p:nvSpPr>
        <p:spPr>
          <a:xfrm>
            <a:off x="2468880" y="33102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4" name="Text 14"/>
          <p:cNvSpPr/>
          <p:nvPr/>
        </p:nvSpPr>
        <p:spPr>
          <a:xfrm>
            <a:off x="2651760" y="34563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ea typeface="Aptos"/>
              </a:rPr>
              <a:t>A new video game</a:t>
            </a:r>
            <a:endParaRPr lang="en-US" sz="1700" b="0" u="none" strike="noStrike">
              <a:solidFill>
                <a:srgbClr val="000000"/>
              </a:solidFill>
              <a:effectLst/>
              <a:uFillTx/>
              <a:latin typeface="Arial"/>
            </a:endParaRPr>
          </a:p>
        </p:txBody>
      </p:sp>
      <p:sp>
        <p:nvSpPr>
          <p:cNvPr id="395" name="Text 15"/>
          <p:cNvSpPr/>
          <p:nvPr/>
        </p:nvSpPr>
        <p:spPr>
          <a:xfrm>
            <a:off x="2651760" y="38404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The screen shows the entire game state, and you still have no idea what the buttons do until you press them.</a:t>
            </a:r>
            <a:endParaRPr lang="en-US" sz="1300" b="0" u="none" strike="noStrike">
              <a:solidFill>
                <a:srgbClr val="000000"/>
              </a:solidFill>
              <a:effectLst/>
              <a:uFillTx/>
              <a:latin typeface="Arial"/>
            </a:endParaRPr>
          </a:p>
        </p:txBody>
      </p:sp>
      <p:sp>
        <p:nvSpPr>
          <p:cNvPr id="396" name="Shape 16"/>
          <p:cNvSpPr/>
          <p:nvPr/>
        </p:nvSpPr>
        <p:spPr>
          <a:xfrm>
            <a:off x="6903720" y="3310200"/>
            <a:ext cx="4297320" cy="16912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7" name="Text 17"/>
          <p:cNvSpPr/>
          <p:nvPr/>
        </p:nvSpPr>
        <p:spPr>
          <a:xfrm>
            <a:off x="7086600" y="3456360"/>
            <a:ext cx="39315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ea typeface="Aptos"/>
              </a:rPr>
              <a:t>A rental car abroad</a:t>
            </a:r>
            <a:endParaRPr lang="en-US" sz="1700" b="0" u="none" strike="noStrike">
              <a:solidFill>
                <a:srgbClr val="000000"/>
              </a:solidFill>
              <a:effectLst/>
              <a:uFillTx/>
              <a:latin typeface="Arial"/>
            </a:endParaRPr>
          </a:p>
        </p:txBody>
      </p:sp>
      <p:sp>
        <p:nvSpPr>
          <p:cNvPr id="398" name="Text 18"/>
          <p:cNvSpPr/>
          <p:nvPr/>
        </p:nvSpPr>
        <p:spPr>
          <a:xfrm>
            <a:off x="7086600" y="3840480"/>
            <a:ext cx="3931560" cy="9781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Unfamiliar geography, different traffic laws, other drivers whose intentions you cannot see, and nervous passengers.</a:t>
            </a:r>
            <a:endParaRPr lang="en-US" sz="1300" b="0" u="none" strike="noStrike">
              <a:solidFill>
                <a:srgbClr val="000000"/>
              </a:solidFill>
              <a:effectLst/>
              <a:uFillTx/>
              <a:latin typeface="Arial"/>
            </a:endParaRPr>
          </a:p>
        </p:txBody>
      </p:sp>
      <p:sp>
        <p:nvSpPr>
          <p:cNvPr id="399" name="Shape 19"/>
          <p:cNvSpPr/>
          <p:nvPr/>
        </p:nvSpPr>
        <p:spPr>
          <a:xfrm>
            <a:off x="868680" y="1481400"/>
            <a:ext cx="1416960" cy="1691280"/>
          </a:xfrm>
          <a:prstGeom prst="roundRect">
            <a:avLst>
              <a:gd name="adj" fmla="val 4444"/>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0" name="Text 20"/>
          <p:cNvSpPr/>
          <p:nvPr/>
        </p:nvSpPr>
        <p:spPr>
          <a:xfrm>
            <a:off x="868680" y="1481400"/>
            <a:ext cx="141696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Known</a:t>
            </a:r>
            <a:endParaRPr lang="en-US" sz="1600" b="0" u="none" strike="noStrike">
              <a:solidFill>
                <a:srgbClr val="000000"/>
              </a:solidFill>
              <a:effectLst/>
              <a:uFillTx/>
              <a:latin typeface="Arial"/>
            </a:endParaRPr>
          </a:p>
        </p:txBody>
      </p:sp>
      <p:sp>
        <p:nvSpPr>
          <p:cNvPr id="401" name="Shape 21"/>
          <p:cNvSpPr/>
          <p:nvPr/>
        </p:nvSpPr>
        <p:spPr>
          <a:xfrm>
            <a:off x="868680" y="3310200"/>
            <a:ext cx="1416960" cy="1691280"/>
          </a:xfrm>
          <a:prstGeom prst="roundRect">
            <a:avLst>
              <a:gd name="adj" fmla="val 4444"/>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2" name="Text 22"/>
          <p:cNvSpPr/>
          <p:nvPr/>
        </p:nvSpPr>
        <p:spPr>
          <a:xfrm>
            <a:off x="868680" y="3310200"/>
            <a:ext cx="1416960" cy="169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Aptos"/>
                <a:ea typeface="Aptos"/>
              </a:rPr>
              <a:t>Unknown</a:t>
            </a:r>
            <a:endParaRPr lang="en-US" sz="1600" b="0" u="none" strike="noStrike">
              <a:solidFill>
                <a:srgbClr val="000000"/>
              </a:solidFill>
              <a:effectLst/>
              <a:uFillTx/>
              <a:latin typeface="Arial"/>
            </a:endParaRPr>
          </a:p>
        </p:txBody>
      </p:sp>
      <p:sp>
        <p:nvSpPr>
          <p:cNvPr id="403" name="Text 23"/>
          <p:cNvSpPr/>
          <p:nvPr/>
        </p:nvSpPr>
        <p:spPr>
          <a:xfrm>
            <a:off x="914400" y="52304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Known/unknown describes the designer's grip on the rules, not the sensors</a:t>
            </a:r>
            <a:endParaRPr lang="en-US" sz="1900" b="0" u="none" strike="noStrike">
              <a:solidFill>
                <a:srgbClr val="000000"/>
              </a:solidFill>
              <a:effectLst/>
              <a:uFillTx/>
              <a:latin typeface="Arial"/>
            </a:endParaRPr>
          </a:p>
        </p:txBody>
      </p:sp>
      <p:sp>
        <p:nvSpPr>
          <p:cNvPr id="404" name="Text 24"/>
          <p:cNvSpPr/>
          <p:nvPr/>
        </p:nvSpPr>
        <p:spPr>
          <a:xfrm>
            <a:off x="1005840" y="5687640"/>
            <a:ext cx="10149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In an unknown environment the agent has to learn how the world works before it can decide well. And as we saw, the performance measure itself can be unknown — which quietly turns the task into a multiagent one, with the user as the other agent.</a:t>
            </a:r>
            <a:endParaRPr lang="en-US" sz="1400" b="0" u="none" strike="noStrike">
              <a:solidFill>
                <a:srgbClr val="000000"/>
              </a:solidFill>
              <a:effectLst/>
              <a:uFillTx/>
              <a:latin typeface="Arial"/>
            </a:endParaRPr>
          </a:p>
        </p:txBody>
      </p:sp>
      <p:sp>
        <p:nvSpPr>
          <p:cNvPr id="405" name="Text 25"/>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406" name="Text 26"/>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18</a:t>
            </a:r>
            <a:endParaRPr lang="en-US" sz="85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407"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8"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409"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Pac-Man as a Chapter 2 Agent</a:t>
            </a:r>
            <a:endParaRPr lang="en-US" sz="2300" b="0" u="none" strike="noStrike">
              <a:solidFill>
                <a:srgbClr val="000000"/>
              </a:solidFill>
              <a:effectLst/>
              <a:uFillTx/>
              <a:latin typeface="Arial"/>
            </a:endParaRPr>
          </a:p>
        </p:txBody>
      </p:sp>
      <p:sp>
        <p:nvSpPr>
          <p:cNvPr id="410"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Example</a:t>
            </a:r>
            <a:endParaRPr lang="en-US" sz="1200" b="0" u="none" strike="noStrike">
              <a:solidFill>
                <a:srgbClr val="000000"/>
              </a:solidFill>
              <a:effectLst/>
              <a:uFillTx/>
              <a:latin typeface="Arial"/>
            </a:endParaRPr>
          </a:p>
        </p:txBody>
      </p:sp>
      <p:sp>
        <p:nvSpPr>
          <p:cNvPr id="411"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412"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19</a:t>
            </a:r>
            <a:endParaRPr lang="en-US" sz="1800" b="0" u="none" strike="noStrike">
              <a:solidFill>
                <a:srgbClr val="000000"/>
              </a:solidFill>
              <a:effectLst/>
              <a:uFillTx/>
              <a:latin typeface="Arial"/>
            </a:endParaRPr>
          </a:p>
        </p:txBody>
      </p:sp>
      <p:sp>
        <p:nvSpPr>
          <p:cNvPr id="413" name="Shape 36"/>
          <p:cNvSpPr/>
          <p:nvPr/>
        </p:nvSpPr>
        <p:spPr>
          <a:xfrm>
            <a:off x="6446520" y="123444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4" name="Text 37"/>
          <p:cNvSpPr/>
          <p:nvPr/>
        </p:nvSpPr>
        <p:spPr>
          <a:xfrm>
            <a:off x="6611040" y="138060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Sensors / percepts</a:t>
            </a:r>
            <a:endParaRPr lang="en-US" sz="1500" b="0" u="none" strike="noStrike">
              <a:solidFill>
                <a:srgbClr val="000000"/>
              </a:solidFill>
              <a:effectLst/>
              <a:uFillTx/>
              <a:latin typeface="Arial"/>
            </a:endParaRPr>
          </a:p>
        </p:txBody>
      </p:sp>
      <p:sp>
        <p:nvSpPr>
          <p:cNvPr id="415" name="Text 38"/>
          <p:cNvSpPr/>
          <p:nvPr/>
        </p:nvSpPr>
        <p:spPr>
          <a:xfrm>
            <a:off x="6611040" y="17100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a:solidFill>
                  <a:srgbClr val="0B1F3A"/>
                </a:solidFill>
                <a:effectLst/>
                <a:uFillTx/>
                <a:latin typeface="Aptos"/>
              </a:rPr>
              <a:t>Walls, pellets, ghost positions, legal moves, power-pellet status.</a:t>
            </a:r>
            <a:endParaRPr lang="en-US" sz="1200" b="0" u="none" strike="noStrike">
              <a:solidFill>
                <a:srgbClr val="000000"/>
              </a:solidFill>
              <a:effectLst/>
              <a:uFillTx/>
              <a:latin typeface="Arial"/>
            </a:endParaRPr>
          </a:p>
        </p:txBody>
      </p:sp>
      <p:sp>
        <p:nvSpPr>
          <p:cNvPr id="416" name="Shape 39"/>
          <p:cNvSpPr/>
          <p:nvPr/>
        </p:nvSpPr>
        <p:spPr>
          <a:xfrm>
            <a:off x="6446520" y="226764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7" name="Text 40"/>
          <p:cNvSpPr/>
          <p:nvPr/>
        </p:nvSpPr>
        <p:spPr>
          <a:xfrm>
            <a:off x="6611040" y="241416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Actions / actuators</a:t>
            </a:r>
            <a:endParaRPr lang="en-US" sz="1500" b="0" u="none" strike="noStrike">
              <a:solidFill>
                <a:srgbClr val="000000"/>
              </a:solidFill>
              <a:effectLst/>
              <a:uFillTx/>
              <a:latin typeface="Arial"/>
            </a:endParaRPr>
          </a:p>
        </p:txBody>
      </p:sp>
      <p:sp>
        <p:nvSpPr>
          <p:cNvPr id="418" name="Text 41"/>
          <p:cNvSpPr/>
          <p:nvPr/>
        </p:nvSpPr>
        <p:spPr>
          <a:xfrm>
            <a:off x="6611040" y="27432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a:solidFill>
                  <a:srgbClr val="0B1F3A"/>
                </a:solidFill>
                <a:effectLst/>
                <a:uFillTx/>
                <a:latin typeface="Aptos"/>
              </a:rPr>
              <a:t>Move left, right, up, or down. Action changes the maze state.</a:t>
            </a:r>
            <a:endParaRPr lang="en-US" sz="1200" b="0" u="none" strike="noStrike">
              <a:solidFill>
                <a:srgbClr val="000000"/>
              </a:solidFill>
              <a:effectLst/>
              <a:uFillTx/>
              <a:latin typeface="Arial"/>
            </a:endParaRPr>
          </a:p>
        </p:txBody>
      </p:sp>
      <p:sp>
        <p:nvSpPr>
          <p:cNvPr id="419" name="Shape 42"/>
          <p:cNvSpPr/>
          <p:nvPr/>
        </p:nvSpPr>
        <p:spPr>
          <a:xfrm>
            <a:off x="6446520" y="330084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0" name="Text 43"/>
          <p:cNvSpPr/>
          <p:nvPr/>
        </p:nvSpPr>
        <p:spPr>
          <a:xfrm>
            <a:off x="6611040" y="344736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1B7A45"/>
                </a:solidFill>
                <a:effectLst/>
                <a:uFillTx/>
                <a:latin typeface="Aptos"/>
              </a:rPr>
              <a:t>Performance</a:t>
            </a:r>
            <a:endParaRPr lang="en-US" sz="1500" b="0" u="none" strike="noStrike">
              <a:solidFill>
                <a:srgbClr val="000000"/>
              </a:solidFill>
              <a:effectLst/>
              <a:uFillTx/>
              <a:latin typeface="Arial"/>
            </a:endParaRPr>
          </a:p>
        </p:txBody>
      </p:sp>
      <p:sp>
        <p:nvSpPr>
          <p:cNvPr id="421" name="Text 44"/>
          <p:cNvSpPr/>
          <p:nvPr/>
        </p:nvSpPr>
        <p:spPr>
          <a:xfrm>
            <a:off x="6611040" y="37764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a:bodyPr>
          <a:lstStyle/>
          <a:p>
            <a:pPr defTabSz="914400">
              <a:lnSpc>
                <a:spcPct val="100000"/>
              </a:lnSpc>
              <a:tabLst>
                <a:tab pos="0" algn="l"/>
              </a:tabLst>
            </a:pPr>
            <a:r>
              <a:rPr lang="en-US" sz="1200" b="0" u="none" strike="noStrike">
                <a:solidFill>
                  <a:srgbClr val="0B1F3A"/>
                </a:solidFill>
                <a:effectLst/>
                <a:uFillTx/>
                <a:latin typeface="Aptos"/>
              </a:rPr>
              <a:t>Maximize score; eat pellets; avoid ghosts; use power pellets safely.</a:t>
            </a:r>
            <a:endParaRPr lang="en-US" sz="1200" b="0" u="none" strike="noStrike">
              <a:solidFill>
                <a:srgbClr val="000000"/>
              </a:solidFill>
              <a:effectLst/>
              <a:uFillTx/>
              <a:latin typeface="Arial"/>
            </a:endParaRPr>
          </a:p>
        </p:txBody>
      </p:sp>
      <p:sp>
        <p:nvSpPr>
          <p:cNvPr id="422" name="Shape 45"/>
          <p:cNvSpPr/>
          <p:nvPr/>
        </p:nvSpPr>
        <p:spPr>
          <a:xfrm>
            <a:off x="6446520" y="4334400"/>
            <a:ext cx="4662360" cy="867600"/>
          </a:xfrm>
          <a:prstGeom prst="roundRect">
            <a:avLst>
              <a:gd name="adj" fmla="val 6316"/>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3" name="Text 46"/>
          <p:cNvSpPr/>
          <p:nvPr/>
        </p:nvSpPr>
        <p:spPr>
          <a:xfrm>
            <a:off x="6611040" y="4480560"/>
            <a:ext cx="4333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Environment</a:t>
            </a:r>
            <a:endParaRPr lang="en-US" sz="1500" b="0" u="none" strike="noStrike">
              <a:solidFill>
                <a:srgbClr val="000000"/>
              </a:solidFill>
              <a:effectLst/>
              <a:uFillTx/>
              <a:latin typeface="Arial"/>
            </a:endParaRPr>
          </a:p>
        </p:txBody>
      </p:sp>
      <p:sp>
        <p:nvSpPr>
          <p:cNvPr id="424" name="Text 47"/>
          <p:cNvSpPr/>
          <p:nvPr/>
        </p:nvSpPr>
        <p:spPr>
          <a:xfrm>
            <a:off x="6611040" y="4809600"/>
            <a:ext cx="433332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19999"/>
          </a:bodyPr>
          <a:lstStyle/>
          <a:p>
            <a:pPr defTabSz="914400">
              <a:lnSpc>
                <a:spcPct val="100000"/>
              </a:lnSpc>
              <a:tabLst>
                <a:tab pos="0" algn="l"/>
              </a:tabLst>
            </a:pPr>
            <a:r>
              <a:rPr lang="en-US" sz="1200" b="0" u="none" strike="noStrike">
                <a:solidFill>
                  <a:srgbClr val="0B1F3A"/>
                </a:solidFill>
                <a:effectLst/>
                <a:uFillTx/>
                <a:latin typeface="Aptos"/>
              </a:rPr>
              <a:t>Sequential, multiagent, discrete, deterministic, known; dynamic in real-time play. Partially observable in richer versions.</a:t>
            </a:r>
            <a:endParaRPr lang="en-US" sz="1200" b="0" u="none" strike="noStrike">
              <a:solidFill>
                <a:srgbClr val="000000"/>
              </a:solidFill>
              <a:effectLst/>
              <a:uFillTx/>
              <a:latin typeface="Arial"/>
            </a:endParaRPr>
          </a:p>
        </p:txBody>
      </p:sp>
      <p:sp>
        <p:nvSpPr>
          <p:cNvPr id="425" name="Text 48"/>
          <p:cNvSpPr/>
          <p:nvPr/>
        </p:nvSpPr>
        <p:spPr>
          <a:xfrm>
            <a:off x="777240" y="5833800"/>
            <a:ext cx="1078884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rPr>
              <a:t>In the class demo, the autonomous Pac-Man game implements this loop in code.</a:t>
            </a:r>
            <a:endParaRPr lang="en-US" sz="1700" b="0" u="none" strike="noStrike">
              <a:solidFill>
                <a:srgbClr val="000000"/>
              </a:solidFill>
              <a:effectLst/>
              <a:uFillTx/>
              <a:latin typeface="Arial"/>
            </a:endParaRPr>
          </a:p>
        </p:txBody>
      </p:sp>
      <p:pic>
        <p:nvPicPr>
          <p:cNvPr id="426" name="Picture 2"/>
          <p:cNvPicPr/>
          <p:nvPr/>
        </p:nvPicPr>
        <p:blipFill>
          <a:blip r:embed="rId3"/>
          <a:stretch/>
        </p:blipFill>
        <p:spPr>
          <a:xfrm>
            <a:off x="896400" y="1530000"/>
            <a:ext cx="4848480" cy="2638440"/>
          </a:xfrm>
          <a:prstGeom prst="rect">
            <a:avLst/>
          </a:prstGeom>
          <a:noFill/>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52000"/>
          </a:schemeClr>
        </a:solidFill>
        <a:effectLst/>
      </p:bgPr>
    </p:bg>
    <p:spTree>
      <p:nvGrpSpPr>
        <p:cNvPr id="1" name=""/>
        <p:cNvGrpSpPr/>
        <p:nvPr/>
      </p:nvGrpSpPr>
      <p:grpSpPr>
        <a:xfrm>
          <a:off x="0" y="0"/>
          <a:ext cx="0" cy="0"/>
          <a:chOff x="0" y="0"/>
          <a:chExt cx="0" cy="0"/>
        </a:xfrm>
      </p:grpSpPr>
      <p:pic>
        <p:nvPicPr>
          <p:cNvPr id="427" name="Picture 426">
            <a:hlinkClick r:id="" action="ppaction://media"/>
          </p:cNvPr>
          <p:cNvPicPr/>
          <p:nvPr>
            <a:videoFile r:link="rId2"/>
            <p:extLst>
              <p:ext uri="{DAA4B4D4-6D71-4841-9C94-3DE7FCFB9230}">
                <p14:media xmlns:p14="http://schemas.microsoft.com/office/powerpoint/2010/main" r:embed="rId1"/>
              </p:ext>
            </p:extLst>
          </p:nvPr>
        </p:nvPicPr>
        <p:blipFill>
          <a:blip r:embed="rId5"/>
          <a:stretch>
            <a:fillRect/>
          </a:stretch>
        </p:blipFill>
        <p:spPr>
          <a:xfrm>
            <a:off x="2809800" y="1200240"/>
            <a:ext cx="6571800" cy="4781160"/>
          </a:xfrm>
          <a:prstGeom prst="rect">
            <a:avLst/>
          </a:prstGeom>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mediacall" fill="hold" nodeType="clickEffect">
                                  <p:stCondLst>
                                    <p:cond delay="0"/>
                                  </p:stCondLst>
                                  <p:childTnLst>
                                    <p:cmd type="call" cmd="playFrom(0.0)">
                                      <p:cBhvr>
                                        <p:cTn id="6" dur="23383" fill="hold"/>
                                        <p:tgtEl>
                                          <p:spTgt spid="42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p:stCondLst>
                    <p:cond delay="indefinite"/>
                  </p:stCondLst>
                </p:cTn>
                <p:tgtEl>
                  <p:spTgt spid="427"/>
                </p:tgtEl>
              </p:cMediaNode>
            </p:video>
            <p:seq>
              <p:cTn id="8" restart="whenNotActive" fill="hold" nodeType="interactiveSeq">
                <p:stCondLst>
                  <p:cond evt="onClick" delay="0">
                    <p:tgtEl>
                      <p:spTgt spid="427"/>
                    </p:tgtEl>
                  </p:cond>
                </p:stCondLst>
                <p:childTnLst>
                  <p:par>
                    <p:cTn id="9" fill="hold">
                      <p:stCondLst>
                        <p:cond evt="onClick" delay="0">
                          <p:tgtEl>
                            <p:spTgt spid="427"/>
                          </p:tgtEl>
                        </p:cond>
                      </p:stCondLst>
                      <p:childTnLst>
                        <p:par>
                          <p:cTn id="10" fill="hold">
                            <p:stCondLst>
                              <p:cond delay="0"/>
                            </p:stCondLst>
                            <p:childTnLst>
                              <p:par>
                                <p:cTn id="11" presetID="0" presetClass="mediacall" fill="hold" nodeType="clickEffect">
                                  <p:stCondLst>
                                    <p:cond delay="0"/>
                                  </p:stCondLst>
                                  <p:childTnLst>
                                    <p:cmd type="call" cmd="play">
                                      <p:cBhvr>
                                        <p:cTn id="12" dur="1" fill="hold">
                                          <p:stCondLst>
                                            <p:cond delay="0"/>
                                          </p:stCondLst>
                                        </p:cTn>
                                        <p:tgtEl>
                                          <p:spTgt spid="4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52000"/>
          </a:schemeClr>
        </a:solidFill>
        <a:effectLst/>
      </p:bgPr>
    </p:bg>
    <p:spTree>
      <p:nvGrpSpPr>
        <p:cNvPr id="1" name=""/>
        <p:cNvGrpSpPr/>
        <p:nvPr/>
      </p:nvGrpSpPr>
      <p:grpSpPr>
        <a:xfrm>
          <a:off x="0" y="0"/>
          <a:ext cx="0" cy="0"/>
          <a:chOff x="0" y="0"/>
          <a:chExt cx="0" cy="0"/>
        </a:xfrm>
      </p:grpSpPr>
      <p:pic>
        <p:nvPicPr>
          <p:cNvPr id="428" name="Picture 427">
            <a:hlinkClick r:id="" action="ppaction://media"/>
          </p:cNvPr>
          <p:cNvPicPr/>
          <p:nvPr>
            <a:videoFile r:link="rId2"/>
            <p:extLst>
              <p:ext uri="{DAA4B4D4-6D71-4841-9C94-3DE7FCFB9230}">
                <p14:media xmlns:p14="http://schemas.microsoft.com/office/powerpoint/2010/main" r:embed="rId1"/>
              </p:ext>
            </p:extLst>
          </p:nvPr>
        </p:nvPicPr>
        <p:blipFill>
          <a:blip r:embed="rId5"/>
          <a:stretch>
            <a:fillRect/>
          </a:stretch>
        </p:blipFill>
        <p:spPr>
          <a:xfrm>
            <a:off x="2763720" y="369720"/>
            <a:ext cx="6663960" cy="5268600"/>
          </a:xfrm>
          <a:prstGeom prst="rect">
            <a:avLst/>
          </a:prstGeom>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mediacall" fill="hold" nodeType="clickEffect">
                                  <p:stCondLst>
                                    <p:cond delay="0"/>
                                  </p:stCondLst>
                                  <p:childTnLst>
                                    <p:cmd type="call" cmd="playFrom(0.0)">
                                      <p:cBhvr>
                                        <p:cTn id="6" dur="50133" fill="hold"/>
                                        <p:tgtEl>
                                          <p:spTgt spid="42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p:stCondLst>
                    <p:cond delay="indefinite"/>
                  </p:stCondLst>
                </p:cTn>
                <p:tgtEl>
                  <p:spTgt spid="428"/>
                </p:tgtEl>
              </p:cMediaNode>
            </p:video>
            <p:seq>
              <p:cTn id="8" restart="whenNotActive" fill="hold" nodeType="interactiveSeq">
                <p:stCondLst>
                  <p:cond evt="onClick" delay="0">
                    <p:tgtEl>
                      <p:spTgt spid="428"/>
                    </p:tgtEl>
                  </p:cond>
                </p:stCondLst>
                <p:childTnLst>
                  <p:par>
                    <p:cTn id="9" fill="hold">
                      <p:stCondLst>
                        <p:cond evt="onClick" delay="0">
                          <p:tgtEl>
                            <p:spTgt spid="428"/>
                          </p:tgtEl>
                        </p:cond>
                      </p:stCondLst>
                      <p:childTnLst>
                        <p:par>
                          <p:cTn id="10" fill="hold">
                            <p:stCondLst>
                              <p:cond delay="0"/>
                            </p:stCondLst>
                            <p:childTnLst>
                              <p:par>
                                <p:cTn id="11" presetClass="mediacall" fill="hold" nodeType="clickEffect">
                                  <p:stCondLst>
                                    <p:cond delay="0"/>
                                  </p:stCondLst>
                                  <p:childTnLst>
                                    <p:cmd type="call" cmd="togglePause">
                                      <p:cBhvr>
                                        <p:cTn id="12" dur="1" fill="hold"/>
                                        <p:tgtEl>
                                          <p:spTgt spid="4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Shape 0"/>
          <p:cNvSpPr/>
          <p:nvPr/>
        </p:nvSpPr>
        <p:spPr>
          <a:xfrm>
            <a:off x="0" y="0"/>
            <a:ext cx="12191400" cy="6857640"/>
          </a:xfrm>
          <a:prstGeom prst="rect">
            <a:avLst/>
          </a:prstGeom>
          <a:solidFill>
            <a:srgbClr val="F7F9FC"/>
          </a:solidFill>
          <a:ln w="12700">
            <a:solidFill>
              <a:srgbClr val="F7F9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0" name="Shape 1"/>
          <p:cNvSpPr/>
          <p:nvPr/>
        </p:nvSpPr>
        <p:spPr>
          <a:xfrm>
            <a:off x="502920" y="384120"/>
            <a:ext cx="959760" cy="6372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chemeClr val="dk1"/>
              </a:solidFill>
              <a:effectLst/>
              <a:uFillTx/>
              <a:latin typeface="Aptos"/>
            </a:endParaRPr>
          </a:p>
        </p:txBody>
      </p:sp>
      <p:sp>
        <p:nvSpPr>
          <p:cNvPr id="431" name="Text 2"/>
          <p:cNvSpPr/>
          <p:nvPr/>
        </p:nvSpPr>
        <p:spPr>
          <a:xfrm>
            <a:off x="502920" y="567000"/>
            <a:ext cx="10606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32033"/>
                </a:solidFill>
                <a:effectLst/>
                <a:uFillTx/>
                <a:latin typeface="Aptos Display"/>
                <a:ea typeface="Aptos Display"/>
              </a:rPr>
              <a:t>What breaks in Levels 1 and 2</a:t>
            </a:r>
            <a:endParaRPr lang="en-US" sz="2800" b="0" u="none" strike="noStrike">
              <a:solidFill>
                <a:srgbClr val="000000"/>
              </a:solidFill>
              <a:effectLst/>
              <a:uFillTx/>
              <a:latin typeface="Arial"/>
            </a:endParaRPr>
          </a:p>
        </p:txBody>
      </p:sp>
      <p:sp>
        <p:nvSpPr>
          <p:cNvPr id="432" name="Text 3"/>
          <p:cNvSpPr/>
          <p:nvPr/>
        </p:nvSpPr>
        <p:spPr>
          <a:xfrm>
            <a:off x="511920" y="1078920"/>
            <a:ext cx="960084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5B6B7B"/>
                </a:solidFill>
                <a:effectLst/>
                <a:uFillTx/>
                <a:latin typeface="Aptos"/>
                <a:ea typeface="Aptos"/>
              </a:rPr>
              <a:t>The agent sees adjacent percepts only; it does not build a route to remaining food.</a:t>
            </a:r>
            <a:endParaRPr lang="en-US" sz="1250" b="0" u="none" strike="noStrike">
              <a:solidFill>
                <a:srgbClr val="000000"/>
              </a:solidFill>
              <a:effectLst/>
              <a:uFillTx/>
              <a:latin typeface="Arial"/>
            </a:endParaRPr>
          </a:p>
        </p:txBody>
      </p:sp>
      <p:sp>
        <p:nvSpPr>
          <p:cNvPr id="433" name="Text 4"/>
          <p:cNvSpPr/>
          <p:nvPr/>
        </p:nvSpPr>
        <p:spPr>
          <a:xfrm>
            <a:off x="658440" y="1490400"/>
            <a:ext cx="2880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50" b="1" u="none" strike="noStrike">
                <a:solidFill>
                  <a:srgbClr val="132033"/>
                </a:solidFill>
                <a:effectLst/>
                <a:uFillTx/>
                <a:latin typeface="Aptos"/>
              </a:rPr>
              <a:t>Level 1: simple corridor plus hidden lower route</a:t>
            </a:r>
            <a:endParaRPr lang="en-US" sz="1050" b="0" u="none" strike="noStrike">
              <a:solidFill>
                <a:srgbClr val="000000"/>
              </a:solidFill>
              <a:effectLst/>
              <a:uFillTx/>
              <a:latin typeface="Arial"/>
            </a:endParaRPr>
          </a:p>
        </p:txBody>
      </p:sp>
      <p:sp>
        <p:nvSpPr>
          <p:cNvPr id="434" name="Shape 5"/>
          <p:cNvSpPr/>
          <p:nvPr/>
        </p:nvSpPr>
        <p:spPr>
          <a:xfrm>
            <a:off x="594360" y="1664280"/>
            <a:ext cx="2381760" cy="772200"/>
          </a:xfrm>
          <a:prstGeom prst="roundRect">
            <a:avLst>
              <a:gd name="adj" fmla="val 4734"/>
            </a:avLst>
          </a:prstGeom>
          <a:solidFill>
            <a:srgbClr val="FFFFFF"/>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5" name="Shape 6"/>
          <p:cNvSpPr/>
          <p:nvPr/>
        </p:nvSpPr>
        <p:spPr>
          <a:xfrm>
            <a:off x="6584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6" name="Shape 7"/>
          <p:cNvSpPr/>
          <p:nvPr/>
        </p:nvSpPr>
        <p:spPr>
          <a:xfrm>
            <a:off x="7909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7" name="Shape 8"/>
          <p:cNvSpPr/>
          <p:nvPr/>
        </p:nvSpPr>
        <p:spPr>
          <a:xfrm>
            <a:off x="9234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8" name="Shape 9"/>
          <p:cNvSpPr/>
          <p:nvPr/>
        </p:nvSpPr>
        <p:spPr>
          <a:xfrm>
            <a:off x="10562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39" name="Shape 10"/>
          <p:cNvSpPr/>
          <p:nvPr/>
        </p:nvSpPr>
        <p:spPr>
          <a:xfrm>
            <a:off x="11887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0" name="Shape 11"/>
          <p:cNvSpPr/>
          <p:nvPr/>
        </p:nvSpPr>
        <p:spPr>
          <a:xfrm>
            <a:off x="13212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1" name="Shape 12"/>
          <p:cNvSpPr/>
          <p:nvPr/>
        </p:nvSpPr>
        <p:spPr>
          <a:xfrm>
            <a:off x="14540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2" name="Shape 13"/>
          <p:cNvSpPr/>
          <p:nvPr/>
        </p:nvSpPr>
        <p:spPr>
          <a:xfrm>
            <a:off x="15865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3" name="Shape 14"/>
          <p:cNvSpPr/>
          <p:nvPr/>
        </p:nvSpPr>
        <p:spPr>
          <a:xfrm>
            <a:off x="17190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4" name="Shape 15"/>
          <p:cNvSpPr/>
          <p:nvPr/>
        </p:nvSpPr>
        <p:spPr>
          <a:xfrm>
            <a:off x="185184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5" name="Shape 16"/>
          <p:cNvSpPr/>
          <p:nvPr/>
        </p:nvSpPr>
        <p:spPr>
          <a:xfrm>
            <a:off x="19843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6" name="Shape 17"/>
          <p:cNvSpPr/>
          <p:nvPr/>
        </p:nvSpPr>
        <p:spPr>
          <a:xfrm>
            <a:off x="21168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7" name="Shape 18"/>
          <p:cNvSpPr/>
          <p:nvPr/>
        </p:nvSpPr>
        <p:spPr>
          <a:xfrm>
            <a:off x="224928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8" name="Shape 19"/>
          <p:cNvSpPr/>
          <p:nvPr/>
        </p:nvSpPr>
        <p:spPr>
          <a:xfrm>
            <a:off x="23821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49" name="Shape 20"/>
          <p:cNvSpPr/>
          <p:nvPr/>
        </p:nvSpPr>
        <p:spPr>
          <a:xfrm>
            <a:off x="251460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0" name="Shape 21"/>
          <p:cNvSpPr/>
          <p:nvPr/>
        </p:nvSpPr>
        <p:spPr>
          <a:xfrm>
            <a:off x="264708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1" name="Shape 22"/>
          <p:cNvSpPr/>
          <p:nvPr/>
        </p:nvSpPr>
        <p:spPr>
          <a:xfrm>
            <a:off x="2779920" y="171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2" name="Shape 23"/>
          <p:cNvSpPr/>
          <p:nvPr/>
        </p:nvSpPr>
        <p:spPr>
          <a:xfrm>
            <a:off x="658440" y="185184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3" name="Shape 24"/>
          <p:cNvSpPr/>
          <p:nvPr/>
        </p:nvSpPr>
        <p:spPr>
          <a:xfrm>
            <a:off x="7909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4" name="Shape 25"/>
          <p:cNvSpPr/>
          <p:nvPr/>
        </p:nvSpPr>
        <p:spPr>
          <a:xfrm>
            <a:off x="804240" y="1864800"/>
            <a:ext cx="102960" cy="102960"/>
          </a:xfrm>
          <a:prstGeom prst="ellipse">
            <a:avLst/>
          </a:prstGeom>
          <a:solidFill>
            <a:srgbClr val="FACC15"/>
          </a:solidFill>
          <a:ln w="6350">
            <a:solidFill>
              <a:srgbClr val="D97706"/>
            </a:solidFill>
            <a:round/>
          </a:ln>
        </p:spPr>
        <p:style>
          <a:lnRef idx="0">
            <a:scrgbClr r="0" g="0" b="0"/>
          </a:lnRef>
          <a:fillRef idx="0">
            <a:scrgbClr r="0" g="0" b="0"/>
          </a:fillRef>
          <a:effectRef idx="0">
            <a:scrgbClr r="0" g="0" b="0"/>
          </a:effectRef>
          <a:fontRef idx="minor"/>
        </p:style>
        <p:txBody>
          <a:bodyPr lIns="90000" tIns="27720" rIns="90000" bIns="27720" anchor="t">
            <a:noAutofit/>
          </a:bodyPr>
          <a:lstStyle/>
          <a:p>
            <a:endParaRPr lang="en-US" sz="1800" b="0" u="none" strike="noStrike">
              <a:solidFill>
                <a:schemeClr val="dk1"/>
              </a:solidFill>
              <a:effectLst/>
              <a:uFillTx/>
              <a:latin typeface="Aptos"/>
            </a:endParaRPr>
          </a:p>
        </p:txBody>
      </p:sp>
      <p:sp>
        <p:nvSpPr>
          <p:cNvPr id="455" name="Shape 26"/>
          <p:cNvSpPr/>
          <p:nvPr/>
        </p:nvSpPr>
        <p:spPr>
          <a:xfrm>
            <a:off x="9234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6" name="Shape 27"/>
          <p:cNvSpPr/>
          <p:nvPr/>
        </p:nvSpPr>
        <p:spPr>
          <a:xfrm>
            <a:off x="97272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57" name="Shape 28"/>
          <p:cNvSpPr/>
          <p:nvPr/>
        </p:nvSpPr>
        <p:spPr>
          <a:xfrm>
            <a:off x="105624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58" name="Shape 29"/>
          <p:cNvSpPr/>
          <p:nvPr/>
        </p:nvSpPr>
        <p:spPr>
          <a:xfrm>
            <a:off x="11052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59" name="Shape 30"/>
          <p:cNvSpPr/>
          <p:nvPr/>
        </p:nvSpPr>
        <p:spPr>
          <a:xfrm>
            <a:off x="11887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0" name="Shape 31"/>
          <p:cNvSpPr/>
          <p:nvPr/>
        </p:nvSpPr>
        <p:spPr>
          <a:xfrm>
            <a:off x="12376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1" name="Shape 32"/>
          <p:cNvSpPr/>
          <p:nvPr/>
        </p:nvSpPr>
        <p:spPr>
          <a:xfrm>
            <a:off x="13212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2" name="Shape 33"/>
          <p:cNvSpPr/>
          <p:nvPr/>
        </p:nvSpPr>
        <p:spPr>
          <a:xfrm>
            <a:off x="137052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3" name="Shape 34"/>
          <p:cNvSpPr/>
          <p:nvPr/>
        </p:nvSpPr>
        <p:spPr>
          <a:xfrm>
            <a:off x="145404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4" name="Shape 35"/>
          <p:cNvSpPr/>
          <p:nvPr/>
        </p:nvSpPr>
        <p:spPr>
          <a:xfrm>
            <a:off x="15030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5" name="Shape 36"/>
          <p:cNvSpPr/>
          <p:nvPr/>
        </p:nvSpPr>
        <p:spPr>
          <a:xfrm>
            <a:off x="15865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6" name="Shape 37"/>
          <p:cNvSpPr/>
          <p:nvPr/>
        </p:nvSpPr>
        <p:spPr>
          <a:xfrm>
            <a:off x="16354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7" name="Shape 38"/>
          <p:cNvSpPr/>
          <p:nvPr/>
        </p:nvSpPr>
        <p:spPr>
          <a:xfrm>
            <a:off x="17190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68" name="Shape 39"/>
          <p:cNvSpPr/>
          <p:nvPr/>
        </p:nvSpPr>
        <p:spPr>
          <a:xfrm>
            <a:off x="176796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69" name="Shape 40"/>
          <p:cNvSpPr/>
          <p:nvPr/>
        </p:nvSpPr>
        <p:spPr>
          <a:xfrm>
            <a:off x="185184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0" name="Shape 41"/>
          <p:cNvSpPr/>
          <p:nvPr/>
        </p:nvSpPr>
        <p:spPr>
          <a:xfrm>
            <a:off x="19008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1" name="Shape 42"/>
          <p:cNvSpPr/>
          <p:nvPr/>
        </p:nvSpPr>
        <p:spPr>
          <a:xfrm>
            <a:off x="19843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2" name="Shape 43"/>
          <p:cNvSpPr/>
          <p:nvPr/>
        </p:nvSpPr>
        <p:spPr>
          <a:xfrm>
            <a:off x="20332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3" name="Shape 44"/>
          <p:cNvSpPr/>
          <p:nvPr/>
        </p:nvSpPr>
        <p:spPr>
          <a:xfrm>
            <a:off x="21168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4" name="Shape 45"/>
          <p:cNvSpPr/>
          <p:nvPr/>
        </p:nvSpPr>
        <p:spPr>
          <a:xfrm>
            <a:off x="216576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5" name="Shape 46"/>
          <p:cNvSpPr/>
          <p:nvPr/>
        </p:nvSpPr>
        <p:spPr>
          <a:xfrm>
            <a:off x="224928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6" name="Shape 47"/>
          <p:cNvSpPr/>
          <p:nvPr/>
        </p:nvSpPr>
        <p:spPr>
          <a:xfrm>
            <a:off x="22986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7" name="Shape 48"/>
          <p:cNvSpPr/>
          <p:nvPr/>
        </p:nvSpPr>
        <p:spPr>
          <a:xfrm>
            <a:off x="238212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78" name="Shape 49"/>
          <p:cNvSpPr/>
          <p:nvPr/>
        </p:nvSpPr>
        <p:spPr>
          <a:xfrm>
            <a:off x="243108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79" name="Shape 50"/>
          <p:cNvSpPr/>
          <p:nvPr/>
        </p:nvSpPr>
        <p:spPr>
          <a:xfrm>
            <a:off x="251460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0" name="Shape 51"/>
          <p:cNvSpPr/>
          <p:nvPr/>
        </p:nvSpPr>
        <p:spPr>
          <a:xfrm>
            <a:off x="256356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81" name="Shape 52"/>
          <p:cNvSpPr/>
          <p:nvPr/>
        </p:nvSpPr>
        <p:spPr>
          <a:xfrm>
            <a:off x="2647080" y="185184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2" name="Shape 53"/>
          <p:cNvSpPr/>
          <p:nvPr/>
        </p:nvSpPr>
        <p:spPr>
          <a:xfrm>
            <a:off x="2696400" y="190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83" name="Shape 54"/>
          <p:cNvSpPr/>
          <p:nvPr/>
        </p:nvSpPr>
        <p:spPr>
          <a:xfrm>
            <a:off x="2779920" y="185184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4" name="Shape 55"/>
          <p:cNvSpPr/>
          <p:nvPr/>
        </p:nvSpPr>
        <p:spPr>
          <a:xfrm>
            <a:off x="6584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5" name="Shape 56"/>
          <p:cNvSpPr/>
          <p:nvPr/>
        </p:nvSpPr>
        <p:spPr>
          <a:xfrm>
            <a:off x="790920" y="198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6" name="Shape 57"/>
          <p:cNvSpPr/>
          <p:nvPr/>
        </p:nvSpPr>
        <p:spPr>
          <a:xfrm>
            <a:off x="839880" y="203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487" name="Shape 58"/>
          <p:cNvSpPr/>
          <p:nvPr/>
        </p:nvSpPr>
        <p:spPr>
          <a:xfrm>
            <a:off x="9234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8" name="Shape 59"/>
          <p:cNvSpPr/>
          <p:nvPr/>
        </p:nvSpPr>
        <p:spPr>
          <a:xfrm>
            <a:off x="10562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89" name="Shape 60"/>
          <p:cNvSpPr/>
          <p:nvPr/>
        </p:nvSpPr>
        <p:spPr>
          <a:xfrm>
            <a:off x="11887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0" name="Shape 61"/>
          <p:cNvSpPr/>
          <p:nvPr/>
        </p:nvSpPr>
        <p:spPr>
          <a:xfrm>
            <a:off x="13212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1" name="Shape 62"/>
          <p:cNvSpPr/>
          <p:nvPr/>
        </p:nvSpPr>
        <p:spPr>
          <a:xfrm>
            <a:off x="14540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2" name="Shape 63"/>
          <p:cNvSpPr/>
          <p:nvPr/>
        </p:nvSpPr>
        <p:spPr>
          <a:xfrm>
            <a:off x="15865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3" name="Shape 64"/>
          <p:cNvSpPr/>
          <p:nvPr/>
        </p:nvSpPr>
        <p:spPr>
          <a:xfrm>
            <a:off x="17190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4" name="Shape 65"/>
          <p:cNvSpPr/>
          <p:nvPr/>
        </p:nvSpPr>
        <p:spPr>
          <a:xfrm>
            <a:off x="185184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5" name="Shape 66"/>
          <p:cNvSpPr/>
          <p:nvPr/>
        </p:nvSpPr>
        <p:spPr>
          <a:xfrm>
            <a:off x="19843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6" name="Shape 67"/>
          <p:cNvSpPr/>
          <p:nvPr/>
        </p:nvSpPr>
        <p:spPr>
          <a:xfrm>
            <a:off x="21168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7" name="Shape 68"/>
          <p:cNvSpPr/>
          <p:nvPr/>
        </p:nvSpPr>
        <p:spPr>
          <a:xfrm>
            <a:off x="224928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8" name="Shape 69"/>
          <p:cNvSpPr/>
          <p:nvPr/>
        </p:nvSpPr>
        <p:spPr>
          <a:xfrm>
            <a:off x="23821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499" name="Shape 70"/>
          <p:cNvSpPr/>
          <p:nvPr/>
        </p:nvSpPr>
        <p:spPr>
          <a:xfrm>
            <a:off x="251460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0" name="Shape 71"/>
          <p:cNvSpPr/>
          <p:nvPr/>
        </p:nvSpPr>
        <p:spPr>
          <a:xfrm>
            <a:off x="2647080" y="198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1" name="Shape 72"/>
          <p:cNvSpPr/>
          <p:nvPr/>
        </p:nvSpPr>
        <p:spPr>
          <a:xfrm>
            <a:off x="2696400" y="203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02" name="Shape 73"/>
          <p:cNvSpPr/>
          <p:nvPr/>
        </p:nvSpPr>
        <p:spPr>
          <a:xfrm>
            <a:off x="2779920" y="198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3" name="Shape 74"/>
          <p:cNvSpPr/>
          <p:nvPr/>
        </p:nvSpPr>
        <p:spPr>
          <a:xfrm>
            <a:off x="658440" y="211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4" name="Shape 75"/>
          <p:cNvSpPr/>
          <p:nvPr/>
        </p:nvSpPr>
        <p:spPr>
          <a:xfrm>
            <a:off x="7909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5" name="Shape 76"/>
          <p:cNvSpPr/>
          <p:nvPr/>
        </p:nvSpPr>
        <p:spPr>
          <a:xfrm>
            <a:off x="8398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06" name="Shape 77"/>
          <p:cNvSpPr/>
          <p:nvPr/>
        </p:nvSpPr>
        <p:spPr>
          <a:xfrm>
            <a:off x="9234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7" name="Shape 78"/>
          <p:cNvSpPr/>
          <p:nvPr/>
        </p:nvSpPr>
        <p:spPr>
          <a:xfrm>
            <a:off x="97272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08" name="Shape 79"/>
          <p:cNvSpPr/>
          <p:nvPr/>
        </p:nvSpPr>
        <p:spPr>
          <a:xfrm>
            <a:off x="105624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09" name="Shape 80"/>
          <p:cNvSpPr/>
          <p:nvPr/>
        </p:nvSpPr>
        <p:spPr>
          <a:xfrm>
            <a:off x="11052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0" name="Shape 81"/>
          <p:cNvSpPr/>
          <p:nvPr/>
        </p:nvSpPr>
        <p:spPr>
          <a:xfrm>
            <a:off x="11887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1" name="Shape 82"/>
          <p:cNvSpPr/>
          <p:nvPr/>
        </p:nvSpPr>
        <p:spPr>
          <a:xfrm>
            <a:off x="1217880" y="2145960"/>
            <a:ext cx="72720" cy="72720"/>
          </a:xfrm>
          <a:prstGeom prst="ellipse">
            <a:avLst/>
          </a:prstGeom>
          <a:solidFill>
            <a:srgbClr val="38BDF8"/>
          </a:solidFill>
          <a:ln w="12700">
            <a:solidFill>
              <a:srgbClr val="38BDF8">
                <a:alpha val="0"/>
              </a:srgbClr>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chemeClr val="dk1"/>
              </a:solidFill>
              <a:effectLst/>
              <a:uFillTx/>
              <a:latin typeface="Aptos"/>
            </a:endParaRPr>
          </a:p>
        </p:txBody>
      </p:sp>
      <p:sp>
        <p:nvSpPr>
          <p:cNvPr id="512" name="Shape 83"/>
          <p:cNvSpPr/>
          <p:nvPr/>
        </p:nvSpPr>
        <p:spPr>
          <a:xfrm>
            <a:off x="13212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3" name="Shape 84"/>
          <p:cNvSpPr/>
          <p:nvPr/>
        </p:nvSpPr>
        <p:spPr>
          <a:xfrm>
            <a:off x="137052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4" name="Shape 85"/>
          <p:cNvSpPr/>
          <p:nvPr/>
        </p:nvSpPr>
        <p:spPr>
          <a:xfrm>
            <a:off x="145404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5" name="Shape 86"/>
          <p:cNvSpPr/>
          <p:nvPr/>
        </p:nvSpPr>
        <p:spPr>
          <a:xfrm>
            <a:off x="15030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6" name="Shape 87"/>
          <p:cNvSpPr/>
          <p:nvPr/>
        </p:nvSpPr>
        <p:spPr>
          <a:xfrm>
            <a:off x="15865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7" name="Shape 88"/>
          <p:cNvSpPr/>
          <p:nvPr/>
        </p:nvSpPr>
        <p:spPr>
          <a:xfrm>
            <a:off x="16354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18" name="Shape 89"/>
          <p:cNvSpPr/>
          <p:nvPr/>
        </p:nvSpPr>
        <p:spPr>
          <a:xfrm>
            <a:off x="17190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19" name="Shape 90"/>
          <p:cNvSpPr/>
          <p:nvPr/>
        </p:nvSpPr>
        <p:spPr>
          <a:xfrm>
            <a:off x="176796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0" name="Shape 91"/>
          <p:cNvSpPr/>
          <p:nvPr/>
        </p:nvSpPr>
        <p:spPr>
          <a:xfrm>
            <a:off x="185184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1" name="Shape 92"/>
          <p:cNvSpPr/>
          <p:nvPr/>
        </p:nvSpPr>
        <p:spPr>
          <a:xfrm>
            <a:off x="19008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2" name="Shape 93"/>
          <p:cNvSpPr/>
          <p:nvPr/>
        </p:nvSpPr>
        <p:spPr>
          <a:xfrm>
            <a:off x="19843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3" name="Shape 94"/>
          <p:cNvSpPr/>
          <p:nvPr/>
        </p:nvSpPr>
        <p:spPr>
          <a:xfrm>
            <a:off x="20332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4" name="Shape 95"/>
          <p:cNvSpPr/>
          <p:nvPr/>
        </p:nvSpPr>
        <p:spPr>
          <a:xfrm>
            <a:off x="21168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5" name="Shape 96"/>
          <p:cNvSpPr/>
          <p:nvPr/>
        </p:nvSpPr>
        <p:spPr>
          <a:xfrm>
            <a:off x="216576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26" name="Shape 97"/>
          <p:cNvSpPr/>
          <p:nvPr/>
        </p:nvSpPr>
        <p:spPr>
          <a:xfrm>
            <a:off x="224928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7" name="Shape 98"/>
          <p:cNvSpPr/>
          <p:nvPr/>
        </p:nvSpPr>
        <p:spPr>
          <a:xfrm>
            <a:off x="2278440" y="2145960"/>
            <a:ext cx="72720" cy="72720"/>
          </a:xfrm>
          <a:prstGeom prst="ellipse">
            <a:avLst/>
          </a:prstGeom>
          <a:solidFill>
            <a:srgbClr val="38BDF8"/>
          </a:solidFill>
          <a:ln w="12700">
            <a:solidFill>
              <a:srgbClr val="38BDF8">
                <a:alpha val="0"/>
              </a:srgbClr>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chemeClr val="dk1"/>
              </a:solidFill>
              <a:effectLst/>
              <a:uFillTx/>
              <a:latin typeface="Aptos"/>
            </a:endParaRPr>
          </a:p>
        </p:txBody>
      </p:sp>
      <p:sp>
        <p:nvSpPr>
          <p:cNvPr id="528" name="Shape 99"/>
          <p:cNvSpPr/>
          <p:nvPr/>
        </p:nvSpPr>
        <p:spPr>
          <a:xfrm>
            <a:off x="238212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29" name="Shape 100"/>
          <p:cNvSpPr/>
          <p:nvPr/>
        </p:nvSpPr>
        <p:spPr>
          <a:xfrm>
            <a:off x="243108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30" name="Shape 101"/>
          <p:cNvSpPr/>
          <p:nvPr/>
        </p:nvSpPr>
        <p:spPr>
          <a:xfrm>
            <a:off x="251460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1" name="Shape 102"/>
          <p:cNvSpPr/>
          <p:nvPr/>
        </p:nvSpPr>
        <p:spPr>
          <a:xfrm>
            <a:off x="256356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32" name="Shape 103"/>
          <p:cNvSpPr/>
          <p:nvPr/>
        </p:nvSpPr>
        <p:spPr>
          <a:xfrm>
            <a:off x="2647080" y="211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3" name="Shape 104"/>
          <p:cNvSpPr/>
          <p:nvPr/>
        </p:nvSpPr>
        <p:spPr>
          <a:xfrm>
            <a:off x="2696400" y="216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34" name="Shape 105"/>
          <p:cNvSpPr/>
          <p:nvPr/>
        </p:nvSpPr>
        <p:spPr>
          <a:xfrm>
            <a:off x="2779920" y="211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5" name="Shape 106"/>
          <p:cNvSpPr/>
          <p:nvPr/>
        </p:nvSpPr>
        <p:spPr>
          <a:xfrm>
            <a:off x="6584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6" name="Shape 107"/>
          <p:cNvSpPr/>
          <p:nvPr/>
        </p:nvSpPr>
        <p:spPr>
          <a:xfrm>
            <a:off x="7909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7" name="Shape 108"/>
          <p:cNvSpPr/>
          <p:nvPr/>
        </p:nvSpPr>
        <p:spPr>
          <a:xfrm>
            <a:off x="9234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8" name="Shape 109"/>
          <p:cNvSpPr/>
          <p:nvPr/>
        </p:nvSpPr>
        <p:spPr>
          <a:xfrm>
            <a:off x="10562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39" name="Shape 110"/>
          <p:cNvSpPr/>
          <p:nvPr/>
        </p:nvSpPr>
        <p:spPr>
          <a:xfrm>
            <a:off x="11887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0" name="Shape 111"/>
          <p:cNvSpPr/>
          <p:nvPr/>
        </p:nvSpPr>
        <p:spPr>
          <a:xfrm>
            <a:off x="13212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1" name="Shape 112"/>
          <p:cNvSpPr/>
          <p:nvPr/>
        </p:nvSpPr>
        <p:spPr>
          <a:xfrm>
            <a:off x="14540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2" name="Shape 113"/>
          <p:cNvSpPr/>
          <p:nvPr/>
        </p:nvSpPr>
        <p:spPr>
          <a:xfrm>
            <a:off x="15865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3" name="Shape 114"/>
          <p:cNvSpPr/>
          <p:nvPr/>
        </p:nvSpPr>
        <p:spPr>
          <a:xfrm>
            <a:off x="17190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4" name="Shape 115"/>
          <p:cNvSpPr/>
          <p:nvPr/>
        </p:nvSpPr>
        <p:spPr>
          <a:xfrm>
            <a:off x="185184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5" name="Shape 116"/>
          <p:cNvSpPr/>
          <p:nvPr/>
        </p:nvSpPr>
        <p:spPr>
          <a:xfrm>
            <a:off x="19843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6" name="Shape 117"/>
          <p:cNvSpPr/>
          <p:nvPr/>
        </p:nvSpPr>
        <p:spPr>
          <a:xfrm>
            <a:off x="21168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7" name="Shape 118"/>
          <p:cNvSpPr/>
          <p:nvPr/>
        </p:nvSpPr>
        <p:spPr>
          <a:xfrm>
            <a:off x="224928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8" name="Shape 119"/>
          <p:cNvSpPr/>
          <p:nvPr/>
        </p:nvSpPr>
        <p:spPr>
          <a:xfrm>
            <a:off x="23821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49" name="Shape 120"/>
          <p:cNvSpPr/>
          <p:nvPr/>
        </p:nvSpPr>
        <p:spPr>
          <a:xfrm>
            <a:off x="251460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0" name="Shape 121"/>
          <p:cNvSpPr/>
          <p:nvPr/>
        </p:nvSpPr>
        <p:spPr>
          <a:xfrm>
            <a:off x="264708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1" name="Shape 122"/>
          <p:cNvSpPr/>
          <p:nvPr/>
        </p:nvSpPr>
        <p:spPr>
          <a:xfrm>
            <a:off x="2779920" y="224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2" name="Text 123"/>
          <p:cNvSpPr/>
          <p:nvPr/>
        </p:nvSpPr>
        <p:spPr>
          <a:xfrm>
            <a:off x="658440" y="3200400"/>
            <a:ext cx="2880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50" b="1" u="none" strike="noStrike">
                <a:solidFill>
                  <a:srgbClr val="132033"/>
                </a:solidFill>
                <a:effectLst/>
                <a:uFillTx/>
                <a:latin typeface="Aptos"/>
              </a:rPr>
              <a:t>Level 2: detours and branches require planning</a:t>
            </a:r>
            <a:endParaRPr lang="en-US" sz="1050" b="0" u="none" strike="noStrike">
              <a:solidFill>
                <a:srgbClr val="000000"/>
              </a:solidFill>
              <a:effectLst/>
              <a:uFillTx/>
              <a:latin typeface="Arial"/>
            </a:endParaRPr>
          </a:p>
        </p:txBody>
      </p:sp>
      <p:sp>
        <p:nvSpPr>
          <p:cNvPr id="553" name="Shape 124"/>
          <p:cNvSpPr/>
          <p:nvPr/>
        </p:nvSpPr>
        <p:spPr>
          <a:xfrm>
            <a:off x="594360" y="3374280"/>
            <a:ext cx="2381760" cy="1037520"/>
          </a:xfrm>
          <a:prstGeom prst="roundRect">
            <a:avLst>
              <a:gd name="adj" fmla="val 3524"/>
            </a:avLst>
          </a:prstGeom>
          <a:solidFill>
            <a:srgbClr val="FFFFFF"/>
          </a:solidFill>
          <a:ln w="12700">
            <a:solidFill>
              <a:srgbClr val="CBD5E1">
                <a:alpha val="8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4" name="Shape 125"/>
          <p:cNvSpPr/>
          <p:nvPr/>
        </p:nvSpPr>
        <p:spPr>
          <a:xfrm>
            <a:off x="6584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5" name="Shape 126"/>
          <p:cNvSpPr/>
          <p:nvPr/>
        </p:nvSpPr>
        <p:spPr>
          <a:xfrm>
            <a:off x="7909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6" name="Shape 127"/>
          <p:cNvSpPr/>
          <p:nvPr/>
        </p:nvSpPr>
        <p:spPr>
          <a:xfrm>
            <a:off x="9234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7" name="Shape 128"/>
          <p:cNvSpPr/>
          <p:nvPr/>
        </p:nvSpPr>
        <p:spPr>
          <a:xfrm>
            <a:off x="10562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8" name="Shape 129"/>
          <p:cNvSpPr/>
          <p:nvPr/>
        </p:nvSpPr>
        <p:spPr>
          <a:xfrm>
            <a:off x="11887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59" name="Shape 130"/>
          <p:cNvSpPr/>
          <p:nvPr/>
        </p:nvSpPr>
        <p:spPr>
          <a:xfrm>
            <a:off x="13212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0" name="Shape 131"/>
          <p:cNvSpPr/>
          <p:nvPr/>
        </p:nvSpPr>
        <p:spPr>
          <a:xfrm>
            <a:off x="14540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1" name="Shape 132"/>
          <p:cNvSpPr/>
          <p:nvPr/>
        </p:nvSpPr>
        <p:spPr>
          <a:xfrm>
            <a:off x="15865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2" name="Shape 133"/>
          <p:cNvSpPr/>
          <p:nvPr/>
        </p:nvSpPr>
        <p:spPr>
          <a:xfrm>
            <a:off x="17190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3" name="Shape 134"/>
          <p:cNvSpPr/>
          <p:nvPr/>
        </p:nvSpPr>
        <p:spPr>
          <a:xfrm>
            <a:off x="185184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4" name="Shape 135"/>
          <p:cNvSpPr/>
          <p:nvPr/>
        </p:nvSpPr>
        <p:spPr>
          <a:xfrm>
            <a:off x="19843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5" name="Shape 136"/>
          <p:cNvSpPr/>
          <p:nvPr/>
        </p:nvSpPr>
        <p:spPr>
          <a:xfrm>
            <a:off x="21168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6" name="Shape 137"/>
          <p:cNvSpPr/>
          <p:nvPr/>
        </p:nvSpPr>
        <p:spPr>
          <a:xfrm>
            <a:off x="224928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7" name="Shape 138"/>
          <p:cNvSpPr/>
          <p:nvPr/>
        </p:nvSpPr>
        <p:spPr>
          <a:xfrm>
            <a:off x="23821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8" name="Shape 139"/>
          <p:cNvSpPr/>
          <p:nvPr/>
        </p:nvSpPr>
        <p:spPr>
          <a:xfrm>
            <a:off x="251460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69" name="Shape 140"/>
          <p:cNvSpPr/>
          <p:nvPr/>
        </p:nvSpPr>
        <p:spPr>
          <a:xfrm>
            <a:off x="264708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0" name="Shape 141"/>
          <p:cNvSpPr/>
          <p:nvPr/>
        </p:nvSpPr>
        <p:spPr>
          <a:xfrm>
            <a:off x="2779920" y="34290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1" name="Shape 142"/>
          <p:cNvSpPr/>
          <p:nvPr/>
        </p:nvSpPr>
        <p:spPr>
          <a:xfrm>
            <a:off x="658440" y="35614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2" name="Shape 143"/>
          <p:cNvSpPr/>
          <p:nvPr/>
        </p:nvSpPr>
        <p:spPr>
          <a:xfrm>
            <a:off x="7909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3" name="Shape 144"/>
          <p:cNvSpPr/>
          <p:nvPr/>
        </p:nvSpPr>
        <p:spPr>
          <a:xfrm>
            <a:off x="804240" y="3574800"/>
            <a:ext cx="102960" cy="102960"/>
          </a:xfrm>
          <a:prstGeom prst="ellipse">
            <a:avLst/>
          </a:prstGeom>
          <a:solidFill>
            <a:srgbClr val="FACC15"/>
          </a:solidFill>
          <a:ln w="6350">
            <a:solidFill>
              <a:srgbClr val="D97706"/>
            </a:solidFill>
            <a:round/>
          </a:ln>
        </p:spPr>
        <p:style>
          <a:lnRef idx="0">
            <a:scrgbClr r="0" g="0" b="0"/>
          </a:lnRef>
          <a:fillRef idx="0">
            <a:scrgbClr r="0" g="0" b="0"/>
          </a:fillRef>
          <a:effectRef idx="0">
            <a:scrgbClr r="0" g="0" b="0"/>
          </a:effectRef>
          <a:fontRef idx="minor"/>
        </p:style>
        <p:txBody>
          <a:bodyPr lIns="90000" tIns="27720" rIns="90000" bIns="27720" anchor="t">
            <a:noAutofit/>
          </a:bodyPr>
          <a:lstStyle/>
          <a:p>
            <a:endParaRPr lang="en-US" sz="1800" b="0" u="none" strike="noStrike">
              <a:solidFill>
                <a:schemeClr val="dk1"/>
              </a:solidFill>
              <a:effectLst/>
              <a:uFillTx/>
              <a:latin typeface="Aptos"/>
            </a:endParaRPr>
          </a:p>
        </p:txBody>
      </p:sp>
      <p:sp>
        <p:nvSpPr>
          <p:cNvPr id="574" name="Shape 145"/>
          <p:cNvSpPr/>
          <p:nvPr/>
        </p:nvSpPr>
        <p:spPr>
          <a:xfrm>
            <a:off x="9234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5" name="Shape 146"/>
          <p:cNvSpPr/>
          <p:nvPr/>
        </p:nvSpPr>
        <p:spPr>
          <a:xfrm>
            <a:off x="97272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76" name="Shape 147"/>
          <p:cNvSpPr/>
          <p:nvPr/>
        </p:nvSpPr>
        <p:spPr>
          <a:xfrm>
            <a:off x="105624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7" name="Shape 148"/>
          <p:cNvSpPr/>
          <p:nvPr/>
        </p:nvSpPr>
        <p:spPr>
          <a:xfrm>
            <a:off x="11052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78" name="Shape 149"/>
          <p:cNvSpPr/>
          <p:nvPr/>
        </p:nvSpPr>
        <p:spPr>
          <a:xfrm>
            <a:off x="11887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79" name="Shape 150"/>
          <p:cNvSpPr/>
          <p:nvPr/>
        </p:nvSpPr>
        <p:spPr>
          <a:xfrm>
            <a:off x="12376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0" name="Shape 151"/>
          <p:cNvSpPr/>
          <p:nvPr/>
        </p:nvSpPr>
        <p:spPr>
          <a:xfrm>
            <a:off x="13212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1" name="Shape 152"/>
          <p:cNvSpPr/>
          <p:nvPr/>
        </p:nvSpPr>
        <p:spPr>
          <a:xfrm>
            <a:off x="137052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2" name="Shape 153"/>
          <p:cNvSpPr/>
          <p:nvPr/>
        </p:nvSpPr>
        <p:spPr>
          <a:xfrm>
            <a:off x="145404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3" name="Shape 154"/>
          <p:cNvSpPr/>
          <p:nvPr/>
        </p:nvSpPr>
        <p:spPr>
          <a:xfrm>
            <a:off x="15030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4" name="Shape 155"/>
          <p:cNvSpPr/>
          <p:nvPr/>
        </p:nvSpPr>
        <p:spPr>
          <a:xfrm>
            <a:off x="15865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5" name="Shape 156"/>
          <p:cNvSpPr/>
          <p:nvPr/>
        </p:nvSpPr>
        <p:spPr>
          <a:xfrm>
            <a:off x="16354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6" name="Shape 157"/>
          <p:cNvSpPr/>
          <p:nvPr/>
        </p:nvSpPr>
        <p:spPr>
          <a:xfrm>
            <a:off x="17190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7" name="Shape 158"/>
          <p:cNvSpPr/>
          <p:nvPr/>
        </p:nvSpPr>
        <p:spPr>
          <a:xfrm>
            <a:off x="176796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88" name="Shape 159"/>
          <p:cNvSpPr/>
          <p:nvPr/>
        </p:nvSpPr>
        <p:spPr>
          <a:xfrm>
            <a:off x="185184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89" name="Shape 160"/>
          <p:cNvSpPr/>
          <p:nvPr/>
        </p:nvSpPr>
        <p:spPr>
          <a:xfrm>
            <a:off x="19008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0" name="Shape 161"/>
          <p:cNvSpPr/>
          <p:nvPr/>
        </p:nvSpPr>
        <p:spPr>
          <a:xfrm>
            <a:off x="19843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1" name="Shape 162"/>
          <p:cNvSpPr/>
          <p:nvPr/>
        </p:nvSpPr>
        <p:spPr>
          <a:xfrm>
            <a:off x="20332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2" name="Shape 163"/>
          <p:cNvSpPr/>
          <p:nvPr/>
        </p:nvSpPr>
        <p:spPr>
          <a:xfrm>
            <a:off x="21168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3" name="Shape 164"/>
          <p:cNvSpPr/>
          <p:nvPr/>
        </p:nvSpPr>
        <p:spPr>
          <a:xfrm>
            <a:off x="216576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4" name="Shape 165"/>
          <p:cNvSpPr/>
          <p:nvPr/>
        </p:nvSpPr>
        <p:spPr>
          <a:xfrm>
            <a:off x="224928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5" name="Shape 166"/>
          <p:cNvSpPr/>
          <p:nvPr/>
        </p:nvSpPr>
        <p:spPr>
          <a:xfrm>
            <a:off x="22986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6" name="Shape 167"/>
          <p:cNvSpPr/>
          <p:nvPr/>
        </p:nvSpPr>
        <p:spPr>
          <a:xfrm>
            <a:off x="238212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7" name="Shape 168"/>
          <p:cNvSpPr/>
          <p:nvPr/>
        </p:nvSpPr>
        <p:spPr>
          <a:xfrm>
            <a:off x="243108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598" name="Shape 169"/>
          <p:cNvSpPr/>
          <p:nvPr/>
        </p:nvSpPr>
        <p:spPr>
          <a:xfrm>
            <a:off x="251460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599" name="Shape 170"/>
          <p:cNvSpPr/>
          <p:nvPr/>
        </p:nvSpPr>
        <p:spPr>
          <a:xfrm>
            <a:off x="256356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00" name="Shape 171"/>
          <p:cNvSpPr/>
          <p:nvPr/>
        </p:nvSpPr>
        <p:spPr>
          <a:xfrm>
            <a:off x="2647080" y="35614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1" name="Shape 172"/>
          <p:cNvSpPr/>
          <p:nvPr/>
        </p:nvSpPr>
        <p:spPr>
          <a:xfrm>
            <a:off x="2696400" y="361080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02" name="Shape 173"/>
          <p:cNvSpPr/>
          <p:nvPr/>
        </p:nvSpPr>
        <p:spPr>
          <a:xfrm>
            <a:off x="2779920" y="35614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3" name="Shape 174"/>
          <p:cNvSpPr/>
          <p:nvPr/>
        </p:nvSpPr>
        <p:spPr>
          <a:xfrm>
            <a:off x="6584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4" name="Shape 175"/>
          <p:cNvSpPr/>
          <p:nvPr/>
        </p:nvSpPr>
        <p:spPr>
          <a:xfrm>
            <a:off x="7909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5" name="Shape 176"/>
          <p:cNvSpPr/>
          <p:nvPr/>
        </p:nvSpPr>
        <p:spPr>
          <a:xfrm>
            <a:off x="9234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6" name="Shape 177"/>
          <p:cNvSpPr/>
          <p:nvPr/>
        </p:nvSpPr>
        <p:spPr>
          <a:xfrm>
            <a:off x="10562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7" name="Shape 178"/>
          <p:cNvSpPr/>
          <p:nvPr/>
        </p:nvSpPr>
        <p:spPr>
          <a:xfrm>
            <a:off x="11887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8" name="Shape 179"/>
          <p:cNvSpPr/>
          <p:nvPr/>
        </p:nvSpPr>
        <p:spPr>
          <a:xfrm>
            <a:off x="1321200" y="369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09" name="Shape 180"/>
          <p:cNvSpPr/>
          <p:nvPr/>
        </p:nvSpPr>
        <p:spPr>
          <a:xfrm>
            <a:off x="1370520" y="374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10" name="Shape 181"/>
          <p:cNvSpPr/>
          <p:nvPr/>
        </p:nvSpPr>
        <p:spPr>
          <a:xfrm>
            <a:off x="14540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1" name="Shape 182"/>
          <p:cNvSpPr/>
          <p:nvPr/>
        </p:nvSpPr>
        <p:spPr>
          <a:xfrm>
            <a:off x="15865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2" name="Shape 183"/>
          <p:cNvSpPr/>
          <p:nvPr/>
        </p:nvSpPr>
        <p:spPr>
          <a:xfrm>
            <a:off x="17190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3" name="Shape 184"/>
          <p:cNvSpPr/>
          <p:nvPr/>
        </p:nvSpPr>
        <p:spPr>
          <a:xfrm>
            <a:off x="185184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4" name="Shape 185"/>
          <p:cNvSpPr/>
          <p:nvPr/>
        </p:nvSpPr>
        <p:spPr>
          <a:xfrm>
            <a:off x="19843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5" name="Shape 186"/>
          <p:cNvSpPr/>
          <p:nvPr/>
        </p:nvSpPr>
        <p:spPr>
          <a:xfrm>
            <a:off x="21168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6" name="Shape 187"/>
          <p:cNvSpPr/>
          <p:nvPr/>
        </p:nvSpPr>
        <p:spPr>
          <a:xfrm>
            <a:off x="224928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7" name="Shape 188"/>
          <p:cNvSpPr/>
          <p:nvPr/>
        </p:nvSpPr>
        <p:spPr>
          <a:xfrm>
            <a:off x="23821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8" name="Shape 189"/>
          <p:cNvSpPr/>
          <p:nvPr/>
        </p:nvSpPr>
        <p:spPr>
          <a:xfrm>
            <a:off x="251460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19" name="Shape 190"/>
          <p:cNvSpPr/>
          <p:nvPr/>
        </p:nvSpPr>
        <p:spPr>
          <a:xfrm>
            <a:off x="2647080" y="36943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0" name="Shape 191"/>
          <p:cNvSpPr/>
          <p:nvPr/>
        </p:nvSpPr>
        <p:spPr>
          <a:xfrm>
            <a:off x="2696400" y="37432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1" name="Shape 192"/>
          <p:cNvSpPr/>
          <p:nvPr/>
        </p:nvSpPr>
        <p:spPr>
          <a:xfrm>
            <a:off x="2779920" y="36943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2" name="Shape 193"/>
          <p:cNvSpPr/>
          <p:nvPr/>
        </p:nvSpPr>
        <p:spPr>
          <a:xfrm>
            <a:off x="65844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3" name="Shape 194"/>
          <p:cNvSpPr/>
          <p:nvPr/>
        </p:nvSpPr>
        <p:spPr>
          <a:xfrm>
            <a:off x="7909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4" name="Shape 195"/>
          <p:cNvSpPr/>
          <p:nvPr/>
        </p:nvSpPr>
        <p:spPr>
          <a:xfrm>
            <a:off x="8398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5" name="Shape 196"/>
          <p:cNvSpPr/>
          <p:nvPr/>
        </p:nvSpPr>
        <p:spPr>
          <a:xfrm>
            <a:off x="9234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6" name="Shape 197"/>
          <p:cNvSpPr/>
          <p:nvPr/>
        </p:nvSpPr>
        <p:spPr>
          <a:xfrm>
            <a:off x="97272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7" name="Shape 198"/>
          <p:cNvSpPr/>
          <p:nvPr/>
        </p:nvSpPr>
        <p:spPr>
          <a:xfrm>
            <a:off x="105624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28" name="Shape 199"/>
          <p:cNvSpPr/>
          <p:nvPr/>
        </p:nvSpPr>
        <p:spPr>
          <a:xfrm>
            <a:off x="11052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29" name="Shape 200"/>
          <p:cNvSpPr/>
          <p:nvPr/>
        </p:nvSpPr>
        <p:spPr>
          <a:xfrm>
            <a:off x="118872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0" name="Shape 201"/>
          <p:cNvSpPr/>
          <p:nvPr/>
        </p:nvSpPr>
        <p:spPr>
          <a:xfrm>
            <a:off x="13212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1" name="Shape 202"/>
          <p:cNvSpPr/>
          <p:nvPr/>
        </p:nvSpPr>
        <p:spPr>
          <a:xfrm>
            <a:off x="137052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2" name="Shape 203"/>
          <p:cNvSpPr/>
          <p:nvPr/>
        </p:nvSpPr>
        <p:spPr>
          <a:xfrm>
            <a:off x="145404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3" name="Shape 204"/>
          <p:cNvSpPr/>
          <p:nvPr/>
        </p:nvSpPr>
        <p:spPr>
          <a:xfrm>
            <a:off x="15030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4" name="Shape 205"/>
          <p:cNvSpPr/>
          <p:nvPr/>
        </p:nvSpPr>
        <p:spPr>
          <a:xfrm>
            <a:off x="15865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5" name="Shape 206"/>
          <p:cNvSpPr/>
          <p:nvPr/>
        </p:nvSpPr>
        <p:spPr>
          <a:xfrm>
            <a:off x="16354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6" name="Shape 207"/>
          <p:cNvSpPr/>
          <p:nvPr/>
        </p:nvSpPr>
        <p:spPr>
          <a:xfrm>
            <a:off x="171900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7" name="Shape 208"/>
          <p:cNvSpPr/>
          <p:nvPr/>
        </p:nvSpPr>
        <p:spPr>
          <a:xfrm>
            <a:off x="185184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38" name="Shape 209"/>
          <p:cNvSpPr/>
          <p:nvPr/>
        </p:nvSpPr>
        <p:spPr>
          <a:xfrm>
            <a:off x="19008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39" name="Shape 210"/>
          <p:cNvSpPr/>
          <p:nvPr/>
        </p:nvSpPr>
        <p:spPr>
          <a:xfrm>
            <a:off x="19843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0" name="Shape 211"/>
          <p:cNvSpPr/>
          <p:nvPr/>
        </p:nvSpPr>
        <p:spPr>
          <a:xfrm>
            <a:off x="20332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1" name="Shape 212"/>
          <p:cNvSpPr/>
          <p:nvPr/>
        </p:nvSpPr>
        <p:spPr>
          <a:xfrm>
            <a:off x="21168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2" name="Shape 213"/>
          <p:cNvSpPr/>
          <p:nvPr/>
        </p:nvSpPr>
        <p:spPr>
          <a:xfrm>
            <a:off x="216576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3" name="Shape 214"/>
          <p:cNvSpPr/>
          <p:nvPr/>
        </p:nvSpPr>
        <p:spPr>
          <a:xfrm>
            <a:off x="224928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4" name="Shape 215"/>
          <p:cNvSpPr/>
          <p:nvPr/>
        </p:nvSpPr>
        <p:spPr>
          <a:xfrm>
            <a:off x="22986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5" name="Shape 216"/>
          <p:cNvSpPr/>
          <p:nvPr/>
        </p:nvSpPr>
        <p:spPr>
          <a:xfrm>
            <a:off x="238212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6" name="Shape 217"/>
          <p:cNvSpPr/>
          <p:nvPr/>
        </p:nvSpPr>
        <p:spPr>
          <a:xfrm>
            <a:off x="243108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7" name="Shape 218"/>
          <p:cNvSpPr/>
          <p:nvPr/>
        </p:nvSpPr>
        <p:spPr>
          <a:xfrm>
            <a:off x="251460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48" name="Shape 219"/>
          <p:cNvSpPr/>
          <p:nvPr/>
        </p:nvSpPr>
        <p:spPr>
          <a:xfrm>
            <a:off x="256356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49" name="Shape 220"/>
          <p:cNvSpPr/>
          <p:nvPr/>
        </p:nvSpPr>
        <p:spPr>
          <a:xfrm>
            <a:off x="2647080" y="382680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0" name="Shape 221"/>
          <p:cNvSpPr/>
          <p:nvPr/>
        </p:nvSpPr>
        <p:spPr>
          <a:xfrm>
            <a:off x="2696400" y="387576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51" name="Shape 222"/>
          <p:cNvSpPr/>
          <p:nvPr/>
        </p:nvSpPr>
        <p:spPr>
          <a:xfrm>
            <a:off x="2779920" y="38268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2" name="Shape 223"/>
          <p:cNvSpPr/>
          <p:nvPr/>
        </p:nvSpPr>
        <p:spPr>
          <a:xfrm>
            <a:off x="65844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3" name="Shape 224"/>
          <p:cNvSpPr/>
          <p:nvPr/>
        </p:nvSpPr>
        <p:spPr>
          <a:xfrm>
            <a:off x="7909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4" name="Shape 225"/>
          <p:cNvSpPr/>
          <p:nvPr/>
        </p:nvSpPr>
        <p:spPr>
          <a:xfrm>
            <a:off x="9234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5" name="Shape 226"/>
          <p:cNvSpPr/>
          <p:nvPr/>
        </p:nvSpPr>
        <p:spPr>
          <a:xfrm>
            <a:off x="1056240" y="39592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6" name="Shape 227"/>
          <p:cNvSpPr/>
          <p:nvPr/>
        </p:nvSpPr>
        <p:spPr>
          <a:xfrm>
            <a:off x="1105200" y="400824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57" name="Shape 228"/>
          <p:cNvSpPr/>
          <p:nvPr/>
        </p:nvSpPr>
        <p:spPr>
          <a:xfrm>
            <a:off x="11887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8" name="Shape 229"/>
          <p:cNvSpPr/>
          <p:nvPr/>
        </p:nvSpPr>
        <p:spPr>
          <a:xfrm>
            <a:off x="13212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59" name="Shape 230"/>
          <p:cNvSpPr/>
          <p:nvPr/>
        </p:nvSpPr>
        <p:spPr>
          <a:xfrm>
            <a:off x="145404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0" name="Shape 231"/>
          <p:cNvSpPr/>
          <p:nvPr/>
        </p:nvSpPr>
        <p:spPr>
          <a:xfrm>
            <a:off x="15865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1" name="Shape 232"/>
          <p:cNvSpPr/>
          <p:nvPr/>
        </p:nvSpPr>
        <p:spPr>
          <a:xfrm>
            <a:off x="17190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2" name="Shape 233"/>
          <p:cNvSpPr/>
          <p:nvPr/>
        </p:nvSpPr>
        <p:spPr>
          <a:xfrm>
            <a:off x="1851840" y="39592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3" name="Shape 234"/>
          <p:cNvSpPr/>
          <p:nvPr/>
        </p:nvSpPr>
        <p:spPr>
          <a:xfrm>
            <a:off x="1900800" y="400824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64" name="Shape 235"/>
          <p:cNvSpPr/>
          <p:nvPr/>
        </p:nvSpPr>
        <p:spPr>
          <a:xfrm>
            <a:off x="19843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5" name="Shape 236"/>
          <p:cNvSpPr/>
          <p:nvPr/>
        </p:nvSpPr>
        <p:spPr>
          <a:xfrm>
            <a:off x="21168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6" name="Shape 237"/>
          <p:cNvSpPr/>
          <p:nvPr/>
        </p:nvSpPr>
        <p:spPr>
          <a:xfrm>
            <a:off x="224928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7" name="Shape 238"/>
          <p:cNvSpPr/>
          <p:nvPr/>
        </p:nvSpPr>
        <p:spPr>
          <a:xfrm>
            <a:off x="23821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8" name="Shape 239"/>
          <p:cNvSpPr/>
          <p:nvPr/>
        </p:nvSpPr>
        <p:spPr>
          <a:xfrm>
            <a:off x="251460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69" name="Shape 240"/>
          <p:cNvSpPr/>
          <p:nvPr/>
        </p:nvSpPr>
        <p:spPr>
          <a:xfrm>
            <a:off x="2647080" y="395928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0" name="Shape 241"/>
          <p:cNvSpPr/>
          <p:nvPr/>
        </p:nvSpPr>
        <p:spPr>
          <a:xfrm>
            <a:off x="2696400" y="400824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1" name="Shape 242"/>
          <p:cNvSpPr/>
          <p:nvPr/>
        </p:nvSpPr>
        <p:spPr>
          <a:xfrm>
            <a:off x="2779920" y="395928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2" name="Shape 243"/>
          <p:cNvSpPr/>
          <p:nvPr/>
        </p:nvSpPr>
        <p:spPr>
          <a:xfrm>
            <a:off x="658440" y="40921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3" name="Shape 244"/>
          <p:cNvSpPr/>
          <p:nvPr/>
        </p:nvSpPr>
        <p:spPr>
          <a:xfrm>
            <a:off x="7909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4" name="Shape 245"/>
          <p:cNvSpPr/>
          <p:nvPr/>
        </p:nvSpPr>
        <p:spPr>
          <a:xfrm>
            <a:off x="8398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5" name="Shape 246"/>
          <p:cNvSpPr/>
          <p:nvPr/>
        </p:nvSpPr>
        <p:spPr>
          <a:xfrm>
            <a:off x="9234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6" name="Shape 247"/>
          <p:cNvSpPr/>
          <p:nvPr/>
        </p:nvSpPr>
        <p:spPr>
          <a:xfrm>
            <a:off x="97272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7" name="Shape 248"/>
          <p:cNvSpPr/>
          <p:nvPr/>
        </p:nvSpPr>
        <p:spPr>
          <a:xfrm>
            <a:off x="105624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78" name="Shape 249"/>
          <p:cNvSpPr/>
          <p:nvPr/>
        </p:nvSpPr>
        <p:spPr>
          <a:xfrm>
            <a:off x="11052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79" name="Shape 250"/>
          <p:cNvSpPr/>
          <p:nvPr/>
        </p:nvSpPr>
        <p:spPr>
          <a:xfrm>
            <a:off x="11887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0" name="Shape 251"/>
          <p:cNvSpPr/>
          <p:nvPr/>
        </p:nvSpPr>
        <p:spPr>
          <a:xfrm>
            <a:off x="12376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1" name="Shape 252"/>
          <p:cNvSpPr/>
          <p:nvPr/>
        </p:nvSpPr>
        <p:spPr>
          <a:xfrm>
            <a:off x="13212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2" name="Shape 253"/>
          <p:cNvSpPr/>
          <p:nvPr/>
        </p:nvSpPr>
        <p:spPr>
          <a:xfrm>
            <a:off x="137052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3" name="Shape 254"/>
          <p:cNvSpPr/>
          <p:nvPr/>
        </p:nvSpPr>
        <p:spPr>
          <a:xfrm>
            <a:off x="145404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4" name="Shape 255"/>
          <p:cNvSpPr/>
          <p:nvPr/>
        </p:nvSpPr>
        <p:spPr>
          <a:xfrm>
            <a:off x="15030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5" name="Shape 256"/>
          <p:cNvSpPr/>
          <p:nvPr/>
        </p:nvSpPr>
        <p:spPr>
          <a:xfrm>
            <a:off x="15865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6" name="Shape 257"/>
          <p:cNvSpPr/>
          <p:nvPr/>
        </p:nvSpPr>
        <p:spPr>
          <a:xfrm>
            <a:off x="16354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7" name="Shape 258"/>
          <p:cNvSpPr/>
          <p:nvPr/>
        </p:nvSpPr>
        <p:spPr>
          <a:xfrm>
            <a:off x="17190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88" name="Shape 259"/>
          <p:cNvSpPr/>
          <p:nvPr/>
        </p:nvSpPr>
        <p:spPr>
          <a:xfrm>
            <a:off x="176796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89" name="Shape 260"/>
          <p:cNvSpPr/>
          <p:nvPr/>
        </p:nvSpPr>
        <p:spPr>
          <a:xfrm>
            <a:off x="185184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0" name="Shape 261"/>
          <p:cNvSpPr/>
          <p:nvPr/>
        </p:nvSpPr>
        <p:spPr>
          <a:xfrm>
            <a:off x="19008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1" name="Shape 262"/>
          <p:cNvSpPr/>
          <p:nvPr/>
        </p:nvSpPr>
        <p:spPr>
          <a:xfrm>
            <a:off x="19843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2" name="Shape 263"/>
          <p:cNvSpPr/>
          <p:nvPr/>
        </p:nvSpPr>
        <p:spPr>
          <a:xfrm>
            <a:off x="20332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3" name="Shape 264"/>
          <p:cNvSpPr/>
          <p:nvPr/>
        </p:nvSpPr>
        <p:spPr>
          <a:xfrm>
            <a:off x="21168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4" name="Shape 265"/>
          <p:cNvSpPr/>
          <p:nvPr/>
        </p:nvSpPr>
        <p:spPr>
          <a:xfrm>
            <a:off x="216576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5" name="Shape 266"/>
          <p:cNvSpPr/>
          <p:nvPr/>
        </p:nvSpPr>
        <p:spPr>
          <a:xfrm>
            <a:off x="224928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6" name="Shape 267"/>
          <p:cNvSpPr/>
          <p:nvPr/>
        </p:nvSpPr>
        <p:spPr>
          <a:xfrm>
            <a:off x="22986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7" name="Shape 268"/>
          <p:cNvSpPr/>
          <p:nvPr/>
        </p:nvSpPr>
        <p:spPr>
          <a:xfrm>
            <a:off x="238212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698" name="Shape 269"/>
          <p:cNvSpPr/>
          <p:nvPr/>
        </p:nvSpPr>
        <p:spPr>
          <a:xfrm>
            <a:off x="243108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699" name="Shape 270"/>
          <p:cNvSpPr/>
          <p:nvPr/>
        </p:nvSpPr>
        <p:spPr>
          <a:xfrm>
            <a:off x="251460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0" name="Shape 271"/>
          <p:cNvSpPr/>
          <p:nvPr/>
        </p:nvSpPr>
        <p:spPr>
          <a:xfrm>
            <a:off x="256356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701" name="Shape 272"/>
          <p:cNvSpPr/>
          <p:nvPr/>
        </p:nvSpPr>
        <p:spPr>
          <a:xfrm>
            <a:off x="2647080" y="4092120"/>
            <a:ext cx="129600" cy="129600"/>
          </a:xfrm>
          <a:prstGeom prst="rect">
            <a:avLst/>
          </a:prstGeom>
          <a:solidFill>
            <a:srgbClr val="F9FBFF"/>
          </a:solidFill>
          <a:ln w="12700">
            <a:solidFill>
              <a:srgbClr val="EEF2F7">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2" name="Shape 273"/>
          <p:cNvSpPr/>
          <p:nvPr/>
        </p:nvSpPr>
        <p:spPr>
          <a:xfrm>
            <a:off x="2696400" y="4141080"/>
            <a:ext cx="32760" cy="32760"/>
          </a:xfrm>
          <a:prstGeom prst="ellipse">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21600" rIns="90000" bIns="-21600" anchor="t">
            <a:noAutofit/>
          </a:bodyPr>
          <a:lstStyle/>
          <a:p>
            <a:endParaRPr lang="en-US" sz="1800" b="0" u="none" strike="noStrike">
              <a:solidFill>
                <a:schemeClr val="dk1"/>
              </a:solidFill>
              <a:effectLst/>
              <a:uFillTx/>
              <a:latin typeface="Aptos"/>
            </a:endParaRPr>
          </a:p>
        </p:txBody>
      </p:sp>
      <p:sp>
        <p:nvSpPr>
          <p:cNvPr id="703" name="Shape 274"/>
          <p:cNvSpPr/>
          <p:nvPr/>
        </p:nvSpPr>
        <p:spPr>
          <a:xfrm>
            <a:off x="2779920" y="409212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4" name="Shape 275"/>
          <p:cNvSpPr/>
          <p:nvPr/>
        </p:nvSpPr>
        <p:spPr>
          <a:xfrm>
            <a:off x="6584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5" name="Shape 276"/>
          <p:cNvSpPr/>
          <p:nvPr/>
        </p:nvSpPr>
        <p:spPr>
          <a:xfrm>
            <a:off x="7909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6" name="Shape 277"/>
          <p:cNvSpPr/>
          <p:nvPr/>
        </p:nvSpPr>
        <p:spPr>
          <a:xfrm>
            <a:off x="9234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7" name="Shape 278"/>
          <p:cNvSpPr/>
          <p:nvPr/>
        </p:nvSpPr>
        <p:spPr>
          <a:xfrm>
            <a:off x="10562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8" name="Shape 279"/>
          <p:cNvSpPr/>
          <p:nvPr/>
        </p:nvSpPr>
        <p:spPr>
          <a:xfrm>
            <a:off x="11887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09" name="Shape 280"/>
          <p:cNvSpPr/>
          <p:nvPr/>
        </p:nvSpPr>
        <p:spPr>
          <a:xfrm>
            <a:off x="13212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0" name="Shape 281"/>
          <p:cNvSpPr/>
          <p:nvPr/>
        </p:nvSpPr>
        <p:spPr>
          <a:xfrm>
            <a:off x="14540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1" name="Shape 282"/>
          <p:cNvSpPr/>
          <p:nvPr/>
        </p:nvSpPr>
        <p:spPr>
          <a:xfrm>
            <a:off x="15865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2" name="Shape 283"/>
          <p:cNvSpPr/>
          <p:nvPr/>
        </p:nvSpPr>
        <p:spPr>
          <a:xfrm>
            <a:off x="17190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3" name="Shape 284"/>
          <p:cNvSpPr/>
          <p:nvPr/>
        </p:nvSpPr>
        <p:spPr>
          <a:xfrm>
            <a:off x="185184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4" name="Shape 285"/>
          <p:cNvSpPr/>
          <p:nvPr/>
        </p:nvSpPr>
        <p:spPr>
          <a:xfrm>
            <a:off x="19843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5" name="Shape 286"/>
          <p:cNvSpPr/>
          <p:nvPr/>
        </p:nvSpPr>
        <p:spPr>
          <a:xfrm>
            <a:off x="21168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6" name="Shape 287"/>
          <p:cNvSpPr/>
          <p:nvPr/>
        </p:nvSpPr>
        <p:spPr>
          <a:xfrm>
            <a:off x="224928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7" name="Shape 288"/>
          <p:cNvSpPr/>
          <p:nvPr/>
        </p:nvSpPr>
        <p:spPr>
          <a:xfrm>
            <a:off x="23821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8" name="Shape 289"/>
          <p:cNvSpPr/>
          <p:nvPr/>
        </p:nvSpPr>
        <p:spPr>
          <a:xfrm>
            <a:off x="251460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19" name="Shape 290"/>
          <p:cNvSpPr/>
          <p:nvPr/>
        </p:nvSpPr>
        <p:spPr>
          <a:xfrm>
            <a:off x="264708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0" name="Shape 291"/>
          <p:cNvSpPr/>
          <p:nvPr/>
        </p:nvSpPr>
        <p:spPr>
          <a:xfrm>
            <a:off x="2779920" y="4224600"/>
            <a:ext cx="129600" cy="129600"/>
          </a:xfrm>
          <a:prstGeom prst="rect">
            <a:avLst/>
          </a:prstGeom>
          <a:solidFill>
            <a:srgbClr val="17223B"/>
          </a:solidFill>
          <a:ln w="12700">
            <a:solidFill>
              <a:srgbClr val="17223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1" name="Shape 292"/>
          <p:cNvSpPr/>
          <p:nvPr/>
        </p:nvSpPr>
        <p:spPr>
          <a:xfrm>
            <a:off x="4069080" y="1508760"/>
            <a:ext cx="3062880" cy="1389600"/>
          </a:xfrm>
          <a:prstGeom prst="roundRect">
            <a:avLst>
              <a:gd name="adj" fmla="val 5263"/>
            </a:avLst>
          </a:prstGeom>
          <a:solidFill>
            <a:srgbClr val="FFF7F7"/>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2" name="Shape 293"/>
          <p:cNvSpPr/>
          <p:nvPr/>
        </p:nvSpPr>
        <p:spPr>
          <a:xfrm>
            <a:off x="4069080" y="1508760"/>
            <a:ext cx="63720" cy="1389600"/>
          </a:xfrm>
          <a:prstGeom prst="rect">
            <a:avLst/>
          </a:prstGeom>
          <a:solidFill>
            <a:srgbClr val="DC2626"/>
          </a:solidFill>
          <a:ln w="12700">
            <a:solidFill>
              <a:srgbClr val="DC2626">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3" name="Text 294"/>
          <p:cNvSpPr/>
          <p:nvPr/>
        </p:nvSpPr>
        <p:spPr>
          <a:xfrm>
            <a:off x="4270320" y="1673280"/>
            <a:ext cx="2697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Observed issue</a:t>
            </a:r>
            <a:endParaRPr lang="en-US" sz="1350" b="0" u="none" strike="noStrike">
              <a:solidFill>
                <a:srgbClr val="000000"/>
              </a:solidFill>
              <a:effectLst/>
              <a:uFillTx/>
              <a:latin typeface="Arial"/>
            </a:endParaRPr>
          </a:p>
        </p:txBody>
      </p:sp>
      <p:sp>
        <p:nvSpPr>
          <p:cNvPr id="724" name="Text 295"/>
          <p:cNvSpPr/>
          <p:nvPr/>
        </p:nvSpPr>
        <p:spPr>
          <a:xfrm>
            <a:off x="4270320" y="1984320"/>
            <a:ext cx="2697120" cy="822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The rules eat adjacent pellets and then continue or pick the first legal action. Once food is not adjacent, the agent has no search frontier, no map of unvisited corridors, and no target.</a:t>
            </a:r>
            <a:endParaRPr lang="en-US" sz="1050" b="0" u="none" strike="noStrike">
              <a:solidFill>
                <a:srgbClr val="000000"/>
              </a:solidFill>
              <a:effectLst/>
              <a:uFillTx/>
              <a:latin typeface="Arial"/>
            </a:endParaRPr>
          </a:p>
        </p:txBody>
      </p:sp>
      <p:sp>
        <p:nvSpPr>
          <p:cNvPr id="725" name="Shape 296"/>
          <p:cNvSpPr/>
          <p:nvPr/>
        </p:nvSpPr>
        <p:spPr>
          <a:xfrm>
            <a:off x="4069080" y="3127320"/>
            <a:ext cx="3062880" cy="1298160"/>
          </a:xfrm>
          <a:prstGeom prst="roundRect">
            <a:avLst>
              <a:gd name="adj" fmla="val 5634"/>
            </a:avLst>
          </a:prstGeom>
          <a:solidFill>
            <a:srgbClr val="F8FBFF"/>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6" name="Shape 297"/>
          <p:cNvSpPr/>
          <p:nvPr/>
        </p:nvSpPr>
        <p:spPr>
          <a:xfrm>
            <a:off x="4069080" y="3127320"/>
            <a:ext cx="63720" cy="129816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27" name="Text 298"/>
          <p:cNvSpPr/>
          <p:nvPr/>
        </p:nvSpPr>
        <p:spPr>
          <a:xfrm>
            <a:off x="4270320" y="3291840"/>
            <a:ext cx="2697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Why this is not a BFS failure</a:t>
            </a:r>
            <a:endParaRPr lang="en-US" sz="1350" b="0" u="none" strike="noStrike">
              <a:solidFill>
                <a:srgbClr val="000000"/>
              </a:solidFill>
              <a:effectLst/>
              <a:uFillTx/>
              <a:latin typeface="Arial"/>
            </a:endParaRPr>
          </a:p>
        </p:txBody>
      </p:sp>
      <p:sp>
        <p:nvSpPr>
          <p:cNvPr id="728" name="Text 299"/>
          <p:cNvSpPr/>
          <p:nvPr/>
        </p:nvSpPr>
        <p:spPr>
          <a:xfrm>
            <a:off x="4270320" y="3602880"/>
            <a:ext cx="269712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Breadth-first search is never called in this script. The failure is caused by the Simple Reflex design: current percept -&gt; ordered rule -&gt; action.</a:t>
            </a:r>
            <a:endParaRPr lang="en-US" sz="1050" b="0" u="none" strike="noStrike">
              <a:solidFill>
                <a:srgbClr val="000000"/>
              </a:solidFill>
              <a:effectLst/>
              <a:uFillTx/>
              <a:latin typeface="Arial"/>
            </a:endParaRPr>
          </a:p>
        </p:txBody>
      </p:sp>
      <p:sp>
        <p:nvSpPr>
          <p:cNvPr id="729" name="Shape 300"/>
          <p:cNvSpPr/>
          <p:nvPr/>
        </p:nvSpPr>
        <p:spPr>
          <a:xfrm>
            <a:off x="7452360" y="1508760"/>
            <a:ext cx="3977280" cy="1389600"/>
          </a:xfrm>
          <a:prstGeom prst="roundRect">
            <a:avLst>
              <a:gd name="adj" fmla="val 5263"/>
            </a:avLst>
          </a:prstGeom>
          <a:solidFill>
            <a:srgbClr val="F7FFF9"/>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0" name="Shape 301"/>
          <p:cNvSpPr/>
          <p:nvPr/>
        </p:nvSpPr>
        <p:spPr>
          <a:xfrm>
            <a:off x="7452360" y="1508760"/>
            <a:ext cx="63720" cy="1389600"/>
          </a:xfrm>
          <a:prstGeom prst="rect">
            <a:avLst/>
          </a:prstGeom>
          <a:solidFill>
            <a:srgbClr val="16A34A"/>
          </a:solidFill>
          <a:ln w="12700">
            <a:solidFill>
              <a:srgbClr val="16A34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1" name="Text 302"/>
          <p:cNvSpPr/>
          <p:nvPr/>
        </p:nvSpPr>
        <p:spPr>
          <a:xfrm>
            <a:off x="7653600" y="1673280"/>
            <a:ext cx="3611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What BFS would add</a:t>
            </a:r>
            <a:endParaRPr lang="en-US" sz="1350" b="0" u="none" strike="noStrike">
              <a:solidFill>
                <a:srgbClr val="000000"/>
              </a:solidFill>
              <a:effectLst/>
              <a:uFillTx/>
              <a:latin typeface="Arial"/>
            </a:endParaRPr>
          </a:p>
        </p:txBody>
      </p:sp>
      <p:sp>
        <p:nvSpPr>
          <p:cNvPr id="732" name="Text 303"/>
          <p:cNvSpPr/>
          <p:nvPr/>
        </p:nvSpPr>
        <p:spPr>
          <a:xfrm>
            <a:off x="7653600" y="1984320"/>
            <a:ext cx="3611520" cy="822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BFS could expand reachable grid states from Pac-Man and return the shortest path to a selected pellet, including routes that initially move away from the pellet.</a:t>
            </a:r>
            <a:endParaRPr lang="en-US" sz="1050" b="0" u="none" strike="noStrike">
              <a:solidFill>
                <a:srgbClr val="000000"/>
              </a:solidFill>
              <a:effectLst/>
              <a:uFillTx/>
              <a:latin typeface="Arial"/>
            </a:endParaRPr>
          </a:p>
        </p:txBody>
      </p:sp>
      <p:sp>
        <p:nvSpPr>
          <p:cNvPr id="733" name="Shape 304"/>
          <p:cNvSpPr/>
          <p:nvPr/>
        </p:nvSpPr>
        <p:spPr>
          <a:xfrm>
            <a:off x="7452360" y="3127320"/>
            <a:ext cx="3977280" cy="1298160"/>
          </a:xfrm>
          <a:prstGeom prst="roundRect">
            <a:avLst>
              <a:gd name="adj" fmla="val 5634"/>
            </a:avLst>
          </a:prstGeom>
          <a:solidFill>
            <a:srgbClr val="FFFBEB"/>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4" name="Shape 305"/>
          <p:cNvSpPr/>
          <p:nvPr/>
        </p:nvSpPr>
        <p:spPr>
          <a:xfrm>
            <a:off x="7452360" y="3127320"/>
            <a:ext cx="63720" cy="1298160"/>
          </a:xfrm>
          <a:prstGeom prst="rect">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5" name="Text 306"/>
          <p:cNvSpPr/>
          <p:nvPr/>
        </p:nvSpPr>
        <p:spPr>
          <a:xfrm>
            <a:off x="7653600" y="3291840"/>
            <a:ext cx="3611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Remaining risk</a:t>
            </a:r>
            <a:endParaRPr lang="en-US" sz="1350" b="0" u="none" strike="noStrike">
              <a:solidFill>
                <a:srgbClr val="000000"/>
              </a:solidFill>
              <a:effectLst/>
              <a:uFillTx/>
              <a:latin typeface="Arial"/>
            </a:endParaRPr>
          </a:p>
        </p:txBody>
      </p:sp>
      <p:sp>
        <p:nvSpPr>
          <p:cNvPr id="736" name="Text 307"/>
          <p:cNvSpPr/>
          <p:nvPr/>
        </p:nvSpPr>
        <p:spPr>
          <a:xfrm>
            <a:off x="7653600" y="3602880"/>
            <a:ext cx="3611520" cy="731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Even with BFS, the agent still needs a state definition, a goal policy, and replanning when ghosts or pellets change. Otherwise BFS only solves the static shortest-path subproblem.</a:t>
            </a:r>
            <a:endParaRPr lang="en-US" sz="1050" b="0" u="none" strike="noStrike">
              <a:solidFill>
                <a:srgbClr val="000000"/>
              </a:solidFill>
              <a:effectLst/>
              <a:uFillTx/>
              <a:latin typeface="Arial"/>
            </a:endParaRPr>
          </a:p>
        </p:txBody>
      </p:sp>
      <p:sp>
        <p:nvSpPr>
          <p:cNvPr id="737" name="Shape 308"/>
          <p:cNvSpPr/>
          <p:nvPr/>
        </p:nvSpPr>
        <p:spPr>
          <a:xfrm>
            <a:off x="4069080" y="5047560"/>
            <a:ext cx="3108600" cy="310680"/>
          </a:xfrm>
          <a:prstGeom prst="roundRect">
            <a:avLst>
              <a:gd name="adj" fmla="val 23529"/>
            </a:avLst>
          </a:prstGeom>
          <a:solidFill>
            <a:srgbClr val="DC2626"/>
          </a:solidFill>
          <a:ln w="12700">
            <a:solidFill>
              <a:srgbClr val="DC2626">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38" name="Text 309"/>
          <p:cNvSpPr/>
          <p:nvPr/>
        </p:nvSpPr>
        <p:spPr>
          <a:xfrm>
            <a:off x="4160520" y="5115960"/>
            <a:ext cx="29257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Aptos"/>
              </a:rPr>
              <a:t>Root cause: no memory / no model / no goal</a:t>
            </a:r>
            <a:endParaRPr lang="en-US" sz="950" b="0" u="none" strike="noStrike">
              <a:solidFill>
                <a:srgbClr val="000000"/>
              </a:solidFill>
              <a:effectLst/>
              <a:uFillTx/>
              <a:latin typeface="Arial"/>
            </a:endParaRPr>
          </a:p>
        </p:txBody>
      </p:sp>
      <p:sp>
        <p:nvSpPr>
          <p:cNvPr id="739" name="Shape 310"/>
          <p:cNvSpPr/>
          <p:nvPr/>
        </p:nvSpPr>
        <p:spPr>
          <a:xfrm>
            <a:off x="7452360" y="5047560"/>
            <a:ext cx="3492720" cy="310680"/>
          </a:xfrm>
          <a:prstGeom prst="roundRect">
            <a:avLst>
              <a:gd name="adj" fmla="val 23529"/>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40" name="Text 311"/>
          <p:cNvSpPr/>
          <p:nvPr/>
        </p:nvSpPr>
        <p:spPr>
          <a:xfrm>
            <a:off x="7543800" y="5115960"/>
            <a:ext cx="33098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Aptos"/>
              </a:rPr>
              <a:t>BFS adds route search, not intelligence by itself</a:t>
            </a:r>
            <a:endParaRPr lang="en-US" sz="950" b="0" u="none" strike="noStrike">
              <a:solidFill>
                <a:srgbClr val="000000"/>
              </a:solidFill>
              <a:effectLst/>
              <a:uFillTx/>
              <a:latin typeface="Arial"/>
            </a:endParaRPr>
          </a:p>
        </p:txBody>
      </p:sp>
      <p:sp>
        <p:nvSpPr>
          <p:cNvPr id="77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7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22</a:t>
            </a:r>
            <a:endParaRPr lang="en-US" sz="18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 name="Shape 0"/>
          <p:cNvSpPr/>
          <p:nvPr/>
        </p:nvSpPr>
        <p:spPr>
          <a:xfrm>
            <a:off x="0" y="0"/>
            <a:ext cx="12191400" cy="6857640"/>
          </a:xfrm>
          <a:prstGeom prst="rect">
            <a:avLst/>
          </a:prstGeom>
          <a:solidFill>
            <a:srgbClr val="F7F9FC"/>
          </a:solidFill>
          <a:ln w="12700">
            <a:solidFill>
              <a:srgbClr val="F7F9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42" name="Shape 1"/>
          <p:cNvSpPr/>
          <p:nvPr/>
        </p:nvSpPr>
        <p:spPr>
          <a:xfrm>
            <a:off x="502920" y="384120"/>
            <a:ext cx="959760" cy="6372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chemeClr val="dk1"/>
              </a:solidFill>
              <a:effectLst/>
              <a:uFillTx/>
              <a:latin typeface="Aptos"/>
            </a:endParaRPr>
          </a:p>
        </p:txBody>
      </p:sp>
      <p:sp>
        <p:nvSpPr>
          <p:cNvPr id="743" name="Text 2"/>
          <p:cNvSpPr/>
          <p:nvPr/>
        </p:nvSpPr>
        <p:spPr>
          <a:xfrm>
            <a:off x="502920" y="567000"/>
            <a:ext cx="10606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32033"/>
                </a:solidFill>
                <a:effectLst/>
                <a:uFillTx/>
                <a:latin typeface="Aptos Display"/>
                <a:ea typeface="Aptos Display"/>
              </a:rPr>
              <a:t>BFS helps with reachability, but it is still limited</a:t>
            </a:r>
            <a:endParaRPr lang="en-US" sz="2800" b="0" u="none" strike="noStrike">
              <a:solidFill>
                <a:srgbClr val="000000"/>
              </a:solidFill>
              <a:effectLst/>
              <a:uFillTx/>
              <a:latin typeface="Arial"/>
            </a:endParaRPr>
          </a:p>
        </p:txBody>
      </p:sp>
      <p:sp>
        <p:nvSpPr>
          <p:cNvPr id="744" name="Text 3"/>
          <p:cNvSpPr/>
          <p:nvPr/>
        </p:nvSpPr>
        <p:spPr>
          <a:xfrm>
            <a:off x="511920" y="1078920"/>
            <a:ext cx="960084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u="none" strike="noStrike">
                <a:solidFill>
                  <a:srgbClr val="5B6B7B"/>
                </a:solidFill>
                <a:effectLst/>
                <a:uFillTx/>
                <a:latin typeface="Aptos"/>
                <a:ea typeface="Aptos"/>
              </a:rPr>
              <a:t>Use BFS as a planner inside a model-based or goal-based agent, not as a replacement for the agent architecture.</a:t>
            </a:r>
            <a:endParaRPr lang="en-US" sz="1250" b="0" u="none" strike="noStrike">
              <a:solidFill>
                <a:srgbClr val="000000"/>
              </a:solidFill>
              <a:effectLst/>
              <a:uFillTx/>
              <a:latin typeface="Arial"/>
            </a:endParaRPr>
          </a:p>
        </p:txBody>
      </p:sp>
      <p:sp>
        <p:nvSpPr>
          <p:cNvPr id="745" name="Shape 4"/>
          <p:cNvSpPr/>
          <p:nvPr/>
        </p:nvSpPr>
        <p:spPr>
          <a:xfrm>
            <a:off x="239544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6" name="Shape 5"/>
          <p:cNvSpPr/>
          <p:nvPr/>
        </p:nvSpPr>
        <p:spPr>
          <a:xfrm>
            <a:off x="431568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7" name="Shape 6"/>
          <p:cNvSpPr/>
          <p:nvPr/>
        </p:nvSpPr>
        <p:spPr>
          <a:xfrm>
            <a:off x="623592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8" name="Shape 7"/>
          <p:cNvSpPr/>
          <p:nvPr/>
        </p:nvSpPr>
        <p:spPr>
          <a:xfrm>
            <a:off x="8156160" y="1965960"/>
            <a:ext cx="576360" cy="360"/>
          </a:xfrm>
          <a:prstGeom prst="line">
            <a:avLst/>
          </a:prstGeom>
          <a:ln w="25400">
            <a:solidFill>
              <a:srgbClr val="1F5E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Aptos"/>
            </a:endParaRPr>
          </a:p>
        </p:txBody>
      </p:sp>
      <p:sp>
        <p:nvSpPr>
          <p:cNvPr id="749" name="Shape 8"/>
          <p:cNvSpPr/>
          <p:nvPr/>
        </p:nvSpPr>
        <p:spPr>
          <a:xfrm>
            <a:off x="658440" y="1472040"/>
            <a:ext cx="1737000" cy="987120"/>
          </a:xfrm>
          <a:prstGeom prst="roundRect">
            <a:avLst>
              <a:gd name="adj" fmla="val 7407"/>
            </a:avLst>
          </a:prstGeom>
          <a:solidFill>
            <a:srgbClr val="FFFF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0" name="Text 9"/>
          <p:cNvSpPr/>
          <p:nvPr/>
        </p:nvSpPr>
        <p:spPr>
          <a:xfrm>
            <a:off x="731520" y="1581840"/>
            <a:ext cx="159084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Grid state</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(position, walls, food)</a:t>
            </a:r>
            <a:endParaRPr lang="en-US" sz="1200" b="0" u="none" strike="noStrike">
              <a:solidFill>
                <a:srgbClr val="000000"/>
              </a:solidFill>
              <a:effectLst/>
              <a:uFillTx/>
              <a:latin typeface="Arial"/>
            </a:endParaRPr>
          </a:p>
        </p:txBody>
      </p:sp>
      <p:sp>
        <p:nvSpPr>
          <p:cNvPr id="751" name="Shape 10"/>
          <p:cNvSpPr/>
          <p:nvPr/>
        </p:nvSpPr>
        <p:spPr>
          <a:xfrm>
            <a:off x="2971800" y="1472040"/>
            <a:ext cx="1343880" cy="987120"/>
          </a:xfrm>
          <a:prstGeom prst="roundRect">
            <a:avLst>
              <a:gd name="adj" fmla="val 7407"/>
            </a:avLst>
          </a:prstGeom>
          <a:solidFill>
            <a:srgbClr val="EEF2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2" name="Text 11"/>
          <p:cNvSpPr/>
          <p:nvPr/>
        </p:nvSpPr>
        <p:spPr>
          <a:xfrm>
            <a:off x="3044880" y="1581840"/>
            <a:ext cx="119736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Queue frontier</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level by level</a:t>
            </a:r>
            <a:endParaRPr lang="en-US" sz="1200" b="0" u="none" strike="noStrike">
              <a:solidFill>
                <a:srgbClr val="000000"/>
              </a:solidFill>
              <a:effectLst/>
              <a:uFillTx/>
              <a:latin typeface="Arial"/>
            </a:endParaRPr>
          </a:p>
        </p:txBody>
      </p:sp>
      <p:sp>
        <p:nvSpPr>
          <p:cNvPr id="753" name="Shape 12"/>
          <p:cNvSpPr/>
          <p:nvPr/>
        </p:nvSpPr>
        <p:spPr>
          <a:xfrm>
            <a:off x="4892040" y="1472040"/>
            <a:ext cx="1343880" cy="987120"/>
          </a:xfrm>
          <a:prstGeom prst="roundRect">
            <a:avLst>
              <a:gd name="adj" fmla="val 7407"/>
            </a:avLst>
          </a:prstGeom>
          <a:solidFill>
            <a:srgbClr val="FFFF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4" name="Text 13"/>
          <p:cNvSpPr/>
          <p:nvPr/>
        </p:nvSpPr>
        <p:spPr>
          <a:xfrm>
            <a:off x="4965120" y="1581840"/>
            <a:ext cx="119736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Visited set</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avoids loops</a:t>
            </a:r>
            <a:endParaRPr lang="en-US" sz="1200" b="0" u="none" strike="noStrike">
              <a:solidFill>
                <a:srgbClr val="000000"/>
              </a:solidFill>
              <a:effectLst/>
              <a:uFillTx/>
              <a:latin typeface="Arial"/>
            </a:endParaRPr>
          </a:p>
        </p:txBody>
      </p:sp>
      <p:sp>
        <p:nvSpPr>
          <p:cNvPr id="755" name="Shape 14"/>
          <p:cNvSpPr/>
          <p:nvPr/>
        </p:nvSpPr>
        <p:spPr>
          <a:xfrm>
            <a:off x="6812280" y="1472040"/>
            <a:ext cx="1343880" cy="987120"/>
          </a:xfrm>
          <a:prstGeom prst="roundRect">
            <a:avLst>
              <a:gd name="adj" fmla="val 7407"/>
            </a:avLst>
          </a:prstGeom>
          <a:solidFill>
            <a:srgbClr val="EEF2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6" name="Text 15"/>
          <p:cNvSpPr/>
          <p:nvPr/>
        </p:nvSpPr>
        <p:spPr>
          <a:xfrm>
            <a:off x="6885360" y="1581840"/>
            <a:ext cx="119736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Shortest path</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if unweighted</a:t>
            </a:r>
            <a:endParaRPr lang="en-US" sz="1200" b="0" u="none" strike="noStrike">
              <a:solidFill>
                <a:srgbClr val="000000"/>
              </a:solidFill>
              <a:effectLst/>
              <a:uFillTx/>
              <a:latin typeface="Arial"/>
            </a:endParaRPr>
          </a:p>
        </p:txBody>
      </p:sp>
      <p:sp>
        <p:nvSpPr>
          <p:cNvPr id="757" name="Shape 16"/>
          <p:cNvSpPr/>
          <p:nvPr/>
        </p:nvSpPr>
        <p:spPr>
          <a:xfrm>
            <a:off x="8732520" y="1472040"/>
            <a:ext cx="1599840" cy="987120"/>
          </a:xfrm>
          <a:prstGeom prst="roundRect">
            <a:avLst>
              <a:gd name="adj" fmla="val 7407"/>
            </a:avLst>
          </a:prstGeom>
          <a:solidFill>
            <a:srgbClr val="FFFFFF"/>
          </a:solidFill>
          <a:ln w="15240">
            <a:solidFill>
              <a:srgbClr val="1F5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58" name="Text 17"/>
          <p:cNvSpPr/>
          <p:nvPr/>
        </p:nvSpPr>
        <p:spPr>
          <a:xfrm>
            <a:off x="8805600" y="1581840"/>
            <a:ext cx="145368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32033"/>
                </a:solidFill>
                <a:effectLst/>
                <a:uFillTx/>
                <a:latin typeface="Aptos"/>
              </a:rPr>
              <a:t>Next action</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1" u="none" strike="noStrike">
                <a:solidFill>
                  <a:srgbClr val="132033"/>
                </a:solidFill>
                <a:effectLst/>
                <a:uFillTx/>
                <a:latin typeface="Aptos"/>
              </a:rPr>
              <a:t>returned to game</a:t>
            </a:r>
            <a:endParaRPr lang="en-US" sz="1200" b="0" u="none" strike="noStrike">
              <a:solidFill>
                <a:srgbClr val="000000"/>
              </a:solidFill>
              <a:effectLst/>
              <a:uFillTx/>
              <a:latin typeface="Arial"/>
            </a:endParaRPr>
          </a:p>
        </p:txBody>
      </p:sp>
      <p:sp>
        <p:nvSpPr>
          <p:cNvPr id="759" name="Shape 18"/>
          <p:cNvSpPr/>
          <p:nvPr/>
        </p:nvSpPr>
        <p:spPr>
          <a:xfrm>
            <a:off x="658440" y="3246120"/>
            <a:ext cx="3474360" cy="1234080"/>
          </a:xfrm>
          <a:prstGeom prst="roundRect">
            <a:avLst>
              <a:gd name="adj" fmla="val 5926"/>
            </a:avLst>
          </a:prstGeom>
          <a:solidFill>
            <a:srgbClr val="FFF7F7"/>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0" name="Shape 19"/>
          <p:cNvSpPr/>
          <p:nvPr/>
        </p:nvSpPr>
        <p:spPr>
          <a:xfrm>
            <a:off x="658440" y="3246120"/>
            <a:ext cx="63720" cy="1234080"/>
          </a:xfrm>
          <a:prstGeom prst="rect">
            <a:avLst/>
          </a:prstGeom>
          <a:solidFill>
            <a:srgbClr val="DC2626"/>
          </a:solidFill>
          <a:ln w="12700">
            <a:solidFill>
              <a:srgbClr val="DC2626">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1" name="Text 20"/>
          <p:cNvSpPr/>
          <p:nvPr/>
        </p:nvSpPr>
        <p:spPr>
          <a:xfrm>
            <a:off x="859680" y="3410640"/>
            <a:ext cx="3108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Limitation 1: static model assumption</a:t>
            </a:r>
            <a:endParaRPr lang="en-US" sz="1350" b="0" u="none" strike="noStrike">
              <a:solidFill>
                <a:srgbClr val="000000"/>
              </a:solidFill>
              <a:effectLst/>
              <a:uFillTx/>
              <a:latin typeface="Arial"/>
            </a:endParaRPr>
          </a:p>
        </p:txBody>
      </p:sp>
      <p:sp>
        <p:nvSpPr>
          <p:cNvPr id="762" name="Text 21"/>
          <p:cNvSpPr/>
          <p:nvPr/>
        </p:nvSpPr>
        <p:spPr>
          <a:xfrm>
            <a:off x="859680" y="3721680"/>
            <a:ext cx="31086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Classic BFS assumes the graph is known while searching. Moving ghosts, frightened timers, and disappearing pellets require replanning after each action.</a:t>
            </a:r>
            <a:endParaRPr lang="en-US" sz="1050" b="0" u="none" strike="noStrike">
              <a:solidFill>
                <a:srgbClr val="000000"/>
              </a:solidFill>
              <a:effectLst/>
              <a:uFillTx/>
              <a:latin typeface="Arial"/>
            </a:endParaRPr>
          </a:p>
        </p:txBody>
      </p:sp>
      <p:sp>
        <p:nvSpPr>
          <p:cNvPr id="763" name="Shape 22"/>
          <p:cNvSpPr/>
          <p:nvPr/>
        </p:nvSpPr>
        <p:spPr>
          <a:xfrm>
            <a:off x="4370760" y="3246120"/>
            <a:ext cx="3474360" cy="1234080"/>
          </a:xfrm>
          <a:prstGeom prst="roundRect">
            <a:avLst>
              <a:gd name="adj" fmla="val 5926"/>
            </a:avLst>
          </a:prstGeom>
          <a:solidFill>
            <a:srgbClr val="FFFBEB"/>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4" name="Shape 23"/>
          <p:cNvSpPr/>
          <p:nvPr/>
        </p:nvSpPr>
        <p:spPr>
          <a:xfrm>
            <a:off x="4370760" y="3246120"/>
            <a:ext cx="63720" cy="1234080"/>
          </a:xfrm>
          <a:prstGeom prst="rect">
            <a:avLst/>
          </a:prstGeom>
          <a:solidFill>
            <a:srgbClr val="F59E0B"/>
          </a:solidFill>
          <a:ln w="12700">
            <a:solidFill>
              <a:srgbClr val="F59E0B">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5" name="Text 24"/>
          <p:cNvSpPr/>
          <p:nvPr/>
        </p:nvSpPr>
        <p:spPr>
          <a:xfrm>
            <a:off x="4572000" y="3410640"/>
            <a:ext cx="3108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Limitation 2: unweighted shortest path</a:t>
            </a:r>
            <a:endParaRPr lang="en-US" sz="1350" b="0" u="none" strike="noStrike">
              <a:solidFill>
                <a:srgbClr val="000000"/>
              </a:solidFill>
              <a:effectLst/>
              <a:uFillTx/>
              <a:latin typeface="Arial"/>
            </a:endParaRPr>
          </a:p>
        </p:txBody>
      </p:sp>
      <p:sp>
        <p:nvSpPr>
          <p:cNvPr id="766" name="Text 25"/>
          <p:cNvSpPr/>
          <p:nvPr/>
        </p:nvSpPr>
        <p:spPr>
          <a:xfrm>
            <a:off x="4572000" y="3721680"/>
            <a:ext cx="31086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BFS optimizes number of moves, not risk, score, power-pellet timing, or ghost avoidance. Weighted objectives need UCS, A*, or utility-based planning.</a:t>
            </a:r>
            <a:endParaRPr lang="en-US" sz="1050" b="0" u="none" strike="noStrike">
              <a:solidFill>
                <a:srgbClr val="000000"/>
              </a:solidFill>
              <a:effectLst/>
              <a:uFillTx/>
              <a:latin typeface="Arial"/>
            </a:endParaRPr>
          </a:p>
        </p:txBody>
      </p:sp>
      <p:sp>
        <p:nvSpPr>
          <p:cNvPr id="767" name="Shape 26"/>
          <p:cNvSpPr/>
          <p:nvPr/>
        </p:nvSpPr>
        <p:spPr>
          <a:xfrm>
            <a:off x="8083440" y="3246120"/>
            <a:ext cx="3474360" cy="1234080"/>
          </a:xfrm>
          <a:prstGeom prst="roundRect">
            <a:avLst>
              <a:gd name="adj" fmla="val 5926"/>
            </a:avLst>
          </a:prstGeom>
          <a:solidFill>
            <a:srgbClr val="F8FBFF"/>
          </a:solidFill>
          <a:ln w="12700">
            <a:solidFill>
              <a:srgbClr val="CBD5E1">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8" name="Shape 27"/>
          <p:cNvSpPr/>
          <p:nvPr/>
        </p:nvSpPr>
        <p:spPr>
          <a:xfrm>
            <a:off x="8083440" y="3246120"/>
            <a:ext cx="63720" cy="1234080"/>
          </a:xfrm>
          <a:prstGeom prst="rect">
            <a:avLst/>
          </a:prstGeom>
          <a:solidFill>
            <a:srgbClr val="1F5EFF"/>
          </a:solidFill>
          <a:ln w="12700">
            <a:solidFill>
              <a:srgbClr val="1F5E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69" name="Text 28"/>
          <p:cNvSpPr/>
          <p:nvPr/>
        </p:nvSpPr>
        <p:spPr>
          <a:xfrm>
            <a:off x="8284320" y="3410640"/>
            <a:ext cx="31086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u="none" strike="noStrike">
                <a:solidFill>
                  <a:srgbClr val="132033"/>
                </a:solidFill>
                <a:effectLst/>
                <a:uFillTx/>
                <a:latin typeface="Aptos"/>
              </a:rPr>
              <a:t>Limitation 3: state explosion</a:t>
            </a:r>
            <a:endParaRPr lang="en-US" sz="1350" b="0" u="none" strike="noStrike">
              <a:solidFill>
                <a:srgbClr val="000000"/>
              </a:solidFill>
              <a:effectLst/>
              <a:uFillTx/>
              <a:latin typeface="Arial"/>
            </a:endParaRPr>
          </a:p>
        </p:txBody>
      </p:sp>
      <p:sp>
        <p:nvSpPr>
          <p:cNvPr id="770" name="Text 29"/>
          <p:cNvSpPr/>
          <p:nvPr/>
        </p:nvSpPr>
        <p:spPr>
          <a:xfrm>
            <a:off x="8284320" y="3721680"/>
            <a:ext cx="31086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5B6B7B"/>
                </a:solidFill>
                <a:effectLst/>
                <a:uFillTx/>
                <a:latin typeface="Aptos"/>
              </a:rPr>
              <a:t>A richer state such as position + pellets + ghost positions grows quickly. BFS can become memory-heavy before it becomes strategically useful.</a:t>
            </a:r>
            <a:endParaRPr lang="en-US" sz="1050" b="0" u="none" strike="noStrike">
              <a:solidFill>
                <a:srgbClr val="000000"/>
              </a:solidFill>
              <a:effectLst/>
              <a:uFillTx/>
              <a:latin typeface="Arial"/>
            </a:endParaRPr>
          </a:p>
        </p:txBody>
      </p:sp>
      <p:sp>
        <p:nvSpPr>
          <p:cNvPr id="771" name="Shape 30"/>
          <p:cNvSpPr/>
          <p:nvPr/>
        </p:nvSpPr>
        <p:spPr>
          <a:xfrm>
            <a:off x="1024200" y="5166360"/>
            <a:ext cx="10149480" cy="712800"/>
          </a:xfrm>
          <a:prstGeom prst="roundRect">
            <a:avLst>
              <a:gd name="adj" fmla="val 10256"/>
            </a:avLst>
          </a:prstGeom>
          <a:solidFill>
            <a:srgbClr val="0B1F33"/>
          </a:solidFill>
          <a:ln w="12700">
            <a:solidFill>
              <a:srgbClr val="0B1F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Aptos"/>
            </a:endParaRPr>
          </a:p>
        </p:txBody>
      </p:sp>
      <p:sp>
        <p:nvSpPr>
          <p:cNvPr id="772" name="Text 31"/>
          <p:cNvSpPr/>
          <p:nvPr/>
        </p:nvSpPr>
        <p:spPr>
          <a:xfrm>
            <a:off x="1234440" y="5376600"/>
            <a:ext cx="96922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77500" lnSpcReduction="20000"/>
          </a:bodyPr>
          <a:lstStyle/>
          <a:p>
            <a:pPr algn="ctr" defTabSz="914400">
              <a:lnSpc>
                <a:spcPct val="100000"/>
              </a:lnSpc>
              <a:tabLst>
                <a:tab pos="0" algn="l"/>
              </a:tabLst>
            </a:pPr>
            <a:r>
              <a:rPr lang="en-US" sz="1400" b="1" u="none" strike="noStrike">
                <a:solidFill>
                  <a:srgbClr val="FFFFFF"/>
                </a:solidFill>
                <a:effectLst/>
                <a:uFillTx/>
                <a:latin typeface="Aptos"/>
              </a:rPr>
              <a:t>Takeaway: Levels 1 and 2 show that a reflex rule set can look reasonable locally but fail globally. BFS fixes path finding only when paired with a map, a goal, and repeated replanning.</a:t>
            </a:r>
            <a:endParaRPr lang="en-US" sz="1400" b="0" u="none" strike="noStrike">
              <a:solidFill>
                <a:srgbClr val="000000"/>
              </a:solidFill>
              <a:effectLst/>
              <a:uFillTx/>
              <a:latin typeface="Arial"/>
            </a:endParaRPr>
          </a:p>
        </p:txBody>
      </p:sp>
      <p:sp>
        <p:nvSpPr>
          <p:cNvPr id="77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7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23</a:t>
            </a:r>
            <a:endParaRPr lang="en-US" sz="18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77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77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 Agent Structure: Architecture + Program</a:t>
            </a:r>
            <a:endParaRPr lang="en-US" sz="2300" b="0" u="none" strike="noStrike">
              <a:solidFill>
                <a:srgbClr val="000000"/>
              </a:solidFill>
              <a:effectLst/>
              <a:uFillTx/>
              <a:latin typeface="Arial"/>
            </a:endParaRPr>
          </a:p>
        </p:txBody>
      </p:sp>
      <p:sp>
        <p:nvSpPr>
          <p:cNvPr id="77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a:t>
            </a:r>
            <a:endParaRPr lang="en-US" sz="1200" b="0" u="none" strike="noStrike">
              <a:solidFill>
                <a:srgbClr val="000000"/>
              </a:solidFill>
              <a:effectLst/>
              <a:uFillTx/>
              <a:latin typeface="Arial"/>
            </a:endParaRPr>
          </a:p>
        </p:txBody>
      </p:sp>
      <p:sp>
        <p:nvSpPr>
          <p:cNvPr id="77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7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24</a:t>
            </a:r>
            <a:endParaRPr lang="en-US" sz="1800" b="0" u="none" strike="noStrike">
              <a:solidFill>
                <a:srgbClr val="000000"/>
              </a:solidFill>
              <a:effectLst/>
              <a:uFillTx/>
              <a:latin typeface="Arial"/>
            </a:endParaRPr>
          </a:p>
        </p:txBody>
      </p:sp>
      <p:sp>
        <p:nvSpPr>
          <p:cNvPr id="779" name="Text 6"/>
          <p:cNvSpPr/>
          <p:nvPr/>
        </p:nvSpPr>
        <p:spPr>
          <a:xfrm>
            <a:off x="914400" y="1143000"/>
            <a:ext cx="1033164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0B2B5C"/>
                </a:solidFill>
                <a:effectLst/>
                <a:uFillTx/>
                <a:latin typeface="Aptos"/>
              </a:rPr>
              <a:t>agent = architecture + program</a:t>
            </a:r>
            <a:endParaRPr lang="en-US" sz="2800" b="0" u="none" strike="noStrike">
              <a:solidFill>
                <a:srgbClr val="000000"/>
              </a:solidFill>
              <a:effectLst/>
              <a:uFillTx/>
              <a:latin typeface="Arial"/>
            </a:endParaRPr>
          </a:p>
        </p:txBody>
      </p:sp>
      <p:sp>
        <p:nvSpPr>
          <p:cNvPr id="780" name="Shape 7"/>
          <p:cNvSpPr/>
          <p:nvPr/>
        </p:nvSpPr>
        <p:spPr>
          <a:xfrm>
            <a:off x="4530960" y="1937880"/>
            <a:ext cx="338220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81" name="Text 8"/>
          <p:cNvSpPr/>
          <p:nvPr/>
        </p:nvSpPr>
        <p:spPr>
          <a:xfrm>
            <a:off x="4695480" y="208404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Architecture</a:t>
            </a:r>
            <a:endParaRPr lang="en-US" sz="1800" b="0" u="none" strike="noStrike">
              <a:solidFill>
                <a:srgbClr val="000000"/>
              </a:solidFill>
              <a:effectLst/>
              <a:uFillTx/>
              <a:latin typeface="Arial"/>
            </a:endParaRPr>
          </a:p>
        </p:txBody>
      </p:sp>
      <p:sp>
        <p:nvSpPr>
          <p:cNvPr id="782" name="Text 9"/>
          <p:cNvSpPr/>
          <p:nvPr/>
        </p:nvSpPr>
        <p:spPr>
          <a:xfrm>
            <a:off x="4695480" y="2413440"/>
            <a:ext cx="305316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20000"/>
          </a:bodyPr>
          <a:lstStyle/>
          <a:p>
            <a:pPr defTabSz="914400">
              <a:lnSpc>
                <a:spcPct val="100000"/>
              </a:lnSpc>
              <a:tabLst>
                <a:tab pos="0" algn="l"/>
              </a:tabLst>
            </a:pPr>
            <a:r>
              <a:rPr lang="en-US" sz="1300" b="0" u="none" strike="noStrike">
                <a:solidFill>
                  <a:srgbClr val="0B1F3A"/>
                </a:solidFill>
                <a:effectLst/>
                <a:uFillTx/>
                <a:latin typeface="Aptos"/>
              </a:rPr>
              <a:t>Physical or computational platform: sensors, processors, memory, actuators. The program must fit it — recommend walking and the architecture needs legs.</a:t>
            </a:r>
            <a:endParaRPr lang="en-US" sz="1300" b="0" u="none" strike="noStrike">
              <a:solidFill>
                <a:srgbClr val="000000"/>
              </a:solidFill>
              <a:effectLst/>
              <a:uFillTx/>
              <a:latin typeface="Arial"/>
            </a:endParaRPr>
          </a:p>
        </p:txBody>
      </p:sp>
      <p:sp>
        <p:nvSpPr>
          <p:cNvPr id="783" name="Shape 10"/>
          <p:cNvSpPr/>
          <p:nvPr/>
        </p:nvSpPr>
        <p:spPr>
          <a:xfrm>
            <a:off x="8051400" y="1937880"/>
            <a:ext cx="338220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84" name="Text 11"/>
          <p:cNvSpPr/>
          <p:nvPr/>
        </p:nvSpPr>
        <p:spPr>
          <a:xfrm>
            <a:off x="8215920" y="208404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48A97"/>
                </a:solidFill>
                <a:effectLst/>
                <a:uFillTx/>
                <a:latin typeface="Aptos"/>
              </a:rPr>
              <a:t>Agent program</a:t>
            </a:r>
            <a:endParaRPr lang="en-US" sz="1800" b="0" u="none" strike="noStrike">
              <a:solidFill>
                <a:srgbClr val="000000"/>
              </a:solidFill>
              <a:effectLst/>
              <a:uFillTx/>
              <a:latin typeface="Arial"/>
            </a:endParaRPr>
          </a:p>
        </p:txBody>
      </p:sp>
      <p:sp>
        <p:nvSpPr>
          <p:cNvPr id="785" name="Text 12"/>
          <p:cNvSpPr/>
          <p:nvPr/>
        </p:nvSpPr>
        <p:spPr>
          <a:xfrm>
            <a:off x="8215920" y="2413440"/>
            <a:ext cx="305316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Software that receives percepts and returns actions.</a:t>
            </a:r>
            <a:endParaRPr lang="en-US" sz="1300" b="0" u="none" strike="noStrike">
              <a:solidFill>
                <a:srgbClr val="000000"/>
              </a:solidFill>
              <a:effectLst/>
              <a:uFillTx/>
              <a:latin typeface="Arial"/>
            </a:endParaRPr>
          </a:p>
        </p:txBody>
      </p:sp>
      <p:sp>
        <p:nvSpPr>
          <p:cNvPr id="786" name="Shape 13"/>
          <p:cNvSpPr/>
          <p:nvPr/>
        </p:nvSpPr>
        <p:spPr>
          <a:xfrm>
            <a:off x="965520" y="1911240"/>
            <a:ext cx="338220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87" name="Text 14"/>
          <p:cNvSpPr/>
          <p:nvPr/>
        </p:nvSpPr>
        <p:spPr>
          <a:xfrm>
            <a:off x="1130040" y="2057400"/>
            <a:ext cx="3053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Agent function</a:t>
            </a:r>
            <a:endParaRPr lang="en-US" sz="1800" b="0" u="none" strike="noStrike">
              <a:solidFill>
                <a:srgbClr val="000000"/>
              </a:solidFill>
              <a:effectLst/>
              <a:uFillTx/>
              <a:latin typeface="Arial"/>
            </a:endParaRPr>
          </a:p>
        </p:txBody>
      </p:sp>
      <p:sp>
        <p:nvSpPr>
          <p:cNvPr id="788" name="Text 15"/>
          <p:cNvSpPr/>
          <p:nvPr/>
        </p:nvSpPr>
        <p:spPr>
          <a:xfrm>
            <a:off x="1130040" y="2386800"/>
            <a:ext cx="305316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Behavior implemented by the program: percept sequence -&gt; action.</a:t>
            </a:r>
            <a:endParaRPr lang="en-US" sz="1300" b="0" u="none" strike="noStrike">
              <a:solidFill>
                <a:srgbClr val="000000"/>
              </a:solidFill>
              <a:effectLst/>
              <a:uFillTx/>
              <a:latin typeface="Arial"/>
            </a:endParaRPr>
          </a:p>
        </p:txBody>
      </p:sp>
      <p:sp>
        <p:nvSpPr>
          <p:cNvPr id="789" name="Text 16"/>
          <p:cNvSpPr/>
          <p:nvPr/>
        </p:nvSpPr>
        <p:spPr>
          <a:xfrm>
            <a:off x="960120" y="3977640"/>
            <a:ext cx="40222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0B2B5C"/>
                </a:solidFill>
                <a:effectLst/>
                <a:uFillTx/>
                <a:latin typeface="Aptos"/>
              </a:rPr>
              <a:t>Why not use a giant lookup table?</a:t>
            </a:r>
            <a:endParaRPr lang="en-US" sz="2000" b="0" u="none" strike="noStrike">
              <a:solidFill>
                <a:srgbClr val="000000"/>
              </a:solidFill>
              <a:effectLst/>
              <a:uFillTx/>
              <a:latin typeface="Arial"/>
            </a:endParaRPr>
          </a:p>
        </p:txBody>
      </p:sp>
      <p:sp>
        <p:nvSpPr>
          <p:cNvPr id="790" name="Text 17"/>
          <p:cNvSpPr/>
          <p:nvPr/>
        </p:nvSpPr>
        <p:spPr>
          <a:xfrm>
            <a:off x="960120" y="4434840"/>
            <a:ext cx="10148760" cy="9133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85000" lnSpcReduction="19999"/>
          </a:bodyPr>
          <a:lstStyle/>
          <a:p>
            <a:pPr defTabSz="914400">
              <a:lnSpc>
                <a:spcPct val="100000"/>
              </a:lnSpc>
            </a:pPr>
            <a:r>
              <a:rPr lang="en-US" sz="1600" b="0" u="none" strike="noStrike">
                <a:solidFill>
                  <a:srgbClr val="0B1F3A"/>
                </a:solidFill>
                <a:effectLst/>
                <a:uFillTx/>
                <a:latin typeface="Aptos"/>
                <a:ea typeface="Aptos"/>
              </a:rPr>
              <a:t>Too many percept sequences to store.</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0B1F3A"/>
                </a:solidFill>
                <a:effectLst/>
                <a:uFillTx/>
                <a:latin typeface="Aptos"/>
                <a:ea typeface="Aptos"/>
              </a:rPr>
              <a:t>Too much work for the designer to fill in.</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0B1F3A"/>
                </a:solidFill>
                <a:effectLst/>
                <a:uFillTx/>
                <a:latin typeface="Aptos"/>
                <a:ea typeface="Aptos"/>
              </a:rPr>
              <a:t>Too much experience for the agent to learn every entry.</a:t>
            </a:r>
            <a:endParaRPr lang="en-US" sz="1600" b="0" u="none" strike="noStrike">
              <a:solidFill>
                <a:srgbClr val="000000"/>
              </a:solidFill>
              <a:effectLst/>
              <a:uFillTx/>
              <a:latin typeface="Arial"/>
            </a:endParaRPr>
          </a:p>
        </p:txBody>
      </p:sp>
      <p:sp>
        <p:nvSpPr>
          <p:cNvPr id="791" name="Text 18"/>
          <p:cNvSpPr/>
          <p:nvPr/>
        </p:nvSpPr>
        <p:spPr>
          <a:xfrm>
            <a:off x="960120" y="5715000"/>
            <a:ext cx="1014876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AI problem: produce rational behavior from a compact program, not a vast table.</a:t>
            </a:r>
            <a:endParaRPr lang="en-US" sz="18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792"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3"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794"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2.4.1 Table-Driven Agent</a:t>
            </a:r>
            <a:endParaRPr lang="en-US" sz="2300" b="0" u="none" strike="noStrike">
              <a:solidFill>
                <a:srgbClr val="000000"/>
              </a:solidFill>
              <a:effectLst/>
              <a:uFillTx/>
              <a:latin typeface="Arial"/>
            </a:endParaRPr>
          </a:p>
        </p:txBody>
      </p:sp>
      <p:sp>
        <p:nvSpPr>
          <p:cNvPr id="795"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796"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797"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25</a:t>
            </a:r>
            <a:endParaRPr lang="en-US" sz="1800" b="0" u="none" strike="noStrike">
              <a:solidFill>
                <a:srgbClr val="000000"/>
              </a:solidFill>
              <a:effectLst/>
              <a:uFillTx/>
              <a:latin typeface="Arial"/>
            </a:endParaRPr>
          </a:p>
        </p:txBody>
      </p:sp>
      <p:sp>
        <p:nvSpPr>
          <p:cNvPr id="798" name="Text 6"/>
          <p:cNvSpPr/>
          <p:nvPr/>
        </p:nvSpPr>
        <p:spPr>
          <a:xfrm>
            <a:off x="73152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A table-driven agent stores the entire percept sequence and indexes a table of actions.</a:t>
            </a:r>
            <a:endParaRPr lang="en-US" sz="1800" b="0" u="none" strike="noStrike">
              <a:solidFill>
                <a:srgbClr val="000000"/>
              </a:solidFill>
              <a:effectLst/>
              <a:uFillTx/>
              <a:latin typeface="Arial"/>
            </a:endParaRPr>
          </a:p>
        </p:txBody>
      </p:sp>
      <p:pic>
        <p:nvPicPr>
          <p:cNvPr id="799" name="Image 0" descr="/mnt/data/ch2_docx_unzipped/word/media/image6.png"/>
          <p:cNvPicPr/>
          <p:nvPr/>
        </p:nvPicPr>
        <p:blipFill>
          <a:blip r:embed="rId3"/>
          <a:stretch/>
        </p:blipFill>
        <p:spPr>
          <a:xfrm>
            <a:off x="228960" y="1828800"/>
            <a:ext cx="6628320" cy="2513880"/>
          </a:xfrm>
          <a:prstGeom prst="rect">
            <a:avLst/>
          </a:prstGeom>
          <a:noFill/>
          <a:ln w="0">
            <a:noFill/>
          </a:ln>
        </p:spPr>
      </p:pic>
      <p:sp>
        <p:nvSpPr>
          <p:cNvPr id="800" name="Shape 7"/>
          <p:cNvSpPr/>
          <p:nvPr/>
        </p:nvSpPr>
        <p:spPr>
          <a:xfrm>
            <a:off x="7315200" y="1691640"/>
            <a:ext cx="39308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1" name="Text 8"/>
          <p:cNvSpPr/>
          <p:nvPr/>
        </p:nvSpPr>
        <p:spPr>
          <a:xfrm>
            <a:off x="7479720" y="1837800"/>
            <a:ext cx="3601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What it demonstrates</a:t>
            </a:r>
            <a:endParaRPr lang="en-US" sz="1600" b="0" u="none" strike="noStrike">
              <a:solidFill>
                <a:srgbClr val="000000"/>
              </a:solidFill>
              <a:effectLst/>
              <a:uFillTx/>
              <a:latin typeface="Arial"/>
            </a:endParaRPr>
          </a:p>
        </p:txBody>
      </p:sp>
      <p:sp>
        <p:nvSpPr>
          <p:cNvPr id="802" name="Text 9"/>
          <p:cNvSpPr/>
          <p:nvPr/>
        </p:nvSpPr>
        <p:spPr>
          <a:xfrm>
            <a:off x="7479720" y="2167200"/>
            <a:ext cx="36018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The agent function can be represented explicitly as a mapping from percept history to action.</a:t>
            </a:r>
            <a:endParaRPr lang="en-US" sz="1250" b="0" u="none" strike="noStrike">
              <a:solidFill>
                <a:srgbClr val="000000"/>
              </a:solidFill>
              <a:effectLst/>
              <a:uFillTx/>
              <a:latin typeface="Arial"/>
            </a:endParaRPr>
          </a:p>
        </p:txBody>
      </p:sp>
      <p:sp>
        <p:nvSpPr>
          <p:cNvPr id="803" name="Shape 10"/>
          <p:cNvSpPr/>
          <p:nvPr/>
        </p:nvSpPr>
        <p:spPr>
          <a:xfrm>
            <a:off x="7315200" y="3063240"/>
            <a:ext cx="39308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4" name="Text 11"/>
          <p:cNvSpPr/>
          <p:nvPr/>
        </p:nvSpPr>
        <p:spPr>
          <a:xfrm>
            <a:off x="7479720" y="3209400"/>
            <a:ext cx="3601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Why it matters</a:t>
            </a:r>
            <a:endParaRPr lang="en-US" sz="1600" b="0" u="none" strike="noStrike">
              <a:solidFill>
                <a:srgbClr val="000000"/>
              </a:solidFill>
              <a:effectLst/>
              <a:uFillTx/>
              <a:latin typeface="Arial"/>
            </a:endParaRPr>
          </a:p>
        </p:txBody>
      </p:sp>
      <p:sp>
        <p:nvSpPr>
          <p:cNvPr id="805" name="Text 12"/>
          <p:cNvSpPr/>
          <p:nvPr/>
        </p:nvSpPr>
        <p:spPr>
          <a:xfrm>
            <a:off x="7479720" y="3538800"/>
            <a:ext cx="36018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It is correct in principle if the table is filled correctly, but it is usually infeasible.</a:t>
            </a:r>
            <a:endParaRPr lang="en-US" sz="1250" b="0" u="none" strike="noStrike">
              <a:solidFill>
                <a:srgbClr val="000000"/>
              </a:solidFill>
              <a:effectLst/>
              <a:uFillTx/>
              <a:latin typeface="Arial"/>
            </a:endParaRPr>
          </a:p>
        </p:txBody>
      </p:sp>
      <p:sp>
        <p:nvSpPr>
          <p:cNvPr id="806" name="Shape 13"/>
          <p:cNvSpPr/>
          <p:nvPr/>
        </p:nvSpPr>
        <p:spPr>
          <a:xfrm>
            <a:off x="7315200" y="4434840"/>
            <a:ext cx="39308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7" name="Text 14"/>
          <p:cNvSpPr/>
          <p:nvPr/>
        </p:nvSpPr>
        <p:spPr>
          <a:xfrm>
            <a:off x="7479720" y="4581000"/>
            <a:ext cx="3601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rPr>
              <a:t>Term to know</a:t>
            </a:r>
            <a:endParaRPr lang="en-US" sz="1600" b="0" u="none" strike="noStrike">
              <a:solidFill>
                <a:srgbClr val="000000"/>
              </a:solidFill>
              <a:effectLst/>
              <a:uFillTx/>
              <a:latin typeface="Arial"/>
            </a:endParaRPr>
          </a:p>
        </p:txBody>
      </p:sp>
      <p:sp>
        <p:nvSpPr>
          <p:cNvPr id="808" name="Text 15"/>
          <p:cNvSpPr/>
          <p:nvPr/>
        </p:nvSpPr>
        <p:spPr>
          <a:xfrm>
            <a:off x="7479720" y="4910400"/>
            <a:ext cx="36018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Table-driven agent: the simplest conceptual agent program in Section 2.4.1.</a:t>
            </a:r>
            <a:endParaRPr lang="en-US" sz="1250" b="0" u="none" strike="noStrike">
              <a:solidFill>
                <a:srgbClr val="000000"/>
              </a:solidFill>
              <a:effectLst/>
              <a:uFillTx/>
              <a:latin typeface="Arial"/>
            </a:endParaRPr>
          </a:p>
        </p:txBody>
      </p:sp>
      <p:sp>
        <p:nvSpPr>
          <p:cNvPr id="809" name="Text 16"/>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2.7</a:t>
            </a:r>
            <a:endParaRPr lang="en-US" sz="75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10"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1"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812"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Why Table-Driven Agents Fail in Practice</a:t>
            </a:r>
            <a:endParaRPr lang="en-US" sz="2300" b="0" u="none" strike="noStrike">
              <a:solidFill>
                <a:srgbClr val="000000"/>
              </a:solidFill>
              <a:effectLst/>
              <a:uFillTx/>
              <a:latin typeface="Arial"/>
            </a:endParaRPr>
          </a:p>
        </p:txBody>
      </p:sp>
      <p:sp>
        <p:nvSpPr>
          <p:cNvPr id="813"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814"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815"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26</a:t>
            </a:r>
            <a:endParaRPr lang="en-US" sz="1800" b="0" u="none" strike="noStrike">
              <a:solidFill>
                <a:srgbClr val="000000"/>
              </a:solidFill>
              <a:effectLst/>
              <a:uFillTx/>
              <a:latin typeface="Arial"/>
            </a:endParaRPr>
          </a:p>
        </p:txBody>
      </p:sp>
      <p:sp>
        <p:nvSpPr>
          <p:cNvPr id="816" name="Text 6"/>
          <p:cNvSpPr/>
          <p:nvPr/>
        </p:nvSpPr>
        <p:spPr>
          <a:xfrm>
            <a:off x="822960" y="1143000"/>
            <a:ext cx="1051452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rPr>
              <a:t>The lookup table grows with every possible percept sequence.</a:t>
            </a:r>
            <a:endParaRPr lang="en-US" sz="2200" b="0" u="none" strike="noStrike">
              <a:solidFill>
                <a:srgbClr val="000000"/>
              </a:solidFill>
              <a:effectLst/>
              <a:uFillTx/>
              <a:latin typeface="Arial"/>
            </a:endParaRPr>
          </a:p>
        </p:txBody>
      </p:sp>
      <p:sp>
        <p:nvSpPr>
          <p:cNvPr id="817" name="Shape 7"/>
          <p:cNvSpPr/>
          <p:nvPr/>
        </p:nvSpPr>
        <p:spPr>
          <a:xfrm>
            <a:off x="822960" y="2057400"/>
            <a:ext cx="333648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18" name="Text 8"/>
          <p:cNvSpPr/>
          <p:nvPr/>
        </p:nvSpPr>
        <p:spPr>
          <a:xfrm>
            <a:off x="987480" y="2203560"/>
            <a:ext cx="3007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rPr>
              <a:t>Space problem</a:t>
            </a:r>
            <a:endParaRPr lang="en-US" sz="1700" b="0" u="none" strike="noStrike">
              <a:solidFill>
                <a:srgbClr val="000000"/>
              </a:solidFill>
              <a:effectLst/>
              <a:uFillTx/>
              <a:latin typeface="Arial"/>
            </a:endParaRPr>
          </a:p>
        </p:txBody>
      </p:sp>
      <p:sp>
        <p:nvSpPr>
          <p:cNvPr id="819" name="Text 9"/>
          <p:cNvSpPr/>
          <p:nvPr/>
        </p:nvSpPr>
        <p:spPr>
          <a:xfrm>
            <a:off x="987480" y="2532960"/>
            <a:ext cx="300744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No physical agent can store every entry for a realistic environment.</a:t>
            </a:r>
            <a:endParaRPr lang="en-US" sz="1350" b="0" u="none" strike="noStrike">
              <a:solidFill>
                <a:srgbClr val="000000"/>
              </a:solidFill>
              <a:effectLst/>
              <a:uFillTx/>
              <a:latin typeface="Arial"/>
            </a:endParaRPr>
          </a:p>
        </p:txBody>
      </p:sp>
      <p:sp>
        <p:nvSpPr>
          <p:cNvPr id="820" name="Shape 10"/>
          <p:cNvSpPr/>
          <p:nvPr/>
        </p:nvSpPr>
        <p:spPr>
          <a:xfrm>
            <a:off x="4617720" y="2057400"/>
            <a:ext cx="333648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1" name="Text 11"/>
          <p:cNvSpPr/>
          <p:nvPr/>
        </p:nvSpPr>
        <p:spPr>
          <a:xfrm>
            <a:off x="4782240" y="2203560"/>
            <a:ext cx="3007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rPr>
              <a:t>Design problem</a:t>
            </a:r>
            <a:endParaRPr lang="en-US" sz="1700" b="0" u="none" strike="noStrike">
              <a:solidFill>
                <a:srgbClr val="000000"/>
              </a:solidFill>
              <a:effectLst/>
              <a:uFillTx/>
              <a:latin typeface="Arial"/>
            </a:endParaRPr>
          </a:p>
        </p:txBody>
      </p:sp>
      <p:sp>
        <p:nvSpPr>
          <p:cNvPr id="822" name="Text 12"/>
          <p:cNvSpPr/>
          <p:nvPr/>
        </p:nvSpPr>
        <p:spPr>
          <a:xfrm>
            <a:off x="4782240" y="2532960"/>
            <a:ext cx="300744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No designer can fill in the right action for every possible sequence.</a:t>
            </a:r>
            <a:endParaRPr lang="en-US" sz="1350" b="0" u="none" strike="noStrike">
              <a:solidFill>
                <a:srgbClr val="000000"/>
              </a:solidFill>
              <a:effectLst/>
              <a:uFillTx/>
              <a:latin typeface="Arial"/>
            </a:endParaRPr>
          </a:p>
        </p:txBody>
      </p:sp>
      <p:sp>
        <p:nvSpPr>
          <p:cNvPr id="823" name="Shape 13"/>
          <p:cNvSpPr/>
          <p:nvPr/>
        </p:nvSpPr>
        <p:spPr>
          <a:xfrm>
            <a:off x="8412480" y="2057400"/>
            <a:ext cx="333648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4" name="Text 14"/>
          <p:cNvSpPr/>
          <p:nvPr/>
        </p:nvSpPr>
        <p:spPr>
          <a:xfrm>
            <a:off x="8577000" y="2203560"/>
            <a:ext cx="3007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5B35B1"/>
                </a:solidFill>
                <a:effectLst/>
                <a:uFillTx/>
                <a:latin typeface="Aptos"/>
              </a:rPr>
              <a:t>Learning problem</a:t>
            </a:r>
            <a:endParaRPr lang="en-US" sz="1700" b="0" u="none" strike="noStrike">
              <a:solidFill>
                <a:srgbClr val="000000"/>
              </a:solidFill>
              <a:effectLst/>
              <a:uFillTx/>
              <a:latin typeface="Arial"/>
            </a:endParaRPr>
          </a:p>
        </p:txBody>
      </p:sp>
      <p:sp>
        <p:nvSpPr>
          <p:cNvPr id="825" name="Text 15"/>
          <p:cNvSpPr/>
          <p:nvPr/>
        </p:nvSpPr>
        <p:spPr>
          <a:xfrm>
            <a:off x="8577000" y="2532960"/>
            <a:ext cx="300744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No agent can experience every possible percept sequence.</a:t>
            </a:r>
            <a:endParaRPr lang="en-US" sz="1350" b="0" u="none" strike="noStrike">
              <a:solidFill>
                <a:srgbClr val="000000"/>
              </a:solidFill>
              <a:effectLst/>
              <a:uFillTx/>
              <a:latin typeface="Arial"/>
            </a:endParaRPr>
          </a:p>
        </p:txBody>
      </p:sp>
      <p:sp>
        <p:nvSpPr>
          <p:cNvPr id="826" name="Shape 16"/>
          <p:cNvSpPr/>
          <p:nvPr/>
        </p:nvSpPr>
        <p:spPr>
          <a:xfrm>
            <a:off x="1005840" y="4343400"/>
            <a:ext cx="10149840" cy="360"/>
          </a:xfrm>
          <a:prstGeom prst="line">
            <a:avLst/>
          </a:prstGeom>
          <a:ln w="254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827" name="Text 17"/>
          <p:cNvSpPr/>
          <p:nvPr/>
        </p:nvSpPr>
        <p:spPr>
          <a:xfrm>
            <a:off x="1005840" y="4681800"/>
            <a:ext cx="1014876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100" b="1" u="none" strike="noStrike">
                <a:solidFill>
                  <a:srgbClr val="0B2B5C"/>
                </a:solidFill>
                <a:effectLst/>
                <a:uFillTx/>
                <a:latin typeface="Aptos"/>
              </a:rPr>
              <a:t>Key challenge for AI</a:t>
            </a:r>
            <a:endParaRPr lang="en-US" sz="2100" b="0" u="none" strike="noStrike">
              <a:solidFill>
                <a:srgbClr val="000000"/>
              </a:solidFill>
              <a:effectLst/>
              <a:uFillTx/>
              <a:latin typeface="Arial"/>
            </a:endParaRPr>
          </a:p>
        </p:txBody>
      </p:sp>
      <p:sp>
        <p:nvSpPr>
          <p:cNvPr id="828" name="Text 18"/>
          <p:cNvSpPr/>
          <p:nvPr/>
        </p:nvSpPr>
        <p:spPr>
          <a:xfrm>
            <a:off x="1005840" y="5120640"/>
            <a:ext cx="10148760" cy="4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1F3A"/>
                </a:solidFill>
                <a:effectLst/>
                <a:uFillTx/>
                <a:latin typeface="Aptos"/>
              </a:rPr>
              <a:t>Write small programs that produce rational behavior without enumerating every possible history.</a:t>
            </a:r>
            <a:endParaRPr lang="en-US" sz="20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29"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0"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831"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2.4.1 The Numbers Behind the Failure</a:t>
            </a:r>
            <a:endParaRPr lang="en-US" sz="2300" b="0" u="none" strike="noStrike">
              <a:solidFill>
                <a:srgbClr val="000000"/>
              </a:solidFill>
              <a:effectLst/>
              <a:uFillTx/>
              <a:latin typeface="Arial"/>
            </a:endParaRPr>
          </a:p>
        </p:txBody>
      </p:sp>
      <p:sp>
        <p:nvSpPr>
          <p:cNvPr id="832"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2.4.1</a:t>
            </a:r>
            <a:endParaRPr lang="en-US" sz="1200" b="0" u="none" strike="noStrike">
              <a:solidFill>
                <a:srgbClr val="000000"/>
              </a:solidFill>
              <a:effectLst/>
              <a:uFillTx/>
              <a:latin typeface="Arial"/>
            </a:endParaRPr>
          </a:p>
        </p:txBody>
      </p:sp>
      <p:sp>
        <p:nvSpPr>
          <p:cNvPr id="833" name="Shape 5"/>
          <p:cNvSpPr/>
          <p:nvPr/>
        </p:nvSpPr>
        <p:spPr>
          <a:xfrm>
            <a:off x="86868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4" name="Text 6"/>
          <p:cNvSpPr/>
          <p:nvPr/>
        </p:nvSpPr>
        <p:spPr>
          <a:xfrm>
            <a:off x="99684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2B6CB0"/>
                </a:solidFill>
                <a:effectLst/>
                <a:uFillTx/>
                <a:latin typeface="Aptos"/>
                <a:ea typeface="Aptos"/>
              </a:rPr>
              <a:t>70 MB/s</a:t>
            </a:r>
            <a:endParaRPr lang="en-US" sz="2800" b="0" u="none" strike="noStrike">
              <a:solidFill>
                <a:srgbClr val="000000"/>
              </a:solidFill>
              <a:effectLst/>
              <a:uFillTx/>
              <a:latin typeface="Arial"/>
            </a:endParaRPr>
          </a:p>
        </p:txBody>
      </p:sp>
      <p:sp>
        <p:nvSpPr>
          <p:cNvPr id="835" name="Text 7"/>
          <p:cNvSpPr/>
          <p:nvPr/>
        </p:nvSpPr>
        <p:spPr>
          <a:xfrm>
            <a:off x="101484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Visual input from a single taxi camera at 30 fps, 1080 × 720, 24-bit color. Eight cameras is typical.</a:t>
            </a:r>
            <a:endParaRPr lang="en-US" sz="1200" b="0" u="none" strike="noStrike">
              <a:solidFill>
                <a:srgbClr val="000000"/>
              </a:solidFill>
              <a:effectLst/>
              <a:uFillTx/>
              <a:latin typeface="Arial"/>
            </a:endParaRPr>
          </a:p>
        </p:txBody>
      </p:sp>
      <p:sp>
        <p:nvSpPr>
          <p:cNvPr id="836" name="Shape 8"/>
          <p:cNvSpPr/>
          <p:nvPr/>
        </p:nvSpPr>
        <p:spPr>
          <a:xfrm>
            <a:off x="354348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7" name="Text 9"/>
          <p:cNvSpPr/>
          <p:nvPr/>
        </p:nvSpPr>
        <p:spPr>
          <a:xfrm>
            <a:off x="367128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A32020"/>
                </a:solidFill>
                <a:effectLst/>
                <a:uFillTx/>
                <a:latin typeface="Aptos"/>
                <a:ea typeface="Aptos"/>
              </a:rPr>
              <a:t>10⁶⁰⁰,⁰⁰⁰,⁰⁰⁰,⁰⁰⁰</a:t>
            </a:r>
            <a:endParaRPr lang="en-US" sz="2000" b="0" u="none" strike="noStrike">
              <a:solidFill>
                <a:srgbClr val="000000"/>
              </a:solidFill>
              <a:effectLst/>
              <a:uFillTx/>
              <a:latin typeface="Arial"/>
            </a:endParaRPr>
          </a:p>
        </p:txBody>
      </p:sp>
      <p:sp>
        <p:nvSpPr>
          <p:cNvPr id="838" name="Text 10"/>
          <p:cNvSpPr/>
          <p:nvPr/>
        </p:nvSpPr>
        <p:spPr>
          <a:xfrm>
            <a:off x="368964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Entries the lookup table would need for one hour of driving from a single camera.</a:t>
            </a:r>
            <a:endParaRPr lang="en-US" sz="1200" b="0" u="none" strike="noStrike">
              <a:solidFill>
                <a:srgbClr val="000000"/>
              </a:solidFill>
              <a:effectLst/>
              <a:uFillTx/>
              <a:latin typeface="Arial"/>
            </a:endParaRPr>
          </a:p>
        </p:txBody>
      </p:sp>
      <p:sp>
        <p:nvSpPr>
          <p:cNvPr id="839" name="Shape 11"/>
          <p:cNvSpPr/>
          <p:nvPr/>
        </p:nvSpPr>
        <p:spPr>
          <a:xfrm>
            <a:off x="621792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0" name="Text 12"/>
          <p:cNvSpPr/>
          <p:nvPr/>
        </p:nvSpPr>
        <p:spPr>
          <a:xfrm>
            <a:off x="634608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5B35B1"/>
                </a:solidFill>
                <a:effectLst/>
                <a:uFillTx/>
                <a:latin typeface="Aptos"/>
                <a:ea typeface="Aptos"/>
              </a:rPr>
              <a:t>10¹⁵⁰</a:t>
            </a:r>
            <a:endParaRPr lang="en-US" sz="3600" b="0" u="none" strike="noStrike">
              <a:solidFill>
                <a:srgbClr val="000000"/>
              </a:solidFill>
              <a:effectLst/>
              <a:uFillTx/>
              <a:latin typeface="Arial"/>
            </a:endParaRPr>
          </a:p>
        </p:txBody>
      </p:sp>
      <p:sp>
        <p:nvSpPr>
          <p:cNvPr id="841" name="Text 13"/>
          <p:cNvSpPr/>
          <p:nvPr/>
        </p:nvSpPr>
        <p:spPr>
          <a:xfrm>
            <a:off x="636408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Entries for chess alone — a tiny, well-behaved fragment of the real world.</a:t>
            </a:r>
            <a:endParaRPr lang="en-US" sz="1200" b="0" u="none" strike="noStrike">
              <a:solidFill>
                <a:srgbClr val="000000"/>
              </a:solidFill>
              <a:effectLst/>
              <a:uFillTx/>
              <a:latin typeface="Arial"/>
            </a:endParaRPr>
          </a:p>
        </p:txBody>
      </p:sp>
      <p:sp>
        <p:nvSpPr>
          <p:cNvPr id="842" name="Shape 14"/>
          <p:cNvSpPr/>
          <p:nvPr/>
        </p:nvSpPr>
        <p:spPr>
          <a:xfrm>
            <a:off x="8892720" y="1188720"/>
            <a:ext cx="2400120" cy="196560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3" name="Text 15"/>
          <p:cNvSpPr/>
          <p:nvPr/>
        </p:nvSpPr>
        <p:spPr>
          <a:xfrm>
            <a:off x="9020520" y="1353240"/>
            <a:ext cx="21438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1B7A45"/>
                </a:solidFill>
                <a:effectLst/>
                <a:uFillTx/>
                <a:latin typeface="Aptos"/>
                <a:ea typeface="Aptos"/>
              </a:rPr>
              <a:t>&lt; 10⁸⁰</a:t>
            </a:r>
            <a:endParaRPr lang="en-US" sz="3600" b="0" u="none" strike="noStrike">
              <a:solidFill>
                <a:srgbClr val="000000"/>
              </a:solidFill>
              <a:effectLst/>
              <a:uFillTx/>
              <a:latin typeface="Arial"/>
            </a:endParaRPr>
          </a:p>
        </p:txBody>
      </p:sp>
      <p:sp>
        <p:nvSpPr>
          <p:cNvPr id="844" name="Text 16"/>
          <p:cNvSpPr/>
          <p:nvPr/>
        </p:nvSpPr>
        <p:spPr>
          <a:xfrm>
            <a:off x="9038880" y="2066400"/>
            <a:ext cx="2107440" cy="959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0" u="none" strike="noStrike">
                <a:solidFill>
                  <a:srgbClr val="0B1F3A"/>
                </a:solidFill>
                <a:effectLst/>
                <a:uFillTx/>
                <a:latin typeface="Aptos"/>
                <a:ea typeface="Aptos"/>
              </a:rPr>
              <a:t>Atoms in the observable universe, for comparison.</a:t>
            </a:r>
            <a:endParaRPr lang="en-US" sz="1200" b="0" u="none" strike="noStrike">
              <a:solidFill>
                <a:srgbClr val="000000"/>
              </a:solidFill>
              <a:effectLst/>
              <a:uFillTx/>
              <a:latin typeface="Arial"/>
            </a:endParaRPr>
          </a:p>
        </p:txBody>
      </p:sp>
      <p:sp>
        <p:nvSpPr>
          <p:cNvPr id="845" name="Shape 17"/>
          <p:cNvSpPr/>
          <p:nvPr/>
        </p:nvSpPr>
        <p:spPr>
          <a:xfrm>
            <a:off x="868680" y="3429000"/>
            <a:ext cx="10423800" cy="132552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6" name="Text 18"/>
          <p:cNvSpPr/>
          <p:nvPr/>
        </p:nvSpPr>
        <p:spPr>
          <a:xfrm>
            <a:off x="1124640" y="3584520"/>
            <a:ext cx="9911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B2B5C"/>
                </a:solidFill>
                <a:effectLst/>
                <a:uFillTx/>
                <a:latin typeface="Aptos"/>
                <a:ea typeface="Aptos"/>
              </a:rPr>
              <a:t>Newton, not tables</a:t>
            </a:r>
            <a:endParaRPr lang="en-US" sz="1700" b="0" u="none" strike="noStrike">
              <a:solidFill>
                <a:srgbClr val="000000"/>
              </a:solidFill>
              <a:effectLst/>
              <a:uFillTx/>
              <a:latin typeface="Arial"/>
            </a:endParaRPr>
          </a:p>
        </p:txBody>
      </p:sp>
      <p:sp>
        <p:nvSpPr>
          <p:cNvPr id="847" name="Text 19"/>
          <p:cNvSpPr/>
          <p:nvPr/>
        </p:nvSpPr>
        <p:spPr>
          <a:xfrm>
            <a:off x="1124640" y="3950280"/>
            <a:ext cx="99118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0B1F3A"/>
                </a:solidFill>
                <a:effectLst/>
                <a:uFillTx/>
                <a:latin typeface="Aptos"/>
                <a:ea typeface="Aptos"/>
              </a:rPr>
              <a:t>Before the 1970s, engineers and schoolchildren looked up square roots in enormous printed tables. A five-line program for Newton's method on a pocket calculator replaced all of them. The chapter's wager is that AI can do the same for intelligent behavior generally.</a:t>
            </a:r>
            <a:endParaRPr lang="en-US" sz="1400" b="0" u="none" strike="noStrike">
              <a:solidFill>
                <a:srgbClr val="000000"/>
              </a:solidFill>
              <a:effectLst/>
              <a:uFillTx/>
              <a:latin typeface="Arial"/>
            </a:endParaRPr>
          </a:p>
        </p:txBody>
      </p:sp>
      <p:sp>
        <p:nvSpPr>
          <p:cNvPr id="848" name="Text 20"/>
          <p:cNvSpPr/>
          <p:nvPr/>
        </p:nvSpPr>
        <p:spPr>
          <a:xfrm>
            <a:off x="914400" y="50292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No agent can store it, no designer can fill it in, no agent can learn it</a:t>
            </a:r>
            <a:endParaRPr lang="en-US" sz="1900" b="0" u="none" strike="noStrike">
              <a:solidFill>
                <a:srgbClr val="000000"/>
              </a:solidFill>
              <a:effectLst/>
              <a:uFillTx/>
              <a:latin typeface="Arial"/>
            </a:endParaRPr>
          </a:p>
        </p:txBody>
      </p:sp>
      <p:sp>
        <p:nvSpPr>
          <p:cNvPr id="849" name="Text 21"/>
          <p:cNvSpPr/>
          <p:nvPr/>
        </p:nvSpPr>
        <p:spPr>
          <a:xfrm>
            <a:off x="1005840" y="5532120"/>
            <a:ext cx="10149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TABLE-DRIVEN-AGENT is not wrong — filled in correctly it implements exactly the agent function we want. It is simply unbuildable. The key challenge is producing rational behavior from a small program instead.</a:t>
            </a:r>
            <a:endParaRPr lang="en-US" sz="1400" b="0" u="none" strike="noStrike">
              <a:solidFill>
                <a:srgbClr val="000000"/>
              </a:solidFill>
              <a:effectLst/>
              <a:uFillTx/>
              <a:latin typeface="Arial"/>
            </a:endParaRPr>
          </a:p>
        </p:txBody>
      </p:sp>
      <p:sp>
        <p:nvSpPr>
          <p:cNvPr id="850" name="Text 22"/>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851" name="Text 23"/>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27</a:t>
            </a:r>
            <a:endParaRPr lang="en-US" sz="85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52"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53"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854"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2.4.2 Simple Reflex Agents: Vacuum Pseudocode</a:t>
            </a:r>
            <a:endParaRPr lang="en-US" sz="2300" b="0" u="none" strike="noStrike">
              <a:solidFill>
                <a:srgbClr val="000000"/>
              </a:solidFill>
              <a:effectLst/>
              <a:uFillTx/>
              <a:latin typeface="Arial"/>
            </a:endParaRPr>
          </a:p>
        </p:txBody>
      </p:sp>
      <p:sp>
        <p:nvSpPr>
          <p:cNvPr id="855"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856"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857"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28</a:t>
            </a:r>
            <a:endParaRPr lang="en-US" sz="1800" b="0" u="none" strike="noStrike">
              <a:solidFill>
                <a:srgbClr val="000000"/>
              </a:solidFill>
              <a:effectLst/>
              <a:uFillTx/>
              <a:latin typeface="Arial"/>
            </a:endParaRPr>
          </a:p>
        </p:txBody>
      </p:sp>
      <p:sp>
        <p:nvSpPr>
          <p:cNvPr id="858" name="Text 6"/>
          <p:cNvSpPr/>
          <p:nvPr/>
        </p:nvSpPr>
        <p:spPr>
          <a:xfrm>
            <a:off x="822960" y="1078920"/>
            <a:ext cx="1051452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Select an action from the current percept only.</a:t>
            </a:r>
            <a:endParaRPr lang="en-US" sz="2000" b="0" u="none" strike="noStrike">
              <a:solidFill>
                <a:srgbClr val="000000"/>
              </a:solidFill>
              <a:effectLst/>
              <a:uFillTx/>
              <a:latin typeface="Arial"/>
            </a:endParaRPr>
          </a:p>
        </p:txBody>
      </p:sp>
      <p:pic>
        <p:nvPicPr>
          <p:cNvPr id="859" name="Image 0" descr="/mnt/data/ch2_docx_unzipped/word/media/image7.png"/>
          <p:cNvPicPr/>
          <p:nvPr/>
        </p:nvPicPr>
        <p:blipFill>
          <a:blip r:embed="rId3"/>
          <a:stretch/>
        </p:blipFill>
        <p:spPr>
          <a:xfrm>
            <a:off x="868680" y="1645920"/>
            <a:ext cx="6582600" cy="2193480"/>
          </a:xfrm>
          <a:prstGeom prst="rect">
            <a:avLst/>
          </a:prstGeom>
          <a:noFill/>
          <a:ln w="0">
            <a:noFill/>
          </a:ln>
        </p:spPr>
      </p:pic>
      <p:sp>
        <p:nvSpPr>
          <p:cNvPr id="860" name="Shape 7"/>
          <p:cNvSpPr/>
          <p:nvPr/>
        </p:nvSpPr>
        <p:spPr>
          <a:xfrm>
            <a:off x="7589520" y="1691640"/>
            <a:ext cx="3610800" cy="1507680"/>
          </a:xfrm>
          <a:prstGeom prst="roundRect">
            <a:avLst>
              <a:gd name="adj" fmla="val 363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1" name="Text 8"/>
          <p:cNvSpPr/>
          <p:nvPr/>
        </p:nvSpPr>
        <p:spPr>
          <a:xfrm>
            <a:off x="7754040" y="1837800"/>
            <a:ext cx="3281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Vacuum rule</a:t>
            </a:r>
            <a:endParaRPr lang="en-US" sz="1700" b="0" u="none" strike="noStrike">
              <a:solidFill>
                <a:srgbClr val="000000"/>
              </a:solidFill>
              <a:effectLst/>
              <a:uFillTx/>
              <a:latin typeface="Arial"/>
            </a:endParaRPr>
          </a:p>
        </p:txBody>
      </p:sp>
      <p:sp>
        <p:nvSpPr>
          <p:cNvPr id="862" name="Text 9"/>
          <p:cNvSpPr/>
          <p:nvPr/>
        </p:nvSpPr>
        <p:spPr>
          <a:xfrm>
            <a:off x="7754040" y="2167200"/>
            <a:ext cx="3281760" cy="913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if status = Dirty then Suck</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0B1F3A"/>
                </a:solidFill>
                <a:effectLst/>
                <a:uFillTx/>
                <a:latin typeface="Aptos"/>
              </a:rPr>
              <a:t>else if location = A then Right</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0B1F3A"/>
                </a:solidFill>
                <a:effectLst/>
                <a:uFillTx/>
                <a:latin typeface="Aptos"/>
              </a:rPr>
              <a:t>else if location = B then Left</a:t>
            </a:r>
            <a:endParaRPr lang="en-US" sz="1350" b="0" u="none" strike="noStrike">
              <a:solidFill>
                <a:srgbClr val="000000"/>
              </a:solidFill>
              <a:effectLst/>
              <a:uFillTx/>
              <a:latin typeface="Arial"/>
            </a:endParaRPr>
          </a:p>
        </p:txBody>
      </p:sp>
      <p:sp>
        <p:nvSpPr>
          <p:cNvPr id="863" name="Shape 10"/>
          <p:cNvSpPr/>
          <p:nvPr/>
        </p:nvSpPr>
        <p:spPr>
          <a:xfrm>
            <a:off x="7589520" y="3456360"/>
            <a:ext cx="361080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4" name="Text 11"/>
          <p:cNvSpPr/>
          <p:nvPr/>
        </p:nvSpPr>
        <p:spPr>
          <a:xfrm>
            <a:off x="7754040" y="3602880"/>
            <a:ext cx="3281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Why this is reflex</a:t>
            </a:r>
            <a:endParaRPr lang="en-US" sz="1700" b="0" u="none" strike="noStrike">
              <a:solidFill>
                <a:srgbClr val="000000"/>
              </a:solidFill>
              <a:effectLst/>
              <a:uFillTx/>
              <a:latin typeface="Arial"/>
            </a:endParaRPr>
          </a:p>
        </p:txBody>
      </p:sp>
      <p:sp>
        <p:nvSpPr>
          <p:cNvPr id="865" name="Text 12"/>
          <p:cNvSpPr/>
          <p:nvPr/>
        </p:nvSpPr>
        <p:spPr>
          <a:xfrm>
            <a:off x="7754040" y="3931920"/>
            <a:ext cx="328176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The action depends only on current location and dirt status, not the entire percept history.</a:t>
            </a:r>
            <a:endParaRPr lang="en-US" sz="1350" b="0" u="none" strike="noStrike">
              <a:solidFill>
                <a:srgbClr val="000000"/>
              </a:solidFill>
              <a:effectLst/>
              <a:uFillTx/>
              <a:latin typeface="Arial"/>
            </a:endParaRPr>
          </a:p>
        </p:txBody>
      </p:sp>
      <p:sp>
        <p:nvSpPr>
          <p:cNvPr id="866" name="Text 13"/>
          <p:cNvSpPr/>
          <p:nvPr/>
        </p:nvSpPr>
        <p:spPr>
          <a:xfrm>
            <a:off x="868680" y="5577840"/>
            <a:ext cx="1033164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Strength: fast and compact. Weakness: brittle when the current percept is incomplete.</a:t>
            </a:r>
            <a:endParaRPr lang="en-US" sz="1800" b="0" u="none" strike="noStrike">
              <a:solidFill>
                <a:srgbClr val="000000"/>
              </a:solidFill>
              <a:effectLst/>
              <a:uFillTx/>
              <a:latin typeface="Arial"/>
            </a:endParaRPr>
          </a:p>
        </p:txBody>
      </p:sp>
      <p:sp>
        <p:nvSpPr>
          <p:cNvPr id="867" name="Text 14"/>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2.8</a:t>
            </a:r>
            <a:endParaRPr lang="en-US" sz="75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6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6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87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2.4.2 General Simple Reflex Agent</a:t>
            </a:r>
            <a:endParaRPr lang="en-US" sz="2300" b="0" u="none" strike="noStrike">
              <a:solidFill>
                <a:srgbClr val="000000"/>
              </a:solidFill>
              <a:effectLst/>
              <a:uFillTx/>
              <a:latin typeface="Arial"/>
            </a:endParaRPr>
          </a:p>
        </p:txBody>
      </p:sp>
      <p:sp>
        <p:nvSpPr>
          <p:cNvPr id="87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87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87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29</a:t>
            </a:r>
            <a:endParaRPr lang="en-US" sz="1800" b="0" u="none" strike="noStrike">
              <a:solidFill>
                <a:srgbClr val="000000"/>
              </a:solidFill>
              <a:effectLst/>
              <a:uFillTx/>
              <a:latin typeface="Arial"/>
            </a:endParaRPr>
          </a:p>
        </p:txBody>
      </p:sp>
      <p:pic>
        <p:nvPicPr>
          <p:cNvPr id="874" name="Image 0" descr="/mnt/data/ch2_docx_unzipped/word/media/image8.png"/>
          <p:cNvPicPr/>
          <p:nvPr/>
        </p:nvPicPr>
        <p:blipFill>
          <a:blip r:embed="rId3"/>
          <a:stretch/>
        </p:blipFill>
        <p:spPr>
          <a:xfrm>
            <a:off x="457200" y="1371600"/>
            <a:ext cx="5257080" cy="4137840"/>
          </a:xfrm>
          <a:prstGeom prst="rect">
            <a:avLst/>
          </a:prstGeom>
          <a:noFill/>
          <a:ln w="0">
            <a:noFill/>
          </a:ln>
        </p:spPr>
      </p:pic>
      <p:pic>
        <p:nvPicPr>
          <p:cNvPr id="875" name="Image 1" descr="/mnt/data/ch2_docx_unzipped/word/media/image9.png"/>
          <p:cNvPicPr/>
          <p:nvPr/>
        </p:nvPicPr>
        <p:blipFill>
          <a:blip r:embed="rId4"/>
          <a:stretch/>
        </p:blipFill>
        <p:spPr>
          <a:xfrm>
            <a:off x="6315480" y="1463040"/>
            <a:ext cx="5107320" cy="2376360"/>
          </a:xfrm>
          <a:prstGeom prst="rect">
            <a:avLst/>
          </a:prstGeom>
          <a:noFill/>
          <a:ln w="0">
            <a:noFill/>
          </a:ln>
        </p:spPr>
      </p:pic>
      <p:sp>
        <p:nvSpPr>
          <p:cNvPr id="876" name="Shape 6"/>
          <p:cNvSpPr/>
          <p:nvPr/>
        </p:nvSpPr>
        <p:spPr>
          <a:xfrm>
            <a:off x="6217920" y="4160520"/>
            <a:ext cx="5256720" cy="821880"/>
          </a:xfrm>
          <a:prstGeom prst="roundRect">
            <a:avLst>
              <a:gd name="adj" fmla="val 6667"/>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77" name="Text 7"/>
          <p:cNvSpPr/>
          <p:nvPr/>
        </p:nvSpPr>
        <p:spPr>
          <a:xfrm>
            <a:off x="6382440" y="4306680"/>
            <a:ext cx="49276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General pattern</a:t>
            </a:r>
            <a:endParaRPr lang="en-US" sz="1600" b="0" u="none" strike="noStrike">
              <a:solidFill>
                <a:srgbClr val="000000"/>
              </a:solidFill>
              <a:effectLst/>
              <a:uFillTx/>
              <a:latin typeface="Arial"/>
            </a:endParaRPr>
          </a:p>
        </p:txBody>
      </p:sp>
      <p:sp>
        <p:nvSpPr>
          <p:cNvPr id="878" name="Text 8"/>
          <p:cNvSpPr/>
          <p:nvPr/>
        </p:nvSpPr>
        <p:spPr>
          <a:xfrm>
            <a:off x="6382440" y="4636080"/>
            <a:ext cx="4927680" cy="227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9999"/>
          </a:bodyPr>
          <a:lstStyle/>
          <a:p>
            <a:pPr defTabSz="914400">
              <a:lnSpc>
                <a:spcPct val="100000"/>
              </a:lnSpc>
              <a:tabLst>
                <a:tab pos="0" algn="l"/>
              </a:tabLst>
            </a:pPr>
            <a:r>
              <a:rPr lang="en-US" sz="1250" b="0" u="none" strike="noStrike">
                <a:solidFill>
                  <a:srgbClr val="0B1F3A"/>
                </a:solidFill>
                <a:effectLst/>
                <a:uFillTx/>
                <a:latin typeface="Aptos"/>
              </a:rPr>
              <a:t>Interpret current percept -&gt; match condition-action rule -&gt; return rule action.</a:t>
            </a:r>
            <a:endParaRPr lang="en-US" sz="1250" b="0" u="none" strike="noStrike">
              <a:solidFill>
                <a:srgbClr val="000000"/>
              </a:solidFill>
              <a:effectLst/>
              <a:uFillTx/>
              <a:latin typeface="Arial"/>
            </a:endParaRPr>
          </a:p>
        </p:txBody>
      </p:sp>
      <p:sp>
        <p:nvSpPr>
          <p:cNvPr id="879" name="Shape 9"/>
          <p:cNvSpPr/>
          <p:nvPr/>
        </p:nvSpPr>
        <p:spPr>
          <a:xfrm>
            <a:off x="6217920" y="5212080"/>
            <a:ext cx="5256720" cy="776160"/>
          </a:xfrm>
          <a:prstGeom prst="roundRect">
            <a:avLst>
              <a:gd name="adj" fmla="val 7059"/>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0" name="Text 10"/>
          <p:cNvSpPr/>
          <p:nvPr/>
        </p:nvSpPr>
        <p:spPr>
          <a:xfrm>
            <a:off x="6382440" y="5358240"/>
            <a:ext cx="49276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A32020"/>
                </a:solidFill>
                <a:effectLst/>
                <a:uFillTx/>
                <a:latin typeface="Aptos"/>
              </a:rPr>
              <a:t>Key limitation</a:t>
            </a:r>
            <a:endParaRPr lang="en-US" sz="1600" b="0" u="none" strike="noStrike">
              <a:solidFill>
                <a:srgbClr val="000000"/>
              </a:solidFill>
              <a:effectLst/>
              <a:uFillTx/>
              <a:latin typeface="Arial"/>
            </a:endParaRPr>
          </a:p>
        </p:txBody>
      </p:sp>
      <p:sp>
        <p:nvSpPr>
          <p:cNvPr id="881" name="Text 11"/>
          <p:cNvSpPr/>
          <p:nvPr/>
        </p:nvSpPr>
        <p:spPr>
          <a:xfrm>
            <a:off x="6382440" y="5687640"/>
            <a:ext cx="4927680" cy="181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7500" lnSpcReduction="20000"/>
          </a:bodyPr>
          <a:lstStyle/>
          <a:p>
            <a:pPr defTabSz="914400">
              <a:lnSpc>
                <a:spcPct val="100000"/>
              </a:lnSpc>
              <a:tabLst>
                <a:tab pos="0" algn="l"/>
              </a:tabLst>
            </a:pPr>
            <a:r>
              <a:rPr lang="en-US" sz="1250" b="0" u="none" strike="noStrike">
                <a:solidFill>
                  <a:srgbClr val="0B1F3A"/>
                </a:solidFill>
                <a:effectLst/>
                <a:uFillTx/>
                <a:latin typeface="Aptos"/>
              </a:rPr>
              <a:t>If the current percept does not reveal enough state, the rule may choose the wrong action.</a:t>
            </a:r>
            <a:endParaRPr lang="en-US" sz="1250" b="0" u="none" strike="noStrike">
              <a:solidFill>
                <a:srgbClr val="000000"/>
              </a:solidFill>
              <a:effectLst/>
              <a:uFillTx/>
              <a:latin typeface="Arial"/>
            </a:endParaRPr>
          </a:p>
        </p:txBody>
      </p:sp>
      <p:sp>
        <p:nvSpPr>
          <p:cNvPr id="882" name="Text 12"/>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Figures 2.9 and 2.10</a:t>
            </a:r>
            <a:endParaRPr lang="en-US" sz="75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883"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4"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885"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2.4.2 Condition–Action Rules: Power and Limits</a:t>
            </a:r>
            <a:endParaRPr lang="en-US" sz="2300" b="0" u="none" strike="noStrike">
              <a:solidFill>
                <a:srgbClr val="000000"/>
              </a:solidFill>
              <a:effectLst/>
              <a:uFillTx/>
              <a:latin typeface="Arial"/>
            </a:endParaRPr>
          </a:p>
        </p:txBody>
      </p:sp>
      <p:sp>
        <p:nvSpPr>
          <p:cNvPr id="886"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887" name="Shape 5"/>
          <p:cNvSpPr/>
          <p:nvPr/>
        </p:nvSpPr>
        <p:spPr>
          <a:xfrm>
            <a:off x="868680" y="1188720"/>
            <a:ext cx="5074560" cy="1051200"/>
          </a:xfrm>
          <a:prstGeom prst="roundRect">
            <a:avLst>
              <a:gd name="adj" fmla="val 4444"/>
            </a:avLst>
          </a:prstGeom>
          <a:solidFill>
            <a:srgbClr val="0B2B5C"/>
          </a:solidFill>
          <a:ln w="12700">
            <a:solidFill>
              <a:srgbClr val="0B2B5C"/>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8" name="Text 6"/>
          <p:cNvSpPr/>
          <p:nvPr/>
        </p:nvSpPr>
        <p:spPr>
          <a:xfrm>
            <a:off x="1097280" y="1298520"/>
            <a:ext cx="461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F5A21B"/>
                </a:solidFill>
                <a:effectLst/>
                <a:uFillTx/>
                <a:latin typeface="Aptos"/>
                <a:ea typeface="Aptos"/>
              </a:rPr>
              <a:t>The rule behind the brake pedal</a:t>
            </a:r>
            <a:endParaRPr lang="en-US" sz="1300" b="0" u="none" strike="noStrike">
              <a:solidFill>
                <a:srgbClr val="000000"/>
              </a:solidFill>
              <a:effectLst/>
              <a:uFillTx/>
              <a:latin typeface="Arial"/>
            </a:endParaRPr>
          </a:p>
        </p:txBody>
      </p:sp>
      <p:sp>
        <p:nvSpPr>
          <p:cNvPr id="889" name="Text 7"/>
          <p:cNvSpPr/>
          <p:nvPr/>
        </p:nvSpPr>
        <p:spPr>
          <a:xfrm>
            <a:off x="1097280" y="1664280"/>
            <a:ext cx="4617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FFFFF"/>
                </a:solidFill>
                <a:effectLst/>
                <a:uFillTx/>
                <a:latin typeface="Courier New"/>
                <a:ea typeface="Courier New"/>
              </a:rPr>
              <a:t>if car-in-front-is-braking then initiate-braking</a:t>
            </a:r>
            <a:endParaRPr lang="en-US" sz="1250" b="0" u="none" strike="noStrike">
              <a:solidFill>
                <a:srgbClr val="000000"/>
              </a:solidFill>
              <a:effectLst/>
              <a:uFillTx/>
              <a:latin typeface="Arial"/>
            </a:endParaRPr>
          </a:p>
        </p:txBody>
      </p:sp>
      <p:sp>
        <p:nvSpPr>
          <p:cNvPr id="890" name="Shape 8"/>
          <p:cNvSpPr/>
          <p:nvPr/>
        </p:nvSpPr>
        <p:spPr>
          <a:xfrm>
            <a:off x="868680" y="2450520"/>
            <a:ext cx="5074560" cy="228564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1" name="Text 9"/>
          <p:cNvSpPr/>
          <p:nvPr/>
        </p:nvSpPr>
        <p:spPr>
          <a:xfrm>
            <a:off x="1033200" y="2598840"/>
            <a:ext cx="474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A32020"/>
                </a:solidFill>
                <a:effectLst/>
                <a:uFillTx/>
                <a:latin typeface="Aptos"/>
                <a:ea typeface="Aptos"/>
              </a:rPr>
              <a:t>Why even this rule is fragile</a:t>
            </a:r>
            <a:endParaRPr lang="en-US" sz="1700" b="0" u="none" strike="noStrike">
              <a:solidFill>
                <a:srgbClr val="000000"/>
              </a:solidFill>
              <a:effectLst/>
              <a:uFillTx/>
              <a:latin typeface="Arial"/>
            </a:endParaRPr>
          </a:p>
        </p:txBody>
      </p:sp>
      <p:sp>
        <p:nvSpPr>
          <p:cNvPr id="892" name="Text 10"/>
          <p:cNvSpPr/>
          <p:nvPr/>
        </p:nvSpPr>
        <p:spPr>
          <a:xfrm>
            <a:off x="1033200" y="2927880"/>
            <a:ext cx="4745520" cy="1676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It assumes the condition can be read off a single video frame. That works when the car ahead has a centrally mounted brake light.</a:t>
            </a:r>
            <a:endParaRPr lang="en-US" sz="1300" b="0" u="none" strike="noStrike">
              <a:solidFill>
                <a:srgbClr val="000000"/>
              </a:solidFill>
              <a:effectLst/>
              <a:uFillTx/>
              <a:latin typeface="Arial"/>
            </a:endParaRPr>
          </a:p>
          <a:p>
            <a:pPr defTabSz="914400">
              <a:lnSpc>
                <a:spcPct val="100000"/>
              </a:lnSpc>
              <a:spcBef>
                <a:spcPts val="400"/>
              </a:spcBef>
              <a:tabLst>
                <a:tab pos="0" algn="l"/>
              </a:tabLst>
            </a:pPr>
            <a:r>
              <a:rPr lang="en-US" sz="1300" b="0" u="none" strike="noStrike">
                <a:solidFill>
                  <a:srgbClr val="0B1F3A"/>
                </a:solidFill>
                <a:effectLst/>
                <a:uFillTx/>
                <a:latin typeface="Aptos"/>
                <a:ea typeface="Aptos"/>
              </a:rPr>
              <a:t>Older vehicles arrange taillights, brake lights, and turn signals differently, and one image often cannot tell braking from lights simply being on.</a:t>
            </a:r>
            <a:endParaRPr lang="en-US" sz="1300" b="0" u="none" strike="noStrike">
              <a:solidFill>
                <a:srgbClr val="000000"/>
              </a:solidFill>
              <a:effectLst/>
              <a:uFillTx/>
              <a:latin typeface="Arial"/>
            </a:endParaRPr>
          </a:p>
          <a:p>
            <a:pPr defTabSz="914400">
              <a:lnSpc>
                <a:spcPct val="100000"/>
              </a:lnSpc>
              <a:spcBef>
                <a:spcPts val="400"/>
              </a:spcBef>
              <a:tabLst>
                <a:tab pos="0" algn="l"/>
              </a:tabLst>
            </a:pPr>
            <a:r>
              <a:rPr lang="en-US" sz="1300" b="0" u="none" strike="noStrike">
                <a:solidFill>
                  <a:srgbClr val="0B1F3A"/>
                </a:solidFill>
                <a:effectLst/>
                <a:uFillTx/>
                <a:latin typeface="Aptos"/>
                <a:ea typeface="Aptos"/>
              </a:rPr>
              <a:t>A simple reflex agent behind such a car either brakes continuously and needlessly, or never brakes at all.</a:t>
            </a:r>
            <a:endParaRPr lang="en-US" sz="1300" b="0" u="none" strike="noStrike">
              <a:solidFill>
                <a:srgbClr val="000000"/>
              </a:solidFill>
              <a:effectLst/>
              <a:uFillTx/>
              <a:latin typeface="Arial"/>
            </a:endParaRPr>
          </a:p>
        </p:txBody>
      </p:sp>
      <p:sp>
        <p:nvSpPr>
          <p:cNvPr id="893" name="Shape 11"/>
          <p:cNvSpPr/>
          <p:nvPr/>
        </p:nvSpPr>
        <p:spPr>
          <a:xfrm>
            <a:off x="6217920" y="1188720"/>
            <a:ext cx="5074560" cy="10969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4" name="Text 12"/>
          <p:cNvSpPr/>
          <p:nvPr/>
        </p:nvSpPr>
        <p:spPr>
          <a:xfrm>
            <a:off x="6400800" y="1316880"/>
            <a:ext cx="470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ea typeface="Aptos"/>
              </a:rPr>
              <a:t>Compression: 4ᵀ → 4</a:t>
            </a:r>
            <a:endParaRPr lang="en-US" sz="1500" b="0" u="none" strike="noStrike">
              <a:solidFill>
                <a:srgbClr val="000000"/>
              </a:solidFill>
              <a:effectLst/>
              <a:uFillTx/>
              <a:latin typeface="Arial"/>
            </a:endParaRPr>
          </a:p>
        </p:txBody>
      </p:sp>
      <p:sp>
        <p:nvSpPr>
          <p:cNvPr id="895" name="Text 13"/>
          <p:cNvSpPr/>
          <p:nvPr/>
        </p:nvSpPr>
        <p:spPr>
          <a:xfrm>
            <a:off x="6400800" y="1645920"/>
            <a:ext cx="4708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Ignoring percept history cuts the vacuum agent's relevant percept sequences from 4ᵀ down to just 4.</a:t>
            </a:r>
            <a:endParaRPr lang="en-US" sz="1250" b="0" u="none" strike="noStrike">
              <a:solidFill>
                <a:srgbClr val="000000"/>
              </a:solidFill>
              <a:effectLst/>
              <a:uFillTx/>
              <a:latin typeface="Arial"/>
            </a:endParaRPr>
          </a:p>
        </p:txBody>
      </p:sp>
      <p:sp>
        <p:nvSpPr>
          <p:cNvPr id="896" name="Shape 14"/>
          <p:cNvSpPr/>
          <p:nvPr/>
        </p:nvSpPr>
        <p:spPr>
          <a:xfrm>
            <a:off x="6217920" y="2423160"/>
            <a:ext cx="5074560" cy="10969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7" name="Text 15"/>
          <p:cNvSpPr/>
          <p:nvPr/>
        </p:nvSpPr>
        <p:spPr>
          <a:xfrm>
            <a:off x="6400800" y="2551320"/>
            <a:ext cx="470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ea typeface="Aptos"/>
              </a:rPr>
              <a:t>It can be a circuit</a:t>
            </a:r>
            <a:endParaRPr lang="en-US" sz="1500" b="0" u="none" strike="noStrike">
              <a:solidFill>
                <a:srgbClr val="000000"/>
              </a:solidFill>
              <a:effectLst/>
              <a:uFillTx/>
              <a:latin typeface="Arial"/>
            </a:endParaRPr>
          </a:p>
        </p:txBody>
      </p:sp>
      <p:sp>
        <p:nvSpPr>
          <p:cNvPr id="898" name="Text 16"/>
          <p:cNvSpPr/>
          <p:nvPr/>
        </p:nvSpPr>
        <p:spPr>
          <a:xfrm>
            <a:off x="6400800" y="2880360"/>
            <a:ext cx="4708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The rule set is simple enough to implement as Boolean logic gates — or as the nonlinear units of a neural network (Chapter 21).</a:t>
            </a:r>
            <a:endParaRPr lang="en-US" sz="1250" b="0" u="none" strike="noStrike">
              <a:solidFill>
                <a:srgbClr val="000000"/>
              </a:solidFill>
              <a:effectLst/>
              <a:uFillTx/>
              <a:latin typeface="Arial"/>
            </a:endParaRPr>
          </a:p>
        </p:txBody>
      </p:sp>
      <p:sp>
        <p:nvSpPr>
          <p:cNvPr id="899" name="Shape 17"/>
          <p:cNvSpPr/>
          <p:nvPr/>
        </p:nvSpPr>
        <p:spPr>
          <a:xfrm>
            <a:off x="6217920" y="3657600"/>
            <a:ext cx="5074560" cy="109692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00" name="Text 18"/>
          <p:cNvSpPr/>
          <p:nvPr/>
        </p:nvSpPr>
        <p:spPr>
          <a:xfrm>
            <a:off x="6400800" y="3785760"/>
            <a:ext cx="470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ea typeface="Aptos"/>
              </a:rPr>
              <a:t>Learned and innate</a:t>
            </a:r>
            <a:endParaRPr lang="en-US" sz="1500" b="0" u="none" strike="noStrike">
              <a:solidFill>
                <a:srgbClr val="000000"/>
              </a:solidFill>
              <a:effectLst/>
              <a:uFillTx/>
              <a:latin typeface="Arial"/>
            </a:endParaRPr>
          </a:p>
        </p:txBody>
      </p:sp>
      <p:sp>
        <p:nvSpPr>
          <p:cNvPr id="901" name="Text 19"/>
          <p:cNvSpPr/>
          <p:nvPr/>
        </p:nvSpPr>
        <p:spPr>
          <a:xfrm>
            <a:off x="6400800" y="4114800"/>
            <a:ext cx="4708800" cy="548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Braking on brake lights is learned; blinking when something nears the eye is not. Both are condition–action rules.</a:t>
            </a:r>
            <a:endParaRPr lang="en-US" sz="1250" b="0" u="none" strike="noStrike">
              <a:solidFill>
                <a:srgbClr val="000000"/>
              </a:solidFill>
              <a:effectLst/>
              <a:uFillTx/>
              <a:latin typeface="Arial"/>
            </a:endParaRPr>
          </a:p>
        </p:txBody>
      </p:sp>
      <p:sp>
        <p:nvSpPr>
          <p:cNvPr id="902" name="Text 20"/>
          <p:cNvSpPr/>
          <p:nvPr/>
        </p:nvSpPr>
        <p:spPr>
          <a:xfrm>
            <a:off x="914400" y="50292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Randomizing helps: a coin flip reaches the other square in two steps on average</a:t>
            </a:r>
            <a:endParaRPr lang="en-US" sz="1900" b="0" u="none" strike="noStrike">
              <a:solidFill>
                <a:srgbClr val="000000"/>
              </a:solidFill>
              <a:effectLst/>
              <a:uFillTx/>
              <a:latin typeface="Arial"/>
            </a:endParaRPr>
          </a:p>
        </p:txBody>
      </p:sp>
      <p:sp>
        <p:nvSpPr>
          <p:cNvPr id="903" name="Text 21"/>
          <p:cNvSpPr/>
          <p:nvPr/>
        </p:nvSpPr>
        <p:spPr>
          <a:xfrm>
            <a:off x="1005840" y="5532120"/>
            <a:ext cx="10149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But that is a trick for escaping loops, not general intelligence. Randomized behavior can be rational in multiagent settings because it defeats predictability; in single-agent environments it usually is not.</a:t>
            </a:r>
            <a:endParaRPr lang="en-US" sz="1400" b="0" u="none" strike="noStrike">
              <a:solidFill>
                <a:srgbClr val="000000"/>
              </a:solidFill>
              <a:effectLst/>
              <a:uFillTx/>
              <a:latin typeface="Arial"/>
            </a:endParaRPr>
          </a:p>
        </p:txBody>
      </p:sp>
      <p:sp>
        <p:nvSpPr>
          <p:cNvPr id="904" name="Text 22"/>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905" name="Text 23"/>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30</a:t>
            </a:r>
            <a:endParaRPr lang="en-US" sz="85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06"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07"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08"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When Simple Reflex Fails: Partial Observability</a:t>
            </a:r>
            <a:endParaRPr lang="en-US" sz="2300" b="0" u="none" strike="noStrike">
              <a:solidFill>
                <a:srgbClr val="000000"/>
              </a:solidFill>
              <a:effectLst/>
              <a:uFillTx/>
              <a:latin typeface="Arial"/>
            </a:endParaRPr>
          </a:p>
        </p:txBody>
      </p:sp>
      <p:sp>
        <p:nvSpPr>
          <p:cNvPr id="909"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2.4.2</a:t>
            </a:r>
            <a:endParaRPr lang="en-US" sz="1200" b="0" u="none" strike="noStrike">
              <a:solidFill>
                <a:srgbClr val="000000"/>
              </a:solidFill>
              <a:effectLst/>
              <a:uFillTx/>
              <a:latin typeface="Arial"/>
            </a:endParaRPr>
          </a:p>
        </p:txBody>
      </p:sp>
      <p:sp>
        <p:nvSpPr>
          <p:cNvPr id="910"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11"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31</a:t>
            </a:r>
            <a:endParaRPr lang="en-US" sz="1800" b="0" u="none" strike="noStrike">
              <a:solidFill>
                <a:srgbClr val="000000"/>
              </a:solidFill>
              <a:effectLst/>
              <a:uFillTx/>
              <a:latin typeface="Arial"/>
            </a:endParaRPr>
          </a:p>
        </p:txBody>
      </p:sp>
      <p:sp>
        <p:nvSpPr>
          <p:cNvPr id="912" name="Shape 6"/>
          <p:cNvSpPr/>
          <p:nvPr/>
        </p:nvSpPr>
        <p:spPr>
          <a:xfrm>
            <a:off x="822960" y="1280160"/>
            <a:ext cx="329076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3" name="Text 7"/>
          <p:cNvSpPr/>
          <p:nvPr/>
        </p:nvSpPr>
        <p:spPr>
          <a:xfrm>
            <a:off x="987480" y="142632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Problem</a:t>
            </a:r>
            <a:endParaRPr lang="en-US" sz="1800" b="0" u="none" strike="noStrike">
              <a:solidFill>
                <a:srgbClr val="000000"/>
              </a:solidFill>
              <a:effectLst/>
              <a:uFillTx/>
              <a:latin typeface="Arial"/>
            </a:endParaRPr>
          </a:p>
        </p:txBody>
      </p:sp>
      <p:sp>
        <p:nvSpPr>
          <p:cNvPr id="914" name="Text 8"/>
          <p:cNvSpPr/>
          <p:nvPr/>
        </p:nvSpPr>
        <p:spPr>
          <a:xfrm>
            <a:off x="987480" y="1755720"/>
            <a:ext cx="296172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The current percept does not contain enough information to choose correctly.</a:t>
            </a:r>
            <a:endParaRPr lang="en-US" sz="1350" b="0" u="none" strike="noStrike">
              <a:solidFill>
                <a:srgbClr val="000000"/>
              </a:solidFill>
              <a:effectLst/>
              <a:uFillTx/>
              <a:latin typeface="Arial"/>
            </a:endParaRPr>
          </a:p>
        </p:txBody>
      </p:sp>
      <p:sp>
        <p:nvSpPr>
          <p:cNvPr id="915" name="Shape 9"/>
          <p:cNvSpPr/>
          <p:nvPr/>
        </p:nvSpPr>
        <p:spPr>
          <a:xfrm>
            <a:off x="4434840" y="1280160"/>
            <a:ext cx="329076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6" name="Text 10"/>
          <p:cNvSpPr/>
          <p:nvPr/>
        </p:nvSpPr>
        <p:spPr>
          <a:xfrm>
            <a:off x="4599360" y="142632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Vacuum example</a:t>
            </a:r>
            <a:endParaRPr lang="en-US" sz="1800" b="0" u="none" strike="noStrike">
              <a:solidFill>
                <a:srgbClr val="000000"/>
              </a:solidFill>
              <a:effectLst/>
              <a:uFillTx/>
              <a:latin typeface="Arial"/>
            </a:endParaRPr>
          </a:p>
        </p:txBody>
      </p:sp>
      <p:sp>
        <p:nvSpPr>
          <p:cNvPr id="917" name="Text 11"/>
          <p:cNvSpPr/>
          <p:nvPr/>
        </p:nvSpPr>
        <p:spPr>
          <a:xfrm>
            <a:off x="4599360" y="1755720"/>
            <a:ext cx="296172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10000"/>
          </a:bodyPr>
          <a:lstStyle/>
          <a:p>
            <a:pPr defTabSz="914400">
              <a:lnSpc>
                <a:spcPct val="100000"/>
              </a:lnSpc>
              <a:tabLst>
                <a:tab pos="0" algn="l"/>
              </a:tabLst>
            </a:pPr>
            <a:r>
              <a:rPr lang="en-US" sz="1350" b="0" u="none" strike="noStrike">
                <a:solidFill>
                  <a:srgbClr val="0B1F3A"/>
                </a:solidFill>
                <a:effectLst/>
                <a:uFillTx/>
                <a:latin typeface="Aptos"/>
              </a:rPr>
              <a:t>If the agent sees only Clean/Dirty but not location, moving Left or Right can loop forever.</a:t>
            </a:r>
            <a:endParaRPr lang="en-US" sz="1350" b="0" u="none" strike="noStrike">
              <a:solidFill>
                <a:srgbClr val="000000"/>
              </a:solidFill>
              <a:effectLst/>
              <a:uFillTx/>
              <a:latin typeface="Arial"/>
            </a:endParaRPr>
          </a:p>
        </p:txBody>
      </p:sp>
      <p:sp>
        <p:nvSpPr>
          <p:cNvPr id="918" name="Shape 12"/>
          <p:cNvSpPr/>
          <p:nvPr/>
        </p:nvSpPr>
        <p:spPr>
          <a:xfrm>
            <a:off x="8046720" y="1280160"/>
            <a:ext cx="329076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9" name="Text 13"/>
          <p:cNvSpPr/>
          <p:nvPr/>
        </p:nvSpPr>
        <p:spPr>
          <a:xfrm>
            <a:off x="8211240" y="142632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Temporary fix</a:t>
            </a:r>
            <a:endParaRPr lang="en-US" sz="1800" b="0" u="none" strike="noStrike">
              <a:solidFill>
                <a:srgbClr val="000000"/>
              </a:solidFill>
              <a:effectLst/>
              <a:uFillTx/>
              <a:latin typeface="Arial"/>
            </a:endParaRPr>
          </a:p>
        </p:txBody>
      </p:sp>
      <p:sp>
        <p:nvSpPr>
          <p:cNvPr id="920" name="Text 14"/>
          <p:cNvSpPr/>
          <p:nvPr/>
        </p:nvSpPr>
        <p:spPr>
          <a:xfrm>
            <a:off x="8211240" y="1755720"/>
            <a:ext cx="296172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Randomization can sometimes escape loops, but it is not general intelligence.</a:t>
            </a:r>
            <a:endParaRPr lang="en-US" sz="1350" b="0" u="none" strike="noStrike">
              <a:solidFill>
                <a:srgbClr val="000000"/>
              </a:solidFill>
              <a:effectLst/>
              <a:uFillTx/>
              <a:latin typeface="Arial"/>
            </a:endParaRPr>
          </a:p>
        </p:txBody>
      </p:sp>
      <p:sp>
        <p:nvSpPr>
          <p:cNvPr id="921" name="Text 15"/>
          <p:cNvSpPr/>
          <p:nvPr/>
        </p:nvSpPr>
        <p:spPr>
          <a:xfrm>
            <a:off x="914400" y="3063240"/>
            <a:ext cx="1033164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rgbClr val="0B2B5C"/>
                </a:solidFill>
                <a:effectLst/>
                <a:uFillTx/>
                <a:latin typeface="Aptos"/>
              </a:rPr>
              <a:t>Better solution: maintain internal state or use a model of the world.</a:t>
            </a:r>
            <a:endParaRPr lang="en-US" sz="2200" b="0" u="none" strike="noStrike">
              <a:solidFill>
                <a:srgbClr val="000000"/>
              </a:solidFill>
              <a:effectLst/>
              <a:uFillTx/>
              <a:latin typeface="Arial"/>
            </a:endParaRPr>
          </a:p>
        </p:txBody>
      </p:sp>
      <p:sp>
        <p:nvSpPr>
          <p:cNvPr id="922" name="Shape 16"/>
          <p:cNvSpPr/>
          <p:nvPr/>
        </p:nvSpPr>
        <p:spPr>
          <a:xfrm>
            <a:off x="1645920" y="4160520"/>
            <a:ext cx="1370520" cy="684720"/>
          </a:xfrm>
          <a:prstGeom prst="roundRect">
            <a:avLst>
              <a:gd name="adj" fmla="val 9333"/>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3" name="Text 17"/>
          <p:cNvSpPr/>
          <p:nvPr/>
        </p:nvSpPr>
        <p:spPr>
          <a:xfrm>
            <a:off x="164592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percept</a:t>
            </a:r>
            <a:endParaRPr lang="en-US" sz="1400" b="0" u="none" strike="noStrike">
              <a:solidFill>
                <a:srgbClr val="000000"/>
              </a:solidFill>
              <a:effectLst/>
              <a:uFillTx/>
              <a:latin typeface="Arial"/>
            </a:endParaRPr>
          </a:p>
        </p:txBody>
      </p:sp>
      <p:sp>
        <p:nvSpPr>
          <p:cNvPr id="924" name="Shape 18"/>
          <p:cNvSpPr/>
          <p:nvPr/>
        </p:nvSpPr>
        <p:spPr>
          <a:xfrm>
            <a:off x="3108960" y="4507920"/>
            <a:ext cx="731520" cy="360"/>
          </a:xfrm>
          <a:prstGeom prst="line">
            <a:avLst/>
          </a:prstGeom>
          <a:ln w="1651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25" name="Shape 19"/>
          <p:cNvSpPr/>
          <p:nvPr/>
        </p:nvSpPr>
        <p:spPr>
          <a:xfrm>
            <a:off x="3977640" y="4160520"/>
            <a:ext cx="1370520" cy="684720"/>
          </a:xfrm>
          <a:prstGeom prst="roundRect">
            <a:avLst>
              <a:gd name="adj" fmla="val 9333"/>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6" name="Text 20"/>
          <p:cNvSpPr/>
          <p:nvPr/>
        </p:nvSpPr>
        <p:spPr>
          <a:xfrm>
            <a:off x="397764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memory</a:t>
            </a:r>
            <a:endParaRPr lang="en-US" sz="1400" b="0" u="none" strike="noStrike">
              <a:solidFill>
                <a:srgbClr val="000000"/>
              </a:solidFill>
              <a:effectLst/>
              <a:uFillTx/>
              <a:latin typeface="Arial"/>
            </a:endParaRPr>
          </a:p>
        </p:txBody>
      </p:sp>
      <p:sp>
        <p:nvSpPr>
          <p:cNvPr id="927" name="Shape 21"/>
          <p:cNvSpPr/>
          <p:nvPr/>
        </p:nvSpPr>
        <p:spPr>
          <a:xfrm>
            <a:off x="5440680" y="4507920"/>
            <a:ext cx="731520" cy="360"/>
          </a:xfrm>
          <a:prstGeom prst="line">
            <a:avLst/>
          </a:prstGeom>
          <a:ln w="1651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28" name="Shape 22"/>
          <p:cNvSpPr/>
          <p:nvPr/>
        </p:nvSpPr>
        <p:spPr>
          <a:xfrm>
            <a:off x="6309360" y="4160520"/>
            <a:ext cx="1370520" cy="684720"/>
          </a:xfrm>
          <a:prstGeom prst="roundRect">
            <a:avLst>
              <a:gd name="adj" fmla="val 9333"/>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9" name="Text 23"/>
          <p:cNvSpPr/>
          <p:nvPr/>
        </p:nvSpPr>
        <p:spPr>
          <a:xfrm>
            <a:off x="630936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model</a:t>
            </a:r>
            <a:endParaRPr lang="en-US" sz="1400" b="0" u="none" strike="noStrike">
              <a:solidFill>
                <a:srgbClr val="000000"/>
              </a:solidFill>
              <a:effectLst/>
              <a:uFillTx/>
              <a:latin typeface="Arial"/>
            </a:endParaRPr>
          </a:p>
        </p:txBody>
      </p:sp>
      <p:sp>
        <p:nvSpPr>
          <p:cNvPr id="930" name="Shape 24"/>
          <p:cNvSpPr/>
          <p:nvPr/>
        </p:nvSpPr>
        <p:spPr>
          <a:xfrm>
            <a:off x="7772400" y="4507920"/>
            <a:ext cx="731520" cy="360"/>
          </a:xfrm>
          <a:prstGeom prst="line">
            <a:avLst/>
          </a:prstGeom>
          <a:ln w="16510">
            <a:solidFill>
              <a:srgbClr val="66708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31" name="Shape 25"/>
          <p:cNvSpPr/>
          <p:nvPr/>
        </p:nvSpPr>
        <p:spPr>
          <a:xfrm>
            <a:off x="8641080" y="4160520"/>
            <a:ext cx="1370520" cy="684720"/>
          </a:xfrm>
          <a:prstGeom prst="roundRect">
            <a:avLst>
              <a:gd name="adj" fmla="val 9333"/>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2" name="Text 26"/>
          <p:cNvSpPr/>
          <p:nvPr/>
        </p:nvSpPr>
        <p:spPr>
          <a:xfrm>
            <a:off x="8641080" y="4370760"/>
            <a:ext cx="1370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ptos"/>
              </a:rPr>
              <a:t>action</a:t>
            </a:r>
            <a:endParaRPr lang="en-US" sz="14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3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3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2.4.3 Model-Based Reflex Agents</a:t>
            </a:r>
            <a:endParaRPr lang="en-US" sz="2300" b="0" u="none" strike="noStrike">
              <a:solidFill>
                <a:srgbClr val="000000"/>
              </a:solidFill>
              <a:effectLst/>
              <a:uFillTx/>
              <a:latin typeface="Arial"/>
            </a:endParaRPr>
          </a:p>
        </p:txBody>
      </p:sp>
      <p:sp>
        <p:nvSpPr>
          <p:cNvPr id="93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2.4.3</a:t>
            </a:r>
            <a:endParaRPr lang="en-US" sz="1200" b="0" u="none" strike="noStrike">
              <a:solidFill>
                <a:srgbClr val="000000"/>
              </a:solidFill>
              <a:effectLst/>
              <a:uFillTx/>
              <a:latin typeface="Arial"/>
            </a:endParaRPr>
          </a:p>
        </p:txBody>
      </p:sp>
      <p:sp>
        <p:nvSpPr>
          <p:cNvPr id="93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3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32</a:t>
            </a:r>
            <a:endParaRPr lang="en-US" sz="1800" b="0" u="none" strike="noStrike">
              <a:solidFill>
                <a:srgbClr val="000000"/>
              </a:solidFill>
              <a:effectLst/>
              <a:uFillTx/>
              <a:latin typeface="Arial"/>
            </a:endParaRPr>
          </a:p>
        </p:txBody>
      </p:sp>
      <p:sp>
        <p:nvSpPr>
          <p:cNvPr id="939" name="Text 6"/>
          <p:cNvSpPr/>
          <p:nvPr/>
        </p:nvSpPr>
        <p:spPr>
          <a:xfrm>
            <a:off x="777240" y="107892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Maintain internal state: a best guess about what the world is like now.</a:t>
            </a:r>
            <a:endParaRPr lang="en-US" sz="2000" b="0" u="none" strike="noStrike">
              <a:solidFill>
                <a:srgbClr val="000000"/>
              </a:solidFill>
              <a:effectLst/>
              <a:uFillTx/>
              <a:latin typeface="Arial"/>
            </a:endParaRPr>
          </a:p>
        </p:txBody>
      </p:sp>
      <p:pic>
        <p:nvPicPr>
          <p:cNvPr id="940" name="Image 0" descr="/mnt/data/fig2_11_model_based_diagram.png"/>
          <p:cNvPicPr/>
          <p:nvPr/>
        </p:nvPicPr>
        <p:blipFill>
          <a:blip r:embed="rId3"/>
          <a:stretch/>
        </p:blipFill>
        <p:spPr>
          <a:xfrm>
            <a:off x="1052640" y="1600200"/>
            <a:ext cx="5345640" cy="3885120"/>
          </a:xfrm>
          <a:prstGeom prst="rect">
            <a:avLst/>
          </a:prstGeom>
          <a:noFill/>
          <a:ln w="0">
            <a:noFill/>
          </a:ln>
        </p:spPr>
      </p:pic>
      <p:sp>
        <p:nvSpPr>
          <p:cNvPr id="941" name="Shape 7"/>
          <p:cNvSpPr/>
          <p:nvPr/>
        </p:nvSpPr>
        <p:spPr>
          <a:xfrm>
            <a:off x="7086600" y="1691640"/>
            <a:ext cx="42508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2" name="Text 8"/>
          <p:cNvSpPr/>
          <p:nvPr/>
        </p:nvSpPr>
        <p:spPr>
          <a:xfrm>
            <a:off x="7251120" y="183780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48A97"/>
                </a:solidFill>
                <a:effectLst/>
                <a:uFillTx/>
                <a:latin typeface="Aptos"/>
              </a:rPr>
              <a:t>Transition model</a:t>
            </a:r>
            <a:endParaRPr lang="en-US" sz="1700" b="0" u="none" strike="noStrike">
              <a:solidFill>
                <a:srgbClr val="000000"/>
              </a:solidFill>
              <a:effectLst/>
              <a:uFillTx/>
              <a:latin typeface="Arial"/>
            </a:endParaRPr>
          </a:p>
        </p:txBody>
      </p:sp>
      <p:sp>
        <p:nvSpPr>
          <p:cNvPr id="943" name="Text 9"/>
          <p:cNvSpPr/>
          <p:nvPr/>
        </p:nvSpPr>
        <p:spPr>
          <a:xfrm>
            <a:off x="7251120" y="2167200"/>
            <a:ext cx="39218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300" b="0" u="none" strike="noStrike">
                <a:solidFill>
                  <a:srgbClr val="0B1F3A"/>
                </a:solidFill>
                <a:effectLst/>
                <a:uFillTx/>
                <a:latin typeface="Aptos"/>
              </a:rPr>
              <a:t>How the world changes over time and how actions affect it.</a:t>
            </a:r>
            <a:endParaRPr lang="en-US" sz="1300" b="0" u="none" strike="noStrike">
              <a:solidFill>
                <a:srgbClr val="000000"/>
              </a:solidFill>
              <a:effectLst/>
              <a:uFillTx/>
              <a:latin typeface="Arial"/>
            </a:endParaRPr>
          </a:p>
        </p:txBody>
      </p:sp>
      <p:sp>
        <p:nvSpPr>
          <p:cNvPr id="944" name="Shape 10"/>
          <p:cNvSpPr/>
          <p:nvPr/>
        </p:nvSpPr>
        <p:spPr>
          <a:xfrm>
            <a:off x="7086600" y="2880360"/>
            <a:ext cx="42508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5" name="Text 11"/>
          <p:cNvSpPr/>
          <p:nvPr/>
        </p:nvSpPr>
        <p:spPr>
          <a:xfrm>
            <a:off x="7251120" y="302652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Sensor model</a:t>
            </a:r>
            <a:endParaRPr lang="en-US" sz="1700" b="0" u="none" strike="noStrike">
              <a:solidFill>
                <a:srgbClr val="000000"/>
              </a:solidFill>
              <a:effectLst/>
              <a:uFillTx/>
              <a:latin typeface="Arial"/>
            </a:endParaRPr>
          </a:p>
        </p:txBody>
      </p:sp>
      <p:sp>
        <p:nvSpPr>
          <p:cNvPr id="946" name="Text 12"/>
          <p:cNvSpPr/>
          <p:nvPr/>
        </p:nvSpPr>
        <p:spPr>
          <a:xfrm>
            <a:off x="7251120" y="3355920"/>
            <a:ext cx="39218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How world states generate percepts.</a:t>
            </a:r>
            <a:endParaRPr lang="en-US" sz="1300" b="0" u="none" strike="noStrike">
              <a:solidFill>
                <a:srgbClr val="000000"/>
              </a:solidFill>
              <a:effectLst/>
              <a:uFillTx/>
              <a:latin typeface="Arial"/>
            </a:endParaRPr>
          </a:p>
        </p:txBody>
      </p:sp>
      <p:sp>
        <p:nvSpPr>
          <p:cNvPr id="947" name="Shape 13"/>
          <p:cNvSpPr/>
          <p:nvPr/>
        </p:nvSpPr>
        <p:spPr>
          <a:xfrm>
            <a:off x="7086600" y="4069080"/>
            <a:ext cx="42508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8" name="Text 14"/>
          <p:cNvSpPr/>
          <p:nvPr/>
        </p:nvSpPr>
        <p:spPr>
          <a:xfrm>
            <a:off x="7251120" y="421524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5B35B1"/>
                </a:solidFill>
                <a:effectLst/>
                <a:uFillTx/>
                <a:latin typeface="Aptos"/>
              </a:rPr>
              <a:t>Internal state</a:t>
            </a:r>
            <a:endParaRPr lang="en-US" sz="1700" b="0" u="none" strike="noStrike">
              <a:solidFill>
                <a:srgbClr val="000000"/>
              </a:solidFill>
              <a:effectLst/>
              <a:uFillTx/>
              <a:latin typeface="Arial"/>
            </a:endParaRPr>
          </a:p>
        </p:txBody>
      </p:sp>
      <p:sp>
        <p:nvSpPr>
          <p:cNvPr id="949" name="Text 15"/>
          <p:cNvSpPr/>
          <p:nvPr/>
        </p:nvSpPr>
        <p:spPr>
          <a:xfrm>
            <a:off x="7251120" y="4544640"/>
            <a:ext cx="39218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Tracks what is not evident in the current percept.</a:t>
            </a:r>
            <a:endParaRPr lang="en-US" sz="1300" b="0" u="none" strike="noStrike">
              <a:solidFill>
                <a:srgbClr val="000000"/>
              </a:solidFill>
              <a:effectLst/>
              <a:uFillTx/>
              <a:latin typeface="Arial"/>
            </a:endParaRPr>
          </a:p>
        </p:txBody>
      </p:sp>
      <p:sp>
        <p:nvSpPr>
          <p:cNvPr id="950" name="Text 16"/>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2.11</a:t>
            </a:r>
            <a:endParaRPr lang="en-US" sz="75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5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5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2.4.3 Model-Based Reflex Agent Pseudocode</a:t>
            </a:r>
            <a:endParaRPr lang="en-US" sz="2300" b="0" u="none" strike="noStrike">
              <a:solidFill>
                <a:srgbClr val="000000"/>
              </a:solidFill>
              <a:effectLst/>
              <a:uFillTx/>
              <a:latin typeface="Arial"/>
            </a:endParaRPr>
          </a:p>
        </p:txBody>
      </p:sp>
      <p:sp>
        <p:nvSpPr>
          <p:cNvPr id="95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2.4.3</a:t>
            </a:r>
            <a:endParaRPr lang="en-US" sz="1200" b="0" u="none" strike="noStrike">
              <a:solidFill>
                <a:srgbClr val="000000"/>
              </a:solidFill>
              <a:effectLst/>
              <a:uFillTx/>
              <a:latin typeface="Arial"/>
            </a:endParaRPr>
          </a:p>
        </p:txBody>
      </p:sp>
      <p:sp>
        <p:nvSpPr>
          <p:cNvPr id="95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5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33</a:t>
            </a:r>
            <a:endParaRPr lang="en-US" sz="1800" b="0" u="none" strike="noStrike">
              <a:solidFill>
                <a:srgbClr val="000000"/>
              </a:solidFill>
              <a:effectLst/>
              <a:uFillTx/>
              <a:latin typeface="Arial"/>
            </a:endParaRPr>
          </a:p>
        </p:txBody>
      </p:sp>
      <p:sp>
        <p:nvSpPr>
          <p:cNvPr id="957" name="Text 6"/>
          <p:cNvSpPr/>
          <p:nvPr/>
        </p:nvSpPr>
        <p:spPr>
          <a:xfrm>
            <a:off x="731520" y="1051560"/>
            <a:ext cx="1078884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50" b="1" u="none" strike="noStrike">
                <a:solidFill>
                  <a:srgbClr val="0B2B5C"/>
                </a:solidFill>
                <a:effectLst/>
                <a:uFillTx/>
                <a:latin typeface="Aptos"/>
              </a:rPr>
              <a:t>The interesting step is UPDATE-STATE: combine old state, last action, current percept, transition model, and sensor model.</a:t>
            </a:r>
            <a:endParaRPr lang="en-US" sz="1750" b="0" u="none" strike="noStrike">
              <a:solidFill>
                <a:srgbClr val="000000"/>
              </a:solidFill>
              <a:effectLst/>
              <a:uFillTx/>
              <a:latin typeface="Arial"/>
            </a:endParaRPr>
          </a:p>
        </p:txBody>
      </p:sp>
      <p:pic>
        <p:nvPicPr>
          <p:cNvPr id="958" name="Image 0" descr="/mnt/data/fig2_12_model_based_pseudocode.png"/>
          <p:cNvPicPr/>
          <p:nvPr/>
        </p:nvPicPr>
        <p:blipFill>
          <a:blip r:embed="rId3"/>
          <a:stretch/>
        </p:blipFill>
        <p:spPr>
          <a:xfrm>
            <a:off x="2664720" y="1691640"/>
            <a:ext cx="6831000" cy="3382200"/>
          </a:xfrm>
          <a:prstGeom prst="rect">
            <a:avLst/>
          </a:prstGeom>
          <a:noFill/>
          <a:ln w="0">
            <a:noFill/>
          </a:ln>
        </p:spPr>
      </p:pic>
      <p:sp>
        <p:nvSpPr>
          <p:cNvPr id="959" name="Text 7"/>
          <p:cNvSpPr/>
          <p:nvPr/>
        </p:nvSpPr>
        <p:spPr>
          <a:xfrm>
            <a:off x="914400" y="5486400"/>
            <a:ext cx="1033164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Partial observability means exact state may be impossible; the agent still must decide.</a:t>
            </a:r>
            <a:endParaRPr lang="en-US" sz="1800" b="0" u="none" strike="noStrike">
              <a:solidFill>
                <a:srgbClr val="000000"/>
              </a:solidFill>
              <a:effectLst/>
              <a:uFillTx/>
              <a:latin typeface="Arial"/>
            </a:endParaRPr>
          </a:p>
        </p:txBody>
      </p:sp>
      <p:sp>
        <p:nvSpPr>
          <p:cNvPr id="960" name="Text 8"/>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2.12</a:t>
            </a:r>
            <a:endParaRPr lang="en-US" sz="75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6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6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2.4.4 Goal-Based Agents</a:t>
            </a:r>
            <a:endParaRPr lang="en-US" sz="2300" b="0" u="none" strike="noStrike">
              <a:solidFill>
                <a:srgbClr val="000000"/>
              </a:solidFill>
              <a:effectLst/>
              <a:uFillTx/>
              <a:latin typeface="Arial"/>
            </a:endParaRPr>
          </a:p>
        </p:txBody>
      </p:sp>
      <p:sp>
        <p:nvSpPr>
          <p:cNvPr id="96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2.4.4</a:t>
            </a:r>
            <a:endParaRPr lang="en-US" sz="1200" b="0" u="none" strike="noStrike">
              <a:solidFill>
                <a:srgbClr val="000000"/>
              </a:solidFill>
              <a:effectLst/>
              <a:uFillTx/>
              <a:latin typeface="Arial"/>
            </a:endParaRPr>
          </a:p>
        </p:txBody>
      </p:sp>
      <p:sp>
        <p:nvSpPr>
          <p:cNvPr id="96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6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34</a:t>
            </a:r>
            <a:endParaRPr lang="en-US" sz="1800" b="0" u="none" strike="noStrike">
              <a:solidFill>
                <a:srgbClr val="000000"/>
              </a:solidFill>
              <a:effectLst/>
              <a:uFillTx/>
              <a:latin typeface="Arial"/>
            </a:endParaRPr>
          </a:p>
        </p:txBody>
      </p:sp>
      <p:sp>
        <p:nvSpPr>
          <p:cNvPr id="967" name="Text 6"/>
          <p:cNvSpPr/>
          <p:nvPr/>
        </p:nvSpPr>
        <p:spPr>
          <a:xfrm>
            <a:off x="77724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A current state is not enough; the agent also needs a goal.</a:t>
            </a:r>
            <a:endParaRPr lang="en-US" sz="2000" b="0" u="none" strike="noStrike">
              <a:solidFill>
                <a:srgbClr val="000000"/>
              </a:solidFill>
              <a:effectLst/>
              <a:uFillTx/>
              <a:latin typeface="Arial"/>
            </a:endParaRPr>
          </a:p>
        </p:txBody>
      </p:sp>
      <p:pic>
        <p:nvPicPr>
          <p:cNvPr id="968" name="Image 0" descr="/mnt/data/ch2_docx_unzipped/word/media/image11.png"/>
          <p:cNvPicPr/>
          <p:nvPr/>
        </p:nvPicPr>
        <p:blipFill>
          <a:blip r:embed="rId3"/>
          <a:stretch/>
        </p:blipFill>
        <p:spPr>
          <a:xfrm>
            <a:off x="905400" y="1600200"/>
            <a:ext cx="5366520" cy="4113720"/>
          </a:xfrm>
          <a:prstGeom prst="rect">
            <a:avLst/>
          </a:prstGeom>
          <a:noFill/>
          <a:ln w="0">
            <a:noFill/>
          </a:ln>
        </p:spPr>
      </p:pic>
      <p:sp>
        <p:nvSpPr>
          <p:cNvPr id="969" name="Shape 7"/>
          <p:cNvSpPr/>
          <p:nvPr/>
        </p:nvSpPr>
        <p:spPr>
          <a:xfrm>
            <a:off x="6812280" y="1645920"/>
            <a:ext cx="44794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0" name="Text 8"/>
          <p:cNvSpPr/>
          <p:nvPr/>
        </p:nvSpPr>
        <p:spPr>
          <a:xfrm>
            <a:off x="6976800" y="1792080"/>
            <a:ext cx="4150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48A97"/>
                </a:solidFill>
                <a:effectLst/>
                <a:uFillTx/>
                <a:latin typeface="Aptos"/>
              </a:rPr>
              <a:t>Search / planning</a:t>
            </a:r>
            <a:endParaRPr lang="en-US" sz="1700" b="0" u="none" strike="noStrike">
              <a:solidFill>
                <a:srgbClr val="000000"/>
              </a:solidFill>
              <a:effectLst/>
              <a:uFillTx/>
              <a:latin typeface="Arial"/>
            </a:endParaRPr>
          </a:p>
        </p:txBody>
      </p:sp>
      <p:sp>
        <p:nvSpPr>
          <p:cNvPr id="971" name="Text 9"/>
          <p:cNvSpPr/>
          <p:nvPr/>
        </p:nvSpPr>
        <p:spPr>
          <a:xfrm>
            <a:off x="6976800" y="2121480"/>
            <a:ext cx="41504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300" b="0" u="none" strike="noStrike">
                <a:solidFill>
                  <a:srgbClr val="0B1F3A"/>
                </a:solidFill>
                <a:effectLst/>
                <a:uFillTx/>
                <a:latin typeface="Aptos"/>
              </a:rPr>
              <a:t>Find action sequences that achieve goals. This transitions to Chapters 3-5.</a:t>
            </a:r>
            <a:endParaRPr lang="en-US" sz="1300" b="0" u="none" strike="noStrike">
              <a:solidFill>
                <a:srgbClr val="000000"/>
              </a:solidFill>
              <a:effectLst/>
              <a:uFillTx/>
              <a:latin typeface="Arial"/>
            </a:endParaRPr>
          </a:p>
        </p:txBody>
      </p:sp>
      <p:sp>
        <p:nvSpPr>
          <p:cNvPr id="972" name="Shape 10"/>
          <p:cNvSpPr/>
          <p:nvPr/>
        </p:nvSpPr>
        <p:spPr>
          <a:xfrm>
            <a:off x="6812280" y="2880360"/>
            <a:ext cx="44794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3" name="Text 11"/>
          <p:cNvSpPr/>
          <p:nvPr/>
        </p:nvSpPr>
        <p:spPr>
          <a:xfrm>
            <a:off x="6976800" y="3026520"/>
            <a:ext cx="4150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Flexibility</a:t>
            </a:r>
            <a:endParaRPr lang="en-US" sz="1700" b="0" u="none" strike="noStrike">
              <a:solidFill>
                <a:srgbClr val="000000"/>
              </a:solidFill>
              <a:effectLst/>
              <a:uFillTx/>
              <a:latin typeface="Arial"/>
            </a:endParaRPr>
          </a:p>
        </p:txBody>
      </p:sp>
      <p:sp>
        <p:nvSpPr>
          <p:cNvPr id="974" name="Text 12"/>
          <p:cNvSpPr/>
          <p:nvPr/>
        </p:nvSpPr>
        <p:spPr>
          <a:xfrm>
            <a:off x="6976800" y="3355920"/>
            <a:ext cx="41504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300" b="0" u="none" strike="noStrike">
                <a:solidFill>
                  <a:srgbClr val="0B1F3A"/>
                </a:solidFill>
                <a:effectLst/>
                <a:uFillTx/>
                <a:latin typeface="Aptos"/>
              </a:rPr>
              <a:t>Change the destination, and the same knowledge can support new behavior.</a:t>
            </a:r>
            <a:endParaRPr lang="en-US" sz="1300" b="0" u="none" strike="noStrike">
              <a:solidFill>
                <a:srgbClr val="000000"/>
              </a:solidFill>
              <a:effectLst/>
              <a:uFillTx/>
              <a:latin typeface="Arial"/>
            </a:endParaRPr>
          </a:p>
        </p:txBody>
      </p:sp>
      <p:sp>
        <p:nvSpPr>
          <p:cNvPr id="975" name="Shape 13"/>
          <p:cNvSpPr/>
          <p:nvPr/>
        </p:nvSpPr>
        <p:spPr>
          <a:xfrm>
            <a:off x="6812280" y="4114800"/>
            <a:ext cx="4479480" cy="959040"/>
          </a:xfrm>
          <a:prstGeom prst="roundRect">
            <a:avLst>
              <a:gd name="adj" fmla="val 571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6" name="Text 14"/>
          <p:cNvSpPr/>
          <p:nvPr/>
        </p:nvSpPr>
        <p:spPr>
          <a:xfrm>
            <a:off x="6976800" y="4260960"/>
            <a:ext cx="41504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F5A21B"/>
                </a:solidFill>
                <a:effectLst/>
                <a:uFillTx/>
                <a:latin typeface="Aptos"/>
              </a:rPr>
              <a:t>Cost</a:t>
            </a:r>
            <a:endParaRPr lang="en-US" sz="1700" b="0" u="none" strike="noStrike">
              <a:solidFill>
                <a:srgbClr val="000000"/>
              </a:solidFill>
              <a:effectLst/>
              <a:uFillTx/>
              <a:latin typeface="Arial"/>
            </a:endParaRPr>
          </a:p>
        </p:txBody>
      </p:sp>
      <p:sp>
        <p:nvSpPr>
          <p:cNvPr id="977" name="Text 15"/>
          <p:cNvSpPr/>
          <p:nvPr/>
        </p:nvSpPr>
        <p:spPr>
          <a:xfrm>
            <a:off x="6976800" y="4590360"/>
            <a:ext cx="4150440" cy="364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defTabSz="914400">
              <a:lnSpc>
                <a:spcPct val="100000"/>
              </a:lnSpc>
              <a:tabLst>
                <a:tab pos="0" algn="l"/>
              </a:tabLst>
            </a:pPr>
            <a:r>
              <a:rPr lang="en-US" sz="1300" b="0" u="none" strike="noStrike">
                <a:solidFill>
                  <a:srgbClr val="0B1F3A"/>
                </a:solidFill>
                <a:effectLst/>
                <a:uFillTx/>
                <a:latin typeface="Aptos"/>
              </a:rPr>
              <a:t>The agent may need to reason about many possible future action sequences.</a:t>
            </a:r>
            <a:endParaRPr lang="en-US" sz="1300" b="0" u="none" strike="noStrike">
              <a:solidFill>
                <a:srgbClr val="000000"/>
              </a:solidFill>
              <a:effectLst/>
              <a:uFillTx/>
              <a:latin typeface="Arial"/>
            </a:endParaRPr>
          </a:p>
        </p:txBody>
      </p:sp>
      <p:sp>
        <p:nvSpPr>
          <p:cNvPr id="978" name="Text 16"/>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2.13</a:t>
            </a:r>
            <a:endParaRPr lang="en-US" sz="75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7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8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98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Planning Video Bridge: Reflex vs. Planning</a:t>
            </a:r>
            <a:endParaRPr lang="en-US" sz="2300" b="0" u="none" strike="noStrike">
              <a:solidFill>
                <a:srgbClr val="000000"/>
              </a:solidFill>
              <a:effectLst/>
              <a:uFillTx/>
              <a:latin typeface="Arial"/>
            </a:endParaRPr>
          </a:p>
        </p:txBody>
      </p:sp>
      <p:sp>
        <p:nvSpPr>
          <p:cNvPr id="98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Bridge</a:t>
            </a:r>
            <a:endParaRPr lang="en-US" sz="1200" b="0" u="none" strike="noStrike">
              <a:solidFill>
                <a:srgbClr val="000000"/>
              </a:solidFill>
              <a:effectLst/>
              <a:uFillTx/>
              <a:latin typeface="Arial"/>
            </a:endParaRPr>
          </a:p>
        </p:txBody>
      </p:sp>
      <p:sp>
        <p:nvSpPr>
          <p:cNvPr id="98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98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35</a:t>
            </a:r>
            <a:endParaRPr lang="en-US" sz="1800" b="0" u="none" strike="noStrike">
              <a:solidFill>
                <a:srgbClr val="000000"/>
              </a:solidFill>
              <a:effectLst/>
              <a:uFillTx/>
              <a:latin typeface="Arial"/>
            </a:endParaRPr>
          </a:p>
        </p:txBody>
      </p:sp>
      <p:sp>
        <p:nvSpPr>
          <p:cNvPr id="985" name="Rounded Rectangle 473"/>
          <p:cNvSpPr/>
          <p:nvPr/>
        </p:nvSpPr>
        <p:spPr>
          <a:xfrm>
            <a:off x="777240" y="1170360"/>
            <a:ext cx="4800240" cy="1261440"/>
          </a:xfrm>
          <a:prstGeom prst="roundRect">
            <a:avLst>
              <a:gd name="adj" fmla="val 16667"/>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86" name="TextBox 474"/>
          <p:cNvSpPr/>
          <p:nvPr/>
        </p:nvSpPr>
        <p:spPr>
          <a:xfrm>
            <a:off x="941760" y="1298520"/>
            <a:ext cx="1537920" cy="348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700" b="1" u="none" strike="noStrike">
                <a:solidFill>
                  <a:srgbClr val="2A66B0"/>
                </a:solidFill>
                <a:effectLst/>
                <a:uFillTx/>
                <a:latin typeface="Aptos"/>
              </a:rPr>
              <a:t>Reflex agent</a:t>
            </a:r>
            <a:endParaRPr lang="en-US" sz="1700" b="0" u="none" strike="noStrike">
              <a:solidFill>
                <a:srgbClr val="000000"/>
              </a:solidFill>
              <a:effectLst/>
              <a:uFillTx/>
              <a:latin typeface="Arial"/>
            </a:endParaRPr>
          </a:p>
        </p:txBody>
      </p:sp>
      <p:sp>
        <p:nvSpPr>
          <p:cNvPr id="987" name="TextBox 475"/>
          <p:cNvSpPr/>
          <p:nvPr/>
        </p:nvSpPr>
        <p:spPr>
          <a:xfrm>
            <a:off x="941760" y="1673280"/>
            <a:ext cx="4471200" cy="44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50" b="0" u="none" strike="noStrike">
                <a:solidFill>
                  <a:srgbClr val="162237"/>
                </a:solidFill>
                <a:effectLst/>
                <a:uFillTx/>
                <a:latin typeface="Aptos"/>
              </a:rPr>
              <a:t>Chooses an action from the current percept, or from internal state in the model-based case; does not consider future consequences.</a:t>
            </a:r>
            <a:endParaRPr lang="en-US" sz="1150" b="0" u="none" strike="noStrike">
              <a:solidFill>
                <a:srgbClr val="000000"/>
              </a:solidFill>
              <a:effectLst/>
              <a:uFillTx/>
              <a:latin typeface="Arial"/>
            </a:endParaRPr>
          </a:p>
        </p:txBody>
      </p:sp>
      <p:sp>
        <p:nvSpPr>
          <p:cNvPr id="988" name="Rounded Rectangle 476"/>
          <p:cNvSpPr/>
          <p:nvPr/>
        </p:nvSpPr>
        <p:spPr>
          <a:xfrm>
            <a:off x="777240" y="2597040"/>
            <a:ext cx="4800240" cy="1261440"/>
          </a:xfrm>
          <a:prstGeom prst="roundRect">
            <a:avLst>
              <a:gd name="adj" fmla="val 16667"/>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89" name="TextBox 477"/>
          <p:cNvSpPr/>
          <p:nvPr/>
        </p:nvSpPr>
        <p:spPr>
          <a:xfrm>
            <a:off x="941760" y="2724840"/>
            <a:ext cx="1830960" cy="348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700" b="1" u="none" strike="noStrike">
                <a:solidFill>
                  <a:srgbClr val="00848C"/>
                </a:solidFill>
                <a:effectLst/>
                <a:uFillTx/>
                <a:latin typeface="Aptos"/>
              </a:rPr>
              <a:t>Planning agent</a:t>
            </a:r>
            <a:endParaRPr lang="en-US" sz="1700" b="0" u="none" strike="noStrike">
              <a:solidFill>
                <a:srgbClr val="000000"/>
              </a:solidFill>
              <a:effectLst/>
              <a:uFillTx/>
              <a:latin typeface="Arial"/>
            </a:endParaRPr>
          </a:p>
        </p:txBody>
      </p:sp>
      <p:sp>
        <p:nvSpPr>
          <p:cNvPr id="990" name="TextBox 478"/>
          <p:cNvSpPr/>
          <p:nvPr/>
        </p:nvSpPr>
        <p:spPr>
          <a:xfrm>
            <a:off x="941760" y="3099960"/>
            <a:ext cx="4471200" cy="616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50" b="0" u="none" strike="noStrike">
                <a:solidFill>
                  <a:srgbClr val="162237"/>
                </a:solidFill>
                <a:effectLst/>
                <a:uFillTx/>
                <a:latin typeface="Aptos"/>
              </a:rPr>
              <a:t>Asks “what if?” and chooses actions based on predicted consequences. Must model how the world evolves and must formulate a goal test.</a:t>
            </a:r>
            <a:endParaRPr lang="en-US" sz="1150" b="0" u="none" strike="noStrike">
              <a:solidFill>
                <a:srgbClr val="000000"/>
              </a:solidFill>
              <a:effectLst/>
              <a:uFillTx/>
              <a:latin typeface="Arial"/>
            </a:endParaRPr>
          </a:p>
        </p:txBody>
      </p:sp>
      <p:sp>
        <p:nvSpPr>
          <p:cNvPr id="991" name="Rounded Rectangle 479"/>
          <p:cNvSpPr/>
          <p:nvPr/>
        </p:nvSpPr>
        <p:spPr>
          <a:xfrm>
            <a:off x="777240" y="4023360"/>
            <a:ext cx="4800240" cy="1261440"/>
          </a:xfrm>
          <a:prstGeom prst="roundRect">
            <a:avLst>
              <a:gd name="adj" fmla="val 16667"/>
            </a:avLst>
          </a:prstGeom>
          <a:solidFill>
            <a:srgbClr val="FFFFFF"/>
          </a:solidFill>
          <a:ln w="1524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92" name="TextBox 480"/>
          <p:cNvSpPr/>
          <p:nvPr/>
        </p:nvSpPr>
        <p:spPr>
          <a:xfrm>
            <a:off x="941760" y="4151520"/>
            <a:ext cx="2395440" cy="348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700" b="1" u="none" strike="noStrike">
                <a:solidFill>
                  <a:srgbClr val="1E743E"/>
                </a:solidFill>
                <a:effectLst/>
                <a:uFillTx/>
                <a:latin typeface="Aptos"/>
              </a:rPr>
              <a:t>Replanning Pac-Man</a:t>
            </a:r>
            <a:endParaRPr lang="en-US" sz="1700" b="0" u="none" strike="noStrike">
              <a:solidFill>
                <a:srgbClr val="000000"/>
              </a:solidFill>
              <a:effectLst/>
              <a:uFillTx/>
              <a:latin typeface="Arial"/>
            </a:endParaRPr>
          </a:p>
        </p:txBody>
      </p:sp>
      <p:sp>
        <p:nvSpPr>
          <p:cNvPr id="993" name="TextBox 481"/>
          <p:cNvSpPr/>
          <p:nvPr/>
        </p:nvSpPr>
        <p:spPr>
          <a:xfrm>
            <a:off x="941760" y="4526280"/>
            <a:ext cx="4471200" cy="44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50" b="0" u="none" strike="noStrike">
                <a:solidFill>
                  <a:srgbClr val="162237"/>
                </a:solidFill>
                <a:effectLst/>
                <a:uFillTx/>
                <a:latin typeface="Aptos"/>
              </a:rPr>
              <a:t>Plans a little way ahead, acts, then replans from the new state. This is different from planning once and executing forever.</a:t>
            </a:r>
            <a:endParaRPr lang="en-US" sz="1150" b="0" u="none" strike="noStrike">
              <a:solidFill>
                <a:srgbClr val="000000"/>
              </a:solidFill>
              <a:effectLst/>
              <a:uFillTx/>
              <a:latin typeface="Arial"/>
            </a:endParaRPr>
          </a:p>
        </p:txBody>
      </p:sp>
      <p:pic>
        <p:nvPicPr>
          <p:cNvPr id="994" name="Picture 482" descr="image.png"/>
          <p:cNvPicPr/>
          <p:nvPr/>
        </p:nvPicPr>
        <p:blipFill>
          <a:blip r:embed="rId3"/>
          <a:stretch/>
        </p:blipFill>
        <p:spPr>
          <a:xfrm>
            <a:off x="5870520" y="1325880"/>
            <a:ext cx="5074560" cy="4160160"/>
          </a:xfrm>
          <a:prstGeom prst="rect">
            <a:avLst/>
          </a:prstGeom>
          <a:noFill/>
          <a:ln w="0">
            <a:noFill/>
          </a:ln>
        </p:spPr>
      </p:pic>
      <p:sp>
        <p:nvSpPr>
          <p:cNvPr id="995" name="TextBox 483"/>
          <p:cNvSpPr/>
          <p:nvPr/>
        </p:nvSpPr>
        <p:spPr>
          <a:xfrm>
            <a:off x="5758920" y="5330880"/>
            <a:ext cx="6567480" cy="2732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00" b="1" u="none" strike="noStrike">
                <a:solidFill>
                  <a:srgbClr val="B8241F"/>
                </a:solidFill>
                <a:effectLst/>
                <a:uFillTx/>
                <a:latin typeface="Aptos"/>
              </a:rPr>
              <a:t>Key distinction: planning considers how the world WOULD BE, not just how it is now.</a:t>
            </a:r>
            <a:endParaRPr lang="en-US" sz="1200" b="0" u="none" strike="noStrike">
              <a:solidFill>
                <a:srgbClr val="000000"/>
              </a:solidFill>
              <a:effectLst/>
              <a:uFillTx/>
              <a:latin typeface="Arial"/>
            </a:endParaRPr>
          </a:p>
        </p:txBody>
      </p:sp>
      <p:sp>
        <p:nvSpPr>
          <p:cNvPr id="996" name="Rounded Rectangle 484"/>
          <p:cNvSpPr/>
          <p:nvPr/>
        </p:nvSpPr>
        <p:spPr>
          <a:xfrm>
            <a:off x="777240" y="5532120"/>
            <a:ext cx="10716480" cy="731160"/>
          </a:xfrm>
          <a:prstGeom prst="roundRect">
            <a:avLst>
              <a:gd name="adj" fmla="val 16667"/>
            </a:avLst>
          </a:prstGeom>
          <a:solidFill>
            <a:srgbClr val="EFF4F9"/>
          </a:solidFill>
          <a:ln w="12700">
            <a:solidFill>
              <a:srgbClr val="CEDAE6"/>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997" name="TextBox 485"/>
          <p:cNvSpPr/>
          <p:nvPr/>
        </p:nvSpPr>
        <p:spPr>
          <a:xfrm>
            <a:off x="978480" y="5641920"/>
            <a:ext cx="1726200" cy="264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150" b="1" u="none" strike="noStrike">
                <a:solidFill>
                  <a:srgbClr val="0F2D5B"/>
                </a:solidFill>
                <a:effectLst/>
                <a:uFillTx/>
                <a:latin typeface="Aptos"/>
              </a:rPr>
              <a:t>Planning distinctions</a:t>
            </a:r>
            <a:endParaRPr lang="en-US" sz="1150" b="0" u="none" strike="noStrike">
              <a:solidFill>
                <a:srgbClr val="000000"/>
              </a:solidFill>
              <a:effectLst/>
              <a:uFillTx/>
              <a:latin typeface="Arial"/>
            </a:endParaRPr>
          </a:p>
        </p:txBody>
      </p:sp>
      <p:sp>
        <p:nvSpPr>
          <p:cNvPr id="998" name="TextBox 486"/>
          <p:cNvSpPr/>
          <p:nvPr/>
        </p:nvSpPr>
        <p:spPr>
          <a:xfrm>
            <a:off x="2743200" y="5641920"/>
            <a:ext cx="8521920" cy="42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100" b="1" u="none" strike="noStrike">
                <a:solidFill>
                  <a:srgbClr val="162237"/>
                </a:solidFill>
                <a:effectLst/>
                <a:uFillTx/>
                <a:latin typeface="Aptos"/>
              </a:rPr>
              <a:t>Optimal vs. complete planning</a:t>
            </a:r>
            <a:r>
              <a:rPr lang="en-US" sz="1100" b="0" u="none" strike="noStrike">
                <a:solidFill>
                  <a:srgbClr val="162237"/>
                </a:solidFill>
                <a:effectLst/>
                <a:uFillTx/>
                <a:latin typeface="Aptos"/>
              </a:rPr>
              <a:t> compares best solution quality vs. guaranteed solution finding.  </a:t>
            </a:r>
            <a:r>
              <a:rPr lang="en-US" sz="1100" b="1" u="none" strike="noStrike">
                <a:solidFill>
                  <a:srgbClr val="162237"/>
                </a:solidFill>
                <a:effectLst/>
                <a:uFillTx/>
                <a:latin typeface="Aptos"/>
              </a:rPr>
              <a:t>Planning vs. replanning</a:t>
            </a:r>
            <a:r>
              <a:rPr lang="en-US" sz="1100" b="0" u="none" strike="noStrike">
                <a:solidFill>
                  <a:srgbClr val="162237"/>
                </a:solidFill>
                <a:effectLst/>
                <a:uFillTx/>
                <a:latin typeface="Aptos"/>
              </a:rPr>
              <a:t> compares one long plan vs. repeated look-ahead as the state changes.</a:t>
            </a:r>
            <a:endParaRPr lang="en-US" sz="11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99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0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0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2.4.5 Utility-Based Agents</a:t>
            </a:r>
            <a:endParaRPr lang="en-US" sz="2300" b="0" u="none" strike="noStrike">
              <a:solidFill>
                <a:srgbClr val="000000"/>
              </a:solidFill>
              <a:effectLst/>
              <a:uFillTx/>
              <a:latin typeface="Arial"/>
            </a:endParaRPr>
          </a:p>
        </p:txBody>
      </p:sp>
      <p:sp>
        <p:nvSpPr>
          <p:cNvPr id="100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2.4.5</a:t>
            </a:r>
            <a:endParaRPr lang="en-US" sz="1200" b="0" u="none" strike="noStrike">
              <a:solidFill>
                <a:srgbClr val="000000"/>
              </a:solidFill>
              <a:effectLst/>
              <a:uFillTx/>
              <a:latin typeface="Arial"/>
            </a:endParaRPr>
          </a:p>
        </p:txBody>
      </p:sp>
      <p:sp>
        <p:nvSpPr>
          <p:cNvPr id="100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0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36</a:t>
            </a:r>
            <a:endParaRPr lang="en-US" sz="1800" b="0" u="none" strike="noStrike">
              <a:solidFill>
                <a:srgbClr val="000000"/>
              </a:solidFill>
              <a:effectLst/>
              <a:uFillTx/>
              <a:latin typeface="Arial"/>
            </a:endParaRPr>
          </a:p>
        </p:txBody>
      </p:sp>
      <p:sp>
        <p:nvSpPr>
          <p:cNvPr id="1005" name="Text 6"/>
          <p:cNvSpPr/>
          <p:nvPr/>
        </p:nvSpPr>
        <p:spPr>
          <a:xfrm>
            <a:off x="77724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Goals say whether a state is acceptable; utility ranks how good it is.</a:t>
            </a:r>
            <a:endParaRPr lang="en-US" sz="2000" b="0" u="none" strike="noStrike">
              <a:solidFill>
                <a:srgbClr val="000000"/>
              </a:solidFill>
              <a:effectLst/>
              <a:uFillTx/>
              <a:latin typeface="Arial"/>
            </a:endParaRPr>
          </a:p>
        </p:txBody>
      </p:sp>
      <p:pic>
        <p:nvPicPr>
          <p:cNvPr id="1006" name="Image 0" descr="/mnt/data/ch2_docx_unzipped/word/media/image12.png"/>
          <p:cNvPicPr/>
          <p:nvPr/>
        </p:nvPicPr>
        <p:blipFill>
          <a:blip r:embed="rId3"/>
          <a:stretch/>
        </p:blipFill>
        <p:spPr>
          <a:xfrm>
            <a:off x="1205280" y="1600200"/>
            <a:ext cx="4857480" cy="4068000"/>
          </a:xfrm>
          <a:prstGeom prst="rect">
            <a:avLst/>
          </a:prstGeom>
          <a:noFill/>
          <a:ln w="0">
            <a:noFill/>
          </a:ln>
        </p:spPr>
      </p:pic>
      <p:sp>
        <p:nvSpPr>
          <p:cNvPr id="1007" name="Shape 7"/>
          <p:cNvSpPr/>
          <p:nvPr/>
        </p:nvSpPr>
        <p:spPr>
          <a:xfrm>
            <a:off x="6903720" y="1645920"/>
            <a:ext cx="425088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8" name="Text 8"/>
          <p:cNvSpPr/>
          <p:nvPr/>
        </p:nvSpPr>
        <p:spPr>
          <a:xfrm>
            <a:off x="7068240" y="179208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2B6CB0"/>
                </a:solidFill>
                <a:effectLst/>
                <a:uFillTx/>
                <a:latin typeface="Aptos"/>
              </a:rPr>
              <a:t>Goal-based</a:t>
            </a:r>
            <a:endParaRPr lang="en-US" sz="1700" b="0" u="none" strike="noStrike">
              <a:solidFill>
                <a:srgbClr val="000000"/>
              </a:solidFill>
              <a:effectLst/>
              <a:uFillTx/>
              <a:latin typeface="Arial"/>
            </a:endParaRPr>
          </a:p>
        </p:txBody>
      </p:sp>
      <p:sp>
        <p:nvSpPr>
          <p:cNvPr id="1009" name="Text 9"/>
          <p:cNvSpPr/>
          <p:nvPr/>
        </p:nvSpPr>
        <p:spPr>
          <a:xfrm>
            <a:off x="7068240" y="2121480"/>
            <a:ext cx="392184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19999"/>
          </a:bodyPr>
          <a:lstStyle/>
          <a:p>
            <a:pPr defTabSz="914400">
              <a:lnSpc>
                <a:spcPct val="100000"/>
              </a:lnSpc>
              <a:tabLst>
                <a:tab pos="0" algn="l"/>
              </a:tabLst>
            </a:pPr>
            <a:r>
              <a:rPr lang="en-US" sz="1300" b="0" u="none" strike="noStrike">
                <a:solidFill>
                  <a:srgbClr val="0B1F3A"/>
                </a:solidFill>
                <a:effectLst/>
                <a:uFillTx/>
                <a:latin typeface="Aptos"/>
              </a:rPr>
              <a:t>Destination reached?</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0B1F3A"/>
                </a:solidFill>
                <a:effectLst/>
                <a:uFillTx/>
                <a:latin typeface="Aptos"/>
              </a:rPr>
              <a:t>Yes or no.</a:t>
            </a:r>
            <a:endParaRPr lang="en-US" sz="1300" b="0" u="none" strike="noStrike">
              <a:solidFill>
                <a:srgbClr val="000000"/>
              </a:solidFill>
              <a:effectLst/>
              <a:uFillTx/>
              <a:latin typeface="Arial"/>
            </a:endParaRPr>
          </a:p>
        </p:txBody>
      </p:sp>
      <p:sp>
        <p:nvSpPr>
          <p:cNvPr id="1010" name="Shape 10"/>
          <p:cNvSpPr/>
          <p:nvPr/>
        </p:nvSpPr>
        <p:spPr>
          <a:xfrm>
            <a:off x="6903720" y="2743200"/>
            <a:ext cx="425088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1" name="Text 11"/>
          <p:cNvSpPr/>
          <p:nvPr/>
        </p:nvSpPr>
        <p:spPr>
          <a:xfrm>
            <a:off x="7068240" y="288936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1B7A45"/>
                </a:solidFill>
                <a:effectLst/>
                <a:uFillTx/>
                <a:latin typeface="Aptos"/>
              </a:rPr>
              <a:t>Utility-based</a:t>
            </a:r>
            <a:endParaRPr lang="en-US" sz="1700" b="0" u="none" strike="noStrike">
              <a:solidFill>
                <a:srgbClr val="000000"/>
              </a:solidFill>
              <a:effectLst/>
              <a:uFillTx/>
              <a:latin typeface="Arial"/>
            </a:endParaRPr>
          </a:p>
        </p:txBody>
      </p:sp>
      <p:sp>
        <p:nvSpPr>
          <p:cNvPr id="1012" name="Text 12"/>
          <p:cNvSpPr/>
          <p:nvPr/>
        </p:nvSpPr>
        <p:spPr>
          <a:xfrm>
            <a:off x="7068240" y="3218760"/>
            <a:ext cx="392184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How good is each outcome?</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0B1F3A"/>
                </a:solidFill>
                <a:effectLst/>
                <a:uFillTx/>
                <a:latin typeface="Aptos"/>
              </a:rPr>
              <a:t>Fast, safe, comfortable, cheap?</a:t>
            </a:r>
            <a:endParaRPr lang="en-US" sz="1300" b="0" u="none" strike="noStrike">
              <a:solidFill>
                <a:srgbClr val="000000"/>
              </a:solidFill>
              <a:effectLst/>
              <a:uFillTx/>
              <a:latin typeface="Arial"/>
            </a:endParaRPr>
          </a:p>
        </p:txBody>
      </p:sp>
      <p:sp>
        <p:nvSpPr>
          <p:cNvPr id="1013" name="Shape 13"/>
          <p:cNvSpPr/>
          <p:nvPr/>
        </p:nvSpPr>
        <p:spPr>
          <a:xfrm>
            <a:off x="6903720" y="3977640"/>
            <a:ext cx="425088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4" name="Text 14"/>
          <p:cNvSpPr/>
          <p:nvPr/>
        </p:nvSpPr>
        <p:spPr>
          <a:xfrm>
            <a:off x="7068240" y="412380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5B35B1"/>
                </a:solidFill>
                <a:effectLst/>
                <a:uFillTx/>
                <a:latin typeface="Aptos"/>
              </a:rPr>
              <a:t>Expected utility</a:t>
            </a:r>
            <a:endParaRPr lang="en-US" sz="1700" b="0" u="none" strike="noStrike">
              <a:solidFill>
                <a:srgbClr val="000000"/>
              </a:solidFill>
              <a:effectLst/>
              <a:uFillTx/>
              <a:latin typeface="Arial"/>
            </a:endParaRPr>
          </a:p>
        </p:txBody>
      </p:sp>
      <p:sp>
        <p:nvSpPr>
          <p:cNvPr id="1015" name="Text 15"/>
          <p:cNvSpPr/>
          <p:nvPr/>
        </p:nvSpPr>
        <p:spPr>
          <a:xfrm>
            <a:off x="7068240" y="4453200"/>
            <a:ext cx="392184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a:bodyPr>
          <a:lstStyle/>
          <a:p>
            <a:pPr defTabSz="914400">
              <a:lnSpc>
                <a:spcPct val="100000"/>
              </a:lnSpc>
              <a:tabLst>
                <a:tab pos="0" algn="l"/>
              </a:tabLst>
            </a:pPr>
            <a:r>
              <a:rPr lang="en-US" sz="1300" b="0" u="none" strike="noStrike">
                <a:solidFill>
                  <a:srgbClr val="0B1F3A"/>
                </a:solidFill>
                <a:effectLst/>
                <a:uFillTx/>
                <a:latin typeface="Aptos"/>
              </a:rPr>
              <a:t>Weigh utility by probability when outcomes are uncertain.</a:t>
            </a:r>
            <a:endParaRPr lang="en-US" sz="1300" b="0" u="none" strike="noStrike">
              <a:solidFill>
                <a:srgbClr val="000000"/>
              </a:solidFill>
              <a:effectLst/>
              <a:uFillTx/>
              <a:latin typeface="Arial"/>
            </a:endParaRPr>
          </a:p>
        </p:txBody>
      </p:sp>
      <p:sp>
        <p:nvSpPr>
          <p:cNvPr id="1016" name="Text 16"/>
          <p:cNvSpPr/>
          <p:nvPr/>
        </p:nvSpPr>
        <p:spPr>
          <a:xfrm>
            <a:off x="6903720" y="5285160"/>
            <a:ext cx="42508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rPr>
              <a:t>Utility handles conflicts and uncertainty.</a:t>
            </a:r>
            <a:endParaRPr lang="en-US" sz="1700" b="0" u="none" strike="noStrike">
              <a:solidFill>
                <a:srgbClr val="000000"/>
              </a:solidFill>
              <a:effectLst/>
              <a:uFillTx/>
              <a:latin typeface="Arial"/>
            </a:endParaRPr>
          </a:p>
        </p:txBody>
      </p:sp>
      <p:sp>
        <p:nvSpPr>
          <p:cNvPr id="1017" name="Text 17"/>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2.14</a:t>
            </a:r>
            <a:endParaRPr lang="en-US" sz="75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1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1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2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Utility Handles Tradeoffs and Uncertainty</a:t>
            </a:r>
            <a:endParaRPr lang="en-US" sz="2300" b="0" u="none" strike="noStrike">
              <a:solidFill>
                <a:srgbClr val="000000"/>
              </a:solidFill>
              <a:effectLst/>
              <a:uFillTx/>
              <a:latin typeface="Arial"/>
            </a:endParaRPr>
          </a:p>
        </p:txBody>
      </p:sp>
      <p:sp>
        <p:nvSpPr>
          <p:cNvPr id="102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2.4.5</a:t>
            </a:r>
            <a:endParaRPr lang="en-US" sz="1200" b="0" u="none" strike="noStrike">
              <a:solidFill>
                <a:srgbClr val="000000"/>
              </a:solidFill>
              <a:effectLst/>
              <a:uFillTx/>
              <a:latin typeface="Arial"/>
            </a:endParaRPr>
          </a:p>
        </p:txBody>
      </p:sp>
      <p:sp>
        <p:nvSpPr>
          <p:cNvPr id="102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2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37</a:t>
            </a:r>
            <a:endParaRPr lang="en-US" sz="1800" b="0" u="none" strike="noStrike">
              <a:solidFill>
                <a:srgbClr val="000000"/>
              </a:solidFill>
              <a:effectLst/>
              <a:uFillTx/>
              <a:latin typeface="Arial"/>
            </a:endParaRPr>
          </a:p>
        </p:txBody>
      </p:sp>
      <p:sp>
        <p:nvSpPr>
          <p:cNvPr id="1024" name="Shape 6"/>
          <p:cNvSpPr/>
          <p:nvPr/>
        </p:nvSpPr>
        <p:spPr>
          <a:xfrm>
            <a:off x="868680" y="1325880"/>
            <a:ext cx="3290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5" name="Text 7"/>
          <p:cNvSpPr/>
          <p:nvPr/>
        </p:nvSpPr>
        <p:spPr>
          <a:xfrm>
            <a:off x="1033200" y="147204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Conflicting goals</a:t>
            </a:r>
            <a:endParaRPr lang="en-US" sz="1800" b="0" u="none" strike="noStrike">
              <a:solidFill>
                <a:srgbClr val="000000"/>
              </a:solidFill>
              <a:effectLst/>
              <a:uFillTx/>
              <a:latin typeface="Arial"/>
            </a:endParaRPr>
          </a:p>
        </p:txBody>
      </p:sp>
      <p:sp>
        <p:nvSpPr>
          <p:cNvPr id="1026" name="Text 8"/>
          <p:cNvSpPr/>
          <p:nvPr/>
        </p:nvSpPr>
        <p:spPr>
          <a:xfrm>
            <a:off x="1033200" y="1801440"/>
            <a:ext cx="2961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Speed and safety can conflict. Utility specifies the tradeoff.</a:t>
            </a:r>
            <a:endParaRPr lang="en-US" sz="1350" b="0" u="none" strike="noStrike">
              <a:solidFill>
                <a:srgbClr val="000000"/>
              </a:solidFill>
              <a:effectLst/>
              <a:uFillTx/>
              <a:latin typeface="Arial"/>
            </a:endParaRPr>
          </a:p>
        </p:txBody>
      </p:sp>
      <p:sp>
        <p:nvSpPr>
          <p:cNvPr id="1027" name="Shape 9"/>
          <p:cNvSpPr/>
          <p:nvPr/>
        </p:nvSpPr>
        <p:spPr>
          <a:xfrm>
            <a:off x="4434840" y="1325880"/>
            <a:ext cx="3290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8" name="Text 10"/>
          <p:cNvSpPr/>
          <p:nvPr/>
        </p:nvSpPr>
        <p:spPr>
          <a:xfrm>
            <a:off x="4599360" y="147204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Uncertain goals</a:t>
            </a:r>
            <a:endParaRPr lang="en-US" sz="1800" b="0" u="none" strike="noStrike">
              <a:solidFill>
                <a:srgbClr val="000000"/>
              </a:solidFill>
              <a:effectLst/>
              <a:uFillTx/>
              <a:latin typeface="Arial"/>
            </a:endParaRPr>
          </a:p>
        </p:txBody>
      </p:sp>
      <p:sp>
        <p:nvSpPr>
          <p:cNvPr id="1029" name="Text 11"/>
          <p:cNvSpPr/>
          <p:nvPr/>
        </p:nvSpPr>
        <p:spPr>
          <a:xfrm>
            <a:off x="4599360" y="1801440"/>
            <a:ext cx="2961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Several outcomes may be possible, none guaranteed.</a:t>
            </a:r>
            <a:endParaRPr lang="en-US" sz="1350" b="0" u="none" strike="noStrike">
              <a:solidFill>
                <a:srgbClr val="000000"/>
              </a:solidFill>
              <a:effectLst/>
              <a:uFillTx/>
              <a:latin typeface="Arial"/>
            </a:endParaRPr>
          </a:p>
        </p:txBody>
      </p:sp>
      <p:sp>
        <p:nvSpPr>
          <p:cNvPr id="1030" name="Shape 12"/>
          <p:cNvSpPr/>
          <p:nvPr/>
        </p:nvSpPr>
        <p:spPr>
          <a:xfrm>
            <a:off x="8001000" y="1325880"/>
            <a:ext cx="329076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31" name="Text 13"/>
          <p:cNvSpPr/>
          <p:nvPr/>
        </p:nvSpPr>
        <p:spPr>
          <a:xfrm>
            <a:off x="8165520" y="1472040"/>
            <a:ext cx="29617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Expected utility</a:t>
            </a:r>
            <a:endParaRPr lang="en-US" sz="1800" b="0" u="none" strike="noStrike">
              <a:solidFill>
                <a:srgbClr val="000000"/>
              </a:solidFill>
              <a:effectLst/>
              <a:uFillTx/>
              <a:latin typeface="Arial"/>
            </a:endParaRPr>
          </a:p>
        </p:txBody>
      </p:sp>
      <p:sp>
        <p:nvSpPr>
          <p:cNvPr id="1032" name="Text 14"/>
          <p:cNvSpPr/>
          <p:nvPr/>
        </p:nvSpPr>
        <p:spPr>
          <a:xfrm>
            <a:off x="8165520" y="1801440"/>
            <a:ext cx="296172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lnSpcReduction="20000"/>
          </a:bodyPr>
          <a:lstStyle/>
          <a:p>
            <a:pPr defTabSz="914400">
              <a:lnSpc>
                <a:spcPct val="100000"/>
              </a:lnSpc>
              <a:tabLst>
                <a:tab pos="0" algn="l"/>
              </a:tabLst>
            </a:pPr>
            <a:r>
              <a:rPr lang="en-US" sz="1350" b="0" u="none" strike="noStrike">
                <a:solidFill>
                  <a:srgbClr val="0B1F3A"/>
                </a:solidFill>
                <a:effectLst/>
                <a:uFillTx/>
                <a:latin typeface="Aptos"/>
              </a:rPr>
              <a:t>Likelihood of success is weighed against outcome importance. Any rational agent behaves as if it maximizes expected utility, explicitly or not.</a:t>
            </a:r>
            <a:endParaRPr lang="en-US" sz="1350" b="0" u="none" strike="noStrike">
              <a:solidFill>
                <a:srgbClr val="000000"/>
              </a:solidFill>
              <a:effectLst/>
              <a:uFillTx/>
              <a:latin typeface="Arial"/>
            </a:endParaRPr>
          </a:p>
        </p:txBody>
      </p:sp>
      <p:sp>
        <p:nvSpPr>
          <p:cNvPr id="1033" name="Text 15"/>
          <p:cNvSpPr/>
          <p:nvPr/>
        </p:nvSpPr>
        <p:spPr>
          <a:xfrm>
            <a:off x="914400" y="3337560"/>
            <a:ext cx="10331640" cy="41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rgbClr val="0B2B5C"/>
                </a:solidFill>
                <a:effectLst/>
                <a:uFillTx/>
                <a:latin typeface="Aptos"/>
              </a:rPr>
              <a:t>Utility function = internalization of the performance measure</a:t>
            </a:r>
            <a:endParaRPr lang="en-US" sz="2400" b="0" u="none" strike="noStrike">
              <a:solidFill>
                <a:srgbClr val="000000"/>
              </a:solidFill>
              <a:effectLst/>
              <a:uFillTx/>
              <a:latin typeface="Arial"/>
            </a:endParaRPr>
          </a:p>
        </p:txBody>
      </p:sp>
      <p:sp>
        <p:nvSpPr>
          <p:cNvPr id="1034" name="Text 16"/>
          <p:cNvSpPr/>
          <p:nvPr/>
        </p:nvSpPr>
        <p:spPr>
          <a:xfrm>
            <a:off x="1097280" y="4160520"/>
            <a:ext cx="996588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1F3A"/>
                </a:solidFill>
                <a:effectLst/>
                <a:uFillTx/>
                <a:latin typeface="Aptos"/>
              </a:rPr>
              <a:t>If the internal utility function and external performance measure agree, maximizing utility supports rational behavior.</a:t>
            </a:r>
            <a:endParaRPr lang="en-US" sz="1800" b="0" u="none" strike="noStrike">
              <a:solidFill>
                <a:srgbClr val="000000"/>
              </a:solidFill>
              <a:effectLst/>
              <a:uFillTx/>
              <a:latin typeface="Arial"/>
            </a:endParaRPr>
          </a:p>
        </p:txBody>
      </p:sp>
      <p:sp>
        <p:nvSpPr>
          <p:cNvPr id="1035" name="Text 17"/>
          <p:cNvSpPr/>
          <p:nvPr/>
        </p:nvSpPr>
        <p:spPr>
          <a:xfrm>
            <a:off x="1097280" y="5074920"/>
            <a:ext cx="996588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A32020"/>
                </a:solidFill>
                <a:effectLst/>
                <a:uFillTx/>
                <a:latin typeface="Aptos"/>
              </a:rPr>
              <a:t>Caution: if the utility function is wrong, the agent may optimize the wrong objective.</a:t>
            </a:r>
            <a:endParaRPr lang="en-US" sz="150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36"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37"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38"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2.4.6 Learning Agents</a:t>
            </a:r>
            <a:endParaRPr lang="en-US" sz="2300" b="0" u="none" strike="noStrike">
              <a:solidFill>
                <a:srgbClr val="000000"/>
              </a:solidFill>
              <a:effectLst/>
              <a:uFillTx/>
              <a:latin typeface="Arial"/>
            </a:endParaRPr>
          </a:p>
        </p:txBody>
      </p:sp>
      <p:sp>
        <p:nvSpPr>
          <p:cNvPr id="1039"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1040"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41"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38</a:t>
            </a:r>
            <a:endParaRPr lang="en-US" sz="1800" b="0" u="none" strike="noStrike">
              <a:solidFill>
                <a:srgbClr val="000000"/>
              </a:solidFill>
              <a:effectLst/>
              <a:uFillTx/>
              <a:latin typeface="Arial"/>
            </a:endParaRPr>
          </a:p>
        </p:txBody>
      </p:sp>
      <p:sp>
        <p:nvSpPr>
          <p:cNvPr id="1042" name="Text 6"/>
          <p:cNvSpPr/>
          <p:nvPr/>
        </p:nvSpPr>
        <p:spPr>
          <a:xfrm>
            <a:off x="77724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Any agent type can be made into a learning agent.</a:t>
            </a:r>
            <a:endParaRPr lang="en-US" sz="2000" b="0" u="none" strike="noStrike">
              <a:solidFill>
                <a:srgbClr val="000000"/>
              </a:solidFill>
              <a:effectLst/>
              <a:uFillTx/>
              <a:latin typeface="Arial"/>
            </a:endParaRPr>
          </a:p>
        </p:txBody>
      </p:sp>
      <p:pic>
        <p:nvPicPr>
          <p:cNvPr id="1043" name="Image 0" descr="/mnt/data/ch2_docx_unzipped/word/media/image13.png"/>
          <p:cNvPicPr/>
          <p:nvPr/>
        </p:nvPicPr>
        <p:blipFill>
          <a:blip r:embed="rId3"/>
          <a:stretch/>
        </p:blipFill>
        <p:spPr>
          <a:xfrm>
            <a:off x="1253880" y="1600200"/>
            <a:ext cx="4760640" cy="4113720"/>
          </a:xfrm>
          <a:prstGeom prst="rect">
            <a:avLst/>
          </a:prstGeom>
          <a:noFill/>
          <a:ln w="0">
            <a:noFill/>
          </a:ln>
        </p:spPr>
      </p:pic>
      <p:sp>
        <p:nvSpPr>
          <p:cNvPr id="1044" name="Shape 7"/>
          <p:cNvSpPr/>
          <p:nvPr/>
        </p:nvSpPr>
        <p:spPr>
          <a:xfrm>
            <a:off x="6903720" y="155448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45" name="Text 8"/>
          <p:cNvSpPr/>
          <p:nvPr/>
        </p:nvSpPr>
        <p:spPr>
          <a:xfrm>
            <a:off x="7068240" y="170064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 element</a:t>
            </a:r>
            <a:endParaRPr lang="en-US" sz="1600" b="0" u="none" strike="noStrike">
              <a:solidFill>
                <a:srgbClr val="000000"/>
              </a:solidFill>
              <a:effectLst/>
              <a:uFillTx/>
              <a:latin typeface="Arial"/>
            </a:endParaRPr>
          </a:p>
        </p:txBody>
      </p:sp>
      <p:sp>
        <p:nvSpPr>
          <p:cNvPr id="1046" name="Text 9"/>
          <p:cNvSpPr/>
          <p:nvPr/>
        </p:nvSpPr>
        <p:spPr>
          <a:xfrm>
            <a:off x="7068240" y="203004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0000" lnSpcReduction="20000"/>
          </a:bodyPr>
          <a:lstStyle/>
          <a:p>
            <a:pPr defTabSz="914400">
              <a:lnSpc>
                <a:spcPct val="100000"/>
              </a:lnSpc>
              <a:tabLst>
                <a:tab pos="0" algn="l"/>
              </a:tabLst>
            </a:pPr>
            <a:r>
              <a:rPr lang="en-US" sz="1250" b="0" u="none" strike="noStrike">
                <a:solidFill>
                  <a:srgbClr val="0B1F3A"/>
                </a:solidFill>
                <a:effectLst/>
                <a:uFillTx/>
                <a:latin typeface="Aptos"/>
              </a:rPr>
              <a:t>Selects external actions.</a:t>
            </a:r>
            <a:endParaRPr lang="en-US" sz="1250" b="0" u="none" strike="noStrike">
              <a:solidFill>
                <a:srgbClr val="000000"/>
              </a:solidFill>
              <a:effectLst/>
              <a:uFillTx/>
              <a:latin typeface="Arial"/>
            </a:endParaRPr>
          </a:p>
        </p:txBody>
      </p:sp>
      <p:sp>
        <p:nvSpPr>
          <p:cNvPr id="1047" name="Shape 10"/>
          <p:cNvSpPr/>
          <p:nvPr/>
        </p:nvSpPr>
        <p:spPr>
          <a:xfrm>
            <a:off x="6903720" y="248724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48" name="Text 11"/>
          <p:cNvSpPr/>
          <p:nvPr/>
        </p:nvSpPr>
        <p:spPr>
          <a:xfrm>
            <a:off x="7068240" y="263340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Learning element</a:t>
            </a:r>
            <a:endParaRPr lang="en-US" sz="1600" b="0" u="none" strike="noStrike">
              <a:solidFill>
                <a:srgbClr val="000000"/>
              </a:solidFill>
              <a:effectLst/>
              <a:uFillTx/>
              <a:latin typeface="Arial"/>
            </a:endParaRPr>
          </a:p>
        </p:txBody>
      </p:sp>
      <p:sp>
        <p:nvSpPr>
          <p:cNvPr id="1049" name="Text 12"/>
          <p:cNvSpPr/>
          <p:nvPr/>
        </p:nvSpPr>
        <p:spPr>
          <a:xfrm>
            <a:off x="7068240" y="296280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0000" lnSpcReduction="20000"/>
          </a:bodyPr>
          <a:lstStyle/>
          <a:p>
            <a:pPr defTabSz="914400">
              <a:lnSpc>
                <a:spcPct val="100000"/>
              </a:lnSpc>
              <a:tabLst>
                <a:tab pos="0" algn="l"/>
              </a:tabLst>
            </a:pPr>
            <a:r>
              <a:rPr lang="en-US" sz="1250" b="0" u="none" strike="noStrike">
                <a:solidFill>
                  <a:srgbClr val="0B1F3A"/>
                </a:solidFill>
                <a:effectLst/>
                <a:uFillTx/>
                <a:latin typeface="Aptos"/>
              </a:rPr>
              <a:t>Improves the performance element.</a:t>
            </a:r>
            <a:endParaRPr lang="en-US" sz="1250" b="0" u="none" strike="noStrike">
              <a:solidFill>
                <a:srgbClr val="000000"/>
              </a:solidFill>
              <a:effectLst/>
              <a:uFillTx/>
              <a:latin typeface="Arial"/>
            </a:endParaRPr>
          </a:p>
        </p:txBody>
      </p:sp>
      <p:sp>
        <p:nvSpPr>
          <p:cNvPr id="1050" name="Shape 13"/>
          <p:cNvSpPr/>
          <p:nvPr/>
        </p:nvSpPr>
        <p:spPr>
          <a:xfrm>
            <a:off x="6903720" y="342000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1" name="Text 14"/>
          <p:cNvSpPr/>
          <p:nvPr/>
        </p:nvSpPr>
        <p:spPr>
          <a:xfrm>
            <a:off x="7068240" y="356616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Critic</a:t>
            </a:r>
            <a:endParaRPr lang="en-US" sz="1600" b="0" u="none" strike="noStrike">
              <a:solidFill>
                <a:srgbClr val="000000"/>
              </a:solidFill>
              <a:effectLst/>
              <a:uFillTx/>
              <a:latin typeface="Arial"/>
            </a:endParaRPr>
          </a:p>
        </p:txBody>
      </p:sp>
      <p:sp>
        <p:nvSpPr>
          <p:cNvPr id="1052" name="Text 15"/>
          <p:cNvSpPr/>
          <p:nvPr/>
        </p:nvSpPr>
        <p:spPr>
          <a:xfrm>
            <a:off x="7068240" y="389520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0000" lnSpcReduction="20000"/>
          </a:bodyPr>
          <a:lstStyle/>
          <a:p>
            <a:pPr defTabSz="914400">
              <a:lnSpc>
                <a:spcPct val="100000"/>
              </a:lnSpc>
              <a:tabLst>
                <a:tab pos="0" algn="l"/>
              </a:tabLst>
            </a:pPr>
            <a:r>
              <a:rPr lang="en-US" sz="1250" b="0" u="none" strike="noStrike">
                <a:solidFill>
                  <a:srgbClr val="0B1F3A"/>
                </a:solidFill>
                <a:effectLst/>
                <a:uFillTx/>
                <a:latin typeface="Aptos"/>
              </a:rPr>
              <a:t>Evaluates behavior against a fixed performance standard.</a:t>
            </a:r>
            <a:endParaRPr lang="en-US" sz="1250" b="0" u="none" strike="noStrike">
              <a:solidFill>
                <a:srgbClr val="000000"/>
              </a:solidFill>
              <a:effectLst/>
              <a:uFillTx/>
              <a:latin typeface="Arial"/>
            </a:endParaRPr>
          </a:p>
        </p:txBody>
      </p:sp>
      <p:sp>
        <p:nvSpPr>
          <p:cNvPr id="1053" name="Shape 16"/>
          <p:cNvSpPr/>
          <p:nvPr/>
        </p:nvSpPr>
        <p:spPr>
          <a:xfrm>
            <a:off x="6903720" y="4352400"/>
            <a:ext cx="4250880" cy="712080"/>
          </a:xfrm>
          <a:prstGeom prst="roundRect">
            <a:avLst>
              <a:gd name="adj" fmla="val 7692"/>
            </a:avLst>
          </a:prstGeom>
          <a:solidFill>
            <a:srgbClr val="FFFFFF"/>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4" name="Text 17"/>
          <p:cNvSpPr/>
          <p:nvPr/>
        </p:nvSpPr>
        <p:spPr>
          <a:xfrm>
            <a:off x="7068240" y="4498920"/>
            <a:ext cx="3921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rPr>
              <a:t>Problem generator</a:t>
            </a:r>
            <a:endParaRPr lang="en-US" sz="1600" b="0" u="none" strike="noStrike">
              <a:solidFill>
                <a:srgbClr val="000000"/>
              </a:solidFill>
              <a:effectLst/>
              <a:uFillTx/>
              <a:latin typeface="Arial"/>
            </a:endParaRPr>
          </a:p>
        </p:txBody>
      </p:sp>
      <p:sp>
        <p:nvSpPr>
          <p:cNvPr id="1055" name="Text 18"/>
          <p:cNvSpPr/>
          <p:nvPr/>
        </p:nvSpPr>
        <p:spPr>
          <a:xfrm>
            <a:off x="7068240" y="4827960"/>
            <a:ext cx="3921840" cy="117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70000" lnSpcReduction="20000"/>
          </a:bodyPr>
          <a:lstStyle/>
          <a:p>
            <a:pPr defTabSz="914400">
              <a:lnSpc>
                <a:spcPct val="100000"/>
              </a:lnSpc>
              <a:tabLst>
                <a:tab pos="0" algn="l"/>
              </a:tabLst>
            </a:pPr>
            <a:r>
              <a:rPr lang="en-US" sz="1250" b="0" u="none" strike="noStrike">
                <a:solidFill>
                  <a:srgbClr val="0B1F3A"/>
                </a:solidFill>
                <a:effectLst/>
                <a:uFillTx/>
                <a:latin typeface="Aptos"/>
              </a:rPr>
              <a:t>Suggests exploratory actions for informative experience.</a:t>
            </a:r>
            <a:endParaRPr lang="en-US" sz="1250" b="0" u="none" strike="noStrike">
              <a:solidFill>
                <a:srgbClr val="000000"/>
              </a:solidFill>
              <a:effectLst/>
              <a:uFillTx/>
              <a:latin typeface="Arial"/>
            </a:endParaRPr>
          </a:p>
        </p:txBody>
      </p:sp>
      <p:sp>
        <p:nvSpPr>
          <p:cNvPr id="1056" name="Text 19"/>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2.15</a:t>
            </a:r>
            <a:endParaRPr lang="en-US" sz="75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57"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58"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059"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Learning Agent Components: What Improves?</a:t>
            </a:r>
            <a:endParaRPr lang="en-US" sz="2300" b="0" u="none" strike="noStrike">
              <a:solidFill>
                <a:srgbClr val="000000"/>
              </a:solidFill>
              <a:effectLst/>
              <a:uFillTx/>
              <a:latin typeface="Arial"/>
            </a:endParaRPr>
          </a:p>
        </p:txBody>
      </p:sp>
      <p:sp>
        <p:nvSpPr>
          <p:cNvPr id="1060"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1061"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062"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39</a:t>
            </a:r>
            <a:endParaRPr lang="en-US" sz="1800" b="0" u="none" strike="noStrike">
              <a:solidFill>
                <a:srgbClr val="000000"/>
              </a:solidFill>
              <a:effectLst/>
              <a:uFillTx/>
              <a:latin typeface="Arial"/>
            </a:endParaRPr>
          </a:p>
        </p:txBody>
      </p:sp>
      <p:sp>
        <p:nvSpPr>
          <p:cNvPr id="1063" name="Shape 6"/>
          <p:cNvSpPr/>
          <p:nvPr/>
        </p:nvSpPr>
        <p:spPr>
          <a:xfrm>
            <a:off x="777240" y="1371600"/>
            <a:ext cx="319932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4" name="Text 7"/>
          <p:cNvSpPr/>
          <p:nvPr/>
        </p:nvSpPr>
        <p:spPr>
          <a:xfrm>
            <a:off x="941760" y="1517760"/>
            <a:ext cx="28702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 element</a:t>
            </a:r>
            <a:endParaRPr lang="en-US" sz="1600" b="0" u="none" strike="noStrike">
              <a:solidFill>
                <a:srgbClr val="000000"/>
              </a:solidFill>
              <a:effectLst/>
              <a:uFillTx/>
              <a:latin typeface="Arial"/>
            </a:endParaRPr>
          </a:p>
        </p:txBody>
      </p:sp>
      <p:sp>
        <p:nvSpPr>
          <p:cNvPr id="1065" name="Text 8"/>
          <p:cNvSpPr/>
          <p:nvPr/>
        </p:nvSpPr>
        <p:spPr>
          <a:xfrm>
            <a:off x="941760" y="1847160"/>
            <a:ext cx="287028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action should I do now?</a:t>
            </a:r>
            <a:endParaRPr lang="en-US" sz="1300" b="0" u="none" strike="noStrike">
              <a:solidFill>
                <a:srgbClr val="000000"/>
              </a:solidFill>
              <a:effectLst/>
              <a:uFillTx/>
              <a:latin typeface="Arial"/>
            </a:endParaRPr>
          </a:p>
        </p:txBody>
      </p:sp>
      <p:sp>
        <p:nvSpPr>
          <p:cNvPr id="1066" name="Shape 9"/>
          <p:cNvSpPr/>
          <p:nvPr/>
        </p:nvSpPr>
        <p:spPr>
          <a:xfrm>
            <a:off x="4480560" y="1371600"/>
            <a:ext cx="319932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7" name="Text 10"/>
          <p:cNvSpPr/>
          <p:nvPr/>
        </p:nvSpPr>
        <p:spPr>
          <a:xfrm>
            <a:off x="4645080" y="1517760"/>
            <a:ext cx="28702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Transition model</a:t>
            </a:r>
            <a:endParaRPr lang="en-US" sz="1600" b="0" u="none" strike="noStrike">
              <a:solidFill>
                <a:srgbClr val="000000"/>
              </a:solidFill>
              <a:effectLst/>
              <a:uFillTx/>
              <a:latin typeface="Arial"/>
            </a:endParaRPr>
          </a:p>
        </p:txBody>
      </p:sp>
      <p:sp>
        <p:nvSpPr>
          <p:cNvPr id="1068" name="Text 11"/>
          <p:cNvSpPr/>
          <p:nvPr/>
        </p:nvSpPr>
        <p:spPr>
          <a:xfrm>
            <a:off x="4645080" y="1847160"/>
            <a:ext cx="287028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do my actions do?</a:t>
            </a:r>
            <a:endParaRPr lang="en-US" sz="1300" b="0" u="none" strike="noStrike">
              <a:solidFill>
                <a:srgbClr val="000000"/>
              </a:solidFill>
              <a:effectLst/>
              <a:uFillTx/>
              <a:latin typeface="Arial"/>
            </a:endParaRPr>
          </a:p>
        </p:txBody>
      </p:sp>
      <p:sp>
        <p:nvSpPr>
          <p:cNvPr id="1069" name="Shape 12"/>
          <p:cNvSpPr/>
          <p:nvPr/>
        </p:nvSpPr>
        <p:spPr>
          <a:xfrm>
            <a:off x="8183880" y="1371600"/>
            <a:ext cx="319932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0" name="Text 13"/>
          <p:cNvSpPr/>
          <p:nvPr/>
        </p:nvSpPr>
        <p:spPr>
          <a:xfrm>
            <a:off x="8348400" y="1517760"/>
            <a:ext cx="28702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Sensor model</a:t>
            </a:r>
            <a:endParaRPr lang="en-US" sz="1600" b="0" u="none" strike="noStrike">
              <a:solidFill>
                <a:srgbClr val="000000"/>
              </a:solidFill>
              <a:effectLst/>
              <a:uFillTx/>
              <a:latin typeface="Arial"/>
            </a:endParaRPr>
          </a:p>
        </p:txBody>
      </p:sp>
      <p:sp>
        <p:nvSpPr>
          <p:cNvPr id="1071" name="Text 14"/>
          <p:cNvSpPr/>
          <p:nvPr/>
        </p:nvSpPr>
        <p:spPr>
          <a:xfrm>
            <a:off x="8348400" y="1847160"/>
            <a:ext cx="287028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percepts should I expect?</a:t>
            </a:r>
            <a:endParaRPr lang="en-US" sz="1300" b="0" u="none" strike="noStrike">
              <a:solidFill>
                <a:srgbClr val="000000"/>
              </a:solidFill>
              <a:effectLst/>
              <a:uFillTx/>
              <a:latin typeface="Arial"/>
            </a:endParaRPr>
          </a:p>
        </p:txBody>
      </p:sp>
      <p:sp>
        <p:nvSpPr>
          <p:cNvPr id="1072" name="Shape 15"/>
          <p:cNvSpPr/>
          <p:nvPr/>
        </p:nvSpPr>
        <p:spPr>
          <a:xfrm>
            <a:off x="2651760" y="3657600"/>
            <a:ext cx="34736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3" name="Text 16"/>
          <p:cNvSpPr/>
          <p:nvPr/>
        </p:nvSpPr>
        <p:spPr>
          <a:xfrm>
            <a:off x="2816280" y="38037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5B35B1"/>
                </a:solidFill>
                <a:effectLst/>
                <a:uFillTx/>
                <a:latin typeface="Aptos"/>
              </a:rPr>
              <a:t>Utility / rules</a:t>
            </a:r>
            <a:endParaRPr lang="en-US" sz="1600" b="0" u="none" strike="noStrike">
              <a:solidFill>
                <a:srgbClr val="000000"/>
              </a:solidFill>
              <a:effectLst/>
              <a:uFillTx/>
              <a:latin typeface="Arial"/>
            </a:endParaRPr>
          </a:p>
        </p:txBody>
      </p:sp>
      <p:sp>
        <p:nvSpPr>
          <p:cNvPr id="1074" name="Text 17"/>
          <p:cNvSpPr/>
          <p:nvPr/>
        </p:nvSpPr>
        <p:spPr>
          <a:xfrm>
            <a:off x="2816280" y="4133160"/>
            <a:ext cx="31446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outcomes should I prefer?</a:t>
            </a:r>
            <a:endParaRPr lang="en-US" sz="1300" b="0" u="none" strike="noStrike">
              <a:solidFill>
                <a:srgbClr val="000000"/>
              </a:solidFill>
              <a:effectLst/>
              <a:uFillTx/>
              <a:latin typeface="Arial"/>
            </a:endParaRPr>
          </a:p>
        </p:txBody>
      </p:sp>
      <p:sp>
        <p:nvSpPr>
          <p:cNvPr id="1075" name="Shape 18"/>
          <p:cNvSpPr/>
          <p:nvPr/>
        </p:nvSpPr>
        <p:spPr>
          <a:xfrm>
            <a:off x="6583680" y="3657600"/>
            <a:ext cx="3473640" cy="1141920"/>
          </a:xfrm>
          <a:prstGeom prst="roundRect">
            <a:avLst>
              <a:gd name="adj" fmla="val 4800"/>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6" name="Text 19"/>
          <p:cNvSpPr/>
          <p:nvPr/>
        </p:nvSpPr>
        <p:spPr>
          <a:xfrm>
            <a:off x="6748200" y="38037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Problem generator</a:t>
            </a:r>
            <a:endParaRPr lang="en-US" sz="1600" b="0" u="none" strike="noStrike">
              <a:solidFill>
                <a:srgbClr val="000000"/>
              </a:solidFill>
              <a:effectLst/>
              <a:uFillTx/>
              <a:latin typeface="Arial"/>
            </a:endParaRPr>
          </a:p>
        </p:txBody>
      </p:sp>
      <p:sp>
        <p:nvSpPr>
          <p:cNvPr id="1077" name="Text 20"/>
          <p:cNvSpPr/>
          <p:nvPr/>
        </p:nvSpPr>
        <p:spPr>
          <a:xfrm>
            <a:off x="6748200" y="4133160"/>
            <a:ext cx="3144600" cy="547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What should I explore next?</a:t>
            </a:r>
            <a:endParaRPr lang="en-US" sz="1300" b="0" u="none" strike="noStrike">
              <a:solidFill>
                <a:srgbClr val="000000"/>
              </a:solidFill>
              <a:effectLst/>
              <a:uFillTx/>
              <a:latin typeface="Arial"/>
            </a:endParaRPr>
          </a:p>
        </p:txBody>
      </p:sp>
      <p:sp>
        <p:nvSpPr>
          <p:cNvPr id="1078" name="Text 21"/>
          <p:cNvSpPr/>
          <p:nvPr/>
        </p:nvSpPr>
        <p:spPr>
          <a:xfrm>
            <a:off x="868680" y="5504760"/>
            <a:ext cx="10423080" cy="401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rPr>
              <a:t>Learning modifies agent components to better match feedback and improve performance.</a:t>
            </a:r>
            <a:endParaRPr lang="en-US" sz="19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79"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0"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081"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2.4.6 Turing's Bet and the Fixed Standard</a:t>
            </a:r>
            <a:endParaRPr lang="en-US" sz="2300" b="0" u="none" strike="noStrike">
              <a:solidFill>
                <a:srgbClr val="000000"/>
              </a:solidFill>
              <a:effectLst/>
              <a:uFillTx/>
              <a:latin typeface="Arial"/>
            </a:endParaRPr>
          </a:p>
        </p:txBody>
      </p:sp>
      <p:sp>
        <p:nvSpPr>
          <p:cNvPr id="1082"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2.4.6</a:t>
            </a:r>
            <a:endParaRPr lang="en-US" sz="1200" b="0" u="none" strike="noStrike">
              <a:solidFill>
                <a:srgbClr val="000000"/>
              </a:solidFill>
              <a:effectLst/>
              <a:uFillTx/>
              <a:latin typeface="Arial"/>
            </a:endParaRPr>
          </a:p>
        </p:txBody>
      </p:sp>
      <p:sp>
        <p:nvSpPr>
          <p:cNvPr id="1083" name="Shape 5"/>
          <p:cNvSpPr/>
          <p:nvPr/>
        </p:nvSpPr>
        <p:spPr>
          <a:xfrm>
            <a:off x="868680" y="1097280"/>
            <a:ext cx="10423800" cy="118836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4" name="Text 6"/>
          <p:cNvSpPr/>
          <p:nvPr/>
        </p:nvSpPr>
        <p:spPr>
          <a:xfrm>
            <a:off x="1124640" y="1225440"/>
            <a:ext cx="9911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a:solidFill>
                  <a:srgbClr val="0B2B5C"/>
                </a:solidFill>
                <a:effectLst/>
                <a:uFillTx/>
                <a:latin typeface="Aptos"/>
                <a:ea typeface="Aptos"/>
              </a:rPr>
              <a:t>Turing's proposal (1950)</a:t>
            </a:r>
            <a:endParaRPr lang="en-US" sz="1700" b="0" u="none" strike="noStrike">
              <a:solidFill>
                <a:srgbClr val="000000"/>
              </a:solidFill>
              <a:effectLst/>
              <a:uFillTx/>
              <a:latin typeface="Arial"/>
            </a:endParaRPr>
          </a:p>
        </p:txBody>
      </p:sp>
      <p:sp>
        <p:nvSpPr>
          <p:cNvPr id="1085" name="Text 7"/>
          <p:cNvSpPr/>
          <p:nvPr/>
        </p:nvSpPr>
        <p:spPr>
          <a:xfrm>
            <a:off x="1124640" y="1572840"/>
            <a:ext cx="99118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0B1F3A"/>
                </a:solidFill>
                <a:effectLst/>
                <a:uFillTx/>
                <a:latin typeface="Aptos"/>
                <a:ea typeface="Aptos"/>
              </a:rPr>
              <a:t>Turing considered programming intelligent machines by hand, estimated the work involved, and concluded that </a:t>
            </a:r>
            <a:r>
              <a:rPr lang="en-US" sz="1400" b="1" u="none" strike="noStrike">
                <a:solidFill>
                  <a:srgbClr val="0B2B5C"/>
                </a:solidFill>
                <a:effectLst/>
                <a:uFillTx/>
                <a:latin typeface="Aptos"/>
                <a:ea typeface="Aptos"/>
              </a:rPr>
              <a:t>“some more expeditious method seems desirable.”</a:t>
            </a:r>
            <a:r>
              <a:rPr lang="en-US" sz="1400" b="0" u="none" strike="noStrike">
                <a:solidFill>
                  <a:srgbClr val="0B1F3A"/>
                </a:solidFill>
                <a:effectLst/>
                <a:uFillTx/>
                <a:latin typeface="Aptos"/>
                <a:ea typeface="Aptos"/>
              </a:rPr>
              <a:t> His alternative: build machines that learn, then teach them.</a:t>
            </a:r>
            <a:endParaRPr lang="en-US" sz="1400" b="0" u="none" strike="noStrike">
              <a:solidFill>
                <a:srgbClr val="000000"/>
              </a:solidFill>
              <a:effectLst/>
              <a:uFillTx/>
              <a:latin typeface="Arial"/>
            </a:endParaRPr>
          </a:p>
        </p:txBody>
      </p:sp>
      <p:sp>
        <p:nvSpPr>
          <p:cNvPr id="1086" name="Shape 8"/>
          <p:cNvSpPr/>
          <p:nvPr/>
        </p:nvSpPr>
        <p:spPr>
          <a:xfrm>
            <a:off x="868680" y="2395800"/>
            <a:ext cx="3291480" cy="24868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7" name="Text 9"/>
          <p:cNvSpPr/>
          <p:nvPr/>
        </p:nvSpPr>
        <p:spPr>
          <a:xfrm>
            <a:off x="1033200" y="2541960"/>
            <a:ext cx="296244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50" b="1" u="none" strike="noStrike">
                <a:solidFill>
                  <a:srgbClr val="A32020"/>
                </a:solidFill>
                <a:effectLst/>
                <a:uFillTx/>
                <a:latin typeface="Aptos"/>
                <a:ea typeface="Aptos"/>
              </a:rPr>
              <a:t>The critic must be fixed</a:t>
            </a:r>
            <a:endParaRPr lang="en-US" sz="1650" b="0" u="none" strike="noStrike">
              <a:solidFill>
                <a:srgbClr val="000000"/>
              </a:solidFill>
              <a:effectLst/>
              <a:uFillTx/>
              <a:latin typeface="Arial"/>
            </a:endParaRPr>
          </a:p>
        </p:txBody>
      </p:sp>
      <p:sp>
        <p:nvSpPr>
          <p:cNvPr id="1088" name="Text 10"/>
          <p:cNvSpPr/>
          <p:nvPr/>
        </p:nvSpPr>
        <p:spPr>
          <a:xfrm>
            <a:off x="1033200" y="3090600"/>
            <a:ext cx="2962440" cy="1645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Percepts do not announce success. A chess program can perceive that it has checkmated its opponent and still need a standard to know that this is good news. Think of the performance standard as sitting outside the agent — because the agent must not be able to edit it to fit its own behavior.</a:t>
            </a:r>
            <a:endParaRPr lang="en-US" sz="1250" b="0" u="none" strike="noStrike">
              <a:solidFill>
                <a:srgbClr val="000000"/>
              </a:solidFill>
              <a:effectLst/>
              <a:uFillTx/>
              <a:latin typeface="Arial"/>
            </a:endParaRPr>
          </a:p>
        </p:txBody>
      </p:sp>
      <p:sp>
        <p:nvSpPr>
          <p:cNvPr id="1089" name="Shape 11"/>
          <p:cNvSpPr/>
          <p:nvPr/>
        </p:nvSpPr>
        <p:spPr>
          <a:xfrm>
            <a:off x="4434840" y="2395800"/>
            <a:ext cx="3291480" cy="24868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0" name="Text 12"/>
          <p:cNvSpPr/>
          <p:nvPr/>
        </p:nvSpPr>
        <p:spPr>
          <a:xfrm>
            <a:off x="4599360" y="2541960"/>
            <a:ext cx="296244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50" b="1" u="none" strike="noStrike">
                <a:solidFill>
                  <a:srgbClr val="048A97"/>
                </a:solidFill>
                <a:effectLst/>
                <a:uFillTx/>
                <a:latin typeface="Aptos"/>
                <a:ea typeface="Aptos"/>
              </a:rPr>
              <a:t>Galileo as problem generator</a:t>
            </a:r>
            <a:endParaRPr lang="en-US" sz="1650" b="0" u="none" strike="noStrike">
              <a:solidFill>
                <a:srgbClr val="000000"/>
              </a:solidFill>
              <a:effectLst/>
              <a:uFillTx/>
              <a:latin typeface="Arial"/>
            </a:endParaRPr>
          </a:p>
        </p:txBody>
      </p:sp>
      <p:sp>
        <p:nvSpPr>
          <p:cNvPr id="1091" name="Text 13"/>
          <p:cNvSpPr/>
          <p:nvPr/>
        </p:nvSpPr>
        <p:spPr>
          <a:xfrm>
            <a:off x="4599360" y="3090600"/>
            <a:ext cx="2962440" cy="1645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Dropping rocks from a tower in Pisa was not valuable in itself. Galileo was not trying to break the rocks. He was running an experiment to improve his own theory. The problem generator proposes actions that are suboptimal now and informative later.</a:t>
            </a:r>
            <a:endParaRPr lang="en-US" sz="1250" b="0" u="none" strike="noStrike">
              <a:solidFill>
                <a:srgbClr val="000000"/>
              </a:solidFill>
              <a:effectLst/>
              <a:uFillTx/>
              <a:latin typeface="Arial"/>
            </a:endParaRPr>
          </a:p>
        </p:txBody>
      </p:sp>
      <p:sp>
        <p:nvSpPr>
          <p:cNvPr id="1092" name="Shape 14"/>
          <p:cNvSpPr/>
          <p:nvPr/>
        </p:nvSpPr>
        <p:spPr>
          <a:xfrm>
            <a:off x="8001000" y="2395800"/>
            <a:ext cx="3291480" cy="248688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3" name="Text 15"/>
          <p:cNvSpPr/>
          <p:nvPr/>
        </p:nvSpPr>
        <p:spPr>
          <a:xfrm>
            <a:off x="8165520" y="2541960"/>
            <a:ext cx="296244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50" b="1" u="none" strike="noStrike">
                <a:solidFill>
                  <a:srgbClr val="F5A21B"/>
                </a:solidFill>
                <a:effectLst/>
                <a:uFillTx/>
                <a:latin typeface="Aptos"/>
                <a:ea typeface="Aptos"/>
              </a:rPr>
              <a:t>Feedback reshapes what it wants</a:t>
            </a:r>
            <a:endParaRPr lang="en-US" sz="1650" b="0" u="none" strike="noStrike">
              <a:solidFill>
                <a:srgbClr val="000000"/>
              </a:solidFill>
              <a:effectLst/>
              <a:uFillTx/>
              <a:latin typeface="Arial"/>
            </a:endParaRPr>
          </a:p>
        </p:txBody>
      </p:sp>
      <p:sp>
        <p:nvSpPr>
          <p:cNvPr id="1094" name="Text 16"/>
          <p:cNvSpPr/>
          <p:nvPr/>
        </p:nvSpPr>
        <p:spPr>
          <a:xfrm>
            <a:off x="8165520" y="3090600"/>
            <a:ext cx="2962440" cy="1645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50" b="0" u="none" strike="noStrike">
                <a:solidFill>
                  <a:srgbClr val="0B1F3A"/>
                </a:solidFill>
                <a:effectLst/>
                <a:uFillTx/>
                <a:latin typeface="Aptos"/>
                <a:ea typeface="Aptos"/>
              </a:rPr>
              <a:t>Passengers shaken up on the trip leave no tip. Pedestrians cover their ears — and occasionally cut the wires — when the taxi sounds its horn continuously. Both are evidence the agent can use to revise its utility function.</a:t>
            </a:r>
            <a:endParaRPr lang="en-US" sz="1250" b="0" u="none" strike="noStrike">
              <a:solidFill>
                <a:srgbClr val="000000"/>
              </a:solidFill>
              <a:effectLst/>
              <a:uFillTx/>
              <a:latin typeface="Arial"/>
            </a:endParaRPr>
          </a:p>
        </p:txBody>
      </p:sp>
      <p:sp>
        <p:nvSpPr>
          <p:cNvPr id="1095" name="Text 17"/>
          <p:cNvSpPr/>
          <p:nvPr/>
        </p:nvSpPr>
        <p:spPr>
          <a:xfrm>
            <a:off x="914400" y="512064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Learning = pulling every component into closer agreement with the feedback</a:t>
            </a:r>
            <a:endParaRPr lang="en-US" sz="1900" b="0" u="none" strike="noStrike">
              <a:solidFill>
                <a:srgbClr val="000000"/>
              </a:solidFill>
              <a:effectLst/>
              <a:uFillTx/>
              <a:latin typeface="Arial"/>
            </a:endParaRPr>
          </a:p>
        </p:txBody>
      </p:sp>
      <p:sp>
        <p:nvSpPr>
          <p:cNvPr id="1096" name="Text 18"/>
          <p:cNvSpPr/>
          <p:nvPr/>
        </p:nvSpPr>
        <p:spPr>
          <a:xfrm>
            <a:off x="1005840" y="5596200"/>
            <a:ext cx="101494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Improving a model so it matches reality is almost always worth doing on its own terms. Improving a reflex rule or a utility function is not — that needs information from the external standard. Hard-wired standards such as pain and hunger in animals play exactly this role.</a:t>
            </a:r>
            <a:endParaRPr lang="en-US" sz="1400" b="0" u="none" strike="noStrike">
              <a:solidFill>
                <a:srgbClr val="000000"/>
              </a:solidFill>
              <a:effectLst/>
              <a:uFillTx/>
              <a:latin typeface="Arial"/>
            </a:endParaRPr>
          </a:p>
        </p:txBody>
      </p:sp>
      <p:sp>
        <p:nvSpPr>
          <p:cNvPr id="1097" name="Text 19"/>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098" name="Text 20"/>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40</a:t>
            </a:r>
            <a:endParaRPr lang="en-US" sz="85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099"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00"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101"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2.4.7 Representing the World Inside the Agent</a:t>
            </a:r>
            <a:endParaRPr lang="en-US" sz="2300" b="0" u="none" strike="noStrike">
              <a:solidFill>
                <a:srgbClr val="000000"/>
              </a:solidFill>
              <a:effectLst/>
              <a:uFillTx/>
              <a:latin typeface="Arial"/>
            </a:endParaRPr>
          </a:p>
        </p:txBody>
      </p:sp>
      <p:sp>
        <p:nvSpPr>
          <p:cNvPr id="1102"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2.4.7</a:t>
            </a:r>
            <a:endParaRPr lang="en-US" sz="1200" b="0" u="none" strike="noStrike">
              <a:solidFill>
                <a:srgbClr val="000000"/>
              </a:solidFill>
              <a:effectLst/>
              <a:uFillTx/>
              <a:latin typeface="Arial"/>
            </a:endParaRPr>
          </a:p>
        </p:txBody>
      </p:sp>
      <p:sp>
        <p:nvSpPr>
          <p:cNvPr id="1103"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104"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41</a:t>
            </a:r>
            <a:endParaRPr lang="en-US" sz="1800" b="0" u="none" strike="noStrike">
              <a:solidFill>
                <a:srgbClr val="000000"/>
              </a:solidFill>
              <a:effectLst/>
              <a:uFillTx/>
              <a:latin typeface="Arial"/>
            </a:endParaRPr>
          </a:p>
        </p:txBody>
      </p:sp>
      <p:pic>
        <p:nvPicPr>
          <p:cNvPr id="1105" name="Image 0" descr="/mnt/data/ch2_docx_unzipped/word/media/image14.png"/>
          <p:cNvPicPr/>
          <p:nvPr/>
        </p:nvPicPr>
        <p:blipFill>
          <a:blip r:embed="rId3"/>
          <a:stretch/>
        </p:blipFill>
        <p:spPr>
          <a:xfrm>
            <a:off x="228600" y="1088280"/>
            <a:ext cx="5749200" cy="3483000"/>
          </a:xfrm>
          <a:prstGeom prst="rect">
            <a:avLst/>
          </a:prstGeom>
          <a:noFill/>
          <a:ln w="0">
            <a:noFill/>
          </a:ln>
        </p:spPr>
      </p:pic>
      <p:sp>
        <p:nvSpPr>
          <p:cNvPr id="1106" name="Shape 6"/>
          <p:cNvSpPr/>
          <p:nvPr/>
        </p:nvSpPr>
        <p:spPr>
          <a:xfrm>
            <a:off x="6583680" y="1188720"/>
            <a:ext cx="1599120" cy="2056320"/>
          </a:xfrm>
          <a:prstGeom prst="roundRect">
            <a:avLst>
              <a:gd name="adj" fmla="val 3429"/>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07" name="Text 7"/>
          <p:cNvSpPr/>
          <p:nvPr/>
        </p:nvSpPr>
        <p:spPr>
          <a:xfrm>
            <a:off x="6748200" y="1334880"/>
            <a:ext cx="12700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2B6CB0"/>
                </a:solidFill>
                <a:effectLst/>
                <a:uFillTx/>
                <a:latin typeface="Aptos"/>
              </a:rPr>
              <a:t>Atomic</a:t>
            </a:r>
            <a:endParaRPr lang="en-US" sz="1500" b="0" u="none" strike="noStrike">
              <a:solidFill>
                <a:srgbClr val="000000"/>
              </a:solidFill>
              <a:effectLst/>
              <a:uFillTx/>
              <a:latin typeface="Arial"/>
            </a:endParaRPr>
          </a:p>
        </p:txBody>
      </p:sp>
      <p:sp>
        <p:nvSpPr>
          <p:cNvPr id="1108" name="Text 8"/>
          <p:cNvSpPr/>
          <p:nvPr/>
        </p:nvSpPr>
        <p:spPr>
          <a:xfrm>
            <a:off x="6748200" y="1664280"/>
            <a:ext cx="1270080" cy="1461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80" b="0" u="none" strike="noStrike">
                <a:solidFill>
                  <a:srgbClr val="0B1F3A"/>
                </a:solidFill>
                <a:effectLst/>
                <a:uFillTx/>
                <a:latin typeface="Aptos"/>
              </a:rPr>
              <a:t>State is a black box.</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city name only.</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search, games, HMMs, MDPs.</a:t>
            </a:r>
            <a:endParaRPr lang="en-US" sz="1080" b="0" u="none" strike="noStrike">
              <a:solidFill>
                <a:srgbClr val="000000"/>
              </a:solidFill>
              <a:effectLst/>
              <a:uFillTx/>
              <a:latin typeface="Arial"/>
            </a:endParaRPr>
          </a:p>
        </p:txBody>
      </p:sp>
      <p:sp>
        <p:nvSpPr>
          <p:cNvPr id="1109" name="Shape 9"/>
          <p:cNvSpPr/>
          <p:nvPr/>
        </p:nvSpPr>
        <p:spPr>
          <a:xfrm>
            <a:off x="8229600" y="1188720"/>
            <a:ext cx="1782000" cy="2056320"/>
          </a:xfrm>
          <a:prstGeom prst="roundRect">
            <a:avLst>
              <a:gd name="adj" fmla="val 3077"/>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0" name="Text 10"/>
          <p:cNvSpPr/>
          <p:nvPr/>
        </p:nvSpPr>
        <p:spPr>
          <a:xfrm>
            <a:off x="8394120" y="1334880"/>
            <a:ext cx="14529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048A97"/>
                </a:solidFill>
                <a:effectLst/>
                <a:uFillTx/>
                <a:latin typeface="Aptos"/>
              </a:rPr>
              <a:t>Factored</a:t>
            </a:r>
            <a:endParaRPr lang="en-US" sz="1500" b="0" u="none" strike="noStrike">
              <a:solidFill>
                <a:srgbClr val="000000"/>
              </a:solidFill>
              <a:effectLst/>
              <a:uFillTx/>
              <a:latin typeface="Arial"/>
            </a:endParaRPr>
          </a:p>
        </p:txBody>
      </p:sp>
      <p:sp>
        <p:nvSpPr>
          <p:cNvPr id="1111" name="Text 11"/>
          <p:cNvSpPr/>
          <p:nvPr/>
        </p:nvSpPr>
        <p:spPr>
          <a:xfrm>
            <a:off x="8394120" y="1664280"/>
            <a:ext cx="1452960" cy="1461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80" b="0" u="none" strike="noStrike">
                <a:solidFill>
                  <a:srgbClr val="0B1F3A"/>
                </a:solidFill>
                <a:effectLst/>
                <a:uFillTx/>
                <a:latin typeface="Aptos"/>
              </a:rPr>
              <a:t>State is a set of variables.</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location, fuel, speed, weather.</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CSPs, logic, Bayes nets, planning.</a:t>
            </a:r>
            <a:endParaRPr lang="en-US" sz="1080" b="0" u="none" strike="noStrike">
              <a:solidFill>
                <a:srgbClr val="000000"/>
              </a:solidFill>
              <a:effectLst/>
              <a:uFillTx/>
              <a:latin typeface="Arial"/>
            </a:endParaRPr>
          </a:p>
        </p:txBody>
      </p:sp>
      <p:sp>
        <p:nvSpPr>
          <p:cNvPr id="1112" name="Shape 12"/>
          <p:cNvSpPr/>
          <p:nvPr/>
        </p:nvSpPr>
        <p:spPr>
          <a:xfrm>
            <a:off x="10058400" y="1188720"/>
            <a:ext cx="1690560" cy="2056320"/>
          </a:xfrm>
          <a:prstGeom prst="roundRect">
            <a:avLst>
              <a:gd name="adj" fmla="val 3243"/>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3" name="Text 13"/>
          <p:cNvSpPr/>
          <p:nvPr/>
        </p:nvSpPr>
        <p:spPr>
          <a:xfrm>
            <a:off x="10222920" y="1334880"/>
            <a:ext cx="1361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5B35B1"/>
                </a:solidFill>
                <a:effectLst/>
                <a:uFillTx/>
                <a:latin typeface="Aptos"/>
              </a:rPr>
              <a:t>Structured</a:t>
            </a:r>
            <a:endParaRPr lang="en-US" sz="1500" b="0" u="none" strike="noStrike">
              <a:solidFill>
                <a:srgbClr val="000000"/>
              </a:solidFill>
              <a:effectLst/>
              <a:uFillTx/>
              <a:latin typeface="Arial"/>
            </a:endParaRPr>
          </a:p>
        </p:txBody>
      </p:sp>
      <p:sp>
        <p:nvSpPr>
          <p:cNvPr id="1114" name="Text 14"/>
          <p:cNvSpPr/>
          <p:nvPr/>
        </p:nvSpPr>
        <p:spPr>
          <a:xfrm>
            <a:off x="10222920" y="1664280"/>
            <a:ext cx="1361520" cy="1461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080" b="0" u="none" strike="noStrike">
                <a:solidFill>
                  <a:srgbClr val="0B1F3A"/>
                </a:solidFill>
                <a:effectLst/>
                <a:uFillTx/>
                <a:latin typeface="Aptos"/>
              </a:rPr>
              <a:t>Objects plus relations.</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Example: truck blocking cow near driveway.</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0B1F3A"/>
                </a:solidFill>
                <a:effectLst/>
                <a:uFillTx/>
                <a:latin typeface="Aptos"/>
              </a:rPr>
              <a:t>Used in first-order logic, databases, language.</a:t>
            </a:r>
            <a:endParaRPr lang="en-US" sz="1080" b="0" u="none" strike="noStrike">
              <a:solidFill>
                <a:srgbClr val="000000"/>
              </a:solidFill>
              <a:effectLst/>
              <a:uFillTx/>
              <a:latin typeface="Arial"/>
            </a:endParaRPr>
          </a:p>
        </p:txBody>
      </p:sp>
      <p:sp>
        <p:nvSpPr>
          <p:cNvPr id="1115" name="Shape 15"/>
          <p:cNvSpPr/>
          <p:nvPr/>
        </p:nvSpPr>
        <p:spPr>
          <a:xfrm>
            <a:off x="1097280" y="4846320"/>
            <a:ext cx="9875520" cy="360"/>
          </a:xfrm>
          <a:prstGeom prst="line">
            <a:avLst/>
          </a:prstGeom>
          <a:ln w="25400">
            <a:solidFill>
              <a:srgbClr val="F5A21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116" name="Text 16"/>
          <p:cNvSpPr/>
          <p:nvPr/>
        </p:nvSpPr>
        <p:spPr>
          <a:xfrm>
            <a:off x="1097280" y="5010840"/>
            <a:ext cx="3199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5E7088"/>
                </a:solidFill>
                <a:effectLst/>
                <a:uFillTx/>
                <a:latin typeface="Aptos"/>
              </a:rPr>
              <a:t>less expressive, easier reasoning</a:t>
            </a:r>
            <a:endParaRPr lang="en-US" sz="1200" b="0" u="none" strike="noStrike">
              <a:solidFill>
                <a:srgbClr val="000000"/>
              </a:solidFill>
              <a:effectLst/>
              <a:uFillTx/>
              <a:latin typeface="Arial"/>
            </a:endParaRPr>
          </a:p>
        </p:txBody>
      </p:sp>
      <p:sp>
        <p:nvSpPr>
          <p:cNvPr id="1117" name="Text 17"/>
          <p:cNvSpPr/>
          <p:nvPr/>
        </p:nvSpPr>
        <p:spPr>
          <a:xfrm>
            <a:off x="7818120" y="5010840"/>
            <a:ext cx="31993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5E7088"/>
                </a:solidFill>
                <a:effectLst/>
                <a:uFillTx/>
                <a:latin typeface="Aptos"/>
              </a:rPr>
              <a:t>more expressive, harder reasoning</a:t>
            </a:r>
            <a:endParaRPr lang="en-US" sz="1200" b="0" u="none" strike="noStrike">
              <a:solidFill>
                <a:srgbClr val="000000"/>
              </a:solidFill>
              <a:effectLst/>
              <a:uFillTx/>
              <a:latin typeface="Arial"/>
            </a:endParaRPr>
          </a:p>
        </p:txBody>
      </p:sp>
      <p:sp>
        <p:nvSpPr>
          <p:cNvPr id="1118" name="Text 18"/>
          <p:cNvSpPr/>
          <p:nvPr/>
        </p:nvSpPr>
        <p:spPr>
          <a:xfrm>
            <a:off x="822960" y="5632560"/>
            <a:ext cx="10605960" cy="327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0B2B5C"/>
                </a:solidFill>
                <a:effectLst/>
                <a:uFillTx/>
                <a:latin typeface="Aptos"/>
              </a:rPr>
              <a:t>Design choice: enough expressive power for the task, but not more than the agent can reason with efficiently.</a:t>
            </a:r>
            <a:endParaRPr lang="en-US" sz="1650" b="0" u="none" strike="noStrike">
              <a:solidFill>
                <a:srgbClr val="000000"/>
              </a:solidFill>
              <a:effectLst/>
              <a:uFillTx/>
              <a:latin typeface="Arial"/>
            </a:endParaRPr>
          </a:p>
        </p:txBody>
      </p:sp>
      <p:sp>
        <p:nvSpPr>
          <p:cNvPr id="1119" name="Text 19"/>
          <p:cNvSpPr/>
          <p:nvPr/>
        </p:nvSpPr>
        <p:spPr>
          <a:xfrm>
            <a:off x="9326880" y="6364080"/>
            <a:ext cx="237636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5E7088"/>
                </a:solidFill>
                <a:effectLst/>
                <a:uFillTx/>
                <a:latin typeface="Aptos"/>
              </a:rPr>
              <a:t>Figure 2.16</a:t>
            </a:r>
            <a:endParaRPr lang="en-US" sz="75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120"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1"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122"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2.4.7 Expressiveness Has a Price</a:t>
            </a:r>
            <a:endParaRPr lang="en-US" sz="2300" b="0" u="none" strike="noStrike">
              <a:solidFill>
                <a:srgbClr val="000000"/>
              </a:solidFill>
              <a:effectLst/>
              <a:uFillTx/>
              <a:latin typeface="Arial"/>
            </a:endParaRPr>
          </a:p>
        </p:txBody>
      </p:sp>
      <p:sp>
        <p:nvSpPr>
          <p:cNvPr id="1123"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2.4.7</a:t>
            </a:r>
            <a:endParaRPr lang="en-US" sz="1200" b="0" u="none" strike="noStrike">
              <a:solidFill>
                <a:srgbClr val="000000"/>
              </a:solidFill>
              <a:effectLst/>
              <a:uFillTx/>
              <a:latin typeface="Arial"/>
            </a:endParaRPr>
          </a:p>
        </p:txBody>
      </p:sp>
      <p:sp>
        <p:nvSpPr>
          <p:cNvPr id="1124" name="Text 5"/>
          <p:cNvSpPr/>
          <p:nvPr/>
        </p:nvSpPr>
        <p:spPr>
          <a:xfrm>
            <a:off x="1005840" y="1115640"/>
            <a:ext cx="10149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ea typeface="Aptos"/>
              </a:rPr>
              <a:t>How many pages does it take to write down the rules of chess?</a:t>
            </a:r>
            <a:endParaRPr lang="en-US" sz="1700" b="0" u="none" strike="noStrike">
              <a:solidFill>
                <a:srgbClr val="000000"/>
              </a:solidFill>
              <a:effectLst/>
              <a:uFillTx/>
              <a:latin typeface="Arial"/>
            </a:endParaRPr>
          </a:p>
        </p:txBody>
      </p:sp>
      <p:sp>
        <p:nvSpPr>
          <p:cNvPr id="1125" name="Shape 6"/>
          <p:cNvSpPr/>
          <p:nvPr/>
        </p:nvSpPr>
        <p:spPr>
          <a:xfrm>
            <a:off x="868680" y="1554480"/>
            <a:ext cx="3291480" cy="21027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6" name="Text 7"/>
          <p:cNvSpPr/>
          <p:nvPr/>
        </p:nvSpPr>
        <p:spPr>
          <a:xfrm>
            <a:off x="1014840" y="1719000"/>
            <a:ext cx="299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5B35B1"/>
                </a:solidFill>
                <a:effectLst/>
                <a:uFillTx/>
                <a:latin typeface="Aptos"/>
                <a:ea typeface="Aptos"/>
              </a:rPr>
              <a:t>Atomic</a:t>
            </a:r>
            <a:endParaRPr lang="en-US" sz="1500" b="0" u="none" strike="noStrike">
              <a:solidFill>
                <a:srgbClr val="000000"/>
              </a:solidFill>
              <a:effectLst/>
              <a:uFillTx/>
              <a:latin typeface="Arial"/>
            </a:endParaRPr>
          </a:p>
        </p:txBody>
      </p:sp>
      <p:sp>
        <p:nvSpPr>
          <p:cNvPr id="1127" name="Text 8"/>
          <p:cNvSpPr/>
          <p:nvPr/>
        </p:nvSpPr>
        <p:spPr>
          <a:xfrm>
            <a:off x="1014840" y="2066400"/>
            <a:ext cx="29988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u="none" strike="noStrike">
                <a:solidFill>
                  <a:srgbClr val="0B2B5C"/>
                </a:solidFill>
                <a:effectLst/>
                <a:uFillTx/>
                <a:latin typeface="Aptos"/>
                <a:ea typeface="Aptos"/>
              </a:rPr>
              <a:t>≈ 10³⁸</a:t>
            </a:r>
            <a:endParaRPr lang="en-US" sz="3000" b="0" u="none" strike="noStrike">
              <a:solidFill>
                <a:srgbClr val="000000"/>
              </a:solidFill>
              <a:effectLst/>
              <a:uFillTx/>
              <a:latin typeface="Arial"/>
            </a:endParaRPr>
          </a:p>
        </p:txBody>
      </p:sp>
      <p:sp>
        <p:nvSpPr>
          <p:cNvPr id="1128" name="Text 9"/>
          <p:cNvSpPr/>
          <p:nvPr/>
        </p:nvSpPr>
        <p:spPr>
          <a:xfrm>
            <a:off x="1051560" y="2853000"/>
            <a:ext cx="29257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50" b="0" u="none" strike="noStrike">
                <a:solidFill>
                  <a:srgbClr val="0B1F3A"/>
                </a:solidFill>
                <a:effectLst/>
                <a:uFillTx/>
                <a:latin typeface="Aptos"/>
                <a:ea typeface="Aptos"/>
              </a:rPr>
              <a:t>pages, written in a language of finite-state automata</a:t>
            </a:r>
            <a:endParaRPr lang="en-US" sz="1250" b="0" u="none" strike="noStrike">
              <a:solidFill>
                <a:srgbClr val="000000"/>
              </a:solidFill>
              <a:effectLst/>
              <a:uFillTx/>
              <a:latin typeface="Arial"/>
            </a:endParaRPr>
          </a:p>
        </p:txBody>
      </p:sp>
      <p:sp>
        <p:nvSpPr>
          <p:cNvPr id="1129" name="Shape 10"/>
          <p:cNvSpPr/>
          <p:nvPr/>
        </p:nvSpPr>
        <p:spPr>
          <a:xfrm>
            <a:off x="4434840" y="1554480"/>
            <a:ext cx="3291480" cy="21027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0" name="Text 11"/>
          <p:cNvSpPr/>
          <p:nvPr/>
        </p:nvSpPr>
        <p:spPr>
          <a:xfrm>
            <a:off x="4581000" y="1719000"/>
            <a:ext cx="299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2B6CB0"/>
                </a:solidFill>
                <a:effectLst/>
                <a:uFillTx/>
                <a:latin typeface="Aptos"/>
                <a:ea typeface="Aptos"/>
              </a:rPr>
              <a:t>Factored</a:t>
            </a:r>
            <a:endParaRPr lang="en-US" sz="1500" b="0" u="none" strike="noStrike">
              <a:solidFill>
                <a:srgbClr val="000000"/>
              </a:solidFill>
              <a:effectLst/>
              <a:uFillTx/>
              <a:latin typeface="Arial"/>
            </a:endParaRPr>
          </a:p>
        </p:txBody>
      </p:sp>
      <p:sp>
        <p:nvSpPr>
          <p:cNvPr id="1131" name="Text 12"/>
          <p:cNvSpPr/>
          <p:nvPr/>
        </p:nvSpPr>
        <p:spPr>
          <a:xfrm>
            <a:off x="4581000" y="2066400"/>
            <a:ext cx="29988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rgbClr val="0B2B5C"/>
                </a:solidFill>
                <a:effectLst/>
                <a:uFillTx/>
                <a:latin typeface="Aptos"/>
                <a:ea typeface="Aptos"/>
              </a:rPr>
              <a:t>thousands</a:t>
            </a:r>
            <a:endParaRPr lang="en-US" sz="2400" b="0" u="none" strike="noStrike">
              <a:solidFill>
                <a:srgbClr val="000000"/>
              </a:solidFill>
              <a:effectLst/>
              <a:uFillTx/>
              <a:latin typeface="Arial"/>
            </a:endParaRPr>
          </a:p>
        </p:txBody>
      </p:sp>
      <p:sp>
        <p:nvSpPr>
          <p:cNvPr id="1132" name="Text 13"/>
          <p:cNvSpPr/>
          <p:nvPr/>
        </p:nvSpPr>
        <p:spPr>
          <a:xfrm>
            <a:off x="4617720" y="2853000"/>
            <a:ext cx="29257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50" b="0" u="none" strike="noStrike">
                <a:solidFill>
                  <a:srgbClr val="0B1F3A"/>
                </a:solidFill>
                <a:effectLst/>
                <a:uFillTx/>
                <a:latin typeface="Aptos"/>
                <a:ea typeface="Aptos"/>
              </a:rPr>
              <a:t>of pages, written in propositional logic</a:t>
            </a:r>
            <a:endParaRPr lang="en-US" sz="1250" b="0" u="none" strike="noStrike">
              <a:solidFill>
                <a:srgbClr val="000000"/>
              </a:solidFill>
              <a:effectLst/>
              <a:uFillTx/>
              <a:latin typeface="Arial"/>
            </a:endParaRPr>
          </a:p>
        </p:txBody>
      </p:sp>
      <p:sp>
        <p:nvSpPr>
          <p:cNvPr id="1133" name="Shape 14"/>
          <p:cNvSpPr/>
          <p:nvPr/>
        </p:nvSpPr>
        <p:spPr>
          <a:xfrm>
            <a:off x="8001000" y="1554480"/>
            <a:ext cx="3291480" cy="21027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4" name="Text 15"/>
          <p:cNvSpPr/>
          <p:nvPr/>
        </p:nvSpPr>
        <p:spPr>
          <a:xfrm>
            <a:off x="8147160" y="1719000"/>
            <a:ext cx="2998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7A45"/>
                </a:solidFill>
                <a:effectLst/>
                <a:uFillTx/>
                <a:latin typeface="Aptos"/>
                <a:ea typeface="Aptos"/>
              </a:rPr>
              <a:t>Structured</a:t>
            </a:r>
            <a:endParaRPr lang="en-US" sz="1500" b="0" u="none" strike="noStrike">
              <a:solidFill>
                <a:srgbClr val="000000"/>
              </a:solidFill>
              <a:effectLst/>
              <a:uFillTx/>
              <a:latin typeface="Arial"/>
            </a:endParaRPr>
          </a:p>
        </p:txBody>
      </p:sp>
      <p:sp>
        <p:nvSpPr>
          <p:cNvPr id="1135" name="Text 16"/>
          <p:cNvSpPr/>
          <p:nvPr/>
        </p:nvSpPr>
        <p:spPr>
          <a:xfrm>
            <a:off x="8147160" y="2066400"/>
            <a:ext cx="29988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0B2B5C"/>
                </a:solidFill>
                <a:effectLst/>
                <a:uFillTx/>
                <a:latin typeface="Aptos"/>
                <a:ea typeface="Aptos"/>
              </a:rPr>
              <a:t>1–2</a:t>
            </a:r>
            <a:endParaRPr lang="en-US" sz="3600" b="0" u="none" strike="noStrike">
              <a:solidFill>
                <a:srgbClr val="000000"/>
              </a:solidFill>
              <a:effectLst/>
              <a:uFillTx/>
              <a:latin typeface="Arial"/>
            </a:endParaRPr>
          </a:p>
        </p:txBody>
      </p:sp>
      <p:sp>
        <p:nvSpPr>
          <p:cNvPr id="1136" name="Text 17"/>
          <p:cNvSpPr/>
          <p:nvPr/>
        </p:nvSpPr>
        <p:spPr>
          <a:xfrm>
            <a:off x="8183880" y="2853000"/>
            <a:ext cx="29257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50" b="0" u="none" strike="noStrike">
                <a:solidFill>
                  <a:srgbClr val="0B1F3A"/>
                </a:solidFill>
                <a:effectLst/>
                <a:uFillTx/>
                <a:latin typeface="Aptos"/>
                <a:ea typeface="Aptos"/>
              </a:rPr>
              <a:t>pages, written in first-order logic</a:t>
            </a:r>
            <a:endParaRPr lang="en-US" sz="1250" b="0" u="none" strike="noStrike">
              <a:solidFill>
                <a:srgbClr val="000000"/>
              </a:solidFill>
              <a:effectLst/>
              <a:uFillTx/>
              <a:latin typeface="Arial"/>
            </a:endParaRPr>
          </a:p>
        </p:txBody>
      </p:sp>
      <p:sp>
        <p:nvSpPr>
          <p:cNvPr id="1137" name="Text 18"/>
          <p:cNvSpPr/>
          <p:nvPr/>
        </p:nvSpPr>
        <p:spPr>
          <a:xfrm>
            <a:off x="914400" y="388620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50" b="1" u="none" strike="noStrike">
                <a:solidFill>
                  <a:srgbClr val="0B2B5C"/>
                </a:solidFill>
                <a:effectLst/>
                <a:uFillTx/>
                <a:latin typeface="Aptos"/>
                <a:ea typeface="Aptos"/>
              </a:rPr>
              <a:t>The same content, expressed more concisely — and reasoned over more slowly</a:t>
            </a:r>
            <a:endParaRPr lang="en-US" sz="1950" b="0" u="none" strike="noStrike">
              <a:solidFill>
                <a:srgbClr val="000000"/>
              </a:solidFill>
              <a:effectLst/>
              <a:uFillTx/>
              <a:latin typeface="Arial"/>
            </a:endParaRPr>
          </a:p>
        </p:txBody>
      </p:sp>
      <p:sp>
        <p:nvSpPr>
          <p:cNvPr id="1138" name="Shape 19"/>
          <p:cNvSpPr/>
          <p:nvPr/>
        </p:nvSpPr>
        <p:spPr>
          <a:xfrm>
            <a:off x="868680" y="4389120"/>
            <a:ext cx="10423800" cy="1234080"/>
          </a:xfrm>
          <a:prstGeom prst="roundRect">
            <a:avLst>
              <a:gd name="adj" fmla="val 4444"/>
            </a:avLst>
          </a:prstGeom>
          <a:solidFill>
            <a:srgbClr val="EDF3F9"/>
          </a:solidFill>
          <a:ln w="12700">
            <a:solidFill>
              <a:srgbClr val="DCE7F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9" name="Text 20"/>
          <p:cNvSpPr/>
          <p:nvPr/>
        </p:nvSpPr>
        <p:spPr>
          <a:xfrm>
            <a:off x="1124640" y="4535280"/>
            <a:ext cx="9911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B2B5C"/>
                </a:solidFill>
                <a:effectLst/>
                <a:uFillTx/>
                <a:latin typeface="Aptos"/>
                <a:ea typeface="Aptos"/>
              </a:rPr>
              <a:t>Choosing a point on the axis</a:t>
            </a:r>
            <a:endParaRPr lang="en-US" sz="1600" b="0" u="none" strike="noStrike">
              <a:solidFill>
                <a:srgbClr val="000000"/>
              </a:solidFill>
              <a:effectLst/>
              <a:uFillTx/>
              <a:latin typeface="Arial"/>
            </a:endParaRPr>
          </a:p>
        </p:txBody>
      </p:sp>
      <p:sp>
        <p:nvSpPr>
          <p:cNvPr id="1140" name="Text 21"/>
          <p:cNvSpPr/>
          <p:nvPr/>
        </p:nvSpPr>
        <p:spPr>
          <a:xfrm>
            <a:off x="1124640" y="4883040"/>
            <a:ext cx="99118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0B1F3A"/>
                </a:solidFill>
                <a:effectLst/>
                <a:uFillTx/>
                <a:latin typeface="Aptos"/>
                <a:ea typeface="Aptos"/>
              </a:rPr>
              <a:t>A more expressive representation captures everything a less expressive one can, at least as concisely, plus more — but reasoning and learning get harder as expressive power rises. Intelligent systems for the real world may need to operate at every point on the axis at once.</a:t>
            </a:r>
            <a:endParaRPr lang="en-US" sz="1400" b="0" u="none" strike="noStrike">
              <a:solidFill>
                <a:srgbClr val="000000"/>
              </a:solidFill>
              <a:effectLst/>
              <a:uFillTx/>
              <a:latin typeface="Arial"/>
            </a:endParaRPr>
          </a:p>
        </p:txBody>
      </p:sp>
      <p:sp>
        <p:nvSpPr>
          <p:cNvPr id="1141" name="Text 22"/>
          <p:cNvSpPr/>
          <p:nvPr/>
        </p:nvSpPr>
        <p:spPr>
          <a:xfrm>
            <a:off x="1005840" y="5852160"/>
            <a:ext cx="10149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1" u="none" strike="noStrike">
                <a:solidFill>
                  <a:srgbClr val="5E7088"/>
                </a:solidFill>
                <a:effectLst/>
                <a:uFillTx/>
                <a:latin typeface="Aptos"/>
                <a:ea typeface="Aptos"/>
              </a:rPr>
              <a:t>Rule of thumb: take the least expressive representation that still captures what the task requires.</a:t>
            </a:r>
            <a:endParaRPr lang="en-US" sz="1400" b="0" u="none" strike="noStrike">
              <a:solidFill>
                <a:srgbClr val="000000"/>
              </a:solidFill>
              <a:effectLst/>
              <a:uFillTx/>
              <a:latin typeface="Arial"/>
            </a:endParaRPr>
          </a:p>
        </p:txBody>
      </p:sp>
      <p:sp>
        <p:nvSpPr>
          <p:cNvPr id="1142" name="Text 23"/>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143" name="Text 24"/>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42</a:t>
            </a:r>
            <a:endParaRPr lang="en-US" sz="85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144"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45"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146"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2.4.7 Localist and Distributed Representations</a:t>
            </a:r>
            <a:endParaRPr lang="en-US" sz="2300" b="0" u="none" strike="noStrike">
              <a:solidFill>
                <a:srgbClr val="000000"/>
              </a:solidFill>
              <a:effectLst/>
              <a:uFillTx/>
              <a:latin typeface="Arial"/>
            </a:endParaRPr>
          </a:p>
        </p:txBody>
      </p:sp>
      <p:sp>
        <p:nvSpPr>
          <p:cNvPr id="1147"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2.4.7</a:t>
            </a:r>
            <a:endParaRPr lang="en-US" sz="1200" b="0" u="none" strike="noStrike">
              <a:solidFill>
                <a:srgbClr val="000000"/>
              </a:solidFill>
              <a:effectLst/>
              <a:uFillTx/>
              <a:latin typeface="Arial"/>
            </a:endParaRPr>
          </a:p>
        </p:txBody>
      </p:sp>
      <p:sp>
        <p:nvSpPr>
          <p:cNvPr id="1148" name="Text 5"/>
          <p:cNvSpPr/>
          <p:nvPr/>
        </p:nvSpPr>
        <p:spPr>
          <a:xfrm>
            <a:off x="1005840" y="1097280"/>
            <a:ext cx="101494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B2B5C"/>
                </a:solidFill>
                <a:effectLst/>
                <a:uFillTx/>
                <a:latin typeface="Aptos"/>
                <a:ea typeface="Aptos"/>
              </a:rPr>
              <a:t>A second axis: how do concepts map onto locations in memory — or in a brain?</a:t>
            </a:r>
            <a:endParaRPr lang="en-US" sz="1600" b="0" u="none" strike="noStrike">
              <a:solidFill>
                <a:srgbClr val="000000"/>
              </a:solidFill>
              <a:effectLst/>
              <a:uFillTx/>
              <a:latin typeface="Arial"/>
            </a:endParaRPr>
          </a:p>
        </p:txBody>
      </p:sp>
      <p:sp>
        <p:nvSpPr>
          <p:cNvPr id="1149" name="Shape 6"/>
          <p:cNvSpPr/>
          <p:nvPr/>
        </p:nvSpPr>
        <p:spPr>
          <a:xfrm>
            <a:off x="868680" y="1572840"/>
            <a:ext cx="5074560" cy="30171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0" name="Text 7"/>
          <p:cNvSpPr/>
          <p:nvPr/>
        </p:nvSpPr>
        <p:spPr>
          <a:xfrm>
            <a:off x="1069920" y="1737360"/>
            <a:ext cx="4672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2B6CB0"/>
                </a:solidFill>
                <a:effectLst/>
                <a:uFillTx/>
                <a:latin typeface="Aptos"/>
                <a:ea typeface="Aptos"/>
              </a:rPr>
              <a:t>Localist</a:t>
            </a:r>
            <a:endParaRPr lang="en-US" sz="1900" b="0" u="none" strike="noStrike">
              <a:solidFill>
                <a:srgbClr val="000000"/>
              </a:solidFill>
              <a:effectLst/>
              <a:uFillTx/>
              <a:latin typeface="Arial"/>
            </a:endParaRPr>
          </a:p>
        </p:txBody>
      </p:sp>
      <p:sp>
        <p:nvSpPr>
          <p:cNvPr id="1151" name="Text 8"/>
          <p:cNvSpPr/>
          <p:nvPr/>
        </p:nvSpPr>
        <p:spPr>
          <a:xfrm>
            <a:off x="1069920" y="2121480"/>
            <a:ext cx="4672080" cy="776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One concept, one memory location, and the mapping between them is arbitrary. Garble a few bits in transmission and Truck can become the entirely unrelated concept Truce.</a:t>
            </a:r>
            <a:endParaRPr lang="en-US" sz="1300" b="0" u="none" strike="noStrike">
              <a:solidFill>
                <a:srgbClr val="000000"/>
              </a:solidFill>
              <a:effectLst/>
              <a:uFillTx/>
              <a:latin typeface="Arial"/>
            </a:endParaRPr>
          </a:p>
        </p:txBody>
      </p:sp>
      <p:sp>
        <p:nvSpPr>
          <p:cNvPr id="1152" name="Shape 9"/>
          <p:cNvSpPr/>
          <p:nvPr/>
        </p:nvSpPr>
        <p:spPr>
          <a:xfrm>
            <a:off x="125280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3" name="Shape 10"/>
          <p:cNvSpPr/>
          <p:nvPr/>
        </p:nvSpPr>
        <p:spPr>
          <a:xfrm>
            <a:off x="1847160" y="3127320"/>
            <a:ext cx="502560" cy="502560"/>
          </a:xfrm>
          <a:prstGeom prst="roundRect">
            <a:avLst>
              <a:gd name="adj" fmla="val 12000"/>
            </a:avLst>
          </a:prstGeom>
          <a:solidFill>
            <a:srgbClr val="0B2B5C"/>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4" name="Shape 11"/>
          <p:cNvSpPr/>
          <p:nvPr/>
        </p:nvSpPr>
        <p:spPr>
          <a:xfrm>
            <a:off x="244152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5" name="Shape 12"/>
          <p:cNvSpPr/>
          <p:nvPr/>
        </p:nvSpPr>
        <p:spPr>
          <a:xfrm>
            <a:off x="303588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6" name="Shape 13"/>
          <p:cNvSpPr/>
          <p:nvPr/>
        </p:nvSpPr>
        <p:spPr>
          <a:xfrm>
            <a:off x="3630240" y="3127320"/>
            <a:ext cx="502560" cy="502560"/>
          </a:xfrm>
          <a:prstGeom prst="roundRect">
            <a:avLst>
              <a:gd name="adj" fmla="val 12000"/>
            </a:avLst>
          </a:prstGeom>
          <a:solidFill>
            <a:srgbClr val="F5A21B"/>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7" name="Shape 14"/>
          <p:cNvSpPr/>
          <p:nvPr/>
        </p:nvSpPr>
        <p:spPr>
          <a:xfrm>
            <a:off x="422460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8" name="Shape 15"/>
          <p:cNvSpPr/>
          <p:nvPr/>
        </p:nvSpPr>
        <p:spPr>
          <a:xfrm>
            <a:off x="4818960" y="3127320"/>
            <a:ext cx="502560" cy="502560"/>
          </a:xfrm>
          <a:prstGeom prst="roundRect">
            <a:avLst>
              <a:gd name="adj" fmla="val 12000"/>
            </a:avLst>
          </a:prstGeom>
          <a:solidFill>
            <a:srgbClr val="E4ECF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9" name="Text 16"/>
          <p:cNvSpPr/>
          <p:nvPr/>
        </p:nvSpPr>
        <p:spPr>
          <a:xfrm>
            <a:off x="1618560" y="3712320"/>
            <a:ext cx="9597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u="none" strike="noStrike">
                <a:solidFill>
                  <a:srgbClr val="0B2B5C"/>
                </a:solidFill>
                <a:effectLst/>
                <a:uFillTx/>
                <a:latin typeface="Aptos"/>
                <a:ea typeface="Aptos"/>
              </a:rPr>
              <a:t>Truck</a:t>
            </a:r>
            <a:endParaRPr lang="en-US" sz="1050" b="0" u="none" strike="noStrike">
              <a:solidFill>
                <a:srgbClr val="000000"/>
              </a:solidFill>
              <a:effectLst/>
              <a:uFillTx/>
              <a:latin typeface="Arial"/>
            </a:endParaRPr>
          </a:p>
        </p:txBody>
      </p:sp>
      <p:sp>
        <p:nvSpPr>
          <p:cNvPr id="1160" name="Text 17"/>
          <p:cNvSpPr/>
          <p:nvPr/>
        </p:nvSpPr>
        <p:spPr>
          <a:xfrm>
            <a:off x="3401640" y="3712320"/>
            <a:ext cx="9597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u="none" strike="noStrike">
                <a:solidFill>
                  <a:srgbClr val="8A6A3A"/>
                </a:solidFill>
                <a:effectLst/>
                <a:uFillTx/>
                <a:latin typeface="Aptos"/>
                <a:ea typeface="Aptos"/>
              </a:rPr>
              <a:t>Truce</a:t>
            </a:r>
            <a:endParaRPr lang="en-US" sz="1050" b="0" u="none" strike="noStrike">
              <a:solidFill>
                <a:srgbClr val="000000"/>
              </a:solidFill>
              <a:effectLst/>
              <a:uFillTx/>
              <a:latin typeface="Arial"/>
            </a:endParaRPr>
          </a:p>
        </p:txBody>
      </p:sp>
      <p:sp>
        <p:nvSpPr>
          <p:cNvPr id="1161" name="Text 18"/>
          <p:cNvSpPr/>
          <p:nvPr/>
        </p:nvSpPr>
        <p:spPr>
          <a:xfrm>
            <a:off x="1069920" y="4041720"/>
            <a:ext cx="46720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u="none" strike="noStrike">
                <a:solidFill>
                  <a:srgbClr val="5E7088"/>
                </a:solidFill>
                <a:effectLst/>
                <a:uFillTx/>
                <a:latin typeface="Aptos"/>
                <a:ea typeface="Aptos"/>
              </a:rPr>
              <a:t>Two cells apart in memory, two meanings with nothing in common.</a:t>
            </a:r>
            <a:endParaRPr lang="en-US" sz="1200" b="0" u="none" strike="noStrike">
              <a:solidFill>
                <a:srgbClr val="000000"/>
              </a:solidFill>
              <a:effectLst/>
              <a:uFillTx/>
              <a:latin typeface="Arial"/>
            </a:endParaRPr>
          </a:p>
        </p:txBody>
      </p:sp>
      <p:sp>
        <p:nvSpPr>
          <p:cNvPr id="1162" name="Shape 19"/>
          <p:cNvSpPr/>
          <p:nvPr/>
        </p:nvSpPr>
        <p:spPr>
          <a:xfrm>
            <a:off x="6217920" y="1572840"/>
            <a:ext cx="5074560" cy="30171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3" name="Text 20"/>
          <p:cNvSpPr/>
          <p:nvPr/>
        </p:nvSpPr>
        <p:spPr>
          <a:xfrm>
            <a:off x="6419160" y="1737360"/>
            <a:ext cx="4672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1" u="none" strike="noStrike">
                <a:solidFill>
                  <a:srgbClr val="1B7A45"/>
                </a:solidFill>
                <a:effectLst/>
                <a:uFillTx/>
                <a:latin typeface="Aptos"/>
                <a:ea typeface="Aptos"/>
              </a:rPr>
              <a:t>Distributed</a:t>
            </a:r>
            <a:endParaRPr lang="en-US" sz="1900" b="0" u="none" strike="noStrike">
              <a:solidFill>
                <a:srgbClr val="000000"/>
              </a:solidFill>
              <a:effectLst/>
              <a:uFillTx/>
              <a:latin typeface="Arial"/>
            </a:endParaRPr>
          </a:p>
        </p:txBody>
      </p:sp>
      <p:sp>
        <p:nvSpPr>
          <p:cNvPr id="1164" name="Text 21"/>
          <p:cNvSpPr/>
          <p:nvPr/>
        </p:nvSpPr>
        <p:spPr>
          <a:xfrm>
            <a:off x="6419160" y="2121480"/>
            <a:ext cx="4672080" cy="776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300" b="0" u="none" strike="noStrike">
                <a:solidFill>
                  <a:srgbClr val="0B1F3A"/>
                </a:solidFill>
                <a:effectLst/>
                <a:uFillTx/>
                <a:latin typeface="Aptos"/>
                <a:ea typeface="Aptos"/>
              </a:rPr>
              <a:t>Each concept is spread across many locations, and each location contributes to many concepts. A concept becomes a point in a multidimensional space.</a:t>
            </a:r>
            <a:endParaRPr lang="en-US" sz="1300" b="0" u="none" strike="noStrike">
              <a:solidFill>
                <a:srgbClr val="000000"/>
              </a:solidFill>
              <a:effectLst/>
              <a:uFillTx/>
              <a:latin typeface="Arial"/>
            </a:endParaRPr>
          </a:p>
        </p:txBody>
      </p:sp>
      <p:sp>
        <p:nvSpPr>
          <p:cNvPr id="1165" name="Shape 22"/>
          <p:cNvSpPr/>
          <p:nvPr/>
        </p:nvSpPr>
        <p:spPr>
          <a:xfrm>
            <a:off x="6602040" y="3127320"/>
            <a:ext cx="502560" cy="502560"/>
          </a:xfrm>
          <a:prstGeom prst="roundRect">
            <a:avLst>
              <a:gd name="adj" fmla="val 12000"/>
            </a:avLst>
          </a:prstGeom>
          <a:solidFill>
            <a:srgbClr val="1B7A4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6" name="Shape 23"/>
          <p:cNvSpPr/>
          <p:nvPr/>
        </p:nvSpPr>
        <p:spPr>
          <a:xfrm>
            <a:off x="7196400" y="3127320"/>
            <a:ext cx="502560" cy="502560"/>
          </a:xfrm>
          <a:prstGeom prst="roundRect">
            <a:avLst>
              <a:gd name="adj" fmla="val 12000"/>
            </a:avLst>
          </a:prstGeom>
          <a:solidFill>
            <a:srgbClr val="8FC7A8"/>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7" name="Shape 24"/>
          <p:cNvSpPr/>
          <p:nvPr/>
        </p:nvSpPr>
        <p:spPr>
          <a:xfrm>
            <a:off x="7790760" y="3127320"/>
            <a:ext cx="502560" cy="502560"/>
          </a:xfrm>
          <a:prstGeom prst="roundRect">
            <a:avLst>
              <a:gd name="adj" fmla="val 12000"/>
            </a:avLst>
          </a:prstGeom>
          <a:solidFill>
            <a:srgbClr val="C8E2D4"/>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8" name="Shape 25"/>
          <p:cNvSpPr/>
          <p:nvPr/>
        </p:nvSpPr>
        <p:spPr>
          <a:xfrm>
            <a:off x="8385120" y="3127320"/>
            <a:ext cx="502560" cy="502560"/>
          </a:xfrm>
          <a:prstGeom prst="roundRect">
            <a:avLst>
              <a:gd name="adj" fmla="val 12000"/>
            </a:avLst>
          </a:prstGeom>
          <a:solidFill>
            <a:srgbClr val="5FAE85"/>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9" name="Shape 26"/>
          <p:cNvSpPr/>
          <p:nvPr/>
        </p:nvSpPr>
        <p:spPr>
          <a:xfrm>
            <a:off x="8979480" y="3127320"/>
            <a:ext cx="502560" cy="502560"/>
          </a:xfrm>
          <a:prstGeom prst="roundRect">
            <a:avLst>
              <a:gd name="adj" fmla="val 12000"/>
            </a:avLst>
          </a:prstGeom>
          <a:solidFill>
            <a:srgbClr val="E2F0E8"/>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0" name="Shape 27"/>
          <p:cNvSpPr/>
          <p:nvPr/>
        </p:nvSpPr>
        <p:spPr>
          <a:xfrm>
            <a:off x="9573840" y="3127320"/>
            <a:ext cx="502560" cy="502560"/>
          </a:xfrm>
          <a:prstGeom prst="roundRect">
            <a:avLst>
              <a:gd name="adj" fmla="val 12000"/>
            </a:avLst>
          </a:prstGeom>
          <a:solidFill>
            <a:srgbClr val="A9D5BE"/>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1" name="Shape 28"/>
          <p:cNvSpPr/>
          <p:nvPr/>
        </p:nvSpPr>
        <p:spPr>
          <a:xfrm>
            <a:off x="10168200" y="3127320"/>
            <a:ext cx="502560" cy="502560"/>
          </a:xfrm>
          <a:prstGeom prst="roundRect">
            <a:avLst>
              <a:gd name="adj" fmla="val 12000"/>
            </a:avLst>
          </a:prstGeom>
          <a:solidFill>
            <a:srgbClr val="77BC98"/>
          </a:solidFill>
          <a:ln w="12700">
            <a:solidFill>
              <a:srgbClr val="D3DE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2" name="Text 29"/>
          <p:cNvSpPr/>
          <p:nvPr/>
        </p:nvSpPr>
        <p:spPr>
          <a:xfrm>
            <a:off x="6419160" y="3712320"/>
            <a:ext cx="46720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u="none" strike="noStrike">
                <a:solidFill>
                  <a:srgbClr val="1B7A45"/>
                </a:solidFill>
                <a:effectLst/>
                <a:uFillTx/>
                <a:latin typeface="Aptos"/>
                <a:ea typeface="Aptos"/>
              </a:rPr>
              <a:t>one concept, spread across every cell</a:t>
            </a:r>
            <a:endParaRPr lang="en-US" sz="1050" b="0" u="none" strike="noStrike">
              <a:solidFill>
                <a:srgbClr val="000000"/>
              </a:solidFill>
              <a:effectLst/>
              <a:uFillTx/>
              <a:latin typeface="Arial"/>
            </a:endParaRPr>
          </a:p>
        </p:txBody>
      </p:sp>
      <p:sp>
        <p:nvSpPr>
          <p:cNvPr id="1173" name="Text 30"/>
          <p:cNvSpPr/>
          <p:nvPr/>
        </p:nvSpPr>
        <p:spPr>
          <a:xfrm>
            <a:off x="6419160" y="4041720"/>
            <a:ext cx="46720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u="none" strike="noStrike">
                <a:solidFill>
                  <a:srgbClr val="5E7088"/>
                </a:solidFill>
                <a:effectLst/>
                <a:uFillTx/>
                <a:latin typeface="Aptos"/>
                <a:ea typeface="Aptos"/>
              </a:rPr>
              <a:t>Garble a few bits and you move to a nearby point, which carries a similar meaning.</a:t>
            </a:r>
            <a:endParaRPr lang="en-US" sz="1200" b="0" u="none" strike="noStrike">
              <a:solidFill>
                <a:srgbClr val="000000"/>
              </a:solidFill>
              <a:effectLst/>
              <a:uFillTx/>
              <a:latin typeface="Arial"/>
            </a:endParaRPr>
          </a:p>
        </p:txBody>
      </p:sp>
      <p:sp>
        <p:nvSpPr>
          <p:cNvPr id="1174" name="Text 31"/>
          <p:cNvSpPr/>
          <p:nvPr/>
        </p:nvSpPr>
        <p:spPr>
          <a:xfrm>
            <a:off x="914400" y="486468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50" b="1" u="none" strike="noStrike">
                <a:solidFill>
                  <a:srgbClr val="0B2B5C"/>
                </a:solidFill>
                <a:effectLst/>
                <a:uFillTx/>
                <a:latin typeface="Aptos"/>
                <a:ea typeface="Aptos"/>
              </a:rPr>
              <a:t>Distributed representations are more robust to noise and information loss</a:t>
            </a:r>
            <a:endParaRPr lang="en-US" sz="1950" b="0" u="none" strike="noStrike">
              <a:solidFill>
                <a:srgbClr val="000000"/>
              </a:solidFill>
              <a:effectLst/>
              <a:uFillTx/>
              <a:latin typeface="Arial"/>
            </a:endParaRPr>
          </a:p>
        </p:txBody>
      </p:sp>
      <p:sp>
        <p:nvSpPr>
          <p:cNvPr id="1175" name="Text 32"/>
          <p:cNvSpPr/>
          <p:nvPr/>
        </p:nvSpPr>
        <p:spPr>
          <a:xfrm>
            <a:off x="1005840" y="5376600"/>
            <a:ext cx="101494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This axis is independent of atomic, factored, and structured — it asks where the information physically lives rather than how much it can express. It is also the bridge from Chapter 2 to the learned vector representations behind modern neural systems (Chapter 21).</a:t>
            </a:r>
            <a:endParaRPr lang="en-US" sz="1400" b="0" u="none" strike="noStrike">
              <a:solidFill>
                <a:srgbClr val="000000"/>
              </a:solidFill>
              <a:effectLst/>
              <a:uFillTx/>
              <a:latin typeface="Arial"/>
            </a:endParaRPr>
          </a:p>
        </p:txBody>
      </p:sp>
      <p:sp>
        <p:nvSpPr>
          <p:cNvPr id="1176" name="Text 33"/>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177" name="Text 34"/>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43</a:t>
            </a:r>
            <a:endParaRPr lang="en-US" sz="85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178"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79"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180"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All Agent Program Designs in Chapter 2</a:t>
            </a:r>
            <a:endParaRPr lang="en-US" sz="2300" b="0" u="none" strike="noStrike">
              <a:solidFill>
                <a:srgbClr val="000000"/>
              </a:solidFill>
              <a:effectLst/>
              <a:uFillTx/>
              <a:latin typeface="Arial"/>
            </a:endParaRPr>
          </a:p>
        </p:txBody>
      </p:sp>
      <p:sp>
        <p:nvSpPr>
          <p:cNvPr id="1181"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Synthesis</a:t>
            </a:r>
            <a:endParaRPr lang="en-US" sz="1200" b="0" u="none" strike="noStrike">
              <a:solidFill>
                <a:srgbClr val="000000"/>
              </a:solidFill>
              <a:effectLst/>
              <a:uFillTx/>
              <a:latin typeface="Arial"/>
            </a:endParaRPr>
          </a:p>
        </p:txBody>
      </p:sp>
      <p:sp>
        <p:nvSpPr>
          <p:cNvPr id="1182"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183"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44</a:t>
            </a:r>
            <a:endParaRPr lang="en-US" sz="1800" b="0" u="none" strike="noStrike">
              <a:solidFill>
                <a:srgbClr val="000000"/>
              </a:solidFill>
              <a:effectLst/>
              <a:uFillTx/>
              <a:latin typeface="Arial"/>
            </a:endParaRPr>
          </a:p>
        </p:txBody>
      </p:sp>
      <p:sp>
        <p:nvSpPr>
          <p:cNvPr id="1184" name="Shape 6"/>
          <p:cNvSpPr/>
          <p:nvPr/>
        </p:nvSpPr>
        <p:spPr>
          <a:xfrm>
            <a:off x="502920" y="114300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5" name="Text 7"/>
          <p:cNvSpPr/>
          <p:nvPr/>
        </p:nvSpPr>
        <p:spPr>
          <a:xfrm>
            <a:off x="667440" y="12891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A32020"/>
                </a:solidFill>
                <a:effectLst/>
                <a:uFillTx/>
                <a:latin typeface="Aptos"/>
              </a:rPr>
              <a:t>Table-driven</a:t>
            </a:r>
            <a:endParaRPr lang="en-US" sz="1800" b="0" u="none" strike="noStrike">
              <a:solidFill>
                <a:srgbClr val="000000"/>
              </a:solidFill>
              <a:effectLst/>
              <a:uFillTx/>
              <a:latin typeface="Arial"/>
            </a:endParaRPr>
          </a:p>
        </p:txBody>
      </p:sp>
      <p:sp>
        <p:nvSpPr>
          <p:cNvPr id="1186" name="Text 8"/>
          <p:cNvSpPr/>
          <p:nvPr/>
        </p:nvSpPr>
        <p:spPr>
          <a:xfrm>
            <a:off x="667440" y="161856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Stores percept history and looks up an action in a table.</a:t>
            </a:r>
            <a:endParaRPr lang="en-US" sz="1300" b="0" u="none" strike="noStrike">
              <a:solidFill>
                <a:srgbClr val="000000"/>
              </a:solidFill>
              <a:effectLst/>
              <a:uFillTx/>
              <a:latin typeface="Arial"/>
            </a:endParaRPr>
          </a:p>
        </p:txBody>
      </p:sp>
      <p:sp>
        <p:nvSpPr>
          <p:cNvPr id="1187" name="Shape 9"/>
          <p:cNvSpPr/>
          <p:nvPr/>
        </p:nvSpPr>
        <p:spPr>
          <a:xfrm>
            <a:off x="4389120" y="114300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8" name="Text 10"/>
          <p:cNvSpPr/>
          <p:nvPr/>
        </p:nvSpPr>
        <p:spPr>
          <a:xfrm>
            <a:off x="4553640" y="12891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Simple reflex</a:t>
            </a:r>
            <a:endParaRPr lang="en-US" sz="1800" b="0" u="none" strike="noStrike">
              <a:solidFill>
                <a:srgbClr val="000000"/>
              </a:solidFill>
              <a:effectLst/>
              <a:uFillTx/>
              <a:latin typeface="Arial"/>
            </a:endParaRPr>
          </a:p>
        </p:txBody>
      </p:sp>
      <p:sp>
        <p:nvSpPr>
          <p:cNvPr id="1189" name="Text 11"/>
          <p:cNvSpPr/>
          <p:nvPr/>
        </p:nvSpPr>
        <p:spPr>
          <a:xfrm>
            <a:off x="4553640" y="161856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Maps current percept to action using condition-action rules.</a:t>
            </a:r>
            <a:endParaRPr lang="en-US" sz="1300" b="0" u="none" strike="noStrike">
              <a:solidFill>
                <a:srgbClr val="000000"/>
              </a:solidFill>
              <a:effectLst/>
              <a:uFillTx/>
              <a:latin typeface="Arial"/>
            </a:endParaRPr>
          </a:p>
        </p:txBody>
      </p:sp>
      <p:sp>
        <p:nvSpPr>
          <p:cNvPr id="1190" name="Shape 12"/>
          <p:cNvSpPr/>
          <p:nvPr/>
        </p:nvSpPr>
        <p:spPr>
          <a:xfrm>
            <a:off x="8275320" y="114300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1" name="Text 13"/>
          <p:cNvSpPr/>
          <p:nvPr/>
        </p:nvSpPr>
        <p:spPr>
          <a:xfrm>
            <a:off x="8439840" y="128916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048A97"/>
                </a:solidFill>
                <a:effectLst/>
                <a:uFillTx/>
                <a:latin typeface="Aptos"/>
              </a:rPr>
              <a:t>Model-based reflex</a:t>
            </a:r>
            <a:endParaRPr lang="en-US" sz="1800" b="0" u="none" strike="noStrike">
              <a:solidFill>
                <a:srgbClr val="000000"/>
              </a:solidFill>
              <a:effectLst/>
              <a:uFillTx/>
              <a:latin typeface="Arial"/>
            </a:endParaRPr>
          </a:p>
        </p:txBody>
      </p:sp>
      <p:sp>
        <p:nvSpPr>
          <p:cNvPr id="1192" name="Text 14"/>
          <p:cNvSpPr/>
          <p:nvPr/>
        </p:nvSpPr>
        <p:spPr>
          <a:xfrm>
            <a:off x="8439840" y="161856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Maintains internal state using transition and sensor models.</a:t>
            </a:r>
            <a:endParaRPr lang="en-US" sz="1300" b="0" u="none" strike="noStrike">
              <a:solidFill>
                <a:srgbClr val="000000"/>
              </a:solidFill>
              <a:effectLst/>
              <a:uFillTx/>
              <a:latin typeface="Arial"/>
            </a:endParaRPr>
          </a:p>
        </p:txBody>
      </p:sp>
      <p:sp>
        <p:nvSpPr>
          <p:cNvPr id="1193" name="Shape 15"/>
          <p:cNvSpPr/>
          <p:nvPr/>
        </p:nvSpPr>
        <p:spPr>
          <a:xfrm>
            <a:off x="502920" y="301752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4" name="Text 16"/>
          <p:cNvSpPr/>
          <p:nvPr/>
        </p:nvSpPr>
        <p:spPr>
          <a:xfrm>
            <a:off x="667440" y="316368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Goal-based</a:t>
            </a:r>
            <a:endParaRPr lang="en-US" sz="1800" b="0" u="none" strike="noStrike">
              <a:solidFill>
                <a:srgbClr val="000000"/>
              </a:solidFill>
              <a:effectLst/>
              <a:uFillTx/>
              <a:latin typeface="Arial"/>
            </a:endParaRPr>
          </a:p>
        </p:txBody>
      </p:sp>
      <p:sp>
        <p:nvSpPr>
          <p:cNvPr id="1195" name="Text 17"/>
          <p:cNvSpPr/>
          <p:nvPr/>
        </p:nvSpPr>
        <p:spPr>
          <a:xfrm>
            <a:off x="667440" y="349308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Chooses actions by reasoning toward goals.</a:t>
            </a:r>
            <a:endParaRPr lang="en-US" sz="1300" b="0" u="none" strike="noStrike">
              <a:solidFill>
                <a:srgbClr val="000000"/>
              </a:solidFill>
              <a:effectLst/>
              <a:uFillTx/>
              <a:latin typeface="Arial"/>
            </a:endParaRPr>
          </a:p>
        </p:txBody>
      </p:sp>
      <p:sp>
        <p:nvSpPr>
          <p:cNvPr id="1196" name="Shape 18"/>
          <p:cNvSpPr/>
          <p:nvPr/>
        </p:nvSpPr>
        <p:spPr>
          <a:xfrm>
            <a:off x="4389120" y="301752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7" name="Text 19"/>
          <p:cNvSpPr/>
          <p:nvPr/>
        </p:nvSpPr>
        <p:spPr>
          <a:xfrm>
            <a:off x="4553640" y="316368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5B35B1"/>
                </a:solidFill>
                <a:effectLst/>
                <a:uFillTx/>
                <a:latin typeface="Aptos"/>
              </a:rPr>
              <a:t>Utility-based</a:t>
            </a:r>
            <a:endParaRPr lang="en-US" sz="1800" b="0" u="none" strike="noStrike">
              <a:solidFill>
                <a:srgbClr val="000000"/>
              </a:solidFill>
              <a:effectLst/>
              <a:uFillTx/>
              <a:latin typeface="Arial"/>
            </a:endParaRPr>
          </a:p>
        </p:txBody>
      </p:sp>
      <p:sp>
        <p:nvSpPr>
          <p:cNvPr id="1198" name="Text 20"/>
          <p:cNvSpPr/>
          <p:nvPr/>
        </p:nvSpPr>
        <p:spPr>
          <a:xfrm>
            <a:off x="4553640" y="349308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Ranks outcomes and maximizes expected utility.</a:t>
            </a:r>
            <a:endParaRPr lang="en-US" sz="1300" b="0" u="none" strike="noStrike">
              <a:solidFill>
                <a:srgbClr val="000000"/>
              </a:solidFill>
              <a:effectLst/>
              <a:uFillTx/>
              <a:latin typeface="Arial"/>
            </a:endParaRPr>
          </a:p>
        </p:txBody>
      </p:sp>
      <p:sp>
        <p:nvSpPr>
          <p:cNvPr id="1199" name="Shape 21"/>
          <p:cNvSpPr/>
          <p:nvPr/>
        </p:nvSpPr>
        <p:spPr>
          <a:xfrm>
            <a:off x="8275320" y="3017520"/>
            <a:ext cx="3473640" cy="1416240"/>
          </a:xfrm>
          <a:prstGeom prst="roundRect">
            <a:avLst>
              <a:gd name="adj" fmla="val 3871"/>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0" name="Text 22"/>
          <p:cNvSpPr/>
          <p:nvPr/>
        </p:nvSpPr>
        <p:spPr>
          <a:xfrm>
            <a:off x="8439840" y="3163680"/>
            <a:ext cx="31446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Learning</a:t>
            </a:r>
            <a:endParaRPr lang="en-US" sz="1800" b="0" u="none" strike="noStrike">
              <a:solidFill>
                <a:srgbClr val="000000"/>
              </a:solidFill>
              <a:effectLst/>
              <a:uFillTx/>
              <a:latin typeface="Arial"/>
            </a:endParaRPr>
          </a:p>
        </p:txBody>
      </p:sp>
      <p:sp>
        <p:nvSpPr>
          <p:cNvPr id="1201" name="Text 23"/>
          <p:cNvSpPr/>
          <p:nvPr/>
        </p:nvSpPr>
        <p:spPr>
          <a:xfrm>
            <a:off x="8439840" y="3493080"/>
            <a:ext cx="3144600" cy="821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00" b="0" u="none" strike="noStrike">
                <a:solidFill>
                  <a:srgbClr val="0B1F3A"/>
                </a:solidFill>
                <a:effectLst/>
                <a:uFillTx/>
                <a:latin typeface="Aptos"/>
              </a:rPr>
              <a:t>Improves components from feedback and experience.</a:t>
            </a:r>
            <a:endParaRPr lang="en-US" sz="1300" b="0" u="none" strike="noStrike">
              <a:solidFill>
                <a:srgbClr val="000000"/>
              </a:solidFill>
              <a:effectLst/>
              <a:uFillTx/>
              <a:latin typeface="Arial"/>
            </a:endParaRPr>
          </a:p>
        </p:txBody>
      </p:sp>
      <p:sp>
        <p:nvSpPr>
          <p:cNvPr id="1202" name="Text 24"/>
          <p:cNvSpPr/>
          <p:nvPr/>
        </p:nvSpPr>
        <p:spPr>
          <a:xfrm>
            <a:off x="731520" y="5532120"/>
            <a:ext cx="107888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These are design patterns, not rigid boxes. Real systems combine them, and not every utility-based agent needs a model of the world.</a:t>
            </a:r>
            <a:endParaRPr lang="en-US" sz="1800" b="0" u="none" strike="noStrike">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03"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04"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205"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Choosing an Agent Design from Environment Properties</a:t>
            </a:r>
            <a:endParaRPr lang="en-US" sz="2300" b="0" u="none" strike="noStrike">
              <a:solidFill>
                <a:srgbClr val="000000"/>
              </a:solidFill>
              <a:effectLst/>
              <a:uFillTx/>
              <a:latin typeface="Arial"/>
            </a:endParaRPr>
          </a:p>
        </p:txBody>
      </p:sp>
      <p:sp>
        <p:nvSpPr>
          <p:cNvPr id="1206"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Synthesis</a:t>
            </a:r>
            <a:endParaRPr lang="en-US" sz="1200" b="0" u="none" strike="noStrike">
              <a:solidFill>
                <a:srgbClr val="000000"/>
              </a:solidFill>
              <a:effectLst/>
              <a:uFillTx/>
              <a:latin typeface="Arial"/>
            </a:endParaRPr>
          </a:p>
        </p:txBody>
      </p:sp>
      <p:sp>
        <p:nvSpPr>
          <p:cNvPr id="1207"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208"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45</a:t>
            </a:r>
            <a:endParaRPr lang="en-US" sz="1800" b="0" u="none" strike="noStrike">
              <a:solidFill>
                <a:srgbClr val="000000"/>
              </a:solidFill>
              <a:effectLst/>
              <a:uFillTx/>
              <a:latin typeface="Arial"/>
            </a:endParaRPr>
          </a:p>
        </p:txBody>
      </p:sp>
      <p:sp>
        <p:nvSpPr>
          <p:cNvPr id="1209" name="Shape 6"/>
          <p:cNvSpPr/>
          <p:nvPr/>
        </p:nvSpPr>
        <p:spPr>
          <a:xfrm>
            <a:off x="658440" y="107892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0" name="Text 7"/>
          <p:cNvSpPr/>
          <p:nvPr/>
        </p:nvSpPr>
        <p:spPr>
          <a:xfrm>
            <a:off x="822960" y="122544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2B6CB0"/>
                </a:solidFill>
                <a:effectLst/>
                <a:uFillTx/>
                <a:latin typeface="Aptos"/>
              </a:rPr>
              <a:t>Fully observable + short horizon</a:t>
            </a:r>
            <a:endParaRPr lang="en-US" sz="1550" b="0" u="none" strike="noStrike">
              <a:solidFill>
                <a:srgbClr val="000000"/>
              </a:solidFill>
              <a:effectLst/>
              <a:uFillTx/>
              <a:latin typeface="Arial"/>
            </a:endParaRPr>
          </a:p>
        </p:txBody>
      </p:sp>
      <p:sp>
        <p:nvSpPr>
          <p:cNvPr id="1211" name="Text 8"/>
          <p:cNvSpPr/>
          <p:nvPr/>
        </p:nvSpPr>
        <p:spPr>
          <a:xfrm>
            <a:off x="822960" y="155448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Simple reflex</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Fast condition-action rules may be enough.</a:t>
            </a:r>
            <a:endParaRPr lang="en-US" sz="1250" b="0" u="none" strike="noStrike">
              <a:solidFill>
                <a:srgbClr val="000000"/>
              </a:solidFill>
              <a:effectLst/>
              <a:uFillTx/>
              <a:latin typeface="Arial"/>
            </a:endParaRPr>
          </a:p>
        </p:txBody>
      </p:sp>
      <p:sp>
        <p:nvSpPr>
          <p:cNvPr id="1212" name="Shape 9"/>
          <p:cNvSpPr/>
          <p:nvPr/>
        </p:nvSpPr>
        <p:spPr>
          <a:xfrm>
            <a:off x="6236280" y="107892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3" name="Text 10"/>
          <p:cNvSpPr/>
          <p:nvPr/>
        </p:nvSpPr>
        <p:spPr>
          <a:xfrm>
            <a:off x="6400800" y="122544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48A97"/>
                </a:solidFill>
                <a:effectLst/>
                <a:uFillTx/>
                <a:latin typeface="Aptos"/>
              </a:rPr>
              <a:t>Partially observable</a:t>
            </a:r>
            <a:endParaRPr lang="en-US" sz="1550" b="0" u="none" strike="noStrike">
              <a:solidFill>
                <a:srgbClr val="000000"/>
              </a:solidFill>
              <a:effectLst/>
              <a:uFillTx/>
              <a:latin typeface="Arial"/>
            </a:endParaRPr>
          </a:p>
        </p:txBody>
      </p:sp>
      <p:sp>
        <p:nvSpPr>
          <p:cNvPr id="1214" name="Text 11"/>
          <p:cNvSpPr/>
          <p:nvPr/>
        </p:nvSpPr>
        <p:spPr>
          <a:xfrm>
            <a:off x="6400800" y="155448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Model-based reflex</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Maintain internal state and update it using models.</a:t>
            </a:r>
            <a:endParaRPr lang="en-US" sz="1250" b="0" u="none" strike="noStrike">
              <a:solidFill>
                <a:srgbClr val="000000"/>
              </a:solidFill>
              <a:effectLst/>
              <a:uFillTx/>
              <a:latin typeface="Arial"/>
            </a:endParaRPr>
          </a:p>
        </p:txBody>
      </p:sp>
      <p:sp>
        <p:nvSpPr>
          <p:cNvPr id="1215" name="Shape 12"/>
          <p:cNvSpPr/>
          <p:nvPr/>
        </p:nvSpPr>
        <p:spPr>
          <a:xfrm>
            <a:off x="658440" y="258768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6" name="Text 13"/>
          <p:cNvSpPr/>
          <p:nvPr/>
        </p:nvSpPr>
        <p:spPr>
          <a:xfrm>
            <a:off x="822960" y="273420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F5A21B"/>
                </a:solidFill>
                <a:effectLst/>
                <a:uFillTx/>
                <a:latin typeface="Aptos"/>
              </a:rPr>
              <a:t>Long-term objective</a:t>
            </a:r>
            <a:endParaRPr lang="en-US" sz="1550" b="0" u="none" strike="noStrike">
              <a:solidFill>
                <a:srgbClr val="000000"/>
              </a:solidFill>
              <a:effectLst/>
              <a:uFillTx/>
              <a:latin typeface="Arial"/>
            </a:endParaRPr>
          </a:p>
        </p:txBody>
      </p:sp>
      <p:sp>
        <p:nvSpPr>
          <p:cNvPr id="1217" name="Text 14"/>
          <p:cNvSpPr/>
          <p:nvPr/>
        </p:nvSpPr>
        <p:spPr>
          <a:xfrm>
            <a:off x="822960" y="306324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Goal-based</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Search or planning over future action sequences.</a:t>
            </a:r>
            <a:endParaRPr lang="en-US" sz="1250" b="0" u="none" strike="noStrike">
              <a:solidFill>
                <a:srgbClr val="000000"/>
              </a:solidFill>
              <a:effectLst/>
              <a:uFillTx/>
              <a:latin typeface="Arial"/>
            </a:endParaRPr>
          </a:p>
        </p:txBody>
      </p:sp>
      <p:sp>
        <p:nvSpPr>
          <p:cNvPr id="1218" name="Shape 15"/>
          <p:cNvSpPr/>
          <p:nvPr/>
        </p:nvSpPr>
        <p:spPr>
          <a:xfrm>
            <a:off x="6236280" y="2587680"/>
            <a:ext cx="498240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9" name="Text 16"/>
          <p:cNvSpPr/>
          <p:nvPr/>
        </p:nvSpPr>
        <p:spPr>
          <a:xfrm>
            <a:off x="6400800" y="2734200"/>
            <a:ext cx="46533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5B35B1"/>
                </a:solidFill>
                <a:effectLst/>
                <a:uFillTx/>
                <a:latin typeface="Aptos"/>
              </a:rPr>
              <a:t>Tradeoffs / uncertainty</a:t>
            </a:r>
            <a:endParaRPr lang="en-US" sz="1550" b="0" u="none" strike="noStrike">
              <a:solidFill>
                <a:srgbClr val="000000"/>
              </a:solidFill>
              <a:effectLst/>
              <a:uFillTx/>
              <a:latin typeface="Arial"/>
            </a:endParaRPr>
          </a:p>
        </p:txBody>
      </p:sp>
      <p:sp>
        <p:nvSpPr>
          <p:cNvPr id="1220" name="Text 17"/>
          <p:cNvSpPr/>
          <p:nvPr/>
        </p:nvSpPr>
        <p:spPr>
          <a:xfrm>
            <a:off x="6400800" y="3063240"/>
            <a:ext cx="465336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Utility-based</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Compare outcomes by expected utility.</a:t>
            </a:r>
            <a:endParaRPr lang="en-US" sz="1250" b="0" u="none" strike="noStrike">
              <a:solidFill>
                <a:srgbClr val="000000"/>
              </a:solidFill>
              <a:effectLst/>
              <a:uFillTx/>
              <a:latin typeface="Arial"/>
            </a:endParaRPr>
          </a:p>
        </p:txBody>
      </p:sp>
      <p:sp>
        <p:nvSpPr>
          <p:cNvPr id="1221" name="Shape 18"/>
          <p:cNvSpPr/>
          <p:nvPr/>
        </p:nvSpPr>
        <p:spPr>
          <a:xfrm>
            <a:off x="658440" y="4096440"/>
            <a:ext cx="10788840" cy="1004760"/>
          </a:xfrm>
          <a:prstGeom prst="roundRect">
            <a:avLst>
              <a:gd name="adj" fmla="val 5455"/>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22" name="Text 19"/>
          <p:cNvSpPr/>
          <p:nvPr/>
        </p:nvSpPr>
        <p:spPr>
          <a:xfrm>
            <a:off x="822960" y="4242960"/>
            <a:ext cx="104598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1B7A45"/>
                </a:solidFill>
                <a:effectLst/>
                <a:uFillTx/>
                <a:latin typeface="Aptos"/>
              </a:rPr>
              <a:t>Unknown rules / changing world</a:t>
            </a:r>
            <a:endParaRPr lang="en-US" sz="1550" b="0" u="none" strike="noStrike">
              <a:solidFill>
                <a:srgbClr val="000000"/>
              </a:solidFill>
              <a:effectLst/>
              <a:uFillTx/>
              <a:latin typeface="Arial"/>
            </a:endParaRPr>
          </a:p>
        </p:txBody>
      </p:sp>
      <p:sp>
        <p:nvSpPr>
          <p:cNvPr id="1223" name="Text 20"/>
          <p:cNvSpPr/>
          <p:nvPr/>
        </p:nvSpPr>
        <p:spPr>
          <a:xfrm>
            <a:off x="822960" y="4572000"/>
            <a:ext cx="10459800" cy="410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Learning agent</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0B1F3A"/>
                </a:solidFill>
                <a:effectLst/>
                <a:uFillTx/>
                <a:latin typeface="Aptos"/>
              </a:rPr>
              <a:t>Improve model, utility, rules, or policy from feedback.</a:t>
            </a:r>
            <a:endParaRPr lang="en-US" sz="125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24"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25"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226"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Class Activity: Build a PEAS Description</a:t>
            </a:r>
            <a:endParaRPr lang="en-US" sz="2300" b="0" u="none" strike="noStrike">
              <a:solidFill>
                <a:srgbClr val="000000"/>
              </a:solidFill>
              <a:effectLst/>
              <a:uFillTx/>
              <a:latin typeface="Arial"/>
            </a:endParaRPr>
          </a:p>
        </p:txBody>
      </p:sp>
      <p:sp>
        <p:nvSpPr>
          <p:cNvPr id="1227"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Activity</a:t>
            </a:r>
            <a:endParaRPr lang="en-US" sz="1200" b="0" u="none" strike="noStrike">
              <a:solidFill>
                <a:srgbClr val="000000"/>
              </a:solidFill>
              <a:effectLst/>
              <a:uFillTx/>
              <a:latin typeface="Arial"/>
            </a:endParaRPr>
          </a:p>
        </p:txBody>
      </p:sp>
      <p:sp>
        <p:nvSpPr>
          <p:cNvPr id="1228"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229"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46</a:t>
            </a:r>
            <a:endParaRPr lang="en-US" sz="1800" b="0" u="none" strike="noStrike">
              <a:solidFill>
                <a:srgbClr val="000000"/>
              </a:solidFill>
              <a:effectLst/>
              <a:uFillTx/>
              <a:latin typeface="Arial"/>
            </a:endParaRPr>
          </a:p>
        </p:txBody>
      </p:sp>
      <p:sp>
        <p:nvSpPr>
          <p:cNvPr id="1230" name="Text 6"/>
          <p:cNvSpPr/>
          <p:nvPr/>
        </p:nvSpPr>
        <p:spPr>
          <a:xfrm>
            <a:off x="777240" y="1069920"/>
            <a:ext cx="10697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Choose one system, then fill in PEAS before proposing an algorithm.</a:t>
            </a:r>
            <a:endParaRPr lang="en-US" sz="2000" b="0" u="none" strike="noStrike">
              <a:solidFill>
                <a:srgbClr val="000000"/>
              </a:solidFill>
              <a:effectLst/>
              <a:uFillTx/>
              <a:latin typeface="Arial"/>
            </a:endParaRPr>
          </a:p>
        </p:txBody>
      </p:sp>
      <p:sp>
        <p:nvSpPr>
          <p:cNvPr id="1231" name="Shape 7"/>
          <p:cNvSpPr/>
          <p:nvPr/>
        </p:nvSpPr>
        <p:spPr>
          <a:xfrm>
            <a:off x="914400" y="1691640"/>
            <a:ext cx="2239200" cy="383040"/>
          </a:xfrm>
          <a:prstGeom prst="roundRect">
            <a:avLst>
              <a:gd name="adj" fmla="val 23810"/>
            </a:avLst>
          </a:prstGeom>
          <a:solidFill>
            <a:srgbClr val="2B6CB0"/>
          </a:solidFill>
          <a:ln w="12700">
            <a:solidFill>
              <a:srgbClr val="2B6CB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2" name="Text 8"/>
          <p:cNvSpPr/>
          <p:nvPr/>
        </p:nvSpPr>
        <p:spPr>
          <a:xfrm>
            <a:off x="9144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Autonomous Pac-Man</a:t>
            </a:r>
            <a:endParaRPr lang="en-US" sz="1200" b="0" u="none" strike="noStrike">
              <a:solidFill>
                <a:srgbClr val="000000"/>
              </a:solidFill>
              <a:effectLst/>
              <a:uFillTx/>
              <a:latin typeface="Arial"/>
            </a:endParaRPr>
          </a:p>
        </p:txBody>
      </p:sp>
      <p:sp>
        <p:nvSpPr>
          <p:cNvPr id="1233" name="Shape 9"/>
          <p:cNvSpPr/>
          <p:nvPr/>
        </p:nvSpPr>
        <p:spPr>
          <a:xfrm>
            <a:off x="3657600" y="1691640"/>
            <a:ext cx="2239200" cy="383040"/>
          </a:xfrm>
          <a:prstGeom prst="roundRect">
            <a:avLst>
              <a:gd name="adj" fmla="val 23810"/>
            </a:avLst>
          </a:prstGeom>
          <a:solidFill>
            <a:srgbClr val="048A97"/>
          </a:solidFill>
          <a:ln w="12700">
            <a:solidFill>
              <a:srgbClr val="048A9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4" name="Text 10"/>
          <p:cNvSpPr/>
          <p:nvPr/>
        </p:nvSpPr>
        <p:spPr>
          <a:xfrm>
            <a:off x="36576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Campus chatbot</a:t>
            </a:r>
            <a:endParaRPr lang="en-US" sz="1200" b="0" u="none" strike="noStrike">
              <a:solidFill>
                <a:srgbClr val="000000"/>
              </a:solidFill>
              <a:effectLst/>
              <a:uFillTx/>
              <a:latin typeface="Arial"/>
            </a:endParaRPr>
          </a:p>
        </p:txBody>
      </p:sp>
      <p:sp>
        <p:nvSpPr>
          <p:cNvPr id="1235" name="Shape 11"/>
          <p:cNvSpPr/>
          <p:nvPr/>
        </p:nvSpPr>
        <p:spPr>
          <a:xfrm>
            <a:off x="6400800" y="1691640"/>
            <a:ext cx="2239200" cy="383040"/>
          </a:xfrm>
          <a:prstGeom prst="roundRect">
            <a:avLst>
              <a:gd name="adj" fmla="val 23810"/>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6" name="Text 12"/>
          <p:cNvSpPr/>
          <p:nvPr/>
        </p:nvSpPr>
        <p:spPr>
          <a:xfrm>
            <a:off x="64008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Email phishing triage agent</a:t>
            </a:r>
            <a:endParaRPr lang="en-US" sz="1200" b="0" u="none" strike="noStrike">
              <a:solidFill>
                <a:srgbClr val="000000"/>
              </a:solidFill>
              <a:effectLst/>
              <a:uFillTx/>
              <a:latin typeface="Arial"/>
            </a:endParaRPr>
          </a:p>
        </p:txBody>
      </p:sp>
      <p:sp>
        <p:nvSpPr>
          <p:cNvPr id="1237" name="Shape 13"/>
          <p:cNvSpPr/>
          <p:nvPr/>
        </p:nvSpPr>
        <p:spPr>
          <a:xfrm>
            <a:off x="9144000" y="1691640"/>
            <a:ext cx="2239200" cy="383040"/>
          </a:xfrm>
          <a:prstGeom prst="roundRect">
            <a:avLst>
              <a:gd name="adj" fmla="val 23810"/>
            </a:avLst>
          </a:prstGeom>
          <a:solidFill>
            <a:srgbClr val="1B7A45"/>
          </a:solidFill>
          <a:ln w="12700">
            <a:solidFill>
              <a:srgbClr val="1B7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8" name="Text 14"/>
          <p:cNvSpPr/>
          <p:nvPr/>
        </p:nvSpPr>
        <p:spPr>
          <a:xfrm>
            <a:off x="9144000" y="1783080"/>
            <a:ext cx="22392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ptos"/>
              </a:rPr>
              <a:t>Robotic delivery cart</a:t>
            </a:r>
            <a:endParaRPr lang="en-US" sz="1200" b="0" u="none" strike="noStrike">
              <a:solidFill>
                <a:srgbClr val="000000"/>
              </a:solidFill>
              <a:effectLst/>
              <a:uFillTx/>
              <a:latin typeface="Arial"/>
            </a:endParaRPr>
          </a:p>
        </p:txBody>
      </p:sp>
      <p:sp>
        <p:nvSpPr>
          <p:cNvPr id="1239" name="Shape 15"/>
          <p:cNvSpPr/>
          <p:nvPr/>
        </p:nvSpPr>
        <p:spPr>
          <a:xfrm>
            <a:off x="914400" y="274320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0" name="Text 16"/>
          <p:cNvSpPr/>
          <p:nvPr/>
        </p:nvSpPr>
        <p:spPr>
          <a:xfrm>
            <a:off x="1078920" y="288936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2B6CB0"/>
                </a:solidFill>
                <a:effectLst/>
                <a:uFillTx/>
                <a:latin typeface="Aptos"/>
              </a:rPr>
              <a:t>Performance</a:t>
            </a:r>
            <a:endParaRPr lang="en-US" sz="1600" b="0" u="none" strike="noStrike">
              <a:solidFill>
                <a:srgbClr val="000000"/>
              </a:solidFill>
              <a:effectLst/>
              <a:uFillTx/>
              <a:latin typeface="Arial"/>
            </a:endParaRPr>
          </a:p>
        </p:txBody>
      </p:sp>
      <p:sp>
        <p:nvSpPr>
          <p:cNvPr id="1241" name="Text 17"/>
          <p:cNvSpPr/>
          <p:nvPr/>
        </p:nvSpPr>
        <p:spPr>
          <a:xfrm>
            <a:off x="1078920" y="321876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42" name="Shape 18"/>
          <p:cNvSpPr/>
          <p:nvPr/>
        </p:nvSpPr>
        <p:spPr>
          <a:xfrm>
            <a:off x="6263640" y="274320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3" name="Text 19"/>
          <p:cNvSpPr/>
          <p:nvPr/>
        </p:nvSpPr>
        <p:spPr>
          <a:xfrm>
            <a:off x="6428160" y="288936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48A97"/>
                </a:solidFill>
                <a:effectLst/>
                <a:uFillTx/>
                <a:latin typeface="Aptos"/>
              </a:rPr>
              <a:t>Environment</a:t>
            </a:r>
            <a:endParaRPr lang="en-US" sz="1600" b="0" u="none" strike="noStrike">
              <a:solidFill>
                <a:srgbClr val="000000"/>
              </a:solidFill>
              <a:effectLst/>
              <a:uFillTx/>
              <a:latin typeface="Arial"/>
            </a:endParaRPr>
          </a:p>
        </p:txBody>
      </p:sp>
      <p:sp>
        <p:nvSpPr>
          <p:cNvPr id="1244" name="Text 20"/>
          <p:cNvSpPr/>
          <p:nvPr/>
        </p:nvSpPr>
        <p:spPr>
          <a:xfrm>
            <a:off x="6428160" y="321876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45" name="Shape 21"/>
          <p:cNvSpPr/>
          <p:nvPr/>
        </p:nvSpPr>
        <p:spPr>
          <a:xfrm>
            <a:off x="914400" y="397764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6" name="Text 22"/>
          <p:cNvSpPr/>
          <p:nvPr/>
        </p:nvSpPr>
        <p:spPr>
          <a:xfrm>
            <a:off x="1078920" y="412380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5A21B"/>
                </a:solidFill>
                <a:effectLst/>
                <a:uFillTx/>
                <a:latin typeface="Aptos"/>
              </a:rPr>
              <a:t>Actuators</a:t>
            </a:r>
            <a:endParaRPr lang="en-US" sz="1600" b="0" u="none" strike="noStrike">
              <a:solidFill>
                <a:srgbClr val="000000"/>
              </a:solidFill>
              <a:effectLst/>
              <a:uFillTx/>
              <a:latin typeface="Arial"/>
            </a:endParaRPr>
          </a:p>
        </p:txBody>
      </p:sp>
      <p:sp>
        <p:nvSpPr>
          <p:cNvPr id="1247" name="Text 23"/>
          <p:cNvSpPr/>
          <p:nvPr/>
        </p:nvSpPr>
        <p:spPr>
          <a:xfrm>
            <a:off x="1078920" y="445320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48" name="Shape 24"/>
          <p:cNvSpPr/>
          <p:nvPr/>
        </p:nvSpPr>
        <p:spPr>
          <a:xfrm>
            <a:off x="6263640" y="3977640"/>
            <a:ext cx="4753800" cy="867600"/>
          </a:xfrm>
          <a:prstGeom prst="roundRect">
            <a:avLst>
              <a:gd name="adj" fmla="val 6316"/>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9" name="Text 25"/>
          <p:cNvSpPr/>
          <p:nvPr/>
        </p:nvSpPr>
        <p:spPr>
          <a:xfrm>
            <a:off x="6428160" y="4123800"/>
            <a:ext cx="44247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B7A45"/>
                </a:solidFill>
                <a:effectLst/>
                <a:uFillTx/>
                <a:latin typeface="Aptos"/>
              </a:rPr>
              <a:t>Sensors</a:t>
            </a:r>
            <a:endParaRPr lang="en-US" sz="1600" b="0" u="none" strike="noStrike">
              <a:solidFill>
                <a:srgbClr val="000000"/>
              </a:solidFill>
              <a:effectLst/>
              <a:uFillTx/>
              <a:latin typeface="Arial"/>
            </a:endParaRPr>
          </a:p>
        </p:txBody>
      </p:sp>
      <p:sp>
        <p:nvSpPr>
          <p:cNvPr id="1250" name="Text 26"/>
          <p:cNvSpPr/>
          <p:nvPr/>
        </p:nvSpPr>
        <p:spPr>
          <a:xfrm>
            <a:off x="6428160" y="4453200"/>
            <a:ext cx="4424760" cy="2732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50" b="0" u="none" strike="noStrike">
                <a:solidFill>
                  <a:srgbClr val="0B1F3A"/>
                </a:solidFill>
                <a:effectLst/>
                <a:uFillTx/>
                <a:latin typeface="Aptos"/>
              </a:rPr>
              <a:t>Write 2-3 concrete items.</a:t>
            </a:r>
            <a:endParaRPr lang="en-US" sz="1250" b="0" u="none" strike="noStrike">
              <a:solidFill>
                <a:srgbClr val="000000"/>
              </a:solidFill>
              <a:effectLst/>
              <a:uFillTx/>
              <a:latin typeface="Arial"/>
            </a:endParaRPr>
          </a:p>
        </p:txBody>
      </p:sp>
      <p:sp>
        <p:nvSpPr>
          <p:cNvPr id="1251" name="Text 27"/>
          <p:cNvSpPr/>
          <p:nvPr/>
        </p:nvSpPr>
        <p:spPr>
          <a:xfrm>
            <a:off x="914400" y="5577840"/>
            <a:ext cx="1033164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50" b="1" u="none" strike="noStrike">
                <a:solidFill>
                  <a:srgbClr val="0B2B5C"/>
                </a:solidFill>
                <a:effectLst/>
                <a:uFillTx/>
                <a:latin typeface="Aptos"/>
              </a:rPr>
              <a:t>Checkpoint: if you cannot fill in PEAS, you are not ready to choose an algorithm.</a:t>
            </a:r>
            <a:endParaRPr lang="en-US" sz="1650" b="0" u="none" strike="noStrike">
              <a:solidFill>
                <a:srgbClr val="000000"/>
              </a:solidFill>
              <a:effectLst/>
              <a:uFillTx/>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252"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53"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254"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Class Demo: Autonomous Pac-Man Agent</a:t>
            </a:r>
            <a:endParaRPr lang="en-US" sz="2300" b="0" u="none" strike="noStrike">
              <a:solidFill>
                <a:srgbClr val="000000"/>
              </a:solidFill>
              <a:effectLst/>
              <a:uFillTx/>
              <a:latin typeface="Arial"/>
            </a:endParaRPr>
          </a:p>
        </p:txBody>
      </p:sp>
      <p:sp>
        <p:nvSpPr>
          <p:cNvPr id="1255"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Demo</a:t>
            </a:r>
            <a:endParaRPr lang="en-US" sz="1200" b="0" u="none" strike="noStrike">
              <a:solidFill>
                <a:srgbClr val="000000"/>
              </a:solidFill>
              <a:effectLst/>
              <a:uFillTx/>
              <a:latin typeface="Arial"/>
            </a:endParaRPr>
          </a:p>
        </p:txBody>
      </p:sp>
      <p:sp>
        <p:nvSpPr>
          <p:cNvPr id="1256"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257"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47</a:t>
            </a:r>
            <a:endParaRPr lang="en-US" sz="1800" b="0" u="none" strike="noStrike">
              <a:solidFill>
                <a:srgbClr val="000000"/>
              </a:solidFill>
              <a:effectLst/>
              <a:uFillTx/>
              <a:latin typeface="Arial"/>
            </a:endParaRPr>
          </a:p>
        </p:txBody>
      </p:sp>
      <p:sp>
        <p:nvSpPr>
          <p:cNvPr id="1258" name="Text 6"/>
          <p:cNvSpPr/>
          <p:nvPr/>
        </p:nvSpPr>
        <p:spPr>
          <a:xfrm>
            <a:off x="731520" y="1051560"/>
            <a:ext cx="107888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0B2B5C"/>
                </a:solidFill>
                <a:effectLst/>
                <a:uFillTx/>
                <a:latin typeface="Aptos"/>
              </a:rPr>
              <a:t>Use the game to make the Chapter 2 vocabulary concrete.</a:t>
            </a:r>
            <a:endParaRPr lang="en-US" sz="2000" b="0" u="none" strike="noStrike">
              <a:solidFill>
                <a:srgbClr val="000000"/>
              </a:solidFill>
              <a:effectLst/>
              <a:uFillTx/>
              <a:latin typeface="Arial"/>
            </a:endParaRPr>
          </a:p>
        </p:txBody>
      </p:sp>
      <p:sp>
        <p:nvSpPr>
          <p:cNvPr id="1259" name="Shape 7"/>
          <p:cNvSpPr/>
          <p:nvPr/>
        </p:nvSpPr>
        <p:spPr>
          <a:xfrm>
            <a:off x="1097280" y="1783080"/>
            <a:ext cx="9965880" cy="410400"/>
          </a:xfrm>
          <a:prstGeom prst="roundRect">
            <a:avLst>
              <a:gd name="adj" fmla="val 11111"/>
            </a:avLst>
          </a:prstGeom>
          <a:solidFill>
            <a:srgbClr val="EAF2FB"/>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0" name="Text 8"/>
          <p:cNvSpPr/>
          <p:nvPr/>
        </p:nvSpPr>
        <p:spPr>
          <a:xfrm>
            <a:off x="1325880" y="18835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What are the percepts?</a:t>
            </a:r>
            <a:endParaRPr lang="en-US" sz="1550" b="0" u="none" strike="noStrike">
              <a:solidFill>
                <a:srgbClr val="000000"/>
              </a:solidFill>
              <a:effectLst/>
              <a:uFillTx/>
              <a:latin typeface="Arial"/>
            </a:endParaRPr>
          </a:p>
        </p:txBody>
      </p:sp>
      <p:sp>
        <p:nvSpPr>
          <p:cNvPr id="1261" name="Shape 9"/>
          <p:cNvSpPr/>
          <p:nvPr/>
        </p:nvSpPr>
        <p:spPr>
          <a:xfrm>
            <a:off x="1097280" y="2468880"/>
            <a:ext cx="9965880" cy="410400"/>
          </a:xfrm>
          <a:prstGeom prst="roundRect">
            <a:avLst>
              <a:gd name="adj" fmla="val 11111"/>
            </a:avLst>
          </a:prstGeom>
          <a:solidFill>
            <a:srgbClr val="FFFFFF"/>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2" name="Text 10"/>
          <p:cNvSpPr/>
          <p:nvPr/>
        </p:nvSpPr>
        <p:spPr>
          <a:xfrm>
            <a:off x="1325880" y="25693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What actions can the agent return?</a:t>
            </a:r>
            <a:endParaRPr lang="en-US" sz="1550" b="0" u="none" strike="noStrike">
              <a:solidFill>
                <a:srgbClr val="000000"/>
              </a:solidFill>
              <a:effectLst/>
              <a:uFillTx/>
              <a:latin typeface="Arial"/>
            </a:endParaRPr>
          </a:p>
        </p:txBody>
      </p:sp>
      <p:sp>
        <p:nvSpPr>
          <p:cNvPr id="1263" name="Shape 11"/>
          <p:cNvSpPr/>
          <p:nvPr/>
        </p:nvSpPr>
        <p:spPr>
          <a:xfrm>
            <a:off x="1097280" y="3154680"/>
            <a:ext cx="9965880" cy="410400"/>
          </a:xfrm>
          <a:prstGeom prst="roundRect">
            <a:avLst>
              <a:gd name="adj" fmla="val 11111"/>
            </a:avLst>
          </a:prstGeom>
          <a:solidFill>
            <a:srgbClr val="EAF2FB"/>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4" name="Text 12"/>
          <p:cNvSpPr/>
          <p:nvPr/>
        </p:nvSpPr>
        <p:spPr>
          <a:xfrm>
            <a:off x="1325880" y="32551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What is the performance measure?</a:t>
            </a:r>
            <a:endParaRPr lang="en-US" sz="1550" b="0" u="none" strike="noStrike">
              <a:solidFill>
                <a:srgbClr val="000000"/>
              </a:solidFill>
              <a:effectLst/>
              <a:uFillTx/>
              <a:latin typeface="Arial"/>
            </a:endParaRPr>
          </a:p>
        </p:txBody>
      </p:sp>
      <p:sp>
        <p:nvSpPr>
          <p:cNvPr id="1265" name="Shape 13"/>
          <p:cNvSpPr/>
          <p:nvPr/>
        </p:nvSpPr>
        <p:spPr>
          <a:xfrm>
            <a:off x="1097280" y="3840480"/>
            <a:ext cx="9965880" cy="410400"/>
          </a:xfrm>
          <a:prstGeom prst="roundRect">
            <a:avLst>
              <a:gd name="adj" fmla="val 11111"/>
            </a:avLst>
          </a:prstGeom>
          <a:solidFill>
            <a:srgbClr val="FFFFFF"/>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6" name="Text 14"/>
          <p:cNvSpPr/>
          <p:nvPr/>
        </p:nvSpPr>
        <p:spPr>
          <a:xfrm>
            <a:off x="1325880" y="39409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Does it use memory or only current state?</a:t>
            </a:r>
            <a:endParaRPr lang="en-US" sz="1550" b="0" u="none" strike="noStrike">
              <a:solidFill>
                <a:srgbClr val="000000"/>
              </a:solidFill>
              <a:effectLst/>
              <a:uFillTx/>
              <a:latin typeface="Arial"/>
            </a:endParaRPr>
          </a:p>
        </p:txBody>
      </p:sp>
      <p:sp>
        <p:nvSpPr>
          <p:cNvPr id="1267" name="Shape 15"/>
          <p:cNvSpPr/>
          <p:nvPr/>
        </p:nvSpPr>
        <p:spPr>
          <a:xfrm>
            <a:off x="1097280" y="4526280"/>
            <a:ext cx="9965880" cy="410400"/>
          </a:xfrm>
          <a:prstGeom prst="roundRect">
            <a:avLst>
              <a:gd name="adj" fmla="val 11111"/>
            </a:avLst>
          </a:prstGeom>
          <a:solidFill>
            <a:srgbClr val="EAF2FB"/>
          </a:solidFill>
          <a:ln w="12700">
            <a:solidFill>
              <a:srgbClr val="D0D9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8" name="Text 16"/>
          <p:cNvSpPr/>
          <p:nvPr/>
        </p:nvSpPr>
        <p:spPr>
          <a:xfrm>
            <a:off x="1325880" y="4626720"/>
            <a:ext cx="95086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1F3A"/>
                </a:solidFill>
                <a:effectLst/>
                <a:uFillTx/>
                <a:latin typeface="Aptos"/>
              </a:rPr>
              <a:t>Is it reflex, model-based, goal-based, utility-based, or mixed?</a:t>
            </a:r>
            <a:endParaRPr lang="en-US" sz="1550" b="0" u="none" strike="noStrike">
              <a:solidFill>
                <a:srgbClr val="000000"/>
              </a:solidFill>
              <a:effectLst/>
              <a:uFillTx/>
              <a:latin typeface="Arial"/>
            </a:endParaRPr>
          </a:p>
        </p:txBody>
      </p:sp>
      <p:sp>
        <p:nvSpPr>
          <p:cNvPr id="1269" name="Text 17"/>
          <p:cNvSpPr/>
          <p:nvPr/>
        </p:nvSpPr>
        <p:spPr>
          <a:xfrm>
            <a:off x="822960" y="5596200"/>
            <a:ext cx="10605960" cy="36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0B2B5C"/>
                </a:solidFill>
                <a:effectLst/>
                <a:uFillTx/>
                <a:latin typeface="Aptos"/>
              </a:rPr>
              <a:t>Next: search algorithms are one way to make goal-based agents act rationally.</a:t>
            </a:r>
            <a:endParaRPr lang="en-US" sz="1800" b="0" u="none" strike="noStrike">
              <a:solidFill>
                <a:srgbClr val="000000"/>
              </a:solidFill>
              <a:effectLst/>
              <a:uFillTx/>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0" name="PlaceHolder 1"/>
          <p:cNvSpPr>
            <a:spLocks noGrp="1"/>
          </p:cNvSpPr>
          <p:nvPr>
            <p:ph type="title"/>
          </p:nvPr>
        </p:nvSpPr>
        <p:spPr>
          <a:xfrm>
            <a:off x="609480" y="708480"/>
            <a:ext cx="10971360" cy="274320"/>
          </a:xfrm>
          <a:prstGeom prst="rect">
            <a:avLst/>
          </a:prstGeom>
          <a:noFill/>
          <a:ln w="0">
            <a:noFill/>
          </a:ln>
        </p:spPr>
        <p:txBody>
          <a:bodyPr lIns="0" tIns="0" rIns="0" bIns="0" anchor="ctr">
            <a:noAutofit/>
          </a:bodyPr>
          <a:lstStyle/>
          <a:p>
            <a:pPr indent="0" algn="l" defTabSz="914400">
              <a:lnSpc>
                <a:spcPct val="90000"/>
              </a:lnSpc>
              <a:buNone/>
              <a:tabLst>
                <a:tab pos="0" algn="l"/>
              </a:tabLst>
            </a:pPr>
            <a:endParaRPr lang="en-US" sz="1800" b="0" u="none" strike="noStrike">
              <a:solidFill>
                <a:schemeClr val="dk1"/>
              </a:solidFill>
              <a:effectLst/>
              <a:uFillTx/>
              <a:latin typeface="Aptos"/>
            </a:endParaRPr>
          </a:p>
        </p:txBody>
      </p:sp>
      <p:sp>
        <p:nvSpPr>
          <p:cNvPr id="1271" name="Rectangle 2"/>
          <p:cNvSpPr/>
          <p:nvPr/>
        </p:nvSpPr>
        <p:spPr>
          <a:xfrm>
            <a:off x="0" y="0"/>
            <a:ext cx="12191400" cy="804240"/>
          </a:xfrm>
          <a:prstGeom prst="rect">
            <a:avLst/>
          </a:prstGeom>
          <a:solidFill>
            <a:srgbClr val="12325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72" name="Rectangle 3"/>
          <p:cNvSpPr/>
          <p:nvPr/>
        </p:nvSpPr>
        <p:spPr>
          <a:xfrm>
            <a:off x="0" y="804600"/>
            <a:ext cx="12191400" cy="72720"/>
          </a:xfrm>
          <a:prstGeom prst="rect">
            <a:avLst/>
          </a:prstGeom>
          <a:solidFill>
            <a:srgbClr val="F4A016"/>
          </a:solidFill>
          <a:ln>
            <a:noFill/>
          </a:ln>
        </p:spPr>
        <p:style>
          <a:lnRef idx="1">
            <a:schemeClr val="accent1"/>
          </a:lnRef>
          <a:fillRef idx="3">
            <a:schemeClr val="accent1"/>
          </a:fillRef>
          <a:effectRef idx="2">
            <a:schemeClr val="accent1"/>
          </a:effectRef>
          <a:fontRef idx="minor"/>
        </p:style>
        <p:txBody>
          <a:bodyPr lIns="90000" tIns="28080" rIns="90000" bIns="28080" anchor="ctr">
            <a:noAutofit/>
          </a:bodyPr>
          <a:lstStyle/>
          <a:p>
            <a:endParaRPr lang="en-US" sz="1800" b="0" u="none" strike="noStrike">
              <a:solidFill>
                <a:schemeClr val="lt1"/>
              </a:solidFill>
              <a:effectLst/>
              <a:uFillTx/>
              <a:latin typeface="Aptos"/>
            </a:endParaRPr>
          </a:p>
        </p:txBody>
      </p:sp>
      <p:sp>
        <p:nvSpPr>
          <p:cNvPr id="1273" name="TextBox 4"/>
          <p:cNvSpPr/>
          <p:nvPr/>
        </p:nvSpPr>
        <p:spPr>
          <a:xfrm>
            <a:off x="475560" y="179280"/>
            <a:ext cx="7309440" cy="455040"/>
          </a:xfrm>
          <a:prstGeom prst="rect">
            <a:avLst/>
          </a:prstGeom>
          <a:noFill/>
          <a:ln w="0">
            <a:noFill/>
          </a:ln>
        </p:spPr>
        <p:style>
          <a:lnRef idx="0">
            <a:scrgbClr r="0" g="0" b="0"/>
          </a:lnRef>
          <a:fillRef idx="0">
            <a:scrgbClr r="0" g="0" b="0"/>
          </a:fillRef>
          <a:effectRef idx="0">
            <a:scrgbClr r="0" g="0" b="0"/>
          </a:effectRef>
          <a:fontRef idx="minor"/>
        </p:style>
        <p:txBody>
          <a:bodyPr wrap="none" lIns="0" tIns="45000" rIns="0" bIns="45000" anchor="ctr">
            <a:spAutoFit/>
          </a:bodyPr>
          <a:lstStyle/>
          <a:p>
            <a:pPr defTabSz="914400">
              <a:lnSpc>
                <a:spcPct val="100000"/>
              </a:lnSpc>
            </a:pPr>
            <a:r>
              <a:rPr lang="en-US" sz="2400" b="1" u="none" strike="noStrike">
                <a:solidFill>
                  <a:srgbClr val="FFFFFF"/>
                </a:solidFill>
                <a:effectLst/>
                <a:uFillTx/>
                <a:latin typeface="Aptos Display"/>
              </a:rPr>
              <a:t>Live Code Demo: Five Chapter 2 Agent Programs</a:t>
            </a:r>
            <a:endParaRPr lang="en-US" sz="2400" b="0" u="none" strike="noStrike">
              <a:solidFill>
                <a:srgbClr val="000000"/>
              </a:solidFill>
              <a:effectLst/>
              <a:uFillTx/>
              <a:latin typeface="Arial"/>
            </a:endParaRPr>
          </a:p>
        </p:txBody>
      </p:sp>
      <p:sp>
        <p:nvSpPr>
          <p:cNvPr id="1274" name="Rounded Rectangle 5"/>
          <p:cNvSpPr/>
          <p:nvPr/>
        </p:nvSpPr>
        <p:spPr>
          <a:xfrm>
            <a:off x="10149840" y="255960"/>
            <a:ext cx="1554120" cy="273960"/>
          </a:xfrm>
          <a:prstGeom prst="roundRect">
            <a:avLst>
              <a:gd name="adj" fmla="val 16667"/>
            </a:avLst>
          </a:prstGeom>
          <a:solidFill>
            <a:srgbClr val="E9F0F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rgbClr val="12325B"/>
                </a:solidFill>
                <a:effectLst/>
                <a:uFillTx/>
                <a:latin typeface="Aptos"/>
              </a:rPr>
              <a:t>Demo code</a:t>
            </a:r>
            <a:endParaRPr lang="en-US" sz="1100" b="0" u="none" strike="noStrike">
              <a:solidFill>
                <a:srgbClr val="000000"/>
              </a:solidFill>
              <a:effectLst/>
              <a:uFillTx/>
              <a:latin typeface="Arial"/>
            </a:endParaRPr>
          </a:p>
        </p:txBody>
      </p:sp>
      <p:sp>
        <p:nvSpPr>
          <p:cNvPr id="1275" name="TextBox 6"/>
          <p:cNvSpPr/>
          <p:nvPr/>
        </p:nvSpPr>
        <p:spPr>
          <a:xfrm>
            <a:off x="475560" y="6565320"/>
            <a:ext cx="1228680" cy="211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800" b="0" u="none" strike="noStrike">
                <a:solidFill>
                  <a:srgbClr val="5C6A7D"/>
                </a:solidFill>
                <a:effectLst/>
                <a:uFillTx/>
                <a:latin typeface="Aptos"/>
              </a:rPr>
              <a:t>COMP 469 · Chapter 2</a:t>
            </a:r>
            <a:endParaRPr lang="en-US" sz="800" b="0" u="none" strike="noStrike">
              <a:solidFill>
                <a:srgbClr val="000000"/>
              </a:solidFill>
              <a:effectLst/>
              <a:uFillTx/>
              <a:latin typeface="Arial"/>
            </a:endParaRPr>
          </a:p>
        </p:txBody>
      </p:sp>
      <p:sp>
        <p:nvSpPr>
          <p:cNvPr id="1276" name="TextBox 7"/>
          <p:cNvSpPr/>
          <p:nvPr/>
        </p:nvSpPr>
        <p:spPr>
          <a:xfrm>
            <a:off x="11201400" y="6565320"/>
            <a:ext cx="4420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0" u="none" strike="noStrike">
                <a:solidFill>
                  <a:schemeClr val="dk1"/>
                </a:solidFill>
                <a:effectLst/>
                <a:uFillTx/>
                <a:latin typeface="Aptos"/>
              </a:rPr>
              <a:t>48</a:t>
            </a:r>
            <a:endParaRPr lang="en-US" sz="1800" b="0" u="none" strike="noStrike">
              <a:solidFill>
                <a:srgbClr val="000000"/>
              </a:solidFill>
              <a:effectLst/>
              <a:uFillTx/>
              <a:latin typeface="Arial"/>
            </a:endParaRPr>
          </a:p>
        </p:txBody>
      </p:sp>
      <p:sp>
        <p:nvSpPr>
          <p:cNvPr id="1277" name="TextBox 8"/>
          <p:cNvSpPr/>
          <p:nvPr/>
        </p:nvSpPr>
        <p:spPr>
          <a:xfrm>
            <a:off x="685800" y="1078920"/>
            <a:ext cx="103759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800" b="1" u="none" strike="noStrike">
                <a:solidFill>
                  <a:srgbClr val="11243A"/>
                </a:solidFill>
                <a:effectLst/>
                <a:uFillTx/>
                <a:latin typeface="Aptos"/>
              </a:rPr>
              <a:t>The graphics and environment stay fixed; only the agent program changes.</a:t>
            </a:r>
            <a:endParaRPr lang="en-US" sz="1800" b="0" u="none" strike="noStrike">
              <a:solidFill>
                <a:srgbClr val="000000"/>
              </a:solidFill>
              <a:effectLst/>
              <a:uFillTx/>
              <a:latin typeface="Arial"/>
            </a:endParaRPr>
          </a:p>
        </p:txBody>
      </p:sp>
      <p:sp>
        <p:nvSpPr>
          <p:cNvPr id="1278" name="Rounded Rectangle 9"/>
          <p:cNvSpPr/>
          <p:nvPr/>
        </p:nvSpPr>
        <p:spPr>
          <a:xfrm>
            <a:off x="685800" y="1572840"/>
            <a:ext cx="10835280" cy="658080"/>
          </a:xfrm>
          <a:prstGeom prst="roundRect">
            <a:avLst>
              <a:gd name="adj" fmla="val 16667"/>
            </a:avLst>
          </a:prstGeom>
          <a:solidFill>
            <a:srgbClr val="E8F2FA"/>
          </a:solidFill>
          <a:ln>
            <a:solidFill>
              <a:srgbClr val="B8CCDD"/>
            </a:solidFill>
          </a:ln>
        </p:spPr>
        <p:style>
          <a:lnRef idx="1">
            <a:schemeClr val="accent1"/>
          </a:lnRef>
          <a:fillRef idx="3">
            <a:schemeClr val="accent1"/>
          </a:fillRef>
          <a:effectRef idx="2">
            <a:schemeClr val="accent1"/>
          </a:effectRef>
          <a:fontRef idx="minor"/>
        </p:style>
        <p:txBody>
          <a:bodyPr lIns="146160" tIns="45000" rIns="109800" bIns="45000" anchor="ctr">
            <a:noAutofit/>
          </a:bodyPr>
          <a:lstStyle/>
          <a:p>
            <a:pPr algn="ctr" defTabSz="914400">
              <a:lnSpc>
                <a:spcPct val="100000"/>
              </a:lnSpc>
            </a:pPr>
            <a:r>
              <a:rPr lang="en-US" sz="1300" b="1" u="none" strike="noStrike">
                <a:solidFill>
                  <a:srgbClr val="12325B"/>
                </a:solidFill>
                <a:effectLst/>
                <a:uFillTx/>
                <a:latin typeface="Aptos"/>
              </a:rPr>
              <a:t>Shared environment / architecture: </a:t>
            </a:r>
            <a:r>
              <a:rPr lang="en-US" sz="1300" b="1" u="none" strike="noStrike">
                <a:solidFill>
                  <a:srgbClr val="058A94"/>
                </a:solidFill>
                <a:effectLst/>
                <a:uFillTx/>
                <a:latin typeface="Consolas"/>
              </a:rPr>
              <a:t>pacman_chapter2_engine.py</a:t>
            </a:r>
            <a:r>
              <a:rPr lang="en-US" sz="1300" b="0" u="none" strike="noStrike">
                <a:solidFill>
                  <a:srgbClr val="11243A"/>
                </a:solidFill>
                <a:effectLst/>
                <a:uFillTx/>
                <a:latin typeface="Aptos"/>
              </a:rPr>
              <a:t>  — sensors, actuators, maze, ghosts, scoring, graphics, and performance feedback</a:t>
            </a:r>
            <a:endParaRPr lang="en-US" sz="1300" b="0" u="none" strike="noStrike">
              <a:solidFill>
                <a:srgbClr val="000000"/>
              </a:solidFill>
              <a:effectLst/>
              <a:uFillTx/>
              <a:latin typeface="Arial"/>
            </a:endParaRPr>
          </a:p>
        </p:txBody>
      </p:sp>
      <p:sp>
        <p:nvSpPr>
          <p:cNvPr id="1279" name="Rounded Rectangle 10"/>
          <p:cNvSpPr/>
          <p:nvPr/>
        </p:nvSpPr>
        <p:spPr>
          <a:xfrm>
            <a:off x="749880" y="2487240"/>
            <a:ext cx="513864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0" name="Rectangle 11"/>
          <p:cNvSpPr/>
          <p:nvPr/>
        </p:nvSpPr>
        <p:spPr>
          <a:xfrm>
            <a:off x="749880" y="2487240"/>
            <a:ext cx="109440" cy="639720"/>
          </a:xfrm>
          <a:prstGeom prst="rect">
            <a:avLst/>
          </a:prstGeom>
          <a:solidFill>
            <a:srgbClr val="2D79C7"/>
          </a:solidFill>
          <a:ln>
            <a:solidFill>
              <a:srgbClr val="2D79C7"/>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1" name="TextBox 12"/>
          <p:cNvSpPr/>
          <p:nvPr/>
        </p:nvSpPr>
        <p:spPr>
          <a:xfrm>
            <a:off x="951120" y="2560320"/>
            <a:ext cx="362628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2D79C7"/>
                </a:solidFill>
                <a:effectLst/>
                <a:uFillTx/>
                <a:latin typeface="Aptos"/>
              </a:rPr>
              <a:t>Simple Reflex</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01_simple_reflex_agent_ch2.py</a:t>
            </a:r>
            <a:endParaRPr lang="en-US" sz="1050" b="0" u="none" strike="noStrike">
              <a:solidFill>
                <a:srgbClr val="000000"/>
              </a:solidFill>
              <a:effectLst/>
              <a:uFillTx/>
              <a:latin typeface="Arial"/>
            </a:endParaRPr>
          </a:p>
        </p:txBody>
      </p:sp>
      <p:sp>
        <p:nvSpPr>
          <p:cNvPr id="1282" name="TextBox 13"/>
          <p:cNvSpPr/>
          <p:nvPr/>
        </p:nvSpPr>
        <p:spPr>
          <a:xfrm>
            <a:off x="951120" y="2825640"/>
            <a:ext cx="257760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current percept + ordered if-then rules</a:t>
            </a:r>
            <a:endParaRPr lang="en-US" sz="1050" b="0" u="none" strike="noStrike">
              <a:solidFill>
                <a:srgbClr val="000000"/>
              </a:solidFill>
              <a:effectLst/>
              <a:uFillTx/>
              <a:latin typeface="Arial"/>
            </a:endParaRPr>
          </a:p>
        </p:txBody>
      </p:sp>
      <p:sp>
        <p:nvSpPr>
          <p:cNvPr id="1283" name="Rounded Rectangle 14"/>
          <p:cNvSpPr/>
          <p:nvPr/>
        </p:nvSpPr>
        <p:spPr>
          <a:xfrm>
            <a:off x="6144840" y="2487240"/>
            <a:ext cx="534888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4" name="Rectangle 15"/>
          <p:cNvSpPr/>
          <p:nvPr/>
        </p:nvSpPr>
        <p:spPr>
          <a:xfrm>
            <a:off x="6144840" y="2487240"/>
            <a:ext cx="109440" cy="639720"/>
          </a:xfrm>
          <a:prstGeom prst="rect">
            <a:avLst/>
          </a:prstGeom>
          <a:solidFill>
            <a:srgbClr val="0B8E88"/>
          </a:solidFill>
          <a:ln>
            <a:solidFill>
              <a:srgbClr val="0B8E8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5" name="TextBox 16"/>
          <p:cNvSpPr/>
          <p:nvPr/>
        </p:nvSpPr>
        <p:spPr>
          <a:xfrm>
            <a:off x="6346080" y="2560320"/>
            <a:ext cx="450792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0B8E88"/>
                </a:solidFill>
                <a:effectLst/>
                <a:uFillTx/>
                <a:latin typeface="Aptos"/>
              </a:rPr>
              <a:t>Model-Based Reflex</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02_model_based_reflex_agent_ch2.py</a:t>
            </a:r>
            <a:endParaRPr lang="en-US" sz="1050" b="0" u="none" strike="noStrike">
              <a:solidFill>
                <a:srgbClr val="000000"/>
              </a:solidFill>
              <a:effectLst/>
              <a:uFillTx/>
              <a:latin typeface="Arial"/>
            </a:endParaRPr>
          </a:p>
        </p:txBody>
      </p:sp>
      <p:sp>
        <p:nvSpPr>
          <p:cNvPr id="1286" name="TextBox 17"/>
          <p:cNvSpPr/>
          <p:nvPr/>
        </p:nvSpPr>
        <p:spPr>
          <a:xfrm>
            <a:off x="6346080" y="2825640"/>
            <a:ext cx="322128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internal state + transition_model + sensor_model</a:t>
            </a:r>
            <a:endParaRPr lang="en-US" sz="1050" b="0" u="none" strike="noStrike">
              <a:solidFill>
                <a:srgbClr val="000000"/>
              </a:solidFill>
              <a:effectLst/>
              <a:uFillTx/>
              <a:latin typeface="Arial"/>
            </a:endParaRPr>
          </a:p>
        </p:txBody>
      </p:sp>
      <p:sp>
        <p:nvSpPr>
          <p:cNvPr id="1287" name="Rounded Rectangle 18"/>
          <p:cNvSpPr/>
          <p:nvPr/>
        </p:nvSpPr>
        <p:spPr>
          <a:xfrm>
            <a:off x="749880" y="3328560"/>
            <a:ext cx="513864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8" name="Rectangle 19"/>
          <p:cNvSpPr/>
          <p:nvPr/>
        </p:nvSpPr>
        <p:spPr>
          <a:xfrm>
            <a:off x="749880" y="3328560"/>
            <a:ext cx="109440" cy="639720"/>
          </a:xfrm>
          <a:prstGeom prst="rect">
            <a:avLst/>
          </a:prstGeom>
          <a:solidFill>
            <a:srgbClr val="6B42C5"/>
          </a:solidFill>
          <a:ln>
            <a:solidFill>
              <a:srgbClr val="6B42C5"/>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89" name="TextBox 20"/>
          <p:cNvSpPr/>
          <p:nvPr/>
        </p:nvSpPr>
        <p:spPr>
          <a:xfrm>
            <a:off x="951120" y="3401640"/>
            <a:ext cx="320508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6B42C5"/>
                </a:solidFill>
                <a:effectLst/>
                <a:uFillTx/>
                <a:latin typeface="Aptos"/>
              </a:rPr>
              <a:t>Goal-Based</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03_goal_based_agent_ch2.py</a:t>
            </a:r>
            <a:endParaRPr lang="en-US" sz="1050" b="0" u="none" strike="noStrike">
              <a:solidFill>
                <a:srgbClr val="000000"/>
              </a:solidFill>
              <a:effectLst/>
              <a:uFillTx/>
              <a:latin typeface="Arial"/>
            </a:endParaRPr>
          </a:p>
        </p:txBody>
      </p:sp>
      <p:sp>
        <p:nvSpPr>
          <p:cNvPr id="1290" name="TextBox 21"/>
          <p:cNvSpPr/>
          <p:nvPr/>
        </p:nvSpPr>
        <p:spPr>
          <a:xfrm>
            <a:off x="951120" y="3666600"/>
            <a:ext cx="327204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formulate_goal + make_plan + execute first action</a:t>
            </a:r>
            <a:endParaRPr lang="en-US" sz="1050" b="0" u="none" strike="noStrike">
              <a:solidFill>
                <a:srgbClr val="000000"/>
              </a:solidFill>
              <a:effectLst/>
              <a:uFillTx/>
              <a:latin typeface="Arial"/>
            </a:endParaRPr>
          </a:p>
        </p:txBody>
      </p:sp>
      <p:sp>
        <p:nvSpPr>
          <p:cNvPr id="1291" name="Rounded Rectangle 22"/>
          <p:cNvSpPr/>
          <p:nvPr/>
        </p:nvSpPr>
        <p:spPr>
          <a:xfrm>
            <a:off x="6144840" y="3328560"/>
            <a:ext cx="534888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2" name="Rectangle 23"/>
          <p:cNvSpPr/>
          <p:nvPr/>
        </p:nvSpPr>
        <p:spPr>
          <a:xfrm>
            <a:off x="6144840" y="3328560"/>
            <a:ext cx="109440" cy="639720"/>
          </a:xfrm>
          <a:prstGeom prst="rect">
            <a:avLst/>
          </a:prstGeom>
          <a:solidFill>
            <a:srgbClr val="B36100"/>
          </a:solidFill>
          <a:ln>
            <a:solidFill>
              <a:srgbClr val="B36100"/>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3" name="TextBox 24"/>
          <p:cNvSpPr/>
          <p:nvPr/>
        </p:nvSpPr>
        <p:spPr>
          <a:xfrm>
            <a:off x="6346080" y="3401640"/>
            <a:ext cx="358020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B36100"/>
                </a:solidFill>
                <a:effectLst/>
                <a:uFillTx/>
                <a:latin typeface="Aptos"/>
              </a:rPr>
              <a:t>Utility-Based</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04_utility_based_agent_ch2.py</a:t>
            </a:r>
            <a:endParaRPr lang="en-US" sz="1050" b="0" u="none" strike="noStrike">
              <a:solidFill>
                <a:srgbClr val="000000"/>
              </a:solidFill>
              <a:effectLst/>
              <a:uFillTx/>
              <a:latin typeface="Arial"/>
            </a:endParaRPr>
          </a:p>
        </p:txBody>
      </p:sp>
      <p:sp>
        <p:nvSpPr>
          <p:cNvPr id="1294" name="TextBox 25"/>
          <p:cNvSpPr/>
          <p:nvPr/>
        </p:nvSpPr>
        <p:spPr>
          <a:xfrm>
            <a:off x="6346080" y="3666600"/>
            <a:ext cx="254232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expected_utility over each legal action</a:t>
            </a:r>
            <a:endParaRPr lang="en-US" sz="1050" b="0" u="none" strike="noStrike">
              <a:solidFill>
                <a:srgbClr val="000000"/>
              </a:solidFill>
              <a:effectLst/>
              <a:uFillTx/>
              <a:latin typeface="Arial"/>
            </a:endParaRPr>
          </a:p>
        </p:txBody>
      </p:sp>
      <p:sp>
        <p:nvSpPr>
          <p:cNvPr id="1295" name="Rounded Rectangle 26"/>
          <p:cNvSpPr/>
          <p:nvPr/>
        </p:nvSpPr>
        <p:spPr>
          <a:xfrm>
            <a:off x="749880" y="4169520"/>
            <a:ext cx="5138640" cy="639720"/>
          </a:xfrm>
          <a:prstGeom prst="roundRect">
            <a:avLst>
              <a:gd name="adj" fmla="val 16667"/>
            </a:avLst>
          </a:prstGeom>
          <a:solidFill>
            <a:srgbClr val="FFFFFF"/>
          </a:solidFill>
          <a:ln>
            <a:solidFill>
              <a:srgbClr val="D5DFEA"/>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6" name="Rectangle 27"/>
          <p:cNvSpPr/>
          <p:nvPr/>
        </p:nvSpPr>
        <p:spPr>
          <a:xfrm>
            <a:off x="749880" y="4169520"/>
            <a:ext cx="109440" cy="639720"/>
          </a:xfrm>
          <a:prstGeom prst="rect">
            <a:avLst/>
          </a:prstGeom>
          <a:solidFill>
            <a:srgbClr val="1F7A3D"/>
          </a:solidFill>
          <a:ln>
            <a:solidFill>
              <a:srgbClr val="1F7A3D"/>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297" name="TextBox 28"/>
          <p:cNvSpPr/>
          <p:nvPr/>
        </p:nvSpPr>
        <p:spPr>
          <a:xfrm>
            <a:off x="951120" y="4242960"/>
            <a:ext cx="2870280" cy="280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50" b="1" u="none" strike="noStrike">
                <a:solidFill>
                  <a:srgbClr val="1F7A3D"/>
                </a:solidFill>
                <a:effectLst/>
                <a:uFillTx/>
                <a:latin typeface="Aptos"/>
              </a:rPr>
              <a:t>Learning</a:t>
            </a:r>
            <a:r>
              <a:rPr lang="en-US" sz="1000" b="0" u="none" strike="noStrike">
                <a:solidFill>
                  <a:schemeClr val="dk1"/>
                </a:solidFill>
                <a:effectLst/>
                <a:uFillTx/>
                <a:latin typeface="Aptos"/>
              </a:rPr>
              <a:t>  </a:t>
            </a:r>
            <a:r>
              <a:rPr lang="en-US" sz="1050" b="0" u="none" strike="noStrike">
                <a:solidFill>
                  <a:srgbClr val="11243A"/>
                </a:solidFill>
                <a:effectLst/>
                <a:uFillTx/>
                <a:latin typeface="Consolas"/>
              </a:rPr>
              <a:t>05_learning_agent_ch2.py</a:t>
            </a:r>
            <a:endParaRPr lang="en-US" sz="1050" b="0" u="none" strike="noStrike">
              <a:solidFill>
                <a:srgbClr val="000000"/>
              </a:solidFill>
              <a:effectLst/>
              <a:uFillTx/>
              <a:latin typeface="Arial"/>
            </a:endParaRPr>
          </a:p>
        </p:txBody>
      </p:sp>
      <p:sp>
        <p:nvSpPr>
          <p:cNvPr id="1298" name="TextBox 29"/>
          <p:cNvSpPr/>
          <p:nvPr/>
        </p:nvSpPr>
        <p:spPr>
          <a:xfrm>
            <a:off x="951120" y="4507920"/>
            <a:ext cx="3973680" cy="249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050" b="0" u="none" strike="noStrike">
                <a:solidFill>
                  <a:srgbClr val="5C6A7D"/>
                </a:solidFill>
                <a:effectLst/>
                <a:uFillTx/>
                <a:latin typeface="Aptos"/>
              </a:rPr>
              <a:t>performance element + critic + learning + problem generator</a:t>
            </a:r>
            <a:endParaRPr lang="en-US" sz="1050" b="0" u="none" strike="noStrike">
              <a:solidFill>
                <a:srgbClr val="000000"/>
              </a:solidFill>
              <a:effectLst/>
              <a:uFillTx/>
              <a:latin typeface="Arial"/>
            </a:endParaRPr>
          </a:p>
        </p:txBody>
      </p:sp>
      <p:sp>
        <p:nvSpPr>
          <p:cNvPr id="1299" name="Rounded Rectangle 30"/>
          <p:cNvSpPr/>
          <p:nvPr/>
        </p:nvSpPr>
        <p:spPr>
          <a:xfrm>
            <a:off x="685800" y="5212080"/>
            <a:ext cx="5348880" cy="712800"/>
          </a:xfrm>
          <a:prstGeom prst="roundRect">
            <a:avLst>
              <a:gd name="adj" fmla="val 16667"/>
            </a:avLst>
          </a:prstGeom>
          <a:solidFill>
            <a:srgbClr val="FFF4DE"/>
          </a:solidFill>
          <a:ln>
            <a:solidFill>
              <a:srgbClr val="F0C666"/>
            </a:solidFill>
          </a:ln>
        </p:spPr>
        <p:style>
          <a:lnRef idx="1">
            <a:schemeClr val="accent1"/>
          </a:lnRef>
          <a:fillRef idx="3">
            <a:schemeClr val="accent1"/>
          </a:fillRef>
          <a:effectRef idx="2">
            <a:schemeClr val="accent1"/>
          </a:effectRef>
          <a:fontRef idx="minor"/>
        </p:style>
        <p:txBody>
          <a:bodyPr lIns="146160" tIns="45000" rIns="90000" bIns="45000" anchor="ctr">
            <a:noAutofit/>
          </a:bodyPr>
          <a:lstStyle/>
          <a:p>
            <a:pPr algn="ctr" defTabSz="914400">
              <a:lnSpc>
                <a:spcPct val="100000"/>
              </a:lnSpc>
            </a:pPr>
            <a:r>
              <a:rPr lang="en-US" sz="1250" b="1" u="none" strike="noStrike">
                <a:solidFill>
                  <a:srgbClr val="12325B"/>
                </a:solidFill>
                <a:effectLst/>
                <a:uFillTx/>
                <a:latin typeface="Aptos"/>
              </a:rPr>
              <a:t>Run order: </a:t>
            </a:r>
            <a:r>
              <a:rPr lang="en-US" sz="1250" b="0" u="none" strike="noStrike">
                <a:solidFill>
                  <a:srgbClr val="11243A"/>
                </a:solidFill>
                <a:effectLst/>
                <a:uFillTx/>
                <a:latin typeface="Aptos"/>
              </a:rPr>
              <a:t>1 → 2 → 3 → 4 → 5. After each one, ask what changed in the decision process.</a:t>
            </a:r>
            <a:endParaRPr lang="en-US" sz="1250" b="0" u="none" strike="noStrike">
              <a:solidFill>
                <a:srgbClr val="000000"/>
              </a:solidFill>
              <a:effectLst/>
              <a:uFillTx/>
              <a:latin typeface="Arial"/>
            </a:endParaRPr>
          </a:p>
        </p:txBody>
      </p:sp>
      <p:sp>
        <p:nvSpPr>
          <p:cNvPr id="1300" name="Rounded Rectangle 31"/>
          <p:cNvSpPr/>
          <p:nvPr/>
        </p:nvSpPr>
        <p:spPr>
          <a:xfrm>
            <a:off x="6263640" y="5212080"/>
            <a:ext cx="5257440" cy="712800"/>
          </a:xfrm>
          <a:prstGeom prst="roundRect">
            <a:avLst>
              <a:gd name="adj" fmla="val 16667"/>
            </a:avLst>
          </a:prstGeom>
          <a:solidFill>
            <a:srgbClr val="EAF7EC"/>
          </a:solidFill>
          <a:ln>
            <a:solidFill>
              <a:srgbClr val="B6D8BE"/>
            </a:solidFill>
          </a:ln>
        </p:spPr>
        <p:style>
          <a:lnRef idx="1">
            <a:schemeClr val="accent1"/>
          </a:lnRef>
          <a:fillRef idx="3">
            <a:schemeClr val="accent1"/>
          </a:fillRef>
          <a:effectRef idx="2">
            <a:schemeClr val="accent1"/>
          </a:effectRef>
          <a:fontRef idx="minor"/>
        </p:style>
        <p:txBody>
          <a:bodyPr lIns="146160" tIns="45000" rIns="90000" bIns="45000" anchor="ctr">
            <a:noAutofit/>
          </a:bodyPr>
          <a:lstStyle/>
          <a:p>
            <a:pPr algn="ctr" defTabSz="914400">
              <a:lnSpc>
                <a:spcPct val="100000"/>
              </a:lnSpc>
            </a:pPr>
            <a:r>
              <a:rPr lang="en-US" sz="1250" b="1" u="none" strike="noStrike">
                <a:solidFill>
                  <a:srgbClr val="12325B"/>
                </a:solidFill>
                <a:effectLst/>
                <a:uFillTx/>
                <a:latin typeface="Aptos"/>
              </a:rPr>
              <a:t>Code focus: </a:t>
            </a:r>
            <a:r>
              <a:rPr lang="en-US" sz="1250" b="0" u="none" strike="noStrike">
                <a:solidFill>
                  <a:srgbClr val="11243A"/>
                </a:solidFill>
                <a:effectLst/>
                <a:uFillTx/>
                <a:latin typeface="Aptos"/>
              </a:rPr>
              <a:t>the section marked CHAPTER 2 AGENT PROGRAM STARTS HERE.</a:t>
            </a:r>
            <a:endParaRPr lang="en-US" sz="1250" b="0" u="none" strike="noStrike">
              <a:solidFill>
                <a:srgbClr val="000000"/>
              </a:solidFill>
              <a:effectLst/>
              <a:uFillTx/>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301"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02"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303"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How the Planning Video Fits This Chapter</a:t>
            </a:r>
            <a:endParaRPr lang="en-US" sz="2300" b="0" u="none" strike="noStrike">
              <a:solidFill>
                <a:srgbClr val="000000"/>
              </a:solidFill>
              <a:effectLst/>
              <a:uFillTx/>
              <a:latin typeface="Arial"/>
            </a:endParaRPr>
          </a:p>
        </p:txBody>
      </p:sp>
      <p:sp>
        <p:nvSpPr>
          <p:cNvPr id="1304"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Video</a:t>
            </a:r>
            <a:endParaRPr lang="en-US" sz="1200" b="0" u="none" strike="noStrike">
              <a:solidFill>
                <a:srgbClr val="000000"/>
              </a:solidFill>
              <a:effectLst/>
              <a:uFillTx/>
              <a:latin typeface="Arial"/>
            </a:endParaRPr>
          </a:p>
        </p:txBody>
      </p:sp>
      <p:sp>
        <p:nvSpPr>
          <p:cNvPr id="1305"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306"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49</a:t>
            </a:r>
            <a:endParaRPr lang="en-US" sz="1800" b="0" u="none" strike="noStrike">
              <a:solidFill>
                <a:srgbClr val="000000"/>
              </a:solidFill>
              <a:effectLst/>
              <a:uFillTx/>
              <a:latin typeface="Arial"/>
            </a:endParaRPr>
          </a:p>
        </p:txBody>
      </p:sp>
      <p:sp>
        <p:nvSpPr>
          <p:cNvPr id="1307" name="Shape 6"/>
          <p:cNvSpPr/>
          <p:nvPr/>
        </p:nvSpPr>
        <p:spPr>
          <a:xfrm>
            <a:off x="868680" y="1325880"/>
            <a:ext cx="4936680" cy="1324800"/>
          </a:xfrm>
          <a:prstGeom prst="roundRect">
            <a:avLst>
              <a:gd name="adj" fmla="val 4138"/>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8" name="Text 7"/>
          <p:cNvSpPr/>
          <p:nvPr/>
        </p:nvSpPr>
        <p:spPr>
          <a:xfrm>
            <a:off x="1033200" y="1472040"/>
            <a:ext cx="46076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B7A45"/>
                </a:solidFill>
                <a:effectLst/>
                <a:uFillTx/>
                <a:latin typeface="Aptos"/>
              </a:rPr>
              <a:t>Watch now for Chapter 2</a:t>
            </a:r>
            <a:endParaRPr lang="en-US" sz="1800" b="0" u="none" strike="noStrike">
              <a:solidFill>
                <a:srgbClr val="000000"/>
              </a:solidFill>
              <a:effectLst/>
              <a:uFillTx/>
              <a:latin typeface="Arial"/>
            </a:endParaRPr>
          </a:p>
        </p:txBody>
      </p:sp>
      <p:sp>
        <p:nvSpPr>
          <p:cNvPr id="1309" name="Text 8"/>
          <p:cNvSpPr/>
          <p:nvPr/>
        </p:nvSpPr>
        <p:spPr>
          <a:xfrm>
            <a:off x="1033200" y="1801440"/>
            <a:ext cx="4607640" cy="730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1:19-10:05: agents that plan, reflex agents, Pac-Man examples, planning versus replanning.</a:t>
            </a:r>
            <a:endParaRPr lang="en-US" sz="1350" b="0" u="none" strike="noStrike">
              <a:solidFill>
                <a:srgbClr val="000000"/>
              </a:solidFill>
              <a:effectLst/>
              <a:uFillTx/>
              <a:latin typeface="Arial"/>
            </a:endParaRPr>
          </a:p>
        </p:txBody>
      </p:sp>
      <p:sp>
        <p:nvSpPr>
          <p:cNvPr id="1310" name="Shape 9"/>
          <p:cNvSpPr/>
          <p:nvPr/>
        </p:nvSpPr>
        <p:spPr>
          <a:xfrm>
            <a:off x="6355080" y="1325880"/>
            <a:ext cx="4936680" cy="1324800"/>
          </a:xfrm>
          <a:prstGeom prst="roundRect">
            <a:avLst>
              <a:gd name="adj" fmla="val 4138"/>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1" name="Text 10"/>
          <p:cNvSpPr/>
          <p:nvPr/>
        </p:nvSpPr>
        <p:spPr>
          <a:xfrm>
            <a:off x="6519600" y="1472040"/>
            <a:ext cx="46076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5A21B"/>
                </a:solidFill>
                <a:effectLst/>
                <a:uFillTx/>
                <a:latin typeface="Aptos"/>
              </a:rPr>
              <a:t>Comes back in Chapter 3</a:t>
            </a:r>
            <a:endParaRPr lang="en-US" sz="1800" b="0" u="none" strike="noStrike">
              <a:solidFill>
                <a:srgbClr val="000000"/>
              </a:solidFill>
              <a:effectLst/>
              <a:uFillTx/>
              <a:latin typeface="Arial"/>
            </a:endParaRPr>
          </a:p>
        </p:txBody>
      </p:sp>
      <p:sp>
        <p:nvSpPr>
          <p:cNvPr id="1312" name="Text 11"/>
          <p:cNvSpPr/>
          <p:nvPr/>
        </p:nvSpPr>
        <p:spPr>
          <a:xfrm>
            <a:off x="6519600" y="1801440"/>
            <a:ext cx="4607640" cy="730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350" b="0" u="none" strike="noStrike">
                <a:solidFill>
                  <a:srgbClr val="0B1F3A"/>
                </a:solidFill>
                <a:effectLst/>
                <a:uFillTx/>
                <a:latin typeface="Aptos"/>
              </a:rPr>
              <a:t>After ~11:48: search problem formulation, state spaces, search trees, DFS, BFS, UCS.</a:t>
            </a:r>
            <a:endParaRPr lang="en-US" sz="1350" b="0" u="none" strike="noStrike">
              <a:solidFill>
                <a:srgbClr val="000000"/>
              </a:solidFill>
              <a:effectLst/>
              <a:uFillTx/>
              <a:latin typeface="Arial"/>
            </a:endParaRPr>
          </a:p>
        </p:txBody>
      </p:sp>
      <p:sp>
        <p:nvSpPr>
          <p:cNvPr id="1313" name="Shape 12"/>
          <p:cNvSpPr/>
          <p:nvPr/>
        </p:nvSpPr>
        <p:spPr>
          <a:xfrm>
            <a:off x="1508760" y="3246120"/>
            <a:ext cx="9142920" cy="12333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4" name="Text 13"/>
          <p:cNvSpPr/>
          <p:nvPr/>
        </p:nvSpPr>
        <p:spPr>
          <a:xfrm>
            <a:off x="1673280" y="3392280"/>
            <a:ext cx="881388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B6CB0"/>
                </a:solidFill>
                <a:effectLst/>
                <a:uFillTx/>
                <a:latin typeface="Aptos"/>
              </a:rPr>
              <a:t>Chapter boundary</a:t>
            </a:r>
            <a:endParaRPr lang="en-US" sz="1800" b="0" u="none" strike="noStrike">
              <a:solidFill>
                <a:srgbClr val="000000"/>
              </a:solidFill>
              <a:effectLst/>
              <a:uFillTx/>
              <a:latin typeface="Arial"/>
            </a:endParaRPr>
          </a:p>
        </p:txBody>
      </p:sp>
      <p:sp>
        <p:nvSpPr>
          <p:cNvPr id="1315" name="Text 14"/>
          <p:cNvSpPr/>
          <p:nvPr/>
        </p:nvSpPr>
        <p:spPr>
          <a:xfrm>
            <a:off x="1673280" y="3721680"/>
            <a:ext cx="8813880" cy="639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400" b="0" u="none" strike="noStrike">
                <a:solidFill>
                  <a:srgbClr val="0B1F3A"/>
                </a:solidFill>
                <a:effectLst/>
                <a:uFillTx/>
                <a:latin typeface="Aptos"/>
              </a:rPr>
              <a:t>Chapter 2 explains what a goal-based agent is. Chapter 3 explains how search implements it.</a:t>
            </a:r>
            <a:endParaRPr lang="en-US" sz="1400" b="0" u="none" strike="noStrike">
              <a:solidFill>
                <a:srgbClr val="000000"/>
              </a:solidFill>
              <a:effectLst/>
              <a:uFillTx/>
              <a:latin typeface="Arial"/>
            </a:endParaRPr>
          </a:p>
        </p:txBody>
      </p:sp>
      <p:sp>
        <p:nvSpPr>
          <p:cNvPr id="1316" name="Text 15"/>
          <p:cNvSpPr/>
          <p:nvPr/>
        </p:nvSpPr>
        <p:spPr>
          <a:xfrm>
            <a:off x="914400" y="5257800"/>
            <a:ext cx="1033164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0B2B5C"/>
                </a:solidFill>
                <a:effectLst/>
                <a:uFillTx/>
                <a:latin typeface="Aptos"/>
              </a:rPr>
              <a:t>We watch the first segment as a bridge, then stop before the full search algorithms.</a:t>
            </a:r>
            <a:endParaRPr lang="en-US" sz="1700" b="0" u="none" strike="noStrike">
              <a:solidFill>
                <a:srgbClr val="000000"/>
              </a:solidFill>
              <a:effectLst/>
              <a:uFillTx/>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317" name="Shape 1"/>
          <p:cNvSpPr/>
          <p:nvPr/>
        </p:nvSpPr>
        <p:spPr>
          <a:xfrm>
            <a:off x="0" y="0"/>
            <a:ext cx="1219104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8" name="Shape 2"/>
          <p:cNvSpPr/>
          <p:nvPr/>
        </p:nvSpPr>
        <p:spPr>
          <a:xfrm>
            <a:off x="0" y="804600"/>
            <a:ext cx="1219104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36000" rIns="90000" bIns="36000" anchor="t">
            <a:noAutofit/>
          </a:bodyPr>
          <a:lstStyle/>
          <a:p>
            <a:endParaRPr lang="en-US" sz="1800" b="0" u="none" strike="noStrike">
              <a:solidFill>
                <a:srgbClr val="000000"/>
              </a:solidFill>
              <a:effectLst/>
              <a:uFillTx/>
              <a:latin typeface="Arial"/>
            </a:endParaRPr>
          </a:p>
        </p:txBody>
      </p:sp>
      <p:sp>
        <p:nvSpPr>
          <p:cNvPr id="1319" name="Text 3"/>
          <p:cNvSpPr/>
          <p:nvPr/>
        </p:nvSpPr>
        <p:spPr>
          <a:xfrm>
            <a:off x="475560" y="210240"/>
            <a:ext cx="96008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a:ea typeface="Aptos"/>
              </a:rPr>
              <a:t>Where These Ideas Came From</a:t>
            </a:r>
            <a:endParaRPr lang="en-US" sz="2300" b="0" u="none" strike="noStrike">
              <a:solidFill>
                <a:srgbClr val="000000"/>
              </a:solidFill>
              <a:effectLst/>
              <a:uFillTx/>
              <a:latin typeface="Arial"/>
            </a:endParaRPr>
          </a:p>
        </p:txBody>
      </p:sp>
      <p:sp>
        <p:nvSpPr>
          <p:cNvPr id="1320" name="Text 4"/>
          <p:cNvSpPr/>
          <p:nvPr/>
        </p:nvSpPr>
        <p:spPr>
          <a:xfrm>
            <a:off x="10241280" y="255960"/>
            <a:ext cx="13701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History</a:t>
            </a:r>
            <a:endParaRPr lang="en-US" sz="1200" b="0" u="none" strike="noStrike">
              <a:solidFill>
                <a:srgbClr val="000000"/>
              </a:solidFill>
              <a:effectLst/>
              <a:uFillTx/>
              <a:latin typeface="Arial"/>
            </a:endParaRPr>
          </a:p>
        </p:txBody>
      </p:sp>
      <p:sp>
        <p:nvSpPr>
          <p:cNvPr id="1321" name="Shape 5"/>
          <p:cNvSpPr/>
          <p:nvPr/>
        </p:nvSpPr>
        <p:spPr>
          <a:xfrm>
            <a:off x="86868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22" name="Text 6"/>
          <p:cNvSpPr/>
          <p:nvPr/>
        </p:nvSpPr>
        <p:spPr>
          <a:xfrm>
            <a:off x="101484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B2B5C"/>
                </a:solidFill>
                <a:effectLst/>
                <a:uFillTx/>
                <a:latin typeface="Aptos"/>
                <a:ea typeface="Aptos"/>
              </a:rPr>
              <a:t>Aristotle</a:t>
            </a:r>
            <a:endParaRPr lang="en-US" sz="1550" b="0" u="none" strike="noStrike">
              <a:solidFill>
                <a:srgbClr val="000000"/>
              </a:solidFill>
              <a:effectLst/>
              <a:uFillTx/>
              <a:latin typeface="Arial"/>
            </a:endParaRPr>
          </a:p>
        </p:txBody>
      </p:sp>
      <p:sp>
        <p:nvSpPr>
          <p:cNvPr id="1323" name="Text 7"/>
          <p:cNvSpPr/>
          <p:nvPr/>
        </p:nvSpPr>
        <p:spPr>
          <a:xfrm>
            <a:off x="101484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Nicomachean Ethics</a:t>
            </a:r>
            <a:endParaRPr lang="en-US" sz="1050" b="0" u="none" strike="noStrike">
              <a:solidFill>
                <a:srgbClr val="000000"/>
              </a:solidFill>
              <a:effectLst/>
              <a:uFillTx/>
              <a:latin typeface="Arial"/>
            </a:endParaRPr>
          </a:p>
        </p:txBody>
      </p:sp>
      <p:sp>
        <p:nvSpPr>
          <p:cNvPr id="1324" name="Text 8"/>
          <p:cNvSpPr/>
          <p:nvPr/>
        </p:nvSpPr>
        <p:spPr>
          <a:xfrm>
            <a:off x="101484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Practical reasoning — action at the center of intelligence.</a:t>
            </a:r>
            <a:endParaRPr lang="en-US" sz="1200" b="0" u="none" strike="noStrike">
              <a:solidFill>
                <a:srgbClr val="000000"/>
              </a:solidFill>
              <a:effectLst/>
              <a:uFillTx/>
              <a:latin typeface="Arial"/>
            </a:endParaRPr>
          </a:p>
        </p:txBody>
      </p:sp>
      <p:sp>
        <p:nvSpPr>
          <p:cNvPr id="1325" name="Shape 9"/>
          <p:cNvSpPr/>
          <p:nvPr/>
        </p:nvSpPr>
        <p:spPr>
          <a:xfrm>
            <a:off x="354348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26" name="Text 10"/>
          <p:cNvSpPr/>
          <p:nvPr/>
        </p:nvSpPr>
        <p:spPr>
          <a:xfrm>
            <a:off x="368964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2B6CB0"/>
                </a:solidFill>
                <a:effectLst/>
                <a:uFillTx/>
                <a:latin typeface="Aptos"/>
                <a:ea typeface="Aptos"/>
              </a:rPr>
              <a:t>Turing</a:t>
            </a:r>
            <a:endParaRPr lang="en-US" sz="1550" b="0" u="none" strike="noStrike">
              <a:solidFill>
                <a:srgbClr val="000000"/>
              </a:solidFill>
              <a:effectLst/>
              <a:uFillTx/>
              <a:latin typeface="Arial"/>
            </a:endParaRPr>
          </a:p>
        </p:txBody>
      </p:sp>
      <p:sp>
        <p:nvSpPr>
          <p:cNvPr id="1327" name="Text 11"/>
          <p:cNvSpPr/>
          <p:nvPr/>
        </p:nvSpPr>
        <p:spPr>
          <a:xfrm>
            <a:off x="368964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1950</a:t>
            </a:r>
            <a:endParaRPr lang="en-US" sz="1050" b="0" u="none" strike="noStrike">
              <a:solidFill>
                <a:srgbClr val="000000"/>
              </a:solidFill>
              <a:effectLst/>
              <a:uFillTx/>
              <a:latin typeface="Arial"/>
            </a:endParaRPr>
          </a:p>
        </p:txBody>
      </p:sp>
      <p:sp>
        <p:nvSpPr>
          <p:cNvPr id="1328" name="Text 12"/>
          <p:cNvSpPr/>
          <p:nvPr/>
        </p:nvSpPr>
        <p:spPr>
          <a:xfrm>
            <a:off x="368964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Hand-programming is too slow; build machines that learn and teach them.</a:t>
            </a:r>
            <a:endParaRPr lang="en-US" sz="1200" b="0" u="none" strike="noStrike">
              <a:solidFill>
                <a:srgbClr val="000000"/>
              </a:solidFill>
              <a:effectLst/>
              <a:uFillTx/>
              <a:latin typeface="Arial"/>
            </a:endParaRPr>
          </a:p>
        </p:txBody>
      </p:sp>
      <p:sp>
        <p:nvSpPr>
          <p:cNvPr id="1329" name="Shape 13"/>
          <p:cNvSpPr/>
          <p:nvPr/>
        </p:nvSpPr>
        <p:spPr>
          <a:xfrm>
            <a:off x="621792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0" name="Text 14"/>
          <p:cNvSpPr/>
          <p:nvPr/>
        </p:nvSpPr>
        <p:spPr>
          <a:xfrm>
            <a:off x="636408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048A97"/>
                </a:solidFill>
                <a:effectLst/>
                <a:uFillTx/>
                <a:latin typeface="Aptos"/>
                <a:ea typeface="Aptos"/>
              </a:rPr>
              <a:t>McCarthy</a:t>
            </a:r>
            <a:endParaRPr lang="en-US" sz="1550" b="0" u="none" strike="noStrike">
              <a:solidFill>
                <a:srgbClr val="000000"/>
              </a:solidFill>
              <a:effectLst/>
              <a:uFillTx/>
              <a:latin typeface="Arial"/>
            </a:endParaRPr>
          </a:p>
        </p:txBody>
      </p:sp>
      <p:sp>
        <p:nvSpPr>
          <p:cNvPr id="1331" name="Text 15"/>
          <p:cNvSpPr/>
          <p:nvPr/>
        </p:nvSpPr>
        <p:spPr>
          <a:xfrm>
            <a:off x="636408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1958</a:t>
            </a:r>
            <a:endParaRPr lang="en-US" sz="1050" b="0" u="none" strike="noStrike">
              <a:solidFill>
                <a:srgbClr val="000000"/>
              </a:solidFill>
              <a:effectLst/>
              <a:uFillTx/>
              <a:latin typeface="Arial"/>
            </a:endParaRPr>
          </a:p>
        </p:txBody>
      </p:sp>
      <p:sp>
        <p:nvSpPr>
          <p:cNvPr id="1332" name="Text 16"/>
          <p:cNvSpPr/>
          <p:nvPr/>
        </p:nvSpPr>
        <p:spPr>
          <a:xfrm>
            <a:off x="636408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“Programs with Common Sense” — the logical, goal-directed line of AI.</a:t>
            </a:r>
            <a:endParaRPr lang="en-US" sz="1200" b="0" u="none" strike="noStrike">
              <a:solidFill>
                <a:srgbClr val="000000"/>
              </a:solidFill>
              <a:effectLst/>
              <a:uFillTx/>
              <a:latin typeface="Arial"/>
            </a:endParaRPr>
          </a:p>
        </p:txBody>
      </p:sp>
      <p:sp>
        <p:nvSpPr>
          <p:cNvPr id="1333" name="Shape 17"/>
          <p:cNvSpPr/>
          <p:nvPr/>
        </p:nvSpPr>
        <p:spPr>
          <a:xfrm>
            <a:off x="8892720" y="123444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4" name="Text 18"/>
          <p:cNvSpPr/>
          <p:nvPr/>
        </p:nvSpPr>
        <p:spPr>
          <a:xfrm>
            <a:off x="9038880" y="136260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1B7A45"/>
                </a:solidFill>
                <a:effectLst/>
                <a:uFillTx/>
                <a:latin typeface="Aptos"/>
                <a:ea typeface="Aptos"/>
              </a:rPr>
              <a:t>Samuel</a:t>
            </a:r>
            <a:endParaRPr lang="en-US" sz="1550" b="0" u="none" strike="noStrike">
              <a:solidFill>
                <a:srgbClr val="000000"/>
              </a:solidFill>
              <a:effectLst/>
              <a:uFillTx/>
              <a:latin typeface="Arial"/>
            </a:endParaRPr>
          </a:p>
        </p:txBody>
      </p:sp>
      <p:sp>
        <p:nvSpPr>
          <p:cNvPr id="1335" name="Text 19"/>
          <p:cNvSpPr/>
          <p:nvPr/>
        </p:nvSpPr>
        <p:spPr>
          <a:xfrm>
            <a:off x="9038880" y="163692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1959, 1967</a:t>
            </a:r>
            <a:endParaRPr lang="en-US" sz="1050" b="0" u="none" strike="noStrike">
              <a:solidFill>
                <a:srgbClr val="000000"/>
              </a:solidFill>
              <a:effectLst/>
              <a:uFillTx/>
              <a:latin typeface="Arial"/>
            </a:endParaRPr>
          </a:p>
        </p:txBody>
      </p:sp>
      <p:sp>
        <p:nvSpPr>
          <p:cNvPr id="1336" name="Text 20"/>
          <p:cNvSpPr/>
          <p:nvPr/>
        </p:nvSpPr>
        <p:spPr>
          <a:xfrm>
            <a:off x="9038880" y="191124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checkers program that improves with play: the learning-agent design, working.</a:t>
            </a:r>
            <a:endParaRPr lang="en-US" sz="1200" b="0" u="none" strike="noStrike">
              <a:solidFill>
                <a:srgbClr val="000000"/>
              </a:solidFill>
              <a:effectLst/>
              <a:uFillTx/>
              <a:latin typeface="Arial"/>
            </a:endParaRPr>
          </a:p>
        </p:txBody>
      </p:sp>
      <p:sp>
        <p:nvSpPr>
          <p:cNvPr id="1337" name="Shape 21"/>
          <p:cNvSpPr/>
          <p:nvPr/>
        </p:nvSpPr>
        <p:spPr>
          <a:xfrm>
            <a:off x="86868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8" name="Text 22"/>
          <p:cNvSpPr/>
          <p:nvPr/>
        </p:nvSpPr>
        <p:spPr>
          <a:xfrm>
            <a:off x="101484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5B35B1"/>
                </a:solidFill>
                <a:effectLst/>
                <a:uFillTx/>
                <a:latin typeface="Aptos"/>
                <a:ea typeface="Aptos"/>
              </a:rPr>
              <a:t>Fikes &amp; Nilsson</a:t>
            </a:r>
            <a:endParaRPr lang="en-US" sz="1550" b="0" u="none" strike="noStrike">
              <a:solidFill>
                <a:srgbClr val="000000"/>
              </a:solidFill>
              <a:effectLst/>
              <a:uFillTx/>
              <a:latin typeface="Arial"/>
            </a:endParaRPr>
          </a:p>
        </p:txBody>
      </p:sp>
      <p:sp>
        <p:nvSpPr>
          <p:cNvPr id="1339" name="Text 23"/>
          <p:cNvSpPr/>
          <p:nvPr/>
        </p:nvSpPr>
        <p:spPr>
          <a:xfrm>
            <a:off x="101484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1971</a:t>
            </a:r>
            <a:endParaRPr lang="en-US" sz="1050" b="0" u="none" strike="noStrike">
              <a:solidFill>
                <a:srgbClr val="000000"/>
              </a:solidFill>
              <a:effectLst/>
              <a:uFillTx/>
              <a:latin typeface="Arial"/>
            </a:endParaRPr>
          </a:p>
        </p:txBody>
      </p:sp>
      <p:sp>
        <p:nvSpPr>
          <p:cNvPr id="1340" name="Text 24"/>
          <p:cNvSpPr/>
          <p:nvPr/>
        </p:nvSpPr>
        <p:spPr>
          <a:xfrm>
            <a:off x="101484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Shakey — the first robot embodiment of a logical, goal-based agent.</a:t>
            </a:r>
            <a:endParaRPr lang="en-US" sz="1200" b="0" u="none" strike="noStrike">
              <a:solidFill>
                <a:srgbClr val="000000"/>
              </a:solidFill>
              <a:effectLst/>
              <a:uFillTx/>
              <a:latin typeface="Arial"/>
            </a:endParaRPr>
          </a:p>
        </p:txBody>
      </p:sp>
      <p:sp>
        <p:nvSpPr>
          <p:cNvPr id="1341" name="Shape 25"/>
          <p:cNvSpPr/>
          <p:nvPr/>
        </p:nvSpPr>
        <p:spPr>
          <a:xfrm>
            <a:off x="354348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2" name="Text 26"/>
          <p:cNvSpPr/>
          <p:nvPr/>
        </p:nvSpPr>
        <p:spPr>
          <a:xfrm>
            <a:off x="368964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F5A21B"/>
                </a:solidFill>
                <a:effectLst/>
                <a:uFillTx/>
                <a:latin typeface="Aptos"/>
                <a:ea typeface="Aptos"/>
              </a:rPr>
              <a:t>Doyle</a:t>
            </a:r>
            <a:endParaRPr lang="en-US" sz="1550" b="0" u="none" strike="noStrike">
              <a:solidFill>
                <a:srgbClr val="000000"/>
              </a:solidFill>
              <a:effectLst/>
              <a:uFillTx/>
              <a:latin typeface="Arial"/>
            </a:endParaRPr>
          </a:p>
        </p:txBody>
      </p:sp>
      <p:sp>
        <p:nvSpPr>
          <p:cNvPr id="1343" name="Text 27"/>
          <p:cNvSpPr/>
          <p:nvPr/>
        </p:nvSpPr>
        <p:spPr>
          <a:xfrm>
            <a:off x="368964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1983</a:t>
            </a:r>
            <a:endParaRPr lang="en-US" sz="1050" b="0" u="none" strike="noStrike">
              <a:solidFill>
                <a:srgbClr val="000000"/>
              </a:solidFill>
              <a:effectLst/>
              <a:uFillTx/>
              <a:latin typeface="Arial"/>
            </a:endParaRPr>
          </a:p>
        </p:txBody>
      </p:sp>
      <p:sp>
        <p:nvSpPr>
          <p:cNvPr id="1344" name="Text 28"/>
          <p:cNvSpPr/>
          <p:nvPr/>
        </p:nvSpPr>
        <p:spPr>
          <a:xfrm>
            <a:off x="368964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Predicted that rational agent design would become the core mission of AI.</a:t>
            </a:r>
            <a:endParaRPr lang="en-US" sz="1200" b="0" u="none" strike="noStrike">
              <a:solidFill>
                <a:srgbClr val="000000"/>
              </a:solidFill>
              <a:effectLst/>
              <a:uFillTx/>
              <a:latin typeface="Arial"/>
            </a:endParaRPr>
          </a:p>
        </p:txBody>
      </p:sp>
      <p:sp>
        <p:nvSpPr>
          <p:cNvPr id="1345" name="Shape 29"/>
          <p:cNvSpPr/>
          <p:nvPr/>
        </p:nvSpPr>
        <p:spPr>
          <a:xfrm>
            <a:off x="621792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6" name="Text 30"/>
          <p:cNvSpPr/>
          <p:nvPr/>
        </p:nvSpPr>
        <p:spPr>
          <a:xfrm>
            <a:off x="636408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A32020"/>
                </a:solidFill>
                <a:effectLst/>
                <a:uFillTx/>
                <a:latin typeface="Aptos"/>
                <a:ea typeface="Aptos"/>
              </a:rPr>
              <a:t>Pearl</a:t>
            </a:r>
            <a:endParaRPr lang="en-US" sz="1550" b="0" u="none" strike="noStrike">
              <a:solidFill>
                <a:srgbClr val="000000"/>
              </a:solidFill>
              <a:effectLst/>
              <a:uFillTx/>
              <a:latin typeface="Arial"/>
            </a:endParaRPr>
          </a:p>
        </p:txBody>
      </p:sp>
      <p:sp>
        <p:nvSpPr>
          <p:cNvPr id="1347" name="Text 31"/>
          <p:cNvSpPr/>
          <p:nvPr/>
        </p:nvSpPr>
        <p:spPr>
          <a:xfrm>
            <a:off x="636408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1988</a:t>
            </a:r>
            <a:endParaRPr lang="en-US" sz="1050" b="0" u="none" strike="noStrike">
              <a:solidFill>
                <a:srgbClr val="000000"/>
              </a:solidFill>
              <a:effectLst/>
              <a:uFillTx/>
              <a:latin typeface="Arial"/>
            </a:endParaRPr>
          </a:p>
        </p:txBody>
      </p:sp>
      <p:sp>
        <p:nvSpPr>
          <p:cNvPr id="1348" name="Text 32"/>
          <p:cNvSpPr/>
          <p:nvPr/>
        </p:nvSpPr>
        <p:spPr>
          <a:xfrm>
            <a:off x="636408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Probability and utility in depth; the shift toward utility-based agents.</a:t>
            </a:r>
            <a:endParaRPr lang="en-US" sz="1200" b="0" u="none" strike="noStrike">
              <a:solidFill>
                <a:srgbClr val="000000"/>
              </a:solidFill>
              <a:effectLst/>
              <a:uFillTx/>
              <a:latin typeface="Arial"/>
            </a:endParaRPr>
          </a:p>
        </p:txBody>
      </p:sp>
      <p:sp>
        <p:nvSpPr>
          <p:cNvPr id="1349" name="Shape 33"/>
          <p:cNvSpPr/>
          <p:nvPr/>
        </p:nvSpPr>
        <p:spPr>
          <a:xfrm>
            <a:off x="8892720" y="3035880"/>
            <a:ext cx="2400120" cy="1645560"/>
          </a:xfrm>
          <a:prstGeom prst="roundRect">
            <a:avLst>
              <a:gd name="adj" fmla="val 4444"/>
            </a:avLst>
          </a:prstGeom>
          <a:solidFill>
            <a:srgbClr val="FFFFFF"/>
          </a:solidFill>
          <a:ln w="12700">
            <a:solidFill>
              <a:srgbClr val="D3DEE9"/>
            </a:solidFill>
            <a:round/>
          </a:ln>
          <a:effectLst>
            <a:outerShdw blurRad="19080" dist="9673"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0" name="Text 34"/>
          <p:cNvSpPr/>
          <p:nvPr/>
        </p:nvSpPr>
        <p:spPr>
          <a:xfrm>
            <a:off x="9038880" y="3163680"/>
            <a:ext cx="2107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u="none" strike="noStrike">
                <a:solidFill>
                  <a:srgbClr val="5E7088"/>
                </a:solidFill>
                <a:effectLst/>
                <a:uFillTx/>
                <a:latin typeface="Aptos"/>
                <a:ea typeface="Aptos"/>
              </a:rPr>
              <a:t>Control theory</a:t>
            </a:r>
            <a:endParaRPr lang="en-US" sz="1550" b="0" u="none" strike="noStrike">
              <a:solidFill>
                <a:srgbClr val="000000"/>
              </a:solidFill>
              <a:effectLst/>
              <a:uFillTx/>
              <a:latin typeface="Arial"/>
            </a:endParaRPr>
          </a:p>
        </p:txBody>
      </p:sp>
      <p:sp>
        <p:nvSpPr>
          <p:cNvPr id="1351" name="Text 35"/>
          <p:cNvSpPr/>
          <p:nvPr/>
        </p:nvSpPr>
        <p:spPr>
          <a:xfrm>
            <a:off x="9038880" y="3438000"/>
            <a:ext cx="2107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5E7088"/>
                </a:solidFill>
                <a:effectLst/>
                <a:uFillTx/>
                <a:latin typeface="Aptos"/>
                <a:ea typeface="Aptos"/>
              </a:rPr>
              <a:t>throughout</a:t>
            </a:r>
            <a:endParaRPr lang="en-US" sz="1050" b="0" u="none" strike="noStrike">
              <a:solidFill>
                <a:srgbClr val="000000"/>
              </a:solidFill>
              <a:effectLst/>
              <a:uFillTx/>
              <a:latin typeface="Arial"/>
            </a:endParaRPr>
          </a:p>
        </p:txBody>
      </p:sp>
      <p:sp>
        <p:nvSpPr>
          <p:cNvPr id="1352" name="Text 36"/>
          <p:cNvSpPr/>
          <p:nvPr/>
        </p:nvSpPr>
        <p:spPr>
          <a:xfrm>
            <a:off x="9038880" y="3712320"/>
            <a:ext cx="2107440" cy="8409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defTabSz="914400">
              <a:lnSpc>
                <a:spcPct val="100000"/>
              </a:lnSpc>
              <a:tabLst>
                <a:tab pos="0" algn="l"/>
              </a:tabLst>
            </a:pPr>
            <a:r>
              <a:rPr lang="en-US" sz="1200" b="0" u="none" strike="noStrike">
                <a:solidFill>
                  <a:srgbClr val="0B1F3A"/>
                </a:solidFill>
                <a:effectLst/>
                <a:uFillTx/>
                <a:latin typeface="Aptos"/>
                <a:ea typeface="Aptos"/>
              </a:rPr>
              <a:t>A controller is an agent; its subfields map onto our environment dimensions.</a:t>
            </a:r>
            <a:endParaRPr lang="en-US" sz="1200" b="0" u="none" strike="noStrike">
              <a:solidFill>
                <a:srgbClr val="000000"/>
              </a:solidFill>
              <a:effectLst/>
              <a:uFillTx/>
              <a:latin typeface="Arial"/>
            </a:endParaRPr>
          </a:p>
        </p:txBody>
      </p:sp>
      <p:sp>
        <p:nvSpPr>
          <p:cNvPr id="1353" name="Text 37"/>
          <p:cNvSpPr/>
          <p:nvPr/>
        </p:nvSpPr>
        <p:spPr>
          <a:xfrm>
            <a:off x="914400" y="4983480"/>
            <a:ext cx="103323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900" b="1" u="none" strike="noStrike">
                <a:solidFill>
                  <a:srgbClr val="0B2B5C"/>
                </a:solidFill>
                <a:effectLst/>
                <a:uFillTx/>
                <a:latin typeface="Aptos"/>
                <a:ea typeface="Aptos"/>
              </a:rPr>
              <a:t>AI spent decades on isolated components; the whole-agent view is now the default</a:t>
            </a:r>
            <a:endParaRPr lang="en-US" sz="1900" b="0" u="none" strike="noStrike">
              <a:solidFill>
                <a:srgbClr val="000000"/>
              </a:solidFill>
              <a:effectLst/>
              <a:uFillTx/>
              <a:latin typeface="Arial"/>
            </a:endParaRPr>
          </a:p>
        </p:txBody>
      </p:sp>
      <p:sp>
        <p:nvSpPr>
          <p:cNvPr id="1354" name="Text 38"/>
          <p:cNvSpPr/>
          <p:nvPr/>
        </p:nvSpPr>
        <p:spPr>
          <a:xfrm>
            <a:off x="1005840" y="5468040"/>
            <a:ext cx="101494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0B1F3A"/>
                </a:solidFill>
                <a:effectLst/>
                <a:uFillTx/>
                <a:latin typeface="Aptos"/>
                <a:ea typeface="Aptos"/>
              </a:rPr>
              <a:t>Question-answering systems, theorem provers, and vision systems were studied largely in isolation. Genesereth and Nilsson (1987) were an influential exception, and the agent-based approach now runs through software engineering, operating systems, and the AAMAS conference series.</a:t>
            </a:r>
            <a:endParaRPr lang="en-US" sz="1400" b="0" u="none" strike="noStrike">
              <a:solidFill>
                <a:srgbClr val="000000"/>
              </a:solidFill>
              <a:effectLst/>
              <a:uFillTx/>
              <a:latin typeface="Arial"/>
            </a:endParaRPr>
          </a:p>
        </p:txBody>
      </p:sp>
      <p:sp>
        <p:nvSpPr>
          <p:cNvPr id="1355" name="Text 39"/>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ea typeface="Aptos"/>
              </a:rPr>
              <a:t>COMP 469 · Chapter 2</a:t>
            </a:r>
            <a:endParaRPr lang="en-US" sz="850" b="0" u="none" strike="noStrike">
              <a:solidFill>
                <a:srgbClr val="000000"/>
              </a:solidFill>
              <a:effectLst/>
              <a:uFillTx/>
              <a:latin typeface="Arial"/>
            </a:endParaRPr>
          </a:p>
        </p:txBody>
      </p:sp>
      <p:sp>
        <p:nvSpPr>
          <p:cNvPr id="1356" name="Text 40"/>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E7088"/>
                </a:solidFill>
                <a:effectLst/>
                <a:uFillTx/>
                <a:latin typeface="Aptos"/>
                <a:ea typeface="Aptos"/>
              </a:rPr>
              <a:t>50</a:t>
            </a:r>
            <a:endParaRPr lang="en-US" sz="850" b="0" u="none" strike="noStrike">
              <a:solidFill>
                <a:srgbClr val="000000"/>
              </a:solidFill>
              <a:effectLst/>
              <a:uFillTx/>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1357" name="Shape 0"/>
          <p:cNvSpPr/>
          <p:nvPr/>
        </p:nvSpPr>
        <p:spPr>
          <a:xfrm>
            <a:off x="0" y="0"/>
            <a:ext cx="12190680" cy="803520"/>
          </a:xfrm>
          <a:prstGeom prst="rect">
            <a:avLst/>
          </a:prstGeom>
          <a:solidFill>
            <a:srgbClr val="0B2B5C"/>
          </a:solidFill>
          <a:ln w="12700">
            <a:solidFill>
              <a:srgbClr val="0B2B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58" name="Shape 1"/>
          <p:cNvSpPr/>
          <p:nvPr/>
        </p:nvSpPr>
        <p:spPr>
          <a:xfrm>
            <a:off x="0" y="804600"/>
            <a:ext cx="12190680" cy="72000"/>
          </a:xfrm>
          <a:prstGeom prst="rect">
            <a:avLst/>
          </a:prstGeom>
          <a:solidFill>
            <a:srgbClr val="F5A21B"/>
          </a:solidFill>
          <a:ln w="12700">
            <a:solidFill>
              <a:srgbClr val="F5A21B"/>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000000"/>
              </a:solidFill>
              <a:effectLst/>
              <a:uFillTx/>
              <a:latin typeface="Arial"/>
            </a:endParaRPr>
          </a:p>
        </p:txBody>
      </p:sp>
      <p:sp>
        <p:nvSpPr>
          <p:cNvPr id="1359" name="Text 2"/>
          <p:cNvSpPr/>
          <p:nvPr/>
        </p:nvSpPr>
        <p:spPr>
          <a:xfrm>
            <a:off x="475560" y="210240"/>
            <a:ext cx="96001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Aptos Display"/>
                <a:ea typeface="Aptos Display"/>
              </a:rPr>
              <a:t>Chapter 2 Takeaways</a:t>
            </a:r>
            <a:endParaRPr lang="en-US" sz="2300" b="0" u="none" strike="noStrike">
              <a:solidFill>
                <a:srgbClr val="000000"/>
              </a:solidFill>
              <a:effectLst/>
              <a:uFillTx/>
              <a:latin typeface="Arial"/>
            </a:endParaRPr>
          </a:p>
        </p:txBody>
      </p:sp>
      <p:sp>
        <p:nvSpPr>
          <p:cNvPr id="1360" name="Text 3"/>
          <p:cNvSpPr/>
          <p:nvPr/>
        </p:nvSpPr>
        <p:spPr>
          <a:xfrm>
            <a:off x="10241280" y="255960"/>
            <a:ext cx="1370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u="none" strike="noStrike">
                <a:solidFill>
                  <a:srgbClr val="DDE8F2"/>
                </a:solidFill>
                <a:effectLst/>
                <a:uFillTx/>
                <a:latin typeface="Aptos"/>
                <a:ea typeface="Aptos"/>
              </a:rPr>
              <a:t>Summary</a:t>
            </a:r>
            <a:endParaRPr lang="en-US" sz="1200" b="0" u="none" strike="noStrike">
              <a:solidFill>
                <a:srgbClr val="000000"/>
              </a:solidFill>
              <a:effectLst/>
              <a:uFillTx/>
              <a:latin typeface="Arial"/>
            </a:endParaRPr>
          </a:p>
        </p:txBody>
      </p:sp>
      <p:sp>
        <p:nvSpPr>
          <p:cNvPr id="1361" name="Text 4"/>
          <p:cNvSpPr/>
          <p:nvPr/>
        </p:nvSpPr>
        <p:spPr>
          <a:xfrm>
            <a:off x="475560" y="6565320"/>
            <a:ext cx="274212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E7088"/>
                </a:solidFill>
                <a:effectLst/>
                <a:uFillTx/>
                <a:latin typeface="Aptos"/>
              </a:rPr>
              <a:t>COMP 469 · Chapter 2</a:t>
            </a:r>
            <a:endParaRPr lang="en-US" sz="850" b="0" u="none" strike="noStrike">
              <a:solidFill>
                <a:srgbClr val="000000"/>
              </a:solidFill>
              <a:effectLst/>
              <a:uFillTx/>
              <a:latin typeface="Arial"/>
            </a:endParaRPr>
          </a:p>
        </p:txBody>
      </p:sp>
      <p:sp>
        <p:nvSpPr>
          <p:cNvPr id="1362" name="Text 5"/>
          <p:cNvSpPr/>
          <p:nvPr/>
        </p:nvSpPr>
        <p:spPr>
          <a:xfrm>
            <a:off x="11201400" y="6565320"/>
            <a:ext cx="548280" cy="163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800" b="0" u="none" strike="noStrike">
                <a:solidFill>
                  <a:srgbClr val="000000"/>
                </a:solidFill>
                <a:effectLst/>
                <a:uFillTx/>
                <a:latin typeface="Aptos"/>
              </a:rPr>
              <a:t>51</a:t>
            </a:r>
            <a:endParaRPr lang="en-US" sz="1800" b="0" u="none" strike="noStrike">
              <a:solidFill>
                <a:srgbClr val="000000"/>
              </a:solidFill>
              <a:effectLst/>
              <a:uFillTx/>
              <a:latin typeface="Arial"/>
            </a:endParaRPr>
          </a:p>
        </p:txBody>
      </p:sp>
      <p:sp>
        <p:nvSpPr>
          <p:cNvPr id="1363" name="Text 6"/>
          <p:cNvSpPr/>
          <p:nvPr/>
        </p:nvSpPr>
        <p:spPr>
          <a:xfrm>
            <a:off x="868680" y="1234440"/>
            <a:ext cx="10514520" cy="3107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700" b="0" u="none" strike="noStrike">
                <a:solidFill>
                  <a:srgbClr val="0B1F3A"/>
                </a:solidFill>
                <a:effectLst/>
                <a:uFillTx/>
                <a:latin typeface="Aptos"/>
                <a:ea typeface="Aptos"/>
              </a:rPr>
              <a:t>An agent perceives an environment through sensors and acts through actuators.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A rational agent maximizes expected performance, not hindsight perfection.</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PEAS specifies the task: performance, environment, actuators, sensors.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Environment properties determine which agent design is appropriate.</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Agent programs include table-driven, simple reflex, model-based, goal-based, utility-based, and learning agents.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US" sz="1700" b="0" u="none" strike="noStrike">
                <a:solidFill>
                  <a:srgbClr val="0B1F3A"/>
                </a:solidFill>
                <a:effectLst/>
                <a:uFillTx/>
                <a:latin typeface="Aptos"/>
                <a:ea typeface="Aptos"/>
              </a:rPr>
              <a:t>Representations determine what the agent can express and how hard reasoning becomes.</a:t>
            </a:r>
            <a:endParaRPr lang="en-US" sz="1700" b="0" u="none" strike="noStrike">
              <a:solidFill>
                <a:srgbClr val="000000"/>
              </a:solidFill>
              <a:effectLst/>
              <a:uFillTx/>
              <a:latin typeface="Arial"/>
            </a:endParaRPr>
          </a:p>
        </p:txBody>
      </p:sp>
      <p:sp>
        <p:nvSpPr>
          <p:cNvPr id="1364" name="Shape 7"/>
          <p:cNvSpPr/>
          <p:nvPr/>
        </p:nvSpPr>
        <p:spPr>
          <a:xfrm>
            <a:off x="914400" y="4892040"/>
            <a:ext cx="10332720" cy="360"/>
          </a:xfrm>
          <a:prstGeom prst="line">
            <a:avLst/>
          </a:prstGeom>
          <a:ln w="25400">
            <a:solidFill>
              <a:srgbClr val="F5A21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365" name="Text 8"/>
          <p:cNvSpPr/>
          <p:nvPr/>
        </p:nvSpPr>
        <p:spPr>
          <a:xfrm>
            <a:off x="868680" y="5440680"/>
            <a:ext cx="105145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50" b="1" u="none" strike="noStrike">
                <a:solidFill>
                  <a:srgbClr val="0B2B5C"/>
                </a:solidFill>
                <a:effectLst/>
                <a:uFillTx/>
                <a:latin typeface="Aptos"/>
              </a:rPr>
              <a:t>Define the agent -&gt; Specify the task -&gt; Classify the environment -&gt; Choose the design</a:t>
            </a:r>
            <a:endParaRPr lang="en-US" sz="185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209</TotalTime>
  <Words>24103</Words>
  <Application>Microsoft Office PowerPoint</Application>
  <PresentationFormat>Widescreen</PresentationFormat>
  <Paragraphs>1535</Paragraphs>
  <Slides>52</Slides>
  <Notes>52</Notes>
  <HiddenSlides>0</HiddenSlides>
  <MMClips>2</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52</vt:i4>
      </vt:variant>
    </vt:vector>
  </HeadingPairs>
  <TitlesOfParts>
    <vt:vector size="62" baseType="lpstr">
      <vt:lpstr>Aptos</vt:lpstr>
      <vt:lpstr>Aptos Display</vt:lpstr>
      <vt:lpstr>Arial</vt:lpstr>
      <vt:lpstr>Consolas</vt:lpstr>
      <vt:lpstr>Courier New</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CSU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2: Intelligent Agents</dc:title>
  <dc:subject>Chapter 2 Intelligent Agents</dc:subject>
  <dc:creator>COMP 469</dc:creator>
  <dc:description/>
  <cp:lastModifiedBy>Rios, Juan</cp:lastModifiedBy>
  <cp:revision>44</cp:revision>
  <dcterms:created xsi:type="dcterms:W3CDTF">2026-07-31T02:27:29Z</dcterms:created>
  <dcterms:modified xsi:type="dcterms:W3CDTF">2026-09-01T06:57:51Z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49</vt:i4>
  </property>
  <property fmtid="{D5CDD505-2E9C-101B-9397-08002B2CF9AE}" pid="4" name="PresentationFormat">
    <vt:lpwstr>Widescreen</vt:lpwstr>
  </property>
  <property fmtid="{D5CDD505-2E9C-101B-9397-08002B2CF9AE}" pid="5" name="Slides">
    <vt:i4>53</vt:i4>
  </property>
</Properties>
</file>