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linking Chapter 1 to Chapter 2. Chapter 1 ended with the rational-agent approach: AI is about systems that do the right thing. Chapter 2 makes that concrete. We define what an agent is, what an environment is, what counts as good behavior, and what kinds of agent programs can implement intelligent behavior. The Berkeley Part II lecture uses the same framing: an agent senses, decides, acts, and receives feedback from the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orient the class. Chapter 2 is not one algorithm; it is a design framework. First, we describe the interaction loop. Second, we define rational behavior. Third, we specify the task using PEAS. Fourth, we classify the environment. Fifth, we choose an agent program design. Finally, we explain how learning and representation choices allow agents to improve and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Berkeley-style quiz. Ask students which tasks current AI can do reliably. The point is not to settle each item. The point is to make students notice that task difficulty depends on the environment. Chess and Go have clean rules and limited actions. Unloading any dishwasher is physically messy and highly variable. Driving involves other agents, uncertainty, safety constraints, and real-time decisions. This naturally leads to Chapter 2: define the agent, environment, percepts, actions, and performance measure.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as the central diagram of the chapter. An agent is anything we can view as perceiving an environment through sensors and acting on that environment through actuators. The environment is not necessarily the entire universe. It is the part of the world that matters for this agent design: the part that affects the agent's percepts and is affected by the agent's actions. The key point is that intelligence is analyzed as a feedback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percept is what the sensors are currently receiving. A percept sequence is the entire history. The agent function is an abstract mathematical mapping from possible percept sequences to actions. The agent program is the actual implementation. The program usually receives only the current percept, so if the action depends on history, the program must store that history internally. This distinction is central to Chapter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2 evaluates behavior by consequences. The performance measure defines success. Rationality depends on four things: the performance measure, prior knowledge, available actions, and the percept sequence. Stress that rationality is not being lucky or being correct after the fact. A rational agent maximizes expected performance given its evidence and knowledge. This is where objective specification matters: if the performance measure is wrong, a rational agent can optimize the wrong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connects Chapter 2 to the value alignment discussion from Chapter 1. A performance measure should reward the environment state we actually want, not a proxy that can be gamed. In the vacuum example, rewarding dirt cleaned can make a rational agent dump dirt and clean it repeatedly. A better measure rewards clean squares over time, possibly with penalties for noise or energy. This is a practical AI design lesson: rational optimization is only good when the objective is specified correctly.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Rational agents do not need omniscience. Omniscience means knowing actual outcomes. Rationality means making the best expected choice using available evidence. The street-crossing example makes this clear: a person can act rationally even if an unforeseeable accident occurs. Information gathering is part of rationality because looking before crossing changes future percepts. Learning is also part of autonomy: the agent should use experience to compensate for incomplete or incorrect prior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PEAS is a design checklist. The automated taxi is the main Chapter 2 example. Performance includes safety, legality, comfort, time, cost, fuel use, and profit; these can conflict. The environment includes roads, traffic, pedestrians, weather, and passengers. Actuators include steering, accelerator, brake, display, and speech. Sensors include cameras, lidar, radar, GPS, speedometer, engine sensors, and passenger input. The first step in designing an agent is specifying the task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a diagnostic tool. Environment properties determine the right agent design. Fully observable means sensors provide all relevant state; partially observable means some state is missing or noisy. Multiagent environments require modeling other agents. Deterministic environments have predictable next states; stochastic environments require uncertainty handling. Episodic tasks do not require long-term consequences; sequential tasks do. Static environments do not change while the agent deliberates; dynamic ones do. Discrete and continuous apply to states, time, percepts, and actions. Known versus unknown concerns whether the agent knows the rules or transition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Pac-Man is a strong teaching example because the environment, percepts, actions, and performance measure are visible. The agent senses walls, pellets, ghost positions, legal moves, and whether power mode is active. The actions are simple movement choices. The task is sequential because current choices affect future survival. It is multiagent because ghosts behave as other entities. It is dynamic because ghosts move while Pac-Man is playing. This connects directly to the autonomous Pac-Man code used in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2 gives the formula agent equals architecture plus program. The architecture makes percepts available and carries actions out through actuators. The program implements the agent function. A table-driven agent is conceptually useful but practically impossible because the table grows explosively with percept history. The key AI challenge is writing compact programs that behave rationally enough without enumerating every possible percept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Simple reflex agents use the current percept only. They ignore the percept history. In the vacuum world, this can work if the agent perceives both location and dirt status. In driving, a simple rule might be: if the car in front is braking, initiate braking. The strength is speed and compactness. The weakness is brittleness: when the current percept does not reveal enough about the state, the agent may fail.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what happens if the vacuum agent cannot perceive its location. If it only sees Clean or Dirty, Clean does not reveal where it is. A deterministic simple reflex response can loop forever. Randomization may help in this toy case, but it is not a general solution. The better solution is to maintain internal state: the agent remembers or infers parts of the world that are not visible in the current percept.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Model-based reflex agents maintain an internal state. That state is the agent's best guess about the current world. Updating state requires two kinds of knowledge. The transition model explains how the world changes and what the agent's actions do. The sensor model explains how states are reflected in percepts. In a taxi, the agent may remember nearby cars that are temporarily hidden. In Pac-Man, it may track power-mode time or ghost release status.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Goal-based agents add goal information to the current-state estimate. A taxi at an intersection cannot decide left, right, or straight unless it knows the destination. This is the bridge to search and planning. A goal-based agent asks what will happen if it takes an action and whether that future satisfies the goal. The design is more flexible than reflex rules, but it can be computationally more expensive.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uses the new Berkeley search transcript. The first part is useful for Chapter 2 because it compares reflex agents and planning agents. A reflex agent reacts to the current percept and does not consider future consequences. A planning agent asks what if and uses a model of action consequences. The Pac-Man examples in the video make this visible. After about the first ten minutes, the lecture becomes Chapter 3 search: states, successor functions, state-space graphs, search trees, DFS, BFS, and uniform-cost 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Utility-based agents are needed when goals are too crude. Many action sequences can reach a taxi destination, but some are safer, faster, cheaper, or more comfortable. Utility compares outcomes by degree. Utility is especially important with conflicting goals, such as speed versus safety, and with uncertainty, where goals may not be achieved with certainty. The rational utility-based agent chooses the action that maximizes expected utility.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Turing argued that hand-programming intelligence is too slow, so learning machines are desirable. Chapter 2 divides a learning agent into four conceptual components. The performance element selects external actions. The learning element modifies the performance element to improve future behavior. The critic tells the learning element how well the agent is doing relative to a fixed performance standard. The problem generator suggests exploratory actions that may be suboptimal now but informative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2 closes with representations, which preview the rest of the course. Atomic representations treat states as indivisible labels, such as being in one city or another. Factored representations break states into variables and values. Structured representations describe objects and relationships. More expressive representations can describe more, but reasoning and learning usually become harder. A good design uses enough expressive power for the task without making reasoning intractable.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practical synthesis slide. The agent design follows from the task environment. Fully observable and simple settings can sometimes use simple reflex rules. Partial observability pushes toward model-based agents. Long-term objectives push toward goal-based agents and search. Tradeoffs and uncertainty push toward utility-based agents. Unknown or changing environments push toward learning. Emphasize that these are design patterns, not mutually exclusive boxes. Real systems often combine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gives you an in-class activity. Divide the class into small groups. Assign a system, then ask each group to fill in PEAS: performance measure, environment, actuators, and sensors. The checkpoint is important: if students cannot define PEAS, they are not ready to propose algorithms. This prevents them from jumping straight to implementation before specifying the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autonomous Pac-Man game here. Ask students to map the code to Chapter 2 vocabulary. The percepts are position, legal moves, pellets, power pellets, and ghost positions. The actions are movement commands. The performance measure is score, survival, and completion. Ask whether the code is reflex, model-based, goal-based, utility-based, or mixed. The answer can be mixed: utility calculations, limited planning, and state variables can coexist in the same agent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new Berkeley video is useful, but not all of it is Chapter 2. The first segment supports Chapter 2 because it distinguishes reflex agents from planning agents and uses Pac-Man as the example. After that, the lecture becomes Chapter 3. Use it as a bridge: Chapter 2 explains why a goal-based agent needs to look ahead; Chapter 3 explains the search algorithms for doing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chapter logic. First define the agent and environment. Second specify the task with PEAS. Third classify the environment. Fourth choose an agent program design. A simple reflex agent may be enough in a fully observable, deterministic, static setting. Partial observability pushes toward model-based agents. Long-term goals push toward goal-based agents. Tradeoffs and uncertainty push toward utility-based agents. Unknown environments and improving performance push toward learning agents. This chapter sets up search, planning, probability, machine learning, and reinforcement learning.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ERKELEY_MASTER">
    <p:bg>
      <p:bgPr>
        <a:solidFill>
          <a:srgbClr val="F3F6FA"/>
        </a:solidFill>
      </p:bgPr>
    </p:bg>
    <p:spTree>
      <p:nvGrpSpPr>
        <p:cNvPr id="1" name=""/>
        <p:cNvGrpSpPr/>
        <p:nvPr/>
      </p:nvGrpSpPr>
      <p:grpSpPr>
        <a:xfrm>
          <a:off x="0" y="0"/>
          <a:ext cx="0" cy="0"/>
          <a:chOff x="0" y="0"/>
          <a:chExt cx="0" cy="0"/>
        </a:xfrm>
      </p:grpSpPr>
      <p:sp>
        <p:nvSpPr>
          <p:cNvPr id="2" name="Shape 0"/>
          <p:cNvSpPr/>
          <p:nvPr/>
        </p:nvSpPr>
        <p:spPr>
          <a:xfrm>
            <a:off x="0" y="0"/>
            <a:ext cx="12191695" cy="758952"/>
          </a:xfrm>
          <a:prstGeom prst="rect">
            <a:avLst/>
          </a:prstGeom>
          <a:solidFill>
            <a:srgbClr val="102F63"/>
          </a:solidFill>
          <a:ln w="12700">
            <a:solidFill>
              <a:srgbClr val="102F63"/>
            </a:solidFill>
            <a:prstDash val="solid"/>
          </a:ln>
        </p:spPr>
      </p:sp>
      <p:sp>
        <p:nvSpPr>
          <p:cNvPr id="3" name="Shape 1"/>
          <p:cNvSpPr/>
          <p:nvPr/>
        </p:nvSpPr>
        <p:spPr>
          <a:xfrm>
            <a:off x="0" y="758952"/>
            <a:ext cx="12191695" cy="0"/>
          </a:xfrm>
          <a:prstGeom prst="line">
            <a:avLst/>
          </a:prstGeom>
          <a:noFill/>
          <a:ln w="50800">
            <a:solidFill>
              <a:srgbClr val="F5A623"/>
            </a:solidFill>
            <a:prstDash val="solid"/>
          </a:ln>
        </p:spPr>
      </p:sp>
      <p:sp>
        <p:nvSpPr>
          <p:cNvPr id="4" name="Shape 2"/>
          <p:cNvSpPr/>
          <p:nvPr/>
        </p:nvSpPr>
        <p:spPr>
          <a:xfrm>
            <a:off x="0" y="6501384"/>
            <a:ext cx="12191695" cy="0"/>
          </a:xfrm>
          <a:prstGeom prst="line">
            <a:avLst/>
          </a:prstGeom>
          <a:noFill/>
          <a:ln w="12700">
            <a:solidFill>
              <a:srgbClr val="D4DCE8"/>
            </a:solidFill>
            <a:prstDash val="solid"/>
          </a:ln>
        </p:spPr>
      </p:sp>
      <p:sp>
        <p:nvSpPr>
          <p:cNvPr id="5" name="Text 3"/>
          <p:cNvSpPr/>
          <p:nvPr/>
        </p:nvSpPr>
        <p:spPr>
          <a:xfrm>
            <a:off x="9765792" y="6565392"/>
            <a:ext cx="2148840" cy="146304"/>
          </a:xfrm>
          <a:prstGeom prst="rect">
            <a:avLst/>
          </a:prstGeom>
          <a:noFill/>
          <a:ln/>
        </p:spPr>
        <p:txBody>
          <a:bodyPr wrap="square" rtlCol="0" anchor="ctr"/>
          <a:lstStyle/>
          <a:p>
            <a:pPr algn="r" indent="0" marL="0">
              <a:buNone/>
            </a:pPr>
            <a:r>
              <a:rPr lang="en-US" sz="750" dirty="0">
                <a:solidFill>
                  <a:srgbClr val="6B778C"/>
                </a:solidFill>
                <a:latin typeface="Aptos" pitchFamily="34" charset="0"/>
                <a:ea typeface="Aptos" pitchFamily="34" charset="-122"/>
                <a:cs typeface="Aptos" pitchFamily="34" charset="-120"/>
              </a:rPr>
              <a:t>COMP 469 · Chapter 2</a:t>
            </a:r>
            <a:endParaRPr lang="en-US" sz="750" dirty="0"/>
          </a:p>
        </p:txBody>
      </p:sp>
      <p:sp>
        <p:nvSpPr>
          <p:cNvPr id="25" name="Slide Number Placeholder 0"/>
          <p:cNvSpPr>
            <a:spLocks noGrp="1"/>
          </p:cNvSpPr>
          <p:nvPr>
            <p:ph type="sldNum" sz="quarter" idx="4294967295"/>
          </p:nvPr>
        </p:nvSpPr>
        <p:spPr>
          <a:xfrm>
            <a:off x="5943600" y="658368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B778C"/>
                </a:solidFill>
                <a:latin typeface="Aptos"/>
                <a:ea typeface="Aptos"/>
                <a:cs typeface="Aptos"/>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943600" y="658368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B778C"/>
                </a:solidFill>
                <a:latin typeface="Aptos"/>
                <a:ea typeface="Aptos"/>
                <a:cs typeface="Aptos"/>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502920" y="146304"/>
            <a:ext cx="11155680" cy="329184"/>
          </a:xfrm>
          <a:prstGeom prst="rect">
            <a:avLst/>
          </a:prstGeom>
          <a:noFill/>
          <a:ln/>
        </p:spPr>
        <p:txBody>
          <a:bodyPr wrap="square" lIns="0" tIns="0" rIns="0" bIns="0" rtlCol="0" anchor="ctr"/>
          <a:lstStyle/>
          <a:p>
            <a:pPr indent="0" marL="0">
              <a:buNone/>
            </a:pPr>
            <a:r>
              <a:rPr lang="en-US" sz="2500" b="1" dirty="0">
                <a:solidFill>
                  <a:srgbClr val="FFFFFF"/>
                </a:solidFill>
                <a:latin typeface="Aptos Display" pitchFamily="34" charset="0"/>
                <a:ea typeface="Aptos Display" pitchFamily="34" charset="-122"/>
                <a:cs typeface="Aptos Display" pitchFamily="34" charset="-120"/>
              </a:rPr>
              <a:t>Chapter 2: Intelligent Agents</a:t>
            </a:r>
            <a:endParaRPr lang="en-US" sz="2500" dirty="0"/>
          </a:p>
        </p:txBody>
      </p:sp>
      <p:sp>
        <p:nvSpPr>
          <p:cNvPr id="3" name="Text 1"/>
          <p:cNvSpPr/>
          <p:nvPr/>
        </p:nvSpPr>
        <p:spPr>
          <a:xfrm>
            <a:off x="521208" y="566928"/>
            <a:ext cx="10515600" cy="128016"/>
          </a:xfrm>
          <a:prstGeom prst="rect">
            <a:avLst/>
          </a:prstGeom>
          <a:noFill/>
          <a:ln/>
        </p:spPr>
        <p:txBody>
          <a:bodyPr wrap="square" rtlCol="0" anchor="ctr"/>
          <a:lstStyle/>
          <a:p>
            <a:pPr indent="0" marL="0">
              <a:buNone/>
            </a:pPr>
            <a:r>
              <a:rPr lang="en-US" sz="850" dirty="0">
                <a:solidFill>
                  <a:srgbClr val="DCE8F9"/>
                </a:solidFill>
                <a:latin typeface="Aptos" pitchFamily="34" charset="0"/>
                <a:ea typeface="Aptos" pitchFamily="34" charset="-122"/>
                <a:cs typeface="Aptos" pitchFamily="34" charset="-120"/>
              </a:rPr>
              <a:t>Berkeley-style master deck · AIMA Chapter 2 aligned</a:t>
            </a:r>
            <a:endParaRPr lang="en-US" sz="850" dirty="0"/>
          </a:p>
        </p:txBody>
      </p:sp>
      <p:sp>
        <p:nvSpPr>
          <p:cNvPr id="4" name="Text 2"/>
          <p:cNvSpPr/>
          <p:nvPr/>
        </p:nvSpPr>
        <p:spPr>
          <a:xfrm>
            <a:off x="1143000" y="1828800"/>
            <a:ext cx="1097280" cy="320040"/>
          </a:xfrm>
          <a:prstGeom prst="rect">
            <a:avLst/>
          </a:prstGeom>
          <a:noFill/>
          <a:ln/>
        </p:spPr>
        <p:txBody>
          <a:bodyPr wrap="square" rtlCol="0" anchor="ctr"/>
          <a:lstStyle/>
          <a:p>
            <a:pPr algn="ctr" indent="0" marL="0">
              <a:buNone/>
            </a:pPr>
            <a:r>
              <a:rPr lang="en-US" sz="2300" b="1" dirty="0">
                <a:solidFill>
                  <a:srgbClr val="1F65B6"/>
                </a:solidFill>
              </a:rPr>
              <a:t>Sense</a:t>
            </a:r>
            <a:endParaRPr lang="en-US" sz="2300" dirty="0"/>
          </a:p>
        </p:txBody>
      </p:sp>
      <p:sp>
        <p:nvSpPr>
          <p:cNvPr id="5" name="Text 3"/>
          <p:cNvSpPr/>
          <p:nvPr/>
        </p:nvSpPr>
        <p:spPr>
          <a:xfrm>
            <a:off x="5440680" y="1828800"/>
            <a:ext cx="1371600" cy="320040"/>
          </a:xfrm>
          <a:prstGeom prst="rect">
            <a:avLst/>
          </a:prstGeom>
          <a:noFill/>
          <a:ln/>
        </p:spPr>
        <p:txBody>
          <a:bodyPr wrap="square" rtlCol="0" anchor="ctr"/>
          <a:lstStyle/>
          <a:p>
            <a:pPr algn="ctr" indent="0" marL="0">
              <a:buNone/>
            </a:pPr>
            <a:r>
              <a:rPr lang="en-US" sz="2300" b="1" dirty="0">
                <a:solidFill>
                  <a:srgbClr val="6D28D9"/>
                </a:solidFill>
              </a:rPr>
              <a:t>Decide</a:t>
            </a:r>
            <a:endParaRPr lang="en-US" sz="2300" dirty="0"/>
          </a:p>
        </p:txBody>
      </p:sp>
      <p:sp>
        <p:nvSpPr>
          <p:cNvPr id="6" name="Text 4"/>
          <p:cNvSpPr/>
          <p:nvPr/>
        </p:nvSpPr>
        <p:spPr>
          <a:xfrm>
            <a:off x="9829800" y="1828800"/>
            <a:ext cx="1005840" cy="320040"/>
          </a:xfrm>
          <a:prstGeom prst="rect">
            <a:avLst/>
          </a:prstGeom>
          <a:noFill/>
          <a:ln/>
        </p:spPr>
        <p:txBody>
          <a:bodyPr wrap="square" rtlCol="0" anchor="ctr"/>
          <a:lstStyle/>
          <a:p>
            <a:pPr algn="ctr" indent="0" marL="0">
              <a:buNone/>
            </a:pPr>
            <a:r>
              <a:rPr lang="en-US" sz="2300" b="1" dirty="0">
                <a:solidFill>
                  <a:srgbClr val="1F7A3D"/>
                </a:solidFill>
              </a:rPr>
              <a:t>Act</a:t>
            </a:r>
            <a:endParaRPr lang="en-US" sz="2300" dirty="0"/>
          </a:p>
        </p:txBody>
      </p:sp>
      <p:sp>
        <p:nvSpPr>
          <p:cNvPr id="7" name="Shape 5"/>
          <p:cNvSpPr/>
          <p:nvPr/>
        </p:nvSpPr>
        <p:spPr>
          <a:xfrm>
            <a:off x="2423160" y="2029968"/>
            <a:ext cx="2788920" cy="0"/>
          </a:xfrm>
          <a:prstGeom prst="line">
            <a:avLst/>
          </a:prstGeom>
          <a:noFill/>
          <a:ln w="17780">
            <a:solidFill>
              <a:srgbClr val="6B778C"/>
            </a:solidFill>
            <a:prstDash val="solid"/>
            <a:headEnd type="none"/>
            <a:tailEnd type="triangle"/>
          </a:ln>
        </p:spPr>
      </p:sp>
      <p:sp>
        <p:nvSpPr>
          <p:cNvPr id="8" name="Shape 6"/>
          <p:cNvSpPr/>
          <p:nvPr/>
        </p:nvSpPr>
        <p:spPr>
          <a:xfrm>
            <a:off x="6995160" y="2029968"/>
            <a:ext cx="2651760" cy="0"/>
          </a:xfrm>
          <a:prstGeom prst="line">
            <a:avLst/>
          </a:prstGeom>
          <a:noFill/>
          <a:ln w="17780">
            <a:solidFill>
              <a:srgbClr val="6B778C"/>
            </a:solidFill>
            <a:prstDash val="solid"/>
            <a:headEnd type="none"/>
            <a:tailEnd type="triangle"/>
          </a:ln>
        </p:spPr>
      </p:sp>
      <p:sp>
        <p:nvSpPr>
          <p:cNvPr id="9" name="Shape 7"/>
          <p:cNvSpPr/>
          <p:nvPr/>
        </p:nvSpPr>
        <p:spPr>
          <a:xfrm>
            <a:off x="10789920" y="2331720"/>
            <a:ext cx="0" cy="914400"/>
          </a:xfrm>
          <a:prstGeom prst="line">
            <a:avLst/>
          </a:prstGeom>
          <a:noFill/>
          <a:ln w="17780">
            <a:solidFill>
              <a:srgbClr val="6B778C"/>
            </a:solidFill>
            <a:prstDash val="solid"/>
            <a:headEnd type="none"/>
            <a:tailEnd type="triangle"/>
          </a:ln>
        </p:spPr>
      </p:sp>
      <p:sp>
        <p:nvSpPr>
          <p:cNvPr id="10" name="Shape 8"/>
          <p:cNvSpPr/>
          <p:nvPr/>
        </p:nvSpPr>
        <p:spPr>
          <a:xfrm>
            <a:off x="9784080" y="3474720"/>
            <a:ext cx="-7498080" cy="0"/>
          </a:xfrm>
          <a:prstGeom prst="line">
            <a:avLst/>
          </a:prstGeom>
          <a:noFill/>
          <a:ln w="17780">
            <a:solidFill>
              <a:srgbClr val="6B778C"/>
            </a:solidFill>
            <a:prstDash val="solid"/>
            <a:headEnd type="none"/>
            <a:tailEnd type="triangle"/>
          </a:ln>
        </p:spPr>
      </p:sp>
      <p:sp>
        <p:nvSpPr>
          <p:cNvPr id="11" name="Shape 9"/>
          <p:cNvSpPr/>
          <p:nvPr/>
        </p:nvSpPr>
        <p:spPr>
          <a:xfrm>
            <a:off x="1600200" y="3246120"/>
            <a:ext cx="0" cy="-914400"/>
          </a:xfrm>
          <a:prstGeom prst="line">
            <a:avLst/>
          </a:prstGeom>
          <a:noFill/>
          <a:ln w="17780">
            <a:solidFill>
              <a:srgbClr val="6B778C"/>
            </a:solidFill>
            <a:prstDash val="solid"/>
            <a:headEnd type="none"/>
            <a:tailEnd type="triangle"/>
          </a:ln>
        </p:spPr>
      </p:sp>
      <p:sp>
        <p:nvSpPr>
          <p:cNvPr id="12" name="Shape 10"/>
          <p:cNvSpPr/>
          <p:nvPr/>
        </p:nvSpPr>
        <p:spPr>
          <a:xfrm>
            <a:off x="4251960" y="2788920"/>
            <a:ext cx="3657600" cy="822960"/>
          </a:xfrm>
          <a:prstGeom prst="roundRect">
            <a:avLst>
              <a:gd name="adj" fmla="val 11111"/>
            </a:avLst>
          </a:prstGeom>
          <a:solidFill>
            <a:srgbClr val="FFFFFF"/>
          </a:solidFill>
          <a:ln w="12700">
            <a:solidFill>
              <a:srgbClr val="C9D5E6"/>
            </a:solidFill>
            <a:prstDash val="solid"/>
          </a:ln>
        </p:spPr>
      </p:sp>
      <p:sp>
        <p:nvSpPr>
          <p:cNvPr id="13" name="Text 11"/>
          <p:cNvSpPr/>
          <p:nvPr/>
        </p:nvSpPr>
        <p:spPr>
          <a:xfrm>
            <a:off x="4434840" y="2999232"/>
            <a:ext cx="3291840" cy="256032"/>
          </a:xfrm>
          <a:prstGeom prst="rect">
            <a:avLst/>
          </a:prstGeom>
          <a:noFill/>
          <a:ln/>
        </p:spPr>
        <p:txBody>
          <a:bodyPr wrap="square" rtlCol="0" anchor="ctr">
            <a:normAutofit/>
          </a:bodyPr>
          <a:lstStyle/>
          <a:p>
            <a:pPr algn="ctr" indent="0" marL="0">
              <a:buNone/>
            </a:pPr>
            <a:r>
              <a:rPr lang="en-US" sz="1550" b="1" dirty="0">
                <a:solidFill>
                  <a:srgbClr val="102F63"/>
                </a:solidFill>
              </a:rPr>
              <a:t>Core question: how should an agent choose actions in an environment?</a:t>
            </a:r>
            <a:endParaRPr lang="en-US" sz="1550" dirty="0"/>
          </a:p>
        </p:txBody>
      </p:sp>
      <p:sp>
        <p:nvSpPr>
          <p:cNvPr id="14" name="Text 12"/>
          <p:cNvSpPr/>
          <p:nvPr/>
        </p:nvSpPr>
        <p:spPr>
          <a:xfrm>
            <a:off x="2834640" y="4983480"/>
            <a:ext cx="6583680" cy="256032"/>
          </a:xfrm>
          <a:prstGeom prst="rect">
            <a:avLst/>
          </a:prstGeom>
          <a:noFill/>
          <a:ln/>
        </p:spPr>
        <p:txBody>
          <a:bodyPr wrap="square" rtlCol="0" anchor="ctr"/>
          <a:lstStyle/>
          <a:p>
            <a:pPr algn="ctr" indent="0" marL="0">
              <a:buNone/>
            </a:pPr>
            <a:r>
              <a:rPr lang="en-US" sz="1500" dirty="0">
                <a:solidFill>
                  <a:srgbClr val="17202A"/>
                </a:solidFill>
              </a:rPr>
              <a:t>Use this deck as lecture-ready slides plus read-aloud speaker notes.</a:t>
            </a:r>
            <a:endParaRPr lang="en-US" sz="1500" dirty="0"/>
          </a:p>
        </p:txBody>
      </p:sp>
      <p:sp>
        <p:nvSpPr>
          <p:cNvPr id="15" name="Text 13"/>
          <p:cNvSpPr/>
          <p:nvPr/>
        </p:nvSpPr>
        <p:spPr>
          <a:xfrm>
            <a:off x="502920" y="6574536"/>
            <a:ext cx="5760720" cy="118872"/>
          </a:xfrm>
          <a:prstGeom prst="rect">
            <a:avLst/>
          </a:prstGeom>
          <a:noFill/>
          <a:ln/>
        </p:spPr>
        <p:txBody>
          <a:bodyPr wrap="square" lIns="0" tIns="0" rIns="0" bIns="0" rtlCol="0" anchor="ctr"/>
          <a:lstStyle/>
          <a:p>
            <a:pPr indent="0" marL="0">
              <a:buNone/>
            </a:pPr>
            <a:r>
              <a:rPr lang="en-US" sz="650" dirty="0">
                <a:solidFill>
                  <a:srgbClr val="7A869A"/>
                </a:solidFill>
                <a:latin typeface="Aptos" pitchFamily="34" charset="0"/>
                <a:ea typeface="Aptos" pitchFamily="34" charset="-122"/>
                <a:cs typeface="Aptos" pitchFamily="34" charset="-120"/>
              </a:rPr>
              <a:t>AIMA Ch. 2 + UC Berkeley CS188 Part II companion</a:t>
            </a:r>
            <a:endParaRPr lang="en-US" sz="650" dirty="0"/>
          </a:p>
        </p:txBody>
      </p:sp>
      <p:sp>
        <p:nvSpPr>
          <p:cNvPr id="25" name="Slide Number Placeholder 0"/>
          <p:cNvSpPr>
            <a:spLocks noGrp="1"/>
          </p:cNvSpPr>
          <p:nvPr>
            <p:ph type="sldNum" sz="quarter" idx="4294967295"/>
          </p:nvPr>
        </p:nvSpPr>
        <p:spPr>
          <a:xfrm>
            <a:off x="5943600" y="658368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B778C"/>
                </a:solidFill>
                <a:latin typeface="Aptos"/>
                <a:ea typeface="Aptos"/>
                <a:cs typeface="Aptos"/>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146304"/>
            <a:ext cx="11155680" cy="329184"/>
          </a:xfrm>
          <a:prstGeom prst="rect">
            <a:avLst/>
          </a:prstGeom>
          <a:noFill/>
          <a:ln/>
        </p:spPr>
        <p:txBody>
          <a:bodyPr wrap="square" lIns="0" tIns="0" rIns="0" bIns="0" rtlCol="0" anchor="ctr"/>
          <a:lstStyle/>
          <a:p>
            <a:pPr indent="0" marL="0">
              <a:buNone/>
            </a:pPr>
            <a:r>
              <a:rPr lang="en-US" sz="2500" b="1" dirty="0">
                <a:solidFill>
                  <a:srgbClr val="FFFFFF"/>
                </a:solidFill>
                <a:latin typeface="Aptos Display" pitchFamily="34" charset="0"/>
                <a:ea typeface="Aptos Display" pitchFamily="34" charset="-122"/>
                <a:cs typeface="Aptos Display" pitchFamily="34" charset="-120"/>
              </a:rPr>
              <a:t>2.0 Roadmap: From Agent Loop to Agent Design</a:t>
            </a:r>
            <a:endParaRPr lang="en-US" sz="2500" dirty="0"/>
          </a:p>
        </p:txBody>
      </p:sp>
      <p:sp>
        <p:nvSpPr>
          <p:cNvPr id="3" name="Shape 1"/>
          <p:cNvSpPr/>
          <p:nvPr/>
        </p:nvSpPr>
        <p:spPr>
          <a:xfrm>
            <a:off x="10058400" y="841248"/>
            <a:ext cx="1508760" cy="228600"/>
          </a:xfrm>
          <a:prstGeom prst="roundRect">
            <a:avLst>
              <a:gd name="adj" fmla="val 28000"/>
            </a:avLst>
          </a:prstGeom>
          <a:solidFill>
            <a:srgbClr val="EAF2FF"/>
          </a:solidFill>
          <a:ln w="12700">
            <a:solidFill>
              <a:srgbClr val="B7CAE4"/>
            </a:solidFill>
            <a:prstDash val="solid"/>
          </a:ln>
        </p:spPr>
      </p:sp>
      <p:sp>
        <p:nvSpPr>
          <p:cNvPr id="4" name="Text 2"/>
          <p:cNvSpPr/>
          <p:nvPr/>
        </p:nvSpPr>
        <p:spPr>
          <a:xfrm>
            <a:off x="10168128" y="900684"/>
            <a:ext cx="1298448" cy="91440"/>
          </a:xfrm>
          <a:prstGeom prst="rect">
            <a:avLst/>
          </a:prstGeom>
          <a:noFill/>
          <a:ln/>
        </p:spPr>
        <p:txBody>
          <a:bodyPr wrap="square" lIns="0" tIns="0" rIns="0" bIns="0" rtlCol="0" anchor="ctr"/>
          <a:lstStyle/>
          <a:p>
            <a:pPr algn="ctr" indent="0" marL="0">
              <a:buNone/>
            </a:pPr>
            <a:r>
              <a:rPr lang="en-US" sz="950" b="1" dirty="0">
                <a:solidFill>
                  <a:srgbClr val="102F63"/>
                </a:solidFill>
                <a:latin typeface="Aptos" pitchFamily="34" charset="0"/>
                <a:ea typeface="Aptos" pitchFamily="34" charset="-122"/>
                <a:cs typeface="Aptos" pitchFamily="34" charset="-120"/>
              </a:rPr>
              <a:t>Roadmap</a:t>
            </a:r>
            <a:endParaRPr lang="en-US" sz="950" dirty="0"/>
          </a:p>
        </p:txBody>
      </p:sp>
      <p:sp>
        <p:nvSpPr>
          <p:cNvPr id="5" name="Shape 3"/>
          <p:cNvSpPr/>
          <p:nvPr/>
        </p:nvSpPr>
        <p:spPr>
          <a:xfrm>
            <a:off x="685800" y="1874520"/>
            <a:ext cx="1508760" cy="1024128"/>
          </a:xfrm>
          <a:prstGeom prst="roundRect">
            <a:avLst>
              <a:gd name="adj" fmla="val 7143"/>
            </a:avLst>
          </a:prstGeom>
          <a:solidFill>
            <a:srgbClr val="FFFFFF"/>
          </a:solidFill>
          <a:ln w="15240">
            <a:solidFill>
              <a:srgbClr val="B7C6DA"/>
            </a:solidFill>
            <a:prstDash val="solid"/>
          </a:ln>
        </p:spPr>
      </p:sp>
      <p:sp>
        <p:nvSpPr>
          <p:cNvPr id="6" name="Shape 4"/>
          <p:cNvSpPr/>
          <p:nvPr/>
        </p:nvSpPr>
        <p:spPr>
          <a:xfrm>
            <a:off x="685800" y="1874520"/>
            <a:ext cx="1508760" cy="329184"/>
          </a:xfrm>
          <a:prstGeom prst="rect">
            <a:avLst/>
          </a:prstGeom>
          <a:solidFill>
            <a:srgbClr val="1F65B6"/>
          </a:solidFill>
          <a:ln w="12700">
            <a:solidFill>
              <a:srgbClr val="1F65B6"/>
            </a:solidFill>
            <a:prstDash val="solid"/>
          </a:ln>
        </p:spPr>
      </p:sp>
      <p:sp>
        <p:nvSpPr>
          <p:cNvPr id="7" name="Text 5"/>
          <p:cNvSpPr/>
          <p:nvPr/>
        </p:nvSpPr>
        <p:spPr>
          <a:xfrm>
            <a:off x="795528" y="1947672"/>
            <a:ext cx="1289304" cy="164592"/>
          </a:xfrm>
          <a:prstGeom prst="rect">
            <a:avLst/>
          </a:prstGeom>
          <a:noFill/>
          <a:ln/>
        </p:spPr>
        <p:txBody>
          <a:bodyPr wrap="square" lIns="0" tIns="0" rIns="0" bIns="0" rtlCol="0" anchor="ctr"/>
          <a:lstStyle/>
          <a:p>
            <a:pPr algn="ctr" indent="0" marL="0">
              <a:buNone/>
            </a:pPr>
            <a:r>
              <a:rPr lang="en-US" sz="1200" b="1" dirty="0">
                <a:solidFill>
                  <a:srgbClr val="FFFFFF"/>
                </a:solidFill>
                <a:latin typeface="Aptos" pitchFamily="34" charset="0"/>
                <a:ea typeface="Aptos" pitchFamily="34" charset="-122"/>
                <a:cs typeface="Aptos" pitchFamily="34" charset="-120"/>
              </a:rPr>
              <a:t>Agent loop</a:t>
            </a:r>
            <a:endParaRPr lang="en-US" sz="1200" dirty="0"/>
          </a:p>
        </p:txBody>
      </p:sp>
      <p:sp>
        <p:nvSpPr>
          <p:cNvPr id="8" name="Text 6"/>
          <p:cNvSpPr/>
          <p:nvPr/>
        </p:nvSpPr>
        <p:spPr>
          <a:xfrm>
            <a:off x="850392" y="2377440"/>
            <a:ext cx="1179576" cy="402336"/>
          </a:xfrm>
          <a:prstGeom prst="rect">
            <a:avLst/>
          </a:prstGeom>
          <a:noFill/>
          <a:ln/>
        </p:spPr>
        <p:txBody>
          <a:bodyPr wrap="square" lIns="254" tIns="254" rIns="254" bIns="254" rtlCol="0" anchor="ctr">
            <a:normAutofit/>
          </a:bodyPr>
          <a:lstStyle/>
          <a:p>
            <a:pPr indent="0" marL="0">
              <a:buNone/>
            </a:pPr>
            <a:r>
              <a:rPr lang="en-US" sz="1230" dirty="0">
                <a:solidFill>
                  <a:srgbClr val="17202A"/>
                </a:solidFill>
                <a:latin typeface="Aptos" pitchFamily="34" charset="0"/>
                <a:ea typeface="Aptos" pitchFamily="34" charset="-122"/>
                <a:cs typeface="Aptos" pitchFamily="34" charset="-120"/>
              </a:rPr>
              <a:t>percepts → action</a:t>
            </a:r>
            <a:endParaRPr lang="en-US" sz="1230" dirty="0"/>
          </a:p>
        </p:txBody>
      </p:sp>
      <p:sp>
        <p:nvSpPr>
          <p:cNvPr id="9" name="Shape 7"/>
          <p:cNvSpPr/>
          <p:nvPr/>
        </p:nvSpPr>
        <p:spPr>
          <a:xfrm>
            <a:off x="2240280" y="2395728"/>
            <a:ext cx="320040" cy="0"/>
          </a:xfrm>
          <a:prstGeom prst="line">
            <a:avLst/>
          </a:prstGeom>
          <a:noFill/>
          <a:ln w="17780">
            <a:solidFill>
              <a:srgbClr val="8A94A6"/>
            </a:solidFill>
            <a:prstDash val="solid"/>
            <a:headEnd type="none"/>
            <a:tailEnd type="triangle"/>
          </a:ln>
        </p:spPr>
      </p:sp>
      <p:sp>
        <p:nvSpPr>
          <p:cNvPr id="10" name="Shape 8"/>
          <p:cNvSpPr/>
          <p:nvPr/>
        </p:nvSpPr>
        <p:spPr>
          <a:xfrm>
            <a:off x="2651760" y="1874520"/>
            <a:ext cx="1508760" cy="1024128"/>
          </a:xfrm>
          <a:prstGeom prst="roundRect">
            <a:avLst>
              <a:gd name="adj" fmla="val 7143"/>
            </a:avLst>
          </a:prstGeom>
          <a:solidFill>
            <a:srgbClr val="FFFFFF"/>
          </a:solidFill>
          <a:ln w="15240">
            <a:solidFill>
              <a:srgbClr val="B7C6DA"/>
            </a:solidFill>
            <a:prstDash val="solid"/>
          </a:ln>
        </p:spPr>
      </p:sp>
      <p:sp>
        <p:nvSpPr>
          <p:cNvPr id="11" name="Shape 9"/>
          <p:cNvSpPr/>
          <p:nvPr/>
        </p:nvSpPr>
        <p:spPr>
          <a:xfrm>
            <a:off x="2651760" y="1874520"/>
            <a:ext cx="1508760" cy="329184"/>
          </a:xfrm>
          <a:prstGeom prst="rect">
            <a:avLst/>
          </a:prstGeom>
          <a:solidFill>
            <a:srgbClr val="6D28D9"/>
          </a:solidFill>
          <a:ln w="12700">
            <a:solidFill>
              <a:srgbClr val="6D28D9"/>
            </a:solidFill>
            <a:prstDash val="solid"/>
          </a:ln>
        </p:spPr>
      </p:sp>
      <p:sp>
        <p:nvSpPr>
          <p:cNvPr id="12" name="Text 10"/>
          <p:cNvSpPr/>
          <p:nvPr/>
        </p:nvSpPr>
        <p:spPr>
          <a:xfrm>
            <a:off x="2761488" y="1947672"/>
            <a:ext cx="1289304" cy="164592"/>
          </a:xfrm>
          <a:prstGeom prst="rect">
            <a:avLst/>
          </a:prstGeom>
          <a:noFill/>
          <a:ln/>
        </p:spPr>
        <p:txBody>
          <a:bodyPr wrap="square" lIns="0" tIns="0" rIns="0" bIns="0" rtlCol="0" anchor="ctr"/>
          <a:lstStyle/>
          <a:p>
            <a:pPr algn="ctr" indent="0" marL="0">
              <a:buNone/>
            </a:pPr>
            <a:r>
              <a:rPr lang="en-US" sz="1200" b="1" dirty="0">
                <a:solidFill>
                  <a:srgbClr val="FFFFFF"/>
                </a:solidFill>
                <a:latin typeface="Aptos" pitchFamily="34" charset="0"/>
                <a:ea typeface="Aptos" pitchFamily="34" charset="-122"/>
                <a:cs typeface="Aptos" pitchFamily="34" charset="-120"/>
              </a:rPr>
              <a:t>Rationality</a:t>
            </a:r>
            <a:endParaRPr lang="en-US" sz="1200" dirty="0"/>
          </a:p>
        </p:txBody>
      </p:sp>
      <p:sp>
        <p:nvSpPr>
          <p:cNvPr id="13" name="Text 11"/>
          <p:cNvSpPr/>
          <p:nvPr/>
        </p:nvSpPr>
        <p:spPr>
          <a:xfrm>
            <a:off x="2816352" y="2377440"/>
            <a:ext cx="1179576" cy="402336"/>
          </a:xfrm>
          <a:prstGeom prst="rect">
            <a:avLst/>
          </a:prstGeom>
          <a:noFill/>
          <a:ln/>
        </p:spPr>
        <p:txBody>
          <a:bodyPr wrap="square" lIns="254" tIns="254" rIns="254" bIns="254" rtlCol="0" anchor="ctr">
            <a:normAutofit/>
          </a:bodyPr>
          <a:lstStyle/>
          <a:p>
            <a:pPr indent="0" marL="0">
              <a:buNone/>
            </a:pPr>
            <a:r>
              <a:rPr lang="en-US" sz="1230" dirty="0">
                <a:solidFill>
                  <a:srgbClr val="17202A"/>
                </a:solidFill>
                <a:latin typeface="Aptos" pitchFamily="34" charset="0"/>
                <a:ea typeface="Aptos" pitchFamily="34" charset="-122"/>
                <a:cs typeface="Aptos" pitchFamily="34" charset="-120"/>
              </a:rPr>
              <a:t>expected performance</a:t>
            </a:r>
            <a:endParaRPr lang="en-US" sz="1230" dirty="0"/>
          </a:p>
        </p:txBody>
      </p:sp>
      <p:sp>
        <p:nvSpPr>
          <p:cNvPr id="14" name="Shape 12"/>
          <p:cNvSpPr/>
          <p:nvPr/>
        </p:nvSpPr>
        <p:spPr>
          <a:xfrm>
            <a:off x="4206240" y="2395728"/>
            <a:ext cx="320040" cy="0"/>
          </a:xfrm>
          <a:prstGeom prst="line">
            <a:avLst/>
          </a:prstGeom>
          <a:noFill/>
          <a:ln w="17780">
            <a:solidFill>
              <a:srgbClr val="8A94A6"/>
            </a:solidFill>
            <a:prstDash val="solid"/>
            <a:headEnd type="none"/>
            <a:tailEnd type="triangle"/>
          </a:ln>
        </p:spPr>
      </p:sp>
      <p:sp>
        <p:nvSpPr>
          <p:cNvPr id="15" name="Shape 13"/>
          <p:cNvSpPr/>
          <p:nvPr/>
        </p:nvSpPr>
        <p:spPr>
          <a:xfrm>
            <a:off x="4617720" y="1874520"/>
            <a:ext cx="1508760" cy="1024128"/>
          </a:xfrm>
          <a:prstGeom prst="roundRect">
            <a:avLst>
              <a:gd name="adj" fmla="val 7143"/>
            </a:avLst>
          </a:prstGeom>
          <a:solidFill>
            <a:srgbClr val="FFFFFF"/>
          </a:solidFill>
          <a:ln w="15240">
            <a:solidFill>
              <a:srgbClr val="B7C6DA"/>
            </a:solidFill>
            <a:prstDash val="solid"/>
          </a:ln>
        </p:spPr>
      </p:sp>
      <p:sp>
        <p:nvSpPr>
          <p:cNvPr id="16" name="Shape 14"/>
          <p:cNvSpPr/>
          <p:nvPr/>
        </p:nvSpPr>
        <p:spPr>
          <a:xfrm>
            <a:off x="4617720" y="1874520"/>
            <a:ext cx="1508760" cy="329184"/>
          </a:xfrm>
          <a:prstGeom prst="rect">
            <a:avLst/>
          </a:prstGeom>
          <a:solidFill>
            <a:srgbClr val="1F7A3D"/>
          </a:solidFill>
          <a:ln w="12700">
            <a:solidFill>
              <a:srgbClr val="1F7A3D"/>
            </a:solidFill>
            <a:prstDash val="solid"/>
          </a:ln>
        </p:spPr>
      </p:sp>
      <p:sp>
        <p:nvSpPr>
          <p:cNvPr id="17" name="Text 15"/>
          <p:cNvSpPr/>
          <p:nvPr/>
        </p:nvSpPr>
        <p:spPr>
          <a:xfrm>
            <a:off x="4727448" y="1947672"/>
            <a:ext cx="1289304" cy="164592"/>
          </a:xfrm>
          <a:prstGeom prst="rect">
            <a:avLst/>
          </a:prstGeom>
          <a:noFill/>
          <a:ln/>
        </p:spPr>
        <p:txBody>
          <a:bodyPr wrap="square" lIns="0" tIns="0" rIns="0" bIns="0" rtlCol="0" anchor="ctr"/>
          <a:lstStyle/>
          <a:p>
            <a:pPr algn="ctr" indent="0" marL="0">
              <a:buNone/>
            </a:pPr>
            <a:r>
              <a:rPr lang="en-US" sz="1200" b="1" dirty="0">
                <a:solidFill>
                  <a:srgbClr val="FFFFFF"/>
                </a:solidFill>
                <a:latin typeface="Aptos" pitchFamily="34" charset="0"/>
                <a:ea typeface="Aptos" pitchFamily="34" charset="-122"/>
                <a:cs typeface="Aptos" pitchFamily="34" charset="-120"/>
              </a:rPr>
              <a:t>PEAS</a:t>
            </a:r>
            <a:endParaRPr lang="en-US" sz="1200" dirty="0"/>
          </a:p>
        </p:txBody>
      </p:sp>
      <p:sp>
        <p:nvSpPr>
          <p:cNvPr id="18" name="Text 16"/>
          <p:cNvSpPr/>
          <p:nvPr/>
        </p:nvSpPr>
        <p:spPr>
          <a:xfrm>
            <a:off x="4782312" y="2377440"/>
            <a:ext cx="1179576" cy="402336"/>
          </a:xfrm>
          <a:prstGeom prst="rect">
            <a:avLst/>
          </a:prstGeom>
          <a:noFill/>
          <a:ln/>
        </p:spPr>
        <p:txBody>
          <a:bodyPr wrap="square" lIns="254" tIns="254" rIns="254" bIns="254" rtlCol="0" anchor="ctr">
            <a:normAutofit/>
          </a:bodyPr>
          <a:lstStyle/>
          <a:p>
            <a:pPr indent="0" marL="0">
              <a:buNone/>
            </a:pPr>
            <a:r>
              <a:rPr lang="en-US" sz="1230" dirty="0">
                <a:solidFill>
                  <a:srgbClr val="17202A"/>
                </a:solidFill>
                <a:latin typeface="Aptos" pitchFamily="34" charset="0"/>
                <a:ea typeface="Aptos" pitchFamily="34" charset="-122"/>
                <a:cs typeface="Aptos" pitchFamily="34" charset="-120"/>
              </a:rPr>
              <a:t>task specification</a:t>
            </a:r>
            <a:endParaRPr lang="en-US" sz="1230" dirty="0"/>
          </a:p>
        </p:txBody>
      </p:sp>
      <p:sp>
        <p:nvSpPr>
          <p:cNvPr id="19" name="Shape 17"/>
          <p:cNvSpPr/>
          <p:nvPr/>
        </p:nvSpPr>
        <p:spPr>
          <a:xfrm>
            <a:off x="6172200" y="2395728"/>
            <a:ext cx="320040" cy="0"/>
          </a:xfrm>
          <a:prstGeom prst="line">
            <a:avLst/>
          </a:prstGeom>
          <a:noFill/>
          <a:ln w="17780">
            <a:solidFill>
              <a:srgbClr val="8A94A6"/>
            </a:solidFill>
            <a:prstDash val="solid"/>
            <a:headEnd type="none"/>
            <a:tailEnd type="triangle"/>
          </a:ln>
        </p:spPr>
      </p:sp>
      <p:sp>
        <p:nvSpPr>
          <p:cNvPr id="20" name="Shape 18"/>
          <p:cNvSpPr/>
          <p:nvPr/>
        </p:nvSpPr>
        <p:spPr>
          <a:xfrm>
            <a:off x="6583680" y="1874520"/>
            <a:ext cx="1508760" cy="1024128"/>
          </a:xfrm>
          <a:prstGeom prst="roundRect">
            <a:avLst>
              <a:gd name="adj" fmla="val 7143"/>
            </a:avLst>
          </a:prstGeom>
          <a:solidFill>
            <a:srgbClr val="FFFFFF"/>
          </a:solidFill>
          <a:ln w="15240">
            <a:solidFill>
              <a:srgbClr val="B7C6DA"/>
            </a:solidFill>
            <a:prstDash val="solid"/>
          </a:ln>
        </p:spPr>
      </p:sp>
      <p:sp>
        <p:nvSpPr>
          <p:cNvPr id="21" name="Shape 19"/>
          <p:cNvSpPr/>
          <p:nvPr/>
        </p:nvSpPr>
        <p:spPr>
          <a:xfrm>
            <a:off x="6583680" y="1874520"/>
            <a:ext cx="1508760" cy="329184"/>
          </a:xfrm>
          <a:prstGeom prst="rect">
            <a:avLst/>
          </a:prstGeom>
          <a:solidFill>
            <a:srgbClr val="078B99"/>
          </a:solidFill>
          <a:ln w="12700">
            <a:solidFill>
              <a:srgbClr val="078B99"/>
            </a:solidFill>
            <a:prstDash val="solid"/>
          </a:ln>
        </p:spPr>
      </p:sp>
      <p:sp>
        <p:nvSpPr>
          <p:cNvPr id="22" name="Text 20"/>
          <p:cNvSpPr/>
          <p:nvPr/>
        </p:nvSpPr>
        <p:spPr>
          <a:xfrm>
            <a:off x="6693408" y="1947672"/>
            <a:ext cx="1289304" cy="164592"/>
          </a:xfrm>
          <a:prstGeom prst="rect">
            <a:avLst/>
          </a:prstGeom>
          <a:noFill/>
          <a:ln/>
        </p:spPr>
        <p:txBody>
          <a:bodyPr wrap="square" lIns="0" tIns="0" rIns="0" bIns="0" rtlCol="0" anchor="ctr"/>
          <a:lstStyle/>
          <a:p>
            <a:pPr algn="ctr" indent="0" marL="0">
              <a:buNone/>
            </a:pPr>
            <a:r>
              <a:rPr lang="en-US" sz="1200" b="1" dirty="0">
                <a:solidFill>
                  <a:srgbClr val="FFFFFF"/>
                </a:solidFill>
                <a:latin typeface="Aptos" pitchFamily="34" charset="0"/>
                <a:ea typeface="Aptos" pitchFamily="34" charset="-122"/>
                <a:cs typeface="Aptos" pitchFamily="34" charset="-120"/>
              </a:rPr>
              <a:t>Environment</a:t>
            </a:r>
            <a:endParaRPr lang="en-US" sz="1200" dirty="0"/>
          </a:p>
        </p:txBody>
      </p:sp>
      <p:sp>
        <p:nvSpPr>
          <p:cNvPr id="23" name="Text 21"/>
          <p:cNvSpPr/>
          <p:nvPr/>
        </p:nvSpPr>
        <p:spPr>
          <a:xfrm>
            <a:off x="6748272" y="2377440"/>
            <a:ext cx="1179576" cy="402336"/>
          </a:xfrm>
          <a:prstGeom prst="rect">
            <a:avLst/>
          </a:prstGeom>
          <a:noFill/>
          <a:ln/>
        </p:spPr>
        <p:txBody>
          <a:bodyPr wrap="square" lIns="254" tIns="254" rIns="254" bIns="254" rtlCol="0" anchor="ctr">
            <a:normAutofit/>
          </a:bodyPr>
          <a:lstStyle/>
          <a:p>
            <a:pPr indent="0" marL="0">
              <a:buNone/>
            </a:pPr>
            <a:r>
              <a:rPr lang="en-US" sz="1230" dirty="0">
                <a:solidFill>
                  <a:srgbClr val="17202A"/>
                </a:solidFill>
                <a:latin typeface="Aptos" pitchFamily="34" charset="0"/>
                <a:ea typeface="Aptos" pitchFamily="34" charset="-122"/>
                <a:cs typeface="Aptos" pitchFamily="34" charset="-120"/>
              </a:rPr>
              <a:t>what makes it hard</a:t>
            </a:r>
            <a:endParaRPr lang="en-US" sz="1230" dirty="0"/>
          </a:p>
        </p:txBody>
      </p:sp>
      <p:sp>
        <p:nvSpPr>
          <p:cNvPr id="24" name="Shape 22"/>
          <p:cNvSpPr/>
          <p:nvPr/>
        </p:nvSpPr>
        <p:spPr>
          <a:xfrm>
            <a:off x="8138160" y="2395728"/>
            <a:ext cx="320040" cy="0"/>
          </a:xfrm>
          <a:prstGeom prst="line">
            <a:avLst/>
          </a:prstGeom>
          <a:noFill/>
          <a:ln w="17780">
            <a:solidFill>
              <a:srgbClr val="8A94A6"/>
            </a:solidFill>
            <a:prstDash val="solid"/>
            <a:headEnd type="none"/>
            <a:tailEnd type="triangle"/>
          </a:ln>
        </p:spPr>
      </p:sp>
      <p:sp>
        <p:nvSpPr>
          <p:cNvPr id="25" name="Shape 23"/>
          <p:cNvSpPr/>
          <p:nvPr/>
        </p:nvSpPr>
        <p:spPr>
          <a:xfrm>
            <a:off x="8549640" y="1874520"/>
            <a:ext cx="1508760" cy="1024128"/>
          </a:xfrm>
          <a:prstGeom prst="roundRect">
            <a:avLst>
              <a:gd name="adj" fmla="val 7143"/>
            </a:avLst>
          </a:prstGeom>
          <a:solidFill>
            <a:srgbClr val="FFFFFF"/>
          </a:solidFill>
          <a:ln w="15240">
            <a:solidFill>
              <a:srgbClr val="B7C6DA"/>
            </a:solidFill>
            <a:prstDash val="solid"/>
          </a:ln>
        </p:spPr>
      </p:sp>
      <p:sp>
        <p:nvSpPr>
          <p:cNvPr id="26" name="Shape 24"/>
          <p:cNvSpPr/>
          <p:nvPr/>
        </p:nvSpPr>
        <p:spPr>
          <a:xfrm>
            <a:off x="8549640" y="1874520"/>
            <a:ext cx="1508760" cy="329184"/>
          </a:xfrm>
          <a:prstGeom prst="rect">
            <a:avLst/>
          </a:prstGeom>
          <a:solidFill>
            <a:srgbClr val="F5A623"/>
          </a:solidFill>
          <a:ln w="12700">
            <a:solidFill>
              <a:srgbClr val="F5A623"/>
            </a:solidFill>
            <a:prstDash val="solid"/>
          </a:ln>
        </p:spPr>
      </p:sp>
      <p:sp>
        <p:nvSpPr>
          <p:cNvPr id="27" name="Text 25"/>
          <p:cNvSpPr/>
          <p:nvPr/>
        </p:nvSpPr>
        <p:spPr>
          <a:xfrm>
            <a:off x="8659368" y="1947672"/>
            <a:ext cx="1289304" cy="164592"/>
          </a:xfrm>
          <a:prstGeom prst="rect">
            <a:avLst/>
          </a:prstGeom>
          <a:noFill/>
          <a:ln/>
        </p:spPr>
        <p:txBody>
          <a:bodyPr wrap="square" lIns="0" tIns="0" rIns="0" bIns="0" rtlCol="0" anchor="ctr"/>
          <a:lstStyle/>
          <a:p>
            <a:pPr algn="ctr" indent="0" marL="0">
              <a:buNone/>
            </a:pPr>
            <a:r>
              <a:rPr lang="en-US" sz="1200" b="1" dirty="0">
                <a:solidFill>
                  <a:srgbClr val="FFFFFF"/>
                </a:solidFill>
                <a:latin typeface="Aptos" pitchFamily="34" charset="0"/>
                <a:ea typeface="Aptos" pitchFamily="34" charset="-122"/>
                <a:cs typeface="Aptos" pitchFamily="34" charset="-120"/>
              </a:rPr>
              <a:t>Agent types</a:t>
            </a:r>
            <a:endParaRPr lang="en-US" sz="1200" dirty="0"/>
          </a:p>
        </p:txBody>
      </p:sp>
      <p:sp>
        <p:nvSpPr>
          <p:cNvPr id="28" name="Text 26"/>
          <p:cNvSpPr/>
          <p:nvPr/>
        </p:nvSpPr>
        <p:spPr>
          <a:xfrm>
            <a:off x="8714232" y="2377440"/>
            <a:ext cx="1179576" cy="402336"/>
          </a:xfrm>
          <a:prstGeom prst="rect">
            <a:avLst/>
          </a:prstGeom>
          <a:noFill/>
          <a:ln/>
        </p:spPr>
        <p:txBody>
          <a:bodyPr wrap="square" lIns="254" tIns="254" rIns="254" bIns="254" rtlCol="0" anchor="ctr">
            <a:normAutofit/>
          </a:bodyPr>
          <a:lstStyle/>
          <a:p>
            <a:pPr indent="0" marL="0">
              <a:buNone/>
            </a:pPr>
            <a:r>
              <a:rPr lang="en-US" sz="1230" dirty="0">
                <a:solidFill>
                  <a:srgbClr val="17202A"/>
                </a:solidFill>
                <a:latin typeface="Aptos" pitchFamily="34" charset="0"/>
                <a:ea typeface="Aptos" pitchFamily="34" charset="-122"/>
                <a:cs typeface="Aptos" pitchFamily="34" charset="-120"/>
              </a:rPr>
              <a:t>reflex → utility</a:t>
            </a:r>
            <a:endParaRPr lang="en-US" sz="1230" dirty="0"/>
          </a:p>
        </p:txBody>
      </p:sp>
      <p:sp>
        <p:nvSpPr>
          <p:cNvPr id="29" name="Shape 27"/>
          <p:cNvSpPr/>
          <p:nvPr/>
        </p:nvSpPr>
        <p:spPr>
          <a:xfrm>
            <a:off x="10104120" y="2395728"/>
            <a:ext cx="320040" cy="0"/>
          </a:xfrm>
          <a:prstGeom prst="line">
            <a:avLst/>
          </a:prstGeom>
          <a:noFill/>
          <a:ln w="17780">
            <a:solidFill>
              <a:srgbClr val="8A94A6"/>
            </a:solidFill>
            <a:prstDash val="solid"/>
            <a:headEnd type="none"/>
            <a:tailEnd type="triangle"/>
          </a:ln>
        </p:spPr>
      </p:sp>
      <p:sp>
        <p:nvSpPr>
          <p:cNvPr id="30" name="Shape 28"/>
          <p:cNvSpPr/>
          <p:nvPr/>
        </p:nvSpPr>
        <p:spPr>
          <a:xfrm>
            <a:off x="10515600" y="1874520"/>
            <a:ext cx="1508760" cy="1024128"/>
          </a:xfrm>
          <a:prstGeom prst="roundRect">
            <a:avLst>
              <a:gd name="adj" fmla="val 7143"/>
            </a:avLst>
          </a:prstGeom>
          <a:solidFill>
            <a:srgbClr val="FFFFFF"/>
          </a:solidFill>
          <a:ln w="15240">
            <a:solidFill>
              <a:srgbClr val="B7C6DA"/>
            </a:solidFill>
            <a:prstDash val="solid"/>
          </a:ln>
        </p:spPr>
      </p:sp>
      <p:sp>
        <p:nvSpPr>
          <p:cNvPr id="31" name="Shape 29"/>
          <p:cNvSpPr/>
          <p:nvPr/>
        </p:nvSpPr>
        <p:spPr>
          <a:xfrm>
            <a:off x="10515600" y="1874520"/>
            <a:ext cx="1508760" cy="329184"/>
          </a:xfrm>
          <a:prstGeom prst="rect">
            <a:avLst/>
          </a:prstGeom>
          <a:solidFill>
            <a:srgbClr val="A32020"/>
          </a:solidFill>
          <a:ln w="12700">
            <a:solidFill>
              <a:srgbClr val="A32020"/>
            </a:solidFill>
            <a:prstDash val="solid"/>
          </a:ln>
        </p:spPr>
      </p:sp>
      <p:sp>
        <p:nvSpPr>
          <p:cNvPr id="32" name="Text 30"/>
          <p:cNvSpPr/>
          <p:nvPr/>
        </p:nvSpPr>
        <p:spPr>
          <a:xfrm>
            <a:off x="10625328" y="1947672"/>
            <a:ext cx="1289304" cy="164592"/>
          </a:xfrm>
          <a:prstGeom prst="rect">
            <a:avLst/>
          </a:prstGeom>
          <a:noFill/>
          <a:ln/>
        </p:spPr>
        <p:txBody>
          <a:bodyPr wrap="square" lIns="0" tIns="0" rIns="0" bIns="0" rtlCol="0" anchor="ctr"/>
          <a:lstStyle/>
          <a:p>
            <a:pPr algn="ctr" indent="0" marL="0">
              <a:buNone/>
            </a:pPr>
            <a:r>
              <a:rPr lang="en-US" sz="1200" b="1" dirty="0">
                <a:solidFill>
                  <a:srgbClr val="FFFFFF"/>
                </a:solidFill>
                <a:latin typeface="Aptos" pitchFamily="34" charset="0"/>
                <a:ea typeface="Aptos" pitchFamily="34" charset="-122"/>
                <a:cs typeface="Aptos" pitchFamily="34" charset="-120"/>
              </a:rPr>
              <a:t>Learning</a:t>
            </a:r>
            <a:endParaRPr lang="en-US" sz="1200" dirty="0"/>
          </a:p>
        </p:txBody>
      </p:sp>
      <p:sp>
        <p:nvSpPr>
          <p:cNvPr id="33" name="Text 31"/>
          <p:cNvSpPr/>
          <p:nvPr/>
        </p:nvSpPr>
        <p:spPr>
          <a:xfrm>
            <a:off x="10680192" y="2377440"/>
            <a:ext cx="1179576" cy="402336"/>
          </a:xfrm>
          <a:prstGeom prst="rect">
            <a:avLst/>
          </a:prstGeom>
          <a:noFill/>
          <a:ln/>
        </p:spPr>
        <p:txBody>
          <a:bodyPr wrap="square" lIns="254" tIns="254" rIns="254" bIns="254" rtlCol="0" anchor="ctr">
            <a:normAutofit/>
          </a:bodyPr>
          <a:lstStyle/>
          <a:p>
            <a:pPr indent="0" marL="0">
              <a:buNone/>
            </a:pPr>
            <a:r>
              <a:rPr lang="en-US" sz="1230" dirty="0">
                <a:solidFill>
                  <a:srgbClr val="17202A"/>
                </a:solidFill>
                <a:latin typeface="Aptos" pitchFamily="34" charset="0"/>
                <a:ea typeface="Aptos" pitchFamily="34" charset="-122"/>
                <a:cs typeface="Aptos" pitchFamily="34" charset="-120"/>
              </a:rPr>
              <a:t>improve with feedback</a:t>
            </a:r>
            <a:endParaRPr lang="en-US" sz="1230" dirty="0"/>
          </a:p>
        </p:txBody>
      </p:sp>
      <p:sp>
        <p:nvSpPr>
          <p:cNvPr id="34" name="Shape 32"/>
          <p:cNvSpPr/>
          <p:nvPr/>
        </p:nvSpPr>
        <p:spPr>
          <a:xfrm>
            <a:off x="914400" y="3886200"/>
            <a:ext cx="10332720" cy="1097280"/>
          </a:xfrm>
          <a:prstGeom prst="roundRect">
            <a:avLst>
              <a:gd name="adj" fmla="val 6667"/>
            </a:avLst>
          </a:prstGeom>
          <a:solidFill>
            <a:srgbClr val="FFFFFF"/>
          </a:solidFill>
          <a:ln w="12700">
            <a:solidFill>
              <a:srgbClr val="B7C6DA"/>
            </a:solidFill>
            <a:prstDash val="solid"/>
          </a:ln>
        </p:spPr>
      </p:sp>
      <p:sp>
        <p:nvSpPr>
          <p:cNvPr id="35" name="Text 33"/>
          <p:cNvSpPr/>
          <p:nvPr/>
        </p:nvSpPr>
        <p:spPr>
          <a:xfrm>
            <a:off x="1143000" y="4069080"/>
            <a:ext cx="1371600" cy="201168"/>
          </a:xfrm>
          <a:prstGeom prst="rect">
            <a:avLst/>
          </a:prstGeom>
          <a:noFill/>
          <a:ln/>
        </p:spPr>
        <p:txBody>
          <a:bodyPr wrap="square" rtlCol="0" anchor="ctr"/>
          <a:lstStyle/>
          <a:p>
            <a:pPr indent="0" marL="0">
              <a:buNone/>
            </a:pPr>
            <a:r>
              <a:rPr lang="en-US" sz="1500" b="1" dirty="0">
                <a:solidFill>
                  <a:srgbClr val="102F63"/>
                </a:solidFill>
              </a:rPr>
              <a:t>Teaching flow</a:t>
            </a:r>
            <a:endParaRPr lang="en-US" sz="1500" dirty="0"/>
          </a:p>
        </p:txBody>
      </p:sp>
      <p:sp>
        <p:nvSpPr>
          <p:cNvPr id="36" name="Text 34"/>
          <p:cNvSpPr/>
          <p:nvPr/>
        </p:nvSpPr>
        <p:spPr>
          <a:xfrm>
            <a:off x="2560320" y="4005072"/>
            <a:ext cx="8138160" cy="713232"/>
          </a:xfrm>
          <a:prstGeom prst="rect">
            <a:avLst/>
          </a:prstGeom>
          <a:noFill/>
          <a:ln/>
        </p:spPr>
        <p:txBody>
          <a:bodyPr wrap="square" lIns="635" tIns="635" rIns="635" bIns="635" rtlCol="0" anchor="ctr">
            <a:normAutofit/>
          </a:bodyPr>
          <a:lstStyle/>
          <a:p>
            <a:r>
              <a:rPr lang="en-US" sz="1250" dirty="0">
                <a:solidFill>
                  <a:srgbClr val="102F63"/>
                </a:solidFill>
                <a:latin typeface="Aptos" pitchFamily="34" charset="0"/>
                <a:ea typeface="Aptos" pitchFamily="34" charset="-122"/>
                <a:cs typeface="Aptos" pitchFamily="34" charset="-120"/>
              </a:rPr>
              <a:t>Start with Berkeley/Pac-Man intuition: an agent receives percepts and chooses actions.</a:t>
            </a:r>
            <a:endParaRPr lang="en-US" sz="1250" dirty="0"/>
          </a:p>
          <a:p>
            <a:r>
              <a:rPr lang="en-US" sz="1250" dirty="0">
                <a:solidFill>
                  <a:srgbClr val="102F63"/>
                </a:solidFill>
                <a:latin typeface="Aptos" pitchFamily="34" charset="0"/>
                <a:ea typeface="Aptos" pitchFamily="34" charset="-122"/>
                <a:cs typeface="Aptos" pitchFamily="34" charset="-120"/>
              </a:rPr>
              <a:t>Then formalize: agent function, agent program, performance measure, and rationality.</a:t>
            </a:r>
            <a:endParaRPr lang="en-US" sz="1250" dirty="0"/>
          </a:p>
          <a:p>
            <a:r>
              <a:rPr lang="en-US" sz="1250" dirty="0">
                <a:solidFill>
                  <a:srgbClr val="102F63"/>
                </a:solidFill>
                <a:latin typeface="Aptos" pitchFamily="34" charset="0"/>
                <a:ea typeface="Aptos" pitchFamily="34" charset="-122"/>
                <a:cs typeface="Aptos" pitchFamily="34" charset="-120"/>
              </a:rPr>
              <a:t>Then classify the environment and select an appropriate agent architecture.</a:t>
            </a:r>
            <a:endParaRPr lang="en-US" sz="1250" dirty="0"/>
          </a:p>
        </p:txBody>
      </p:sp>
      <p:sp>
        <p:nvSpPr>
          <p:cNvPr id="37" name="Text 35"/>
          <p:cNvSpPr/>
          <p:nvPr/>
        </p:nvSpPr>
        <p:spPr>
          <a:xfrm>
            <a:off x="502920" y="6574536"/>
            <a:ext cx="5760720" cy="118872"/>
          </a:xfrm>
          <a:prstGeom prst="rect">
            <a:avLst/>
          </a:prstGeom>
          <a:noFill/>
          <a:ln/>
        </p:spPr>
        <p:txBody>
          <a:bodyPr wrap="square" lIns="0" tIns="0" rIns="0" bIns="0" rtlCol="0" anchor="ctr"/>
          <a:lstStyle/>
          <a:p>
            <a:pPr indent="0" marL="0">
              <a:buNone/>
            </a:pPr>
            <a:r>
              <a:rPr lang="en-US" sz="650" dirty="0">
                <a:solidFill>
                  <a:srgbClr val="7A869A"/>
                </a:solidFill>
                <a:latin typeface="Aptos" pitchFamily="34" charset="0"/>
                <a:ea typeface="Aptos" pitchFamily="34" charset="-122"/>
                <a:cs typeface="Aptos" pitchFamily="34" charset="-120"/>
              </a:rPr>
              <a:t>AIMA Ch. 2 + UC Berkeley CS188 Part II companion</a:t>
            </a:r>
            <a:endParaRPr lang="en-US" sz="650" dirty="0"/>
          </a:p>
        </p:txBody>
      </p:sp>
      <p:sp>
        <p:nvSpPr>
          <p:cNvPr id="25" name="Slide Number Placeholder 0"/>
          <p:cNvSpPr>
            <a:spLocks noGrp="1"/>
          </p:cNvSpPr>
          <p:nvPr>
            <p:ph type="sldNum" sz="quarter" idx="4294967295"/>
          </p:nvPr>
        </p:nvSpPr>
        <p:spPr>
          <a:xfrm>
            <a:off x="5943600" y="658368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B778C"/>
                </a:solidFill>
                <a:latin typeface="Aptos"/>
                <a:ea typeface="Aptos"/>
                <a:cs typeface="Aptos"/>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2920" y="146304"/>
            <a:ext cx="11155680" cy="329184"/>
          </a:xfrm>
          <a:prstGeom prst="rect">
            <a:avLst/>
          </a:prstGeom>
          <a:noFill/>
          <a:ln/>
        </p:spPr>
        <p:txBody>
          <a:bodyPr wrap="square" lIns="0" tIns="0" rIns="0" bIns="0" rtlCol="0" anchor="ctr"/>
          <a:lstStyle/>
          <a:p>
            <a:pPr indent="0" marL="0">
              <a:buNone/>
            </a:pPr>
            <a:r>
              <a:rPr lang="en-US" sz="2500" b="1" dirty="0">
                <a:solidFill>
                  <a:srgbClr val="FFFFFF"/>
                </a:solidFill>
                <a:latin typeface="Aptos Display" pitchFamily="34" charset="0"/>
                <a:ea typeface="Aptos Display" pitchFamily="34" charset="-122"/>
                <a:cs typeface="Aptos Display" pitchFamily="34" charset="-120"/>
              </a:rPr>
              <a:t>Berkeley Warm-Up: What Can AI Do?</a:t>
            </a:r>
            <a:endParaRPr lang="en-US" sz="2500" dirty="0"/>
          </a:p>
        </p:txBody>
      </p:sp>
      <p:sp>
        <p:nvSpPr>
          <p:cNvPr id="3" name="Shape 1"/>
          <p:cNvSpPr/>
          <p:nvPr/>
        </p:nvSpPr>
        <p:spPr>
          <a:xfrm>
            <a:off x="10058400" y="841248"/>
            <a:ext cx="1508760" cy="228600"/>
          </a:xfrm>
          <a:prstGeom prst="roundRect">
            <a:avLst>
              <a:gd name="adj" fmla="val 28000"/>
            </a:avLst>
          </a:prstGeom>
          <a:solidFill>
            <a:srgbClr val="EAF2FF"/>
          </a:solidFill>
          <a:ln w="12700">
            <a:solidFill>
              <a:srgbClr val="B7CAE4"/>
            </a:solidFill>
            <a:prstDash val="solid"/>
          </a:ln>
        </p:spPr>
      </p:sp>
      <p:sp>
        <p:nvSpPr>
          <p:cNvPr id="4" name="Text 2"/>
          <p:cNvSpPr/>
          <p:nvPr/>
        </p:nvSpPr>
        <p:spPr>
          <a:xfrm>
            <a:off x="10168128" y="900684"/>
            <a:ext cx="1298448" cy="91440"/>
          </a:xfrm>
          <a:prstGeom prst="rect">
            <a:avLst/>
          </a:prstGeom>
          <a:noFill/>
          <a:ln/>
        </p:spPr>
        <p:txBody>
          <a:bodyPr wrap="square" lIns="0" tIns="0" rIns="0" bIns="0" rtlCol="0" anchor="ctr"/>
          <a:lstStyle/>
          <a:p>
            <a:pPr algn="ctr" indent="0" marL="0">
              <a:buNone/>
            </a:pPr>
            <a:r>
              <a:rPr lang="en-US" sz="950" b="1" dirty="0">
                <a:solidFill>
                  <a:srgbClr val="102F63"/>
                </a:solidFill>
                <a:latin typeface="Aptos" pitchFamily="34" charset="0"/>
                <a:ea typeface="Aptos" pitchFamily="34" charset="-122"/>
                <a:cs typeface="Aptos" pitchFamily="34" charset="-120"/>
              </a:rPr>
              <a:t>Motivation</a:t>
            </a:r>
            <a:endParaRPr lang="en-US" sz="950" dirty="0"/>
          </a:p>
        </p:txBody>
      </p:sp>
      <p:sp>
        <p:nvSpPr>
          <p:cNvPr id="5" name="Text 3"/>
          <p:cNvSpPr/>
          <p:nvPr/>
        </p:nvSpPr>
        <p:spPr>
          <a:xfrm>
            <a:off x="777240" y="1508760"/>
            <a:ext cx="4846320" cy="3566160"/>
          </a:xfrm>
          <a:prstGeom prst="rect">
            <a:avLst/>
          </a:prstGeom>
          <a:noFill/>
          <a:ln/>
        </p:spPr>
        <p:txBody>
          <a:bodyPr wrap="square" lIns="635" tIns="635" rIns="635" bIns="635" rtlCol="0" anchor="ctr">
            <a:normAutofit/>
          </a:bodyPr>
          <a:lstStyle/>
          <a:p>
            <a:r>
              <a:rPr lang="en-US" sz="1800" dirty="0">
                <a:solidFill>
                  <a:srgbClr val="102F63"/>
                </a:solidFill>
                <a:latin typeface="Aptos" pitchFamily="34" charset="0"/>
                <a:ea typeface="Aptos" pitchFamily="34" charset="-122"/>
                <a:cs typeface="Aptos" pitchFamily="34" charset="-120"/>
              </a:rPr>
              <a:t>Win against any human at chess or Go?</a:t>
            </a:r>
            <a:endParaRPr lang="en-US" sz="1800" dirty="0"/>
          </a:p>
          <a:p>
            <a:r>
              <a:rPr lang="en-US" sz="1800" dirty="0">
                <a:solidFill>
                  <a:srgbClr val="102F63"/>
                </a:solidFill>
                <a:latin typeface="Aptos" pitchFamily="34" charset="0"/>
                <a:ea typeface="Aptos" pitchFamily="34" charset="-122"/>
                <a:cs typeface="Aptos" pitchFamily="34" charset="-120"/>
              </a:rPr>
              <a:t>Unload any dishwasher in any home?</a:t>
            </a:r>
            <a:endParaRPr lang="en-US" sz="1800" dirty="0"/>
          </a:p>
          <a:p>
            <a:r>
              <a:rPr lang="en-US" sz="1800" dirty="0">
                <a:solidFill>
                  <a:srgbClr val="102F63"/>
                </a:solidFill>
                <a:latin typeface="Aptos" pitchFamily="34" charset="0"/>
                <a:ea typeface="Aptos" pitchFamily="34" charset="-122"/>
                <a:cs typeface="Aptos" pitchFamily="34" charset="-120"/>
              </a:rPr>
              <a:t>Drive safely in all cities and weather?</a:t>
            </a:r>
            <a:endParaRPr lang="en-US" sz="1800" dirty="0"/>
          </a:p>
          <a:p>
            <a:r>
              <a:rPr lang="en-US" sz="1800" dirty="0">
                <a:solidFill>
                  <a:srgbClr val="102F63"/>
                </a:solidFill>
                <a:latin typeface="Aptos" pitchFamily="34" charset="0"/>
                <a:ea typeface="Aptos" pitchFamily="34" charset="-122"/>
                <a:cs typeface="Aptos" pitchFamily="34" charset="-120"/>
              </a:rPr>
              <a:t>Buy groceries on the web versus in a store?</a:t>
            </a:r>
            <a:endParaRPr lang="en-US" sz="1800" dirty="0"/>
          </a:p>
          <a:p>
            <a:r>
              <a:rPr lang="en-US" sz="1800" dirty="0">
                <a:solidFill>
                  <a:srgbClr val="102F63"/>
                </a:solidFill>
                <a:latin typeface="Aptos" pitchFamily="34" charset="0"/>
                <a:ea typeface="Aptos" pitchFamily="34" charset="-122"/>
                <a:cs typeface="Aptos" pitchFamily="34" charset="-120"/>
              </a:rPr>
              <a:t>Translate speech in real time?</a:t>
            </a:r>
            <a:endParaRPr lang="en-US" sz="1800" dirty="0"/>
          </a:p>
          <a:p>
            <a:r>
              <a:rPr lang="en-US" sz="1800" dirty="0">
                <a:solidFill>
                  <a:srgbClr val="102F63"/>
                </a:solidFill>
                <a:latin typeface="Aptos" pitchFamily="34" charset="0"/>
                <a:ea typeface="Aptos" pitchFamily="34" charset="-122"/>
                <a:cs typeface="Aptos" pitchFamily="34" charset="-120"/>
              </a:rPr>
              <a:t>Write jokes, art, or proofs?</a:t>
            </a:r>
            <a:endParaRPr lang="en-US" sz="1800" dirty="0"/>
          </a:p>
        </p:txBody>
      </p:sp>
      <p:sp>
        <p:nvSpPr>
          <p:cNvPr id="6" name="Shape 4"/>
          <p:cNvSpPr/>
          <p:nvPr/>
        </p:nvSpPr>
        <p:spPr>
          <a:xfrm>
            <a:off x="6400800" y="1554480"/>
            <a:ext cx="4480560" cy="3108960"/>
          </a:xfrm>
          <a:prstGeom prst="roundRect">
            <a:avLst>
              <a:gd name="adj" fmla="val 2353"/>
            </a:avLst>
          </a:prstGeom>
          <a:solidFill>
            <a:srgbClr val="EAF2FF"/>
          </a:solidFill>
          <a:ln w="12700">
            <a:solidFill>
              <a:srgbClr val="B7CAE4"/>
            </a:solidFill>
            <a:prstDash val="solid"/>
          </a:ln>
        </p:spPr>
      </p:sp>
      <p:sp>
        <p:nvSpPr>
          <p:cNvPr id="7" name="Text 5"/>
          <p:cNvSpPr/>
          <p:nvPr/>
        </p:nvSpPr>
        <p:spPr>
          <a:xfrm>
            <a:off x="6720840" y="1828800"/>
            <a:ext cx="3840480" cy="228600"/>
          </a:xfrm>
          <a:prstGeom prst="rect">
            <a:avLst/>
          </a:prstGeom>
          <a:noFill/>
          <a:ln/>
        </p:spPr>
        <p:txBody>
          <a:bodyPr wrap="square" rtlCol="0" anchor="ctr"/>
          <a:lstStyle/>
          <a:p>
            <a:pPr algn="ctr" indent="0" marL="0">
              <a:buNone/>
            </a:pPr>
            <a:r>
              <a:rPr lang="en-US" sz="1800" b="1" dirty="0">
                <a:solidFill>
                  <a:srgbClr val="102F63"/>
                </a:solidFill>
              </a:rPr>
              <a:t>Teaching move</a:t>
            </a:r>
            <a:endParaRPr lang="en-US" sz="1800" dirty="0"/>
          </a:p>
        </p:txBody>
      </p:sp>
      <p:sp>
        <p:nvSpPr>
          <p:cNvPr id="8" name="Text 6"/>
          <p:cNvSpPr/>
          <p:nvPr/>
        </p:nvSpPr>
        <p:spPr>
          <a:xfrm>
            <a:off x="6903720" y="2331720"/>
            <a:ext cx="3474720" cy="1508760"/>
          </a:xfrm>
          <a:prstGeom prst="rect">
            <a:avLst/>
          </a:prstGeom>
          <a:noFill/>
          <a:ln/>
        </p:spPr>
        <p:txBody>
          <a:bodyPr wrap="square" rtlCol="0" anchor="ctr">
            <a:normAutofit/>
          </a:bodyPr>
          <a:lstStyle/>
          <a:p>
            <a:pPr algn="ctr" indent="0" marL="0">
              <a:buNone/>
            </a:pPr>
            <a:r>
              <a:rPr lang="en-US" sz="1600" dirty="0">
                <a:solidFill>
                  <a:srgbClr val="17202A"/>
                </a:solidFill>
              </a:rPr>
              <a:t>Do not ask only whether AI “can” do something. Ask what the environment is like, what the agent can perceive, what actions are available, and how success is measured.</a:t>
            </a:r>
            <a:endParaRPr lang="en-US" sz="1600" dirty="0"/>
          </a:p>
        </p:txBody>
      </p:sp>
      <p:sp>
        <p:nvSpPr>
          <p:cNvPr id="9" name="Text 7"/>
          <p:cNvSpPr/>
          <p:nvPr/>
        </p:nvSpPr>
        <p:spPr>
          <a:xfrm>
            <a:off x="502920" y="6574536"/>
            <a:ext cx="5760720" cy="118872"/>
          </a:xfrm>
          <a:prstGeom prst="rect">
            <a:avLst/>
          </a:prstGeom>
          <a:noFill/>
          <a:ln/>
        </p:spPr>
        <p:txBody>
          <a:bodyPr wrap="square" lIns="0" tIns="0" rIns="0" bIns="0" rtlCol="0" anchor="ctr"/>
          <a:lstStyle/>
          <a:p>
            <a:pPr indent="0" marL="0">
              <a:buNone/>
            </a:pPr>
            <a:r>
              <a:rPr lang="en-US" sz="650" dirty="0">
                <a:solidFill>
                  <a:srgbClr val="7A869A"/>
                </a:solidFill>
                <a:latin typeface="Aptos" pitchFamily="34" charset="0"/>
                <a:ea typeface="Aptos" pitchFamily="34" charset="-122"/>
                <a:cs typeface="Aptos" pitchFamily="34" charset="-120"/>
              </a:rPr>
              <a:t>AIMA Ch. 2 + UC Berkeley CS188 Part II companion</a:t>
            </a:r>
            <a:endParaRPr lang="en-US" sz="650" dirty="0"/>
          </a:p>
        </p:txBody>
      </p:sp>
      <p:sp>
        <p:nvSpPr>
          <p:cNvPr id="25" name="Slide Number Placeholder 0"/>
          <p:cNvSpPr>
            <a:spLocks noGrp="1"/>
          </p:cNvSpPr>
          <p:nvPr>
            <p:ph type="sldNum" sz="quarter" idx="4294967295"/>
          </p:nvPr>
        </p:nvSpPr>
        <p:spPr>
          <a:xfrm>
            <a:off x="5943600" y="658368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B778C"/>
                </a:solidFill>
                <a:latin typeface="Aptos"/>
                <a:ea typeface="Aptos"/>
                <a:cs typeface="Aptos"/>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02920" y="146304"/>
            <a:ext cx="11155680" cy="329184"/>
          </a:xfrm>
          <a:prstGeom prst="rect">
            <a:avLst/>
          </a:prstGeom>
          <a:noFill/>
          <a:ln/>
        </p:spPr>
        <p:txBody>
          <a:bodyPr wrap="square" lIns="0" tIns="0" rIns="0" bIns="0" rtlCol="0" anchor="ctr"/>
          <a:lstStyle/>
          <a:p>
            <a:pPr indent="0" marL="0">
              <a:buNone/>
            </a:pPr>
            <a:r>
              <a:rPr lang="en-US" sz="2500" b="1" dirty="0">
                <a:solidFill>
                  <a:srgbClr val="FFFFFF"/>
                </a:solidFill>
                <a:latin typeface="Aptos Display" pitchFamily="34" charset="0"/>
                <a:ea typeface="Aptos Display" pitchFamily="34" charset="-122"/>
                <a:cs typeface="Aptos Display" pitchFamily="34" charset="-120"/>
              </a:rPr>
              <a:t>2.1 Agents and Environments: The Perceive–Act Loop</a:t>
            </a:r>
            <a:endParaRPr lang="en-US" sz="2500" dirty="0"/>
          </a:p>
        </p:txBody>
      </p:sp>
      <p:sp>
        <p:nvSpPr>
          <p:cNvPr id="3" name="Shape 1"/>
          <p:cNvSpPr/>
          <p:nvPr/>
        </p:nvSpPr>
        <p:spPr>
          <a:xfrm>
            <a:off x="10058400" y="841248"/>
            <a:ext cx="1508760" cy="228600"/>
          </a:xfrm>
          <a:prstGeom prst="roundRect">
            <a:avLst>
              <a:gd name="adj" fmla="val 28000"/>
            </a:avLst>
          </a:prstGeom>
          <a:solidFill>
            <a:srgbClr val="EAF2FF"/>
          </a:solidFill>
          <a:ln w="12700">
            <a:solidFill>
              <a:srgbClr val="B7CAE4"/>
            </a:solidFill>
            <a:prstDash val="solid"/>
          </a:ln>
        </p:spPr>
      </p:sp>
      <p:sp>
        <p:nvSpPr>
          <p:cNvPr id="4" name="Text 2"/>
          <p:cNvSpPr/>
          <p:nvPr/>
        </p:nvSpPr>
        <p:spPr>
          <a:xfrm>
            <a:off x="10168128" y="900684"/>
            <a:ext cx="1298448" cy="91440"/>
          </a:xfrm>
          <a:prstGeom prst="rect">
            <a:avLst/>
          </a:prstGeom>
          <a:noFill/>
          <a:ln/>
        </p:spPr>
        <p:txBody>
          <a:bodyPr wrap="square" lIns="0" tIns="0" rIns="0" bIns="0" rtlCol="0" anchor="ctr"/>
          <a:lstStyle/>
          <a:p>
            <a:pPr algn="ctr" indent="0" marL="0">
              <a:buNone/>
            </a:pPr>
            <a:r>
              <a:rPr lang="en-US" sz="950" b="1" dirty="0">
                <a:solidFill>
                  <a:srgbClr val="102F63"/>
                </a:solidFill>
                <a:latin typeface="Aptos" pitchFamily="34" charset="0"/>
                <a:ea typeface="Aptos" pitchFamily="34" charset="-122"/>
                <a:cs typeface="Aptos" pitchFamily="34" charset="-120"/>
              </a:rPr>
              <a:t>2.1</a:t>
            </a:r>
            <a:endParaRPr lang="en-US" sz="950" dirty="0"/>
          </a:p>
        </p:txBody>
      </p:sp>
      <p:sp>
        <p:nvSpPr>
          <p:cNvPr id="5" name="Shape 3"/>
          <p:cNvSpPr/>
          <p:nvPr/>
        </p:nvSpPr>
        <p:spPr>
          <a:xfrm>
            <a:off x="914400" y="1508760"/>
            <a:ext cx="2743200" cy="1828800"/>
          </a:xfrm>
          <a:prstGeom prst="roundRect">
            <a:avLst>
              <a:gd name="adj" fmla="val 4000"/>
            </a:avLst>
          </a:prstGeom>
          <a:solidFill>
            <a:srgbClr val="BFD2EE"/>
          </a:solidFill>
          <a:ln w="15240">
            <a:solidFill>
              <a:srgbClr val="102F63"/>
            </a:solidFill>
            <a:prstDash val="solid"/>
          </a:ln>
        </p:spPr>
      </p:sp>
      <p:sp>
        <p:nvSpPr>
          <p:cNvPr id="6" name="Text 4"/>
          <p:cNvSpPr/>
          <p:nvPr/>
        </p:nvSpPr>
        <p:spPr>
          <a:xfrm>
            <a:off x="1097280" y="1691640"/>
            <a:ext cx="2377440" cy="228600"/>
          </a:xfrm>
          <a:prstGeom prst="rect">
            <a:avLst/>
          </a:prstGeom>
          <a:noFill/>
          <a:ln/>
        </p:spPr>
        <p:txBody>
          <a:bodyPr wrap="square" rtlCol="0" anchor="ctr"/>
          <a:lstStyle/>
          <a:p>
            <a:pPr algn="ctr" indent="0" marL="0">
              <a:buNone/>
            </a:pPr>
            <a:r>
              <a:rPr lang="en-US" sz="1600" b="1" dirty="0">
                <a:solidFill>
                  <a:srgbClr val="102F63"/>
                </a:solidFill>
              </a:rPr>
              <a:t>AGENT</a:t>
            </a:r>
            <a:endParaRPr lang="en-US" sz="1600" dirty="0"/>
          </a:p>
        </p:txBody>
      </p:sp>
      <p:sp>
        <p:nvSpPr>
          <p:cNvPr id="7" name="Text 5"/>
          <p:cNvSpPr/>
          <p:nvPr/>
        </p:nvSpPr>
        <p:spPr>
          <a:xfrm>
            <a:off x="1280160" y="2057400"/>
            <a:ext cx="2011680" cy="914400"/>
          </a:xfrm>
          <a:prstGeom prst="rect">
            <a:avLst/>
          </a:prstGeom>
          <a:noFill/>
          <a:ln/>
        </p:spPr>
        <p:txBody>
          <a:bodyPr wrap="square" rtlCol="0" anchor="ctr"/>
          <a:lstStyle/>
          <a:p>
            <a:pPr algn="ctr" indent="0" marL="0">
              <a:buNone/>
            </a:pPr>
            <a:r>
              <a:rPr lang="en-US" sz="1300" dirty="0">
                <a:solidFill>
                  <a:srgbClr val="17202A"/>
                </a:solidFill>
              </a:rPr>
              <a:t>Sensors</a:t>
            </a:r>
            <a:endParaRPr lang="en-US" sz="1300" dirty="0"/>
          </a:p>
          <a:p>
            <a:pPr algn="ctr" indent="0" marL="0">
              <a:buNone/>
            </a:pPr>
            <a:endParaRPr lang="en-US" sz="1300" dirty="0"/>
          </a:p>
          <a:p>
            <a:pPr algn="ctr" indent="0" marL="0">
              <a:buNone/>
            </a:pPr>
            <a:r>
              <a:rPr lang="en-US" sz="1300" dirty="0">
                <a:solidFill>
                  <a:srgbClr val="17202A"/>
                </a:solidFill>
              </a:rPr>
              <a:t>?</a:t>
            </a:r>
            <a:endParaRPr lang="en-US" sz="1300" dirty="0"/>
          </a:p>
          <a:p>
            <a:pPr algn="ctr" indent="0" marL="0">
              <a:buNone/>
            </a:pPr>
            <a:endParaRPr lang="en-US" sz="1300" dirty="0"/>
          </a:p>
          <a:p>
            <a:pPr algn="ctr" indent="0" marL="0">
              <a:buNone/>
            </a:pPr>
            <a:r>
              <a:rPr lang="en-US" sz="1300" dirty="0">
                <a:solidFill>
                  <a:srgbClr val="17202A"/>
                </a:solidFill>
              </a:rPr>
              <a:t>Actuators</a:t>
            </a:r>
            <a:endParaRPr lang="en-US" sz="1300" dirty="0"/>
          </a:p>
        </p:txBody>
      </p:sp>
      <p:sp>
        <p:nvSpPr>
          <p:cNvPr id="8" name="Shape 6"/>
          <p:cNvSpPr/>
          <p:nvPr/>
        </p:nvSpPr>
        <p:spPr>
          <a:xfrm>
            <a:off x="8138160" y="1508760"/>
            <a:ext cx="2743200" cy="1828800"/>
          </a:xfrm>
          <a:prstGeom prst="roundRect">
            <a:avLst>
              <a:gd name="adj" fmla="val 4000"/>
            </a:avLst>
          </a:prstGeom>
          <a:solidFill>
            <a:srgbClr val="C7DAF3"/>
          </a:solidFill>
          <a:ln w="15240">
            <a:solidFill>
              <a:srgbClr val="102F63"/>
            </a:solidFill>
            <a:prstDash val="solid"/>
          </a:ln>
        </p:spPr>
      </p:sp>
      <p:sp>
        <p:nvSpPr>
          <p:cNvPr id="9" name="Text 7"/>
          <p:cNvSpPr/>
          <p:nvPr/>
        </p:nvSpPr>
        <p:spPr>
          <a:xfrm>
            <a:off x="8302752" y="2212848"/>
            <a:ext cx="2423160" cy="320040"/>
          </a:xfrm>
          <a:prstGeom prst="rect">
            <a:avLst/>
          </a:prstGeom>
          <a:noFill/>
          <a:ln/>
        </p:spPr>
        <p:txBody>
          <a:bodyPr wrap="square" rtlCol="0" anchor="ctr"/>
          <a:lstStyle/>
          <a:p>
            <a:pPr algn="ctr" indent="0" marL="0">
              <a:buNone/>
            </a:pPr>
            <a:r>
              <a:rPr lang="en-US" sz="1600" b="1" dirty="0">
                <a:solidFill>
                  <a:srgbClr val="102F63"/>
                </a:solidFill>
              </a:rPr>
              <a:t>ENVIRONMENT</a:t>
            </a:r>
            <a:endParaRPr lang="en-US" sz="1600" dirty="0"/>
          </a:p>
        </p:txBody>
      </p:sp>
      <p:sp>
        <p:nvSpPr>
          <p:cNvPr id="10" name="Shape 8"/>
          <p:cNvSpPr/>
          <p:nvPr/>
        </p:nvSpPr>
        <p:spPr>
          <a:xfrm>
            <a:off x="3794760" y="1965960"/>
            <a:ext cx="4114800" cy="0"/>
          </a:xfrm>
          <a:prstGeom prst="line">
            <a:avLst/>
          </a:prstGeom>
          <a:noFill/>
          <a:ln w="17780">
            <a:solidFill>
              <a:srgbClr val="102F63"/>
            </a:solidFill>
            <a:prstDash val="solid"/>
            <a:headEnd type="none"/>
            <a:tailEnd type="triangle"/>
          </a:ln>
        </p:spPr>
      </p:sp>
      <p:sp>
        <p:nvSpPr>
          <p:cNvPr id="11" name="Text 9"/>
          <p:cNvSpPr/>
          <p:nvPr/>
        </p:nvSpPr>
        <p:spPr>
          <a:xfrm>
            <a:off x="5349240" y="1664208"/>
            <a:ext cx="914400" cy="137160"/>
          </a:xfrm>
          <a:prstGeom prst="rect">
            <a:avLst/>
          </a:prstGeom>
          <a:noFill/>
          <a:ln/>
        </p:spPr>
        <p:txBody>
          <a:bodyPr wrap="square" rtlCol="0" anchor="ctr"/>
          <a:lstStyle/>
          <a:p>
            <a:pPr algn="ctr" indent="0" marL="0">
              <a:buNone/>
            </a:pPr>
            <a:r>
              <a:rPr lang="en-US" sz="1100" dirty="0">
                <a:solidFill>
                  <a:srgbClr val="17202A"/>
                </a:solidFill>
              </a:rPr>
              <a:t>Percepts</a:t>
            </a:r>
            <a:endParaRPr lang="en-US" sz="1100" dirty="0"/>
          </a:p>
        </p:txBody>
      </p:sp>
      <p:sp>
        <p:nvSpPr>
          <p:cNvPr id="12" name="Shape 10"/>
          <p:cNvSpPr/>
          <p:nvPr/>
        </p:nvSpPr>
        <p:spPr>
          <a:xfrm>
            <a:off x="7909560" y="2880360"/>
            <a:ext cx="-4114800" cy="0"/>
          </a:xfrm>
          <a:prstGeom prst="line">
            <a:avLst/>
          </a:prstGeom>
          <a:noFill/>
          <a:ln w="17780">
            <a:solidFill>
              <a:srgbClr val="102F63"/>
            </a:solidFill>
            <a:prstDash val="solid"/>
            <a:headEnd type="none"/>
            <a:tailEnd type="triangle"/>
          </a:ln>
        </p:spPr>
      </p:sp>
      <p:sp>
        <p:nvSpPr>
          <p:cNvPr id="13" name="Text 11"/>
          <p:cNvSpPr/>
          <p:nvPr/>
        </p:nvSpPr>
        <p:spPr>
          <a:xfrm>
            <a:off x="5349240" y="2971800"/>
            <a:ext cx="914400" cy="137160"/>
          </a:xfrm>
          <a:prstGeom prst="rect">
            <a:avLst/>
          </a:prstGeom>
          <a:noFill/>
          <a:ln/>
        </p:spPr>
        <p:txBody>
          <a:bodyPr wrap="square" rtlCol="0" anchor="ctr"/>
          <a:lstStyle/>
          <a:p>
            <a:pPr algn="ctr" indent="0" marL="0">
              <a:buNone/>
            </a:pPr>
            <a:r>
              <a:rPr lang="en-US" sz="1100" dirty="0">
                <a:solidFill>
                  <a:srgbClr val="17202A"/>
                </a:solidFill>
              </a:rPr>
              <a:t>Actions</a:t>
            </a:r>
            <a:endParaRPr lang="en-US" sz="1100" dirty="0"/>
          </a:p>
        </p:txBody>
      </p:sp>
      <p:sp>
        <p:nvSpPr>
          <p:cNvPr id="14" name="Text 12"/>
          <p:cNvSpPr/>
          <p:nvPr/>
        </p:nvSpPr>
        <p:spPr>
          <a:xfrm>
            <a:off x="960120" y="4160520"/>
            <a:ext cx="10332720" cy="1097280"/>
          </a:xfrm>
          <a:prstGeom prst="rect">
            <a:avLst/>
          </a:prstGeom>
          <a:noFill/>
          <a:ln/>
        </p:spPr>
        <p:txBody>
          <a:bodyPr wrap="square" lIns="635" tIns="635" rIns="635" bIns="635" rtlCol="0" anchor="ctr">
            <a:normAutofit/>
          </a:bodyPr>
          <a:lstStyle/>
          <a:p>
            <a:r>
              <a:rPr lang="en-US" sz="1600" dirty="0">
                <a:solidFill>
                  <a:srgbClr val="102F63"/>
                </a:solidFill>
                <a:latin typeface="Aptos" pitchFamily="34" charset="0"/>
                <a:ea typeface="Aptos" pitchFamily="34" charset="-122"/>
                <a:cs typeface="Aptos" pitchFamily="34" charset="-120"/>
              </a:rPr>
              <a:t>Human: eyes/ears → hands/voice</a:t>
            </a:r>
            <a:endParaRPr lang="en-US" sz="1600" dirty="0"/>
          </a:p>
          <a:p>
            <a:r>
              <a:rPr lang="en-US" sz="1600" dirty="0">
                <a:solidFill>
                  <a:srgbClr val="102F63"/>
                </a:solidFill>
                <a:latin typeface="Aptos" pitchFamily="34" charset="0"/>
                <a:ea typeface="Aptos" pitchFamily="34" charset="-122"/>
                <a:cs typeface="Aptos" pitchFamily="34" charset="-120"/>
              </a:rPr>
              <a:t>Robot: camera/lidar → motors</a:t>
            </a:r>
            <a:endParaRPr lang="en-US" sz="1600" dirty="0"/>
          </a:p>
          <a:p>
            <a:r>
              <a:rPr lang="en-US" sz="1600" dirty="0">
                <a:solidFill>
                  <a:srgbClr val="102F63"/>
                </a:solidFill>
                <a:latin typeface="Aptos" pitchFamily="34" charset="0"/>
                <a:ea typeface="Aptos" pitchFamily="34" charset="-122"/>
                <a:cs typeface="Aptos" pitchFamily="34" charset="-120"/>
              </a:rPr>
              <a:t>Software: packets/input → files/network</a:t>
            </a:r>
            <a:endParaRPr lang="en-US" sz="1600" dirty="0"/>
          </a:p>
        </p:txBody>
      </p:sp>
      <p:sp>
        <p:nvSpPr>
          <p:cNvPr id="15" name="Text 13"/>
          <p:cNvSpPr/>
          <p:nvPr/>
        </p:nvSpPr>
        <p:spPr>
          <a:xfrm>
            <a:off x="502920" y="6574536"/>
            <a:ext cx="5760720" cy="118872"/>
          </a:xfrm>
          <a:prstGeom prst="rect">
            <a:avLst/>
          </a:prstGeom>
          <a:noFill/>
          <a:ln/>
        </p:spPr>
        <p:txBody>
          <a:bodyPr wrap="square" lIns="0" tIns="0" rIns="0" bIns="0" rtlCol="0" anchor="ctr"/>
          <a:lstStyle/>
          <a:p>
            <a:pPr indent="0" marL="0">
              <a:buNone/>
            </a:pPr>
            <a:r>
              <a:rPr lang="en-US" sz="650" dirty="0">
                <a:solidFill>
                  <a:srgbClr val="7A869A"/>
                </a:solidFill>
                <a:latin typeface="Aptos" pitchFamily="34" charset="0"/>
                <a:ea typeface="Aptos" pitchFamily="34" charset="-122"/>
                <a:cs typeface="Aptos" pitchFamily="34" charset="-120"/>
              </a:rPr>
              <a:t>AIMA Ch. 2 + UC Berkeley CS188 Part II companion</a:t>
            </a:r>
            <a:endParaRPr lang="en-US" sz="650" dirty="0"/>
          </a:p>
        </p:txBody>
      </p:sp>
      <p:sp>
        <p:nvSpPr>
          <p:cNvPr id="25" name="Slide Number Placeholder 0"/>
          <p:cNvSpPr>
            <a:spLocks noGrp="1"/>
          </p:cNvSpPr>
          <p:nvPr>
            <p:ph type="sldNum" sz="quarter" idx="4294967295"/>
          </p:nvPr>
        </p:nvSpPr>
        <p:spPr>
          <a:xfrm>
            <a:off x="5943600" y="658368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B778C"/>
                </a:solidFill>
                <a:latin typeface="Aptos"/>
                <a:ea typeface="Aptos"/>
                <a:cs typeface="Aptos"/>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2920" y="146304"/>
            <a:ext cx="11155680" cy="329184"/>
          </a:xfrm>
          <a:prstGeom prst="rect">
            <a:avLst/>
          </a:prstGeom>
          <a:noFill/>
          <a:ln/>
        </p:spPr>
        <p:txBody>
          <a:bodyPr wrap="square" lIns="0" tIns="0" rIns="0" bIns="0" rtlCol="0" anchor="ctr"/>
          <a:lstStyle/>
          <a:p>
            <a:pPr indent="0" marL="0">
              <a:buNone/>
            </a:pPr>
            <a:r>
              <a:rPr lang="en-US" sz="2500" b="1" dirty="0">
                <a:solidFill>
                  <a:srgbClr val="FFFFFF"/>
                </a:solidFill>
                <a:latin typeface="Aptos Display" pitchFamily="34" charset="0"/>
                <a:ea typeface="Aptos Display" pitchFamily="34" charset="-122"/>
                <a:cs typeface="Aptos Display" pitchFamily="34" charset="-120"/>
              </a:rPr>
              <a:t>2.1 From Percepts to Agent Functions</a:t>
            </a:r>
            <a:endParaRPr lang="en-US" sz="2500" dirty="0"/>
          </a:p>
        </p:txBody>
      </p:sp>
      <p:sp>
        <p:nvSpPr>
          <p:cNvPr id="3" name="Shape 1"/>
          <p:cNvSpPr/>
          <p:nvPr/>
        </p:nvSpPr>
        <p:spPr>
          <a:xfrm>
            <a:off x="10058400" y="841248"/>
            <a:ext cx="1508760" cy="228600"/>
          </a:xfrm>
          <a:prstGeom prst="roundRect">
            <a:avLst>
              <a:gd name="adj" fmla="val 28000"/>
            </a:avLst>
          </a:prstGeom>
          <a:solidFill>
            <a:srgbClr val="EAF2FF"/>
          </a:solidFill>
          <a:ln w="12700">
            <a:solidFill>
              <a:srgbClr val="B7CAE4"/>
            </a:solidFill>
            <a:prstDash val="solid"/>
          </a:ln>
        </p:spPr>
      </p:sp>
      <p:sp>
        <p:nvSpPr>
          <p:cNvPr id="4" name="Text 2"/>
          <p:cNvSpPr/>
          <p:nvPr/>
        </p:nvSpPr>
        <p:spPr>
          <a:xfrm>
            <a:off x="10168128" y="900684"/>
            <a:ext cx="1298448" cy="91440"/>
          </a:xfrm>
          <a:prstGeom prst="rect">
            <a:avLst/>
          </a:prstGeom>
          <a:noFill/>
          <a:ln/>
        </p:spPr>
        <p:txBody>
          <a:bodyPr wrap="square" lIns="0" tIns="0" rIns="0" bIns="0" rtlCol="0" anchor="ctr"/>
          <a:lstStyle/>
          <a:p>
            <a:pPr algn="ctr" indent="0" marL="0">
              <a:buNone/>
            </a:pPr>
            <a:r>
              <a:rPr lang="en-US" sz="950" b="1" dirty="0">
                <a:solidFill>
                  <a:srgbClr val="102F63"/>
                </a:solidFill>
                <a:latin typeface="Aptos" pitchFamily="34" charset="0"/>
                <a:ea typeface="Aptos" pitchFamily="34" charset="-122"/>
                <a:cs typeface="Aptos" pitchFamily="34" charset="-120"/>
              </a:rPr>
              <a:t>2.1</a:t>
            </a:r>
            <a:endParaRPr lang="en-US" sz="950" dirty="0"/>
          </a:p>
        </p:txBody>
      </p:sp>
      <p:sp>
        <p:nvSpPr>
          <p:cNvPr id="5" name="Shape 3"/>
          <p:cNvSpPr/>
          <p:nvPr/>
        </p:nvSpPr>
        <p:spPr>
          <a:xfrm>
            <a:off x="685800" y="1234440"/>
            <a:ext cx="2377440" cy="1097280"/>
          </a:xfrm>
          <a:prstGeom prst="roundRect">
            <a:avLst>
              <a:gd name="adj" fmla="val 6667"/>
            </a:avLst>
          </a:prstGeom>
          <a:solidFill>
            <a:srgbClr val="FFFFFF"/>
          </a:solidFill>
          <a:ln w="15240">
            <a:solidFill>
              <a:srgbClr val="B7C6DA"/>
            </a:solidFill>
            <a:prstDash val="solid"/>
          </a:ln>
        </p:spPr>
      </p:sp>
      <p:sp>
        <p:nvSpPr>
          <p:cNvPr id="6" name="Shape 4"/>
          <p:cNvSpPr/>
          <p:nvPr/>
        </p:nvSpPr>
        <p:spPr>
          <a:xfrm>
            <a:off x="685800" y="1234440"/>
            <a:ext cx="2377440" cy="329184"/>
          </a:xfrm>
          <a:prstGeom prst="rect">
            <a:avLst/>
          </a:prstGeom>
          <a:solidFill>
            <a:srgbClr val="1F65B6"/>
          </a:solidFill>
          <a:ln w="12700">
            <a:solidFill>
              <a:srgbClr val="1F65B6"/>
            </a:solidFill>
            <a:prstDash val="solid"/>
          </a:ln>
        </p:spPr>
      </p:sp>
      <p:sp>
        <p:nvSpPr>
          <p:cNvPr id="7" name="Text 5"/>
          <p:cNvSpPr/>
          <p:nvPr/>
        </p:nvSpPr>
        <p:spPr>
          <a:xfrm>
            <a:off x="795528" y="1307592"/>
            <a:ext cx="2157984" cy="164592"/>
          </a:xfrm>
          <a:prstGeom prst="rect">
            <a:avLst/>
          </a:prstGeom>
          <a:noFill/>
          <a:ln/>
        </p:spPr>
        <p:txBody>
          <a:bodyPr wrap="square" lIns="0" tIns="0" rIns="0" bIns="0" rtlCol="0" anchor="ctr"/>
          <a:lstStyle/>
          <a:p>
            <a:pPr algn="ctr" indent="0" marL="0">
              <a:buNone/>
            </a:pPr>
            <a:r>
              <a:rPr lang="en-US" sz="1200" b="1" dirty="0">
                <a:solidFill>
                  <a:srgbClr val="FFFFFF"/>
                </a:solidFill>
                <a:latin typeface="Aptos" pitchFamily="34" charset="0"/>
                <a:ea typeface="Aptos" pitchFamily="34" charset="-122"/>
                <a:cs typeface="Aptos" pitchFamily="34" charset="-120"/>
              </a:rPr>
              <a:t>Percept</a:t>
            </a:r>
            <a:endParaRPr lang="en-US" sz="1200" dirty="0"/>
          </a:p>
        </p:txBody>
      </p:sp>
      <p:sp>
        <p:nvSpPr>
          <p:cNvPr id="8" name="Text 6"/>
          <p:cNvSpPr/>
          <p:nvPr/>
        </p:nvSpPr>
        <p:spPr>
          <a:xfrm>
            <a:off x="850392" y="1737360"/>
            <a:ext cx="2048256" cy="475488"/>
          </a:xfrm>
          <a:prstGeom prst="rect">
            <a:avLst/>
          </a:prstGeom>
          <a:noFill/>
          <a:ln/>
        </p:spPr>
        <p:txBody>
          <a:bodyPr wrap="square" lIns="254" tIns="254" rIns="254" bIns="254" rtlCol="0" anchor="ctr">
            <a:normAutofit/>
          </a:bodyPr>
          <a:lstStyle/>
          <a:p>
            <a:pPr indent="0" marL="0">
              <a:buNone/>
            </a:pPr>
            <a:r>
              <a:rPr lang="en-US" sz="1230" dirty="0">
                <a:solidFill>
                  <a:srgbClr val="17202A"/>
                </a:solidFill>
                <a:latin typeface="Aptos" pitchFamily="34" charset="0"/>
                <a:ea typeface="Aptos" pitchFamily="34" charset="-122"/>
                <a:cs typeface="Aptos" pitchFamily="34" charset="-120"/>
              </a:rPr>
              <a:t>Current sensor content. Example: current Pac-Man tile, nearby wall, visible ghost.</a:t>
            </a:r>
            <a:endParaRPr lang="en-US" sz="1230" dirty="0"/>
          </a:p>
        </p:txBody>
      </p:sp>
      <p:sp>
        <p:nvSpPr>
          <p:cNvPr id="9" name="Shape 7"/>
          <p:cNvSpPr/>
          <p:nvPr/>
        </p:nvSpPr>
        <p:spPr>
          <a:xfrm>
            <a:off x="3429000" y="1234440"/>
            <a:ext cx="2377440" cy="1097280"/>
          </a:xfrm>
          <a:prstGeom prst="roundRect">
            <a:avLst>
              <a:gd name="adj" fmla="val 6667"/>
            </a:avLst>
          </a:prstGeom>
          <a:solidFill>
            <a:srgbClr val="FFFFFF"/>
          </a:solidFill>
          <a:ln w="15240">
            <a:solidFill>
              <a:srgbClr val="B7C6DA"/>
            </a:solidFill>
            <a:prstDash val="solid"/>
          </a:ln>
        </p:spPr>
      </p:sp>
      <p:sp>
        <p:nvSpPr>
          <p:cNvPr id="10" name="Shape 8"/>
          <p:cNvSpPr/>
          <p:nvPr/>
        </p:nvSpPr>
        <p:spPr>
          <a:xfrm>
            <a:off x="3429000" y="1234440"/>
            <a:ext cx="2377440" cy="329184"/>
          </a:xfrm>
          <a:prstGeom prst="rect">
            <a:avLst/>
          </a:prstGeom>
          <a:solidFill>
            <a:srgbClr val="6D28D9"/>
          </a:solidFill>
          <a:ln w="12700">
            <a:solidFill>
              <a:srgbClr val="6D28D9"/>
            </a:solidFill>
            <a:prstDash val="solid"/>
          </a:ln>
        </p:spPr>
      </p:sp>
      <p:sp>
        <p:nvSpPr>
          <p:cNvPr id="11" name="Text 9"/>
          <p:cNvSpPr/>
          <p:nvPr/>
        </p:nvSpPr>
        <p:spPr>
          <a:xfrm>
            <a:off x="3538728" y="1307592"/>
            <a:ext cx="2157984" cy="164592"/>
          </a:xfrm>
          <a:prstGeom prst="rect">
            <a:avLst/>
          </a:prstGeom>
          <a:noFill/>
          <a:ln/>
        </p:spPr>
        <p:txBody>
          <a:bodyPr wrap="square" lIns="0" tIns="0" rIns="0" bIns="0" rtlCol="0" anchor="ctr"/>
          <a:lstStyle/>
          <a:p>
            <a:pPr algn="ctr" indent="0" marL="0">
              <a:buNone/>
            </a:pPr>
            <a:r>
              <a:rPr lang="en-US" sz="1200" b="1" dirty="0">
                <a:solidFill>
                  <a:srgbClr val="FFFFFF"/>
                </a:solidFill>
                <a:latin typeface="Aptos" pitchFamily="34" charset="0"/>
                <a:ea typeface="Aptos" pitchFamily="34" charset="-122"/>
                <a:cs typeface="Aptos" pitchFamily="34" charset="-120"/>
              </a:rPr>
              <a:t>Percept sequence</a:t>
            </a:r>
            <a:endParaRPr lang="en-US" sz="1200" dirty="0"/>
          </a:p>
        </p:txBody>
      </p:sp>
      <p:sp>
        <p:nvSpPr>
          <p:cNvPr id="12" name="Text 10"/>
          <p:cNvSpPr/>
          <p:nvPr/>
        </p:nvSpPr>
        <p:spPr>
          <a:xfrm>
            <a:off x="3593592" y="1737360"/>
            <a:ext cx="2048256" cy="475488"/>
          </a:xfrm>
          <a:prstGeom prst="rect">
            <a:avLst/>
          </a:prstGeom>
          <a:noFill/>
          <a:ln/>
        </p:spPr>
        <p:txBody>
          <a:bodyPr wrap="square" lIns="254" tIns="254" rIns="254" bIns="254" rtlCol="0" anchor="ctr">
            <a:normAutofit/>
          </a:bodyPr>
          <a:lstStyle/>
          <a:p>
            <a:pPr indent="0" marL="0">
              <a:buNone/>
            </a:pPr>
            <a:r>
              <a:rPr lang="en-US" sz="1230" dirty="0">
                <a:solidFill>
                  <a:srgbClr val="17202A"/>
                </a:solidFill>
                <a:latin typeface="Aptos" pitchFamily="34" charset="0"/>
                <a:ea typeface="Aptos" pitchFamily="34" charset="-122"/>
                <a:cs typeface="Aptos" pitchFamily="34" charset="-120"/>
              </a:rPr>
              <a:t>Complete history of everything the agent has perceived.</a:t>
            </a:r>
            <a:endParaRPr lang="en-US" sz="1230" dirty="0"/>
          </a:p>
        </p:txBody>
      </p:sp>
      <p:sp>
        <p:nvSpPr>
          <p:cNvPr id="13" name="Shape 11"/>
          <p:cNvSpPr/>
          <p:nvPr/>
        </p:nvSpPr>
        <p:spPr>
          <a:xfrm>
            <a:off x="6172200" y="1234440"/>
            <a:ext cx="2377440" cy="1097280"/>
          </a:xfrm>
          <a:prstGeom prst="roundRect">
            <a:avLst>
              <a:gd name="adj" fmla="val 6667"/>
            </a:avLst>
          </a:prstGeom>
          <a:solidFill>
            <a:srgbClr val="FFFFFF"/>
          </a:solidFill>
          <a:ln w="15240">
            <a:solidFill>
              <a:srgbClr val="B7C6DA"/>
            </a:solidFill>
            <a:prstDash val="solid"/>
          </a:ln>
        </p:spPr>
      </p:sp>
      <p:sp>
        <p:nvSpPr>
          <p:cNvPr id="14" name="Shape 12"/>
          <p:cNvSpPr/>
          <p:nvPr/>
        </p:nvSpPr>
        <p:spPr>
          <a:xfrm>
            <a:off x="6172200" y="1234440"/>
            <a:ext cx="2377440" cy="329184"/>
          </a:xfrm>
          <a:prstGeom prst="rect">
            <a:avLst/>
          </a:prstGeom>
          <a:solidFill>
            <a:srgbClr val="1F7A3D"/>
          </a:solidFill>
          <a:ln w="12700">
            <a:solidFill>
              <a:srgbClr val="1F7A3D"/>
            </a:solidFill>
            <a:prstDash val="solid"/>
          </a:ln>
        </p:spPr>
      </p:sp>
      <p:sp>
        <p:nvSpPr>
          <p:cNvPr id="15" name="Text 13"/>
          <p:cNvSpPr/>
          <p:nvPr/>
        </p:nvSpPr>
        <p:spPr>
          <a:xfrm>
            <a:off x="6281928" y="1307592"/>
            <a:ext cx="2157984" cy="164592"/>
          </a:xfrm>
          <a:prstGeom prst="rect">
            <a:avLst/>
          </a:prstGeom>
          <a:noFill/>
          <a:ln/>
        </p:spPr>
        <p:txBody>
          <a:bodyPr wrap="square" lIns="0" tIns="0" rIns="0" bIns="0" rtlCol="0" anchor="ctr"/>
          <a:lstStyle/>
          <a:p>
            <a:pPr algn="ctr" indent="0" marL="0">
              <a:buNone/>
            </a:pPr>
            <a:r>
              <a:rPr lang="en-US" sz="1200" b="1" dirty="0">
                <a:solidFill>
                  <a:srgbClr val="FFFFFF"/>
                </a:solidFill>
                <a:latin typeface="Aptos" pitchFamily="34" charset="0"/>
                <a:ea typeface="Aptos" pitchFamily="34" charset="-122"/>
                <a:cs typeface="Aptos" pitchFamily="34" charset="-120"/>
              </a:rPr>
              <a:t>Agent function</a:t>
            </a:r>
            <a:endParaRPr lang="en-US" sz="1200" dirty="0"/>
          </a:p>
        </p:txBody>
      </p:sp>
      <p:sp>
        <p:nvSpPr>
          <p:cNvPr id="16" name="Text 14"/>
          <p:cNvSpPr/>
          <p:nvPr/>
        </p:nvSpPr>
        <p:spPr>
          <a:xfrm>
            <a:off x="6336792" y="1737360"/>
            <a:ext cx="2048256" cy="475488"/>
          </a:xfrm>
          <a:prstGeom prst="rect">
            <a:avLst/>
          </a:prstGeom>
          <a:noFill/>
          <a:ln/>
        </p:spPr>
        <p:txBody>
          <a:bodyPr wrap="square" lIns="254" tIns="254" rIns="254" bIns="254" rtlCol="0" anchor="ctr">
            <a:normAutofit/>
          </a:bodyPr>
          <a:lstStyle/>
          <a:p>
            <a:pPr indent="0" marL="0">
              <a:buNone/>
            </a:pPr>
            <a:r>
              <a:rPr lang="en-US" sz="1230" dirty="0">
                <a:solidFill>
                  <a:srgbClr val="17202A"/>
                </a:solidFill>
                <a:latin typeface="Aptos" pitchFamily="34" charset="0"/>
                <a:ea typeface="Aptos" pitchFamily="34" charset="-122"/>
                <a:cs typeface="Aptos" pitchFamily="34" charset="-120"/>
              </a:rPr>
              <a:t>Abstract mapping: percept sequence → action.</a:t>
            </a:r>
            <a:endParaRPr lang="en-US" sz="1230" dirty="0"/>
          </a:p>
        </p:txBody>
      </p:sp>
      <p:sp>
        <p:nvSpPr>
          <p:cNvPr id="17" name="Shape 15"/>
          <p:cNvSpPr/>
          <p:nvPr/>
        </p:nvSpPr>
        <p:spPr>
          <a:xfrm>
            <a:off x="8915400" y="1234440"/>
            <a:ext cx="2377440" cy="1097280"/>
          </a:xfrm>
          <a:prstGeom prst="roundRect">
            <a:avLst>
              <a:gd name="adj" fmla="val 6667"/>
            </a:avLst>
          </a:prstGeom>
          <a:solidFill>
            <a:srgbClr val="FFFFFF"/>
          </a:solidFill>
          <a:ln w="15240">
            <a:solidFill>
              <a:srgbClr val="B7C6DA"/>
            </a:solidFill>
            <a:prstDash val="solid"/>
          </a:ln>
        </p:spPr>
      </p:sp>
      <p:sp>
        <p:nvSpPr>
          <p:cNvPr id="18" name="Shape 16"/>
          <p:cNvSpPr/>
          <p:nvPr/>
        </p:nvSpPr>
        <p:spPr>
          <a:xfrm>
            <a:off x="8915400" y="1234440"/>
            <a:ext cx="2377440" cy="329184"/>
          </a:xfrm>
          <a:prstGeom prst="rect">
            <a:avLst/>
          </a:prstGeom>
          <a:solidFill>
            <a:srgbClr val="F5A623"/>
          </a:solidFill>
          <a:ln w="12700">
            <a:solidFill>
              <a:srgbClr val="F5A623"/>
            </a:solidFill>
            <a:prstDash val="solid"/>
          </a:ln>
        </p:spPr>
      </p:sp>
      <p:sp>
        <p:nvSpPr>
          <p:cNvPr id="19" name="Text 17"/>
          <p:cNvSpPr/>
          <p:nvPr/>
        </p:nvSpPr>
        <p:spPr>
          <a:xfrm>
            <a:off x="9025128" y="1307592"/>
            <a:ext cx="2157984" cy="164592"/>
          </a:xfrm>
          <a:prstGeom prst="rect">
            <a:avLst/>
          </a:prstGeom>
          <a:noFill/>
          <a:ln/>
        </p:spPr>
        <p:txBody>
          <a:bodyPr wrap="square" lIns="0" tIns="0" rIns="0" bIns="0" rtlCol="0" anchor="ctr"/>
          <a:lstStyle/>
          <a:p>
            <a:pPr algn="ctr" indent="0" marL="0">
              <a:buNone/>
            </a:pPr>
            <a:r>
              <a:rPr lang="en-US" sz="1200" b="1" dirty="0">
                <a:solidFill>
                  <a:srgbClr val="FFFFFF"/>
                </a:solidFill>
                <a:latin typeface="Aptos" pitchFamily="34" charset="0"/>
                <a:ea typeface="Aptos" pitchFamily="34" charset="-122"/>
                <a:cs typeface="Aptos" pitchFamily="34" charset="-120"/>
              </a:rPr>
              <a:t>Agent program</a:t>
            </a:r>
            <a:endParaRPr lang="en-US" sz="1200" dirty="0"/>
          </a:p>
        </p:txBody>
      </p:sp>
      <p:sp>
        <p:nvSpPr>
          <p:cNvPr id="20" name="Text 18"/>
          <p:cNvSpPr/>
          <p:nvPr/>
        </p:nvSpPr>
        <p:spPr>
          <a:xfrm>
            <a:off x="9079992" y="1737360"/>
            <a:ext cx="2048256" cy="475488"/>
          </a:xfrm>
          <a:prstGeom prst="rect">
            <a:avLst/>
          </a:prstGeom>
          <a:noFill/>
          <a:ln/>
        </p:spPr>
        <p:txBody>
          <a:bodyPr wrap="square" lIns="254" tIns="254" rIns="254" bIns="254" rtlCol="0" anchor="ctr">
            <a:normAutofit/>
          </a:bodyPr>
          <a:lstStyle/>
          <a:p>
            <a:pPr indent="0" marL="0">
              <a:buNone/>
            </a:pPr>
            <a:r>
              <a:rPr lang="en-US" sz="1230" dirty="0">
                <a:solidFill>
                  <a:srgbClr val="17202A"/>
                </a:solidFill>
                <a:latin typeface="Aptos" pitchFamily="34" charset="0"/>
                <a:ea typeface="Aptos" pitchFamily="34" charset="-122"/>
                <a:cs typeface="Aptos" pitchFamily="34" charset="-120"/>
              </a:rPr>
              <a:t>Concrete code running on an architecture.</a:t>
            </a:r>
            <a:endParaRPr lang="en-US" sz="1230" dirty="0"/>
          </a:p>
        </p:txBody>
      </p:sp>
      <p:sp>
        <p:nvSpPr>
          <p:cNvPr id="21" name="Shape 19"/>
          <p:cNvSpPr/>
          <p:nvPr/>
        </p:nvSpPr>
        <p:spPr>
          <a:xfrm>
            <a:off x="1005840" y="3337560"/>
            <a:ext cx="10149840" cy="1463040"/>
          </a:xfrm>
          <a:prstGeom prst="roundRect">
            <a:avLst>
              <a:gd name="adj" fmla="val 5000"/>
            </a:avLst>
          </a:prstGeom>
          <a:solidFill>
            <a:srgbClr val="FFFFFF"/>
          </a:solidFill>
          <a:ln w="12700">
            <a:solidFill>
              <a:srgbClr val="B7C6DA"/>
            </a:solidFill>
            <a:prstDash val="solid"/>
          </a:ln>
        </p:spPr>
      </p:sp>
      <p:sp>
        <p:nvSpPr>
          <p:cNvPr id="22" name="Text 20"/>
          <p:cNvSpPr/>
          <p:nvPr/>
        </p:nvSpPr>
        <p:spPr>
          <a:xfrm>
            <a:off x="1280160" y="3520440"/>
            <a:ext cx="2560320" cy="228600"/>
          </a:xfrm>
          <a:prstGeom prst="rect">
            <a:avLst/>
          </a:prstGeom>
          <a:noFill/>
          <a:ln/>
        </p:spPr>
        <p:txBody>
          <a:bodyPr wrap="square" rtlCol="0" anchor="ctr"/>
          <a:lstStyle/>
          <a:p>
            <a:pPr indent="0" marL="0">
              <a:buNone/>
            </a:pPr>
            <a:r>
              <a:rPr lang="en-US" sz="1600" b="1" dirty="0">
                <a:solidFill>
                  <a:srgbClr val="102F63"/>
                </a:solidFill>
              </a:rPr>
              <a:t>Do not confuse these two:</a:t>
            </a:r>
            <a:endParaRPr lang="en-US" sz="1600" dirty="0"/>
          </a:p>
        </p:txBody>
      </p:sp>
      <p:sp>
        <p:nvSpPr>
          <p:cNvPr id="23" name="Text 21"/>
          <p:cNvSpPr/>
          <p:nvPr/>
        </p:nvSpPr>
        <p:spPr>
          <a:xfrm>
            <a:off x="1417320" y="3913632"/>
            <a:ext cx="1554480" cy="201168"/>
          </a:xfrm>
          <a:prstGeom prst="rect">
            <a:avLst/>
          </a:prstGeom>
          <a:noFill/>
          <a:ln/>
        </p:spPr>
        <p:txBody>
          <a:bodyPr wrap="square" rtlCol="0" anchor="ctr"/>
          <a:lstStyle/>
          <a:p>
            <a:pPr indent="0" marL="0">
              <a:buNone/>
            </a:pPr>
            <a:r>
              <a:rPr lang="en-US" sz="1400" b="1" dirty="0">
                <a:solidFill>
                  <a:srgbClr val="1F7A3D"/>
                </a:solidFill>
              </a:rPr>
              <a:t>Agent function</a:t>
            </a:r>
            <a:endParaRPr lang="en-US" sz="1400" dirty="0"/>
          </a:p>
        </p:txBody>
      </p:sp>
      <p:sp>
        <p:nvSpPr>
          <p:cNvPr id="24" name="Text 22"/>
          <p:cNvSpPr/>
          <p:nvPr/>
        </p:nvSpPr>
        <p:spPr>
          <a:xfrm>
            <a:off x="3337560" y="3913632"/>
            <a:ext cx="4023360" cy="201168"/>
          </a:xfrm>
          <a:prstGeom prst="rect">
            <a:avLst/>
          </a:prstGeom>
          <a:noFill/>
          <a:ln/>
        </p:spPr>
        <p:txBody>
          <a:bodyPr wrap="square" rtlCol="0" anchor="ctr"/>
          <a:lstStyle/>
          <a:p>
            <a:pPr indent="0" marL="0">
              <a:buNone/>
            </a:pPr>
            <a:r>
              <a:rPr lang="en-US" sz="1200" dirty="0">
                <a:solidFill>
                  <a:srgbClr val="17202A"/>
                </a:solidFill>
              </a:rPr>
              <a:t>External mathematical description of behavior.</a:t>
            </a:r>
            <a:endParaRPr lang="en-US" sz="1200" dirty="0"/>
          </a:p>
        </p:txBody>
      </p:sp>
      <p:sp>
        <p:nvSpPr>
          <p:cNvPr id="25" name="Text 23"/>
          <p:cNvSpPr/>
          <p:nvPr/>
        </p:nvSpPr>
        <p:spPr>
          <a:xfrm>
            <a:off x="1417320" y="4343400"/>
            <a:ext cx="1554480" cy="201168"/>
          </a:xfrm>
          <a:prstGeom prst="rect">
            <a:avLst/>
          </a:prstGeom>
          <a:noFill/>
          <a:ln/>
        </p:spPr>
        <p:txBody>
          <a:bodyPr wrap="square" rtlCol="0" anchor="ctr"/>
          <a:lstStyle/>
          <a:p>
            <a:pPr indent="0" marL="0">
              <a:buNone/>
            </a:pPr>
            <a:r>
              <a:rPr lang="en-US" sz="1400" b="1" dirty="0">
                <a:solidFill>
                  <a:srgbClr val="F5A623"/>
                </a:solidFill>
              </a:rPr>
              <a:t>Agent program</a:t>
            </a:r>
            <a:endParaRPr lang="en-US" sz="1400" dirty="0"/>
          </a:p>
        </p:txBody>
      </p:sp>
      <p:sp>
        <p:nvSpPr>
          <p:cNvPr id="26" name="Text 24"/>
          <p:cNvSpPr/>
          <p:nvPr/>
        </p:nvSpPr>
        <p:spPr>
          <a:xfrm>
            <a:off x="3337560" y="4343400"/>
            <a:ext cx="4389120" cy="201168"/>
          </a:xfrm>
          <a:prstGeom prst="rect">
            <a:avLst/>
          </a:prstGeom>
          <a:noFill/>
          <a:ln/>
        </p:spPr>
        <p:txBody>
          <a:bodyPr wrap="square" rtlCol="0" anchor="ctr"/>
          <a:lstStyle/>
          <a:p>
            <a:pPr indent="0" marL="0">
              <a:buNone/>
            </a:pPr>
            <a:r>
              <a:rPr lang="en-US" sz="1200" dirty="0">
                <a:solidFill>
                  <a:srgbClr val="17202A"/>
                </a:solidFill>
              </a:rPr>
              <a:t>Internal implementation that receives current percept.</a:t>
            </a:r>
            <a:endParaRPr lang="en-US" sz="1200" dirty="0"/>
          </a:p>
        </p:txBody>
      </p:sp>
      <p:sp>
        <p:nvSpPr>
          <p:cNvPr id="27" name="Shape 25"/>
          <p:cNvSpPr/>
          <p:nvPr/>
        </p:nvSpPr>
        <p:spPr>
          <a:xfrm>
            <a:off x="1508760" y="5394960"/>
            <a:ext cx="9144000" cy="429768"/>
          </a:xfrm>
          <a:prstGeom prst="roundRect">
            <a:avLst>
              <a:gd name="adj" fmla="val 12766"/>
            </a:avLst>
          </a:prstGeom>
          <a:solidFill>
            <a:srgbClr val="FFEFCB"/>
          </a:solidFill>
          <a:ln w="12700">
            <a:solidFill>
              <a:srgbClr val="AFC2DC"/>
            </a:solidFill>
            <a:prstDash val="solid"/>
          </a:ln>
        </p:spPr>
      </p:sp>
      <p:sp>
        <p:nvSpPr>
          <p:cNvPr id="28" name="Text 26"/>
          <p:cNvSpPr/>
          <p:nvPr/>
        </p:nvSpPr>
        <p:spPr>
          <a:xfrm>
            <a:off x="1554480" y="5449824"/>
            <a:ext cx="9052560" cy="338328"/>
          </a:xfrm>
          <a:prstGeom prst="rect">
            <a:avLst/>
          </a:prstGeom>
          <a:noFill/>
          <a:ln/>
        </p:spPr>
        <p:txBody>
          <a:bodyPr wrap="square" lIns="0" tIns="0" rIns="0" bIns="0" rtlCol="0" anchor="ctr">
            <a:normAutofit/>
          </a:bodyPr>
          <a:lstStyle/>
          <a:p>
            <a:pPr algn="ctr" indent="0" marL="0">
              <a:buNone/>
            </a:pPr>
            <a:r>
              <a:rPr lang="en-US" sz="1250" b="1" dirty="0">
                <a:solidFill>
                  <a:srgbClr val="102F63"/>
                </a:solidFill>
                <a:latin typeface="Aptos" pitchFamily="34" charset="0"/>
                <a:ea typeface="Aptos" pitchFamily="34" charset="-122"/>
                <a:cs typeface="Aptos" pitchFamily="34" charset="-120"/>
              </a:rPr>
              <a:t>Chapter 2 problem: produce rational behavior from a compact program, not a vast lookup table.</a:t>
            </a:r>
            <a:endParaRPr lang="en-US" sz="1250" dirty="0"/>
          </a:p>
        </p:txBody>
      </p:sp>
      <p:sp>
        <p:nvSpPr>
          <p:cNvPr id="29" name="Text 27"/>
          <p:cNvSpPr/>
          <p:nvPr/>
        </p:nvSpPr>
        <p:spPr>
          <a:xfrm>
            <a:off x="502920" y="6574536"/>
            <a:ext cx="5760720" cy="118872"/>
          </a:xfrm>
          <a:prstGeom prst="rect">
            <a:avLst/>
          </a:prstGeom>
          <a:noFill/>
          <a:ln/>
        </p:spPr>
        <p:txBody>
          <a:bodyPr wrap="square" lIns="0" tIns="0" rIns="0" bIns="0" rtlCol="0" anchor="ctr"/>
          <a:lstStyle/>
          <a:p>
            <a:pPr indent="0" marL="0">
              <a:buNone/>
            </a:pPr>
            <a:r>
              <a:rPr lang="en-US" sz="650" dirty="0">
                <a:solidFill>
                  <a:srgbClr val="7A869A"/>
                </a:solidFill>
                <a:latin typeface="Aptos" pitchFamily="34" charset="0"/>
                <a:ea typeface="Aptos" pitchFamily="34" charset="-122"/>
                <a:cs typeface="Aptos" pitchFamily="34" charset="-120"/>
              </a:rPr>
              <a:t>AIMA Ch. 2 + UC Berkeley CS188 Part II companion</a:t>
            </a:r>
            <a:endParaRPr lang="en-US" sz="650" dirty="0"/>
          </a:p>
        </p:txBody>
      </p:sp>
      <p:sp>
        <p:nvSpPr>
          <p:cNvPr id="25" name="Slide Number Placeholder 0"/>
          <p:cNvSpPr>
            <a:spLocks noGrp="1"/>
          </p:cNvSpPr>
          <p:nvPr>
            <p:ph type="sldNum" sz="quarter" idx="4294967295"/>
          </p:nvPr>
        </p:nvSpPr>
        <p:spPr>
          <a:xfrm>
            <a:off x="5943600" y="658368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B778C"/>
                </a:solidFill>
                <a:latin typeface="Aptos"/>
                <a:ea typeface="Aptos"/>
                <a:cs typeface="Aptos"/>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2920" y="146304"/>
            <a:ext cx="11155680" cy="329184"/>
          </a:xfrm>
          <a:prstGeom prst="rect">
            <a:avLst/>
          </a:prstGeom>
          <a:noFill/>
          <a:ln/>
        </p:spPr>
        <p:txBody>
          <a:bodyPr wrap="square" lIns="0" tIns="0" rIns="0" bIns="0" rtlCol="0" anchor="ctr"/>
          <a:lstStyle/>
          <a:p>
            <a:pPr indent="0" marL="0">
              <a:buNone/>
            </a:pPr>
            <a:r>
              <a:rPr lang="en-US" sz="2500" b="1" dirty="0">
                <a:solidFill>
                  <a:srgbClr val="FFFFFF"/>
                </a:solidFill>
                <a:latin typeface="Aptos Display" pitchFamily="34" charset="0"/>
                <a:ea typeface="Aptos Display" pitchFamily="34" charset="-122"/>
                <a:cs typeface="Aptos Display" pitchFamily="34" charset="-120"/>
              </a:rPr>
              <a:t>2.2 Good Behavior: Rationality Is Expected Performance</a:t>
            </a:r>
            <a:endParaRPr lang="en-US" sz="2500" dirty="0"/>
          </a:p>
        </p:txBody>
      </p:sp>
      <p:sp>
        <p:nvSpPr>
          <p:cNvPr id="3" name="Shape 1"/>
          <p:cNvSpPr/>
          <p:nvPr/>
        </p:nvSpPr>
        <p:spPr>
          <a:xfrm>
            <a:off x="10058400" y="841248"/>
            <a:ext cx="1508760" cy="228600"/>
          </a:xfrm>
          <a:prstGeom prst="roundRect">
            <a:avLst>
              <a:gd name="adj" fmla="val 28000"/>
            </a:avLst>
          </a:prstGeom>
          <a:solidFill>
            <a:srgbClr val="EAF2FF"/>
          </a:solidFill>
          <a:ln w="12700">
            <a:solidFill>
              <a:srgbClr val="B7CAE4"/>
            </a:solidFill>
            <a:prstDash val="solid"/>
          </a:ln>
        </p:spPr>
      </p:sp>
      <p:sp>
        <p:nvSpPr>
          <p:cNvPr id="4" name="Text 2"/>
          <p:cNvSpPr/>
          <p:nvPr/>
        </p:nvSpPr>
        <p:spPr>
          <a:xfrm>
            <a:off x="10168128" y="900684"/>
            <a:ext cx="1298448" cy="91440"/>
          </a:xfrm>
          <a:prstGeom prst="rect">
            <a:avLst/>
          </a:prstGeom>
          <a:noFill/>
          <a:ln/>
        </p:spPr>
        <p:txBody>
          <a:bodyPr wrap="square" lIns="0" tIns="0" rIns="0" bIns="0" rtlCol="0" anchor="ctr"/>
          <a:lstStyle/>
          <a:p>
            <a:pPr algn="ctr" indent="0" marL="0">
              <a:buNone/>
            </a:pPr>
            <a:r>
              <a:rPr lang="en-US" sz="950" b="1" dirty="0">
                <a:solidFill>
                  <a:srgbClr val="102F63"/>
                </a:solidFill>
                <a:latin typeface="Aptos" pitchFamily="34" charset="0"/>
                <a:ea typeface="Aptos" pitchFamily="34" charset="-122"/>
                <a:cs typeface="Aptos" pitchFamily="34" charset="-120"/>
              </a:rPr>
              <a:t>2.2</a:t>
            </a:r>
            <a:endParaRPr lang="en-US" sz="950" dirty="0"/>
          </a:p>
        </p:txBody>
      </p:sp>
      <p:sp>
        <p:nvSpPr>
          <p:cNvPr id="5" name="Text 3"/>
          <p:cNvSpPr/>
          <p:nvPr/>
        </p:nvSpPr>
        <p:spPr>
          <a:xfrm>
            <a:off x="914400" y="1234440"/>
            <a:ext cx="10332720" cy="411480"/>
          </a:xfrm>
          <a:prstGeom prst="rect">
            <a:avLst/>
          </a:prstGeom>
          <a:noFill/>
          <a:ln/>
        </p:spPr>
        <p:txBody>
          <a:bodyPr wrap="square" rtlCol="0" anchor="ctr">
            <a:normAutofit/>
          </a:bodyPr>
          <a:lstStyle/>
          <a:p>
            <a:pPr algn="ctr" indent="0" marL="0">
              <a:buNone/>
            </a:pPr>
            <a:r>
              <a:rPr lang="en-US" sz="2300" b="1" dirty="0">
                <a:solidFill>
                  <a:srgbClr val="102F63"/>
                </a:solidFill>
              </a:rPr>
              <a:t>A rational agent selects the action expected to maximize its performance measure.</a:t>
            </a:r>
            <a:endParaRPr lang="en-US" sz="2300" dirty="0"/>
          </a:p>
        </p:txBody>
      </p:sp>
      <p:sp>
        <p:nvSpPr>
          <p:cNvPr id="6" name="Shape 4"/>
          <p:cNvSpPr/>
          <p:nvPr/>
        </p:nvSpPr>
        <p:spPr>
          <a:xfrm>
            <a:off x="822960" y="2331720"/>
            <a:ext cx="2331720" cy="1298448"/>
          </a:xfrm>
          <a:prstGeom prst="roundRect">
            <a:avLst>
              <a:gd name="adj" fmla="val 5634"/>
            </a:avLst>
          </a:prstGeom>
          <a:solidFill>
            <a:srgbClr val="FFFFFF"/>
          </a:solidFill>
          <a:ln w="15240">
            <a:solidFill>
              <a:srgbClr val="B7C6DA"/>
            </a:solidFill>
            <a:prstDash val="solid"/>
          </a:ln>
        </p:spPr>
      </p:sp>
      <p:sp>
        <p:nvSpPr>
          <p:cNvPr id="7" name="Shape 5"/>
          <p:cNvSpPr/>
          <p:nvPr/>
        </p:nvSpPr>
        <p:spPr>
          <a:xfrm>
            <a:off x="822960" y="2331720"/>
            <a:ext cx="2331720" cy="329184"/>
          </a:xfrm>
          <a:prstGeom prst="rect">
            <a:avLst/>
          </a:prstGeom>
          <a:solidFill>
            <a:srgbClr val="1F65B6"/>
          </a:solidFill>
          <a:ln w="12700">
            <a:solidFill>
              <a:srgbClr val="1F65B6"/>
            </a:solidFill>
            <a:prstDash val="solid"/>
          </a:ln>
        </p:spPr>
      </p:sp>
      <p:sp>
        <p:nvSpPr>
          <p:cNvPr id="8" name="Text 6"/>
          <p:cNvSpPr/>
          <p:nvPr/>
        </p:nvSpPr>
        <p:spPr>
          <a:xfrm>
            <a:off x="932688" y="2404872"/>
            <a:ext cx="2112264" cy="164592"/>
          </a:xfrm>
          <a:prstGeom prst="rect">
            <a:avLst/>
          </a:prstGeom>
          <a:noFill/>
          <a:ln/>
        </p:spPr>
        <p:txBody>
          <a:bodyPr wrap="square" lIns="0" tIns="0" rIns="0" bIns="0" rtlCol="0" anchor="ctr"/>
          <a:lstStyle/>
          <a:p>
            <a:pPr algn="ctr" indent="0" marL="0">
              <a:buNone/>
            </a:pPr>
            <a:r>
              <a:rPr lang="en-US" sz="1200" b="1" dirty="0">
                <a:solidFill>
                  <a:srgbClr val="FFFFFF"/>
                </a:solidFill>
                <a:latin typeface="Aptos" pitchFamily="34" charset="0"/>
                <a:ea typeface="Aptos" pitchFamily="34" charset="-122"/>
                <a:cs typeface="Aptos" pitchFamily="34" charset="-120"/>
              </a:rPr>
              <a:t>Performance measure</a:t>
            </a:r>
            <a:endParaRPr lang="en-US" sz="1200" dirty="0"/>
          </a:p>
        </p:txBody>
      </p:sp>
      <p:sp>
        <p:nvSpPr>
          <p:cNvPr id="9" name="Text 7"/>
          <p:cNvSpPr/>
          <p:nvPr/>
        </p:nvSpPr>
        <p:spPr>
          <a:xfrm>
            <a:off x="987552" y="2834640"/>
            <a:ext cx="2002536" cy="676656"/>
          </a:xfrm>
          <a:prstGeom prst="rect">
            <a:avLst/>
          </a:prstGeom>
          <a:noFill/>
          <a:ln/>
        </p:spPr>
        <p:txBody>
          <a:bodyPr wrap="square" lIns="254" tIns="254" rIns="254" bIns="254" rtlCol="0" anchor="ctr">
            <a:normAutofit/>
          </a:bodyPr>
          <a:lstStyle/>
          <a:p>
            <a:pPr indent="0" marL="0">
              <a:buNone/>
            </a:pPr>
            <a:r>
              <a:rPr lang="en-US" sz="1230" dirty="0">
                <a:solidFill>
                  <a:srgbClr val="17202A"/>
                </a:solidFill>
                <a:latin typeface="Aptos" pitchFamily="34" charset="0"/>
                <a:ea typeface="Aptos" pitchFamily="34" charset="-122"/>
                <a:cs typeface="Aptos" pitchFamily="34" charset="-120"/>
              </a:rPr>
              <a:t>What counts as success?</a:t>
            </a:r>
            <a:endParaRPr lang="en-US" sz="1230" dirty="0"/>
          </a:p>
        </p:txBody>
      </p:sp>
      <p:sp>
        <p:nvSpPr>
          <p:cNvPr id="10" name="Shape 8"/>
          <p:cNvSpPr/>
          <p:nvPr/>
        </p:nvSpPr>
        <p:spPr>
          <a:xfrm>
            <a:off x="3657600" y="2331720"/>
            <a:ext cx="2331720" cy="1298448"/>
          </a:xfrm>
          <a:prstGeom prst="roundRect">
            <a:avLst>
              <a:gd name="adj" fmla="val 5634"/>
            </a:avLst>
          </a:prstGeom>
          <a:solidFill>
            <a:srgbClr val="FFFFFF"/>
          </a:solidFill>
          <a:ln w="15240">
            <a:solidFill>
              <a:srgbClr val="B7C6DA"/>
            </a:solidFill>
            <a:prstDash val="solid"/>
          </a:ln>
        </p:spPr>
      </p:sp>
      <p:sp>
        <p:nvSpPr>
          <p:cNvPr id="11" name="Shape 9"/>
          <p:cNvSpPr/>
          <p:nvPr/>
        </p:nvSpPr>
        <p:spPr>
          <a:xfrm>
            <a:off x="3657600" y="2331720"/>
            <a:ext cx="2331720" cy="329184"/>
          </a:xfrm>
          <a:prstGeom prst="rect">
            <a:avLst/>
          </a:prstGeom>
          <a:solidFill>
            <a:srgbClr val="1F7A3D"/>
          </a:solidFill>
          <a:ln w="12700">
            <a:solidFill>
              <a:srgbClr val="1F7A3D"/>
            </a:solidFill>
            <a:prstDash val="solid"/>
          </a:ln>
        </p:spPr>
      </p:sp>
      <p:sp>
        <p:nvSpPr>
          <p:cNvPr id="12" name="Text 10"/>
          <p:cNvSpPr/>
          <p:nvPr/>
        </p:nvSpPr>
        <p:spPr>
          <a:xfrm>
            <a:off x="3767328" y="2404872"/>
            <a:ext cx="2112264" cy="164592"/>
          </a:xfrm>
          <a:prstGeom prst="rect">
            <a:avLst/>
          </a:prstGeom>
          <a:noFill/>
          <a:ln/>
        </p:spPr>
        <p:txBody>
          <a:bodyPr wrap="square" lIns="0" tIns="0" rIns="0" bIns="0" rtlCol="0" anchor="ctr"/>
          <a:lstStyle/>
          <a:p>
            <a:pPr algn="ctr" indent="0" marL="0">
              <a:buNone/>
            </a:pPr>
            <a:r>
              <a:rPr lang="en-US" sz="1200" b="1" dirty="0">
                <a:solidFill>
                  <a:srgbClr val="FFFFFF"/>
                </a:solidFill>
                <a:latin typeface="Aptos" pitchFamily="34" charset="0"/>
                <a:ea typeface="Aptos" pitchFamily="34" charset="-122"/>
                <a:cs typeface="Aptos" pitchFamily="34" charset="-120"/>
              </a:rPr>
              <a:t>Prior knowledge</a:t>
            </a:r>
            <a:endParaRPr lang="en-US" sz="1200" dirty="0"/>
          </a:p>
        </p:txBody>
      </p:sp>
      <p:sp>
        <p:nvSpPr>
          <p:cNvPr id="13" name="Text 11"/>
          <p:cNvSpPr/>
          <p:nvPr/>
        </p:nvSpPr>
        <p:spPr>
          <a:xfrm>
            <a:off x="3822192" y="2834640"/>
            <a:ext cx="2002536" cy="676656"/>
          </a:xfrm>
          <a:prstGeom prst="rect">
            <a:avLst/>
          </a:prstGeom>
          <a:noFill/>
          <a:ln/>
        </p:spPr>
        <p:txBody>
          <a:bodyPr wrap="square" lIns="254" tIns="254" rIns="254" bIns="254" rtlCol="0" anchor="ctr">
            <a:normAutofit/>
          </a:bodyPr>
          <a:lstStyle/>
          <a:p>
            <a:pPr indent="0" marL="0">
              <a:buNone/>
            </a:pPr>
            <a:r>
              <a:rPr lang="en-US" sz="1230" dirty="0">
                <a:solidFill>
                  <a:srgbClr val="17202A"/>
                </a:solidFill>
                <a:latin typeface="Aptos" pitchFamily="34" charset="0"/>
                <a:ea typeface="Aptos" pitchFamily="34" charset="-122"/>
                <a:cs typeface="Aptos" pitchFamily="34" charset="-120"/>
              </a:rPr>
              <a:t>What does the agent already know?</a:t>
            </a:r>
            <a:endParaRPr lang="en-US" sz="1230" dirty="0"/>
          </a:p>
        </p:txBody>
      </p:sp>
      <p:sp>
        <p:nvSpPr>
          <p:cNvPr id="14" name="Shape 12"/>
          <p:cNvSpPr/>
          <p:nvPr/>
        </p:nvSpPr>
        <p:spPr>
          <a:xfrm>
            <a:off x="6492240" y="2331720"/>
            <a:ext cx="2331720" cy="1298448"/>
          </a:xfrm>
          <a:prstGeom prst="roundRect">
            <a:avLst>
              <a:gd name="adj" fmla="val 5634"/>
            </a:avLst>
          </a:prstGeom>
          <a:solidFill>
            <a:srgbClr val="FFFFFF"/>
          </a:solidFill>
          <a:ln w="15240">
            <a:solidFill>
              <a:srgbClr val="B7C6DA"/>
            </a:solidFill>
            <a:prstDash val="solid"/>
          </a:ln>
        </p:spPr>
      </p:sp>
      <p:sp>
        <p:nvSpPr>
          <p:cNvPr id="15" name="Shape 13"/>
          <p:cNvSpPr/>
          <p:nvPr/>
        </p:nvSpPr>
        <p:spPr>
          <a:xfrm>
            <a:off x="6492240" y="2331720"/>
            <a:ext cx="2331720" cy="329184"/>
          </a:xfrm>
          <a:prstGeom prst="rect">
            <a:avLst/>
          </a:prstGeom>
          <a:solidFill>
            <a:srgbClr val="F5A623"/>
          </a:solidFill>
          <a:ln w="12700">
            <a:solidFill>
              <a:srgbClr val="F5A623"/>
            </a:solidFill>
            <a:prstDash val="solid"/>
          </a:ln>
        </p:spPr>
      </p:sp>
      <p:sp>
        <p:nvSpPr>
          <p:cNvPr id="16" name="Text 14"/>
          <p:cNvSpPr/>
          <p:nvPr/>
        </p:nvSpPr>
        <p:spPr>
          <a:xfrm>
            <a:off x="6601968" y="2404872"/>
            <a:ext cx="2112264" cy="164592"/>
          </a:xfrm>
          <a:prstGeom prst="rect">
            <a:avLst/>
          </a:prstGeom>
          <a:noFill/>
          <a:ln/>
        </p:spPr>
        <p:txBody>
          <a:bodyPr wrap="square" lIns="0" tIns="0" rIns="0" bIns="0" rtlCol="0" anchor="ctr"/>
          <a:lstStyle/>
          <a:p>
            <a:pPr algn="ctr" indent="0" marL="0">
              <a:buNone/>
            </a:pPr>
            <a:r>
              <a:rPr lang="en-US" sz="1200" b="1" dirty="0">
                <a:solidFill>
                  <a:srgbClr val="FFFFFF"/>
                </a:solidFill>
                <a:latin typeface="Aptos" pitchFamily="34" charset="0"/>
                <a:ea typeface="Aptos" pitchFamily="34" charset="-122"/>
                <a:cs typeface="Aptos" pitchFamily="34" charset="-120"/>
              </a:rPr>
              <a:t>Available actions</a:t>
            </a:r>
            <a:endParaRPr lang="en-US" sz="1200" dirty="0"/>
          </a:p>
        </p:txBody>
      </p:sp>
      <p:sp>
        <p:nvSpPr>
          <p:cNvPr id="17" name="Text 15"/>
          <p:cNvSpPr/>
          <p:nvPr/>
        </p:nvSpPr>
        <p:spPr>
          <a:xfrm>
            <a:off x="6656832" y="2834640"/>
            <a:ext cx="2002536" cy="676656"/>
          </a:xfrm>
          <a:prstGeom prst="rect">
            <a:avLst/>
          </a:prstGeom>
          <a:noFill/>
          <a:ln/>
        </p:spPr>
        <p:txBody>
          <a:bodyPr wrap="square" lIns="254" tIns="254" rIns="254" bIns="254" rtlCol="0" anchor="ctr">
            <a:normAutofit/>
          </a:bodyPr>
          <a:lstStyle/>
          <a:p>
            <a:pPr indent="0" marL="0">
              <a:buNone/>
            </a:pPr>
            <a:r>
              <a:rPr lang="en-US" sz="1230" dirty="0">
                <a:solidFill>
                  <a:srgbClr val="17202A"/>
                </a:solidFill>
                <a:latin typeface="Aptos" pitchFamily="34" charset="0"/>
                <a:ea typeface="Aptos" pitchFamily="34" charset="-122"/>
                <a:cs typeface="Aptos" pitchFamily="34" charset="-120"/>
              </a:rPr>
              <a:t>What can the agent actually do?</a:t>
            </a:r>
            <a:endParaRPr lang="en-US" sz="1230" dirty="0"/>
          </a:p>
        </p:txBody>
      </p:sp>
      <p:sp>
        <p:nvSpPr>
          <p:cNvPr id="18" name="Shape 16"/>
          <p:cNvSpPr/>
          <p:nvPr/>
        </p:nvSpPr>
        <p:spPr>
          <a:xfrm>
            <a:off x="9326880" y="2331720"/>
            <a:ext cx="2331720" cy="1298448"/>
          </a:xfrm>
          <a:prstGeom prst="roundRect">
            <a:avLst>
              <a:gd name="adj" fmla="val 5634"/>
            </a:avLst>
          </a:prstGeom>
          <a:solidFill>
            <a:srgbClr val="FFFFFF"/>
          </a:solidFill>
          <a:ln w="15240">
            <a:solidFill>
              <a:srgbClr val="B7C6DA"/>
            </a:solidFill>
            <a:prstDash val="solid"/>
          </a:ln>
        </p:spPr>
      </p:sp>
      <p:sp>
        <p:nvSpPr>
          <p:cNvPr id="19" name="Shape 17"/>
          <p:cNvSpPr/>
          <p:nvPr/>
        </p:nvSpPr>
        <p:spPr>
          <a:xfrm>
            <a:off x="9326880" y="2331720"/>
            <a:ext cx="2331720" cy="329184"/>
          </a:xfrm>
          <a:prstGeom prst="rect">
            <a:avLst/>
          </a:prstGeom>
          <a:solidFill>
            <a:srgbClr val="6D28D9"/>
          </a:solidFill>
          <a:ln w="12700">
            <a:solidFill>
              <a:srgbClr val="6D28D9"/>
            </a:solidFill>
            <a:prstDash val="solid"/>
          </a:ln>
        </p:spPr>
      </p:sp>
      <p:sp>
        <p:nvSpPr>
          <p:cNvPr id="20" name="Text 18"/>
          <p:cNvSpPr/>
          <p:nvPr/>
        </p:nvSpPr>
        <p:spPr>
          <a:xfrm>
            <a:off x="9436608" y="2404872"/>
            <a:ext cx="2112264" cy="164592"/>
          </a:xfrm>
          <a:prstGeom prst="rect">
            <a:avLst/>
          </a:prstGeom>
          <a:noFill/>
          <a:ln/>
        </p:spPr>
        <p:txBody>
          <a:bodyPr wrap="square" lIns="0" tIns="0" rIns="0" bIns="0" rtlCol="0" anchor="ctr"/>
          <a:lstStyle/>
          <a:p>
            <a:pPr algn="ctr" indent="0" marL="0">
              <a:buNone/>
            </a:pPr>
            <a:r>
              <a:rPr lang="en-US" sz="1200" b="1" dirty="0">
                <a:solidFill>
                  <a:srgbClr val="FFFFFF"/>
                </a:solidFill>
                <a:latin typeface="Aptos" pitchFamily="34" charset="0"/>
                <a:ea typeface="Aptos" pitchFamily="34" charset="-122"/>
                <a:cs typeface="Aptos" pitchFamily="34" charset="-120"/>
              </a:rPr>
              <a:t>Percept sequence</a:t>
            </a:r>
            <a:endParaRPr lang="en-US" sz="1200" dirty="0"/>
          </a:p>
        </p:txBody>
      </p:sp>
      <p:sp>
        <p:nvSpPr>
          <p:cNvPr id="21" name="Text 19"/>
          <p:cNvSpPr/>
          <p:nvPr/>
        </p:nvSpPr>
        <p:spPr>
          <a:xfrm>
            <a:off x="9491472" y="2834640"/>
            <a:ext cx="2002536" cy="676656"/>
          </a:xfrm>
          <a:prstGeom prst="rect">
            <a:avLst/>
          </a:prstGeom>
          <a:noFill/>
          <a:ln/>
        </p:spPr>
        <p:txBody>
          <a:bodyPr wrap="square" lIns="254" tIns="254" rIns="254" bIns="254" rtlCol="0" anchor="ctr">
            <a:normAutofit/>
          </a:bodyPr>
          <a:lstStyle/>
          <a:p>
            <a:pPr indent="0" marL="0">
              <a:buNone/>
            </a:pPr>
            <a:r>
              <a:rPr lang="en-US" sz="1230" dirty="0">
                <a:solidFill>
                  <a:srgbClr val="17202A"/>
                </a:solidFill>
                <a:latin typeface="Aptos" pitchFamily="34" charset="0"/>
                <a:ea typeface="Aptos" pitchFamily="34" charset="-122"/>
                <a:cs typeface="Aptos" pitchFamily="34" charset="-120"/>
              </a:rPr>
              <a:t>What evidence has it observed?</a:t>
            </a:r>
            <a:endParaRPr lang="en-US" sz="1230" dirty="0"/>
          </a:p>
        </p:txBody>
      </p:sp>
      <p:sp>
        <p:nvSpPr>
          <p:cNvPr id="22" name="Shape 20"/>
          <p:cNvSpPr/>
          <p:nvPr/>
        </p:nvSpPr>
        <p:spPr>
          <a:xfrm>
            <a:off x="2057400" y="4617720"/>
            <a:ext cx="8092440" cy="685800"/>
          </a:xfrm>
          <a:prstGeom prst="roundRect">
            <a:avLst>
              <a:gd name="adj" fmla="val 10667"/>
            </a:avLst>
          </a:prstGeom>
          <a:solidFill>
            <a:srgbClr val="EAF2FF"/>
          </a:solidFill>
          <a:ln w="12700">
            <a:solidFill>
              <a:srgbClr val="B7CAE4"/>
            </a:solidFill>
            <a:prstDash val="solid"/>
          </a:ln>
        </p:spPr>
      </p:sp>
      <p:sp>
        <p:nvSpPr>
          <p:cNvPr id="23" name="Text 21"/>
          <p:cNvSpPr/>
          <p:nvPr/>
        </p:nvSpPr>
        <p:spPr>
          <a:xfrm>
            <a:off x="2286000" y="4828032"/>
            <a:ext cx="7635240" cy="228600"/>
          </a:xfrm>
          <a:prstGeom prst="rect">
            <a:avLst/>
          </a:prstGeom>
          <a:noFill/>
          <a:ln/>
        </p:spPr>
        <p:txBody>
          <a:bodyPr wrap="square" rtlCol="0" anchor="ctr"/>
          <a:lstStyle/>
          <a:p>
            <a:pPr algn="ctr" indent="0" marL="0">
              <a:buNone/>
            </a:pPr>
            <a:r>
              <a:rPr lang="en-US" sz="1600" b="1" dirty="0">
                <a:solidFill>
                  <a:srgbClr val="102F63"/>
                </a:solidFill>
              </a:rPr>
              <a:t>Rationality is not hindsight perfection. It uses evidence available at the time.</a:t>
            </a:r>
            <a:endParaRPr lang="en-US" sz="1600" dirty="0"/>
          </a:p>
        </p:txBody>
      </p:sp>
      <p:sp>
        <p:nvSpPr>
          <p:cNvPr id="24" name="Text 22"/>
          <p:cNvSpPr/>
          <p:nvPr/>
        </p:nvSpPr>
        <p:spPr>
          <a:xfrm>
            <a:off x="502920" y="6574536"/>
            <a:ext cx="5760720" cy="118872"/>
          </a:xfrm>
          <a:prstGeom prst="rect">
            <a:avLst/>
          </a:prstGeom>
          <a:noFill/>
          <a:ln/>
        </p:spPr>
        <p:txBody>
          <a:bodyPr wrap="square" lIns="0" tIns="0" rIns="0" bIns="0" rtlCol="0" anchor="ctr"/>
          <a:lstStyle/>
          <a:p>
            <a:pPr indent="0" marL="0">
              <a:buNone/>
            </a:pPr>
            <a:r>
              <a:rPr lang="en-US" sz="650" dirty="0">
                <a:solidFill>
                  <a:srgbClr val="7A869A"/>
                </a:solidFill>
                <a:latin typeface="Aptos" pitchFamily="34" charset="0"/>
                <a:ea typeface="Aptos" pitchFamily="34" charset="-122"/>
                <a:cs typeface="Aptos" pitchFamily="34" charset="-120"/>
              </a:rPr>
              <a:t>AIMA Ch. 2 + UC Berkeley CS188 Part II companion</a:t>
            </a:r>
            <a:endParaRPr lang="en-US" sz="650" dirty="0"/>
          </a:p>
        </p:txBody>
      </p:sp>
      <p:sp>
        <p:nvSpPr>
          <p:cNvPr id="25" name="Slide Number Placeholder 0"/>
          <p:cNvSpPr>
            <a:spLocks noGrp="1"/>
          </p:cNvSpPr>
          <p:nvPr>
            <p:ph type="sldNum" sz="quarter" idx="4294967295"/>
          </p:nvPr>
        </p:nvSpPr>
        <p:spPr>
          <a:xfrm>
            <a:off x="5943600" y="658368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B778C"/>
                </a:solidFill>
                <a:latin typeface="Aptos"/>
                <a:ea typeface="Aptos"/>
                <a:cs typeface="Aptos"/>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02920" y="146304"/>
            <a:ext cx="11155680" cy="329184"/>
          </a:xfrm>
          <a:prstGeom prst="rect">
            <a:avLst/>
          </a:prstGeom>
          <a:noFill/>
          <a:ln/>
        </p:spPr>
        <p:txBody>
          <a:bodyPr wrap="square" lIns="0" tIns="0" rIns="0" bIns="0" rtlCol="0" anchor="ctr"/>
          <a:lstStyle/>
          <a:p>
            <a:pPr indent="0" marL="0">
              <a:buNone/>
            </a:pPr>
            <a:r>
              <a:rPr lang="en-US" sz="2500" b="1" dirty="0">
                <a:solidFill>
                  <a:srgbClr val="FFFFFF"/>
                </a:solidFill>
                <a:latin typeface="Aptos Display" pitchFamily="34" charset="0"/>
                <a:ea typeface="Aptos Display" pitchFamily="34" charset="-122"/>
                <a:cs typeface="Aptos Display" pitchFamily="34" charset="-120"/>
              </a:rPr>
              <a:t>2.2 Performance Measures: Be Careful What You Ask For</a:t>
            </a:r>
            <a:endParaRPr lang="en-US" sz="2500" dirty="0"/>
          </a:p>
        </p:txBody>
      </p:sp>
      <p:sp>
        <p:nvSpPr>
          <p:cNvPr id="3" name="Shape 1"/>
          <p:cNvSpPr/>
          <p:nvPr/>
        </p:nvSpPr>
        <p:spPr>
          <a:xfrm>
            <a:off x="10058400" y="841248"/>
            <a:ext cx="1508760" cy="228600"/>
          </a:xfrm>
          <a:prstGeom prst="roundRect">
            <a:avLst>
              <a:gd name="adj" fmla="val 28000"/>
            </a:avLst>
          </a:prstGeom>
          <a:solidFill>
            <a:srgbClr val="EAF2FF"/>
          </a:solidFill>
          <a:ln w="12700">
            <a:solidFill>
              <a:srgbClr val="B7CAE4"/>
            </a:solidFill>
            <a:prstDash val="solid"/>
          </a:ln>
        </p:spPr>
      </p:sp>
      <p:sp>
        <p:nvSpPr>
          <p:cNvPr id="4" name="Text 2"/>
          <p:cNvSpPr/>
          <p:nvPr/>
        </p:nvSpPr>
        <p:spPr>
          <a:xfrm>
            <a:off x="10168128" y="900684"/>
            <a:ext cx="1298448" cy="91440"/>
          </a:xfrm>
          <a:prstGeom prst="rect">
            <a:avLst/>
          </a:prstGeom>
          <a:noFill/>
          <a:ln/>
        </p:spPr>
        <p:txBody>
          <a:bodyPr wrap="square" lIns="0" tIns="0" rIns="0" bIns="0" rtlCol="0" anchor="ctr"/>
          <a:lstStyle/>
          <a:p>
            <a:pPr algn="ctr" indent="0" marL="0">
              <a:buNone/>
            </a:pPr>
            <a:r>
              <a:rPr lang="en-US" sz="950" b="1" dirty="0">
                <a:solidFill>
                  <a:srgbClr val="102F63"/>
                </a:solidFill>
                <a:latin typeface="Aptos" pitchFamily="34" charset="0"/>
                <a:ea typeface="Aptos" pitchFamily="34" charset="-122"/>
                <a:cs typeface="Aptos" pitchFamily="34" charset="-120"/>
              </a:rPr>
              <a:t>2.2</a:t>
            </a:r>
            <a:endParaRPr lang="en-US" sz="950" dirty="0"/>
          </a:p>
        </p:txBody>
      </p:sp>
      <p:sp>
        <p:nvSpPr>
          <p:cNvPr id="5" name="Shape 3"/>
          <p:cNvSpPr/>
          <p:nvPr/>
        </p:nvSpPr>
        <p:spPr>
          <a:xfrm>
            <a:off x="822960" y="1280160"/>
            <a:ext cx="3200400" cy="2926080"/>
          </a:xfrm>
          <a:prstGeom prst="roundRect">
            <a:avLst>
              <a:gd name="adj" fmla="val 2500"/>
            </a:avLst>
          </a:prstGeom>
          <a:solidFill>
            <a:srgbClr val="FFFFFF"/>
          </a:solidFill>
          <a:ln w="15240">
            <a:solidFill>
              <a:srgbClr val="B7C6DA"/>
            </a:solidFill>
            <a:prstDash val="solid"/>
          </a:ln>
        </p:spPr>
      </p:sp>
      <p:sp>
        <p:nvSpPr>
          <p:cNvPr id="6" name="Shape 4"/>
          <p:cNvSpPr/>
          <p:nvPr/>
        </p:nvSpPr>
        <p:spPr>
          <a:xfrm>
            <a:off x="822960" y="1280160"/>
            <a:ext cx="3200400" cy="329184"/>
          </a:xfrm>
          <a:prstGeom prst="rect">
            <a:avLst/>
          </a:prstGeom>
          <a:solidFill>
            <a:srgbClr val="A32020"/>
          </a:solidFill>
          <a:ln w="12700">
            <a:solidFill>
              <a:srgbClr val="A32020"/>
            </a:solidFill>
            <a:prstDash val="solid"/>
          </a:ln>
        </p:spPr>
      </p:sp>
      <p:sp>
        <p:nvSpPr>
          <p:cNvPr id="7" name="Text 5"/>
          <p:cNvSpPr/>
          <p:nvPr/>
        </p:nvSpPr>
        <p:spPr>
          <a:xfrm>
            <a:off x="932688" y="1353312"/>
            <a:ext cx="2980944" cy="164592"/>
          </a:xfrm>
          <a:prstGeom prst="rect">
            <a:avLst/>
          </a:prstGeom>
          <a:noFill/>
          <a:ln/>
        </p:spPr>
        <p:txBody>
          <a:bodyPr wrap="square" lIns="0" tIns="0" rIns="0" bIns="0" rtlCol="0" anchor="ctr"/>
          <a:lstStyle/>
          <a:p>
            <a:pPr algn="ctr" indent="0" marL="0">
              <a:buNone/>
            </a:pPr>
            <a:r>
              <a:rPr lang="en-US" sz="1200" b="1" dirty="0">
                <a:solidFill>
                  <a:srgbClr val="FFFFFF"/>
                </a:solidFill>
                <a:latin typeface="Aptos" pitchFamily="34" charset="0"/>
                <a:ea typeface="Aptos" pitchFamily="34" charset="-122"/>
                <a:cs typeface="Aptos" pitchFamily="34" charset="-120"/>
              </a:rPr>
              <a:t>Bad measure</a:t>
            </a:r>
            <a:endParaRPr lang="en-US" sz="1200" dirty="0"/>
          </a:p>
        </p:txBody>
      </p:sp>
      <p:sp>
        <p:nvSpPr>
          <p:cNvPr id="8" name="Text 6"/>
          <p:cNvSpPr/>
          <p:nvPr/>
        </p:nvSpPr>
        <p:spPr>
          <a:xfrm>
            <a:off x="987552" y="1783080"/>
            <a:ext cx="2871216" cy="2304288"/>
          </a:xfrm>
          <a:prstGeom prst="rect">
            <a:avLst/>
          </a:prstGeom>
          <a:noFill/>
          <a:ln/>
        </p:spPr>
        <p:txBody>
          <a:bodyPr wrap="square" lIns="254" tIns="254" rIns="254" bIns="254" rtlCol="0" anchor="ctr">
            <a:normAutofit/>
          </a:bodyPr>
          <a:lstStyle/>
          <a:p>
            <a:pPr indent="0" marL="0">
              <a:buNone/>
            </a:pPr>
            <a:r>
              <a:rPr lang="en-US" sz="1230" dirty="0">
                <a:solidFill>
                  <a:srgbClr val="17202A"/>
                </a:solidFill>
                <a:latin typeface="Aptos" pitchFamily="34" charset="0"/>
                <a:ea typeface="Aptos" pitchFamily="34" charset="-122"/>
                <a:cs typeface="Aptos" pitchFamily="34" charset="-120"/>
              </a:rPr>
              <a:t>“Reward the vacuum for amount of dirt cleaned.”</a:t>
            </a:r>
            <a:endParaRPr lang="en-US" sz="1230" dirty="0"/>
          </a:p>
          <a:p>
            <a:pPr indent="0" marL="0">
              <a:buNone/>
            </a:pPr>
            <a:endParaRPr lang="en-US" sz="1230" dirty="0"/>
          </a:p>
          <a:p>
            <a:pPr indent="0" marL="0">
              <a:buNone/>
            </a:pPr>
            <a:r>
              <a:rPr lang="en-US" sz="1230" dirty="0">
                <a:solidFill>
                  <a:srgbClr val="17202A"/>
                </a:solidFill>
                <a:latin typeface="Aptos" pitchFamily="34" charset="0"/>
                <a:ea typeface="Aptos" pitchFamily="34" charset="-122"/>
                <a:cs typeface="Aptos" pitchFamily="34" charset="-120"/>
              </a:rPr>
              <a:t>Failure mode: dump dirt, clean it, dump it again.</a:t>
            </a:r>
            <a:endParaRPr lang="en-US" sz="1230" dirty="0"/>
          </a:p>
        </p:txBody>
      </p:sp>
      <p:sp>
        <p:nvSpPr>
          <p:cNvPr id="9" name="Shape 7"/>
          <p:cNvSpPr/>
          <p:nvPr/>
        </p:nvSpPr>
        <p:spPr>
          <a:xfrm>
            <a:off x="4480560" y="1280160"/>
            <a:ext cx="3200400" cy="2926080"/>
          </a:xfrm>
          <a:prstGeom prst="roundRect">
            <a:avLst>
              <a:gd name="adj" fmla="val 2500"/>
            </a:avLst>
          </a:prstGeom>
          <a:solidFill>
            <a:srgbClr val="FFFFFF"/>
          </a:solidFill>
          <a:ln w="15240">
            <a:solidFill>
              <a:srgbClr val="B7C6DA"/>
            </a:solidFill>
            <a:prstDash val="solid"/>
          </a:ln>
        </p:spPr>
      </p:sp>
      <p:sp>
        <p:nvSpPr>
          <p:cNvPr id="10" name="Shape 8"/>
          <p:cNvSpPr/>
          <p:nvPr/>
        </p:nvSpPr>
        <p:spPr>
          <a:xfrm>
            <a:off x="4480560" y="1280160"/>
            <a:ext cx="3200400" cy="329184"/>
          </a:xfrm>
          <a:prstGeom prst="rect">
            <a:avLst/>
          </a:prstGeom>
          <a:solidFill>
            <a:srgbClr val="1F7A3D"/>
          </a:solidFill>
          <a:ln w="12700">
            <a:solidFill>
              <a:srgbClr val="1F7A3D"/>
            </a:solidFill>
            <a:prstDash val="solid"/>
          </a:ln>
        </p:spPr>
      </p:sp>
      <p:sp>
        <p:nvSpPr>
          <p:cNvPr id="11" name="Text 9"/>
          <p:cNvSpPr/>
          <p:nvPr/>
        </p:nvSpPr>
        <p:spPr>
          <a:xfrm>
            <a:off x="4590288" y="1353312"/>
            <a:ext cx="2980944" cy="164592"/>
          </a:xfrm>
          <a:prstGeom prst="rect">
            <a:avLst/>
          </a:prstGeom>
          <a:noFill/>
          <a:ln/>
        </p:spPr>
        <p:txBody>
          <a:bodyPr wrap="square" lIns="0" tIns="0" rIns="0" bIns="0" rtlCol="0" anchor="ctr"/>
          <a:lstStyle/>
          <a:p>
            <a:pPr algn="ctr" indent="0" marL="0">
              <a:buNone/>
            </a:pPr>
            <a:r>
              <a:rPr lang="en-US" sz="1200" b="1" dirty="0">
                <a:solidFill>
                  <a:srgbClr val="FFFFFF"/>
                </a:solidFill>
                <a:latin typeface="Aptos" pitchFamily="34" charset="0"/>
                <a:ea typeface="Aptos" pitchFamily="34" charset="-122"/>
                <a:cs typeface="Aptos" pitchFamily="34" charset="-120"/>
              </a:rPr>
              <a:t>Better measure</a:t>
            </a:r>
            <a:endParaRPr lang="en-US" sz="1200" dirty="0"/>
          </a:p>
        </p:txBody>
      </p:sp>
      <p:sp>
        <p:nvSpPr>
          <p:cNvPr id="12" name="Text 10"/>
          <p:cNvSpPr/>
          <p:nvPr/>
        </p:nvSpPr>
        <p:spPr>
          <a:xfrm>
            <a:off x="4645152" y="1783080"/>
            <a:ext cx="2871216" cy="2304288"/>
          </a:xfrm>
          <a:prstGeom prst="rect">
            <a:avLst/>
          </a:prstGeom>
          <a:noFill/>
          <a:ln/>
        </p:spPr>
        <p:txBody>
          <a:bodyPr wrap="square" lIns="254" tIns="254" rIns="254" bIns="254" rtlCol="0" anchor="ctr">
            <a:normAutofit/>
          </a:bodyPr>
          <a:lstStyle/>
          <a:p>
            <a:pPr indent="0" marL="0">
              <a:buNone/>
            </a:pPr>
            <a:r>
              <a:rPr lang="en-US" sz="1230" dirty="0">
                <a:solidFill>
                  <a:srgbClr val="17202A"/>
                </a:solidFill>
                <a:latin typeface="Aptos" pitchFamily="34" charset="0"/>
                <a:ea typeface="Aptos" pitchFamily="34" charset="-122"/>
                <a:cs typeface="Aptos" pitchFamily="34" charset="-120"/>
              </a:rPr>
              <a:t>“Reward clean squares over time.”</a:t>
            </a:r>
            <a:endParaRPr lang="en-US" sz="1230" dirty="0"/>
          </a:p>
          <a:p>
            <a:pPr indent="0" marL="0">
              <a:buNone/>
            </a:pPr>
            <a:endParaRPr lang="en-US" sz="1230" dirty="0"/>
          </a:p>
          <a:p>
            <a:pPr indent="0" marL="0">
              <a:buNone/>
            </a:pPr>
            <a:r>
              <a:rPr lang="en-US" sz="1230" dirty="0">
                <a:solidFill>
                  <a:srgbClr val="17202A"/>
                </a:solidFill>
                <a:latin typeface="Aptos" pitchFamily="34" charset="0"/>
                <a:ea typeface="Aptos" pitchFamily="34" charset="-122"/>
                <a:cs typeface="Aptos" pitchFamily="34" charset="-120"/>
              </a:rPr>
              <a:t>Measure the environment outcome, not the agent’s visible effort.</a:t>
            </a:r>
            <a:endParaRPr lang="en-US" sz="1230" dirty="0"/>
          </a:p>
        </p:txBody>
      </p:sp>
      <p:sp>
        <p:nvSpPr>
          <p:cNvPr id="13" name="Shape 11"/>
          <p:cNvSpPr/>
          <p:nvPr/>
        </p:nvSpPr>
        <p:spPr>
          <a:xfrm>
            <a:off x="8138160" y="1280160"/>
            <a:ext cx="3200400" cy="2926080"/>
          </a:xfrm>
          <a:prstGeom prst="roundRect">
            <a:avLst>
              <a:gd name="adj" fmla="val 2500"/>
            </a:avLst>
          </a:prstGeom>
          <a:solidFill>
            <a:srgbClr val="FFFFFF"/>
          </a:solidFill>
          <a:ln w="15240">
            <a:solidFill>
              <a:srgbClr val="B7C6DA"/>
            </a:solidFill>
            <a:prstDash val="solid"/>
          </a:ln>
        </p:spPr>
      </p:sp>
      <p:sp>
        <p:nvSpPr>
          <p:cNvPr id="14" name="Shape 12"/>
          <p:cNvSpPr/>
          <p:nvPr/>
        </p:nvSpPr>
        <p:spPr>
          <a:xfrm>
            <a:off x="8138160" y="1280160"/>
            <a:ext cx="3200400" cy="329184"/>
          </a:xfrm>
          <a:prstGeom prst="rect">
            <a:avLst/>
          </a:prstGeom>
          <a:solidFill>
            <a:srgbClr val="1F65B6"/>
          </a:solidFill>
          <a:ln w="12700">
            <a:solidFill>
              <a:srgbClr val="1F65B6"/>
            </a:solidFill>
            <a:prstDash val="solid"/>
          </a:ln>
        </p:spPr>
      </p:sp>
      <p:sp>
        <p:nvSpPr>
          <p:cNvPr id="15" name="Text 13"/>
          <p:cNvSpPr/>
          <p:nvPr/>
        </p:nvSpPr>
        <p:spPr>
          <a:xfrm>
            <a:off x="8247888" y="1353312"/>
            <a:ext cx="2980944" cy="164592"/>
          </a:xfrm>
          <a:prstGeom prst="rect">
            <a:avLst/>
          </a:prstGeom>
          <a:noFill/>
          <a:ln/>
        </p:spPr>
        <p:txBody>
          <a:bodyPr wrap="square" lIns="0" tIns="0" rIns="0" bIns="0" rtlCol="0" anchor="ctr"/>
          <a:lstStyle/>
          <a:p>
            <a:pPr algn="ctr" indent="0" marL="0">
              <a:buNone/>
            </a:pPr>
            <a:r>
              <a:rPr lang="en-US" sz="1200" b="1" dirty="0">
                <a:solidFill>
                  <a:srgbClr val="FFFFFF"/>
                </a:solidFill>
                <a:latin typeface="Aptos" pitchFamily="34" charset="0"/>
                <a:ea typeface="Aptos" pitchFamily="34" charset="-122"/>
                <a:cs typeface="Aptos" pitchFamily="34" charset="-120"/>
              </a:rPr>
              <a:t>General lesson</a:t>
            </a:r>
            <a:endParaRPr lang="en-US" sz="1200" dirty="0"/>
          </a:p>
        </p:txBody>
      </p:sp>
      <p:sp>
        <p:nvSpPr>
          <p:cNvPr id="16" name="Text 14"/>
          <p:cNvSpPr/>
          <p:nvPr/>
        </p:nvSpPr>
        <p:spPr>
          <a:xfrm>
            <a:off x="8302752" y="1783080"/>
            <a:ext cx="2871216" cy="2304288"/>
          </a:xfrm>
          <a:prstGeom prst="rect">
            <a:avLst/>
          </a:prstGeom>
          <a:noFill/>
          <a:ln/>
        </p:spPr>
        <p:txBody>
          <a:bodyPr wrap="square" lIns="254" tIns="254" rIns="254" bIns="254" rtlCol="0" anchor="ctr">
            <a:normAutofit/>
          </a:bodyPr>
          <a:lstStyle/>
          <a:p>
            <a:pPr indent="0" marL="0">
              <a:buNone/>
            </a:pPr>
            <a:r>
              <a:rPr lang="en-US" sz="1230" dirty="0">
                <a:solidFill>
                  <a:srgbClr val="17202A"/>
                </a:solidFill>
                <a:latin typeface="Aptos" pitchFamily="34" charset="0"/>
                <a:ea typeface="Aptos" pitchFamily="34" charset="-122"/>
                <a:cs typeface="Aptos" pitchFamily="34" charset="-120"/>
              </a:rPr>
              <a:t>Design performance measures according to what you actually want achieved in the environment.</a:t>
            </a:r>
            <a:endParaRPr lang="en-US" sz="1230" dirty="0"/>
          </a:p>
        </p:txBody>
      </p:sp>
      <p:sp>
        <p:nvSpPr>
          <p:cNvPr id="17" name="Shape 15"/>
          <p:cNvSpPr/>
          <p:nvPr/>
        </p:nvSpPr>
        <p:spPr>
          <a:xfrm>
            <a:off x="1143000" y="4892040"/>
            <a:ext cx="9875520" cy="530352"/>
          </a:xfrm>
          <a:prstGeom prst="roundRect">
            <a:avLst>
              <a:gd name="adj" fmla="val 10345"/>
            </a:avLst>
          </a:prstGeom>
          <a:solidFill>
            <a:srgbClr val="FFEFCB"/>
          </a:solidFill>
          <a:ln w="12700">
            <a:solidFill>
              <a:srgbClr val="AFC2DC"/>
            </a:solidFill>
            <a:prstDash val="solid"/>
          </a:ln>
        </p:spPr>
      </p:sp>
      <p:sp>
        <p:nvSpPr>
          <p:cNvPr id="18" name="Text 16"/>
          <p:cNvSpPr/>
          <p:nvPr/>
        </p:nvSpPr>
        <p:spPr>
          <a:xfrm>
            <a:off x="1188720" y="4946904"/>
            <a:ext cx="9784080" cy="438912"/>
          </a:xfrm>
          <a:prstGeom prst="rect">
            <a:avLst/>
          </a:prstGeom>
          <a:noFill/>
          <a:ln/>
        </p:spPr>
        <p:txBody>
          <a:bodyPr wrap="square" lIns="0" tIns="0" rIns="0" bIns="0" rtlCol="0" anchor="ctr">
            <a:normAutofit/>
          </a:bodyPr>
          <a:lstStyle/>
          <a:p>
            <a:pPr algn="ctr" indent="0" marL="0">
              <a:buNone/>
            </a:pPr>
            <a:r>
              <a:rPr lang="en-US" sz="1250" b="1" dirty="0">
                <a:solidFill>
                  <a:srgbClr val="102F63"/>
                </a:solidFill>
                <a:latin typeface="Aptos" pitchFamily="34" charset="0"/>
                <a:ea typeface="Aptos" pitchFamily="34" charset="-122"/>
                <a:cs typeface="Aptos" pitchFamily="34" charset="-120"/>
              </a:rPr>
              <a:t>Connection to Chapter 1: wrong objectives create the King Midas / value-alignment problem.</a:t>
            </a:r>
            <a:endParaRPr lang="en-US" sz="1250" dirty="0"/>
          </a:p>
        </p:txBody>
      </p:sp>
      <p:sp>
        <p:nvSpPr>
          <p:cNvPr id="19" name="Text 17"/>
          <p:cNvSpPr/>
          <p:nvPr/>
        </p:nvSpPr>
        <p:spPr>
          <a:xfrm>
            <a:off x="502920" y="6574536"/>
            <a:ext cx="5760720" cy="118872"/>
          </a:xfrm>
          <a:prstGeom prst="rect">
            <a:avLst/>
          </a:prstGeom>
          <a:noFill/>
          <a:ln/>
        </p:spPr>
        <p:txBody>
          <a:bodyPr wrap="square" lIns="0" tIns="0" rIns="0" bIns="0" rtlCol="0" anchor="ctr"/>
          <a:lstStyle/>
          <a:p>
            <a:pPr indent="0" marL="0">
              <a:buNone/>
            </a:pPr>
            <a:r>
              <a:rPr lang="en-US" sz="650" dirty="0">
                <a:solidFill>
                  <a:srgbClr val="7A869A"/>
                </a:solidFill>
                <a:latin typeface="Aptos" pitchFamily="34" charset="0"/>
                <a:ea typeface="Aptos" pitchFamily="34" charset="-122"/>
                <a:cs typeface="Aptos" pitchFamily="34" charset="-120"/>
              </a:rPr>
              <a:t>AIMA Ch. 2 + UC Berkeley CS188 Part II companion</a:t>
            </a:r>
            <a:endParaRPr lang="en-US" sz="650" dirty="0"/>
          </a:p>
        </p:txBody>
      </p:sp>
      <p:sp>
        <p:nvSpPr>
          <p:cNvPr id="25" name="Slide Number Placeholder 0"/>
          <p:cNvSpPr>
            <a:spLocks noGrp="1"/>
          </p:cNvSpPr>
          <p:nvPr>
            <p:ph type="sldNum" sz="quarter" idx="4294967295"/>
          </p:nvPr>
        </p:nvSpPr>
        <p:spPr>
          <a:xfrm>
            <a:off x="5943600" y="658368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B778C"/>
                </a:solidFill>
                <a:latin typeface="Aptos"/>
                <a:ea typeface="Aptos"/>
                <a:cs typeface="Aptos"/>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02920" y="146304"/>
            <a:ext cx="11155680" cy="329184"/>
          </a:xfrm>
          <a:prstGeom prst="rect">
            <a:avLst/>
          </a:prstGeom>
          <a:noFill/>
          <a:ln/>
        </p:spPr>
        <p:txBody>
          <a:bodyPr wrap="square" lIns="0" tIns="0" rIns="0" bIns="0" rtlCol="0" anchor="ctr"/>
          <a:lstStyle/>
          <a:p>
            <a:pPr indent="0" marL="0">
              <a:buNone/>
            </a:pPr>
            <a:r>
              <a:rPr lang="en-US" sz="2500" b="1" dirty="0">
                <a:solidFill>
                  <a:srgbClr val="FFFFFF"/>
                </a:solidFill>
                <a:latin typeface="Aptos Display" pitchFamily="34" charset="0"/>
                <a:ea typeface="Aptos Display" pitchFamily="34" charset="-122"/>
                <a:cs typeface="Aptos Display" pitchFamily="34" charset="-120"/>
              </a:rPr>
              <a:t>2.2 Rationality Is Not Omniscience</a:t>
            </a:r>
            <a:endParaRPr lang="en-US" sz="2500" dirty="0"/>
          </a:p>
        </p:txBody>
      </p:sp>
      <p:sp>
        <p:nvSpPr>
          <p:cNvPr id="3" name="Shape 1"/>
          <p:cNvSpPr/>
          <p:nvPr/>
        </p:nvSpPr>
        <p:spPr>
          <a:xfrm>
            <a:off x="10058400" y="841248"/>
            <a:ext cx="1508760" cy="228600"/>
          </a:xfrm>
          <a:prstGeom prst="roundRect">
            <a:avLst>
              <a:gd name="adj" fmla="val 28000"/>
            </a:avLst>
          </a:prstGeom>
          <a:solidFill>
            <a:srgbClr val="EAF2FF"/>
          </a:solidFill>
          <a:ln w="12700">
            <a:solidFill>
              <a:srgbClr val="B7CAE4"/>
            </a:solidFill>
            <a:prstDash val="solid"/>
          </a:ln>
        </p:spPr>
      </p:sp>
      <p:sp>
        <p:nvSpPr>
          <p:cNvPr id="4" name="Text 2"/>
          <p:cNvSpPr/>
          <p:nvPr/>
        </p:nvSpPr>
        <p:spPr>
          <a:xfrm>
            <a:off x="10168128" y="900684"/>
            <a:ext cx="1298448" cy="91440"/>
          </a:xfrm>
          <a:prstGeom prst="rect">
            <a:avLst/>
          </a:prstGeom>
          <a:noFill/>
          <a:ln/>
        </p:spPr>
        <p:txBody>
          <a:bodyPr wrap="square" lIns="0" tIns="0" rIns="0" bIns="0" rtlCol="0" anchor="ctr"/>
          <a:lstStyle/>
          <a:p>
            <a:pPr algn="ctr" indent="0" marL="0">
              <a:buNone/>
            </a:pPr>
            <a:r>
              <a:rPr lang="en-US" sz="950" b="1" dirty="0">
                <a:solidFill>
                  <a:srgbClr val="102F63"/>
                </a:solidFill>
                <a:latin typeface="Aptos" pitchFamily="34" charset="0"/>
                <a:ea typeface="Aptos" pitchFamily="34" charset="-122"/>
                <a:cs typeface="Aptos" pitchFamily="34" charset="-120"/>
              </a:rPr>
              <a:t>2.2</a:t>
            </a:r>
            <a:endParaRPr lang="en-US" sz="950" dirty="0"/>
          </a:p>
        </p:txBody>
      </p:sp>
      <p:sp>
        <p:nvSpPr>
          <p:cNvPr id="5" name="Shape 3"/>
          <p:cNvSpPr/>
          <p:nvPr/>
        </p:nvSpPr>
        <p:spPr>
          <a:xfrm>
            <a:off x="777240" y="1188720"/>
            <a:ext cx="3063240" cy="1417320"/>
          </a:xfrm>
          <a:prstGeom prst="roundRect">
            <a:avLst>
              <a:gd name="adj" fmla="val 5161"/>
            </a:avLst>
          </a:prstGeom>
          <a:solidFill>
            <a:srgbClr val="FFFFFF"/>
          </a:solidFill>
          <a:ln w="15240">
            <a:solidFill>
              <a:srgbClr val="B7C6DA"/>
            </a:solidFill>
            <a:prstDash val="solid"/>
          </a:ln>
        </p:spPr>
      </p:sp>
      <p:sp>
        <p:nvSpPr>
          <p:cNvPr id="6" name="Shape 4"/>
          <p:cNvSpPr/>
          <p:nvPr/>
        </p:nvSpPr>
        <p:spPr>
          <a:xfrm>
            <a:off x="777240" y="1188720"/>
            <a:ext cx="3063240" cy="329184"/>
          </a:xfrm>
          <a:prstGeom prst="rect">
            <a:avLst/>
          </a:prstGeom>
          <a:solidFill>
            <a:srgbClr val="A32020"/>
          </a:solidFill>
          <a:ln w="12700">
            <a:solidFill>
              <a:srgbClr val="A32020"/>
            </a:solidFill>
            <a:prstDash val="solid"/>
          </a:ln>
        </p:spPr>
      </p:sp>
      <p:sp>
        <p:nvSpPr>
          <p:cNvPr id="7" name="Text 5"/>
          <p:cNvSpPr/>
          <p:nvPr/>
        </p:nvSpPr>
        <p:spPr>
          <a:xfrm>
            <a:off x="886968" y="1261872"/>
            <a:ext cx="2843784" cy="164592"/>
          </a:xfrm>
          <a:prstGeom prst="rect">
            <a:avLst/>
          </a:prstGeom>
          <a:noFill/>
          <a:ln/>
        </p:spPr>
        <p:txBody>
          <a:bodyPr wrap="square" lIns="0" tIns="0" rIns="0" bIns="0" rtlCol="0" anchor="ctr"/>
          <a:lstStyle/>
          <a:p>
            <a:pPr algn="ctr" indent="0" marL="0">
              <a:buNone/>
            </a:pPr>
            <a:r>
              <a:rPr lang="en-US" sz="1200" b="1" dirty="0">
                <a:solidFill>
                  <a:srgbClr val="FFFFFF"/>
                </a:solidFill>
                <a:latin typeface="Aptos" pitchFamily="34" charset="0"/>
                <a:ea typeface="Aptos" pitchFamily="34" charset="-122"/>
                <a:cs typeface="Aptos" pitchFamily="34" charset="-120"/>
              </a:rPr>
              <a:t>Omniscience</a:t>
            </a:r>
            <a:endParaRPr lang="en-US" sz="1200" dirty="0"/>
          </a:p>
        </p:txBody>
      </p:sp>
      <p:sp>
        <p:nvSpPr>
          <p:cNvPr id="8" name="Text 6"/>
          <p:cNvSpPr/>
          <p:nvPr/>
        </p:nvSpPr>
        <p:spPr>
          <a:xfrm>
            <a:off x="941832" y="1691640"/>
            <a:ext cx="2734056" cy="795528"/>
          </a:xfrm>
          <a:prstGeom prst="rect">
            <a:avLst/>
          </a:prstGeom>
          <a:noFill/>
          <a:ln/>
        </p:spPr>
        <p:txBody>
          <a:bodyPr wrap="square" lIns="254" tIns="254" rIns="254" bIns="254" rtlCol="0" anchor="ctr">
            <a:normAutofit/>
          </a:bodyPr>
          <a:lstStyle/>
          <a:p>
            <a:pPr indent="0" marL="0">
              <a:buNone/>
            </a:pPr>
            <a:r>
              <a:rPr lang="en-US" sz="1230" dirty="0">
                <a:solidFill>
                  <a:srgbClr val="17202A"/>
                </a:solidFill>
                <a:latin typeface="Aptos" pitchFamily="34" charset="0"/>
                <a:ea typeface="Aptos" pitchFamily="34" charset="-122"/>
                <a:cs typeface="Aptos" pitchFamily="34" charset="-120"/>
              </a:rPr>
              <a:t>Knows actual outcome of every action. Impossible in realistic environments.</a:t>
            </a:r>
            <a:endParaRPr lang="en-US" sz="1230" dirty="0"/>
          </a:p>
        </p:txBody>
      </p:sp>
      <p:sp>
        <p:nvSpPr>
          <p:cNvPr id="9" name="Shape 7"/>
          <p:cNvSpPr/>
          <p:nvPr/>
        </p:nvSpPr>
        <p:spPr>
          <a:xfrm>
            <a:off x="4526280" y="1188720"/>
            <a:ext cx="3063240" cy="1417320"/>
          </a:xfrm>
          <a:prstGeom prst="roundRect">
            <a:avLst>
              <a:gd name="adj" fmla="val 5161"/>
            </a:avLst>
          </a:prstGeom>
          <a:solidFill>
            <a:srgbClr val="FFFFFF"/>
          </a:solidFill>
          <a:ln w="15240">
            <a:solidFill>
              <a:srgbClr val="B7C6DA"/>
            </a:solidFill>
            <a:prstDash val="solid"/>
          </a:ln>
        </p:spPr>
      </p:sp>
      <p:sp>
        <p:nvSpPr>
          <p:cNvPr id="10" name="Shape 8"/>
          <p:cNvSpPr/>
          <p:nvPr/>
        </p:nvSpPr>
        <p:spPr>
          <a:xfrm>
            <a:off x="4526280" y="1188720"/>
            <a:ext cx="3063240" cy="329184"/>
          </a:xfrm>
          <a:prstGeom prst="rect">
            <a:avLst/>
          </a:prstGeom>
          <a:solidFill>
            <a:srgbClr val="1F7A3D"/>
          </a:solidFill>
          <a:ln w="12700">
            <a:solidFill>
              <a:srgbClr val="1F7A3D"/>
            </a:solidFill>
            <a:prstDash val="solid"/>
          </a:ln>
        </p:spPr>
      </p:sp>
      <p:sp>
        <p:nvSpPr>
          <p:cNvPr id="11" name="Text 9"/>
          <p:cNvSpPr/>
          <p:nvPr/>
        </p:nvSpPr>
        <p:spPr>
          <a:xfrm>
            <a:off x="4636008" y="1261872"/>
            <a:ext cx="2843784" cy="164592"/>
          </a:xfrm>
          <a:prstGeom prst="rect">
            <a:avLst/>
          </a:prstGeom>
          <a:noFill/>
          <a:ln/>
        </p:spPr>
        <p:txBody>
          <a:bodyPr wrap="square" lIns="0" tIns="0" rIns="0" bIns="0" rtlCol="0" anchor="ctr"/>
          <a:lstStyle/>
          <a:p>
            <a:pPr algn="ctr" indent="0" marL="0">
              <a:buNone/>
            </a:pPr>
            <a:r>
              <a:rPr lang="en-US" sz="1200" b="1" dirty="0">
                <a:solidFill>
                  <a:srgbClr val="FFFFFF"/>
                </a:solidFill>
                <a:latin typeface="Aptos" pitchFamily="34" charset="0"/>
                <a:ea typeface="Aptos" pitchFamily="34" charset="-122"/>
                <a:cs typeface="Aptos" pitchFamily="34" charset="-120"/>
              </a:rPr>
              <a:t>Rationality</a:t>
            </a:r>
            <a:endParaRPr lang="en-US" sz="1200" dirty="0"/>
          </a:p>
        </p:txBody>
      </p:sp>
      <p:sp>
        <p:nvSpPr>
          <p:cNvPr id="12" name="Text 10"/>
          <p:cNvSpPr/>
          <p:nvPr/>
        </p:nvSpPr>
        <p:spPr>
          <a:xfrm>
            <a:off x="4690872" y="1691640"/>
            <a:ext cx="2734056" cy="795528"/>
          </a:xfrm>
          <a:prstGeom prst="rect">
            <a:avLst/>
          </a:prstGeom>
          <a:noFill/>
          <a:ln/>
        </p:spPr>
        <p:txBody>
          <a:bodyPr wrap="square" lIns="254" tIns="254" rIns="254" bIns="254" rtlCol="0" anchor="ctr">
            <a:normAutofit/>
          </a:bodyPr>
          <a:lstStyle/>
          <a:p>
            <a:pPr indent="0" marL="0">
              <a:buNone/>
            </a:pPr>
            <a:r>
              <a:rPr lang="en-US" sz="1230" dirty="0">
                <a:solidFill>
                  <a:srgbClr val="17202A"/>
                </a:solidFill>
                <a:latin typeface="Aptos" pitchFamily="34" charset="0"/>
                <a:ea typeface="Aptos" pitchFamily="34" charset="-122"/>
                <a:cs typeface="Aptos" pitchFamily="34" charset="-120"/>
              </a:rPr>
              <a:t>Chooses the action with best expected performance from available evidence.</a:t>
            </a:r>
            <a:endParaRPr lang="en-US" sz="1230" dirty="0"/>
          </a:p>
        </p:txBody>
      </p:sp>
      <p:sp>
        <p:nvSpPr>
          <p:cNvPr id="13" name="Shape 11"/>
          <p:cNvSpPr/>
          <p:nvPr/>
        </p:nvSpPr>
        <p:spPr>
          <a:xfrm>
            <a:off x="8275320" y="1188720"/>
            <a:ext cx="3063240" cy="1417320"/>
          </a:xfrm>
          <a:prstGeom prst="roundRect">
            <a:avLst>
              <a:gd name="adj" fmla="val 5161"/>
            </a:avLst>
          </a:prstGeom>
          <a:solidFill>
            <a:srgbClr val="FFFFFF"/>
          </a:solidFill>
          <a:ln w="15240">
            <a:solidFill>
              <a:srgbClr val="B7C6DA"/>
            </a:solidFill>
            <a:prstDash val="solid"/>
          </a:ln>
        </p:spPr>
      </p:sp>
      <p:sp>
        <p:nvSpPr>
          <p:cNvPr id="14" name="Shape 12"/>
          <p:cNvSpPr/>
          <p:nvPr/>
        </p:nvSpPr>
        <p:spPr>
          <a:xfrm>
            <a:off x="8275320" y="1188720"/>
            <a:ext cx="3063240" cy="329184"/>
          </a:xfrm>
          <a:prstGeom prst="rect">
            <a:avLst/>
          </a:prstGeom>
          <a:solidFill>
            <a:srgbClr val="6D28D9"/>
          </a:solidFill>
          <a:ln w="12700">
            <a:solidFill>
              <a:srgbClr val="6D28D9"/>
            </a:solidFill>
            <a:prstDash val="solid"/>
          </a:ln>
        </p:spPr>
      </p:sp>
      <p:sp>
        <p:nvSpPr>
          <p:cNvPr id="15" name="Text 13"/>
          <p:cNvSpPr/>
          <p:nvPr/>
        </p:nvSpPr>
        <p:spPr>
          <a:xfrm>
            <a:off x="8385048" y="1261872"/>
            <a:ext cx="2843784" cy="164592"/>
          </a:xfrm>
          <a:prstGeom prst="rect">
            <a:avLst/>
          </a:prstGeom>
          <a:noFill/>
          <a:ln/>
        </p:spPr>
        <p:txBody>
          <a:bodyPr wrap="square" lIns="0" tIns="0" rIns="0" bIns="0" rtlCol="0" anchor="ctr"/>
          <a:lstStyle/>
          <a:p>
            <a:pPr algn="ctr" indent="0" marL="0">
              <a:buNone/>
            </a:pPr>
            <a:r>
              <a:rPr lang="en-US" sz="1200" b="1" dirty="0">
                <a:solidFill>
                  <a:srgbClr val="FFFFFF"/>
                </a:solidFill>
                <a:latin typeface="Aptos" pitchFamily="34" charset="0"/>
                <a:ea typeface="Aptos" pitchFamily="34" charset="-122"/>
                <a:cs typeface="Aptos" pitchFamily="34" charset="-120"/>
              </a:rPr>
              <a:t>Autonomy</a:t>
            </a:r>
            <a:endParaRPr lang="en-US" sz="1200" dirty="0"/>
          </a:p>
        </p:txBody>
      </p:sp>
      <p:sp>
        <p:nvSpPr>
          <p:cNvPr id="16" name="Text 14"/>
          <p:cNvSpPr/>
          <p:nvPr/>
        </p:nvSpPr>
        <p:spPr>
          <a:xfrm>
            <a:off x="8439912" y="1691640"/>
            <a:ext cx="2734056" cy="795528"/>
          </a:xfrm>
          <a:prstGeom prst="rect">
            <a:avLst/>
          </a:prstGeom>
          <a:noFill/>
          <a:ln/>
        </p:spPr>
        <p:txBody>
          <a:bodyPr wrap="square" lIns="254" tIns="254" rIns="254" bIns="254" rtlCol="0" anchor="ctr">
            <a:normAutofit/>
          </a:bodyPr>
          <a:lstStyle/>
          <a:p>
            <a:pPr indent="0" marL="0">
              <a:buNone/>
            </a:pPr>
            <a:r>
              <a:rPr lang="en-US" sz="1230" dirty="0">
                <a:solidFill>
                  <a:srgbClr val="17202A"/>
                </a:solidFill>
                <a:latin typeface="Aptos" pitchFamily="34" charset="0"/>
                <a:ea typeface="Aptos" pitchFamily="34" charset="-122"/>
                <a:cs typeface="Aptos" pitchFamily="34" charset="-120"/>
              </a:rPr>
              <a:t>Learns from percepts rather than depending only on designer assumptions.</a:t>
            </a:r>
            <a:endParaRPr lang="en-US" sz="1230" dirty="0"/>
          </a:p>
        </p:txBody>
      </p:sp>
      <p:sp>
        <p:nvSpPr>
          <p:cNvPr id="17" name="Text 15"/>
          <p:cNvSpPr/>
          <p:nvPr/>
        </p:nvSpPr>
        <p:spPr>
          <a:xfrm>
            <a:off x="1097280" y="3246120"/>
            <a:ext cx="9966960" cy="329184"/>
          </a:xfrm>
          <a:prstGeom prst="rect">
            <a:avLst/>
          </a:prstGeom>
          <a:noFill/>
          <a:ln/>
        </p:spPr>
        <p:txBody>
          <a:bodyPr wrap="square" rtlCol="0" anchor="ctr"/>
          <a:lstStyle/>
          <a:p>
            <a:pPr algn="ctr" indent="0" marL="0">
              <a:buNone/>
            </a:pPr>
            <a:r>
              <a:rPr lang="en-US" sz="2000" b="1" dirty="0">
                <a:solidFill>
                  <a:srgbClr val="102F63"/>
                </a:solidFill>
              </a:rPr>
              <a:t>Information gathering is rational when better percepts improve later decisions.</a:t>
            </a:r>
            <a:endParaRPr lang="en-US" sz="2000" dirty="0"/>
          </a:p>
        </p:txBody>
      </p:sp>
      <p:sp>
        <p:nvSpPr>
          <p:cNvPr id="18" name="Shape 16"/>
          <p:cNvSpPr/>
          <p:nvPr/>
        </p:nvSpPr>
        <p:spPr>
          <a:xfrm>
            <a:off x="1828800" y="4160520"/>
            <a:ext cx="1280160" cy="457200"/>
          </a:xfrm>
          <a:prstGeom prst="roundRect">
            <a:avLst>
              <a:gd name="adj" fmla="val 12000"/>
            </a:avLst>
          </a:prstGeom>
          <a:solidFill>
            <a:srgbClr val="EDF4FF"/>
          </a:solidFill>
          <a:ln w="12700">
            <a:solidFill>
              <a:srgbClr val="AFC2DC"/>
            </a:solidFill>
            <a:prstDash val="solid"/>
          </a:ln>
        </p:spPr>
      </p:sp>
      <p:sp>
        <p:nvSpPr>
          <p:cNvPr id="19" name="Text 17"/>
          <p:cNvSpPr/>
          <p:nvPr/>
        </p:nvSpPr>
        <p:spPr>
          <a:xfrm>
            <a:off x="1874520" y="4215384"/>
            <a:ext cx="1188720" cy="365760"/>
          </a:xfrm>
          <a:prstGeom prst="rect">
            <a:avLst/>
          </a:prstGeom>
          <a:noFill/>
          <a:ln/>
        </p:spPr>
        <p:txBody>
          <a:bodyPr wrap="square" lIns="0" tIns="0" rIns="0" bIns="0" rtlCol="0" anchor="ctr">
            <a:normAutofit/>
          </a:bodyPr>
          <a:lstStyle/>
          <a:p>
            <a:pPr algn="ctr" indent="0" marL="0">
              <a:buNone/>
            </a:pPr>
            <a:r>
              <a:rPr lang="en-US" sz="1250" b="1" dirty="0">
                <a:solidFill>
                  <a:srgbClr val="102F63"/>
                </a:solidFill>
                <a:latin typeface="Aptos" pitchFamily="34" charset="0"/>
                <a:ea typeface="Aptos" pitchFamily="34" charset="-122"/>
                <a:cs typeface="Aptos" pitchFamily="34" charset="-120"/>
              </a:rPr>
              <a:t>Look</a:t>
            </a:r>
            <a:endParaRPr lang="en-US" sz="1250" dirty="0"/>
          </a:p>
        </p:txBody>
      </p:sp>
      <p:sp>
        <p:nvSpPr>
          <p:cNvPr id="20" name="Shape 18"/>
          <p:cNvSpPr/>
          <p:nvPr/>
        </p:nvSpPr>
        <p:spPr>
          <a:xfrm>
            <a:off x="3154680" y="4389120"/>
            <a:ext cx="822960" cy="0"/>
          </a:xfrm>
          <a:prstGeom prst="line">
            <a:avLst/>
          </a:prstGeom>
          <a:noFill/>
          <a:ln w="17780">
            <a:solidFill>
              <a:srgbClr val="6B778C"/>
            </a:solidFill>
            <a:prstDash val="solid"/>
            <a:headEnd type="none"/>
            <a:tailEnd type="triangle"/>
          </a:ln>
        </p:spPr>
      </p:sp>
      <p:sp>
        <p:nvSpPr>
          <p:cNvPr id="21" name="Shape 19"/>
          <p:cNvSpPr/>
          <p:nvPr/>
        </p:nvSpPr>
        <p:spPr>
          <a:xfrm>
            <a:off x="4023360" y="4160520"/>
            <a:ext cx="1280160" cy="457200"/>
          </a:xfrm>
          <a:prstGeom prst="roundRect">
            <a:avLst>
              <a:gd name="adj" fmla="val 12000"/>
            </a:avLst>
          </a:prstGeom>
          <a:solidFill>
            <a:srgbClr val="E8F7EF"/>
          </a:solidFill>
          <a:ln w="12700">
            <a:solidFill>
              <a:srgbClr val="AFC2DC"/>
            </a:solidFill>
            <a:prstDash val="solid"/>
          </a:ln>
        </p:spPr>
      </p:sp>
      <p:sp>
        <p:nvSpPr>
          <p:cNvPr id="22" name="Text 20"/>
          <p:cNvSpPr/>
          <p:nvPr/>
        </p:nvSpPr>
        <p:spPr>
          <a:xfrm>
            <a:off x="4069080" y="4215384"/>
            <a:ext cx="1188720" cy="365760"/>
          </a:xfrm>
          <a:prstGeom prst="rect">
            <a:avLst/>
          </a:prstGeom>
          <a:noFill/>
          <a:ln/>
        </p:spPr>
        <p:txBody>
          <a:bodyPr wrap="square" lIns="0" tIns="0" rIns="0" bIns="0" rtlCol="0" anchor="ctr">
            <a:normAutofit/>
          </a:bodyPr>
          <a:lstStyle/>
          <a:p>
            <a:pPr algn="ctr" indent="0" marL="0">
              <a:buNone/>
            </a:pPr>
            <a:r>
              <a:rPr lang="en-US" sz="1250" b="1" dirty="0">
                <a:solidFill>
                  <a:srgbClr val="102F63"/>
                </a:solidFill>
                <a:latin typeface="Aptos" pitchFamily="34" charset="0"/>
                <a:ea typeface="Aptos" pitchFamily="34" charset="-122"/>
                <a:cs typeface="Aptos" pitchFamily="34" charset="-120"/>
              </a:rPr>
              <a:t>Learn</a:t>
            </a:r>
            <a:endParaRPr lang="en-US" sz="1250" dirty="0"/>
          </a:p>
        </p:txBody>
      </p:sp>
      <p:sp>
        <p:nvSpPr>
          <p:cNvPr id="23" name="Shape 21"/>
          <p:cNvSpPr/>
          <p:nvPr/>
        </p:nvSpPr>
        <p:spPr>
          <a:xfrm>
            <a:off x="5349240" y="4389120"/>
            <a:ext cx="822960" cy="0"/>
          </a:xfrm>
          <a:prstGeom prst="line">
            <a:avLst/>
          </a:prstGeom>
          <a:noFill/>
          <a:ln w="17780">
            <a:solidFill>
              <a:srgbClr val="6B778C"/>
            </a:solidFill>
            <a:prstDash val="solid"/>
            <a:headEnd type="none"/>
            <a:tailEnd type="triangle"/>
          </a:ln>
        </p:spPr>
      </p:sp>
      <p:sp>
        <p:nvSpPr>
          <p:cNvPr id="24" name="Shape 22"/>
          <p:cNvSpPr/>
          <p:nvPr/>
        </p:nvSpPr>
        <p:spPr>
          <a:xfrm>
            <a:off x="6217920" y="4160520"/>
            <a:ext cx="1280160" cy="457200"/>
          </a:xfrm>
          <a:prstGeom prst="roundRect">
            <a:avLst>
              <a:gd name="adj" fmla="val 12000"/>
            </a:avLst>
          </a:prstGeom>
          <a:solidFill>
            <a:srgbClr val="FFEFCB"/>
          </a:solidFill>
          <a:ln w="12700">
            <a:solidFill>
              <a:srgbClr val="AFC2DC"/>
            </a:solidFill>
            <a:prstDash val="solid"/>
          </a:ln>
        </p:spPr>
      </p:sp>
      <p:sp>
        <p:nvSpPr>
          <p:cNvPr id="25" name="Text 23"/>
          <p:cNvSpPr/>
          <p:nvPr/>
        </p:nvSpPr>
        <p:spPr>
          <a:xfrm>
            <a:off x="6263640" y="4215384"/>
            <a:ext cx="1188720" cy="365760"/>
          </a:xfrm>
          <a:prstGeom prst="rect">
            <a:avLst/>
          </a:prstGeom>
          <a:noFill/>
          <a:ln/>
        </p:spPr>
        <p:txBody>
          <a:bodyPr wrap="square" lIns="0" tIns="0" rIns="0" bIns="0" rtlCol="0" anchor="ctr">
            <a:normAutofit/>
          </a:bodyPr>
          <a:lstStyle/>
          <a:p>
            <a:pPr algn="ctr" indent="0" marL="0">
              <a:buNone/>
            </a:pPr>
            <a:r>
              <a:rPr lang="en-US" sz="1250" b="1" dirty="0">
                <a:solidFill>
                  <a:srgbClr val="102F63"/>
                </a:solidFill>
                <a:latin typeface="Aptos" pitchFamily="34" charset="0"/>
                <a:ea typeface="Aptos" pitchFamily="34" charset="-122"/>
                <a:cs typeface="Aptos" pitchFamily="34" charset="-120"/>
              </a:rPr>
              <a:t>Act</a:t>
            </a:r>
            <a:endParaRPr lang="en-US" sz="1250" dirty="0"/>
          </a:p>
        </p:txBody>
      </p:sp>
      <p:sp>
        <p:nvSpPr>
          <p:cNvPr id="26" name="Shape 24"/>
          <p:cNvSpPr/>
          <p:nvPr/>
        </p:nvSpPr>
        <p:spPr>
          <a:xfrm>
            <a:off x="7543800" y="4389120"/>
            <a:ext cx="822960" cy="0"/>
          </a:xfrm>
          <a:prstGeom prst="line">
            <a:avLst/>
          </a:prstGeom>
          <a:noFill/>
          <a:ln w="17780">
            <a:solidFill>
              <a:srgbClr val="6B778C"/>
            </a:solidFill>
            <a:prstDash val="solid"/>
            <a:headEnd type="none"/>
            <a:tailEnd type="triangle"/>
          </a:ln>
        </p:spPr>
      </p:sp>
      <p:sp>
        <p:nvSpPr>
          <p:cNvPr id="27" name="Shape 25"/>
          <p:cNvSpPr/>
          <p:nvPr/>
        </p:nvSpPr>
        <p:spPr>
          <a:xfrm>
            <a:off x="8412480" y="4160520"/>
            <a:ext cx="1280160" cy="457200"/>
          </a:xfrm>
          <a:prstGeom prst="roundRect">
            <a:avLst>
              <a:gd name="adj" fmla="val 12000"/>
            </a:avLst>
          </a:prstGeom>
          <a:solidFill>
            <a:srgbClr val="F0E8FF"/>
          </a:solidFill>
          <a:ln w="12700">
            <a:solidFill>
              <a:srgbClr val="AFC2DC"/>
            </a:solidFill>
            <a:prstDash val="solid"/>
          </a:ln>
        </p:spPr>
      </p:sp>
      <p:sp>
        <p:nvSpPr>
          <p:cNvPr id="28" name="Text 26"/>
          <p:cNvSpPr/>
          <p:nvPr/>
        </p:nvSpPr>
        <p:spPr>
          <a:xfrm>
            <a:off x="8458200" y="4215384"/>
            <a:ext cx="1188720" cy="365760"/>
          </a:xfrm>
          <a:prstGeom prst="rect">
            <a:avLst/>
          </a:prstGeom>
          <a:noFill/>
          <a:ln/>
        </p:spPr>
        <p:txBody>
          <a:bodyPr wrap="square" lIns="0" tIns="0" rIns="0" bIns="0" rtlCol="0" anchor="ctr">
            <a:normAutofit/>
          </a:bodyPr>
          <a:lstStyle/>
          <a:p>
            <a:pPr algn="ctr" indent="0" marL="0">
              <a:buNone/>
            </a:pPr>
            <a:r>
              <a:rPr lang="en-US" sz="1250" b="1" dirty="0">
                <a:solidFill>
                  <a:srgbClr val="102F63"/>
                </a:solidFill>
                <a:latin typeface="Aptos" pitchFamily="34" charset="0"/>
                <a:ea typeface="Aptos" pitchFamily="34" charset="-122"/>
                <a:cs typeface="Aptos" pitchFamily="34" charset="-120"/>
              </a:rPr>
              <a:t>Improve</a:t>
            </a:r>
            <a:endParaRPr lang="en-US" sz="1250" dirty="0"/>
          </a:p>
        </p:txBody>
      </p:sp>
      <p:sp>
        <p:nvSpPr>
          <p:cNvPr id="29" name="Text 27"/>
          <p:cNvSpPr/>
          <p:nvPr/>
        </p:nvSpPr>
        <p:spPr>
          <a:xfrm>
            <a:off x="502920" y="6574536"/>
            <a:ext cx="5760720" cy="118872"/>
          </a:xfrm>
          <a:prstGeom prst="rect">
            <a:avLst/>
          </a:prstGeom>
          <a:noFill/>
          <a:ln/>
        </p:spPr>
        <p:txBody>
          <a:bodyPr wrap="square" lIns="0" tIns="0" rIns="0" bIns="0" rtlCol="0" anchor="ctr"/>
          <a:lstStyle/>
          <a:p>
            <a:pPr indent="0" marL="0">
              <a:buNone/>
            </a:pPr>
            <a:r>
              <a:rPr lang="en-US" sz="650" dirty="0">
                <a:solidFill>
                  <a:srgbClr val="7A869A"/>
                </a:solidFill>
                <a:latin typeface="Aptos" pitchFamily="34" charset="0"/>
                <a:ea typeface="Aptos" pitchFamily="34" charset="-122"/>
                <a:cs typeface="Aptos" pitchFamily="34" charset="-120"/>
              </a:rPr>
              <a:t>AIMA Ch. 2 + UC Berkeley CS188 Part II companion</a:t>
            </a:r>
            <a:endParaRPr lang="en-US" sz="650" dirty="0"/>
          </a:p>
        </p:txBody>
      </p:sp>
      <p:sp>
        <p:nvSpPr>
          <p:cNvPr id="25" name="Slide Number Placeholder 0"/>
          <p:cNvSpPr>
            <a:spLocks noGrp="1"/>
          </p:cNvSpPr>
          <p:nvPr>
            <p:ph type="sldNum" sz="quarter" idx="4294967295"/>
          </p:nvPr>
        </p:nvSpPr>
        <p:spPr>
          <a:xfrm>
            <a:off x="5943600" y="658368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B778C"/>
                </a:solidFill>
                <a:latin typeface="Aptos"/>
                <a:ea typeface="Aptos"/>
                <a:cs typeface="Aptos"/>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02920" y="146304"/>
            <a:ext cx="11155680" cy="329184"/>
          </a:xfrm>
          <a:prstGeom prst="rect">
            <a:avLst/>
          </a:prstGeom>
          <a:noFill/>
          <a:ln/>
        </p:spPr>
        <p:txBody>
          <a:bodyPr wrap="square" lIns="0" tIns="0" rIns="0" bIns="0" rtlCol="0" anchor="ctr"/>
          <a:lstStyle/>
          <a:p>
            <a:pPr indent="0" marL="0">
              <a:buNone/>
            </a:pPr>
            <a:r>
              <a:rPr lang="en-US" sz="2500" b="1" dirty="0">
                <a:solidFill>
                  <a:srgbClr val="FFFFFF"/>
                </a:solidFill>
                <a:latin typeface="Aptos Display" pitchFamily="34" charset="0"/>
                <a:ea typeface="Aptos Display" pitchFamily="34" charset="-122"/>
                <a:cs typeface="Aptos Display" pitchFamily="34" charset="-120"/>
              </a:rPr>
              <a:t>2.3.1 PEAS: Specify the Task Before Designing the Agent</a:t>
            </a:r>
            <a:endParaRPr lang="en-US" sz="2500" dirty="0"/>
          </a:p>
        </p:txBody>
      </p:sp>
      <p:sp>
        <p:nvSpPr>
          <p:cNvPr id="3" name="Shape 1"/>
          <p:cNvSpPr/>
          <p:nvPr/>
        </p:nvSpPr>
        <p:spPr>
          <a:xfrm>
            <a:off x="10058400" y="841248"/>
            <a:ext cx="1508760" cy="228600"/>
          </a:xfrm>
          <a:prstGeom prst="roundRect">
            <a:avLst>
              <a:gd name="adj" fmla="val 28000"/>
            </a:avLst>
          </a:prstGeom>
          <a:solidFill>
            <a:srgbClr val="EAF2FF"/>
          </a:solidFill>
          <a:ln w="12700">
            <a:solidFill>
              <a:srgbClr val="B7CAE4"/>
            </a:solidFill>
            <a:prstDash val="solid"/>
          </a:ln>
        </p:spPr>
      </p:sp>
      <p:sp>
        <p:nvSpPr>
          <p:cNvPr id="4" name="Text 2"/>
          <p:cNvSpPr/>
          <p:nvPr/>
        </p:nvSpPr>
        <p:spPr>
          <a:xfrm>
            <a:off x="10168128" y="900684"/>
            <a:ext cx="1298448" cy="91440"/>
          </a:xfrm>
          <a:prstGeom prst="rect">
            <a:avLst/>
          </a:prstGeom>
          <a:noFill/>
          <a:ln/>
        </p:spPr>
        <p:txBody>
          <a:bodyPr wrap="square" lIns="0" tIns="0" rIns="0" bIns="0" rtlCol="0" anchor="ctr"/>
          <a:lstStyle/>
          <a:p>
            <a:pPr algn="ctr" indent="0" marL="0">
              <a:buNone/>
            </a:pPr>
            <a:r>
              <a:rPr lang="en-US" sz="950" b="1" dirty="0">
                <a:solidFill>
                  <a:srgbClr val="102F63"/>
                </a:solidFill>
                <a:latin typeface="Aptos" pitchFamily="34" charset="0"/>
                <a:ea typeface="Aptos" pitchFamily="34" charset="-122"/>
                <a:cs typeface="Aptos" pitchFamily="34" charset="-120"/>
              </a:rPr>
              <a:t>2.3</a:t>
            </a:r>
            <a:endParaRPr lang="en-US" sz="950" dirty="0"/>
          </a:p>
        </p:txBody>
      </p:sp>
      <p:sp>
        <p:nvSpPr>
          <p:cNvPr id="5" name="Text 3"/>
          <p:cNvSpPr/>
          <p:nvPr/>
        </p:nvSpPr>
        <p:spPr>
          <a:xfrm>
            <a:off x="914400" y="1143000"/>
            <a:ext cx="10241280" cy="320040"/>
          </a:xfrm>
          <a:prstGeom prst="rect">
            <a:avLst/>
          </a:prstGeom>
          <a:noFill/>
          <a:ln/>
        </p:spPr>
        <p:txBody>
          <a:bodyPr wrap="square" rtlCol="0" anchor="ctr"/>
          <a:lstStyle/>
          <a:p>
            <a:pPr algn="ctr" indent="0" marL="0">
              <a:buNone/>
            </a:pPr>
            <a:r>
              <a:rPr lang="en-US" sz="2200" b="1" dirty="0">
                <a:solidFill>
                  <a:srgbClr val="102F63"/>
                </a:solidFill>
              </a:rPr>
              <a:t>PEAS = Performance measure, Environment, Actuators, Sensors</a:t>
            </a:r>
            <a:endParaRPr lang="en-US" sz="2200" dirty="0"/>
          </a:p>
        </p:txBody>
      </p:sp>
      <p:sp>
        <p:nvSpPr>
          <p:cNvPr id="6" name="Shape 4"/>
          <p:cNvSpPr/>
          <p:nvPr/>
        </p:nvSpPr>
        <p:spPr>
          <a:xfrm>
            <a:off x="868680" y="1920240"/>
            <a:ext cx="731520" cy="731520"/>
          </a:xfrm>
          <a:prstGeom prst="ellipse">
            <a:avLst/>
          </a:prstGeom>
          <a:solidFill>
            <a:srgbClr val="1F65B6"/>
          </a:solidFill>
          <a:ln w="12700">
            <a:solidFill>
              <a:srgbClr val="1F65B6"/>
            </a:solidFill>
            <a:prstDash val="solid"/>
          </a:ln>
        </p:spPr>
      </p:sp>
      <p:sp>
        <p:nvSpPr>
          <p:cNvPr id="7" name="Text 5"/>
          <p:cNvSpPr/>
          <p:nvPr/>
        </p:nvSpPr>
        <p:spPr>
          <a:xfrm>
            <a:off x="868680" y="2075688"/>
            <a:ext cx="731520" cy="228600"/>
          </a:xfrm>
          <a:prstGeom prst="rect">
            <a:avLst/>
          </a:prstGeom>
          <a:noFill/>
          <a:ln/>
        </p:spPr>
        <p:txBody>
          <a:bodyPr wrap="square" rtlCol="0" anchor="ctr"/>
          <a:lstStyle/>
          <a:p>
            <a:pPr algn="ctr" indent="0" marL="0">
              <a:buNone/>
            </a:pPr>
            <a:r>
              <a:rPr lang="en-US" sz="2200" b="1" dirty="0">
                <a:solidFill>
                  <a:srgbClr val="FFFFFF"/>
                </a:solidFill>
              </a:rPr>
              <a:t>P</a:t>
            </a:r>
            <a:endParaRPr lang="en-US" sz="2200" dirty="0"/>
          </a:p>
        </p:txBody>
      </p:sp>
      <p:sp>
        <p:nvSpPr>
          <p:cNvPr id="8" name="Shape 6"/>
          <p:cNvSpPr/>
          <p:nvPr/>
        </p:nvSpPr>
        <p:spPr>
          <a:xfrm>
            <a:off x="1691640" y="1691640"/>
            <a:ext cx="1874520" cy="1828800"/>
          </a:xfrm>
          <a:prstGeom prst="roundRect">
            <a:avLst>
              <a:gd name="adj" fmla="val 4000"/>
            </a:avLst>
          </a:prstGeom>
          <a:solidFill>
            <a:srgbClr val="FFFFFF"/>
          </a:solidFill>
          <a:ln w="15240">
            <a:solidFill>
              <a:srgbClr val="B7C6DA"/>
            </a:solidFill>
            <a:prstDash val="solid"/>
          </a:ln>
        </p:spPr>
      </p:sp>
      <p:sp>
        <p:nvSpPr>
          <p:cNvPr id="9" name="Shape 7"/>
          <p:cNvSpPr/>
          <p:nvPr/>
        </p:nvSpPr>
        <p:spPr>
          <a:xfrm>
            <a:off x="1691640" y="1691640"/>
            <a:ext cx="1874520" cy="329184"/>
          </a:xfrm>
          <a:prstGeom prst="rect">
            <a:avLst/>
          </a:prstGeom>
          <a:solidFill>
            <a:srgbClr val="1F65B6"/>
          </a:solidFill>
          <a:ln w="12700">
            <a:solidFill>
              <a:srgbClr val="1F65B6"/>
            </a:solidFill>
            <a:prstDash val="solid"/>
          </a:ln>
        </p:spPr>
      </p:sp>
      <p:sp>
        <p:nvSpPr>
          <p:cNvPr id="10" name="Text 8"/>
          <p:cNvSpPr/>
          <p:nvPr/>
        </p:nvSpPr>
        <p:spPr>
          <a:xfrm>
            <a:off x="1801368" y="1764792"/>
            <a:ext cx="1655064" cy="164592"/>
          </a:xfrm>
          <a:prstGeom prst="rect">
            <a:avLst/>
          </a:prstGeom>
          <a:noFill/>
          <a:ln/>
        </p:spPr>
        <p:txBody>
          <a:bodyPr wrap="square" lIns="0" tIns="0" rIns="0" bIns="0" rtlCol="0" anchor="ctr"/>
          <a:lstStyle/>
          <a:p>
            <a:pPr algn="ctr" indent="0" marL="0">
              <a:buNone/>
            </a:pPr>
            <a:r>
              <a:rPr lang="en-US" sz="1200" b="1" dirty="0">
                <a:solidFill>
                  <a:srgbClr val="FFFFFF"/>
                </a:solidFill>
                <a:latin typeface="Aptos" pitchFamily="34" charset="0"/>
                <a:ea typeface="Aptos" pitchFamily="34" charset="-122"/>
                <a:cs typeface="Aptos" pitchFamily="34" charset="-120"/>
              </a:rPr>
              <a:t>Performance</a:t>
            </a:r>
            <a:endParaRPr lang="en-US" sz="1200" dirty="0"/>
          </a:p>
        </p:txBody>
      </p:sp>
      <p:sp>
        <p:nvSpPr>
          <p:cNvPr id="11" name="Text 9"/>
          <p:cNvSpPr/>
          <p:nvPr/>
        </p:nvSpPr>
        <p:spPr>
          <a:xfrm>
            <a:off x="1856232" y="2194560"/>
            <a:ext cx="1545336" cy="1207008"/>
          </a:xfrm>
          <a:prstGeom prst="rect">
            <a:avLst/>
          </a:prstGeom>
          <a:noFill/>
          <a:ln/>
        </p:spPr>
        <p:txBody>
          <a:bodyPr wrap="square" lIns="254" tIns="254" rIns="254" bIns="254" rtlCol="0" anchor="ctr">
            <a:normAutofit/>
          </a:bodyPr>
          <a:lstStyle/>
          <a:p>
            <a:pPr indent="0" marL="0">
              <a:buNone/>
            </a:pPr>
            <a:r>
              <a:rPr lang="en-US" sz="1230" dirty="0">
                <a:solidFill>
                  <a:srgbClr val="17202A"/>
                </a:solidFill>
                <a:latin typeface="Aptos" pitchFamily="34" charset="0"/>
                <a:ea typeface="Aptos" pitchFamily="34" charset="-122"/>
                <a:cs typeface="Aptos" pitchFamily="34" charset="-120"/>
              </a:rPr>
              <a:t>safe, legal, comfortable trip; minimize time/cost; maximize profit</a:t>
            </a:r>
            <a:endParaRPr lang="en-US" sz="1230" dirty="0"/>
          </a:p>
        </p:txBody>
      </p:sp>
      <p:sp>
        <p:nvSpPr>
          <p:cNvPr id="12" name="Shape 10"/>
          <p:cNvSpPr/>
          <p:nvPr/>
        </p:nvSpPr>
        <p:spPr>
          <a:xfrm>
            <a:off x="3657600" y="1920240"/>
            <a:ext cx="731520" cy="731520"/>
          </a:xfrm>
          <a:prstGeom prst="ellipse">
            <a:avLst/>
          </a:prstGeom>
          <a:solidFill>
            <a:srgbClr val="1F7A3D"/>
          </a:solidFill>
          <a:ln w="12700">
            <a:solidFill>
              <a:srgbClr val="1F7A3D"/>
            </a:solidFill>
            <a:prstDash val="solid"/>
          </a:ln>
        </p:spPr>
      </p:sp>
      <p:sp>
        <p:nvSpPr>
          <p:cNvPr id="13" name="Text 11"/>
          <p:cNvSpPr/>
          <p:nvPr/>
        </p:nvSpPr>
        <p:spPr>
          <a:xfrm>
            <a:off x="3657600" y="2075688"/>
            <a:ext cx="731520" cy="228600"/>
          </a:xfrm>
          <a:prstGeom prst="rect">
            <a:avLst/>
          </a:prstGeom>
          <a:noFill/>
          <a:ln/>
        </p:spPr>
        <p:txBody>
          <a:bodyPr wrap="square" rtlCol="0" anchor="ctr"/>
          <a:lstStyle/>
          <a:p>
            <a:pPr algn="ctr" indent="0" marL="0">
              <a:buNone/>
            </a:pPr>
            <a:r>
              <a:rPr lang="en-US" sz="2200" b="1" dirty="0">
                <a:solidFill>
                  <a:srgbClr val="FFFFFF"/>
                </a:solidFill>
              </a:rPr>
              <a:t>E</a:t>
            </a:r>
            <a:endParaRPr lang="en-US" sz="2200" dirty="0"/>
          </a:p>
        </p:txBody>
      </p:sp>
      <p:sp>
        <p:nvSpPr>
          <p:cNvPr id="14" name="Shape 12"/>
          <p:cNvSpPr/>
          <p:nvPr/>
        </p:nvSpPr>
        <p:spPr>
          <a:xfrm>
            <a:off x="4480560" y="1691640"/>
            <a:ext cx="1874520" cy="1828800"/>
          </a:xfrm>
          <a:prstGeom prst="roundRect">
            <a:avLst>
              <a:gd name="adj" fmla="val 4000"/>
            </a:avLst>
          </a:prstGeom>
          <a:solidFill>
            <a:srgbClr val="FFFFFF"/>
          </a:solidFill>
          <a:ln w="15240">
            <a:solidFill>
              <a:srgbClr val="B7C6DA"/>
            </a:solidFill>
            <a:prstDash val="solid"/>
          </a:ln>
        </p:spPr>
      </p:sp>
      <p:sp>
        <p:nvSpPr>
          <p:cNvPr id="15" name="Shape 13"/>
          <p:cNvSpPr/>
          <p:nvPr/>
        </p:nvSpPr>
        <p:spPr>
          <a:xfrm>
            <a:off x="4480560" y="1691640"/>
            <a:ext cx="1874520" cy="329184"/>
          </a:xfrm>
          <a:prstGeom prst="rect">
            <a:avLst/>
          </a:prstGeom>
          <a:solidFill>
            <a:srgbClr val="1F7A3D"/>
          </a:solidFill>
          <a:ln w="12700">
            <a:solidFill>
              <a:srgbClr val="1F7A3D"/>
            </a:solidFill>
            <a:prstDash val="solid"/>
          </a:ln>
        </p:spPr>
      </p:sp>
      <p:sp>
        <p:nvSpPr>
          <p:cNvPr id="16" name="Text 14"/>
          <p:cNvSpPr/>
          <p:nvPr/>
        </p:nvSpPr>
        <p:spPr>
          <a:xfrm>
            <a:off x="4590288" y="1764792"/>
            <a:ext cx="1655064" cy="164592"/>
          </a:xfrm>
          <a:prstGeom prst="rect">
            <a:avLst/>
          </a:prstGeom>
          <a:noFill/>
          <a:ln/>
        </p:spPr>
        <p:txBody>
          <a:bodyPr wrap="square" lIns="0" tIns="0" rIns="0" bIns="0" rtlCol="0" anchor="ctr"/>
          <a:lstStyle/>
          <a:p>
            <a:pPr algn="ctr" indent="0" marL="0">
              <a:buNone/>
            </a:pPr>
            <a:r>
              <a:rPr lang="en-US" sz="1200" b="1" dirty="0">
                <a:solidFill>
                  <a:srgbClr val="FFFFFF"/>
                </a:solidFill>
                <a:latin typeface="Aptos" pitchFamily="34" charset="0"/>
                <a:ea typeface="Aptos" pitchFamily="34" charset="-122"/>
                <a:cs typeface="Aptos" pitchFamily="34" charset="-120"/>
              </a:rPr>
              <a:t>Environment</a:t>
            </a:r>
            <a:endParaRPr lang="en-US" sz="1200" dirty="0"/>
          </a:p>
        </p:txBody>
      </p:sp>
      <p:sp>
        <p:nvSpPr>
          <p:cNvPr id="17" name="Text 15"/>
          <p:cNvSpPr/>
          <p:nvPr/>
        </p:nvSpPr>
        <p:spPr>
          <a:xfrm>
            <a:off x="4645152" y="2194560"/>
            <a:ext cx="1545336" cy="1207008"/>
          </a:xfrm>
          <a:prstGeom prst="rect">
            <a:avLst/>
          </a:prstGeom>
          <a:noFill/>
          <a:ln/>
        </p:spPr>
        <p:txBody>
          <a:bodyPr wrap="square" lIns="254" tIns="254" rIns="254" bIns="254" rtlCol="0" anchor="ctr">
            <a:normAutofit/>
          </a:bodyPr>
          <a:lstStyle/>
          <a:p>
            <a:pPr indent="0" marL="0">
              <a:buNone/>
            </a:pPr>
            <a:r>
              <a:rPr lang="en-US" sz="1230" dirty="0">
                <a:solidFill>
                  <a:srgbClr val="17202A"/>
                </a:solidFill>
                <a:latin typeface="Aptos" pitchFamily="34" charset="0"/>
                <a:ea typeface="Aptos" pitchFamily="34" charset="-122"/>
                <a:cs typeface="Aptos" pitchFamily="34" charset="-120"/>
              </a:rPr>
              <a:t>roads, traffic, pedestrians, weather, passengers, police, construction</a:t>
            </a:r>
            <a:endParaRPr lang="en-US" sz="1230" dirty="0"/>
          </a:p>
        </p:txBody>
      </p:sp>
      <p:sp>
        <p:nvSpPr>
          <p:cNvPr id="18" name="Shape 16"/>
          <p:cNvSpPr/>
          <p:nvPr/>
        </p:nvSpPr>
        <p:spPr>
          <a:xfrm>
            <a:off x="6446520" y="1920240"/>
            <a:ext cx="731520" cy="731520"/>
          </a:xfrm>
          <a:prstGeom prst="ellipse">
            <a:avLst/>
          </a:prstGeom>
          <a:solidFill>
            <a:srgbClr val="F5A623"/>
          </a:solidFill>
          <a:ln w="12700">
            <a:solidFill>
              <a:srgbClr val="F5A623"/>
            </a:solidFill>
            <a:prstDash val="solid"/>
          </a:ln>
        </p:spPr>
      </p:sp>
      <p:sp>
        <p:nvSpPr>
          <p:cNvPr id="19" name="Text 17"/>
          <p:cNvSpPr/>
          <p:nvPr/>
        </p:nvSpPr>
        <p:spPr>
          <a:xfrm>
            <a:off x="6446520" y="2075688"/>
            <a:ext cx="731520" cy="228600"/>
          </a:xfrm>
          <a:prstGeom prst="rect">
            <a:avLst/>
          </a:prstGeom>
          <a:noFill/>
          <a:ln/>
        </p:spPr>
        <p:txBody>
          <a:bodyPr wrap="square" rtlCol="0" anchor="ctr"/>
          <a:lstStyle/>
          <a:p>
            <a:pPr algn="ctr" indent="0" marL="0">
              <a:buNone/>
            </a:pPr>
            <a:r>
              <a:rPr lang="en-US" sz="2200" b="1" dirty="0">
                <a:solidFill>
                  <a:srgbClr val="FFFFFF"/>
                </a:solidFill>
              </a:rPr>
              <a:t>A</a:t>
            </a:r>
            <a:endParaRPr lang="en-US" sz="2200" dirty="0"/>
          </a:p>
        </p:txBody>
      </p:sp>
      <p:sp>
        <p:nvSpPr>
          <p:cNvPr id="20" name="Shape 18"/>
          <p:cNvSpPr/>
          <p:nvPr/>
        </p:nvSpPr>
        <p:spPr>
          <a:xfrm>
            <a:off x="7269480" y="1691640"/>
            <a:ext cx="1874520" cy="1828800"/>
          </a:xfrm>
          <a:prstGeom prst="roundRect">
            <a:avLst>
              <a:gd name="adj" fmla="val 4000"/>
            </a:avLst>
          </a:prstGeom>
          <a:solidFill>
            <a:srgbClr val="FFFFFF"/>
          </a:solidFill>
          <a:ln w="15240">
            <a:solidFill>
              <a:srgbClr val="B7C6DA"/>
            </a:solidFill>
            <a:prstDash val="solid"/>
          </a:ln>
        </p:spPr>
      </p:sp>
      <p:sp>
        <p:nvSpPr>
          <p:cNvPr id="21" name="Shape 19"/>
          <p:cNvSpPr/>
          <p:nvPr/>
        </p:nvSpPr>
        <p:spPr>
          <a:xfrm>
            <a:off x="7269480" y="1691640"/>
            <a:ext cx="1874520" cy="329184"/>
          </a:xfrm>
          <a:prstGeom prst="rect">
            <a:avLst/>
          </a:prstGeom>
          <a:solidFill>
            <a:srgbClr val="F5A623"/>
          </a:solidFill>
          <a:ln w="12700">
            <a:solidFill>
              <a:srgbClr val="F5A623"/>
            </a:solidFill>
            <a:prstDash val="solid"/>
          </a:ln>
        </p:spPr>
      </p:sp>
      <p:sp>
        <p:nvSpPr>
          <p:cNvPr id="22" name="Text 20"/>
          <p:cNvSpPr/>
          <p:nvPr/>
        </p:nvSpPr>
        <p:spPr>
          <a:xfrm>
            <a:off x="7379208" y="1764792"/>
            <a:ext cx="1655064" cy="164592"/>
          </a:xfrm>
          <a:prstGeom prst="rect">
            <a:avLst/>
          </a:prstGeom>
          <a:noFill/>
          <a:ln/>
        </p:spPr>
        <p:txBody>
          <a:bodyPr wrap="square" lIns="0" tIns="0" rIns="0" bIns="0" rtlCol="0" anchor="ctr"/>
          <a:lstStyle/>
          <a:p>
            <a:pPr algn="ctr" indent="0" marL="0">
              <a:buNone/>
            </a:pPr>
            <a:r>
              <a:rPr lang="en-US" sz="1200" b="1" dirty="0">
                <a:solidFill>
                  <a:srgbClr val="FFFFFF"/>
                </a:solidFill>
                <a:latin typeface="Aptos" pitchFamily="34" charset="0"/>
                <a:ea typeface="Aptos" pitchFamily="34" charset="-122"/>
                <a:cs typeface="Aptos" pitchFamily="34" charset="-120"/>
              </a:rPr>
              <a:t>Actuators</a:t>
            </a:r>
            <a:endParaRPr lang="en-US" sz="1200" dirty="0"/>
          </a:p>
        </p:txBody>
      </p:sp>
      <p:sp>
        <p:nvSpPr>
          <p:cNvPr id="23" name="Text 21"/>
          <p:cNvSpPr/>
          <p:nvPr/>
        </p:nvSpPr>
        <p:spPr>
          <a:xfrm>
            <a:off x="7434072" y="2194560"/>
            <a:ext cx="1545336" cy="1207008"/>
          </a:xfrm>
          <a:prstGeom prst="rect">
            <a:avLst/>
          </a:prstGeom>
          <a:noFill/>
          <a:ln/>
        </p:spPr>
        <p:txBody>
          <a:bodyPr wrap="square" lIns="254" tIns="254" rIns="254" bIns="254" rtlCol="0" anchor="ctr">
            <a:normAutofit/>
          </a:bodyPr>
          <a:lstStyle/>
          <a:p>
            <a:pPr indent="0" marL="0">
              <a:buNone/>
            </a:pPr>
            <a:r>
              <a:rPr lang="en-US" sz="1230" dirty="0">
                <a:solidFill>
                  <a:srgbClr val="17202A"/>
                </a:solidFill>
                <a:latin typeface="Aptos" pitchFamily="34" charset="0"/>
                <a:ea typeface="Aptos" pitchFamily="34" charset="-122"/>
                <a:cs typeface="Aptos" pitchFamily="34" charset="-120"/>
              </a:rPr>
              <a:t>steering, accelerator, brake, signals, display, speech</a:t>
            </a:r>
            <a:endParaRPr lang="en-US" sz="1230" dirty="0"/>
          </a:p>
        </p:txBody>
      </p:sp>
      <p:sp>
        <p:nvSpPr>
          <p:cNvPr id="24" name="Shape 22"/>
          <p:cNvSpPr/>
          <p:nvPr/>
        </p:nvSpPr>
        <p:spPr>
          <a:xfrm>
            <a:off x="9235440" y="1920240"/>
            <a:ext cx="731520" cy="731520"/>
          </a:xfrm>
          <a:prstGeom prst="ellipse">
            <a:avLst/>
          </a:prstGeom>
          <a:solidFill>
            <a:srgbClr val="6D28D9"/>
          </a:solidFill>
          <a:ln w="12700">
            <a:solidFill>
              <a:srgbClr val="6D28D9"/>
            </a:solidFill>
            <a:prstDash val="solid"/>
          </a:ln>
        </p:spPr>
      </p:sp>
      <p:sp>
        <p:nvSpPr>
          <p:cNvPr id="25" name="Text 23"/>
          <p:cNvSpPr/>
          <p:nvPr/>
        </p:nvSpPr>
        <p:spPr>
          <a:xfrm>
            <a:off x="9235440" y="2075688"/>
            <a:ext cx="731520" cy="228600"/>
          </a:xfrm>
          <a:prstGeom prst="rect">
            <a:avLst/>
          </a:prstGeom>
          <a:noFill/>
          <a:ln/>
        </p:spPr>
        <p:txBody>
          <a:bodyPr wrap="square" rtlCol="0" anchor="ctr"/>
          <a:lstStyle/>
          <a:p>
            <a:pPr algn="ctr" indent="0" marL="0">
              <a:buNone/>
            </a:pPr>
            <a:r>
              <a:rPr lang="en-US" sz="2200" b="1" dirty="0">
                <a:solidFill>
                  <a:srgbClr val="FFFFFF"/>
                </a:solidFill>
              </a:rPr>
              <a:t>S</a:t>
            </a:r>
            <a:endParaRPr lang="en-US" sz="2200" dirty="0"/>
          </a:p>
        </p:txBody>
      </p:sp>
      <p:sp>
        <p:nvSpPr>
          <p:cNvPr id="26" name="Shape 24"/>
          <p:cNvSpPr/>
          <p:nvPr/>
        </p:nvSpPr>
        <p:spPr>
          <a:xfrm>
            <a:off x="10058400" y="1691640"/>
            <a:ext cx="1874520" cy="1828800"/>
          </a:xfrm>
          <a:prstGeom prst="roundRect">
            <a:avLst>
              <a:gd name="adj" fmla="val 4000"/>
            </a:avLst>
          </a:prstGeom>
          <a:solidFill>
            <a:srgbClr val="FFFFFF"/>
          </a:solidFill>
          <a:ln w="15240">
            <a:solidFill>
              <a:srgbClr val="B7C6DA"/>
            </a:solidFill>
            <a:prstDash val="solid"/>
          </a:ln>
        </p:spPr>
      </p:sp>
      <p:sp>
        <p:nvSpPr>
          <p:cNvPr id="27" name="Shape 25"/>
          <p:cNvSpPr/>
          <p:nvPr/>
        </p:nvSpPr>
        <p:spPr>
          <a:xfrm>
            <a:off x="10058400" y="1691640"/>
            <a:ext cx="1874520" cy="329184"/>
          </a:xfrm>
          <a:prstGeom prst="rect">
            <a:avLst/>
          </a:prstGeom>
          <a:solidFill>
            <a:srgbClr val="6D28D9"/>
          </a:solidFill>
          <a:ln w="12700">
            <a:solidFill>
              <a:srgbClr val="6D28D9"/>
            </a:solidFill>
            <a:prstDash val="solid"/>
          </a:ln>
        </p:spPr>
      </p:sp>
      <p:sp>
        <p:nvSpPr>
          <p:cNvPr id="28" name="Text 26"/>
          <p:cNvSpPr/>
          <p:nvPr/>
        </p:nvSpPr>
        <p:spPr>
          <a:xfrm>
            <a:off x="10168128" y="1764792"/>
            <a:ext cx="1655064" cy="164592"/>
          </a:xfrm>
          <a:prstGeom prst="rect">
            <a:avLst/>
          </a:prstGeom>
          <a:noFill/>
          <a:ln/>
        </p:spPr>
        <p:txBody>
          <a:bodyPr wrap="square" lIns="0" tIns="0" rIns="0" bIns="0" rtlCol="0" anchor="ctr"/>
          <a:lstStyle/>
          <a:p>
            <a:pPr algn="ctr" indent="0" marL="0">
              <a:buNone/>
            </a:pPr>
            <a:r>
              <a:rPr lang="en-US" sz="1200" b="1" dirty="0">
                <a:solidFill>
                  <a:srgbClr val="FFFFFF"/>
                </a:solidFill>
                <a:latin typeface="Aptos" pitchFamily="34" charset="0"/>
                <a:ea typeface="Aptos" pitchFamily="34" charset="-122"/>
                <a:cs typeface="Aptos" pitchFamily="34" charset="-120"/>
              </a:rPr>
              <a:t>Sensors</a:t>
            </a:r>
            <a:endParaRPr lang="en-US" sz="1200" dirty="0"/>
          </a:p>
        </p:txBody>
      </p:sp>
      <p:sp>
        <p:nvSpPr>
          <p:cNvPr id="29" name="Text 27"/>
          <p:cNvSpPr/>
          <p:nvPr/>
        </p:nvSpPr>
        <p:spPr>
          <a:xfrm>
            <a:off x="10222992" y="2194560"/>
            <a:ext cx="1545336" cy="1207008"/>
          </a:xfrm>
          <a:prstGeom prst="rect">
            <a:avLst/>
          </a:prstGeom>
          <a:noFill/>
          <a:ln/>
        </p:spPr>
        <p:txBody>
          <a:bodyPr wrap="square" lIns="254" tIns="254" rIns="254" bIns="254" rtlCol="0" anchor="ctr">
            <a:normAutofit/>
          </a:bodyPr>
          <a:lstStyle/>
          <a:p>
            <a:pPr indent="0" marL="0">
              <a:buNone/>
            </a:pPr>
            <a:r>
              <a:rPr lang="en-US" sz="1230" dirty="0">
                <a:solidFill>
                  <a:srgbClr val="17202A"/>
                </a:solidFill>
                <a:latin typeface="Aptos" pitchFamily="34" charset="0"/>
                <a:ea typeface="Aptos" pitchFamily="34" charset="-122"/>
                <a:cs typeface="Aptos" pitchFamily="34" charset="-120"/>
              </a:rPr>
              <a:t>cameras, lidar, radar, GPS, speedometer, engine sensors, voice input</a:t>
            </a:r>
            <a:endParaRPr lang="en-US" sz="1230" dirty="0"/>
          </a:p>
        </p:txBody>
      </p:sp>
      <p:sp>
        <p:nvSpPr>
          <p:cNvPr id="30" name="Shape 28"/>
          <p:cNvSpPr/>
          <p:nvPr/>
        </p:nvSpPr>
        <p:spPr>
          <a:xfrm>
            <a:off x="2057400" y="5074920"/>
            <a:ext cx="8092440" cy="438912"/>
          </a:xfrm>
          <a:prstGeom prst="roundRect">
            <a:avLst>
              <a:gd name="adj" fmla="val 12500"/>
            </a:avLst>
          </a:prstGeom>
          <a:solidFill>
            <a:srgbClr val="FFEFCB"/>
          </a:solidFill>
          <a:ln w="12700">
            <a:solidFill>
              <a:srgbClr val="AFC2DC"/>
            </a:solidFill>
            <a:prstDash val="solid"/>
          </a:ln>
        </p:spPr>
      </p:sp>
      <p:sp>
        <p:nvSpPr>
          <p:cNvPr id="31" name="Text 29"/>
          <p:cNvSpPr/>
          <p:nvPr/>
        </p:nvSpPr>
        <p:spPr>
          <a:xfrm>
            <a:off x="2103120" y="5129784"/>
            <a:ext cx="8001000" cy="347472"/>
          </a:xfrm>
          <a:prstGeom prst="rect">
            <a:avLst/>
          </a:prstGeom>
          <a:noFill/>
          <a:ln/>
        </p:spPr>
        <p:txBody>
          <a:bodyPr wrap="square" lIns="0" tIns="0" rIns="0" bIns="0" rtlCol="0" anchor="ctr">
            <a:normAutofit/>
          </a:bodyPr>
          <a:lstStyle/>
          <a:p>
            <a:pPr algn="ctr" indent="0" marL="0">
              <a:buNone/>
            </a:pPr>
            <a:r>
              <a:rPr lang="en-US" sz="1250" b="1" dirty="0">
                <a:solidFill>
                  <a:srgbClr val="102F63"/>
                </a:solidFill>
                <a:latin typeface="Aptos" pitchFamily="34" charset="0"/>
                <a:ea typeface="Aptos" pitchFamily="34" charset="-122"/>
                <a:cs typeface="Aptos" pitchFamily="34" charset="-120"/>
              </a:rPr>
              <a:t>Design rule: specify the task environment as fully as possible first.</a:t>
            </a:r>
            <a:endParaRPr lang="en-US" sz="1250" dirty="0"/>
          </a:p>
        </p:txBody>
      </p:sp>
      <p:sp>
        <p:nvSpPr>
          <p:cNvPr id="32" name="Text 30"/>
          <p:cNvSpPr/>
          <p:nvPr/>
        </p:nvSpPr>
        <p:spPr>
          <a:xfrm>
            <a:off x="502920" y="6574536"/>
            <a:ext cx="5760720" cy="118872"/>
          </a:xfrm>
          <a:prstGeom prst="rect">
            <a:avLst/>
          </a:prstGeom>
          <a:noFill/>
          <a:ln/>
        </p:spPr>
        <p:txBody>
          <a:bodyPr wrap="square" lIns="0" tIns="0" rIns="0" bIns="0" rtlCol="0" anchor="ctr"/>
          <a:lstStyle/>
          <a:p>
            <a:pPr indent="0" marL="0">
              <a:buNone/>
            </a:pPr>
            <a:r>
              <a:rPr lang="en-US" sz="650" dirty="0">
                <a:solidFill>
                  <a:srgbClr val="7A869A"/>
                </a:solidFill>
                <a:latin typeface="Aptos" pitchFamily="34" charset="0"/>
                <a:ea typeface="Aptos" pitchFamily="34" charset="-122"/>
                <a:cs typeface="Aptos" pitchFamily="34" charset="-120"/>
              </a:rPr>
              <a:t>AIMA Ch. 2 + UC Berkeley CS188 Part II companion</a:t>
            </a:r>
            <a:endParaRPr lang="en-US" sz="650" dirty="0"/>
          </a:p>
        </p:txBody>
      </p:sp>
      <p:sp>
        <p:nvSpPr>
          <p:cNvPr id="25" name="Slide Number Placeholder 0"/>
          <p:cNvSpPr>
            <a:spLocks noGrp="1"/>
          </p:cNvSpPr>
          <p:nvPr>
            <p:ph type="sldNum" sz="quarter" idx="4294967295"/>
          </p:nvPr>
        </p:nvSpPr>
        <p:spPr>
          <a:xfrm>
            <a:off x="5943600" y="658368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B778C"/>
                </a:solidFill>
                <a:latin typeface="Aptos"/>
                <a:ea typeface="Aptos"/>
                <a:cs typeface="Aptos"/>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02920" y="146304"/>
            <a:ext cx="11155680" cy="329184"/>
          </a:xfrm>
          <a:prstGeom prst="rect">
            <a:avLst/>
          </a:prstGeom>
          <a:noFill/>
          <a:ln/>
        </p:spPr>
        <p:txBody>
          <a:bodyPr wrap="square" lIns="0" tIns="0" rIns="0" bIns="0" rtlCol="0" anchor="ctr"/>
          <a:lstStyle/>
          <a:p>
            <a:pPr indent="0" marL="0">
              <a:buNone/>
            </a:pPr>
            <a:r>
              <a:rPr lang="en-US" sz="2500" b="1" dirty="0">
                <a:solidFill>
                  <a:srgbClr val="FFFFFF"/>
                </a:solidFill>
                <a:latin typeface="Aptos Display" pitchFamily="34" charset="0"/>
                <a:ea typeface="Aptos Display" pitchFamily="34" charset="-122"/>
                <a:cs typeface="Aptos Display" pitchFamily="34" charset="-120"/>
              </a:rPr>
              <a:t>2.3.2 Task Environment Properties</a:t>
            </a:r>
            <a:endParaRPr lang="en-US" sz="2500" dirty="0"/>
          </a:p>
        </p:txBody>
      </p:sp>
      <p:sp>
        <p:nvSpPr>
          <p:cNvPr id="3" name="Shape 1"/>
          <p:cNvSpPr/>
          <p:nvPr/>
        </p:nvSpPr>
        <p:spPr>
          <a:xfrm>
            <a:off x="10058400" y="841248"/>
            <a:ext cx="1508760" cy="228600"/>
          </a:xfrm>
          <a:prstGeom prst="roundRect">
            <a:avLst>
              <a:gd name="adj" fmla="val 28000"/>
            </a:avLst>
          </a:prstGeom>
          <a:solidFill>
            <a:srgbClr val="EAF2FF"/>
          </a:solidFill>
          <a:ln w="12700">
            <a:solidFill>
              <a:srgbClr val="B7CAE4"/>
            </a:solidFill>
            <a:prstDash val="solid"/>
          </a:ln>
        </p:spPr>
      </p:sp>
      <p:sp>
        <p:nvSpPr>
          <p:cNvPr id="4" name="Text 2"/>
          <p:cNvSpPr/>
          <p:nvPr/>
        </p:nvSpPr>
        <p:spPr>
          <a:xfrm>
            <a:off x="10168128" y="900684"/>
            <a:ext cx="1298448" cy="91440"/>
          </a:xfrm>
          <a:prstGeom prst="rect">
            <a:avLst/>
          </a:prstGeom>
          <a:noFill/>
          <a:ln/>
        </p:spPr>
        <p:txBody>
          <a:bodyPr wrap="square" lIns="0" tIns="0" rIns="0" bIns="0" rtlCol="0" anchor="ctr"/>
          <a:lstStyle/>
          <a:p>
            <a:pPr algn="ctr" indent="0" marL="0">
              <a:buNone/>
            </a:pPr>
            <a:r>
              <a:rPr lang="en-US" sz="950" b="1" dirty="0">
                <a:solidFill>
                  <a:srgbClr val="102F63"/>
                </a:solidFill>
                <a:latin typeface="Aptos" pitchFamily="34" charset="0"/>
                <a:ea typeface="Aptos" pitchFamily="34" charset="-122"/>
                <a:cs typeface="Aptos" pitchFamily="34" charset="-120"/>
              </a:rPr>
              <a:t>2.3</a:t>
            </a:r>
            <a:endParaRPr lang="en-US" sz="950" dirty="0"/>
          </a:p>
        </p:txBody>
      </p:sp>
      <p:sp>
        <p:nvSpPr>
          <p:cNvPr id="5" name="Text 3"/>
          <p:cNvSpPr/>
          <p:nvPr/>
        </p:nvSpPr>
        <p:spPr>
          <a:xfrm>
            <a:off x="914400" y="1234440"/>
            <a:ext cx="1828800" cy="201168"/>
          </a:xfrm>
          <a:prstGeom prst="rect">
            <a:avLst/>
          </a:prstGeom>
          <a:noFill/>
          <a:ln/>
        </p:spPr>
        <p:txBody>
          <a:bodyPr wrap="square" rtlCol="0" anchor="ctr"/>
          <a:lstStyle/>
          <a:p>
            <a:pPr algn="r" indent="0" marL="0">
              <a:buNone/>
            </a:pPr>
            <a:r>
              <a:rPr lang="en-US" sz="1350" b="1" dirty="0">
                <a:solidFill>
                  <a:srgbClr val="102F63"/>
                </a:solidFill>
              </a:rPr>
              <a:t>Observable</a:t>
            </a:r>
            <a:endParaRPr lang="en-US" sz="1350" dirty="0"/>
          </a:p>
        </p:txBody>
      </p:sp>
      <p:sp>
        <p:nvSpPr>
          <p:cNvPr id="6" name="Shape 4"/>
          <p:cNvSpPr/>
          <p:nvPr/>
        </p:nvSpPr>
        <p:spPr>
          <a:xfrm>
            <a:off x="3063240" y="1188720"/>
            <a:ext cx="2286000" cy="320040"/>
          </a:xfrm>
          <a:prstGeom prst="roundRect">
            <a:avLst>
              <a:gd name="adj" fmla="val 17143"/>
            </a:avLst>
          </a:prstGeom>
          <a:solidFill>
            <a:srgbClr val="EAF2FF"/>
          </a:solidFill>
          <a:ln w="12700">
            <a:solidFill>
              <a:srgbClr val="AFC2DC"/>
            </a:solidFill>
            <a:prstDash val="solid"/>
          </a:ln>
        </p:spPr>
      </p:sp>
      <p:sp>
        <p:nvSpPr>
          <p:cNvPr id="7" name="Text 5"/>
          <p:cNvSpPr/>
          <p:nvPr/>
        </p:nvSpPr>
        <p:spPr>
          <a:xfrm>
            <a:off x="3108960" y="1243584"/>
            <a:ext cx="2194560" cy="228600"/>
          </a:xfrm>
          <a:prstGeom prst="rect">
            <a:avLst/>
          </a:prstGeom>
          <a:noFill/>
          <a:ln/>
        </p:spPr>
        <p:txBody>
          <a:bodyPr wrap="square" lIns="0" tIns="0" rIns="0" bIns="0" rtlCol="0" anchor="ctr">
            <a:normAutofit/>
          </a:bodyPr>
          <a:lstStyle/>
          <a:p>
            <a:pPr algn="ctr" indent="0" marL="0">
              <a:buNone/>
            </a:pPr>
            <a:r>
              <a:rPr lang="en-US" sz="1250" b="1" dirty="0">
                <a:solidFill>
                  <a:srgbClr val="102F63"/>
                </a:solidFill>
                <a:latin typeface="Aptos" pitchFamily="34" charset="0"/>
                <a:ea typeface="Aptos" pitchFamily="34" charset="-122"/>
                <a:cs typeface="Aptos" pitchFamily="34" charset="-120"/>
              </a:rPr>
              <a:t>Fully</a:t>
            </a:r>
            <a:endParaRPr lang="en-US" sz="1250" dirty="0"/>
          </a:p>
        </p:txBody>
      </p:sp>
      <p:sp>
        <p:nvSpPr>
          <p:cNvPr id="8" name="Shape 6"/>
          <p:cNvSpPr/>
          <p:nvPr/>
        </p:nvSpPr>
        <p:spPr>
          <a:xfrm>
            <a:off x="6035040" y="1188720"/>
            <a:ext cx="3063240" cy="320040"/>
          </a:xfrm>
          <a:prstGeom prst="roundRect">
            <a:avLst>
              <a:gd name="adj" fmla="val 17143"/>
            </a:avLst>
          </a:prstGeom>
          <a:solidFill>
            <a:srgbClr val="F8EAF2"/>
          </a:solidFill>
          <a:ln w="12700">
            <a:solidFill>
              <a:srgbClr val="AFC2DC"/>
            </a:solidFill>
            <a:prstDash val="solid"/>
          </a:ln>
        </p:spPr>
      </p:sp>
      <p:sp>
        <p:nvSpPr>
          <p:cNvPr id="9" name="Text 7"/>
          <p:cNvSpPr/>
          <p:nvPr/>
        </p:nvSpPr>
        <p:spPr>
          <a:xfrm>
            <a:off x="6080760" y="1243584"/>
            <a:ext cx="2971800" cy="228600"/>
          </a:xfrm>
          <a:prstGeom prst="rect">
            <a:avLst/>
          </a:prstGeom>
          <a:noFill/>
          <a:ln/>
        </p:spPr>
        <p:txBody>
          <a:bodyPr wrap="square" lIns="0" tIns="0" rIns="0" bIns="0" rtlCol="0" anchor="ctr">
            <a:normAutofit/>
          </a:bodyPr>
          <a:lstStyle/>
          <a:p>
            <a:pPr algn="ctr" indent="0" marL="0">
              <a:buNone/>
            </a:pPr>
            <a:r>
              <a:rPr lang="en-US" sz="1250" b="1" dirty="0">
                <a:solidFill>
                  <a:srgbClr val="102F63"/>
                </a:solidFill>
                <a:latin typeface="Aptos" pitchFamily="34" charset="0"/>
                <a:ea typeface="Aptos" pitchFamily="34" charset="-122"/>
                <a:cs typeface="Aptos" pitchFamily="34" charset="-120"/>
              </a:rPr>
              <a:t>Partially</a:t>
            </a:r>
            <a:endParaRPr lang="en-US" sz="1250" dirty="0"/>
          </a:p>
        </p:txBody>
      </p:sp>
      <p:sp>
        <p:nvSpPr>
          <p:cNvPr id="10" name="Text 8"/>
          <p:cNvSpPr/>
          <p:nvPr/>
        </p:nvSpPr>
        <p:spPr>
          <a:xfrm>
            <a:off x="914400" y="1847088"/>
            <a:ext cx="1828800" cy="201168"/>
          </a:xfrm>
          <a:prstGeom prst="rect">
            <a:avLst/>
          </a:prstGeom>
          <a:noFill/>
          <a:ln/>
        </p:spPr>
        <p:txBody>
          <a:bodyPr wrap="square" rtlCol="0" anchor="ctr"/>
          <a:lstStyle/>
          <a:p>
            <a:pPr algn="r" indent="0" marL="0">
              <a:buNone/>
            </a:pPr>
            <a:r>
              <a:rPr lang="en-US" sz="1350" b="1" dirty="0">
                <a:solidFill>
                  <a:srgbClr val="102F63"/>
                </a:solidFill>
              </a:rPr>
              <a:t>Agents</a:t>
            </a:r>
            <a:endParaRPr lang="en-US" sz="1350" dirty="0"/>
          </a:p>
        </p:txBody>
      </p:sp>
      <p:sp>
        <p:nvSpPr>
          <p:cNvPr id="11" name="Shape 9"/>
          <p:cNvSpPr/>
          <p:nvPr/>
        </p:nvSpPr>
        <p:spPr>
          <a:xfrm>
            <a:off x="3063240" y="1801368"/>
            <a:ext cx="2286000" cy="320040"/>
          </a:xfrm>
          <a:prstGeom prst="roundRect">
            <a:avLst>
              <a:gd name="adj" fmla="val 17143"/>
            </a:avLst>
          </a:prstGeom>
          <a:solidFill>
            <a:srgbClr val="EAF2FF"/>
          </a:solidFill>
          <a:ln w="12700">
            <a:solidFill>
              <a:srgbClr val="AFC2DC"/>
            </a:solidFill>
            <a:prstDash val="solid"/>
          </a:ln>
        </p:spPr>
      </p:sp>
      <p:sp>
        <p:nvSpPr>
          <p:cNvPr id="12" name="Text 10"/>
          <p:cNvSpPr/>
          <p:nvPr/>
        </p:nvSpPr>
        <p:spPr>
          <a:xfrm>
            <a:off x="3108960" y="1856232"/>
            <a:ext cx="2194560" cy="228600"/>
          </a:xfrm>
          <a:prstGeom prst="rect">
            <a:avLst/>
          </a:prstGeom>
          <a:noFill/>
          <a:ln/>
        </p:spPr>
        <p:txBody>
          <a:bodyPr wrap="square" lIns="0" tIns="0" rIns="0" bIns="0" rtlCol="0" anchor="ctr">
            <a:normAutofit/>
          </a:bodyPr>
          <a:lstStyle/>
          <a:p>
            <a:pPr algn="ctr" indent="0" marL="0">
              <a:buNone/>
            </a:pPr>
            <a:r>
              <a:rPr lang="en-US" sz="1250" b="1" dirty="0">
                <a:solidFill>
                  <a:srgbClr val="102F63"/>
                </a:solidFill>
                <a:latin typeface="Aptos" pitchFamily="34" charset="0"/>
                <a:ea typeface="Aptos" pitchFamily="34" charset="-122"/>
                <a:cs typeface="Aptos" pitchFamily="34" charset="-120"/>
              </a:rPr>
              <a:t>Single</a:t>
            </a:r>
            <a:endParaRPr lang="en-US" sz="1250" dirty="0"/>
          </a:p>
        </p:txBody>
      </p:sp>
      <p:sp>
        <p:nvSpPr>
          <p:cNvPr id="13" name="Shape 11"/>
          <p:cNvSpPr/>
          <p:nvPr/>
        </p:nvSpPr>
        <p:spPr>
          <a:xfrm>
            <a:off x="6035040" y="1801368"/>
            <a:ext cx="3063240" cy="320040"/>
          </a:xfrm>
          <a:prstGeom prst="roundRect">
            <a:avLst>
              <a:gd name="adj" fmla="val 17143"/>
            </a:avLst>
          </a:prstGeom>
          <a:solidFill>
            <a:srgbClr val="F8EAF2"/>
          </a:solidFill>
          <a:ln w="12700">
            <a:solidFill>
              <a:srgbClr val="AFC2DC"/>
            </a:solidFill>
            <a:prstDash val="solid"/>
          </a:ln>
        </p:spPr>
      </p:sp>
      <p:sp>
        <p:nvSpPr>
          <p:cNvPr id="14" name="Text 12"/>
          <p:cNvSpPr/>
          <p:nvPr/>
        </p:nvSpPr>
        <p:spPr>
          <a:xfrm>
            <a:off x="6080760" y="1856232"/>
            <a:ext cx="2971800" cy="228600"/>
          </a:xfrm>
          <a:prstGeom prst="rect">
            <a:avLst/>
          </a:prstGeom>
          <a:noFill/>
          <a:ln/>
        </p:spPr>
        <p:txBody>
          <a:bodyPr wrap="square" lIns="0" tIns="0" rIns="0" bIns="0" rtlCol="0" anchor="ctr">
            <a:normAutofit/>
          </a:bodyPr>
          <a:lstStyle/>
          <a:p>
            <a:pPr algn="ctr" indent="0" marL="0">
              <a:buNone/>
            </a:pPr>
            <a:r>
              <a:rPr lang="en-US" sz="1250" b="1" dirty="0">
                <a:solidFill>
                  <a:srgbClr val="102F63"/>
                </a:solidFill>
                <a:latin typeface="Aptos" pitchFamily="34" charset="0"/>
                <a:ea typeface="Aptos" pitchFamily="34" charset="-122"/>
                <a:cs typeface="Aptos" pitchFamily="34" charset="-120"/>
              </a:rPr>
              <a:t>Multi</a:t>
            </a:r>
            <a:endParaRPr lang="en-US" sz="1250" dirty="0"/>
          </a:p>
        </p:txBody>
      </p:sp>
      <p:sp>
        <p:nvSpPr>
          <p:cNvPr id="15" name="Text 13"/>
          <p:cNvSpPr/>
          <p:nvPr/>
        </p:nvSpPr>
        <p:spPr>
          <a:xfrm>
            <a:off x="914400" y="2459736"/>
            <a:ext cx="1828800" cy="201168"/>
          </a:xfrm>
          <a:prstGeom prst="rect">
            <a:avLst/>
          </a:prstGeom>
          <a:noFill/>
          <a:ln/>
        </p:spPr>
        <p:txBody>
          <a:bodyPr wrap="square" rtlCol="0" anchor="ctr"/>
          <a:lstStyle/>
          <a:p>
            <a:pPr algn="r" indent="0" marL="0">
              <a:buNone/>
            </a:pPr>
            <a:r>
              <a:rPr lang="en-US" sz="1350" b="1" dirty="0">
                <a:solidFill>
                  <a:srgbClr val="102F63"/>
                </a:solidFill>
              </a:rPr>
              <a:t>Transition</a:t>
            </a:r>
            <a:endParaRPr lang="en-US" sz="1350" dirty="0"/>
          </a:p>
        </p:txBody>
      </p:sp>
      <p:sp>
        <p:nvSpPr>
          <p:cNvPr id="16" name="Shape 14"/>
          <p:cNvSpPr/>
          <p:nvPr/>
        </p:nvSpPr>
        <p:spPr>
          <a:xfrm>
            <a:off x="3063240" y="2414016"/>
            <a:ext cx="2286000" cy="320040"/>
          </a:xfrm>
          <a:prstGeom prst="roundRect">
            <a:avLst>
              <a:gd name="adj" fmla="val 17143"/>
            </a:avLst>
          </a:prstGeom>
          <a:solidFill>
            <a:srgbClr val="EAF2FF"/>
          </a:solidFill>
          <a:ln w="12700">
            <a:solidFill>
              <a:srgbClr val="AFC2DC"/>
            </a:solidFill>
            <a:prstDash val="solid"/>
          </a:ln>
        </p:spPr>
      </p:sp>
      <p:sp>
        <p:nvSpPr>
          <p:cNvPr id="17" name="Text 15"/>
          <p:cNvSpPr/>
          <p:nvPr/>
        </p:nvSpPr>
        <p:spPr>
          <a:xfrm>
            <a:off x="3108960" y="2468880"/>
            <a:ext cx="2194560" cy="228600"/>
          </a:xfrm>
          <a:prstGeom prst="rect">
            <a:avLst/>
          </a:prstGeom>
          <a:noFill/>
          <a:ln/>
        </p:spPr>
        <p:txBody>
          <a:bodyPr wrap="square" lIns="0" tIns="0" rIns="0" bIns="0" rtlCol="0" anchor="ctr">
            <a:normAutofit/>
          </a:bodyPr>
          <a:lstStyle/>
          <a:p>
            <a:pPr algn="ctr" indent="0" marL="0">
              <a:buNone/>
            </a:pPr>
            <a:r>
              <a:rPr lang="en-US" sz="1250" b="1" dirty="0">
                <a:solidFill>
                  <a:srgbClr val="102F63"/>
                </a:solidFill>
                <a:latin typeface="Aptos" pitchFamily="34" charset="0"/>
                <a:ea typeface="Aptos" pitchFamily="34" charset="-122"/>
                <a:cs typeface="Aptos" pitchFamily="34" charset="-120"/>
              </a:rPr>
              <a:t>Deterministic</a:t>
            </a:r>
            <a:endParaRPr lang="en-US" sz="1250" dirty="0"/>
          </a:p>
        </p:txBody>
      </p:sp>
      <p:sp>
        <p:nvSpPr>
          <p:cNvPr id="18" name="Shape 16"/>
          <p:cNvSpPr/>
          <p:nvPr/>
        </p:nvSpPr>
        <p:spPr>
          <a:xfrm>
            <a:off x="6035040" y="2414016"/>
            <a:ext cx="3063240" cy="320040"/>
          </a:xfrm>
          <a:prstGeom prst="roundRect">
            <a:avLst>
              <a:gd name="adj" fmla="val 17143"/>
            </a:avLst>
          </a:prstGeom>
          <a:solidFill>
            <a:srgbClr val="F8EAF2"/>
          </a:solidFill>
          <a:ln w="12700">
            <a:solidFill>
              <a:srgbClr val="AFC2DC"/>
            </a:solidFill>
            <a:prstDash val="solid"/>
          </a:ln>
        </p:spPr>
      </p:sp>
      <p:sp>
        <p:nvSpPr>
          <p:cNvPr id="19" name="Text 17"/>
          <p:cNvSpPr/>
          <p:nvPr/>
        </p:nvSpPr>
        <p:spPr>
          <a:xfrm>
            <a:off x="6080760" y="2468880"/>
            <a:ext cx="2971800" cy="228600"/>
          </a:xfrm>
          <a:prstGeom prst="rect">
            <a:avLst/>
          </a:prstGeom>
          <a:noFill/>
          <a:ln/>
        </p:spPr>
        <p:txBody>
          <a:bodyPr wrap="square" lIns="0" tIns="0" rIns="0" bIns="0" rtlCol="0" anchor="ctr">
            <a:normAutofit/>
          </a:bodyPr>
          <a:lstStyle/>
          <a:p>
            <a:pPr algn="ctr" indent="0" marL="0">
              <a:buNone/>
            </a:pPr>
            <a:r>
              <a:rPr lang="en-US" sz="1250" b="1" dirty="0">
                <a:solidFill>
                  <a:srgbClr val="102F63"/>
                </a:solidFill>
                <a:latin typeface="Aptos" pitchFamily="34" charset="0"/>
                <a:ea typeface="Aptos" pitchFamily="34" charset="-122"/>
                <a:cs typeface="Aptos" pitchFamily="34" charset="-120"/>
              </a:rPr>
              <a:t>Nondeterministic / stochastic</a:t>
            </a:r>
            <a:endParaRPr lang="en-US" sz="1250" dirty="0"/>
          </a:p>
        </p:txBody>
      </p:sp>
      <p:sp>
        <p:nvSpPr>
          <p:cNvPr id="20" name="Text 18"/>
          <p:cNvSpPr/>
          <p:nvPr/>
        </p:nvSpPr>
        <p:spPr>
          <a:xfrm>
            <a:off x="914400" y="3072384"/>
            <a:ext cx="1828800" cy="201168"/>
          </a:xfrm>
          <a:prstGeom prst="rect">
            <a:avLst/>
          </a:prstGeom>
          <a:noFill/>
          <a:ln/>
        </p:spPr>
        <p:txBody>
          <a:bodyPr wrap="square" rtlCol="0" anchor="ctr"/>
          <a:lstStyle/>
          <a:p>
            <a:pPr algn="r" indent="0" marL="0">
              <a:buNone/>
            </a:pPr>
            <a:r>
              <a:rPr lang="en-US" sz="1350" b="1" dirty="0">
                <a:solidFill>
                  <a:srgbClr val="102F63"/>
                </a:solidFill>
              </a:rPr>
              <a:t>Episodes</a:t>
            </a:r>
            <a:endParaRPr lang="en-US" sz="1350" dirty="0"/>
          </a:p>
        </p:txBody>
      </p:sp>
      <p:sp>
        <p:nvSpPr>
          <p:cNvPr id="21" name="Shape 19"/>
          <p:cNvSpPr/>
          <p:nvPr/>
        </p:nvSpPr>
        <p:spPr>
          <a:xfrm>
            <a:off x="3063240" y="3026664"/>
            <a:ext cx="2286000" cy="320040"/>
          </a:xfrm>
          <a:prstGeom prst="roundRect">
            <a:avLst>
              <a:gd name="adj" fmla="val 17143"/>
            </a:avLst>
          </a:prstGeom>
          <a:solidFill>
            <a:srgbClr val="EAF2FF"/>
          </a:solidFill>
          <a:ln w="12700">
            <a:solidFill>
              <a:srgbClr val="AFC2DC"/>
            </a:solidFill>
            <a:prstDash val="solid"/>
          </a:ln>
        </p:spPr>
      </p:sp>
      <p:sp>
        <p:nvSpPr>
          <p:cNvPr id="22" name="Text 20"/>
          <p:cNvSpPr/>
          <p:nvPr/>
        </p:nvSpPr>
        <p:spPr>
          <a:xfrm>
            <a:off x="3108960" y="3081528"/>
            <a:ext cx="2194560" cy="228600"/>
          </a:xfrm>
          <a:prstGeom prst="rect">
            <a:avLst/>
          </a:prstGeom>
          <a:noFill/>
          <a:ln/>
        </p:spPr>
        <p:txBody>
          <a:bodyPr wrap="square" lIns="0" tIns="0" rIns="0" bIns="0" rtlCol="0" anchor="ctr">
            <a:normAutofit/>
          </a:bodyPr>
          <a:lstStyle/>
          <a:p>
            <a:pPr algn="ctr" indent="0" marL="0">
              <a:buNone/>
            </a:pPr>
            <a:r>
              <a:rPr lang="en-US" sz="1250" b="1" dirty="0">
                <a:solidFill>
                  <a:srgbClr val="102F63"/>
                </a:solidFill>
                <a:latin typeface="Aptos" pitchFamily="34" charset="0"/>
                <a:ea typeface="Aptos" pitchFamily="34" charset="-122"/>
                <a:cs typeface="Aptos" pitchFamily="34" charset="-120"/>
              </a:rPr>
              <a:t>Episodic</a:t>
            </a:r>
            <a:endParaRPr lang="en-US" sz="1250" dirty="0"/>
          </a:p>
        </p:txBody>
      </p:sp>
      <p:sp>
        <p:nvSpPr>
          <p:cNvPr id="23" name="Shape 21"/>
          <p:cNvSpPr/>
          <p:nvPr/>
        </p:nvSpPr>
        <p:spPr>
          <a:xfrm>
            <a:off x="6035040" y="3026664"/>
            <a:ext cx="3063240" cy="320040"/>
          </a:xfrm>
          <a:prstGeom prst="roundRect">
            <a:avLst>
              <a:gd name="adj" fmla="val 17143"/>
            </a:avLst>
          </a:prstGeom>
          <a:solidFill>
            <a:srgbClr val="F8EAF2"/>
          </a:solidFill>
          <a:ln w="12700">
            <a:solidFill>
              <a:srgbClr val="AFC2DC"/>
            </a:solidFill>
            <a:prstDash val="solid"/>
          </a:ln>
        </p:spPr>
      </p:sp>
      <p:sp>
        <p:nvSpPr>
          <p:cNvPr id="24" name="Text 22"/>
          <p:cNvSpPr/>
          <p:nvPr/>
        </p:nvSpPr>
        <p:spPr>
          <a:xfrm>
            <a:off x="6080760" y="3081528"/>
            <a:ext cx="2971800" cy="228600"/>
          </a:xfrm>
          <a:prstGeom prst="rect">
            <a:avLst/>
          </a:prstGeom>
          <a:noFill/>
          <a:ln/>
        </p:spPr>
        <p:txBody>
          <a:bodyPr wrap="square" lIns="0" tIns="0" rIns="0" bIns="0" rtlCol="0" anchor="ctr">
            <a:normAutofit/>
          </a:bodyPr>
          <a:lstStyle/>
          <a:p>
            <a:pPr algn="ctr" indent="0" marL="0">
              <a:buNone/>
            </a:pPr>
            <a:r>
              <a:rPr lang="en-US" sz="1250" b="1" dirty="0">
                <a:solidFill>
                  <a:srgbClr val="102F63"/>
                </a:solidFill>
                <a:latin typeface="Aptos" pitchFamily="34" charset="0"/>
                <a:ea typeface="Aptos" pitchFamily="34" charset="-122"/>
                <a:cs typeface="Aptos" pitchFamily="34" charset="-120"/>
              </a:rPr>
              <a:t>Sequential</a:t>
            </a:r>
            <a:endParaRPr lang="en-US" sz="1250" dirty="0"/>
          </a:p>
        </p:txBody>
      </p:sp>
      <p:sp>
        <p:nvSpPr>
          <p:cNvPr id="25" name="Text 23"/>
          <p:cNvSpPr/>
          <p:nvPr/>
        </p:nvSpPr>
        <p:spPr>
          <a:xfrm>
            <a:off x="914400" y="3685032"/>
            <a:ext cx="1828800" cy="201168"/>
          </a:xfrm>
          <a:prstGeom prst="rect">
            <a:avLst/>
          </a:prstGeom>
          <a:noFill/>
          <a:ln/>
        </p:spPr>
        <p:txBody>
          <a:bodyPr wrap="square" rtlCol="0" anchor="ctr"/>
          <a:lstStyle/>
          <a:p>
            <a:pPr algn="r" indent="0" marL="0">
              <a:buNone/>
            </a:pPr>
            <a:r>
              <a:rPr lang="en-US" sz="1350" b="1" dirty="0">
                <a:solidFill>
                  <a:srgbClr val="102F63"/>
                </a:solidFill>
              </a:rPr>
              <a:t>Time</a:t>
            </a:r>
            <a:endParaRPr lang="en-US" sz="1350" dirty="0"/>
          </a:p>
        </p:txBody>
      </p:sp>
      <p:sp>
        <p:nvSpPr>
          <p:cNvPr id="26" name="Shape 24"/>
          <p:cNvSpPr/>
          <p:nvPr/>
        </p:nvSpPr>
        <p:spPr>
          <a:xfrm>
            <a:off x="3063240" y="3639312"/>
            <a:ext cx="2286000" cy="320040"/>
          </a:xfrm>
          <a:prstGeom prst="roundRect">
            <a:avLst>
              <a:gd name="adj" fmla="val 17143"/>
            </a:avLst>
          </a:prstGeom>
          <a:solidFill>
            <a:srgbClr val="EAF2FF"/>
          </a:solidFill>
          <a:ln w="12700">
            <a:solidFill>
              <a:srgbClr val="AFC2DC"/>
            </a:solidFill>
            <a:prstDash val="solid"/>
          </a:ln>
        </p:spPr>
      </p:sp>
      <p:sp>
        <p:nvSpPr>
          <p:cNvPr id="27" name="Text 25"/>
          <p:cNvSpPr/>
          <p:nvPr/>
        </p:nvSpPr>
        <p:spPr>
          <a:xfrm>
            <a:off x="3108960" y="3694176"/>
            <a:ext cx="2194560" cy="228600"/>
          </a:xfrm>
          <a:prstGeom prst="rect">
            <a:avLst/>
          </a:prstGeom>
          <a:noFill/>
          <a:ln/>
        </p:spPr>
        <p:txBody>
          <a:bodyPr wrap="square" lIns="0" tIns="0" rIns="0" bIns="0" rtlCol="0" anchor="ctr">
            <a:normAutofit/>
          </a:bodyPr>
          <a:lstStyle/>
          <a:p>
            <a:pPr algn="ctr" indent="0" marL="0">
              <a:buNone/>
            </a:pPr>
            <a:r>
              <a:rPr lang="en-US" sz="1250" b="1" dirty="0">
                <a:solidFill>
                  <a:srgbClr val="102F63"/>
                </a:solidFill>
                <a:latin typeface="Aptos" pitchFamily="34" charset="0"/>
                <a:ea typeface="Aptos" pitchFamily="34" charset="-122"/>
                <a:cs typeface="Aptos" pitchFamily="34" charset="-120"/>
              </a:rPr>
              <a:t>Static</a:t>
            </a:r>
            <a:endParaRPr lang="en-US" sz="1250" dirty="0"/>
          </a:p>
        </p:txBody>
      </p:sp>
      <p:sp>
        <p:nvSpPr>
          <p:cNvPr id="28" name="Shape 26"/>
          <p:cNvSpPr/>
          <p:nvPr/>
        </p:nvSpPr>
        <p:spPr>
          <a:xfrm>
            <a:off x="6035040" y="3639312"/>
            <a:ext cx="3063240" cy="320040"/>
          </a:xfrm>
          <a:prstGeom prst="roundRect">
            <a:avLst>
              <a:gd name="adj" fmla="val 17143"/>
            </a:avLst>
          </a:prstGeom>
          <a:solidFill>
            <a:srgbClr val="F8EAF2"/>
          </a:solidFill>
          <a:ln w="12700">
            <a:solidFill>
              <a:srgbClr val="AFC2DC"/>
            </a:solidFill>
            <a:prstDash val="solid"/>
          </a:ln>
        </p:spPr>
      </p:sp>
      <p:sp>
        <p:nvSpPr>
          <p:cNvPr id="29" name="Text 27"/>
          <p:cNvSpPr/>
          <p:nvPr/>
        </p:nvSpPr>
        <p:spPr>
          <a:xfrm>
            <a:off x="6080760" y="3694176"/>
            <a:ext cx="2971800" cy="228600"/>
          </a:xfrm>
          <a:prstGeom prst="rect">
            <a:avLst/>
          </a:prstGeom>
          <a:noFill/>
          <a:ln/>
        </p:spPr>
        <p:txBody>
          <a:bodyPr wrap="square" lIns="0" tIns="0" rIns="0" bIns="0" rtlCol="0" anchor="ctr">
            <a:normAutofit/>
          </a:bodyPr>
          <a:lstStyle/>
          <a:p>
            <a:pPr algn="ctr" indent="0" marL="0">
              <a:buNone/>
            </a:pPr>
            <a:r>
              <a:rPr lang="en-US" sz="1250" b="1" dirty="0">
                <a:solidFill>
                  <a:srgbClr val="102F63"/>
                </a:solidFill>
                <a:latin typeface="Aptos" pitchFamily="34" charset="0"/>
                <a:ea typeface="Aptos" pitchFamily="34" charset="-122"/>
                <a:cs typeface="Aptos" pitchFamily="34" charset="-120"/>
              </a:rPr>
              <a:t>Dynamic / semidynamic</a:t>
            </a:r>
            <a:endParaRPr lang="en-US" sz="1250" dirty="0"/>
          </a:p>
        </p:txBody>
      </p:sp>
      <p:sp>
        <p:nvSpPr>
          <p:cNvPr id="30" name="Text 28"/>
          <p:cNvSpPr/>
          <p:nvPr/>
        </p:nvSpPr>
        <p:spPr>
          <a:xfrm>
            <a:off x="914400" y="4297680"/>
            <a:ext cx="1828800" cy="201168"/>
          </a:xfrm>
          <a:prstGeom prst="rect">
            <a:avLst/>
          </a:prstGeom>
          <a:noFill/>
          <a:ln/>
        </p:spPr>
        <p:txBody>
          <a:bodyPr wrap="square" rtlCol="0" anchor="ctr"/>
          <a:lstStyle/>
          <a:p>
            <a:pPr algn="r" indent="0" marL="0">
              <a:buNone/>
            </a:pPr>
            <a:r>
              <a:rPr lang="en-US" sz="1350" b="1" dirty="0">
                <a:solidFill>
                  <a:srgbClr val="102F63"/>
                </a:solidFill>
              </a:rPr>
              <a:t>State/action</a:t>
            </a:r>
            <a:endParaRPr lang="en-US" sz="1350" dirty="0"/>
          </a:p>
        </p:txBody>
      </p:sp>
      <p:sp>
        <p:nvSpPr>
          <p:cNvPr id="31" name="Shape 29"/>
          <p:cNvSpPr/>
          <p:nvPr/>
        </p:nvSpPr>
        <p:spPr>
          <a:xfrm>
            <a:off x="3063240" y="4251960"/>
            <a:ext cx="2286000" cy="320040"/>
          </a:xfrm>
          <a:prstGeom prst="roundRect">
            <a:avLst>
              <a:gd name="adj" fmla="val 17143"/>
            </a:avLst>
          </a:prstGeom>
          <a:solidFill>
            <a:srgbClr val="EAF2FF"/>
          </a:solidFill>
          <a:ln w="12700">
            <a:solidFill>
              <a:srgbClr val="AFC2DC"/>
            </a:solidFill>
            <a:prstDash val="solid"/>
          </a:ln>
        </p:spPr>
      </p:sp>
      <p:sp>
        <p:nvSpPr>
          <p:cNvPr id="32" name="Text 30"/>
          <p:cNvSpPr/>
          <p:nvPr/>
        </p:nvSpPr>
        <p:spPr>
          <a:xfrm>
            <a:off x="3108960" y="4306824"/>
            <a:ext cx="2194560" cy="228600"/>
          </a:xfrm>
          <a:prstGeom prst="rect">
            <a:avLst/>
          </a:prstGeom>
          <a:noFill/>
          <a:ln/>
        </p:spPr>
        <p:txBody>
          <a:bodyPr wrap="square" lIns="0" tIns="0" rIns="0" bIns="0" rtlCol="0" anchor="ctr">
            <a:normAutofit/>
          </a:bodyPr>
          <a:lstStyle/>
          <a:p>
            <a:pPr algn="ctr" indent="0" marL="0">
              <a:buNone/>
            </a:pPr>
            <a:r>
              <a:rPr lang="en-US" sz="1250" b="1" dirty="0">
                <a:solidFill>
                  <a:srgbClr val="102F63"/>
                </a:solidFill>
                <a:latin typeface="Aptos" pitchFamily="34" charset="0"/>
                <a:ea typeface="Aptos" pitchFamily="34" charset="-122"/>
                <a:cs typeface="Aptos" pitchFamily="34" charset="-120"/>
              </a:rPr>
              <a:t>Discrete</a:t>
            </a:r>
            <a:endParaRPr lang="en-US" sz="1250" dirty="0"/>
          </a:p>
        </p:txBody>
      </p:sp>
      <p:sp>
        <p:nvSpPr>
          <p:cNvPr id="33" name="Shape 31"/>
          <p:cNvSpPr/>
          <p:nvPr/>
        </p:nvSpPr>
        <p:spPr>
          <a:xfrm>
            <a:off x="6035040" y="4251960"/>
            <a:ext cx="3063240" cy="320040"/>
          </a:xfrm>
          <a:prstGeom prst="roundRect">
            <a:avLst>
              <a:gd name="adj" fmla="val 17143"/>
            </a:avLst>
          </a:prstGeom>
          <a:solidFill>
            <a:srgbClr val="F8EAF2"/>
          </a:solidFill>
          <a:ln w="12700">
            <a:solidFill>
              <a:srgbClr val="AFC2DC"/>
            </a:solidFill>
            <a:prstDash val="solid"/>
          </a:ln>
        </p:spPr>
      </p:sp>
      <p:sp>
        <p:nvSpPr>
          <p:cNvPr id="34" name="Text 32"/>
          <p:cNvSpPr/>
          <p:nvPr/>
        </p:nvSpPr>
        <p:spPr>
          <a:xfrm>
            <a:off x="6080760" y="4306824"/>
            <a:ext cx="2971800" cy="228600"/>
          </a:xfrm>
          <a:prstGeom prst="rect">
            <a:avLst/>
          </a:prstGeom>
          <a:noFill/>
          <a:ln/>
        </p:spPr>
        <p:txBody>
          <a:bodyPr wrap="square" lIns="0" tIns="0" rIns="0" bIns="0" rtlCol="0" anchor="ctr">
            <a:normAutofit/>
          </a:bodyPr>
          <a:lstStyle/>
          <a:p>
            <a:pPr algn="ctr" indent="0" marL="0">
              <a:buNone/>
            </a:pPr>
            <a:r>
              <a:rPr lang="en-US" sz="1250" b="1" dirty="0">
                <a:solidFill>
                  <a:srgbClr val="102F63"/>
                </a:solidFill>
                <a:latin typeface="Aptos" pitchFamily="34" charset="0"/>
                <a:ea typeface="Aptos" pitchFamily="34" charset="-122"/>
                <a:cs typeface="Aptos" pitchFamily="34" charset="-120"/>
              </a:rPr>
              <a:t>Continuous</a:t>
            </a:r>
            <a:endParaRPr lang="en-US" sz="1250" dirty="0"/>
          </a:p>
        </p:txBody>
      </p:sp>
      <p:sp>
        <p:nvSpPr>
          <p:cNvPr id="35" name="Text 33"/>
          <p:cNvSpPr/>
          <p:nvPr/>
        </p:nvSpPr>
        <p:spPr>
          <a:xfrm>
            <a:off x="914400" y="4910328"/>
            <a:ext cx="1828800" cy="201168"/>
          </a:xfrm>
          <a:prstGeom prst="rect">
            <a:avLst/>
          </a:prstGeom>
          <a:noFill/>
          <a:ln/>
        </p:spPr>
        <p:txBody>
          <a:bodyPr wrap="square" rtlCol="0" anchor="ctr"/>
          <a:lstStyle/>
          <a:p>
            <a:pPr algn="r" indent="0" marL="0">
              <a:buNone/>
            </a:pPr>
            <a:r>
              <a:rPr lang="en-US" sz="1350" b="1" dirty="0">
                <a:solidFill>
                  <a:srgbClr val="102F63"/>
                </a:solidFill>
              </a:rPr>
              <a:t>Knowledge</a:t>
            </a:r>
            <a:endParaRPr lang="en-US" sz="1350" dirty="0"/>
          </a:p>
        </p:txBody>
      </p:sp>
      <p:sp>
        <p:nvSpPr>
          <p:cNvPr id="36" name="Shape 34"/>
          <p:cNvSpPr/>
          <p:nvPr/>
        </p:nvSpPr>
        <p:spPr>
          <a:xfrm>
            <a:off x="3063240" y="4864608"/>
            <a:ext cx="2286000" cy="320040"/>
          </a:xfrm>
          <a:prstGeom prst="roundRect">
            <a:avLst>
              <a:gd name="adj" fmla="val 17143"/>
            </a:avLst>
          </a:prstGeom>
          <a:solidFill>
            <a:srgbClr val="EAF2FF"/>
          </a:solidFill>
          <a:ln w="12700">
            <a:solidFill>
              <a:srgbClr val="AFC2DC"/>
            </a:solidFill>
            <a:prstDash val="solid"/>
          </a:ln>
        </p:spPr>
      </p:sp>
      <p:sp>
        <p:nvSpPr>
          <p:cNvPr id="37" name="Text 35"/>
          <p:cNvSpPr/>
          <p:nvPr/>
        </p:nvSpPr>
        <p:spPr>
          <a:xfrm>
            <a:off x="3108960" y="4919472"/>
            <a:ext cx="2194560" cy="228600"/>
          </a:xfrm>
          <a:prstGeom prst="rect">
            <a:avLst/>
          </a:prstGeom>
          <a:noFill/>
          <a:ln/>
        </p:spPr>
        <p:txBody>
          <a:bodyPr wrap="square" lIns="0" tIns="0" rIns="0" bIns="0" rtlCol="0" anchor="ctr">
            <a:normAutofit/>
          </a:bodyPr>
          <a:lstStyle/>
          <a:p>
            <a:pPr algn="ctr" indent="0" marL="0">
              <a:buNone/>
            </a:pPr>
            <a:r>
              <a:rPr lang="en-US" sz="1250" b="1" dirty="0">
                <a:solidFill>
                  <a:srgbClr val="102F63"/>
                </a:solidFill>
                <a:latin typeface="Aptos" pitchFamily="34" charset="0"/>
                <a:ea typeface="Aptos" pitchFamily="34" charset="-122"/>
                <a:cs typeface="Aptos" pitchFamily="34" charset="-120"/>
              </a:rPr>
              <a:t>Known</a:t>
            </a:r>
            <a:endParaRPr lang="en-US" sz="1250" dirty="0"/>
          </a:p>
        </p:txBody>
      </p:sp>
      <p:sp>
        <p:nvSpPr>
          <p:cNvPr id="38" name="Shape 36"/>
          <p:cNvSpPr/>
          <p:nvPr/>
        </p:nvSpPr>
        <p:spPr>
          <a:xfrm>
            <a:off x="6035040" y="4864608"/>
            <a:ext cx="3063240" cy="320040"/>
          </a:xfrm>
          <a:prstGeom prst="roundRect">
            <a:avLst>
              <a:gd name="adj" fmla="val 17143"/>
            </a:avLst>
          </a:prstGeom>
          <a:solidFill>
            <a:srgbClr val="F8EAF2"/>
          </a:solidFill>
          <a:ln w="12700">
            <a:solidFill>
              <a:srgbClr val="AFC2DC"/>
            </a:solidFill>
            <a:prstDash val="solid"/>
          </a:ln>
        </p:spPr>
      </p:sp>
      <p:sp>
        <p:nvSpPr>
          <p:cNvPr id="39" name="Text 37"/>
          <p:cNvSpPr/>
          <p:nvPr/>
        </p:nvSpPr>
        <p:spPr>
          <a:xfrm>
            <a:off x="6080760" y="4919472"/>
            <a:ext cx="2971800" cy="228600"/>
          </a:xfrm>
          <a:prstGeom prst="rect">
            <a:avLst/>
          </a:prstGeom>
          <a:noFill/>
          <a:ln/>
        </p:spPr>
        <p:txBody>
          <a:bodyPr wrap="square" lIns="0" tIns="0" rIns="0" bIns="0" rtlCol="0" anchor="ctr">
            <a:normAutofit/>
          </a:bodyPr>
          <a:lstStyle/>
          <a:p>
            <a:pPr algn="ctr" indent="0" marL="0">
              <a:buNone/>
            </a:pPr>
            <a:r>
              <a:rPr lang="en-US" sz="1250" b="1" dirty="0">
                <a:solidFill>
                  <a:srgbClr val="102F63"/>
                </a:solidFill>
                <a:latin typeface="Aptos" pitchFamily="34" charset="0"/>
                <a:ea typeface="Aptos" pitchFamily="34" charset="-122"/>
                <a:cs typeface="Aptos" pitchFamily="34" charset="-120"/>
              </a:rPr>
              <a:t>Unknown</a:t>
            </a:r>
            <a:endParaRPr lang="en-US" sz="1250" dirty="0"/>
          </a:p>
        </p:txBody>
      </p:sp>
      <p:sp>
        <p:nvSpPr>
          <p:cNvPr id="40" name="Shape 38"/>
          <p:cNvSpPr/>
          <p:nvPr/>
        </p:nvSpPr>
        <p:spPr>
          <a:xfrm>
            <a:off x="1188720" y="5715000"/>
            <a:ext cx="9829800" cy="457200"/>
          </a:xfrm>
          <a:prstGeom prst="roundRect">
            <a:avLst>
              <a:gd name="adj" fmla="val 16000"/>
            </a:avLst>
          </a:prstGeom>
          <a:solidFill>
            <a:srgbClr val="FFEFCB"/>
          </a:solidFill>
          <a:ln w="12700">
            <a:solidFill>
              <a:srgbClr val="E7B659"/>
            </a:solidFill>
            <a:prstDash val="solid"/>
          </a:ln>
        </p:spPr>
      </p:sp>
      <p:sp>
        <p:nvSpPr>
          <p:cNvPr id="41" name="Text 39"/>
          <p:cNvSpPr/>
          <p:nvPr/>
        </p:nvSpPr>
        <p:spPr>
          <a:xfrm>
            <a:off x="1417320" y="5861304"/>
            <a:ext cx="9326880" cy="164592"/>
          </a:xfrm>
          <a:prstGeom prst="rect">
            <a:avLst/>
          </a:prstGeom>
          <a:noFill/>
          <a:ln/>
        </p:spPr>
        <p:txBody>
          <a:bodyPr wrap="square" rtlCol="0" anchor="ctr"/>
          <a:lstStyle/>
          <a:p>
            <a:pPr algn="ctr" indent="0" marL="0">
              <a:buNone/>
            </a:pPr>
            <a:r>
              <a:rPr lang="en-US" sz="1250" b="1" dirty="0">
                <a:solidFill>
                  <a:srgbClr val="17202A"/>
                </a:solidFill>
              </a:rPr>
              <a:t>Hardest case: partially observable, multiagent, nondeterministic, sequential, dynamic, continuous, unknown.</a:t>
            </a:r>
            <a:endParaRPr lang="en-US" sz="1250" dirty="0"/>
          </a:p>
        </p:txBody>
      </p:sp>
      <p:sp>
        <p:nvSpPr>
          <p:cNvPr id="42" name="Text 40"/>
          <p:cNvSpPr/>
          <p:nvPr/>
        </p:nvSpPr>
        <p:spPr>
          <a:xfrm>
            <a:off x="502920" y="6574536"/>
            <a:ext cx="5760720" cy="118872"/>
          </a:xfrm>
          <a:prstGeom prst="rect">
            <a:avLst/>
          </a:prstGeom>
          <a:noFill/>
          <a:ln/>
        </p:spPr>
        <p:txBody>
          <a:bodyPr wrap="square" lIns="0" tIns="0" rIns="0" bIns="0" rtlCol="0" anchor="ctr"/>
          <a:lstStyle/>
          <a:p>
            <a:pPr indent="0" marL="0">
              <a:buNone/>
            </a:pPr>
            <a:r>
              <a:rPr lang="en-US" sz="650" dirty="0">
                <a:solidFill>
                  <a:srgbClr val="7A869A"/>
                </a:solidFill>
                <a:latin typeface="Aptos" pitchFamily="34" charset="0"/>
                <a:ea typeface="Aptos" pitchFamily="34" charset="-122"/>
                <a:cs typeface="Aptos" pitchFamily="34" charset="-120"/>
              </a:rPr>
              <a:t>AIMA Ch. 2 + UC Berkeley CS188 Part II companion</a:t>
            </a:r>
            <a:endParaRPr lang="en-US" sz="650" dirty="0"/>
          </a:p>
        </p:txBody>
      </p:sp>
      <p:sp>
        <p:nvSpPr>
          <p:cNvPr id="25" name="Slide Number Placeholder 0"/>
          <p:cNvSpPr>
            <a:spLocks noGrp="1"/>
          </p:cNvSpPr>
          <p:nvPr>
            <p:ph type="sldNum" sz="quarter" idx="4294967295"/>
          </p:nvPr>
        </p:nvSpPr>
        <p:spPr>
          <a:xfrm>
            <a:off x="5943600" y="658368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B778C"/>
                </a:solidFill>
                <a:latin typeface="Aptos"/>
                <a:ea typeface="Aptos"/>
                <a:cs typeface="Aptos"/>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02920" y="146304"/>
            <a:ext cx="11155680" cy="329184"/>
          </a:xfrm>
          <a:prstGeom prst="rect">
            <a:avLst/>
          </a:prstGeom>
          <a:noFill/>
          <a:ln/>
        </p:spPr>
        <p:txBody>
          <a:bodyPr wrap="square" lIns="0" tIns="0" rIns="0" bIns="0" rtlCol="0" anchor="ctr"/>
          <a:lstStyle/>
          <a:p>
            <a:pPr indent="0" marL="0">
              <a:buNone/>
            </a:pPr>
            <a:r>
              <a:rPr lang="en-US" sz="2500" b="1" dirty="0">
                <a:solidFill>
                  <a:srgbClr val="FFFFFF"/>
                </a:solidFill>
                <a:latin typeface="Aptos Display" pitchFamily="34" charset="0"/>
                <a:ea typeface="Aptos Display" pitchFamily="34" charset="-122"/>
                <a:cs typeface="Aptos Display" pitchFamily="34" charset="-120"/>
              </a:rPr>
              <a:t>Pac-Man as a Chapter 2 Agent</a:t>
            </a:r>
            <a:endParaRPr lang="en-US" sz="2500" dirty="0"/>
          </a:p>
        </p:txBody>
      </p:sp>
      <p:sp>
        <p:nvSpPr>
          <p:cNvPr id="3" name="Shape 1"/>
          <p:cNvSpPr/>
          <p:nvPr/>
        </p:nvSpPr>
        <p:spPr>
          <a:xfrm>
            <a:off x="10058400" y="841248"/>
            <a:ext cx="1508760" cy="228600"/>
          </a:xfrm>
          <a:prstGeom prst="roundRect">
            <a:avLst>
              <a:gd name="adj" fmla="val 28000"/>
            </a:avLst>
          </a:prstGeom>
          <a:solidFill>
            <a:srgbClr val="EAF2FF"/>
          </a:solidFill>
          <a:ln w="12700">
            <a:solidFill>
              <a:srgbClr val="B7CAE4"/>
            </a:solidFill>
            <a:prstDash val="solid"/>
          </a:ln>
        </p:spPr>
      </p:sp>
      <p:sp>
        <p:nvSpPr>
          <p:cNvPr id="4" name="Text 2"/>
          <p:cNvSpPr/>
          <p:nvPr/>
        </p:nvSpPr>
        <p:spPr>
          <a:xfrm>
            <a:off x="10168128" y="900684"/>
            <a:ext cx="1298448" cy="91440"/>
          </a:xfrm>
          <a:prstGeom prst="rect">
            <a:avLst/>
          </a:prstGeom>
          <a:noFill/>
          <a:ln/>
        </p:spPr>
        <p:txBody>
          <a:bodyPr wrap="square" lIns="0" tIns="0" rIns="0" bIns="0" rtlCol="0" anchor="ctr"/>
          <a:lstStyle/>
          <a:p>
            <a:pPr algn="ctr" indent="0" marL="0">
              <a:buNone/>
            </a:pPr>
            <a:r>
              <a:rPr lang="en-US" sz="950" b="1" dirty="0">
                <a:solidFill>
                  <a:srgbClr val="102F63"/>
                </a:solidFill>
                <a:latin typeface="Aptos" pitchFamily="34" charset="0"/>
                <a:ea typeface="Aptos" pitchFamily="34" charset="-122"/>
                <a:cs typeface="Aptos" pitchFamily="34" charset="-120"/>
              </a:rPr>
              <a:t>Pac-Man</a:t>
            </a:r>
            <a:endParaRPr lang="en-US" sz="950" dirty="0"/>
          </a:p>
        </p:txBody>
      </p:sp>
      <p:pic>
        <p:nvPicPr>
          <p:cNvPr id="5" name="Image 0" descr="/mnt/data/image(77).png">    </p:cNvPr>
          <p:cNvPicPr>
            <a:picLocks noChangeAspect="1"/>
          </p:cNvPicPr>
          <p:nvPr/>
        </p:nvPicPr>
        <p:blipFill>
          <a:blip r:embed="rId1"/>
          <a:srcRect l="8573" r="8573" t="0" b="0"/>
          <a:stretch/>
        </p:blipFill>
        <p:spPr>
          <a:xfrm>
            <a:off x="594360" y="1234440"/>
            <a:ext cx="5577840" cy="4206240"/>
          </a:xfrm>
          <a:prstGeom prst="rect">
            <a:avLst/>
          </a:prstGeom>
        </p:spPr>
      </p:pic>
      <p:sp>
        <p:nvSpPr>
          <p:cNvPr id="6" name="Shape 3"/>
          <p:cNvSpPr/>
          <p:nvPr/>
        </p:nvSpPr>
        <p:spPr>
          <a:xfrm>
            <a:off x="6583680" y="1234440"/>
            <a:ext cx="2331720" cy="1170432"/>
          </a:xfrm>
          <a:prstGeom prst="roundRect">
            <a:avLst>
              <a:gd name="adj" fmla="val 6250"/>
            </a:avLst>
          </a:prstGeom>
          <a:solidFill>
            <a:srgbClr val="FFFFFF"/>
          </a:solidFill>
          <a:ln w="15240">
            <a:solidFill>
              <a:srgbClr val="B7C6DA"/>
            </a:solidFill>
            <a:prstDash val="solid"/>
          </a:ln>
        </p:spPr>
      </p:sp>
      <p:sp>
        <p:nvSpPr>
          <p:cNvPr id="7" name="Shape 4"/>
          <p:cNvSpPr/>
          <p:nvPr/>
        </p:nvSpPr>
        <p:spPr>
          <a:xfrm>
            <a:off x="6583680" y="1234440"/>
            <a:ext cx="2331720" cy="329184"/>
          </a:xfrm>
          <a:prstGeom prst="rect">
            <a:avLst/>
          </a:prstGeom>
          <a:solidFill>
            <a:srgbClr val="1F65B6"/>
          </a:solidFill>
          <a:ln w="12700">
            <a:solidFill>
              <a:srgbClr val="1F65B6"/>
            </a:solidFill>
            <a:prstDash val="solid"/>
          </a:ln>
        </p:spPr>
      </p:sp>
      <p:sp>
        <p:nvSpPr>
          <p:cNvPr id="8" name="Text 5"/>
          <p:cNvSpPr/>
          <p:nvPr/>
        </p:nvSpPr>
        <p:spPr>
          <a:xfrm>
            <a:off x="6693408" y="1307592"/>
            <a:ext cx="2112264" cy="164592"/>
          </a:xfrm>
          <a:prstGeom prst="rect">
            <a:avLst/>
          </a:prstGeom>
          <a:noFill/>
          <a:ln/>
        </p:spPr>
        <p:txBody>
          <a:bodyPr wrap="square" lIns="0" tIns="0" rIns="0" bIns="0" rtlCol="0" anchor="ctr"/>
          <a:lstStyle/>
          <a:p>
            <a:pPr algn="ctr" indent="0" marL="0">
              <a:buNone/>
            </a:pPr>
            <a:r>
              <a:rPr lang="en-US" sz="1200" b="1" dirty="0">
                <a:solidFill>
                  <a:srgbClr val="FFFFFF"/>
                </a:solidFill>
                <a:latin typeface="Aptos" pitchFamily="34" charset="0"/>
                <a:ea typeface="Aptos" pitchFamily="34" charset="-122"/>
                <a:cs typeface="Aptos" pitchFamily="34" charset="-120"/>
              </a:rPr>
              <a:t>Sensors / percepts</a:t>
            </a:r>
            <a:endParaRPr lang="en-US" sz="1200" dirty="0"/>
          </a:p>
        </p:txBody>
      </p:sp>
      <p:sp>
        <p:nvSpPr>
          <p:cNvPr id="9" name="Text 6"/>
          <p:cNvSpPr/>
          <p:nvPr/>
        </p:nvSpPr>
        <p:spPr>
          <a:xfrm>
            <a:off x="6748272" y="1737360"/>
            <a:ext cx="2002536" cy="548640"/>
          </a:xfrm>
          <a:prstGeom prst="rect">
            <a:avLst/>
          </a:prstGeom>
          <a:noFill/>
          <a:ln/>
        </p:spPr>
        <p:txBody>
          <a:bodyPr wrap="square" lIns="254" tIns="254" rIns="254" bIns="254" rtlCol="0" anchor="ctr">
            <a:normAutofit/>
          </a:bodyPr>
          <a:lstStyle/>
          <a:p>
            <a:pPr indent="0" marL="0">
              <a:buNone/>
            </a:pPr>
            <a:r>
              <a:rPr lang="en-US" sz="1230" dirty="0">
                <a:solidFill>
                  <a:srgbClr val="17202A"/>
                </a:solidFill>
                <a:latin typeface="Aptos" pitchFamily="34" charset="0"/>
                <a:ea typeface="Aptos" pitchFamily="34" charset="-122"/>
                <a:cs typeface="Aptos" pitchFamily="34" charset="-120"/>
              </a:rPr>
              <a:t>Walls, pellets, ghost positions, legal moves, power-pellet status.</a:t>
            </a:r>
            <a:endParaRPr lang="en-US" sz="1230" dirty="0"/>
          </a:p>
        </p:txBody>
      </p:sp>
      <p:sp>
        <p:nvSpPr>
          <p:cNvPr id="10" name="Shape 7"/>
          <p:cNvSpPr/>
          <p:nvPr/>
        </p:nvSpPr>
        <p:spPr>
          <a:xfrm>
            <a:off x="9189720" y="1234440"/>
            <a:ext cx="2331720" cy="1170432"/>
          </a:xfrm>
          <a:prstGeom prst="roundRect">
            <a:avLst>
              <a:gd name="adj" fmla="val 6250"/>
            </a:avLst>
          </a:prstGeom>
          <a:solidFill>
            <a:srgbClr val="FFFFFF"/>
          </a:solidFill>
          <a:ln w="15240">
            <a:solidFill>
              <a:srgbClr val="B7C6DA"/>
            </a:solidFill>
            <a:prstDash val="solid"/>
          </a:ln>
        </p:spPr>
      </p:sp>
      <p:sp>
        <p:nvSpPr>
          <p:cNvPr id="11" name="Shape 8"/>
          <p:cNvSpPr/>
          <p:nvPr/>
        </p:nvSpPr>
        <p:spPr>
          <a:xfrm>
            <a:off x="9189720" y="1234440"/>
            <a:ext cx="2331720" cy="329184"/>
          </a:xfrm>
          <a:prstGeom prst="rect">
            <a:avLst/>
          </a:prstGeom>
          <a:solidFill>
            <a:srgbClr val="1F7A3D"/>
          </a:solidFill>
          <a:ln w="12700">
            <a:solidFill>
              <a:srgbClr val="1F7A3D"/>
            </a:solidFill>
            <a:prstDash val="solid"/>
          </a:ln>
        </p:spPr>
      </p:sp>
      <p:sp>
        <p:nvSpPr>
          <p:cNvPr id="12" name="Text 9"/>
          <p:cNvSpPr/>
          <p:nvPr/>
        </p:nvSpPr>
        <p:spPr>
          <a:xfrm>
            <a:off x="9299448" y="1307592"/>
            <a:ext cx="2112264" cy="164592"/>
          </a:xfrm>
          <a:prstGeom prst="rect">
            <a:avLst/>
          </a:prstGeom>
          <a:noFill/>
          <a:ln/>
        </p:spPr>
        <p:txBody>
          <a:bodyPr wrap="square" lIns="0" tIns="0" rIns="0" bIns="0" rtlCol="0" anchor="ctr"/>
          <a:lstStyle/>
          <a:p>
            <a:pPr algn="ctr" indent="0" marL="0">
              <a:buNone/>
            </a:pPr>
            <a:r>
              <a:rPr lang="en-US" sz="1200" b="1" dirty="0">
                <a:solidFill>
                  <a:srgbClr val="FFFFFF"/>
                </a:solidFill>
                <a:latin typeface="Aptos" pitchFamily="34" charset="0"/>
                <a:ea typeface="Aptos" pitchFamily="34" charset="-122"/>
                <a:cs typeface="Aptos" pitchFamily="34" charset="-120"/>
              </a:rPr>
              <a:t>Actions / actuators</a:t>
            </a:r>
            <a:endParaRPr lang="en-US" sz="1200" dirty="0"/>
          </a:p>
        </p:txBody>
      </p:sp>
      <p:sp>
        <p:nvSpPr>
          <p:cNvPr id="13" name="Text 10"/>
          <p:cNvSpPr/>
          <p:nvPr/>
        </p:nvSpPr>
        <p:spPr>
          <a:xfrm>
            <a:off x="9354312" y="1737360"/>
            <a:ext cx="2002536" cy="548640"/>
          </a:xfrm>
          <a:prstGeom prst="rect">
            <a:avLst/>
          </a:prstGeom>
          <a:noFill/>
          <a:ln/>
        </p:spPr>
        <p:txBody>
          <a:bodyPr wrap="square" lIns="254" tIns="254" rIns="254" bIns="254" rtlCol="0" anchor="ctr">
            <a:normAutofit/>
          </a:bodyPr>
          <a:lstStyle/>
          <a:p>
            <a:pPr indent="0" marL="0">
              <a:buNone/>
            </a:pPr>
            <a:r>
              <a:rPr lang="en-US" sz="1230" dirty="0">
                <a:solidFill>
                  <a:srgbClr val="17202A"/>
                </a:solidFill>
                <a:latin typeface="Aptos" pitchFamily="34" charset="0"/>
                <a:ea typeface="Aptos" pitchFamily="34" charset="-122"/>
                <a:cs typeface="Aptos" pitchFamily="34" charset="-120"/>
              </a:rPr>
              <a:t>Move left, right, up, or down. Action changes the maze state.</a:t>
            </a:r>
            <a:endParaRPr lang="en-US" sz="1230" dirty="0"/>
          </a:p>
        </p:txBody>
      </p:sp>
      <p:sp>
        <p:nvSpPr>
          <p:cNvPr id="14" name="Shape 11"/>
          <p:cNvSpPr/>
          <p:nvPr/>
        </p:nvSpPr>
        <p:spPr>
          <a:xfrm>
            <a:off x="6583680" y="2880360"/>
            <a:ext cx="2331720" cy="1170432"/>
          </a:xfrm>
          <a:prstGeom prst="roundRect">
            <a:avLst>
              <a:gd name="adj" fmla="val 6250"/>
            </a:avLst>
          </a:prstGeom>
          <a:solidFill>
            <a:srgbClr val="FFFFFF"/>
          </a:solidFill>
          <a:ln w="15240">
            <a:solidFill>
              <a:srgbClr val="B7C6DA"/>
            </a:solidFill>
            <a:prstDash val="solid"/>
          </a:ln>
        </p:spPr>
      </p:sp>
      <p:sp>
        <p:nvSpPr>
          <p:cNvPr id="15" name="Shape 12"/>
          <p:cNvSpPr/>
          <p:nvPr/>
        </p:nvSpPr>
        <p:spPr>
          <a:xfrm>
            <a:off x="6583680" y="2880360"/>
            <a:ext cx="2331720" cy="329184"/>
          </a:xfrm>
          <a:prstGeom prst="rect">
            <a:avLst/>
          </a:prstGeom>
          <a:solidFill>
            <a:srgbClr val="F5A623"/>
          </a:solidFill>
          <a:ln w="12700">
            <a:solidFill>
              <a:srgbClr val="F5A623"/>
            </a:solidFill>
            <a:prstDash val="solid"/>
          </a:ln>
        </p:spPr>
      </p:sp>
      <p:sp>
        <p:nvSpPr>
          <p:cNvPr id="16" name="Text 13"/>
          <p:cNvSpPr/>
          <p:nvPr/>
        </p:nvSpPr>
        <p:spPr>
          <a:xfrm>
            <a:off x="6693408" y="2953512"/>
            <a:ext cx="2112264" cy="164592"/>
          </a:xfrm>
          <a:prstGeom prst="rect">
            <a:avLst/>
          </a:prstGeom>
          <a:noFill/>
          <a:ln/>
        </p:spPr>
        <p:txBody>
          <a:bodyPr wrap="square" lIns="0" tIns="0" rIns="0" bIns="0" rtlCol="0" anchor="ctr"/>
          <a:lstStyle/>
          <a:p>
            <a:pPr algn="ctr" indent="0" marL="0">
              <a:buNone/>
            </a:pPr>
            <a:r>
              <a:rPr lang="en-US" sz="1200" b="1" dirty="0">
                <a:solidFill>
                  <a:srgbClr val="FFFFFF"/>
                </a:solidFill>
                <a:latin typeface="Aptos" pitchFamily="34" charset="0"/>
                <a:ea typeface="Aptos" pitchFamily="34" charset="-122"/>
                <a:cs typeface="Aptos" pitchFamily="34" charset="-120"/>
              </a:rPr>
              <a:t>Performance</a:t>
            </a:r>
            <a:endParaRPr lang="en-US" sz="1200" dirty="0"/>
          </a:p>
        </p:txBody>
      </p:sp>
      <p:sp>
        <p:nvSpPr>
          <p:cNvPr id="17" name="Text 14"/>
          <p:cNvSpPr/>
          <p:nvPr/>
        </p:nvSpPr>
        <p:spPr>
          <a:xfrm>
            <a:off x="6748272" y="3383280"/>
            <a:ext cx="2002536" cy="548640"/>
          </a:xfrm>
          <a:prstGeom prst="rect">
            <a:avLst/>
          </a:prstGeom>
          <a:noFill/>
          <a:ln/>
        </p:spPr>
        <p:txBody>
          <a:bodyPr wrap="square" lIns="254" tIns="254" rIns="254" bIns="254" rtlCol="0" anchor="ctr">
            <a:normAutofit/>
          </a:bodyPr>
          <a:lstStyle/>
          <a:p>
            <a:pPr indent="0" marL="0">
              <a:buNone/>
            </a:pPr>
            <a:r>
              <a:rPr lang="en-US" sz="1230" dirty="0">
                <a:solidFill>
                  <a:srgbClr val="17202A"/>
                </a:solidFill>
                <a:latin typeface="Aptos" pitchFamily="34" charset="0"/>
                <a:ea typeface="Aptos" pitchFamily="34" charset="-122"/>
                <a:cs typeface="Aptos" pitchFamily="34" charset="-120"/>
              </a:rPr>
              <a:t>Maximize score; eat pellets; avoid ghosts; use power pellets safely.</a:t>
            </a:r>
            <a:endParaRPr lang="en-US" sz="1230" dirty="0"/>
          </a:p>
        </p:txBody>
      </p:sp>
      <p:sp>
        <p:nvSpPr>
          <p:cNvPr id="18" name="Shape 15"/>
          <p:cNvSpPr/>
          <p:nvPr/>
        </p:nvSpPr>
        <p:spPr>
          <a:xfrm>
            <a:off x="9189720" y="2880360"/>
            <a:ext cx="2331720" cy="1170432"/>
          </a:xfrm>
          <a:prstGeom prst="roundRect">
            <a:avLst>
              <a:gd name="adj" fmla="val 6250"/>
            </a:avLst>
          </a:prstGeom>
          <a:solidFill>
            <a:srgbClr val="FFFFFF"/>
          </a:solidFill>
          <a:ln w="15240">
            <a:solidFill>
              <a:srgbClr val="B7C6DA"/>
            </a:solidFill>
            <a:prstDash val="solid"/>
          </a:ln>
        </p:spPr>
      </p:sp>
      <p:sp>
        <p:nvSpPr>
          <p:cNvPr id="19" name="Shape 16"/>
          <p:cNvSpPr/>
          <p:nvPr/>
        </p:nvSpPr>
        <p:spPr>
          <a:xfrm>
            <a:off x="9189720" y="2880360"/>
            <a:ext cx="2331720" cy="329184"/>
          </a:xfrm>
          <a:prstGeom prst="rect">
            <a:avLst/>
          </a:prstGeom>
          <a:solidFill>
            <a:srgbClr val="6D28D9"/>
          </a:solidFill>
          <a:ln w="12700">
            <a:solidFill>
              <a:srgbClr val="6D28D9"/>
            </a:solidFill>
            <a:prstDash val="solid"/>
          </a:ln>
        </p:spPr>
      </p:sp>
      <p:sp>
        <p:nvSpPr>
          <p:cNvPr id="20" name="Text 17"/>
          <p:cNvSpPr/>
          <p:nvPr/>
        </p:nvSpPr>
        <p:spPr>
          <a:xfrm>
            <a:off x="9299448" y="2953512"/>
            <a:ext cx="2112264" cy="164592"/>
          </a:xfrm>
          <a:prstGeom prst="rect">
            <a:avLst/>
          </a:prstGeom>
          <a:noFill/>
          <a:ln/>
        </p:spPr>
        <p:txBody>
          <a:bodyPr wrap="square" lIns="0" tIns="0" rIns="0" bIns="0" rtlCol="0" anchor="ctr"/>
          <a:lstStyle/>
          <a:p>
            <a:pPr algn="ctr" indent="0" marL="0">
              <a:buNone/>
            </a:pPr>
            <a:r>
              <a:rPr lang="en-US" sz="1200" b="1" dirty="0">
                <a:solidFill>
                  <a:srgbClr val="FFFFFF"/>
                </a:solidFill>
                <a:latin typeface="Aptos" pitchFamily="34" charset="0"/>
                <a:ea typeface="Aptos" pitchFamily="34" charset="-122"/>
                <a:cs typeface="Aptos" pitchFamily="34" charset="-120"/>
              </a:rPr>
              <a:t>Environment</a:t>
            </a:r>
            <a:endParaRPr lang="en-US" sz="1200" dirty="0"/>
          </a:p>
        </p:txBody>
      </p:sp>
      <p:sp>
        <p:nvSpPr>
          <p:cNvPr id="21" name="Text 18"/>
          <p:cNvSpPr/>
          <p:nvPr/>
        </p:nvSpPr>
        <p:spPr>
          <a:xfrm>
            <a:off x="9354312" y="3383280"/>
            <a:ext cx="2002536" cy="548640"/>
          </a:xfrm>
          <a:prstGeom prst="rect">
            <a:avLst/>
          </a:prstGeom>
          <a:noFill/>
          <a:ln/>
        </p:spPr>
        <p:txBody>
          <a:bodyPr wrap="square" lIns="254" tIns="254" rIns="254" bIns="254" rtlCol="0" anchor="ctr">
            <a:normAutofit/>
          </a:bodyPr>
          <a:lstStyle/>
          <a:p>
            <a:pPr indent="0" marL="0">
              <a:buNone/>
            </a:pPr>
            <a:r>
              <a:rPr lang="en-US" sz="1230" dirty="0">
                <a:solidFill>
                  <a:srgbClr val="17202A"/>
                </a:solidFill>
                <a:latin typeface="Aptos" pitchFamily="34" charset="0"/>
                <a:ea typeface="Aptos" pitchFamily="34" charset="-122"/>
                <a:cs typeface="Aptos" pitchFamily="34" charset="-120"/>
              </a:rPr>
              <a:t>Sequential, dynamic, multiagent, discrete grid; partially observable in richer versions.</a:t>
            </a:r>
            <a:endParaRPr lang="en-US" sz="1230" dirty="0"/>
          </a:p>
        </p:txBody>
      </p:sp>
      <p:sp>
        <p:nvSpPr>
          <p:cNvPr id="22" name="Shape 19"/>
          <p:cNvSpPr/>
          <p:nvPr/>
        </p:nvSpPr>
        <p:spPr>
          <a:xfrm>
            <a:off x="6812280" y="4983480"/>
            <a:ext cx="4480560" cy="457200"/>
          </a:xfrm>
          <a:prstGeom prst="roundRect">
            <a:avLst>
              <a:gd name="adj" fmla="val 12000"/>
            </a:avLst>
          </a:prstGeom>
          <a:solidFill>
            <a:srgbClr val="FFEFCB"/>
          </a:solidFill>
          <a:ln w="12700">
            <a:solidFill>
              <a:srgbClr val="AFC2DC"/>
            </a:solidFill>
            <a:prstDash val="solid"/>
          </a:ln>
        </p:spPr>
      </p:sp>
      <p:sp>
        <p:nvSpPr>
          <p:cNvPr id="23" name="Text 20"/>
          <p:cNvSpPr/>
          <p:nvPr/>
        </p:nvSpPr>
        <p:spPr>
          <a:xfrm>
            <a:off x="6858000" y="5038344"/>
            <a:ext cx="4389120" cy="365760"/>
          </a:xfrm>
          <a:prstGeom prst="rect">
            <a:avLst/>
          </a:prstGeom>
          <a:noFill/>
          <a:ln/>
        </p:spPr>
        <p:txBody>
          <a:bodyPr wrap="square" lIns="0" tIns="0" rIns="0" bIns="0" rtlCol="0" anchor="ctr">
            <a:normAutofit/>
          </a:bodyPr>
          <a:lstStyle/>
          <a:p>
            <a:pPr algn="ctr" indent="0" marL="0">
              <a:buNone/>
            </a:pPr>
            <a:r>
              <a:rPr lang="en-US" sz="1250" b="1" dirty="0">
                <a:solidFill>
                  <a:srgbClr val="102F63"/>
                </a:solidFill>
                <a:latin typeface="Aptos" pitchFamily="34" charset="0"/>
                <a:ea typeface="Aptos" pitchFamily="34" charset="-122"/>
                <a:cs typeface="Aptos" pitchFamily="34" charset="-120"/>
              </a:rPr>
              <a:t>Class demo: the autonomous Pac-Man game implements this loop in code.</a:t>
            </a:r>
            <a:endParaRPr lang="en-US" sz="1250" dirty="0"/>
          </a:p>
        </p:txBody>
      </p:sp>
      <p:sp>
        <p:nvSpPr>
          <p:cNvPr id="24" name="Text 21"/>
          <p:cNvSpPr/>
          <p:nvPr/>
        </p:nvSpPr>
        <p:spPr>
          <a:xfrm>
            <a:off x="502920" y="6574536"/>
            <a:ext cx="5760720" cy="118872"/>
          </a:xfrm>
          <a:prstGeom prst="rect">
            <a:avLst/>
          </a:prstGeom>
          <a:noFill/>
          <a:ln/>
        </p:spPr>
        <p:txBody>
          <a:bodyPr wrap="square" lIns="0" tIns="0" rIns="0" bIns="0" rtlCol="0" anchor="ctr"/>
          <a:lstStyle/>
          <a:p>
            <a:pPr indent="0" marL="0">
              <a:buNone/>
            </a:pPr>
            <a:r>
              <a:rPr lang="en-US" sz="650" dirty="0">
                <a:solidFill>
                  <a:srgbClr val="7A869A"/>
                </a:solidFill>
                <a:latin typeface="Aptos" pitchFamily="34" charset="0"/>
                <a:ea typeface="Aptos" pitchFamily="34" charset="-122"/>
                <a:cs typeface="Aptos" pitchFamily="34" charset="-120"/>
              </a:rPr>
              <a:t>AIMA Ch. 2 + UC Berkeley CS188 Part II companion</a:t>
            </a:r>
            <a:endParaRPr lang="en-US" sz="650" dirty="0"/>
          </a:p>
        </p:txBody>
      </p:sp>
      <p:sp>
        <p:nvSpPr>
          <p:cNvPr id="25" name="Slide Number Placeholder 0"/>
          <p:cNvSpPr>
            <a:spLocks noGrp="1"/>
          </p:cNvSpPr>
          <p:nvPr>
            <p:ph type="sldNum" sz="quarter" idx="4294967295"/>
          </p:nvPr>
        </p:nvSpPr>
        <p:spPr>
          <a:xfrm>
            <a:off x="5943600" y="658368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B778C"/>
                </a:solidFill>
                <a:latin typeface="Aptos"/>
                <a:ea typeface="Aptos"/>
                <a:cs typeface="Aptos"/>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02920" y="146304"/>
            <a:ext cx="11155680" cy="329184"/>
          </a:xfrm>
          <a:prstGeom prst="rect">
            <a:avLst/>
          </a:prstGeom>
          <a:noFill/>
          <a:ln/>
        </p:spPr>
        <p:txBody>
          <a:bodyPr wrap="square" lIns="0" tIns="0" rIns="0" bIns="0" rtlCol="0" anchor="ctr"/>
          <a:lstStyle/>
          <a:p>
            <a:pPr indent="0" marL="0">
              <a:buNone/>
            </a:pPr>
            <a:r>
              <a:rPr lang="en-US" sz="2500" b="1" dirty="0">
                <a:solidFill>
                  <a:srgbClr val="FFFFFF"/>
                </a:solidFill>
                <a:latin typeface="Aptos Display" pitchFamily="34" charset="0"/>
                <a:ea typeface="Aptos Display" pitchFamily="34" charset="-122"/>
                <a:cs typeface="Aptos Display" pitchFamily="34" charset="-120"/>
              </a:rPr>
              <a:t>2.4 Agent Structure: Architecture + Program</a:t>
            </a:r>
            <a:endParaRPr lang="en-US" sz="2500" dirty="0"/>
          </a:p>
        </p:txBody>
      </p:sp>
      <p:sp>
        <p:nvSpPr>
          <p:cNvPr id="3" name="Shape 1"/>
          <p:cNvSpPr/>
          <p:nvPr/>
        </p:nvSpPr>
        <p:spPr>
          <a:xfrm>
            <a:off x="10058400" y="841248"/>
            <a:ext cx="1508760" cy="228600"/>
          </a:xfrm>
          <a:prstGeom prst="roundRect">
            <a:avLst>
              <a:gd name="adj" fmla="val 28000"/>
            </a:avLst>
          </a:prstGeom>
          <a:solidFill>
            <a:srgbClr val="EAF2FF"/>
          </a:solidFill>
          <a:ln w="12700">
            <a:solidFill>
              <a:srgbClr val="B7CAE4"/>
            </a:solidFill>
            <a:prstDash val="solid"/>
          </a:ln>
        </p:spPr>
      </p:sp>
      <p:sp>
        <p:nvSpPr>
          <p:cNvPr id="4" name="Text 2"/>
          <p:cNvSpPr/>
          <p:nvPr/>
        </p:nvSpPr>
        <p:spPr>
          <a:xfrm>
            <a:off x="10168128" y="900684"/>
            <a:ext cx="1298448" cy="91440"/>
          </a:xfrm>
          <a:prstGeom prst="rect">
            <a:avLst/>
          </a:prstGeom>
          <a:noFill/>
          <a:ln/>
        </p:spPr>
        <p:txBody>
          <a:bodyPr wrap="square" lIns="0" tIns="0" rIns="0" bIns="0" rtlCol="0" anchor="ctr"/>
          <a:lstStyle/>
          <a:p>
            <a:pPr algn="ctr" indent="0" marL="0">
              <a:buNone/>
            </a:pPr>
            <a:r>
              <a:rPr lang="en-US" sz="950" b="1" dirty="0">
                <a:solidFill>
                  <a:srgbClr val="102F63"/>
                </a:solidFill>
                <a:latin typeface="Aptos" pitchFamily="34" charset="0"/>
                <a:ea typeface="Aptos" pitchFamily="34" charset="-122"/>
                <a:cs typeface="Aptos" pitchFamily="34" charset="-120"/>
              </a:rPr>
              <a:t>2.4</a:t>
            </a:r>
            <a:endParaRPr lang="en-US" sz="950" dirty="0"/>
          </a:p>
        </p:txBody>
      </p:sp>
      <p:sp>
        <p:nvSpPr>
          <p:cNvPr id="5" name="Text 3"/>
          <p:cNvSpPr/>
          <p:nvPr/>
        </p:nvSpPr>
        <p:spPr>
          <a:xfrm>
            <a:off x="914400" y="1115568"/>
            <a:ext cx="10332720" cy="411480"/>
          </a:xfrm>
          <a:prstGeom prst="rect">
            <a:avLst/>
          </a:prstGeom>
          <a:noFill/>
          <a:ln/>
        </p:spPr>
        <p:txBody>
          <a:bodyPr wrap="square" rtlCol="0" anchor="ctr"/>
          <a:lstStyle/>
          <a:p>
            <a:pPr algn="ctr" indent="0" marL="0">
              <a:buNone/>
            </a:pPr>
            <a:r>
              <a:rPr lang="en-US" sz="2800" b="1" dirty="0">
                <a:solidFill>
                  <a:srgbClr val="102F63"/>
                </a:solidFill>
              </a:rPr>
              <a:t>agent = architecture + program</a:t>
            </a:r>
            <a:endParaRPr lang="en-US" sz="2800" dirty="0"/>
          </a:p>
        </p:txBody>
      </p:sp>
      <p:sp>
        <p:nvSpPr>
          <p:cNvPr id="6" name="Shape 4"/>
          <p:cNvSpPr/>
          <p:nvPr/>
        </p:nvSpPr>
        <p:spPr>
          <a:xfrm>
            <a:off x="868680" y="1965960"/>
            <a:ext cx="3108960" cy="1371600"/>
          </a:xfrm>
          <a:prstGeom prst="roundRect">
            <a:avLst>
              <a:gd name="adj" fmla="val 5333"/>
            </a:avLst>
          </a:prstGeom>
          <a:solidFill>
            <a:srgbClr val="FFFFFF"/>
          </a:solidFill>
          <a:ln w="15240">
            <a:solidFill>
              <a:srgbClr val="B7C6DA"/>
            </a:solidFill>
            <a:prstDash val="solid"/>
          </a:ln>
        </p:spPr>
      </p:sp>
      <p:sp>
        <p:nvSpPr>
          <p:cNvPr id="7" name="Shape 5"/>
          <p:cNvSpPr/>
          <p:nvPr/>
        </p:nvSpPr>
        <p:spPr>
          <a:xfrm>
            <a:off x="868680" y="1965960"/>
            <a:ext cx="3108960" cy="329184"/>
          </a:xfrm>
          <a:prstGeom prst="rect">
            <a:avLst/>
          </a:prstGeom>
          <a:solidFill>
            <a:srgbClr val="1F65B6"/>
          </a:solidFill>
          <a:ln w="12700">
            <a:solidFill>
              <a:srgbClr val="1F65B6"/>
            </a:solidFill>
            <a:prstDash val="solid"/>
          </a:ln>
        </p:spPr>
      </p:sp>
      <p:sp>
        <p:nvSpPr>
          <p:cNvPr id="8" name="Text 6"/>
          <p:cNvSpPr/>
          <p:nvPr/>
        </p:nvSpPr>
        <p:spPr>
          <a:xfrm>
            <a:off x="978408" y="2039112"/>
            <a:ext cx="2889504" cy="164592"/>
          </a:xfrm>
          <a:prstGeom prst="rect">
            <a:avLst/>
          </a:prstGeom>
          <a:noFill/>
          <a:ln/>
        </p:spPr>
        <p:txBody>
          <a:bodyPr wrap="square" lIns="0" tIns="0" rIns="0" bIns="0" rtlCol="0" anchor="ctr"/>
          <a:lstStyle/>
          <a:p>
            <a:pPr algn="ctr" indent="0" marL="0">
              <a:buNone/>
            </a:pPr>
            <a:r>
              <a:rPr lang="en-US" sz="1200" b="1" dirty="0">
                <a:solidFill>
                  <a:srgbClr val="FFFFFF"/>
                </a:solidFill>
                <a:latin typeface="Aptos" pitchFamily="34" charset="0"/>
                <a:ea typeface="Aptos" pitchFamily="34" charset="-122"/>
                <a:cs typeface="Aptos" pitchFamily="34" charset="-120"/>
              </a:rPr>
              <a:t>Architecture</a:t>
            </a:r>
            <a:endParaRPr lang="en-US" sz="1200" dirty="0"/>
          </a:p>
        </p:txBody>
      </p:sp>
      <p:sp>
        <p:nvSpPr>
          <p:cNvPr id="9" name="Text 7"/>
          <p:cNvSpPr/>
          <p:nvPr/>
        </p:nvSpPr>
        <p:spPr>
          <a:xfrm>
            <a:off x="1033272" y="2468880"/>
            <a:ext cx="2779776" cy="749808"/>
          </a:xfrm>
          <a:prstGeom prst="rect">
            <a:avLst/>
          </a:prstGeom>
          <a:noFill/>
          <a:ln/>
        </p:spPr>
        <p:txBody>
          <a:bodyPr wrap="square" lIns="254" tIns="254" rIns="254" bIns="254" rtlCol="0" anchor="ctr">
            <a:normAutofit/>
          </a:bodyPr>
          <a:lstStyle/>
          <a:p>
            <a:pPr indent="0" marL="0">
              <a:buNone/>
            </a:pPr>
            <a:r>
              <a:rPr lang="en-US" sz="1230" dirty="0">
                <a:solidFill>
                  <a:srgbClr val="17202A"/>
                </a:solidFill>
                <a:latin typeface="Aptos" pitchFamily="34" charset="0"/>
                <a:ea typeface="Aptos" pitchFamily="34" charset="-122"/>
                <a:cs typeface="Aptos" pitchFamily="34" charset="-120"/>
              </a:rPr>
              <a:t>Physical/computational platform: sensors, processors, memory, actuators.</a:t>
            </a:r>
            <a:endParaRPr lang="en-US" sz="1230" dirty="0"/>
          </a:p>
        </p:txBody>
      </p:sp>
      <p:sp>
        <p:nvSpPr>
          <p:cNvPr id="10" name="Shape 8"/>
          <p:cNvSpPr/>
          <p:nvPr/>
        </p:nvSpPr>
        <p:spPr>
          <a:xfrm>
            <a:off x="4526280" y="1965960"/>
            <a:ext cx="3108960" cy="1371600"/>
          </a:xfrm>
          <a:prstGeom prst="roundRect">
            <a:avLst>
              <a:gd name="adj" fmla="val 5333"/>
            </a:avLst>
          </a:prstGeom>
          <a:solidFill>
            <a:srgbClr val="FFFFFF"/>
          </a:solidFill>
          <a:ln w="15240">
            <a:solidFill>
              <a:srgbClr val="B7C6DA"/>
            </a:solidFill>
            <a:prstDash val="solid"/>
          </a:ln>
        </p:spPr>
      </p:sp>
      <p:sp>
        <p:nvSpPr>
          <p:cNvPr id="11" name="Shape 9"/>
          <p:cNvSpPr/>
          <p:nvPr/>
        </p:nvSpPr>
        <p:spPr>
          <a:xfrm>
            <a:off x="4526280" y="1965960"/>
            <a:ext cx="3108960" cy="329184"/>
          </a:xfrm>
          <a:prstGeom prst="rect">
            <a:avLst/>
          </a:prstGeom>
          <a:solidFill>
            <a:srgbClr val="1F7A3D"/>
          </a:solidFill>
          <a:ln w="12700">
            <a:solidFill>
              <a:srgbClr val="1F7A3D"/>
            </a:solidFill>
            <a:prstDash val="solid"/>
          </a:ln>
        </p:spPr>
      </p:sp>
      <p:sp>
        <p:nvSpPr>
          <p:cNvPr id="12" name="Text 10"/>
          <p:cNvSpPr/>
          <p:nvPr/>
        </p:nvSpPr>
        <p:spPr>
          <a:xfrm>
            <a:off x="4636008" y="2039112"/>
            <a:ext cx="2889504" cy="164592"/>
          </a:xfrm>
          <a:prstGeom prst="rect">
            <a:avLst/>
          </a:prstGeom>
          <a:noFill/>
          <a:ln/>
        </p:spPr>
        <p:txBody>
          <a:bodyPr wrap="square" lIns="0" tIns="0" rIns="0" bIns="0" rtlCol="0" anchor="ctr"/>
          <a:lstStyle/>
          <a:p>
            <a:pPr algn="ctr" indent="0" marL="0">
              <a:buNone/>
            </a:pPr>
            <a:r>
              <a:rPr lang="en-US" sz="1200" b="1" dirty="0">
                <a:solidFill>
                  <a:srgbClr val="FFFFFF"/>
                </a:solidFill>
                <a:latin typeface="Aptos" pitchFamily="34" charset="0"/>
                <a:ea typeface="Aptos" pitchFamily="34" charset="-122"/>
                <a:cs typeface="Aptos" pitchFamily="34" charset="-120"/>
              </a:rPr>
              <a:t>Agent program</a:t>
            </a:r>
            <a:endParaRPr lang="en-US" sz="1200" dirty="0"/>
          </a:p>
        </p:txBody>
      </p:sp>
      <p:sp>
        <p:nvSpPr>
          <p:cNvPr id="13" name="Text 11"/>
          <p:cNvSpPr/>
          <p:nvPr/>
        </p:nvSpPr>
        <p:spPr>
          <a:xfrm>
            <a:off x="4690872" y="2468880"/>
            <a:ext cx="2779776" cy="749808"/>
          </a:xfrm>
          <a:prstGeom prst="rect">
            <a:avLst/>
          </a:prstGeom>
          <a:noFill/>
          <a:ln/>
        </p:spPr>
        <p:txBody>
          <a:bodyPr wrap="square" lIns="254" tIns="254" rIns="254" bIns="254" rtlCol="0" anchor="ctr">
            <a:normAutofit/>
          </a:bodyPr>
          <a:lstStyle/>
          <a:p>
            <a:pPr indent="0" marL="0">
              <a:buNone/>
            </a:pPr>
            <a:r>
              <a:rPr lang="en-US" sz="1230" dirty="0">
                <a:solidFill>
                  <a:srgbClr val="17202A"/>
                </a:solidFill>
                <a:latin typeface="Aptos" pitchFamily="34" charset="0"/>
                <a:ea typeface="Aptos" pitchFamily="34" charset="-122"/>
                <a:cs typeface="Aptos" pitchFamily="34" charset="-120"/>
              </a:rPr>
              <a:t>Software that receives percepts and returns actions.</a:t>
            </a:r>
            <a:endParaRPr lang="en-US" sz="1230" dirty="0"/>
          </a:p>
        </p:txBody>
      </p:sp>
      <p:sp>
        <p:nvSpPr>
          <p:cNvPr id="14" name="Shape 12"/>
          <p:cNvSpPr/>
          <p:nvPr/>
        </p:nvSpPr>
        <p:spPr>
          <a:xfrm>
            <a:off x="8183880" y="1965960"/>
            <a:ext cx="3108960" cy="1371600"/>
          </a:xfrm>
          <a:prstGeom prst="roundRect">
            <a:avLst>
              <a:gd name="adj" fmla="val 5333"/>
            </a:avLst>
          </a:prstGeom>
          <a:solidFill>
            <a:srgbClr val="FFFFFF"/>
          </a:solidFill>
          <a:ln w="15240">
            <a:solidFill>
              <a:srgbClr val="B7C6DA"/>
            </a:solidFill>
            <a:prstDash val="solid"/>
          </a:ln>
        </p:spPr>
      </p:sp>
      <p:sp>
        <p:nvSpPr>
          <p:cNvPr id="15" name="Shape 13"/>
          <p:cNvSpPr/>
          <p:nvPr/>
        </p:nvSpPr>
        <p:spPr>
          <a:xfrm>
            <a:off x="8183880" y="1965960"/>
            <a:ext cx="3108960" cy="329184"/>
          </a:xfrm>
          <a:prstGeom prst="rect">
            <a:avLst/>
          </a:prstGeom>
          <a:solidFill>
            <a:srgbClr val="6D28D9"/>
          </a:solidFill>
          <a:ln w="12700">
            <a:solidFill>
              <a:srgbClr val="6D28D9"/>
            </a:solidFill>
            <a:prstDash val="solid"/>
          </a:ln>
        </p:spPr>
      </p:sp>
      <p:sp>
        <p:nvSpPr>
          <p:cNvPr id="16" name="Text 14"/>
          <p:cNvSpPr/>
          <p:nvPr/>
        </p:nvSpPr>
        <p:spPr>
          <a:xfrm>
            <a:off x="8293608" y="2039112"/>
            <a:ext cx="2889504" cy="164592"/>
          </a:xfrm>
          <a:prstGeom prst="rect">
            <a:avLst/>
          </a:prstGeom>
          <a:noFill/>
          <a:ln/>
        </p:spPr>
        <p:txBody>
          <a:bodyPr wrap="square" lIns="0" tIns="0" rIns="0" bIns="0" rtlCol="0" anchor="ctr"/>
          <a:lstStyle/>
          <a:p>
            <a:pPr algn="ctr" indent="0" marL="0">
              <a:buNone/>
            </a:pPr>
            <a:r>
              <a:rPr lang="en-US" sz="1200" b="1" dirty="0">
                <a:solidFill>
                  <a:srgbClr val="FFFFFF"/>
                </a:solidFill>
                <a:latin typeface="Aptos" pitchFamily="34" charset="0"/>
                <a:ea typeface="Aptos" pitchFamily="34" charset="-122"/>
                <a:cs typeface="Aptos" pitchFamily="34" charset="-120"/>
              </a:rPr>
              <a:t>Agent function</a:t>
            </a:r>
            <a:endParaRPr lang="en-US" sz="1200" dirty="0"/>
          </a:p>
        </p:txBody>
      </p:sp>
      <p:sp>
        <p:nvSpPr>
          <p:cNvPr id="17" name="Text 15"/>
          <p:cNvSpPr/>
          <p:nvPr/>
        </p:nvSpPr>
        <p:spPr>
          <a:xfrm>
            <a:off x="8348472" y="2468880"/>
            <a:ext cx="2779776" cy="749808"/>
          </a:xfrm>
          <a:prstGeom prst="rect">
            <a:avLst/>
          </a:prstGeom>
          <a:noFill/>
          <a:ln/>
        </p:spPr>
        <p:txBody>
          <a:bodyPr wrap="square" lIns="254" tIns="254" rIns="254" bIns="254" rtlCol="0" anchor="ctr">
            <a:normAutofit/>
          </a:bodyPr>
          <a:lstStyle/>
          <a:p>
            <a:pPr indent="0" marL="0">
              <a:buNone/>
            </a:pPr>
            <a:r>
              <a:rPr lang="en-US" sz="1230" dirty="0">
                <a:solidFill>
                  <a:srgbClr val="17202A"/>
                </a:solidFill>
                <a:latin typeface="Aptos" pitchFamily="34" charset="0"/>
                <a:ea typeface="Aptos" pitchFamily="34" charset="-122"/>
                <a:cs typeface="Aptos" pitchFamily="34" charset="-120"/>
              </a:rPr>
              <a:t>Behavior implemented by the program: percept sequence → action.</a:t>
            </a:r>
            <a:endParaRPr lang="en-US" sz="1230" dirty="0"/>
          </a:p>
        </p:txBody>
      </p:sp>
      <p:sp>
        <p:nvSpPr>
          <p:cNvPr id="18" name="Text 16"/>
          <p:cNvSpPr/>
          <p:nvPr/>
        </p:nvSpPr>
        <p:spPr>
          <a:xfrm>
            <a:off x="1005840" y="4069080"/>
            <a:ext cx="4114800" cy="228600"/>
          </a:xfrm>
          <a:prstGeom prst="rect">
            <a:avLst/>
          </a:prstGeom>
          <a:noFill/>
          <a:ln/>
        </p:spPr>
        <p:txBody>
          <a:bodyPr wrap="square" rtlCol="0" anchor="ctr"/>
          <a:lstStyle/>
          <a:p>
            <a:pPr indent="0" marL="0">
              <a:buNone/>
            </a:pPr>
            <a:r>
              <a:rPr lang="en-US" sz="1700" b="1" dirty="0">
                <a:solidFill>
                  <a:srgbClr val="A32020"/>
                </a:solidFill>
              </a:rPr>
              <a:t>Why not use a giant lookup table?</a:t>
            </a:r>
            <a:endParaRPr lang="en-US" sz="1700" dirty="0"/>
          </a:p>
        </p:txBody>
      </p:sp>
      <p:sp>
        <p:nvSpPr>
          <p:cNvPr id="19" name="Text 17"/>
          <p:cNvSpPr/>
          <p:nvPr/>
        </p:nvSpPr>
        <p:spPr>
          <a:xfrm>
            <a:off x="1188720" y="4434840"/>
            <a:ext cx="5029200" cy="1005840"/>
          </a:xfrm>
          <a:prstGeom prst="rect">
            <a:avLst/>
          </a:prstGeom>
          <a:noFill/>
          <a:ln/>
        </p:spPr>
        <p:txBody>
          <a:bodyPr wrap="square" lIns="635" tIns="635" rIns="635" bIns="635" rtlCol="0" anchor="ctr">
            <a:normAutofit/>
          </a:bodyPr>
          <a:lstStyle/>
          <a:p>
            <a:r>
              <a:rPr lang="en-US" sz="1450" dirty="0">
                <a:solidFill>
                  <a:srgbClr val="102F63"/>
                </a:solidFill>
                <a:latin typeface="Aptos" pitchFamily="34" charset="0"/>
                <a:ea typeface="Aptos" pitchFamily="34" charset="-122"/>
                <a:cs typeface="Aptos" pitchFamily="34" charset="-120"/>
              </a:rPr>
              <a:t>Too many percept sequences to store.</a:t>
            </a:r>
            <a:endParaRPr lang="en-US" sz="1450" dirty="0"/>
          </a:p>
          <a:p>
            <a:r>
              <a:rPr lang="en-US" sz="1450" dirty="0">
                <a:solidFill>
                  <a:srgbClr val="102F63"/>
                </a:solidFill>
                <a:latin typeface="Aptos" pitchFamily="34" charset="0"/>
                <a:ea typeface="Aptos" pitchFamily="34" charset="-122"/>
                <a:cs typeface="Aptos" pitchFamily="34" charset="-120"/>
              </a:rPr>
              <a:t>Too much work for the designer to fill in.</a:t>
            </a:r>
            <a:endParaRPr lang="en-US" sz="1450" dirty="0"/>
          </a:p>
          <a:p>
            <a:r>
              <a:rPr lang="en-US" sz="1450" dirty="0">
                <a:solidFill>
                  <a:srgbClr val="102F63"/>
                </a:solidFill>
                <a:latin typeface="Aptos" pitchFamily="34" charset="0"/>
                <a:ea typeface="Aptos" pitchFamily="34" charset="-122"/>
                <a:cs typeface="Aptos" pitchFamily="34" charset="-120"/>
              </a:rPr>
              <a:t>Too much experience for the agent to learn every entry.</a:t>
            </a:r>
            <a:endParaRPr lang="en-US" sz="1450" dirty="0"/>
          </a:p>
        </p:txBody>
      </p:sp>
      <p:sp>
        <p:nvSpPr>
          <p:cNvPr id="20" name="Shape 18"/>
          <p:cNvSpPr/>
          <p:nvPr/>
        </p:nvSpPr>
        <p:spPr>
          <a:xfrm>
            <a:off x="6217920" y="4407408"/>
            <a:ext cx="4754880" cy="777240"/>
          </a:xfrm>
          <a:prstGeom prst="roundRect">
            <a:avLst>
              <a:gd name="adj" fmla="val 7059"/>
            </a:avLst>
          </a:prstGeom>
          <a:solidFill>
            <a:srgbClr val="FFEFCB"/>
          </a:solidFill>
          <a:ln w="12700">
            <a:solidFill>
              <a:srgbClr val="AFC2DC"/>
            </a:solidFill>
            <a:prstDash val="solid"/>
          </a:ln>
        </p:spPr>
      </p:sp>
      <p:sp>
        <p:nvSpPr>
          <p:cNvPr id="21" name="Text 19"/>
          <p:cNvSpPr/>
          <p:nvPr/>
        </p:nvSpPr>
        <p:spPr>
          <a:xfrm>
            <a:off x="6263640" y="4462272"/>
            <a:ext cx="4663440" cy="685800"/>
          </a:xfrm>
          <a:prstGeom prst="rect">
            <a:avLst/>
          </a:prstGeom>
          <a:noFill/>
          <a:ln/>
        </p:spPr>
        <p:txBody>
          <a:bodyPr wrap="square" lIns="0" tIns="0" rIns="0" bIns="0" rtlCol="0" anchor="ctr">
            <a:normAutofit/>
          </a:bodyPr>
          <a:lstStyle/>
          <a:p>
            <a:pPr algn="ctr" indent="0" marL="0">
              <a:buNone/>
            </a:pPr>
            <a:r>
              <a:rPr lang="en-US" sz="1250" b="1" dirty="0">
                <a:solidFill>
                  <a:srgbClr val="102F63"/>
                </a:solidFill>
                <a:latin typeface="Aptos" pitchFamily="34" charset="0"/>
                <a:ea typeface="Aptos" pitchFamily="34" charset="-122"/>
                <a:cs typeface="Aptos" pitchFamily="34" charset="-120"/>
              </a:rPr>
              <a:t>AI problem: produce rational behavior from a compact program, not a vast table.</a:t>
            </a:r>
            <a:endParaRPr lang="en-US" sz="1250" dirty="0"/>
          </a:p>
        </p:txBody>
      </p:sp>
      <p:sp>
        <p:nvSpPr>
          <p:cNvPr id="22" name="Text 20"/>
          <p:cNvSpPr/>
          <p:nvPr/>
        </p:nvSpPr>
        <p:spPr>
          <a:xfrm>
            <a:off x="502920" y="6574536"/>
            <a:ext cx="5760720" cy="118872"/>
          </a:xfrm>
          <a:prstGeom prst="rect">
            <a:avLst/>
          </a:prstGeom>
          <a:noFill/>
          <a:ln/>
        </p:spPr>
        <p:txBody>
          <a:bodyPr wrap="square" lIns="0" tIns="0" rIns="0" bIns="0" rtlCol="0" anchor="ctr"/>
          <a:lstStyle/>
          <a:p>
            <a:pPr indent="0" marL="0">
              <a:buNone/>
            </a:pPr>
            <a:r>
              <a:rPr lang="en-US" sz="650" dirty="0">
                <a:solidFill>
                  <a:srgbClr val="7A869A"/>
                </a:solidFill>
                <a:latin typeface="Aptos" pitchFamily="34" charset="0"/>
                <a:ea typeface="Aptos" pitchFamily="34" charset="-122"/>
                <a:cs typeface="Aptos" pitchFamily="34" charset="-120"/>
              </a:rPr>
              <a:t>AIMA Ch. 2 + UC Berkeley CS188 Part II companion</a:t>
            </a:r>
            <a:endParaRPr lang="en-US" sz="650" dirty="0"/>
          </a:p>
        </p:txBody>
      </p:sp>
      <p:sp>
        <p:nvSpPr>
          <p:cNvPr id="25" name="Slide Number Placeholder 0"/>
          <p:cNvSpPr>
            <a:spLocks noGrp="1"/>
          </p:cNvSpPr>
          <p:nvPr>
            <p:ph type="sldNum" sz="quarter" idx="4294967295"/>
          </p:nvPr>
        </p:nvSpPr>
        <p:spPr>
          <a:xfrm>
            <a:off x="5943600" y="658368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B778C"/>
                </a:solidFill>
                <a:latin typeface="Aptos"/>
                <a:ea typeface="Aptos"/>
                <a:cs typeface="Aptos"/>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02920" y="146304"/>
            <a:ext cx="11155680" cy="329184"/>
          </a:xfrm>
          <a:prstGeom prst="rect">
            <a:avLst/>
          </a:prstGeom>
          <a:noFill/>
          <a:ln/>
        </p:spPr>
        <p:txBody>
          <a:bodyPr wrap="square" lIns="0" tIns="0" rIns="0" bIns="0" rtlCol="0" anchor="ctr"/>
          <a:lstStyle/>
          <a:p>
            <a:pPr indent="0" marL="0">
              <a:buNone/>
            </a:pPr>
            <a:r>
              <a:rPr lang="en-US" sz="2500" b="1" dirty="0">
                <a:solidFill>
                  <a:srgbClr val="FFFFFF"/>
                </a:solidFill>
                <a:latin typeface="Aptos Display" pitchFamily="34" charset="0"/>
                <a:ea typeface="Aptos Display" pitchFamily="34" charset="-122"/>
                <a:cs typeface="Aptos Display" pitchFamily="34" charset="-120"/>
              </a:rPr>
              <a:t>2.4.2 Simple Reflex Agents</a:t>
            </a:r>
            <a:endParaRPr lang="en-US" sz="2500" dirty="0"/>
          </a:p>
        </p:txBody>
      </p:sp>
      <p:sp>
        <p:nvSpPr>
          <p:cNvPr id="3" name="Shape 1"/>
          <p:cNvSpPr/>
          <p:nvPr/>
        </p:nvSpPr>
        <p:spPr>
          <a:xfrm>
            <a:off x="10058400" y="841248"/>
            <a:ext cx="1508760" cy="228600"/>
          </a:xfrm>
          <a:prstGeom prst="roundRect">
            <a:avLst>
              <a:gd name="adj" fmla="val 28000"/>
            </a:avLst>
          </a:prstGeom>
          <a:solidFill>
            <a:srgbClr val="EAF2FF"/>
          </a:solidFill>
          <a:ln w="12700">
            <a:solidFill>
              <a:srgbClr val="B7CAE4"/>
            </a:solidFill>
            <a:prstDash val="solid"/>
          </a:ln>
        </p:spPr>
      </p:sp>
      <p:sp>
        <p:nvSpPr>
          <p:cNvPr id="4" name="Text 2"/>
          <p:cNvSpPr/>
          <p:nvPr/>
        </p:nvSpPr>
        <p:spPr>
          <a:xfrm>
            <a:off x="10168128" y="900684"/>
            <a:ext cx="1298448" cy="91440"/>
          </a:xfrm>
          <a:prstGeom prst="rect">
            <a:avLst/>
          </a:prstGeom>
          <a:noFill/>
          <a:ln/>
        </p:spPr>
        <p:txBody>
          <a:bodyPr wrap="square" lIns="0" tIns="0" rIns="0" bIns="0" rtlCol="0" anchor="ctr"/>
          <a:lstStyle/>
          <a:p>
            <a:pPr algn="ctr" indent="0" marL="0">
              <a:buNone/>
            </a:pPr>
            <a:r>
              <a:rPr lang="en-US" sz="950" b="1" dirty="0">
                <a:solidFill>
                  <a:srgbClr val="102F63"/>
                </a:solidFill>
                <a:latin typeface="Aptos" pitchFamily="34" charset="0"/>
                <a:ea typeface="Aptos" pitchFamily="34" charset="-122"/>
                <a:cs typeface="Aptos" pitchFamily="34" charset="-120"/>
              </a:rPr>
              <a:t>2.4.2</a:t>
            </a:r>
            <a:endParaRPr lang="en-US" sz="950" dirty="0"/>
          </a:p>
        </p:txBody>
      </p:sp>
      <p:sp>
        <p:nvSpPr>
          <p:cNvPr id="5" name="Text 3"/>
          <p:cNvSpPr/>
          <p:nvPr/>
        </p:nvSpPr>
        <p:spPr>
          <a:xfrm>
            <a:off x="914400" y="1143000"/>
            <a:ext cx="10332720" cy="292608"/>
          </a:xfrm>
          <a:prstGeom prst="rect">
            <a:avLst/>
          </a:prstGeom>
          <a:noFill/>
          <a:ln/>
        </p:spPr>
        <p:txBody>
          <a:bodyPr wrap="square" rtlCol="0" anchor="ctr"/>
          <a:lstStyle/>
          <a:p>
            <a:pPr algn="ctr" indent="0" marL="0">
              <a:buNone/>
            </a:pPr>
            <a:r>
              <a:rPr lang="en-US" sz="2200" b="1" dirty="0">
                <a:solidFill>
                  <a:srgbClr val="102F63"/>
                </a:solidFill>
              </a:rPr>
              <a:t>Select an action from the current percept only.</a:t>
            </a:r>
            <a:endParaRPr lang="en-US" sz="2200" dirty="0"/>
          </a:p>
        </p:txBody>
      </p:sp>
      <p:sp>
        <p:nvSpPr>
          <p:cNvPr id="6" name="Shape 4"/>
          <p:cNvSpPr/>
          <p:nvPr/>
        </p:nvSpPr>
        <p:spPr>
          <a:xfrm>
            <a:off x="1097280" y="2011680"/>
            <a:ext cx="2011680" cy="411480"/>
          </a:xfrm>
          <a:prstGeom prst="roundRect">
            <a:avLst>
              <a:gd name="adj" fmla="val 13333"/>
            </a:avLst>
          </a:prstGeom>
          <a:solidFill>
            <a:srgbClr val="EAF2FF"/>
          </a:solidFill>
          <a:ln w="12700">
            <a:solidFill>
              <a:srgbClr val="AFC2DC"/>
            </a:solidFill>
            <a:prstDash val="solid"/>
          </a:ln>
        </p:spPr>
      </p:sp>
      <p:sp>
        <p:nvSpPr>
          <p:cNvPr id="7" name="Text 5"/>
          <p:cNvSpPr/>
          <p:nvPr/>
        </p:nvSpPr>
        <p:spPr>
          <a:xfrm>
            <a:off x="1143000" y="2066544"/>
            <a:ext cx="1920240" cy="320040"/>
          </a:xfrm>
          <a:prstGeom prst="rect">
            <a:avLst/>
          </a:prstGeom>
          <a:noFill/>
          <a:ln/>
        </p:spPr>
        <p:txBody>
          <a:bodyPr wrap="square" lIns="0" tIns="0" rIns="0" bIns="0" rtlCol="0" anchor="ctr">
            <a:normAutofit/>
          </a:bodyPr>
          <a:lstStyle/>
          <a:p>
            <a:pPr algn="ctr" indent="0" marL="0">
              <a:buNone/>
            </a:pPr>
            <a:r>
              <a:rPr lang="en-US" sz="1250" b="1" dirty="0">
                <a:solidFill>
                  <a:srgbClr val="102F63"/>
                </a:solidFill>
                <a:latin typeface="Aptos" pitchFamily="34" charset="0"/>
                <a:ea typeface="Aptos" pitchFamily="34" charset="-122"/>
                <a:cs typeface="Aptos" pitchFamily="34" charset="-120"/>
              </a:rPr>
              <a:t>Current percept</a:t>
            </a:r>
            <a:endParaRPr lang="en-US" sz="1250" dirty="0"/>
          </a:p>
        </p:txBody>
      </p:sp>
      <p:sp>
        <p:nvSpPr>
          <p:cNvPr id="8" name="Shape 6"/>
          <p:cNvSpPr/>
          <p:nvPr/>
        </p:nvSpPr>
        <p:spPr>
          <a:xfrm>
            <a:off x="3154680" y="2212848"/>
            <a:ext cx="1554480" cy="0"/>
          </a:xfrm>
          <a:prstGeom prst="line">
            <a:avLst/>
          </a:prstGeom>
          <a:noFill/>
          <a:ln w="17780">
            <a:solidFill>
              <a:srgbClr val="6B778C"/>
            </a:solidFill>
            <a:prstDash val="solid"/>
            <a:headEnd type="none"/>
            <a:tailEnd type="triangle"/>
          </a:ln>
        </p:spPr>
      </p:sp>
      <p:sp>
        <p:nvSpPr>
          <p:cNvPr id="9" name="Shape 7"/>
          <p:cNvSpPr/>
          <p:nvPr/>
        </p:nvSpPr>
        <p:spPr>
          <a:xfrm>
            <a:off x="4754880" y="2011680"/>
            <a:ext cx="2468880" cy="411480"/>
          </a:xfrm>
          <a:prstGeom prst="roundRect">
            <a:avLst>
              <a:gd name="adj" fmla="val 13333"/>
            </a:avLst>
          </a:prstGeom>
          <a:solidFill>
            <a:srgbClr val="FFEFCB"/>
          </a:solidFill>
          <a:ln w="12700">
            <a:solidFill>
              <a:srgbClr val="AFC2DC"/>
            </a:solidFill>
            <a:prstDash val="solid"/>
          </a:ln>
        </p:spPr>
      </p:sp>
      <p:sp>
        <p:nvSpPr>
          <p:cNvPr id="10" name="Text 8"/>
          <p:cNvSpPr/>
          <p:nvPr/>
        </p:nvSpPr>
        <p:spPr>
          <a:xfrm>
            <a:off x="4800600" y="2066544"/>
            <a:ext cx="2377440" cy="320040"/>
          </a:xfrm>
          <a:prstGeom prst="rect">
            <a:avLst/>
          </a:prstGeom>
          <a:noFill/>
          <a:ln/>
        </p:spPr>
        <p:txBody>
          <a:bodyPr wrap="square" lIns="0" tIns="0" rIns="0" bIns="0" rtlCol="0" anchor="ctr">
            <a:normAutofit/>
          </a:bodyPr>
          <a:lstStyle/>
          <a:p>
            <a:pPr algn="ctr" indent="0" marL="0">
              <a:buNone/>
            </a:pPr>
            <a:r>
              <a:rPr lang="en-US" sz="1250" b="1" dirty="0">
                <a:solidFill>
                  <a:srgbClr val="102F63"/>
                </a:solidFill>
                <a:latin typeface="Aptos" pitchFamily="34" charset="0"/>
                <a:ea typeface="Aptos" pitchFamily="34" charset="-122"/>
                <a:cs typeface="Aptos" pitchFamily="34" charset="-120"/>
              </a:rPr>
              <a:t>Condition-action rule</a:t>
            </a:r>
            <a:endParaRPr lang="en-US" sz="1250" dirty="0"/>
          </a:p>
        </p:txBody>
      </p:sp>
      <p:sp>
        <p:nvSpPr>
          <p:cNvPr id="11" name="Shape 9"/>
          <p:cNvSpPr/>
          <p:nvPr/>
        </p:nvSpPr>
        <p:spPr>
          <a:xfrm>
            <a:off x="7269480" y="2212848"/>
            <a:ext cx="1280160" cy="0"/>
          </a:xfrm>
          <a:prstGeom prst="line">
            <a:avLst/>
          </a:prstGeom>
          <a:noFill/>
          <a:ln w="17780">
            <a:solidFill>
              <a:srgbClr val="6B778C"/>
            </a:solidFill>
            <a:prstDash val="solid"/>
            <a:headEnd type="none"/>
            <a:tailEnd type="triangle"/>
          </a:ln>
        </p:spPr>
      </p:sp>
      <p:sp>
        <p:nvSpPr>
          <p:cNvPr id="12" name="Shape 10"/>
          <p:cNvSpPr/>
          <p:nvPr/>
        </p:nvSpPr>
        <p:spPr>
          <a:xfrm>
            <a:off x="8595360" y="2011680"/>
            <a:ext cx="1554480" cy="411480"/>
          </a:xfrm>
          <a:prstGeom prst="roundRect">
            <a:avLst>
              <a:gd name="adj" fmla="val 13333"/>
            </a:avLst>
          </a:prstGeom>
          <a:solidFill>
            <a:srgbClr val="E8F7EF"/>
          </a:solidFill>
          <a:ln w="12700">
            <a:solidFill>
              <a:srgbClr val="AFC2DC"/>
            </a:solidFill>
            <a:prstDash val="solid"/>
          </a:ln>
        </p:spPr>
      </p:sp>
      <p:sp>
        <p:nvSpPr>
          <p:cNvPr id="13" name="Text 11"/>
          <p:cNvSpPr/>
          <p:nvPr/>
        </p:nvSpPr>
        <p:spPr>
          <a:xfrm>
            <a:off x="8641080" y="2066544"/>
            <a:ext cx="1463040" cy="320040"/>
          </a:xfrm>
          <a:prstGeom prst="rect">
            <a:avLst/>
          </a:prstGeom>
          <a:noFill/>
          <a:ln/>
        </p:spPr>
        <p:txBody>
          <a:bodyPr wrap="square" lIns="0" tIns="0" rIns="0" bIns="0" rtlCol="0" anchor="ctr">
            <a:normAutofit/>
          </a:bodyPr>
          <a:lstStyle/>
          <a:p>
            <a:pPr algn="ctr" indent="0" marL="0">
              <a:buNone/>
            </a:pPr>
            <a:r>
              <a:rPr lang="en-US" sz="1250" b="1" dirty="0">
                <a:solidFill>
                  <a:srgbClr val="102F63"/>
                </a:solidFill>
                <a:latin typeface="Aptos" pitchFamily="34" charset="0"/>
                <a:ea typeface="Aptos" pitchFamily="34" charset="-122"/>
                <a:cs typeface="Aptos" pitchFamily="34" charset="-120"/>
              </a:rPr>
              <a:t>Action</a:t>
            </a:r>
            <a:endParaRPr lang="en-US" sz="1250" dirty="0"/>
          </a:p>
        </p:txBody>
      </p:sp>
      <p:sp>
        <p:nvSpPr>
          <p:cNvPr id="14" name="Shape 12"/>
          <p:cNvSpPr/>
          <p:nvPr/>
        </p:nvSpPr>
        <p:spPr>
          <a:xfrm>
            <a:off x="1143000" y="3154680"/>
            <a:ext cx="4023360" cy="1417320"/>
          </a:xfrm>
          <a:prstGeom prst="roundRect">
            <a:avLst>
              <a:gd name="adj" fmla="val 5161"/>
            </a:avLst>
          </a:prstGeom>
          <a:solidFill>
            <a:srgbClr val="FFFFFF"/>
          </a:solidFill>
          <a:ln w="15240">
            <a:solidFill>
              <a:srgbClr val="B7C6DA"/>
            </a:solidFill>
            <a:prstDash val="solid"/>
          </a:ln>
        </p:spPr>
      </p:sp>
      <p:sp>
        <p:nvSpPr>
          <p:cNvPr id="15" name="Shape 13"/>
          <p:cNvSpPr/>
          <p:nvPr/>
        </p:nvSpPr>
        <p:spPr>
          <a:xfrm>
            <a:off x="1143000" y="3154680"/>
            <a:ext cx="4023360" cy="329184"/>
          </a:xfrm>
          <a:prstGeom prst="rect">
            <a:avLst/>
          </a:prstGeom>
          <a:solidFill>
            <a:srgbClr val="1F65B6"/>
          </a:solidFill>
          <a:ln w="12700">
            <a:solidFill>
              <a:srgbClr val="1F65B6"/>
            </a:solidFill>
            <a:prstDash val="solid"/>
          </a:ln>
        </p:spPr>
      </p:sp>
      <p:sp>
        <p:nvSpPr>
          <p:cNvPr id="16" name="Text 14"/>
          <p:cNvSpPr/>
          <p:nvPr/>
        </p:nvSpPr>
        <p:spPr>
          <a:xfrm>
            <a:off x="1252728" y="3227832"/>
            <a:ext cx="3803904" cy="164592"/>
          </a:xfrm>
          <a:prstGeom prst="rect">
            <a:avLst/>
          </a:prstGeom>
          <a:noFill/>
          <a:ln/>
        </p:spPr>
        <p:txBody>
          <a:bodyPr wrap="square" lIns="0" tIns="0" rIns="0" bIns="0" rtlCol="0" anchor="ctr"/>
          <a:lstStyle/>
          <a:p>
            <a:pPr algn="ctr" indent="0" marL="0">
              <a:buNone/>
            </a:pPr>
            <a:r>
              <a:rPr lang="en-US" sz="1200" b="1" dirty="0">
                <a:solidFill>
                  <a:srgbClr val="FFFFFF"/>
                </a:solidFill>
                <a:latin typeface="Aptos" pitchFamily="34" charset="0"/>
                <a:ea typeface="Aptos" pitchFamily="34" charset="-122"/>
                <a:cs typeface="Aptos" pitchFamily="34" charset="-120"/>
              </a:rPr>
              <a:t>Vacuum rule</a:t>
            </a:r>
            <a:endParaRPr lang="en-US" sz="1200" dirty="0"/>
          </a:p>
        </p:txBody>
      </p:sp>
      <p:sp>
        <p:nvSpPr>
          <p:cNvPr id="17" name="Text 15"/>
          <p:cNvSpPr/>
          <p:nvPr/>
        </p:nvSpPr>
        <p:spPr>
          <a:xfrm>
            <a:off x="1307592" y="3657600"/>
            <a:ext cx="3694176" cy="795528"/>
          </a:xfrm>
          <a:prstGeom prst="rect">
            <a:avLst/>
          </a:prstGeom>
          <a:noFill/>
          <a:ln/>
        </p:spPr>
        <p:txBody>
          <a:bodyPr wrap="square" lIns="254" tIns="254" rIns="254" bIns="254" rtlCol="0" anchor="ctr">
            <a:normAutofit/>
          </a:bodyPr>
          <a:lstStyle/>
          <a:p>
            <a:pPr indent="0" marL="0">
              <a:buNone/>
            </a:pPr>
            <a:r>
              <a:rPr lang="en-US" sz="1230" dirty="0">
                <a:solidFill>
                  <a:srgbClr val="17202A"/>
                </a:solidFill>
                <a:latin typeface="Aptos" pitchFamily="34" charset="0"/>
                <a:ea typeface="Aptos" pitchFamily="34" charset="-122"/>
                <a:cs typeface="Aptos" pitchFamily="34" charset="-120"/>
              </a:rPr>
              <a:t>if status = Dirty then Suck</a:t>
            </a:r>
            <a:endParaRPr lang="en-US" sz="1230" dirty="0"/>
          </a:p>
          <a:p>
            <a:pPr indent="0" marL="0">
              <a:buNone/>
            </a:pPr>
            <a:r>
              <a:rPr lang="en-US" sz="1230" dirty="0">
                <a:solidFill>
                  <a:srgbClr val="17202A"/>
                </a:solidFill>
                <a:latin typeface="Aptos" pitchFamily="34" charset="0"/>
                <a:ea typeface="Aptos" pitchFamily="34" charset="-122"/>
                <a:cs typeface="Aptos" pitchFamily="34" charset="-120"/>
              </a:rPr>
              <a:t>else if location = A then Right</a:t>
            </a:r>
            <a:endParaRPr lang="en-US" sz="1230" dirty="0"/>
          </a:p>
          <a:p>
            <a:pPr indent="0" marL="0">
              <a:buNone/>
            </a:pPr>
            <a:r>
              <a:rPr lang="en-US" sz="1230" dirty="0">
                <a:solidFill>
                  <a:srgbClr val="17202A"/>
                </a:solidFill>
                <a:latin typeface="Aptos" pitchFamily="34" charset="0"/>
                <a:ea typeface="Aptos" pitchFamily="34" charset="-122"/>
                <a:cs typeface="Aptos" pitchFamily="34" charset="-120"/>
              </a:rPr>
              <a:t>else if location = B then Left</a:t>
            </a:r>
            <a:endParaRPr lang="en-US" sz="1230" dirty="0"/>
          </a:p>
        </p:txBody>
      </p:sp>
      <p:sp>
        <p:nvSpPr>
          <p:cNvPr id="18" name="Shape 16"/>
          <p:cNvSpPr/>
          <p:nvPr/>
        </p:nvSpPr>
        <p:spPr>
          <a:xfrm>
            <a:off x="6400800" y="3154680"/>
            <a:ext cx="4023360" cy="1417320"/>
          </a:xfrm>
          <a:prstGeom prst="roundRect">
            <a:avLst>
              <a:gd name="adj" fmla="val 5161"/>
            </a:avLst>
          </a:prstGeom>
          <a:solidFill>
            <a:srgbClr val="FFFFFF"/>
          </a:solidFill>
          <a:ln w="15240">
            <a:solidFill>
              <a:srgbClr val="B7C6DA"/>
            </a:solidFill>
            <a:prstDash val="solid"/>
          </a:ln>
        </p:spPr>
      </p:sp>
      <p:sp>
        <p:nvSpPr>
          <p:cNvPr id="19" name="Shape 17"/>
          <p:cNvSpPr/>
          <p:nvPr/>
        </p:nvSpPr>
        <p:spPr>
          <a:xfrm>
            <a:off x="6400800" y="3154680"/>
            <a:ext cx="4023360" cy="329184"/>
          </a:xfrm>
          <a:prstGeom prst="rect">
            <a:avLst/>
          </a:prstGeom>
          <a:solidFill>
            <a:srgbClr val="1F7A3D"/>
          </a:solidFill>
          <a:ln w="12700">
            <a:solidFill>
              <a:srgbClr val="1F7A3D"/>
            </a:solidFill>
            <a:prstDash val="solid"/>
          </a:ln>
        </p:spPr>
      </p:sp>
      <p:sp>
        <p:nvSpPr>
          <p:cNvPr id="20" name="Text 18"/>
          <p:cNvSpPr/>
          <p:nvPr/>
        </p:nvSpPr>
        <p:spPr>
          <a:xfrm>
            <a:off x="6510528" y="3227832"/>
            <a:ext cx="3803904" cy="164592"/>
          </a:xfrm>
          <a:prstGeom prst="rect">
            <a:avLst/>
          </a:prstGeom>
          <a:noFill/>
          <a:ln/>
        </p:spPr>
        <p:txBody>
          <a:bodyPr wrap="square" lIns="0" tIns="0" rIns="0" bIns="0" rtlCol="0" anchor="ctr"/>
          <a:lstStyle/>
          <a:p>
            <a:pPr algn="ctr" indent="0" marL="0">
              <a:buNone/>
            </a:pPr>
            <a:r>
              <a:rPr lang="en-US" sz="1200" b="1" dirty="0">
                <a:solidFill>
                  <a:srgbClr val="FFFFFF"/>
                </a:solidFill>
                <a:latin typeface="Aptos" pitchFamily="34" charset="0"/>
                <a:ea typeface="Aptos" pitchFamily="34" charset="-122"/>
                <a:cs typeface="Aptos" pitchFamily="34" charset="-120"/>
              </a:rPr>
              <a:t>Driving rule</a:t>
            </a:r>
            <a:endParaRPr lang="en-US" sz="1200" dirty="0"/>
          </a:p>
        </p:txBody>
      </p:sp>
      <p:sp>
        <p:nvSpPr>
          <p:cNvPr id="21" name="Text 19"/>
          <p:cNvSpPr/>
          <p:nvPr/>
        </p:nvSpPr>
        <p:spPr>
          <a:xfrm>
            <a:off x="6565392" y="3657600"/>
            <a:ext cx="3694176" cy="795528"/>
          </a:xfrm>
          <a:prstGeom prst="rect">
            <a:avLst/>
          </a:prstGeom>
          <a:noFill/>
          <a:ln/>
        </p:spPr>
        <p:txBody>
          <a:bodyPr wrap="square" lIns="254" tIns="254" rIns="254" bIns="254" rtlCol="0" anchor="ctr">
            <a:normAutofit/>
          </a:bodyPr>
          <a:lstStyle/>
          <a:p>
            <a:pPr indent="0" marL="0">
              <a:buNone/>
            </a:pPr>
            <a:r>
              <a:rPr lang="en-US" sz="1230" dirty="0">
                <a:solidFill>
                  <a:srgbClr val="17202A"/>
                </a:solidFill>
                <a:latin typeface="Aptos" pitchFamily="34" charset="0"/>
                <a:ea typeface="Aptos" pitchFamily="34" charset="-122"/>
                <a:cs typeface="Aptos" pitchFamily="34" charset="-120"/>
              </a:rPr>
              <a:t>if car-in-front-is-braking then initiate-braking</a:t>
            </a:r>
            <a:endParaRPr lang="en-US" sz="1230" dirty="0"/>
          </a:p>
        </p:txBody>
      </p:sp>
      <p:sp>
        <p:nvSpPr>
          <p:cNvPr id="22" name="Shape 20"/>
          <p:cNvSpPr/>
          <p:nvPr/>
        </p:nvSpPr>
        <p:spPr>
          <a:xfrm>
            <a:off x="1417320" y="5257800"/>
            <a:ext cx="9372600" cy="438912"/>
          </a:xfrm>
          <a:prstGeom prst="roundRect">
            <a:avLst>
              <a:gd name="adj" fmla="val 12500"/>
            </a:avLst>
          </a:prstGeom>
          <a:solidFill>
            <a:srgbClr val="FFEFCB"/>
          </a:solidFill>
          <a:ln w="12700">
            <a:solidFill>
              <a:srgbClr val="AFC2DC"/>
            </a:solidFill>
            <a:prstDash val="solid"/>
          </a:ln>
        </p:spPr>
      </p:sp>
      <p:sp>
        <p:nvSpPr>
          <p:cNvPr id="23" name="Text 21"/>
          <p:cNvSpPr/>
          <p:nvPr/>
        </p:nvSpPr>
        <p:spPr>
          <a:xfrm>
            <a:off x="1463040" y="5312664"/>
            <a:ext cx="9281160" cy="347472"/>
          </a:xfrm>
          <a:prstGeom prst="rect">
            <a:avLst/>
          </a:prstGeom>
          <a:noFill/>
          <a:ln/>
        </p:spPr>
        <p:txBody>
          <a:bodyPr wrap="square" lIns="0" tIns="0" rIns="0" bIns="0" rtlCol="0" anchor="ctr">
            <a:normAutofit/>
          </a:bodyPr>
          <a:lstStyle/>
          <a:p>
            <a:pPr algn="ctr" indent="0" marL="0">
              <a:buNone/>
            </a:pPr>
            <a:r>
              <a:rPr lang="en-US" sz="1250" b="1" dirty="0">
                <a:solidFill>
                  <a:srgbClr val="102F63"/>
                </a:solidFill>
                <a:latin typeface="Aptos" pitchFamily="34" charset="0"/>
                <a:ea typeface="Aptos" pitchFamily="34" charset="-122"/>
                <a:cs typeface="Aptos" pitchFamily="34" charset="-120"/>
              </a:rPr>
              <a:t>Strength: fast and compact. Weakness: brittle when the current percept is incomplete.</a:t>
            </a:r>
            <a:endParaRPr lang="en-US" sz="1250" dirty="0"/>
          </a:p>
        </p:txBody>
      </p:sp>
      <p:sp>
        <p:nvSpPr>
          <p:cNvPr id="24" name="Text 22"/>
          <p:cNvSpPr/>
          <p:nvPr/>
        </p:nvSpPr>
        <p:spPr>
          <a:xfrm>
            <a:off x="502920" y="6574536"/>
            <a:ext cx="5760720" cy="118872"/>
          </a:xfrm>
          <a:prstGeom prst="rect">
            <a:avLst/>
          </a:prstGeom>
          <a:noFill/>
          <a:ln/>
        </p:spPr>
        <p:txBody>
          <a:bodyPr wrap="square" lIns="0" tIns="0" rIns="0" bIns="0" rtlCol="0" anchor="ctr"/>
          <a:lstStyle/>
          <a:p>
            <a:pPr indent="0" marL="0">
              <a:buNone/>
            </a:pPr>
            <a:r>
              <a:rPr lang="en-US" sz="650" dirty="0">
                <a:solidFill>
                  <a:srgbClr val="7A869A"/>
                </a:solidFill>
                <a:latin typeface="Aptos" pitchFamily="34" charset="0"/>
                <a:ea typeface="Aptos" pitchFamily="34" charset="-122"/>
                <a:cs typeface="Aptos" pitchFamily="34" charset="-120"/>
              </a:rPr>
              <a:t>AIMA Ch. 2 + UC Berkeley CS188 Part II companion</a:t>
            </a:r>
            <a:endParaRPr lang="en-US" sz="650" dirty="0"/>
          </a:p>
        </p:txBody>
      </p:sp>
      <p:sp>
        <p:nvSpPr>
          <p:cNvPr id="25" name="Slide Number Placeholder 0"/>
          <p:cNvSpPr>
            <a:spLocks noGrp="1"/>
          </p:cNvSpPr>
          <p:nvPr>
            <p:ph type="sldNum" sz="quarter" idx="4294967295"/>
          </p:nvPr>
        </p:nvSpPr>
        <p:spPr>
          <a:xfrm>
            <a:off x="5943600" y="658368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B778C"/>
                </a:solidFill>
                <a:latin typeface="Aptos"/>
                <a:ea typeface="Aptos"/>
                <a:cs typeface="Aptos"/>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02920" y="146304"/>
            <a:ext cx="11155680" cy="329184"/>
          </a:xfrm>
          <a:prstGeom prst="rect">
            <a:avLst/>
          </a:prstGeom>
          <a:noFill/>
          <a:ln/>
        </p:spPr>
        <p:txBody>
          <a:bodyPr wrap="square" lIns="0" tIns="0" rIns="0" bIns="0" rtlCol="0" anchor="ctr"/>
          <a:lstStyle/>
          <a:p>
            <a:pPr indent="0" marL="0">
              <a:buNone/>
            </a:pPr>
            <a:r>
              <a:rPr lang="en-US" sz="2500" b="1" dirty="0">
                <a:solidFill>
                  <a:srgbClr val="FFFFFF"/>
                </a:solidFill>
                <a:latin typeface="Aptos Display" pitchFamily="34" charset="0"/>
                <a:ea typeface="Aptos Display" pitchFamily="34" charset="-122"/>
                <a:cs typeface="Aptos Display" pitchFamily="34" charset="-120"/>
              </a:rPr>
              <a:t>When Simple Reflex Fails: Partial Observability</a:t>
            </a:r>
            <a:endParaRPr lang="en-US" sz="2500" dirty="0"/>
          </a:p>
        </p:txBody>
      </p:sp>
      <p:sp>
        <p:nvSpPr>
          <p:cNvPr id="3" name="Shape 1"/>
          <p:cNvSpPr/>
          <p:nvPr/>
        </p:nvSpPr>
        <p:spPr>
          <a:xfrm>
            <a:off x="10058400" y="841248"/>
            <a:ext cx="1508760" cy="228600"/>
          </a:xfrm>
          <a:prstGeom prst="roundRect">
            <a:avLst>
              <a:gd name="adj" fmla="val 28000"/>
            </a:avLst>
          </a:prstGeom>
          <a:solidFill>
            <a:srgbClr val="EAF2FF"/>
          </a:solidFill>
          <a:ln w="12700">
            <a:solidFill>
              <a:srgbClr val="B7CAE4"/>
            </a:solidFill>
            <a:prstDash val="solid"/>
          </a:ln>
        </p:spPr>
      </p:sp>
      <p:sp>
        <p:nvSpPr>
          <p:cNvPr id="4" name="Text 2"/>
          <p:cNvSpPr/>
          <p:nvPr/>
        </p:nvSpPr>
        <p:spPr>
          <a:xfrm>
            <a:off x="10168128" y="900684"/>
            <a:ext cx="1298448" cy="91440"/>
          </a:xfrm>
          <a:prstGeom prst="rect">
            <a:avLst/>
          </a:prstGeom>
          <a:noFill/>
          <a:ln/>
        </p:spPr>
        <p:txBody>
          <a:bodyPr wrap="square" lIns="0" tIns="0" rIns="0" bIns="0" rtlCol="0" anchor="ctr"/>
          <a:lstStyle/>
          <a:p>
            <a:pPr algn="ctr" indent="0" marL="0">
              <a:buNone/>
            </a:pPr>
            <a:r>
              <a:rPr lang="en-US" sz="950" b="1" dirty="0">
                <a:solidFill>
                  <a:srgbClr val="102F63"/>
                </a:solidFill>
                <a:latin typeface="Aptos" pitchFamily="34" charset="0"/>
                <a:ea typeface="Aptos" pitchFamily="34" charset="-122"/>
                <a:cs typeface="Aptos" pitchFamily="34" charset="-120"/>
              </a:rPr>
              <a:t>2.4.2</a:t>
            </a:r>
            <a:endParaRPr lang="en-US" sz="950" dirty="0"/>
          </a:p>
        </p:txBody>
      </p:sp>
      <p:sp>
        <p:nvSpPr>
          <p:cNvPr id="5" name="Shape 3"/>
          <p:cNvSpPr/>
          <p:nvPr/>
        </p:nvSpPr>
        <p:spPr>
          <a:xfrm>
            <a:off x="822960" y="1234440"/>
            <a:ext cx="3108960" cy="1417320"/>
          </a:xfrm>
          <a:prstGeom prst="roundRect">
            <a:avLst>
              <a:gd name="adj" fmla="val 5161"/>
            </a:avLst>
          </a:prstGeom>
          <a:solidFill>
            <a:srgbClr val="FFFFFF"/>
          </a:solidFill>
          <a:ln w="15240">
            <a:solidFill>
              <a:srgbClr val="B7C6DA"/>
            </a:solidFill>
            <a:prstDash val="solid"/>
          </a:ln>
        </p:spPr>
      </p:sp>
      <p:sp>
        <p:nvSpPr>
          <p:cNvPr id="6" name="Shape 4"/>
          <p:cNvSpPr/>
          <p:nvPr/>
        </p:nvSpPr>
        <p:spPr>
          <a:xfrm>
            <a:off x="822960" y="1234440"/>
            <a:ext cx="3108960" cy="329184"/>
          </a:xfrm>
          <a:prstGeom prst="rect">
            <a:avLst/>
          </a:prstGeom>
          <a:solidFill>
            <a:srgbClr val="A32020"/>
          </a:solidFill>
          <a:ln w="12700">
            <a:solidFill>
              <a:srgbClr val="A32020"/>
            </a:solidFill>
            <a:prstDash val="solid"/>
          </a:ln>
        </p:spPr>
      </p:sp>
      <p:sp>
        <p:nvSpPr>
          <p:cNvPr id="7" name="Text 5"/>
          <p:cNvSpPr/>
          <p:nvPr/>
        </p:nvSpPr>
        <p:spPr>
          <a:xfrm>
            <a:off x="932688" y="1307592"/>
            <a:ext cx="2889504" cy="164592"/>
          </a:xfrm>
          <a:prstGeom prst="rect">
            <a:avLst/>
          </a:prstGeom>
          <a:noFill/>
          <a:ln/>
        </p:spPr>
        <p:txBody>
          <a:bodyPr wrap="square" lIns="0" tIns="0" rIns="0" bIns="0" rtlCol="0" anchor="ctr"/>
          <a:lstStyle/>
          <a:p>
            <a:pPr algn="ctr" indent="0" marL="0">
              <a:buNone/>
            </a:pPr>
            <a:r>
              <a:rPr lang="en-US" sz="1200" b="1" dirty="0">
                <a:solidFill>
                  <a:srgbClr val="FFFFFF"/>
                </a:solidFill>
                <a:latin typeface="Aptos" pitchFamily="34" charset="0"/>
                <a:ea typeface="Aptos" pitchFamily="34" charset="-122"/>
                <a:cs typeface="Aptos" pitchFamily="34" charset="-120"/>
              </a:rPr>
              <a:t>Problem</a:t>
            </a:r>
            <a:endParaRPr lang="en-US" sz="1200" dirty="0"/>
          </a:p>
        </p:txBody>
      </p:sp>
      <p:sp>
        <p:nvSpPr>
          <p:cNvPr id="8" name="Text 6"/>
          <p:cNvSpPr/>
          <p:nvPr/>
        </p:nvSpPr>
        <p:spPr>
          <a:xfrm>
            <a:off x="987552" y="1737360"/>
            <a:ext cx="2779776" cy="795528"/>
          </a:xfrm>
          <a:prstGeom prst="rect">
            <a:avLst/>
          </a:prstGeom>
          <a:noFill/>
          <a:ln/>
        </p:spPr>
        <p:txBody>
          <a:bodyPr wrap="square" lIns="254" tIns="254" rIns="254" bIns="254" rtlCol="0" anchor="ctr">
            <a:normAutofit/>
          </a:bodyPr>
          <a:lstStyle/>
          <a:p>
            <a:pPr indent="0" marL="0">
              <a:buNone/>
            </a:pPr>
            <a:r>
              <a:rPr lang="en-US" sz="1230" dirty="0">
                <a:solidFill>
                  <a:srgbClr val="17202A"/>
                </a:solidFill>
                <a:latin typeface="Aptos" pitchFamily="34" charset="0"/>
                <a:ea typeface="Aptos" pitchFamily="34" charset="-122"/>
                <a:cs typeface="Aptos" pitchFamily="34" charset="-120"/>
              </a:rPr>
              <a:t>The current percept does not contain enough information to choose correctly.</a:t>
            </a:r>
            <a:endParaRPr lang="en-US" sz="1230" dirty="0"/>
          </a:p>
        </p:txBody>
      </p:sp>
      <p:sp>
        <p:nvSpPr>
          <p:cNvPr id="9" name="Shape 7"/>
          <p:cNvSpPr/>
          <p:nvPr/>
        </p:nvSpPr>
        <p:spPr>
          <a:xfrm>
            <a:off x="4480560" y="1234440"/>
            <a:ext cx="3108960" cy="1417320"/>
          </a:xfrm>
          <a:prstGeom prst="roundRect">
            <a:avLst>
              <a:gd name="adj" fmla="val 5161"/>
            </a:avLst>
          </a:prstGeom>
          <a:solidFill>
            <a:srgbClr val="FFFFFF"/>
          </a:solidFill>
          <a:ln w="15240">
            <a:solidFill>
              <a:srgbClr val="B7C6DA"/>
            </a:solidFill>
            <a:prstDash val="solid"/>
          </a:ln>
        </p:spPr>
      </p:sp>
      <p:sp>
        <p:nvSpPr>
          <p:cNvPr id="10" name="Shape 8"/>
          <p:cNvSpPr/>
          <p:nvPr/>
        </p:nvSpPr>
        <p:spPr>
          <a:xfrm>
            <a:off x="4480560" y="1234440"/>
            <a:ext cx="3108960" cy="329184"/>
          </a:xfrm>
          <a:prstGeom prst="rect">
            <a:avLst/>
          </a:prstGeom>
          <a:solidFill>
            <a:srgbClr val="F5A623"/>
          </a:solidFill>
          <a:ln w="12700">
            <a:solidFill>
              <a:srgbClr val="F5A623"/>
            </a:solidFill>
            <a:prstDash val="solid"/>
          </a:ln>
        </p:spPr>
      </p:sp>
      <p:sp>
        <p:nvSpPr>
          <p:cNvPr id="11" name="Text 9"/>
          <p:cNvSpPr/>
          <p:nvPr/>
        </p:nvSpPr>
        <p:spPr>
          <a:xfrm>
            <a:off x="4590288" y="1307592"/>
            <a:ext cx="2889504" cy="164592"/>
          </a:xfrm>
          <a:prstGeom prst="rect">
            <a:avLst/>
          </a:prstGeom>
          <a:noFill/>
          <a:ln/>
        </p:spPr>
        <p:txBody>
          <a:bodyPr wrap="square" lIns="0" tIns="0" rIns="0" bIns="0" rtlCol="0" anchor="ctr"/>
          <a:lstStyle/>
          <a:p>
            <a:pPr algn="ctr" indent="0" marL="0">
              <a:buNone/>
            </a:pPr>
            <a:r>
              <a:rPr lang="en-US" sz="1200" b="1" dirty="0">
                <a:solidFill>
                  <a:srgbClr val="FFFFFF"/>
                </a:solidFill>
                <a:latin typeface="Aptos" pitchFamily="34" charset="0"/>
                <a:ea typeface="Aptos" pitchFamily="34" charset="-122"/>
                <a:cs typeface="Aptos" pitchFamily="34" charset="-120"/>
              </a:rPr>
              <a:t>Example</a:t>
            </a:r>
            <a:endParaRPr lang="en-US" sz="1200" dirty="0"/>
          </a:p>
        </p:txBody>
      </p:sp>
      <p:sp>
        <p:nvSpPr>
          <p:cNvPr id="12" name="Text 10"/>
          <p:cNvSpPr/>
          <p:nvPr/>
        </p:nvSpPr>
        <p:spPr>
          <a:xfrm>
            <a:off x="4645152" y="1737360"/>
            <a:ext cx="2779776" cy="795528"/>
          </a:xfrm>
          <a:prstGeom prst="rect">
            <a:avLst/>
          </a:prstGeom>
          <a:noFill/>
          <a:ln/>
        </p:spPr>
        <p:txBody>
          <a:bodyPr wrap="square" lIns="254" tIns="254" rIns="254" bIns="254" rtlCol="0" anchor="ctr">
            <a:normAutofit/>
          </a:bodyPr>
          <a:lstStyle/>
          <a:p>
            <a:pPr indent="0" marL="0">
              <a:buNone/>
            </a:pPr>
            <a:r>
              <a:rPr lang="en-US" sz="1230" dirty="0">
                <a:solidFill>
                  <a:srgbClr val="17202A"/>
                </a:solidFill>
                <a:latin typeface="Aptos" pitchFamily="34" charset="0"/>
                <a:ea typeface="Aptos" pitchFamily="34" charset="-122"/>
                <a:cs typeface="Aptos" pitchFamily="34" charset="-120"/>
              </a:rPr>
              <a:t>Vacuum sees only Clean/Dirty but not location. Moving Left or Right can loop forever.</a:t>
            </a:r>
            <a:endParaRPr lang="en-US" sz="1230" dirty="0"/>
          </a:p>
        </p:txBody>
      </p:sp>
      <p:sp>
        <p:nvSpPr>
          <p:cNvPr id="13" name="Shape 11"/>
          <p:cNvSpPr/>
          <p:nvPr/>
        </p:nvSpPr>
        <p:spPr>
          <a:xfrm>
            <a:off x="8138160" y="1234440"/>
            <a:ext cx="3108960" cy="1417320"/>
          </a:xfrm>
          <a:prstGeom prst="roundRect">
            <a:avLst>
              <a:gd name="adj" fmla="val 5161"/>
            </a:avLst>
          </a:prstGeom>
          <a:solidFill>
            <a:srgbClr val="FFFFFF"/>
          </a:solidFill>
          <a:ln w="15240">
            <a:solidFill>
              <a:srgbClr val="B7C6DA"/>
            </a:solidFill>
            <a:prstDash val="solid"/>
          </a:ln>
        </p:spPr>
      </p:sp>
      <p:sp>
        <p:nvSpPr>
          <p:cNvPr id="14" name="Shape 12"/>
          <p:cNvSpPr/>
          <p:nvPr/>
        </p:nvSpPr>
        <p:spPr>
          <a:xfrm>
            <a:off x="8138160" y="1234440"/>
            <a:ext cx="3108960" cy="329184"/>
          </a:xfrm>
          <a:prstGeom prst="rect">
            <a:avLst/>
          </a:prstGeom>
          <a:solidFill>
            <a:srgbClr val="1F65B6"/>
          </a:solidFill>
          <a:ln w="12700">
            <a:solidFill>
              <a:srgbClr val="1F65B6"/>
            </a:solidFill>
            <a:prstDash val="solid"/>
          </a:ln>
        </p:spPr>
      </p:sp>
      <p:sp>
        <p:nvSpPr>
          <p:cNvPr id="15" name="Text 13"/>
          <p:cNvSpPr/>
          <p:nvPr/>
        </p:nvSpPr>
        <p:spPr>
          <a:xfrm>
            <a:off x="8247888" y="1307592"/>
            <a:ext cx="2889504" cy="164592"/>
          </a:xfrm>
          <a:prstGeom prst="rect">
            <a:avLst/>
          </a:prstGeom>
          <a:noFill/>
          <a:ln/>
        </p:spPr>
        <p:txBody>
          <a:bodyPr wrap="square" lIns="0" tIns="0" rIns="0" bIns="0" rtlCol="0" anchor="ctr"/>
          <a:lstStyle/>
          <a:p>
            <a:pPr algn="ctr" indent="0" marL="0">
              <a:buNone/>
            </a:pPr>
            <a:r>
              <a:rPr lang="en-US" sz="1200" b="1" dirty="0">
                <a:solidFill>
                  <a:srgbClr val="FFFFFF"/>
                </a:solidFill>
                <a:latin typeface="Aptos" pitchFamily="34" charset="0"/>
                <a:ea typeface="Aptos" pitchFamily="34" charset="-122"/>
                <a:cs typeface="Aptos" pitchFamily="34" charset="-120"/>
              </a:rPr>
              <a:t>Temporary fix</a:t>
            </a:r>
            <a:endParaRPr lang="en-US" sz="1200" dirty="0"/>
          </a:p>
        </p:txBody>
      </p:sp>
      <p:sp>
        <p:nvSpPr>
          <p:cNvPr id="16" name="Text 14"/>
          <p:cNvSpPr/>
          <p:nvPr/>
        </p:nvSpPr>
        <p:spPr>
          <a:xfrm>
            <a:off x="8302752" y="1737360"/>
            <a:ext cx="2779776" cy="795528"/>
          </a:xfrm>
          <a:prstGeom prst="rect">
            <a:avLst/>
          </a:prstGeom>
          <a:noFill/>
          <a:ln/>
        </p:spPr>
        <p:txBody>
          <a:bodyPr wrap="square" lIns="254" tIns="254" rIns="254" bIns="254" rtlCol="0" anchor="ctr">
            <a:normAutofit/>
          </a:bodyPr>
          <a:lstStyle/>
          <a:p>
            <a:pPr indent="0" marL="0">
              <a:buNone/>
            </a:pPr>
            <a:r>
              <a:rPr lang="en-US" sz="1230" dirty="0">
                <a:solidFill>
                  <a:srgbClr val="17202A"/>
                </a:solidFill>
                <a:latin typeface="Aptos" pitchFamily="34" charset="0"/>
                <a:ea typeface="Aptos" pitchFamily="34" charset="-122"/>
                <a:cs typeface="Aptos" pitchFamily="34" charset="-120"/>
              </a:rPr>
              <a:t>Randomization can sometimes escape loops, but it is not general intelligence.</a:t>
            </a:r>
            <a:endParaRPr lang="en-US" sz="1230" dirty="0"/>
          </a:p>
        </p:txBody>
      </p:sp>
      <p:sp>
        <p:nvSpPr>
          <p:cNvPr id="17" name="Text 15"/>
          <p:cNvSpPr/>
          <p:nvPr/>
        </p:nvSpPr>
        <p:spPr>
          <a:xfrm>
            <a:off x="914400" y="3429000"/>
            <a:ext cx="10332720" cy="274320"/>
          </a:xfrm>
          <a:prstGeom prst="rect">
            <a:avLst/>
          </a:prstGeom>
          <a:noFill/>
          <a:ln/>
        </p:spPr>
        <p:txBody>
          <a:bodyPr wrap="square" rtlCol="0" anchor="ctr"/>
          <a:lstStyle/>
          <a:p>
            <a:pPr algn="ctr" indent="0" marL="0">
              <a:buNone/>
            </a:pPr>
            <a:r>
              <a:rPr lang="en-US" sz="2000" b="1" dirty="0">
                <a:solidFill>
                  <a:srgbClr val="102F63"/>
                </a:solidFill>
              </a:rPr>
              <a:t>Better solution: maintain internal state or use a model of the world.</a:t>
            </a:r>
            <a:endParaRPr lang="en-US" sz="2000" dirty="0"/>
          </a:p>
        </p:txBody>
      </p:sp>
      <p:sp>
        <p:nvSpPr>
          <p:cNvPr id="18" name="Shape 16"/>
          <p:cNvSpPr/>
          <p:nvPr/>
        </p:nvSpPr>
        <p:spPr>
          <a:xfrm>
            <a:off x="2743200" y="4343400"/>
            <a:ext cx="1143000" cy="411480"/>
          </a:xfrm>
          <a:prstGeom prst="roundRect">
            <a:avLst>
              <a:gd name="adj" fmla="val 13333"/>
            </a:avLst>
          </a:prstGeom>
          <a:solidFill>
            <a:srgbClr val="EAF2FF"/>
          </a:solidFill>
          <a:ln w="12700">
            <a:solidFill>
              <a:srgbClr val="AFC2DC"/>
            </a:solidFill>
            <a:prstDash val="solid"/>
          </a:ln>
        </p:spPr>
      </p:sp>
      <p:sp>
        <p:nvSpPr>
          <p:cNvPr id="19" name="Text 17"/>
          <p:cNvSpPr/>
          <p:nvPr/>
        </p:nvSpPr>
        <p:spPr>
          <a:xfrm>
            <a:off x="2788920" y="4398264"/>
            <a:ext cx="1051560" cy="320040"/>
          </a:xfrm>
          <a:prstGeom prst="rect">
            <a:avLst/>
          </a:prstGeom>
          <a:noFill/>
          <a:ln/>
        </p:spPr>
        <p:txBody>
          <a:bodyPr wrap="square" lIns="0" tIns="0" rIns="0" bIns="0" rtlCol="0" anchor="ctr">
            <a:normAutofit/>
          </a:bodyPr>
          <a:lstStyle/>
          <a:p>
            <a:pPr algn="ctr" indent="0" marL="0">
              <a:buNone/>
            </a:pPr>
            <a:r>
              <a:rPr lang="en-US" sz="1250" b="1" dirty="0">
                <a:solidFill>
                  <a:srgbClr val="102F63"/>
                </a:solidFill>
                <a:latin typeface="Aptos" pitchFamily="34" charset="0"/>
                <a:ea typeface="Aptos" pitchFamily="34" charset="-122"/>
                <a:cs typeface="Aptos" pitchFamily="34" charset="-120"/>
              </a:rPr>
              <a:t>percept</a:t>
            </a:r>
            <a:endParaRPr lang="en-US" sz="1250" dirty="0"/>
          </a:p>
        </p:txBody>
      </p:sp>
      <p:sp>
        <p:nvSpPr>
          <p:cNvPr id="20" name="Shape 18"/>
          <p:cNvSpPr/>
          <p:nvPr/>
        </p:nvSpPr>
        <p:spPr>
          <a:xfrm>
            <a:off x="3931920" y="4544568"/>
            <a:ext cx="594360" cy="0"/>
          </a:xfrm>
          <a:prstGeom prst="line">
            <a:avLst/>
          </a:prstGeom>
          <a:noFill/>
          <a:ln w="17780">
            <a:solidFill>
              <a:srgbClr val="6B778C"/>
            </a:solidFill>
            <a:prstDash val="solid"/>
            <a:headEnd type="none"/>
            <a:tailEnd type="triangle"/>
          </a:ln>
        </p:spPr>
      </p:sp>
      <p:sp>
        <p:nvSpPr>
          <p:cNvPr id="21" name="Shape 19"/>
          <p:cNvSpPr/>
          <p:nvPr/>
        </p:nvSpPr>
        <p:spPr>
          <a:xfrm>
            <a:off x="4572000" y="4343400"/>
            <a:ext cx="1143000" cy="411480"/>
          </a:xfrm>
          <a:prstGeom prst="roundRect">
            <a:avLst>
              <a:gd name="adj" fmla="val 13333"/>
            </a:avLst>
          </a:prstGeom>
          <a:solidFill>
            <a:srgbClr val="F0E8FF"/>
          </a:solidFill>
          <a:ln w="12700">
            <a:solidFill>
              <a:srgbClr val="AFC2DC"/>
            </a:solidFill>
            <a:prstDash val="solid"/>
          </a:ln>
        </p:spPr>
      </p:sp>
      <p:sp>
        <p:nvSpPr>
          <p:cNvPr id="22" name="Text 20"/>
          <p:cNvSpPr/>
          <p:nvPr/>
        </p:nvSpPr>
        <p:spPr>
          <a:xfrm>
            <a:off x="4617720" y="4398264"/>
            <a:ext cx="1051560" cy="320040"/>
          </a:xfrm>
          <a:prstGeom prst="rect">
            <a:avLst/>
          </a:prstGeom>
          <a:noFill/>
          <a:ln/>
        </p:spPr>
        <p:txBody>
          <a:bodyPr wrap="square" lIns="0" tIns="0" rIns="0" bIns="0" rtlCol="0" anchor="ctr">
            <a:normAutofit/>
          </a:bodyPr>
          <a:lstStyle/>
          <a:p>
            <a:pPr algn="ctr" indent="0" marL="0">
              <a:buNone/>
            </a:pPr>
            <a:r>
              <a:rPr lang="en-US" sz="1250" b="1" dirty="0">
                <a:solidFill>
                  <a:srgbClr val="102F63"/>
                </a:solidFill>
                <a:latin typeface="Aptos" pitchFamily="34" charset="0"/>
                <a:ea typeface="Aptos" pitchFamily="34" charset="-122"/>
                <a:cs typeface="Aptos" pitchFamily="34" charset="-120"/>
              </a:rPr>
              <a:t>memory</a:t>
            </a:r>
            <a:endParaRPr lang="en-US" sz="1250" dirty="0"/>
          </a:p>
        </p:txBody>
      </p:sp>
      <p:sp>
        <p:nvSpPr>
          <p:cNvPr id="23" name="Shape 21"/>
          <p:cNvSpPr/>
          <p:nvPr/>
        </p:nvSpPr>
        <p:spPr>
          <a:xfrm>
            <a:off x="5760720" y="4544568"/>
            <a:ext cx="594360" cy="0"/>
          </a:xfrm>
          <a:prstGeom prst="line">
            <a:avLst/>
          </a:prstGeom>
          <a:noFill/>
          <a:ln w="17780">
            <a:solidFill>
              <a:srgbClr val="6B778C"/>
            </a:solidFill>
            <a:prstDash val="solid"/>
            <a:headEnd type="none"/>
            <a:tailEnd type="triangle"/>
          </a:ln>
        </p:spPr>
      </p:sp>
      <p:sp>
        <p:nvSpPr>
          <p:cNvPr id="24" name="Shape 22"/>
          <p:cNvSpPr/>
          <p:nvPr/>
        </p:nvSpPr>
        <p:spPr>
          <a:xfrm>
            <a:off x="6400800" y="4343400"/>
            <a:ext cx="1143000" cy="411480"/>
          </a:xfrm>
          <a:prstGeom prst="roundRect">
            <a:avLst>
              <a:gd name="adj" fmla="val 13333"/>
            </a:avLst>
          </a:prstGeom>
          <a:solidFill>
            <a:srgbClr val="FFEFCB"/>
          </a:solidFill>
          <a:ln w="12700">
            <a:solidFill>
              <a:srgbClr val="AFC2DC"/>
            </a:solidFill>
            <a:prstDash val="solid"/>
          </a:ln>
        </p:spPr>
      </p:sp>
      <p:sp>
        <p:nvSpPr>
          <p:cNvPr id="25" name="Text 23"/>
          <p:cNvSpPr/>
          <p:nvPr/>
        </p:nvSpPr>
        <p:spPr>
          <a:xfrm>
            <a:off x="6446520" y="4398264"/>
            <a:ext cx="1051560" cy="320040"/>
          </a:xfrm>
          <a:prstGeom prst="rect">
            <a:avLst/>
          </a:prstGeom>
          <a:noFill/>
          <a:ln/>
        </p:spPr>
        <p:txBody>
          <a:bodyPr wrap="square" lIns="0" tIns="0" rIns="0" bIns="0" rtlCol="0" anchor="ctr">
            <a:normAutofit/>
          </a:bodyPr>
          <a:lstStyle/>
          <a:p>
            <a:pPr algn="ctr" indent="0" marL="0">
              <a:buNone/>
            </a:pPr>
            <a:r>
              <a:rPr lang="en-US" sz="1250" b="1" dirty="0">
                <a:solidFill>
                  <a:srgbClr val="102F63"/>
                </a:solidFill>
                <a:latin typeface="Aptos" pitchFamily="34" charset="0"/>
                <a:ea typeface="Aptos" pitchFamily="34" charset="-122"/>
                <a:cs typeface="Aptos" pitchFamily="34" charset="-120"/>
              </a:rPr>
              <a:t>model</a:t>
            </a:r>
            <a:endParaRPr lang="en-US" sz="1250" dirty="0"/>
          </a:p>
        </p:txBody>
      </p:sp>
      <p:sp>
        <p:nvSpPr>
          <p:cNvPr id="26" name="Shape 24"/>
          <p:cNvSpPr/>
          <p:nvPr/>
        </p:nvSpPr>
        <p:spPr>
          <a:xfrm>
            <a:off x="7589520" y="4544568"/>
            <a:ext cx="594360" cy="0"/>
          </a:xfrm>
          <a:prstGeom prst="line">
            <a:avLst/>
          </a:prstGeom>
          <a:noFill/>
          <a:ln w="17780">
            <a:solidFill>
              <a:srgbClr val="6B778C"/>
            </a:solidFill>
            <a:prstDash val="solid"/>
            <a:headEnd type="none"/>
            <a:tailEnd type="triangle"/>
          </a:ln>
        </p:spPr>
      </p:sp>
      <p:sp>
        <p:nvSpPr>
          <p:cNvPr id="27" name="Shape 25"/>
          <p:cNvSpPr/>
          <p:nvPr/>
        </p:nvSpPr>
        <p:spPr>
          <a:xfrm>
            <a:off x="8229600" y="4343400"/>
            <a:ext cx="1143000" cy="411480"/>
          </a:xfrm>
          <a:prstGeom prst="roundRect">
            <a:avLst>
              <a:gd name="adj" fmla="val 13333"/>
            </a:avLst>
          </a:prstGeom>
          <a:solidFill>
            <a:srgbClr val="E8F7EF"/>
          </a:solidFill>
          <a:ln w="12700">
            <a:solidFill>
              <a:srgbClr val="AFC2DC"/>
            </a:solidFill>
            <a:prstDash val="solid"/>
          </a:ln>
        </p:spPr>
      </p:sp>
      <p:sp>
        <p:nvSpPr>
          <p:cNvPr id="28" name="Text 26"/>
          <p:cNvSpPr/>
          <p:nvPr/>
        </p:nvSpPr>
        <p:spPr>
          <a:xfrm>
            <a:off x="8275320" y="4398264"/>
            <a:ext cx="1051560" cy="320040"/>
          </a:xfrm>
          <a:prstGeom prst="rect">
            <a:avLst/>
          </a:prstGeom>
          <a:noFill/>
          <a:ln/>
        </p:spPr>
        <p:txBody>
          <a:bodyPr wrap="square" lIns="0" tIns="0" rIns="0" bIns="0" rtlCol="0" anchor="ctr">
            <a:normAutofit/>
          </a:bodyPr>
          <a:lstStyle/>
          <a:p>
            <a:pPr algn="ctr" indent="0" marL="0">
              <a:buNone/>
            </a:pPr>
            <a:r>
              <a:rPr lang="en-US" sz="1250" b="1" dirty="0">
                <a:solidFill>
                  <a:srgbClr val="102F63"/>
                </a:solidFill>
                <a:latin typeface="Aptos" pitchFamily="34" charset="0"/>
                <a:ea typeface="Aptos" pitchFamily="34" charset="-122"/>
                <a:cs typeface="Aptos" pitchFamily="34" charset="-120"/>
              </a:rPr>
              <a:t>action</a:t>
            </a:r>
            <a:endParaRPr lang="en-US" sz="1250" dirty="0"/>
          </a:p>
        </p:txBody>
      </p:sp>
      <p:sp>
        <p:nvSpPr>
          <p:cNvPr id="29" name="Text 27"/>
          <p:cNvSpPr/>
          <p:nvPr/>
        </p:nvSpPr>
        <p:spPr>
          <a:xfrm>
            <a:off x="502920" y="6574536"/>
            <a:ext cx="5760720" cy="118872"/>
          </a:xfrm>
          <a:prstGeom prst="rect">
            <a:avLst/>
          </a:prstGeom>
          <a:noFill/>
          <a:ln/>
        </p:spPr>
        <p:txBody>
          <a:bodyPr wrap="square" lIns="0" tIns="0" rIns="0" bIns="0" rtlCol="0" anchor="ctr"/>
          <a:lstStyle/>
          <a:p>
            <a:pPr indent="0" marL="0">
              <a:buNone/>
            </a:pPr>
            <a:r>
              <a:rPr lang="en-US" sz="650" dirty="0">
                <a:solidFill>
                  <a:srgbClr val="7A869A"/>
                </a:solidFill>
                <a:latin typeface="Aptos" pitchFamily="34" charset="0"/>
                <a:ea typeface="Aptos" pitchFamily="34" charset="-122"/>
                <a:cs typeface="Aptos" pitchFamily="34" charset="-120"/>
              </a:rPr>
              <a:t>AIMA Ch. 2 + UC Berkeley CS188 Part II companion</a:t>
            </a:r>
            <a:endParaRPr lang="en-US" sz="650" dirty="0"/>
          </a:p>
        </p:txBody>
      </p:sp>
      <p:sp>
        <p:nvSpPr>
          <p:cNvPr id="25" name="Slide Number Placeholder 0"/>
          <p:cNvSpPr>
            <a:spLocks noGrp="1"/>
          </p:cNvSpPr>
          <p:nvPr>
            <p:ph type="sldNum" sz="quarter" idx="4294967295"/>
          </p:nvPr>
        </p:nvSpPr>
        <p:spPr>
          <a:xfrm>
            <a:off x="5943600" y="658368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B778C"/>
                </a:solidFill>
                <a:latin typeface="Aptos"/>
                <a:ea typeface="Aptos"/>
                <a:cs typeface="Aptos"/>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02920" y="146304"/>
            <a:ext cx="11155680" cy="329184"/>
          </a:xfrm>
          <a:prstGeom prst="rect">
            <a:avLst/>
          </a:prstGeom>
          <a:noFill/>
          <a:ln/>
        </p:spPr>
        <p:txBody>
          <a:bodyPr wrap="square" lIns="0" tIns="0" rIns="0" bIns="0" rtlCol="0" anchor="ctr"/>
          <a:lstStyle/>
          <a:p>
            <a:pPr indent="0" marL="0">
              <a:buNone/>
            </a:pPr>
            <a:r>
              <a:rPr lang="en-US" sz="2500" b="1" dirty="0">
                <a:solidFill>
                  <a:srgbClr val="FFFFFF"/>
                </a:solidFill>
                <a:latin typeface="Aptos Display" pitchFamily="34" charset="0"/>
                <a:ea typeface="Aptos Display" pitchFamily="34" charset="-122"/>
                <a:cs typeface="Aptos Display" pitchFamily="34" charset="-120"/>
              </a:rPr>
              <a:t>2.4.3 Model-Based Reflex Agents</a:t>
            </a:r>
            <a:endParaRPr lang="en-US" sz="2500" dirty="0"/>
          </a:p>
        </p:txBody>
      </p:sp>
      <p:sp>
        <p:nvSpPr>
          <p:cNvPr id="3" name="Shape 1"/>
          <p:cNvSpPr/>
          <p:nvPr/>
        </p:nvSpPr>
        <p:spPr>
          <a:xfrm>
            <a:off x="10058400" y="841248"/>
            <a:ext cx="1508760" cy="228600"/>
          </a:xfrm>
          <a:prstGeom prst="roundRect">
            <a:avLst>
              <a:gd name="adj" fmla="val 28000"/>
            </a:avLst>
          </a:prstGeom>
          <a:solidFill>
            <a:srgbClr val="EAF2FF"/>
          </a:solidFill>
          <a:ln w="12700">
            <a:solidFill>
              <a:srgbClr val="B7CAE4"/>
            </a:solidFill>
            <a:prstDash val="solid"/>
          </a:ln>
        </p:spPr>
      </p:sp>
      <p:sp>
        <p:nvSpPr>
          <p:cNvPr id="4" name="Text 2"/>
          <p:cNvSpPr/>
          <p:nvPr/>
        </p:nvSpPr>
        <p:spPr>
          <a:xfrm>
            <a:off x="10168128" y="900684"/>
            <a:ext cx="1298448" cy="91440"/>
          </a:xfrm>
          <a:prstGeom prst="rect">
            <a:avLst/>
          </a:prstGeom>
          <a:noFill/>
          <a:ln/>
        </p:spPr>
        <p:txBody>
          <a:bodyPr wrap="square" lIns="0" tIns="0" rIns="0" bIns="0" rtlCol="0" anchor="ctr"/>
          <a:lstStyle/>
          <a:p>
            <a:pPr algn="ctr" indent="0" marL="0">
              <a:buNone/>
            </a:pPr>
            <a:r>
              <a:rPr lang="en-US" sz="950" b="1" dirty="0">
                <a:solidFill>
                  <a:srgbClr val="102F63"/>
                </a:solidFill>
                <a:latin typeface="Aptos" pitchFamily="34" charset="0"/>
                <a:ea typeface="Aptos" pitchFamily="34" charset="-122"/>
                <a:cs typeface="Aptos" pitchFamily="34" charset="-120"/>
              </a:rPr>
              <a:t>2.4.3</a:t>
            </a:r>
            <a:endParaRPr lang="en-US" sz="950" dirty="0"/>
          </a:p>
        </p:txBody>
      </p:sp>
      <p:sp>
        <p:nvSpPr>
          <p:cNvPr id="5" name="Text 3"/>
          <p:cNvSpPr/>
          <p:nvPr/>
        </p:nvSpPr>
        <p:spPr>
          <a:xfrm>
            <a:off x="914400" y="1115568"/>
            <a:ext cx="10241280" cy="329184"/>
          </a:xfrm>
          <a:prstGeom prst="rect">
            <a:avLst/>
          </a:prstGeom>
          <a:noFill/>
          <a:ln/>
        </p:spPr>
        <p:txBody>
          <a:bodyPr wrap="square" rtlCol="0" anchor="ctr"/>
          <a:lstStyle/>
          <a:p>
            <a:pPr algn="ctr" indent="0" marL="0">
              <a:buNone/>
            </a:pPr>
            <a:r>
              <a:rPr lang="en-US" sz="2100" b="1" dirty="0">
                <a:solidFill>
                  <a:srgbClr val="102F63"/>
                </a:solidFill>
              </a:rPr>
              <a:t>Maintain an internal state: a best guess about what the world is like now.</a:t>
            </a:r>
            <a:endParaRPr lang="en-US" sz="2100" dirty="0"/>
          </a:p>
        </p:txBody>
      </p:sp>
      <p:sp>
        <p:nvSpPr>
          <p:cNvPr id="6" name="Shape 4"/>
          <p:cNvSpPr/>
          <p:nvPr/>
        </p:nvSpPr>
        <p:spPr>
          <a:xfrm>
            <a:off x="868680" y="1965960"/>
            <a:ext cx="1234440" cy="438912"/>
          </a:xfrm>
          <a:prstGeom prst="roundRect">
            <a:avLst>
              <a:gd name="adj" fmla="val 12500"/>
            </a:avLst>
          </a:prstGeom>
          <a:solidFill>
            <a:srgbClr val="EAF2FF"/>
          </a:solidFill>
          <a:ln w="12700">
            <a:solidFill>
              <a:srgbClr val="AFC2DC"/>
            </a:solidFill>
            <a:prstDash val="solid"/>
          </a:ln>
        </p:spPr>
      </p:sp>
      <p:sp>
        <p:nvSpPr>
          <p:cNvPr id="7" name="Text 5"/>
          <p:cNvSpPr/>
          <p:nvPr/>
        </p:nvSpPr>
        <p:spPr>
          <a:xfrm>
            <a:off x="914400" y="2020824"/>
            <a:ext cx="1143000" cy="347472"/>
          </a:xfrm>
          <a:prstGeom prst="rect">
            <a:avLst/>
          </a:prstGeom>
          <a:noFill/>
          <a:ln/>
        </p:spPr>
        <p:txBody>
          <a:bodyPr wrap="square" lIns="0" tIns="0" rIns="0" bIns="0" rtlCol="0" anchor="ctr">
            <a:normAutofit/>
          </a:bodyPr>
          <a:lstStyle/>
          <a:p>
            <a:pPr algn="ctr" indent="0" marL="0">
              <a:buNone/>
            </a:pPr>
            <a:r>
              <a:rPr lang="en-US" sz="1250" b="1" dirty="0">
                <a:solidFill>
                  <a:srgbClr val="102F63"/>
                </a:solidFill>
                <a:latin typeface="Aptos" pitchFamily="34" charset="0"/>
                <a:ea typeface="Aptos" pitchFamily="34" charset="-122"/>
                <a:cs typeface="Aptos" pitchFamily="34" charset="-120"/>
              </a:rPr>
              <a:t>Percept</a:t>
            </a:r>
            <a:endParaRPr lang="en-US" sz="1250" dirty="0"/>
          </a:p>
        </p:txBody>
      </p:sp>
      <p:sp>
        <p:nvSpPr>
          <p:cNvPr id="8" name="Shape 6"/>
          <p:cNvSpPr/>
          <p:nvPr/>
        </p:nvSpPr>
        <p:spPr>
          <a:xfrm>
            <a:off x="2148840" y="2185416"/>
            <a:ext cx="1005840" cy="0"/>
          </a:xfrm>
          <a:prstGeom prst="line">
            <a:avLst/>
          </a:prstGeom>
          <a:noFill/>
          <a:ln w="17780">
            <a:solidFill>
              <a:srgbClr val="6B778C"/>
            </a:solidFill>
            <a:prstDash val="solid"/>
            <a:headEnd type="none"/>
            <a:tailEnd type="triangle"/>
          </a:ln>
        </p:spPr>
      </p:sp>
      <p:sp>
        <p:nvSpPr>
          <p:cNvPr id="9" name="Shape 7"/>
          <p:cNvSpPr/>
          <p:nvPr/>
        </p:nvSpPr>
        <p:spPr>
          <a:xfrm>
            <a:off x="3200400" y="1965960"/>
            <a:ext cx="1920240" cy="438912"/>
          </a:xfrm>
          <a:prstGeom prst="roundRect">
            <a:avLst>
              <a:gd name="adj" fmla="val 12500"/>
            </a:avLst>
          </a:prstGeom>
          <a:solidFill>
            <a:srgbClr val="FFEFCB"/>
          </a:solidFill>
          <a:ln w="12700">
            <a:solidFill>
              <a:srgbClr val="AFC2DC"/>
            </a:solidFill>
            <a:prstDash val="solid"/>
          </a:ln>
        </p:spPr>
      </p:sp>
      <p:sp>
        <p:nvSpPr>
          <p:cNvPr id="10" name="Text 8"/>
          <p:cNvSpPr/>
          <p:nvPr/>
        </p:nvSpPr>
        <p:spPr>
          <a:xfrm>
            <a:off x="3246120" y="2020824"/>
            <a:ext cx="1828800" cy="347472"/>
          </a:xfrm>
          <a:prstGeom prst="rect">
            <a:avLst/>
          </a:prstGeom>
          <a:noFill/>
          <a:ln/>
        </p:spPr>
        <p:txBody>
          <a:bodyPr wrap="square" lIns="0" tIns="0" rIns="0" bIns="0" rtlCol="0" anchor="ctr">
            <a:normAutofit/>
          </a:bodyPr>
          <a:lstStyle/>
          <a:p>
            <a:pPr algn="ctr" indent="0" marL="0">
              <a:buNone/>
            </a:pPr>
            <a:r>
              <a:rPr lang="en-US" sz="1250" b="1" dirty="0">
                <a:solidFill>
                  <a:srgbClr val="102F63"/>
                </a:solidFill>
                <a:latin typeface="Aptos" pitchFamily="34" charset="0"/>
                <a:ea typeface="Aptos" pitchFamily="34" charset="-122"/>
                <a:cs typeface="Aptos" pitchFamily="34" charset="-120"/>
              </a:rPr>
              <a:t>Update state</a:t>
            </a:r>
            <a:endParaRPr lang="en-US" sz="1250" dirty="0"/>
          </a:p>
        </p:txBody>
      </p:sp>
      <p:sp>
        <p:nvSpPr>
          <p:cNvPr id="11" name="Shape 9"/>
          <p:cNvSpPr/>
          <p:nvPr/>
        </p:nvSpPr>
        <p:spPr>
          <a:xfrm>
            <a:off x="5166360" y="2185416"/>
            <a:ext cx="1234440" cy="0"/>
          </a:xfrm>
          <a:prstGeom prst="line">
            <a:avLst/>
          </a:prstGeom>
          <a:noFill/>
          <a:ln w="17780">
            <a:solidFill>
              <a:srgbClr val="6B778C"/>
            </a:solidFill>
            <a:prstDash val="solid"/>
            <a:headEnd type="none"/>
            <a:tailEnd type="triangle"/>
          </a:ln>
        </p:spPr>
      </p:sp>
      <p:sp>
        <p:nvSpPr>
          <p:cNvPr id="12" name="Shape 10"/>
          <p:cNvSpPr/>
          <p:nvPr/>
        </p:nvSpPr>
        <p:spPr>
          <a:xfrm>
            <a:off x="6446520" y="1965960"/>
            <a:ext cx="1828800" cy="438912"/>
          </a:xfrm>
          <a:prstGeom prst="roundRect">
            <a:avLst>
              <a:gd name="adj" fmla="val 12500"/>
            </a:avLst>
          </a:prstGeom>
          <a:solidFill>
            <a:srgbClr val="E8F7EF"/>
          </a:solidFill>
          <a:ln w="12700">
            <a:solidFill>
              <a:srgbClr val="AFC2DC"/>
            </a:solidFill>
            <a:prstDash val="solid"/>
          </a:ln>
        </p:spPr>
      </p:sp>
      <p:sp>
        <p:nvSpPr>
          <p:cNvPr id="13" name="Text 11"/>
          <p:cNvSpPr/>
          <p:nvPr/>
        </p:nvSpPr>
        <p:spPr>
          <a:xfrm>
            <a:off x="6492240" y="2020824"/>
            <a:ext cx="1737360" cy="347472"/>
          </a:xfrm>
          <a:prstGeom prst="rect">
            <a:avLst/>
          </a:prstGeom>
          <a:noFill/>
          <a:ln/>
        </p:spPr>
        <p:txBody>
          <a:bodyPr wrap="square" lIns="0" tIns="0" rIns="0" bIns="0" rtlCol="0" anchor="ctr">
            <a:normAutofit/>
          </a:bodyPr>
          <a:lstStyle/>
          <a:p>
            <a:pPr algn="ctr" indent="0" marL="0">
              <a:buNone/>
            </a:pPr>
            <a:r>
              <a:rPr lang="en-US" sz="1250" b="1" dirty="0">
                <a:solidFill>
                  <a:srgbClr val="102F63"/>
                </a:solidFill>
                <a:latin typeface="Aptos" pitchFamily="34" charset="0"/>
                <a:ea typeface="Aptos" pitchFamily="34" charset="-122"/>
                <a:cs typeface="Aptos" pitchFamily="34" charset="-120"/>
              </a:rPr>
              <a:t>Rule/action</a:t>
            </a:r>
            <a:endParaRPr lang="en-US" sz="1250" dirty="0"/>
          </a:p>
        </p:txBody>
      </p:sp>
      <p:sp>
        <p:nvSpPr>
          <p:cNvPr id="14" name="Shape 12"/>
          <p:cNvSpPr/>
          <p:nvPr/>
        </p:nvSpPr>
        <p:spPr>
          <a:xfrm>
            <a:off x="8321040" y="2185416"/>
            <a:ext cx="1097280" cy="0"/>
          </a:xfrm>
          <a:prstGeom prst="line">
            <a:avLst/>
          </a:prstGeom>
          <a:noFill/>
          <a:ln w="17780">
            <a:solidFill>
              <a:srgbClr val="6B778C"/>
            </a:solidFill>
            <a:prstDash val="solid"/>
            <a:headEnd type="none"/>
            <a:tailEnd type="triangle"/>
          </a:ln>
        </p:spPr>
      </p:sp>
      <p:sp>
        <p:nvSpPr>
          <p:cNvPr id="15" name="Shape 13"/>
          <p:cNvSpPr/>
          <p:nvPr/>
        </p:nvSpPr>
        <p:spPr>
          <a:xfrm>
            <a:off x="9464040" y="1965960"/>
            <a:ext cx="914400" cy="438912"/>
          </a:xfrm>
          <a:prstGeom prst="roundRect">
            <a:avLst>
              <a:gd name="adj" fmla="val 12500"/>
            </a:avLst>
          </a:prstGeom>
          <a:solidFill>
            <a:srgbClr val="F0E8FF"/>
          </a:solidFill>
          <a:ln w="12700">
            <a:solidFill>
              <a:srgbClr val="AFC2DC"/>
            </a:solidFill>
            <a:prstDash val="solid"/>
          </a:ln>
        </p:spPr>
      </p:sp>
      <p:sp>
        <p:nvSpPr>
          <p:cNvPr id="16" name="Text 14"/>
          <p:cNvSpPr/>
          <p:nvPr/>
        </p:nvSpPr>
        <p:spPr>
          <a:xfrm>
            <a:off x="9509760" y="2020824"/>
            <a:ext cx="822960" cy="347472"/>
          </a:xfrm>
          <a:prstGeom prst="rect">
            <a:avLst/>
          </a:prstGeom>
          <a:noFill/>
          <a:ln/>
        </p:spPr>
        <p:txBody>
          <a:bodyPr wrap="square" lIns="0" tIns="0" rIns="0" bIns="0" rtlCol="0" anchor="ctr">
            <a:normAutofit/>
          </a:bodyPr>
          <a:lstStyle/>
          <a:p>
            <a:pPr algn="ctr" indent="0" marL="0">
              <a:buNone/>
            </a:pPr>
            <a:r>
              <a:rPr lang="en-US" sz="1250" b="1" dirty="0">
                <a:solidFill>
                  <a:srgbClr val="102F63"/>
                </a:solidFill>
                <a:latin typeface="Aptos" pitchFamily="34" charset="0"/>
                <a:ea typeface="Aptos" pitchFamily="34" charset="-122"/>
                <a:cs typeface="Aptos" pitchFamily="34" charset="-120"/>
              </a:rPr>
              <a:t>Act</a:t>
            </a:r>
            <a:endParaRPr lang="en-US" sz="1250" dirty="0"/>
          </a:p>
        </p:txBody>
      </p:sp>
      <p:sp>
        <p:nvSpPr>
          <p:cNvPr id="17" name="Shape 15"/>
          <p:cNvSpPr/>
          <p:nvPr/>
        </p:nvSpPr>
        <p:spPr>
          <a:xfrm>
            <a:off x="1417320" y="3246120"/>
            <a:ext cx="4297680" cy="1280160"/>
          </a:xfrm>
          <a:prstGeom prst="roundRect">
            <a:avLst>
              <a:gd name="adj" fmla="val 5714"/>
            </a:avLst>
          </a:prstGeom>
          <a:solidFill>
            <a:srgbClr val="FFFFFF"/>
          </a:solidFill>
          <a:ln w="15240">
            <a:solidFill>
              <a:srgbClr val="B7C6DA"/>
            </a:solidFill>
            <a:prstDash val="solid"/>
          </a:ln>
        </p:spPr>
      </p:sp>
      <p:sp>
        <p:nvSpPr>
          <p:cNvPr id="18" name="Shape 16"/>
          <p:cNvSpPr/>
          <p:nvPr/>
        </p:nvSpPr>
        <p:spPr>
          <a:xfrm>
            <a:off x="1417320" y="3246120"/>
            <a:ext cx="4297680" cy="329184"/>
          </a:xfrm>
          <a:prstGeom prst="rect">
            <a:avLst/>
          </a:prstGeom>
          <a:solidFill>
            <a:srgbClr val="1F7A3D"/>
          </a:solidFill>
          <a:ln w="12700">
            <a:solidFill>
              <a:srgbClr val="1F7A3D"/>
            </a:solidFill>
            <a:prstDash val="solid"/>
          </a:ln>
        </p:spPr>
      </p:sp>
      <p:sp>
        <p:nvSpPr>
          <p:cNvPr id="19" name="Text 17"/>
          <p:cNvSpPr/>
          <p:nvPr/>
        </p:nvSpPr>
        <p:spPr>
          <a:xfrm>
            <a:off x="1527048" y="3319272"/>
            <a:ext cx="4078224" cy="164592"/>
          </a:xfrm>
          <a:prstGeom prst="rect">
            <a:avLst/>
          </a:prstGeom>
          <a:noFill/>
          <a:ln/>
        </p:spPr>
        <p:txBody>
          <a:bodyPr wrap="square" lIns="0" tIns="0" rIns="0" bIns="0" rtlCol="0" anchor="ctr"/>
          <a:lstStyle/>
          <a:p>
            <a:pPr algn="ctr" indent="0" marL="0">
              <a:buNone/>
            </a:pPr>
            <a:r>
              <a:rPr lang="en-US" sz="1200" b="1" dirty="0">
                <a:solidFill>
                  <a:srgbClr val="FFFFFF"/>
                </a:solidFill>
                <a:latin typeface="Aptos" pitchFamily="34" charset="0"/>
                <a:ea typeface="Aptos" pitchFamily="34" charset="-122"/>
                <a:cs typeface="Aptos" pitchFamily="34" charset="-120"/>
              </a:rPr>
              <a:t>Transition model</a:t>
            </a:r>
            <a:endParaRPr lang="en-US" sz="1200" dirty="0"/>
          </a:p>
        </p:txBody>
      </p:sp>
      <p:sp>
        <p:nvSpPr>
          <p:cNvPr id="20" name="Text 18"/>
          <p:cNvSpPr/>
          <p:nvPr/>
        </p:nvSpPr>
        <p:spPr>
          <a:xfrm>
            <a:off x="1581912" y="3749040"/>
            <a:ext cx="3968496" cy="658368"/>
          </a:xfrm>
          <a:prstGeom prst="rect">
            <a:avLst/>
          </a:prstGeom>
          <a:noFill/>
          <a:ln/>
        </p:spPr>
        <p:txBody>
          <a:bodyPr wrap="square" lIns="254" tIns="254" rIns="254" bIns="254" rtlCol="0" anchor="ctr">
            <a:normAutofit/>
          </a:bodyPr>
          <a:lstStyle/>
          <a:p>
            <a:pPr indent="0" marL="0">
              <a:buNone/>
            </a:pPr>
            <a:r>
              <a:rPr lang="en-US" sz="1230" dirty="0">
                <a:solidFill>
                  <a:srgbClr val="17202A"/>
                </a:solidFill>
                <a:latin typeface="Aptos" pitchFamily="34" charset="0"/>
                <a:ea typeface="Aptos" pitchFamily="34" charset="-122"/>
                <a:cs typeface="Aptos" pitchFamily="34" charset="-120"/>
              </a:rPr>
              <a:t>How the world changes over time and how actions affect it.</a:t>
            </a:r>
            <a:endParaRPr lang="en-US" sz="1230" dirty="0"/>
          </a:p>
        </p:txBody>
      </p:sp>
      <p:sp>
        <p:nvSpPr>
          <p:cNvPr id="21" name="Shape 19"/>
          <p:cNvSpPr/>
          <p:nvPr/>
        </p:nvSpPr>
        <p:spPr>
          <a:xfrm>
            <a:off x="6446520" y="3246120"/>
            <a:ext cx="4297680" cy="1280160"/>
          </a:xfrm>
          <a:prstGeom prst="roundRect">
            <a:avLst>
              <a:gd name="adj" fmla="val 5714"/>
            </a:avLst>
          </a:prstGeom>
          <a:solidFill>
            <a:srgbClr val="FFFFFF"/>
          </a:solidFill>
          <a:ln w="15240">
            <a:solidFill>
              <a:srgbClr val="B7C6DA"/>
            </a:solidFill>
            <a:prstDash val="solid"/>
          </a:ln>
        </p:spPr>
      </p:sp>
      <p:sp>
        <p:nvSpPr>
          <p:cNvPr id="22" name="Shape 20"/>
          <p:cNvSpPr/>
          <p:nvPr/>
        </p:nvSpPr>
        <p:spPr>
          <a:xfrm>
            <a:off x="6446520" y="3246120"/>
            <a:ext cx="4297680" cy="329184"/>
          </a:xfrm>
          <a:prstGeom prst="rect">
            <a:avLst/>
          </a:prstGeom>
          <a:solidFill>
            <a:srgbClr val="1F65B6"/>
          </a:solidFill>
          <a:ln w="12700">
            <a:solidFill>
              <a:srgbClr val="1F65B6"/>
            </a:solidFill>
            <a:prstDash val="solid"/>
          </a:ln>
        </p:spPr>
      </p:sp>
      <p:sp>
        <p:nvSpPr>
          <p:cNvPr id="23" name="Text 21"/>
          <p:cNvSpPr/>
          <p:nvPr/>
        </p:nvSpPr>
        <p:spPr>
          <a:xfrm>
            <a:off x="6556248" y="3319272"/>
            <a:ext cx="4078224" cy="164592"/>
          </a:xfrm>
          <a:prstGeom prst="rect">
            <a:avLst/>
          </a:prstGeom>
          <a:noFill/>
          <a:ln/>
        </p:spPr>
        <p:txBody>
          <a:bodyPr wrap="square" lIns="0" tIns="0" rIns="0" bIns="0" rtlCol="0" anchor="ctr"/>
          <a:lstStyle/>
          <a:p>
            <a:pPr algn="ctr" indent="0" marL="0">
              <a:buNone/>
            </a:pPr>
            <a:r>
              <a:rPr lang="en-US" sz="1200" b="1" dirty="0">
                <a:solidFill>
                  <a:srgbClr val="FFFFFF"/>
                </a:solidFill>
                <a:latin typeface="Aptos" pitchFamily="34" charset="0"/>
                <a:ea typeface="Aptos" pitchFamily="34" charset="-122"/>
                <a:cs typeface="Aptos" pitchFamily="34" charset="-120"/>
              </a:rPr>
              <a:t>Sensor model</a:t>
            </a:r>
            <a:endParaRPr lang="en-US" sz="1200" dirty="0"/>
          </a:p>
        </p:txBody>
      </p:sp>
      <p:sp>
        <p:nvSpPr>
          <p:cNvPr id="24" name="Text 22"/>
          <p:cNvSpPr/>
          <p:nvPr/>
        </p:nvSpPr>
        <p:spPr>
          <a:xfrm>
            <a:off x="6611112" y="3749040"/>
            <a:ext cx="3968496" cy="658368"/>
          </a:xfrm>
          <a:prstGeom prst="rect">
            <a:avLst/>
          </a:prstGeom>
          <a:noFill/>
          <a:ln/>
        </p:spPr>
        <p:txBody>
          <a:bodyPr wrap="square" lIns="254" tIns="254" rIns="254" bIns="254" rtlCol="0" anchor="ctr">
            <a:normAutofit/>
          </a:bodyPr>
          <a:lstStyle/>
          <a:p>
            <a:pPr indent="0" marL="0">
              <a:buNone/>
            </a:pPr>
            <a:r>
              <a:rPr lang="en-US" sz="1230" dirty="0">
                <a:solidFill>
                  <a:srgbClr val="17202A"/>
                </a:solidFill>
                <a:latin typeface="Aptos" pitchFamily="34" charset="0"/>
                <a:ea typeface="Aptos" pitchFamily="34" charset="-122"/>
                <a:cs typeface="Aptos" pitchFamily="34" charset="-120"/>
              </a:rPr>
              <a:t>How world states generate percepts.</a:t>
            </a:r>
            <a:endParaRPr lang="en-US" sz="1230" dirty="0"/>
          </a:p>
        </p:txBody>
      </p:sp>
      <p:sp>
        <p:nvSpPr>
          <p:cNvPr id="25" name="Shape 23"/>
          <p:cNvSpPr/>
          <p:nvPr/>
        </p:nvSpPr>
        <p:spPr>
          <a:xfrm>
            <a:off x="1828800" y="5138928"/>
            <a:ext cx="8503920" cy="457200"/>
          </a:xfrm>
          <a:prstGeom prst="roundRect">
            <a:avLst>
              <a:gd name="adj" fmla="val 12000"/>
            </a:avLst>
          </a:prstGeom>
          <a:solidFill>
            <a:srgbClr val="FFEFCB"/>
          </a:solidFill>
          <a:ln w="12700">
            <a:solidFill>
              <a:srgbClr val="AFC2DC"/>
            </a:solidFill>
            <a:prstDash val="solid"/>
          </a:ln>
        </p:spPr>
      </p:sp>
      <p:sp>
        <p:nvSpPr>
          <p:cNvPr id="26" name="Text 24"/>
          <p:cNvSpPr/>
          <p:nvPr/>
        </p:nvSpPr>
        <p:spPr>
          <a:xfrm>
            <a:off x="1874520" y="5193792"/>
            <a:ext cx="8412480" cy="365760"/>
          </a:xfrm>
          <a:prstGeom prst="rect">
            <a:avLst/>
          </a:prstGeom>
          <a:noFill/>
          <a:ln/>
        </p:spPr>
        <p:txBody>
          <a:bodyPr wrap="square" lIns="0" tIns="0" rIns="0" bIns="0" rtlCol="0" anchor="ctr">
            <a:normAutofit/>
          </a:bodyPr>
          <a:lstStyle/>
          <a:p>
            <a:pPr algn="ctr" indent="0" marL="0">
              <a:buNone/>
            </a:pPr>
            <a:r>
              <a:rPr lang="en-US" sz="1250" b="1" dirty="0">
                <a:solidFill>
                  <a:srgbClr val="102F63"/>
                </a:solidFill>
                <a:latin typeface="Aptos" pitchFamily="34" charset="0"/>
                <a:ea typeface="Aptos" pitchFamily="34" charset="-122"/>
                <a:cs typeface="Aptos" pitchFamily="34" charset="-120"/>
              </a:rPr>
              <a:t>In partial observability, exact state may be impossible; the agent still must make a decision.</a:t>
            </a:r>
            <a:endParaRPr lang="en-US" sz="1250" dirty="0"/>
          </a:p>
        </p:txBody>
      </p:sp>
      <p:sp>
        <p:nvSpPr>
          <p:cNvPr id="27" name="Text 25"/>
          <p:cNvSpPr/>
          <p:nvPr/>
        </p:nvSpPr>
        <p:spPr>
          <a:xfrm>
            <a:off x="502920" y="6574536"/>
            <a:ext cx="5760720" cy="118872"/>
          </a:xfrm>
          <a:prstGeom prst="rect">
            <a:avLst/>
          </a:prstGeom>
          <a:noFill/>
          <a:ln/>
        </p:spPr>
        <p:txBody>
          <a:bodyPr wrap="square" lIns="0" tIns="0" rIns="0" bIns="0" rtlCol="0" anchor="ctr"/>
          <a:lstStyle/>
          <a:p>
            <a:pPr indent="0" marL="0">
              <a:buNone/>
            </a:pPr>
            <a:r>
              <a:rPr lang="en-US" sz="650" dirty="0">
                <a:solidFill>
                  <a:srgbClr val="7A869A"/>
                </a:solidFill>
                <a:latin typeface="Aptos" pitchFamily="34" charset="0"/>
                <a:ea typeface="Aptos" pitchFamily="34" charset="-122"/>
                <a:cs typeface="Aptos" pitchFamily="34" charset="-120"/>
              </a:rPr>
              <a:t>AIMA Ch. 2 + UC Berkeley CS188 Part II companion</a:t>
            </a:r>
            <a:endParaRPr lang="en-US" sz="650" dirty="0"/>
          </a:p>
        </p:txBody>
      </p:sp>
      <p:sp>
        <p:nvSpPr>
          <p:cNvPr id="25" name="Slide Number Placeholder 0"/>
          <p:cNvSpPr>
            <a:spLocks noGrp="1"/>
          </p:cNvSpPr>
          <p:nvPr>
            <p:ph type="sldNum" sz="quarter" idx="4294967295"/>
          </p:nvPr>
        </p:nvSpPr>
        <p:spPr>
          <a:xfrm>
            <a:off x="5943600" y="658368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B778C"/>
                </a:solidFill>
                <a:latin typeface="Aptos"/>
                <a:ea typeface="Aptos"/>
                <a:cs typeface="Aptos"/>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02920" y="146304"/>
            <a:ext cx="11155680" cy="329184"/>
          </a:xfrm>
          <a:prstGeom prst="rect">
            <a:avLst/>
          </a:prstGeom>
          <a:noFill/>
          <a:ln/>
        </p:spPr>
        <p:txBody>
          <a:bodyPr wrap="square" lIns="0" tIns="0" rIns="0" bIns="0" rtlCol="0" anchor="ctr"/>
          <a:lstStyle/>
          <a:p>
            <a:pPr indent="0" marL="0">
              <a:buNone/>
            </a:pPr>
            <a:r>
              <a:rPr lang="en-US" sz="2500" b="1" dirty="0">
                <a:solidFill>
                  <a:srgbClr val="FFFFFF"/>
                </a:solidFill>
                <a:latin typeface="Aptos Display" pitchFamily="34" charset="0"/>
                <a:ea typeface="Aptos Display" pitchFamily="34" charset="-122"/>
                <a:cs typeface="Aptos Display" pitchFamily="34" charset="-120"/>
              </a:rPr>
              <a:t>2.4.4 Goal-Based Agents</a:t>
            </a:r>
            <a:endParaRPr lang="en-US" sz="2500" dirty="0"/>
          </a:p>
        </p:txBody>
      </p:sp>
      <p:sp>
        <p:nvSpPr>
          <p:cNvPr id="3" name="Shape 1"/>
          <p:cNvSpPr/>
          <p:nvPr/>
        </p:nvSpPr>
        <p:spPr>
          <a:xfrm>
            <a:off x="10058400" y="841248"/>
            <a:ext cx="1508760" cy="228600"/>
          </a:xfrm>
          <a:prstGeom prst="roundRect">
            <a:avLst>
              <a:gd name="adj" fmla="val 28000"/>
            </a:avLst>
          </a:prstGeom>
          <a:solidFill>
            <a:srgbClr val="EAF2FF"/>
          </a:solidFill>
          <a:ln w="12700">
            <a:solidFill>
              <a:srgbClr val="B7CAE4"/>
            </a:solidFill>
            <a:prstDash val="solid"/>
          </a:ln>
        </p:spPr>
      </p:sp>
      <p:sp>
        <p:nvSpPr>
          <p:cNvPr id="4" name="Text 2"/>
          <p:cNvSpPr/>
          <p:nvPr/>
        </p:nvSpPr>
        <p:spPr>
          <a:xfrm>
            <a:off x="10168128" y="900684"/>
            <a:ext cx="1298448" cy="91440"/>
          </a:xfrm>
          <a:prstGeom prst="rect">
            <a:avLst/>
          </a:prstGeom>
          <a:noFill/>
          <a:ln/>
        </p:spPr>
        <p:txBody>
          <a:bodyPr wrap="square" lIns="0" tIns="0" rIns="0" bIns="0" rtlCol="0" anchor="ctr"/>
          <a:lstStyle/>
          <a:p>
            <a:pPr algn="ctr" indent="0" marL="0">
              <a:buNone/>
            </a:pPr>
            <a:r>
              <a:rPr lang="en-US" sz="950" b="1" dirty="0">
                <a:solidFill>
                  <a:srgbClr val="102F63"/>
                </a:solidFill>
                <a:latin typeface="Aptos" pitchFamily="34" charset="0"/>
                <a:ea typeface="Aptos" pitchFamily="34" charset="-122"/>
                <a:cs typeface="Aptos" pitchFamily="34" charset="-120"/>
              </a:rPr>
              <a:t>2.4.4</a:t>
            </a:r>
            <a:endParaRPr lang="en-US" sz="950" dirty="0"/>
          </a:p>
        </p:txBody>
      </p:sp>
      <p:sp>
        <p:nvSpPr>
          <p:cNvPr id="5" name="Text 3"/>
          <p:cNvSpPr/>
          <p:nvPr/>
        </p:nvSpPr>
        <p:spPr>
          <a:xfrm>
            <a:off x="914400" y="1115568"/>
            <a:ext cx="10241280" cy="329184"/>
          </a:xfrm>
          <a:prstGeom prst="rect">
            <a:avLst/>
          </a:prstGeom>
          <a:noFill/>
          <a:ln/>
        </p:spPr>
        <p:txBody>
          <a:bodyPr wrap="square" rtlCol="0" anchor="ctr"/>
          <a:lstStyle/>
          <a:p>
            <a:pPr algn="ctr" indent="0" marL="0">
              <a:buNone/>
            </a:pPr>
            <a:r>
              <a:rPr lang="en-US" sz="2200" b="1" dirty="0">
                <a:solidFill>
                  <a:srgbClr val="102F63"/>
                </a:solidFill>
              </a:rPr>
              <a:t>A current state is not enough; the agent also needs a goal.</a:t>
            </a:r>
            <a:endParaRPr lang="en-US" sz="2200" dirty="0"/>
          </a:p>
        </p:txBody>
      </p:sp>
      <p:sp>
        <p:nvSpPr>
          <p:cNvPr id="6" name="Shape 4"/>
          <p:cNvSpPr/>
          <p:nvPr/>
        </p:nvSpPr>
        <p:spPr>
          <a:xfrm>
            <a:off x="1097280" y="1965960"/>
            <a:ext cx="1920240" cy="438912"/>
          </a:xfrm>
          <a:prstGeom prst="roundRect">
            <a:avLst>
              <a:gd name="adj" fmla="val 12500"/>
            </a:avLst>
          </a:prstGeom>
          <a:solidFill>
            <a:srgbClr val="EAF2FF"/>
          </a:solidFill>
          <a:ln w="12700">
            <a:solidFill>
              <a:srgbClr val="AFC2DC"/>
            </a:solidFill>
            <a:prstDash val="solid"/>
          </a:ln>
        </p:spPr>
      </p:sp>
      <p:sp>
        <p:nvSpPr>
          <p:cNvPr id="7" name="Text 5"/>
          <p:cNvSpPr/>
          <p:nvPr/>
        </p:nvSpPr>
        <p:spPr>
          <a:xfrm>
            <a:off x="1143000" y="2020824"/>
            <a:ext cx="1828800" cy="347472"/>
          </a:xfrm>
          <a:prstGeom prst="rect">
            <a:avLst/>
          </a:prstGeom>
          <a:noFill/>
          <a:ln/>
        </p:spPr>
        <p:txBody>
          <a:bodyPr wrap="square" lIns="0" tIns="0" rIns="0" bIns="0" rtlCol="0" anchor="ctr">
            <a:normAutofit/>
          </a:bodyPr>
          <a:lstStyle/>
          <a:p>
            <a:pPr algn="ctr" indent="0" marL="0">
              <a:buNone/>
            </a:pPr>
            <a:r>
              <a:rPr lang="en-US" sz="1250" b="1" dirty="0">
                <a:solidFill>
                  <a:srgbClr val="102F63"/>
                </a:solidFill>
                <a:latin typeface="Aptos" pitchFamily="34" charset="0"/>
                <a:ea typeface="Aptos" pitchFamily="34" charset="-122"/>
                <a:cs typeface="Aptos" pitchFamily="34" charset="-120"/>
              </a:rPr>
              <a:t>Current state</a:t>
            </a:r>
            <a:endParaRPr lang="en-US" sz="1250" dirty="0"/>
          </a:p>
        </p:txBody>
      </p:sp>
      <p:sp>
        <p:nvSpPr>
          <p:cNvPr id="8" name="Shape 6"/>
          <p:cNvSpPr/>
          <p:nvPr/>
        </p:nvSpPr>
        <p:spPr>
          <a:xfrm>
            <a:off x="1097280" y="2788920"/>
            <a:ext cx="1920240" cy="438912"/>
          </a:xfrm>
          <a:prstGeom prst="roundRect">
            <a:avLst>
              <a:gd name="adj" fmla="val 12500"/>
            </a:avLst>
          </a:prstGeom>
          <a:solidFill>
            <a:srgbClr val="E8F7EF"/>
          </a:solidFill>
          <a:ln w="12700">
            <a:solidFill>
              <a:srgbClr val="AFC2DC"/>
            </a:solidFill>
            <a:prstDash val="solid"/>
          </a:ln>
        </p:spPr>
      </p:sp>
      <p:sp>
        <p:nvSpPr>
          <p:cNvPr id="9" name="Text 7"/>
          <p:cNvSpPr/>
          <p:nvPr/>
        </p:nvSpPr>
        <p:spPr>
          <a:xfrm>
            <a:off x="1143000" y="2843784"/>
            <a:ext cx="1828800" cy="347472"/>
          </a:xfrm>
          <a:prstGeom prst="rect">
            <a:avLst/>
          </a:prstGeom>
          <a:noFill/>
          <a:ln/>
        </p:spPr>
        <p:txBody>
          <a:bodyPr wrap="square" lIns="0" tIns="0" rIns="0" bIns="0" rtlCol="0" anchor="ctr">
            <a:normAutofit/>
          </a:bodyPr>
          <a:lstStyle/>
          <a:p>
            <a:pPr algn="ctr" indent="0" marL="0">
              <a:buNone/>
            </a:pPr>
            <a:r>
              <a:rPr lang="en-US" sz="1250" b="1" dirty="0">
                <a:solidFill>
                  <a:srgbClr val="102F63"/>
                </a:solidFill>
                <a:latin typeface="Aptos" pitchFamily="34" charset="0"/>
                <a:ea typeface="Aptos" pitchFamily="34" charset="-122"/>
                <a:cs typeface="Aptos" pitchFamily="34" charset="-120"/>
              </a:rPr>
              <a:t>Goal</a:t>
            </a:r>
            <a:endParaRPr lang="en-US" sz="1250" dirty="0"/>
          </a:p>
        </p:txBody>
      </p:sp>
      <p:sp>
        <p:nvSpPr>
          <p:cNvPr id="10" name="Shape 8"/>
          <p:cNvSpPr/>
          <p:nvPr/>
        </p:nvSpPr>
        <p:spPr>
          <a:xfrm>
            <a:off x="3108960" y="2194560"/>
            <a:ext cx="1463040" cy="320040"/>
          </a:xfrm>
          <a:prstGeom prst="line">
            <a:avLst/>
          </a:prstGeom>
          <a:noFill/>
          <a:ln w="17780">
            <a:solidFill>
              <a:srgbClr val="6B778C"/>
            </a:solidFill>
            <a:prstDash val="solid"/>
            <a:headEnd type="none"/>
            <a:tailEnd type="triangle"/>
          </a:ln>
        </p:spPr>
      </p:sp>
      <p:sp>
        <p:nvSpPr>
          <p:cNvPr id="11" name="Shape 9"/>
          <p:cNvSpPr/>
          <p:nvPr/>
        </p:nvSpPr>
        <p:spPr>
          <a:xfrm>
            <a:off x="3108960" y="2999232"/>
            <a:ext cx="1463040" cy="-301752"/>
          </a:xfrm>
          <a:prstGeom prst="line">
            <a:avLst/>
          </a:prstGeom>
          <a:noFill/>
          <a:ln w="17780">
            <a:solidFill>
              <a:srgbClr val="6B778C"/>
            </a:solidFill>
            <a:prstDash val="solid"/>
            <a:headEnd type="none"/>
            <a:tailEnd type="triangle"/>
          </a:ln>
        </p:spPr>
      </p:sp>
      <p:sp>
        <p:nvSpPr>
          <p:cNvPr id="12" name="Shape 10"/>
          <p:cNvSpPr/>
          <p:nvPr/>
        </p:nvSpPr>
        <p:spPr>
          <a:xfrm>
            <a:off x="4617720" y="2331720"/>
            <a:ext cx="2148840" cy="475488"/>
          </a:xfrm>
          <a:prstGeom prst="roundRect">
            <a:avLst>
              <a:gd name="adj" fmla="val 11538"/>
            </a:avLst>
          </a:prstGeom>
          <a:solidFill>
            <a:srgbClr val="FFEFCB"/>
          </a:solidFill>
          <a:ln w="12700">
            <a:solidFill>
              <a:srgbClr val="AFC2DC"/>
            </a:solidFill>
            <a:prstDash val="solid"/>
          </a:ln>
        </p:spPr>
      </p:sp>
      <p:sp>
        <p:nvSpPr>
          <p:cNvPr id="13" name="Text 11"/>
          <p:cNvSpPr/>
          <p:nvPr/>
        </p:nvSpPr>
        <p:spPr>
          <a:xfrm>
            <a:off x="4663440" y="2386584"/>
            <a:ext cx="2057400" cy="384048"/>
          </a:xfrm>
          <a:prstGeom prst="rect">
            <a:avLst/>
          </a:prstGeom>
          <a:noFill/>
          <a:ln/>
        </p:spPr>
        <p:txBody>
          <a:bodyPr wrap="square" lIns="0" tIns="0" rIns="0" bIns="0" rtlCol="0" anchor="ctr">
            <a:normAutofit/>
          </a:bodyPr>
          <a:lstStyle/>
          <a:p>
            <a:pPr algn="ctr" indent="0" marL="0">
              <a:buNone/>
            </a:pPr>
            <a:r>
              <a:rPr lang="en-US" sz="1250" b="1" dirty="0">
                <a:solidFill>
                  <a:srgbClr val="102F63"/>
                </a:solidFill>
                <a:latin typeface="Aptos" pitchFamily="34" charset="0"/>
                <a:ea typeface="Aptos" pitchFamily="34" charset="-122"/>
                <a:cs typeface="Aptos" pitchFamily="34" charset="-120"/>
              </a:rPr>
              <a:t>Predict futures</a:t>
            </a:r>
            <a:endParaRPr lang="en-US" sz="1250" dirty="0"/>
          </a:p>
        </p:txBody>
      </p:sp>
      <p:sp>
        <p:nvSpPr>
          <p:cNvPr id="14" name="Shape 12"/>
          <p:cNvSpPr/>
          <p:nvPr/>
        </p:nvSpPr>
        <p:spPr>
          <a:xfrm>
            <a:off x="6812280" y="2578608"/>
            <a:ext cx="1554480" cy="0"/>
          </a:xfrm>
          <a:prstGeom prst="line">
            <a:avLst/>
          </a:prstGeom>
          <a:noFill/>
          <a:ln w="17780">
            <a:solidFill>
              <a:srgbClr val="6B778C"/>
            </a:solidFill>
            <a:prstDash val="solid"/>
            <a:headEnd type="none"/>
            <a:tailEnd type="triangle"/>
          </a:ln>
        </p:spPr>
      </p:sp>
      <p:sp>
        <p:nvSpPr>
          <p:cNvPr id="15" name="Shape 13"/>
          <p:cNvSpPr/>
          <p:nvPr/>
        </p:nvSpPr>
        <p:spPr>
          <a:xfrm>
            <a:off x="8412480" y="2331720"/>
            <a:ext cx="2468880" cy="475488"/>
          </a:xfrm>
          <a:prstGeom prst="roundRect">
            <a:avLst>
              <a:gd name="adj" fmla="val 11538"/>
            </a:avLst>
          </a:prstGeom>
          <a:solidFill>
            <a:srgbClr val="F0E8FF"/>
          </a:solidFill>
          <a:ln w="12700">
            <a:solidFill>
              <a:srgbClr val="AFC2DC"/>
            </a:solidFill>
            <a:prstDash val="solid"/>
          </a:ln>
        </p:spPr>
      </p:sp>
      <p:sp>
        <p:nvSpPr>
          <p:cNvPr id="16" name="Text 14"/>
          <p:cNvSpPr/>
          <p:nvPr/>
        </p:nvSpPr>
        <p:spPr>
          <a:xfrm>
            <a:off x="8458200" y="2386584"/>
            <a:ext cx="2377440" cy="384048"/>
          </a:xfrm>
          <a:prstGeom prst="rect">
            <a:avLst/>
          </a:prstGeom>
          <a:noFill/>
          <a:ln/>
        </p:spPr>
        <p:txBody>
          <a:bodyPr wrap="square" lIns="0" tIns="0" rIns="0" bIns="0" rtlCol="0" anchor="ctr">
            <a:normAutofit/>
          </a:bodyPr>
          <a:lstStyle/>
          <a:p>
            <a:pPr algn="ctr" indent="0" marL="0">
              <a:buNone/>
            </a:pPr>
            <a:r>
              <a:rPr lang="en-US" sz="1250" b="1" dirty="0">
                <a:solidFill>
                  <a:srgbClr val="102F63"/>
                </a:solidFill>
                <a:latin typeface="Aptos" pitchFamily="34" charset="0"/>
                <a:ea typeface="Aptos" pitchFamily="34" charset="-122"/>
                <a:cs typeface="Aptos" pitchFamily="34" charset="-120"/>
              </a:rPr>
              <a:t>Choose action sequence</a:t>
            </a:r>
            <a:endParaRPr lang="en-US" sz="1250" dirty="0"/>
          </a:p>
        </p:txBody>
      </p:sp>
      <p:sp>
        <p:nvSpPr>
          <p:cNvPr id="17" name="Shape 15"/>
          <p:cNvSpPr/>
          <p:nvPr/>
        </p:nvSpPr>
        <p:spPr>
          <a:xfrm>
            <a:off x="1005840" y="3886200"/>
            <a:ext cx="3108960" cy="1234440"/>
          </a:xfrm>
          <a:prstGeom prst="roundRect">
            <a:avLst>
              <a:gd name="adj" fmla="val 5926"/>
            </a:avLst>
          </a:prstGeom>
          <a:solidFill>
            <a:srgbClr val="FFFFFF"/>
          </a:solidFill>
          <a:ln w="15240">
            <a:solidFill>
              <a:srgbClr val="B7C6DA"/>
            </a:solidFill>
            <a:prstDash val="solid"/>
          </a:ln>
        </p:spPr>
      </p:sp>
      <p:sp>
        <p:nvSpPr>
          <p:cNvPr id="18" name="Shape 16"/>
          <p:cNvSpPr/>
          <p:nvPr/>
        </p:nvSpPr>
        <p:spPr>
          <a:xfrm>
            <a:off x="1005840" y="3886200"/>
            <a:ext cx="3108960" cy="329184"/>
          </a:xfrm>
          <a:prstGeom prst="rect">
            <a:avLst/>
          </a:prstGeom>
          <a:solidFill>
            <a:srgbClr val="6D28D9"/>
          </a:solidFill>
          <a:ln w="12700">
            <a:solidFill>
              <a:srgbClr val="6D28D9"/>
            </a:solidFill>
            <a:prstDash val="solid"/>
          </a:ln>
        </p:spPr>
      </p:sp>
      <p:sp>
        <p:nvSpPr>
          <p:cNvPr id="19" name="Text 17"/>
          <p:cNvSpPr/>
          <p:nvPr/>
        </p:nvSpPr>
        <p:spPr>
          <a:xfrm>
            <a:off x="1115568" y="3959352"/>
            <a:ext cx="2889504" cy="164592"/>
          </a:xfrm>
          <a:prstGeom prst="rect">
            <a:avLst/>
          </a:prstGeom>
          <a:noFill/>
          <a:ln/>
        </p:spPr>
        <p:txBody>
          <a:bodyPr wrap="square" lIns="0" tIns="0" rIns="0" bIns="0" rtlCol="0" anchor="ctr"/>
          <a:lstStyle/>
          <a:p>
            <a:pPr algn="ctr" indent="0" marL="0">
              <a:buNone/>
            </a:pPr>
            <a:r>
              <a:rPr lang="en-US" sz="1200" b="1" dirty="0">
                <a:solidFill>
                  <a:srgbClr val="FFFFFF"/>
                </a:solidFill>
                <a:latin typeface="Aptos" pitchFamily="34" charset="0"/>
                <a:ea typeface="Aptos" pitchFamily="34" charset="-122"/>
                <a:cs typeface="Aptos" pitchFamily="34" charset="-120"/>
              </a:rPr>
              <a:t>Search / planning</a:t>
            </a:r>
            <a:endParaRPr lang="en-US" sz="1200" dirty="0"/>
          </a:p>
        </p:txBody>
      </p:sp>
      <p:sp>
        <p:nvSpPr>
          <p:cNvPr id="20" name="Text 18"/>
          <p:cNvSpPr/>
          <p:nvPr/>
        </p:nvSpPr>
        <p:spPr>
          <a:xfrm>
            <a:off x="1170432" y="4389120"/>
            <a:ext cx="2779776" cy="612648"/>
          </a:xfrm>
          <a:prstGeom prst="rect">
            <a:avLst/>
          </a:prstGeom>
          <a:noFill/>
          <a:ln/>
        </p:spPr>
        <p:txBody>
          <a:bodyPr wrap="square" lIns="254" tIns="254" rIns="254" bIns="254" rtlCol="0" anchor="ctr">
            <a:normAutofit/>
          </a:bodyPr>
          <a:lstStyle/>
          <a:p>
            <a:pPr indent="0" marL="0">
              <a:buNone/>
            </a:pPr>
            <a:r>
              <a:rPr lang="en-US" sz="1230" dirty="0">
                <a:solidFill>
                  <a:srgbClr val="17202A"/>
                </a:solidFill>
                <a:latin typeface="Aptos" pitchFamily="34" charset="0"/>
                <a:ea typeface="Aptos" pitchFamily="34" charset="-122"/>
                <a:cs typeface="Aptos" pitchFamily="34" charset="-120"/>
              </a:rPr>
              <a:t>Find action sequences that achieve goals. This transitions to Chapters 3–5.</a:t>
            </a:r>
            <a:endParaRPr lang="en-US" sz="1230" dirty="0"/>
          </a:p>
        </p:txBody>
      </p:sp>
      <p:sp>
        <p:nvSpPr>
          <p:cNvPr id="21" name="Shape 19"/>
          <p:cNvSpPr/>
          <p:nvPr/>
        </p:nvSpPr>
        <p:spPr>
          <a:xfrm>
            <a:off x="4572000" y="3886200"/>
            <a:ext cx="3108960" cy="1234440"/>
          </a:xfrm>
          <a:prstGeom prst="roundRect">
            <a:avLst>
              <a:gd name="adj" fmla="val 5926"/>
            </a:avLst>
          </a:prstGeom>
          <a:solidFill>
            <a:srgbClr val="FFFFFF"/>
          </a:solidFill>
          <a:ln w="15240">
            <a:solidFill>
              <a:srgbClr val="B7C6DA"/>
            </a:solidFill>
            <a:prstDash val="solid"/>
          </a:ln>
        </p:spPr>
      </p:sp>
      <p:sp>
        <p:nvSpPr>
          <p:cNvPr id="22" name="Shape 20"/>
          <p:cNvSpPr/>
          <p:nvPr/>
        </p:nvSpPr>
        <p:spPr>
          <a:xfrm>
            <a:off x="4572000" y="3886200"/>
            <a:ext cx="3108960" cy="329184"/>
          </a:xfrm>
          <a:prstGeom prst="rect">
            <a:avLst/>
          </a:prstGeom>
          <a:solidFill>
            <a:srgbClr val="1F7A3D"/>
          </a:solidFill>
          <a:ln w="12700">
            <a:solidFill>
              <a:srgbClr val="1F7A3D"/>
            </a:solidFill>
            <a:prstDash val="solid"/>
          </a:ln>
        </p:spPr>
      </p:sp>
      <p:sp>
        <p:nvSpPr>
          <p:cNvPr id="23" name="Text 21"/>
          <p:cNvSpPr/>
          <p:nvPr/>
        </p:nvSpPr>
        <p:spPr>
          <a:xfrm>
            <a:off x="4681728" y="3959352"/>
            <a:ext cx="2889504" cy="164592"/>
          </a:xfrm>
          <a:prstGeom prst="rect">
            <a:avLst/>
          </a:prstGeom>
          <a:noFill/>
          <a:ln/>
        </p:spPr>
        <p:txBody>
          <a:bodyPr wrap="square" lIns="0" tIns="0" rIns="0" bIns="0" rtlCol="0" anchor="ctr"/>
          <a:lstStyle/>
          <a:p>
            <a:pPr algn="ctr" indent="0" marL="0">
              <a:buNone/>
            </a:pPr>
            <a:r>
              <a:rPr lang="en-US" sz="1200" b="1" dirty="0">
                <a:solidFill>
                  <a:srgbClr val="FFFFFF"/>
                </a:solidFill>
                <a:latin typeface="Aptos" pitchFamily="34" charset="0"/>
                <a:ea typeface="Aptos" pitchFamily="34" charset="-122"/>
                <a:cs typeface="Aptos" pitchFamily="34" charset="-120"/>
              </a:rPr>
              <a:t>Flexibility</a:t>
            </a:r>
            <a:endParaRPr lang="en-US" sz="1200" dirty="0"/>
          </a:p>
        </p:txBody>
      </p:sp>
      <p:sp>
        <p:nvSpPr>
          <p:cNvPr id="24" name="Text 22"/>
          <p:cNvSpPr/>
          <p:nvPr/>
        </p:nvSpPr>
        <p:spPr>
          <a:xfrm>
            <a:off x="4736592" y="4389120"/>
            <a:ext cx="2779776" cy="612648"/>
          </a:xfrm>
          <a:prstGeom prst="rect">
            <a:avLst/>
          </a:prstGeom>
          <a:noFill/>
          <a:ln/>
        </p:spPr>
        <p:txBody>
          <a:bodyPr wrap="square" lIns="254" tIns="254" rIns="254" bIns="254" rtlCol="0" anchor="ctr">
            <a:normAutofit/>
          </a:bodyPr>
          <a:lstStyle/>
          <a:p>
            <a:pPr indent="0" marL="0">
              <a:buNone/>
            </a:pPr>
            <a:r>
              <a:rPr lang="en-US" sz="1230" dirty="0">
                <a:solidFill>
                  <a:srgbClr val="17202A"/>
                </a:solidFill>
                <a:latin typeface="Aptos" pitchFamily="34" charset="0"/>
                <a:ea typeface="Aptos" pitchFamily="34" charset="-122"/>
                <a:cs typeface="Aptos" pitchFamily="34" charset="-120"/>
              </a:rPr>
              <a:t>Change the destination, and the same knowledge can support new behavior.</a:t>
            </a:r>
            <a:endParaRPr lang="en-US" sz="1230" dirty="0"/>
          </a:p>
        </p:txBody>
      </p:sp>
      <p:sp>
        <p:nvSpPr>
          <p:cNvPr id="25" name="Shape 23"/>
          <p:cNvSpPr/>
          <p:nvPr/>
        </p:nvSpPr>
        <p:spPr>
          <a:xfrm>
            <a:off x="8138160" y="3886200"/>
            <a:ext cx="3108960" cy="1234440"/>
          </a:xfrm>
          <a:prstGeom prst="roundRect">
            <a:avLst>
              <a:gd name="adj" fmla="val 5926"/>
            </a:avLst>
          </a:prstGeom>
          <a:solidFill>
            <a:srgbClr val="FFFFFF"/>
          </a:solidFill>
          <a:ln w="15240">
            <a:solidFill>
              <a:srgbClr val="B7C6DA"/>
            </a:solidFill>
            <a:prstDash val="solid"/>
          </a:ln>
        </p:spPr>
      </p:sp>
      <p:sp>
        <p:nvSpPr>
          <p:cNvPr id="26" name="Shape 24"/>
          <p:cNvSpPr/>
          <p:nvPr/>
        </p:nvSpPr>
        <p:spPr>
          <a:xfrm>
            <a:off x="8138160" y="3886200"/>
            <a:ext cx="3108960" cy="329184"/>
          </a:xfrm>
          <a:prstGeom prst="rect">
            <a:avLst/>
          </a:prstGeom>
          <a:solidFill>
            <a:srgbClr val="F5A623"/>
          </a:solidFill>
          <a:ln w="12700">
            <a:solidFill>
              <a:srgbClr val="F5A623"/>
            </a:solidFill>
            <a:prstDash val="solid"/>
          </a:ln>
        </p:spPr>
      </p:sp>
      <p:sp>
        <p:nvSpPr>
          <p:cNvPr id="27" name="Text 25"/>
          <p:cNvSpPr/>
          <p:nvPr/>
        </p:nvSpPr>
        <p:spPr>
          <a:xfrm>
            <a:off x="8247888" y="3959352"/>
            <a:ext cx="2889504" cy="164592"/>
          </a:xfrm>
          <a:prstGeom prst="rect">
            <a:avLst/>
          </a:prstGeom>
          <a:noFill/>
          <a:ln/>
        </p:spPr>
        <p:txBody>
          <a:bodyPr wrap="square" lIns="0" tIns="0" rIns="0" bIns="0" rtlCol="0" anchor="ctr"/>
          <a:lstStyle/>
          <a:p>
            <a:pPr algn="ctr" indent="0" marL="0">
              <a:buNone/>
            </a:pPr>
            <a:r>
              <a:rPr lang="en-US" sz="1200" b="1" dirty="0">
                <a:solidFill>
                  <a:srgbClr val="FFFFFF"/>
                </a:solidFill>
                <a:latin typeface="Aptos" pitchFamily="34" charset="0"/>
                <a:ea typeface="Aptos" pitchFamily="34" charset="-122"/>
                <a:cs typeface="Aptos" pitchFamily="34" charset="-120"/>
              </a:rPr>
              <a:t>Cost</a:t>
            </a:r>
            <a:endParaRPr lang="en-US" sz="1200" dirty="0"/>
          </a:p>
        </p:txBody>
      </p:sp>
      <p:sp>
        <p:nvSpPr>
          <p:cNvPr id="28" name="Text 26"/>
          <p:cNvSpPr/>
          <p:nvPr/>
        </p:nvSpPr>
        <p:spPr>
          <a:xfrm>
            <a:off x="8302752" y="4389120"/>
            <a:ext cx="2779776" cy="612648"/>
          </a:xfrm>
          <a:prstGeom prst="rect">
            <a:avLst/>
          </a:prstGeom>
          <a:noFill/>
          <a:ln/>
        </p:spPr>
        <p:txBody>
          <a:bodyPr wrap="square" lIns="254" tIns="254" rIns="254" bIns="254" rtlCol="0" anchor="ctr">
            <a:normAutofit/>
          </a:bodyPr>
          <a:lstStyle/>
          <a:p>
            <a:pPr indent="0" marL="0">
              <a:buNone/>
            </a:pPr>
            <a:r>
              <a:rPr lang="en-US" sz="1230" dirty="0">
                <a:solidFill>
                  <a:srgbClr val="17202A"/>
                </a:solidFill>
                <a:latin typeface="Aptos" pitchFamily="34" charset="0"/>
                <a:ea typeface="Aptos" pitchFamily="34" charset="-122"/>
                <a:cs typeface="Aptos" pitchFamily="34" charset="-120"/>
              </a:rPr>
              <a:t>The agent may need to reason about many possible future action sequences.</a:t>
            </a:r>
            <a:endParaRPr lang="en-US" sz="1230" dirty="0"/>
          </a:p>
        </p:txBody>
      </p:sp>
      <p:sp>
        <p:nvSpPr>
          <p:cNvPr id="29" name="Text 27"/>
          <p:cNvSpPr/>
          <p:nvPr/>
        </p:nvSpPr>
        <p:spPr>
          <a:xfrm>
            <a:off x="502920" y="6574536"/>
            <a:ext cx="5760720" cy="118872"/>
          </a:xfrm>
          <a:prstGeom prst="rect">
            <a:avLst/>
          </a:prstGeom>
          <a:noFill/>
          <a:ln/>
        </p:spPr>
        <p:txBody>
          <a:bodyPr wrap="square" lIns="0" tIns="0" rIns="0" bIns="0" rtlCol="0" anchor="ctr"/>
          <a:lstStyle/>
          <a:p>
            <a:pPr indent="0" marL="0">
              <a:buNone/>
            </a:pPr>
            <a:r>
              <a:rPr lang="en-US" sz="650" dirty="0">
                <a:solidFill>
                  <a:srgbClr val="7A869A"/>
                </a:solidFill>
                <a:latin typeface="Aptos" pitchFamily="34" charset="0"/>
                <a:ea typeface="Aptos" pitchFamily="34" charset="-122"/>
                <a:cs typeface="Aptos" pitchFamily="34" charset="-120"/>
              </a:rPr>
              <a:t>AIMA Ch. 2 + UC Berkeley CS188 Part II companion</a:t>
            </a:r>
            <a:endParaRPr lang="en-US" sz="650" dirty="0"/>
          </a:p>
        </p:txBody>
      </p:sp>
      <p:sp>
        <p:nvSpPr>
          <p:cNvPr id="25" name="Slide Number Placeholder 0"/>
          <p:cNvSpPr>
            <a:spLocks noGrp="1"/>
          </p:cNvSpPr>
          <p:nvPr>
            <p:ph type="sldNum" sz="quarter" idx="4294967295"/>
          </p:nvPr>
        </p:nvSpPr>
        <p:spPr>
          <a:xfrm>
            <a:off x="5943600" y="658368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B778C"/>
                </a:solidFill>
                <a:latin typeface="Aptos"/>
                <a:ea typeface="Aptos"/>
                <a:cs typeface="Aptos"/>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02920" y="146304"/>
            <a:ext cx="11155680" cy="329184"/>
          </a:xfrm>
          <a:prstGeom prst="rect">
            <a:avLst/>
          </a:prstGeom>
          <a:noFill/>
          <a:ln/>
        </p:spPr>
        <p:txBody>
          <a:bodyPr wrap="square" lIns="0" tIns="0" rIns="0" bIns="0" rtlCol="0" anchor="ctr"/>
          <a:lstStyle/>
          <a:p>
            <a:pPr indent="0" marL="0">
              <a:buNone/>
            </a:pPr>
            <a:r>
              <a:rPr lang="en-US" sz="2500" b="1" dirty="0">
                <a:solidFill>
                  <a:srgbClr val="FFFFFF"/>
                </a:solidFill>
                <a:latin typeface="Aptos Display" pitchFamily="34" charset="0"/>
                <a:ea typeface="Aptos Display" pitchFamily="34" charset="-122"/>
                <a:cs typeface="Aptos Display" pitchFamily="34" charset="-120"/>
              </a:rPr>
              <a:t>Berkeley Lecture 2 Bridge: Reflex vs. Planning</a:t>
            </a:r>
            <a:endParaRPr lang="en-US" sz="2500" dirty="0"/>
          </a:p>
        </p:txBody>
      </p:sp>
      <p:sp>
        <p:nvSpPr>
          <p:cNvPr id="3" name="Shape 1"/>
          <p:cNvSpPr/>
          <p:nvPr/>
        </p:nvSpPr>
        <p:spPr>
          <a:xfrm>
            <a:off x="10058400" y="841248"/>
            <a:ext cx="1508760" cy="228600"/>
          </a:xfrm>
          <a:prstGeom prst="roundRect">
            <a:avLst>
              <a:gd name="adj" fmla="val 28000"/>
            </a:avLst>
          </a:prstGeom>
          <a:solidFill>
            <a:srgbClr val="EAF2FF"/>
          </a:solidFill>
          <a:ln w="12700">
            <a:solidFill>
              <a:srgbClr val="B7CAE4"/>
            </a:solidFill>
            <a:prstDash val="solid"/>
          </a:ln>
        </p:spPr>
      </p:sp>
      <p:sp>
        <p:nvSpPr>
          <p:cNvPr id="4" name="Text 2"/>
          <p:cNvSpPr/>
          <p:nvPr/>
        </p:nvSpPr>
        <p:spPr>
          <a:xfrm>
            <a:off x="10168128" y="900684"/>
            <a:ext cx="1298448" cy="91440"/>
          </a:xfrm>
          <a:prstGeom prst="rect">
            <a:avLst/>
          </a:prstGeom>
          <a:noFill/>
          <a:ln/>
        </p:spPr>
        <p:txBody>
          <a:bodyPr wrap="square" lIns="0" tIns="0" rIns="0" bIns="0" rtlCol="0" anchor="ctr"/>
          <a:lstStyle/>
          <a:p>
            <a:pPr algn="ctr" indent="0" marL="0">
              <a:buNone/>
            </a:pPr>
            <a:r>
              <a:rPr lang="en-US" sz="950" b="1" dirty="0">
                <a:solidFill>
                  <a:srgbClr val="102F63"/>
                </a:solidFill>
                <a:latin typeface="Aptos" pitchFamily="34" charset="0"/>
                <a:ea typeface="Aptos" pitchFamily="34" charset="-122"/>
                <a:cs typeface="Aptos" pitchFamily="34" charset="-120"/>
              </a:rPr>
              <a:t>Bridge</a:t>
            </a:r>
            <a:endParaRPr lang="en-US" sz="950" dirty="0"/>
          </a:p>
        </p:txBody>
      </p:sp>
      <p:sp>
        <p:nvSpPr>
          <p:cNvPr id="5" name="Shape 3"/>
          <p:cNvSpPr/>
          <p:nvPr/>
        </p:nvSpPr>
        <p:spPr>
          <a:xfrm>
            <a:off x="822960" y="1234440"/>
            <a:ext cx="3291840" cy="1828800"/>
          </a:xfrm>
          <a:prstGeom prst="roundRect">
            <a:avLst>
              <a:gd name="adj" fmla="val 4000"/>
            </a:avLst>
          </a:prstGeom>
          <a:solidFill>
            <a:srgbClr val="FFFFFF"/>
          </a:solidFill>
          <a:ln w="15240">
            <a:solidFill>
              <a:srgbClr val="B7C6DA"/>
            </a:solidFill>
            <a:prstDash val="solid"/>
          </a:ln>
        </p:spPr>
      </p:sp>
      <p:sp>
        <p:nvSpPr>
          <p:cNvPr id="6" name="Shape 4"/>
          <p:cNvSpPr/>
          <p:nvPr/>
        </p:nvSpPr>
        <p:spPr>
          <a:xfrm>
            <a:off x="822960" y="1234440"/>
            <a:ext cx="3291840" cy="329184"/>
          </a:xfrm>
          <a:prstGeom prst="rect">
            <a:avLst/>
          </a:prstGeom>
          <a:solidFill>
            <a:srgbClr val="1F65B6"/>
          </a:solidFill>
          <a:ln w="12700">
            <a:solidFill>
              <a:srgbClr val="1F65B6"/>
            </a:solidFill>
            <a:prstDash val="solid"/>
          </a:ln>
        </p:spPr>
      </p:sp>
      <p:sp>
        <p:nvSpPr>
          <p:cNvPr id="7" name="Text 5"/>
          <p:cNvSpPr/>
          <p:nvPr/>
        </p:nvSpPr>
        <p:spPr>
          <a:xfrm>
            <a:off x="932688" y="1307592"/>
            <a:ext cx="3072384" cy="164592"/>
          </a:xfrm>
          <a:prstGeom prst="rect">
            <a:avLst/>
          </a:prstGeom>
          <a:noFill/>
          <a:ln/>
        </p:spPr>
        <p:txBody>
          <a:bodyPr wrap="square" lIns="0" tIns="0" rIns="0" bIns="0" rtlCol="0" anchor="ctr"/>
          <a:lstStyle/>
          <a:p>
            <a:pPr algn="ctr" indent="0" marL="0">
              <a:buNone/>
            </a:pPr>
            <a:r>
              <a:rPr lang="en-US" sz="1200" b="1" dirty="0">
                <a:solidFill>
                  <a:srgbClr val="FFFFFF"/>
                </a:solidFill>
                <a:latin typeface="Aptos" pitchFamily="34" charset="0"/>
                <a:ea typeface="Aptos" pitchFamily="34" charset="-122"/>
                <a:cs typeface="Aptos" pitchFamily="34" charset="-120"/>
              </a:rPr>
              <a:t>Reflex agent</a:t>
            </a:r>
            <a:endParaRPr lang="en-US" sz="1200" dirty="0"/>
          </a:p>
        </p:txBody>
      </p:sp>
      <p:sp>
        <p:nvSpPr>
          <p:cNvPr id="8" name="Text 6"/>
          <p:cNvSpPr/>
          <p:nvPr/>
        </p:nvSpPr>
        <p:spPr>
          <a:xfrm>
            <a:off x="987552" y="1737360"/>
            <a:ext cx="2962656" cy="1207008"/>
          </a:xfrm>
          <a:prstGeom prst="rect">
            <a:avLst/>
          </a:prstGeom>
          <a:noFill/>
          <a:ln/>
        </p:spPr>
        <p:txBody>
          <a:bodyPr wrap="square" lIns="254" tIns="254" rIns="254" bIns="254" rtlCol="0" anchor="ctr">
            <a:normAutofit/>
          </a:bodyPr>
          <a:lstStyle/>
          <a:p>
            <a:pPr indent="0" marL="0">
              <a:buNone/>
            </a:pPr>
            <a:r>
              <a:rPr lang="en-US" sz="1230" dirty="0">
                <a:solidFill>
                  <a:srgbClr val="17202A"/>
                </a:solidFill>
                <a:latin typeface="Aptos" pitchFamily="34" charset="0"/>
                <a:ea typeface="Aptos" pitchFamily="34" charset="-122"/>
                <a:cs typeface="Aptos" pitchFamily="34" charset="-120"/>
              </a:rPr>
              <a:t>Chooses action from current percept and maybe memory; does not consider future consequences.</a:t>
            </a:r>
            <a:endParaRPr lang="en-US" sz="1230" dirty="0"/>
          </a:p>
        </p:txBody>
      </p:sp>
      <p:sp>
        <p:nvSpPr>
          <p:cNvPr id="9" name="Shape 7"/>
          <p:cNvSpPr/>
          <p:nvPr/>
        </p:nvSpPr>
        <p:spPr>
          <a:xfrm>
            <a:off x="4434840" y="1234440"/>
            <a:ext cx="3291840" cy="1828800"/>
          </a:xfrm>
          <a:prstGeom prst="roundRect">
            <a:avLst>
              <a:gd name="adj" fmla="val 4000"/>
            </a:avLst>
          </a:prstGeom>
          <a:solidFill>
            <a:srgbClr val="FFFFFF"/>
          </a:solidFill>
          <a:ln w="15240">
            <a:solidFill>
              <a:srgbClr val="B7C6DA"/>
            </a:solidFill>
            <a:prstDash val="solid"/>
          </a:ln>
        </p:spPr>
      </p:sp>
      <p:sp>
        <p:nvSpPr>
          <p:cNvPr id="10" name="Shape 8"/>
          <p:cNvSpPr/>
          <p:nvPr/>
        </p:nvSpPr>
        <p:spPr>
          <a:xfrm>
            <a:off x="4434840" y="1234440"/>
            <a:ext cx="3291840" cy="329184"/>
          </a:xfrm>
          <a:prstGeom prst="rect">
            <a:avLst/>
          </a:prstGeom>
          <a:solidFill>
            <a:srgbClr val="1F7A3D"/>
          </a:solidFill>
          <a:ln w="12700">
            <a:solidFill>
              <a:srgbClr val="1F7A3D"/>
            </a:solidFill>
            <a:prstDash val="solid"/>
          </a:ln>
        </p:spPr>
      </p:sp>
      <p:sp>
        <p:nvSpPr>
          <p:cNvPr id="11" name="Text 9"/>
          <p:cNvSpPr/>
          <p:nvPr/>
        </p:nvSpPr>
        <p:spPr>
          <a:xfrm>
            <a:off x="4544568" y="1307592"/>
            <a:ext cx="3072384" cy="164592"/>
          </a:xfrm>
          <a:prstGeom prst="rect">
            <a:avLst/>
          </a:prstGeom>
          <a:noFill/>
          <a:ln/>
        </p:spPr>
        <p:txBody>
          <a:bodyPr wrap="square" lIns="0" tIns="0" rIns="0" bIns="0" rtlCol="0" anchor="ctr"/>
          <a:lstStyle/>
          <a:p>
            <a:pPr algn="ctr" indent="0" marL="0">
              <a:buNone/>
            </a:pPr>
            <a:r>
              <a:rPr lang="en-US" sz="1200" b="1" dirty="0">
                <a:solidFill>
                  <a:srgbClr val="FFFFFF"/>
                </a:solidFill>
                <a:latin typeface="Aptos" pitchFamily="34" charset="0"/>
                <a:ea typeface="Aptos" pitchFamily="34" charset="-122"/>
                <a:cs typeface="Aptos" pitchFamily="34" charset="-120"/>
              </a:rPr>
              <a:t>Planning agent</a:t>
            </a:r>
            <a:endParaRPr lang="en-US" sz="1200" dirty="0"/>
          </a:p>
        </p:txBody>
      </p:sp>
      <p:sp>
        <p:nvSpPr>
          <p:cNvPr id="12" name="Text 10"/>
          <p:cNvSpPr/>
          <p:nvPr/>
        </p:nvSpPr>
        <p:spPr>
          <a:xfrm>
            <a:off x="4599432" y="1737360"/>
            <a:ext cx="2962656" cy="1207008"/>
          </a:xfrm>
          <a:prstGeom prst="rect">
            <a:avLst/>
          </a:prstGeom>
          <a:noFill/>
          <a:ln/>
        </p:spPr>
        <p:txBody>
          <a:bodyPr wrap="square" lIns="254" tIns="254" rIns="254" bIns="254" rtlCol="0" anchor="ctr">
            <a:normAutofit/>
          </a:bodyPr>
          <a:lstStyle/>
          <a:p>
            <a:pPr indent="0" marL="0">
              <a:buNone/>
            </a:pPr>
            <a:r>
              <a:rPr lang="en-US" sz="1230" dirty="0">
                <a:solidFill>
                  <a:srgbClr val="17202A"/>
                </a:solidFill>
                <a:latin typeface="Aptos" pitchFamily="34" charset="0"/>
                <a:ea typeface="Aptos" pitchFamily="34" charset="-122"/>
                <a:cs typeface="Aptos" pitchFamily="34" charset="-120"/>
              </a:rPr>
              <a:t>Asks “what if?” and chooses actions based on predicted consequences.</a:t>
            </a:r>
            <a:endParaRPr lang="en-US" sz="1230" dirty="0"/>
          </a:p>
        </p:txBody>
      </p:sp>
      <p:sp>
        <p:nvSpPr>
          <p:cNvPr id="13" name="Shape 11"/>
          <p:cNvSpPr/>
          <p:nvPr/>
        </p:nvSpPr>
        <p:spPr>
          <a:xfrm>
            <a:off x="8046720" y="1234440"/>
            <a:ext cx="3291840" cy="1828800"/>
          </a:xfrm>
          <a:prstGeom prst="roundRect">
            <a:avLst>
              <a:gd name="adj" fmla="val 4000"/>
            </a:avLst>
          </a:prstGeom>
          <a:solidFill>
            <a:srgbClr val="FFFFFF"/>
          </a:solidFill>
          <a:ln w="15240">
            <a:solidFill>
              <a:srgbClr val="B7C6DA"/>
            </a:solidFill>
            <a:prstDash val="solid"/>
          </a:ln>
        </p:spPr>
      </p:sp>
      <p:sp>
        <p:nvSpPr>
          <p:cNvPr id="14" name="Shape 12"/>
          <p:cNvSpPr/>
          <p:nvPr/>
        </p:nvSpPr>
        <p:spPr>
          <a:xfrm>
            <a:off x="8046720" y="1234440"/>
            <a:ext cx="3291840" cy="329184"/>
          </a:xfrm>
          <a:prstGeom prst="rect">
            <a:avLst/>
          </a:prstGeom>
          <a:solidFill>
            <a:srgbClr val="F5A623"/>
          </a:solidFill>
          <a:ln w="12700">
            <a:solidFill>
              <a:srgbClr val="F5A623"/>
            </a:solidFill>
            <a:prstDash val="solid"/>
          </a:ln>
        </p:spPr>
      </p:sp>
      <p:sp>
        <p:nvSpPr>
          <p:cNvPr id="15" name="Text 13"/>
          <p:cNvSpPr/>
          <p:nvPr/>
        </p:nvSpPr>
        <p:spPr>
          <a:xfrm>
            <a:off x="8156448" y="1307592"/>
            <a:ext cx="3072384" cy="164592"/>
          </a:xfrm>
          <a:prstGeom prst="rect">
            <a:avLst/>
          </a:prstGeom>
          <a:noFill/>
          <a:ln/>
        </p:spPr>
        <p:txBody>
          <a:bodyPr wrap="square" lIns="0" tIns="0" rIns="0" bIns="0" rtlCol="0" anchor="ctr"/>
          <a:lstStyle/>
          <a:p>
            <a:pPr algn="ctr" indent="0" marL="0">
              <a:buNone/>
            </a:pPr>
            <a:r>
              <a:rPr lang="en-US" sz="1200" b="1" dirty="0">
                <a:solidFill>
                  <a:srgbClr val="FFFFFF"/>
                </a:solidFill>
                <a:latin typeface="Aptos" pitchFamily="34" charset="0"/>
                <a:ea typeface="Aptos" pitchFamily="34" charset="-122"/>
                <a:cs typeface="Aptos" pitchFamily="34" charset="-120"/>
              </a:rPr>
              <a:t>Replanning Pac-Man</a:t>
            </a:r>
            <a:endParaRPr lang="en-US" sz="1200" dirty="0"/>
          </a:p>
        </p:txBody>
      </p:sp>
      <p:sp>
        <p:nvSpPr>
          <p:cNvPr id="16" name="Text 14"/>
          <p:cNvSpPr/>
          <p:nvPr/>
        </p:nvSpPr>
        <p:spPr>
          <a:xfrm>
            <a:off x="8211312" y="1737360"/>
            <a:ext cx="2962656" cy="1207008"/>
          </a:xfrm>
          <a:prstGeom prst="rect">
            <a:avLst/>
          </a:prstGeom>
          <a:noFill/>
          <a:ln/>
        </p:spPr>
        <p:txBody>
          <a:bodyPr wrap="square" lIns="254" tIns="254" rIns="254" bIns="254" rtlCol="0" anchor="ctr">
            <a:normAutofit/>
          </a:bodyPr>
          <a:lstStyle/>
          <a:p>
            <a:pPr indent="0" marL="0">
              <a:buNone/>
            </a:pPr>
            <a:r>
              <a:rPr lang="en-US" sz="1230" dirty="0">
                <a:solidFill>
                  <a:srgbClr val="17202A"/>
                </a:solidFill>
                <a:latin typeface="Aptos" pitchFamily="34" charset="0"/>
                <a:ea typeface="Aptos" pitchFamily="34" charset="-122"/>
                <a:cs typeface="Aptos" pitchFamily="34" charset="-120"/>
              </a:rPr>
              <a:t>Plans a little way ahead, acts, then replans from the new state.</a:t>
            </a:r>
            <a:endParaRPr lang="en-US" sz="1230" dirty="0"/>
          </a:p>
        </p:txBody>
      </p:sp>
      <p:sp>
        <p:nvSpPr>
          <p:cNvPr id="17" name="Text 15"/>
          <p:cNvSpPr/>
          <p:nvPr/>
        </p:nvSpPr>
        <p:spPr>
          <a:xfrm>
            <a:off x="1188720" y="4069080"/>
            <a:ext cx="9784080" cy="475488"/>
          </a:xfrm>
          <a:prstGeom prst="rect">
            <a:avLst/>
          </a:prstGeom>
          <a:noFill/>
          <a:ln/>
        </p:spPr>
        <p:txBody>
          <a:bodyPr wrap="square" rtlCol="0" anchor="ctr"/>
          <a:lstStyle/>
          <a:p>
            <a:pPr algn="ctr" indent="0" marL="0">
              <a:buNone/>
            </a:pPr>
            <a:r>
              <a:rPr lang="en-US" sz="1900" b="1" dirty="0">
                <a:solidFill>
                  <a:srgbClr val="102F63"/>
                </a:solidFill>
              </a:rPr>
              <a:t>Use this video only as a transition: the first ~10 minutes support Chapter 2; the rest is Chapter 3 search.</a:t>
            </a:r>
            <a:endParaRPr lang="en-US" sz="1900" dirty="0"/>
          </a:p>
        </p:txBody>
      </p:sp>
      <p:sp>
        <p:nvSpPr>
          <p:cNvPr id="18" name="Shape 16"/>
          <p:cNvSpPr/>
          <p:nvPr/>
        </p:nvSpPr>
        <p:spPr>
          <a:xfrm>
            <a:off x="1417320" y="5074920"/>
            <a:ext cx="9372600" cy="475488"/>
          </a:xfrm>
          <a:prstGeom prst="roundRect">
            <a:avLst>
              <a:gd name="adj" fmla="val 11538"/>
            </a:avLst>
          </a:prstGeom>
          <a:solidFill>
            <a:srgbClr val="FFEFCB"/>
          </a:solidFill>
          <a:ln w="12700">
            <a:solidFill>
              <a:srgbClr val="AFC2DC"/>
            </a:solidFill>
            <a:prstDash val="solid"/>
          </a:ln>
        </p:spPr>
      </p:sp>
      <p:sp>
        <p:nvSpPr>
          <p:cNvPr id="19" name="Text 17"/>
          <p:cNvSpPr/>
          <p:nvPr/>
        </p:nvSpPr>
        <p:spPr>
          <a:xfrm>
            <a:off x="1463040" y="5129784"/>
            <a:ext cx="9281160" cy="384048"/>
          </a:xfrm>
          <a:prstGeom prst="rect">
            <a:avLst/>
          </a:prstGeom>
          <a:noFill/>
          <a:ln/>
        </p:spPr>
        <p:txBody>
          <a:bodyPr wrap="square" lIns="0" tIns="0" rIns="0" bIns="0" rtlCol="0" anchor="ctr">
            <a:normAutofit/>
          </a:bodyPr>
          <a:lstStyle/>
          <a:p>
            <a:pPr algn="ctr" indent="0" marL="0">
              <a:buNone/>
            </a:pPr>
            <a:r>
              <a:rPr lang="en-US" sz="1250" b="1" dirty="0">
                <a:solidFill>
                  <a:srgbClr val="102F63"/>
                </a:solidFill>
                <a:latin typeface="Aptos" pitchFamily="34" charset="0"/>
                <a:ea typeface="Aptos" pitchFamily="34" charset="-122"/>
                <a:cs typeface="Aptos" pitchFamily="34" charset="-120"/>
              </a:rPr>
              <a:t>Chapter 2 concept → goal-based agents. Chapter 3 mechanism → search over future action sequences.</a:t>
            </a:r>
            <a:endParaRPr lang="en-US" sz="1250" dirty="0"/>
          </a:p>
        </p:txBody>
      </p:sp>
      <p:sp>
        <p:nvSpPr>
          <p:cNvPr id="20" name="Text 18"/>
          <p:cNvSpPr/>
          <p:nvPr/>
        </p:nvSpPr>
        <p:spPr>
          <a:xfrm>
            <a:off x="502920" y="6574536"/>
            <a:ext cx="5760720" cy="118872"/>
          </a:xfrm>
          <a:prstGeom prst="rect">
            <a:avLst/>
          </a:prstGeom>
          <a:noFill/>
          <a:ln/>
        </p:spPr>
        <p:txBody>
          <a:bodyPr wrap="square" lIns="0" tIns="0" rIns="0" bIns="0" rtlCol="0" anchor="ctr"/>
          <a:lstStyle/>
          <a:p>
            <a:pPr indent="0" marL="0">
              <a:buNone/>
            </a:pPr>
            <a:r>
              <a:rPr lang="en-US" sz="650" dirty="0">
                <a:solidFill>
                  <a:srgbClr val="7A869A"/>
                </a:solidFill>
                <a:latin typeface="Aptos" pitchFamily="34" charset="0"/>
                <a:ea typeface="Aptos" pitchFamily="34" charset="-122"/>
                <a:cs typeface="Aptos" pitchFamily="34" charset="-120"/>
              </a:rPr>
              <a:t>Berkeley Lecture 2 transcript + AIMA Ch. 2</a:t>
            </a:r>
            <a:endParaRPr lang="en-US" sz="650" dirty="0"/>
          </a:p>
        </p:txBody>
      </p:sp>
      <p:sp>
        <p:nvSpPr>
          <p:cNvPr id="25" name="Slide Number Placeholder 0"/>
          <p:cNvSpPr>
            <a:spLocks noGrp="1"/>
          </p:cNvSpPr>
          <p:nvPr>
            <p:ph type="sldNum" sz="quarter" idx="4294967295"/>
          </p:nvPr>
        </p:nvSpPr>
        <p:spPr>
          <a:xfrm>
            <a:off x="5943600" y="658368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B778C"/>
                </a:solidFill>
                <a:latin typeface="Aptos"/>
                <a:ea typeface="Aptos"/>
                <a:cs typeface="Aptos"/>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02920" y="146304"/>
            <a:ext cx="11155680" cy="329184"/>
          </a:xfrm>
          <a:prstGeom prst="rect">
            <a:avLst/>
          </a:prstGeom>
          <a:noFill/>
          <a:ln/>
        </p:spPr>
        <p:txBody>
          <a:bodyPr wrap="square" lIns="0" tIns="0" rIns="0" bIns="0" rtlCol="0" anchor="ctr"/>
          <a:lstStyle/>
          <a:p>
            <a:pPr indent="0" marL="0">
              <a:buNone/>
            </a:pPr>
            <a:r>
              <a:rPr lang="en-US" sz="2500" b="1" dirty="0">
                <a:solidFill>
                  <a:srgbClr val="FFFFFF"/>
                </a:solidFill>
                <a:latin typeface="Aptos Display" pitchFamily="34" charset="0"/>
                <a:ea typeface="Aptos Display" pitchFamily="34" charset="-122"/>
                <a:cs typeface="Aptos Display" pitchFamily="34" charset="-120"/>
              </a:rPr>
              <a:t>2.4.5 Utility-Based Agents</a:t>
            </a:r>
            <a:endParaRPr lang="en-US" sz="2500" dirty="0"/>
          </a:p>
        </p:txBody>
      </p:sp>
      <p:sp>
        <p:nvSpPr>
          <p:cNvPr id="3" name="Shape 1"/>
          <p:cNvSpPr/>
          <p:nvPr/>
        </p:nvSpPr>
        <p:spPr>
          <a:xfrm>
            <a:off x="10058400" y="841248"/>
            <a:ext cx="1508760" cy="228600"/>
          </a:xfrm>
          <a:prstGeom prst="roundRect">
            <a:avLst>
              <a:gd name="adj" fmla="val 28000"/>
            </a:avLst>
          </a:prstGeom>
          <a:solidFill>
            <a:srgbClr val="EAF2FF"/>
          </a:solidFill>
          <a:ln w="12700">
            <a:solidFill>
              <a:srgbClr val="B7CAE4"/>
            </a:solidFill>
            <a:prstDash val="solid"/>
          </a:ln>
        </p:spPr>
      </p:sp>
      <p:sp>
        <p:nvSpPr>
          <p:cNvPr id="4" name="Text 2"/>
          <p:cNvSpPr/>
          <p:nvPr/>
        </p:nvSpPr>
        <p:spPr>
          <a:xfrm>
            <a:off x="10168128" y="900684"/>
            <a:ext cx="1298448" cy="91440"/>
          </a:xfrm>
          <a:prstGeom prst="rect">
            <a:avLst/>
          </a:prstGeom>
          <a:noFill/>
          <a:ln/>
        </p:spPr>
        <p:txBody>
          <a:bodyPr wrap="square" lIns="0" tIns="0" rIns="0" bIns="0" rtlCol="0" anchor="ctr"/>
          <a:lstStyle/>
          <a:p>
            <a:pPr algn="ctr" indent="0" marL="0">
              <a:buNone/>
            </a:pPr>
            <a:r>
              <a:rPr lang="en-US" sz="950" b="1" dirty="0">
                <a:solidFill>
                  <a:srgbClr val="102F63"/>
                </a:solidFill>
                <a:latin typeface="Aptos" pitchFamily="34" charset="0"/>
                <a:ea typeface="Aptos" pitchFamily="34" charset="-122"/>
                <a:cs typeface="Aptos" pitchFamily="34" charset="-120"/>
              </a:rPr>
              <a:t>2.4.5</a:t>
            </a:r>
            <a:endParaRPr lang="en-US" sz="950" dirty="0"/>
          </a:p>
        </p:txBody>
      </p:sp>
      <p:sp>
        <p:nvSpPr>
          <p:cNvPr id="5" name="Text 3"/>
          <p:cNvSpPr/>
          <p:nvPr/>
        </p:nvSpPr>
        <p:spPr>
          <a:xfrm>
            <a:off x="914400" y="1115568"/>
            <a:ext cx="10241280" cy="329184"/>
          </a:xfrm>
          <a:prstGeom prst="rect">
            <a:avLst/>
          </a:prstGeom>
          <a:noFill/>
          <a:ln/>
        </p:spPr>
        <p:txBody>
          <a:bodyPr wrap="square" rtlCol="0" anchor="ctr"/>
          <a:lstStyle/>
          <a:p>
            <a:pPr algn="ctr" indent="0" marL="0">
              <a:buNone/>
            </a:pPr>
            <a:r>
              <a:rPr lang="en-US" sz="2100" b="1" dirty="0">
                <a:solidFill>
                  <a:srgbClr val="102F63"/>
                </a:solidFill>
              </a:rPr>
              <a:t>Goals say whether a state is acceptable; utility ranks how good it is.</a:t>
            </a:r>
            <a:endParaRPr lang="en-US" sz="2100" dirty="0"/>
          </a:p>
        </p:txBody>
      </p:sp>
      <p:sp>
        <p:nvSpPr>
          <p:cNvPr id="6" name="Shape 4"/>
          <p:cNvSpPr/>
          <p:nvPr/>
        </p:nvSpPr>
        <p:spPr>
          <a:xfrm>
            <a:off x="914400" y="1828800"/>
            <a:ext cx="2971800" cy="1645920"/>
          </a:xfrm>
          <a:prstGeom prst="roundRect">
            <a:avLst>
              <a:gd name="adj" fmla="val 4444"/>
            </a:avLst>
          </a:prstGeom>
          <a:solidFill>
            <a:srgbClr val="FFFFFF"/>
          </a:solidFill>
          <a:ln w="15240">
            <a:solidFill>
              <a:srgbClr val="B7C6DA"/>
            </a:solidFill>
            <a:prstDash val="solid"/>
          </a:ln>
        </p:spPr>
      </p:sp>
      <p:sp>
        <p:nvSpPr>
          <p:cNvPr id="7" name="Shape 5"/>
          <p:cNvSpPr/>
          <p:nvPr/>
        </p:nvSpPr>
        <p:spPr>
          <a:xfrm>
            <a:off x="914400" y="1828800"/>
            <a:ext cx="2971800" cy="329184"/>
          </a:xfrm>
          <a:prstGeom prst="rect">
            <a:avLst/>
          </a:prstGeom>
          <a:solidFill>
            <a:srgbClr val="1F7A3D"/>
          </a:solidFill>
          <a:ln w="12700">
            <a:solidFill>
              <a:srgbClr val="1F7A3D"/>
            </a:solidFill>
            <a:prstDash val="solid"/>
          </a:ln>
        </p:spPr>
      </p:sp>
      <p:sp>
        <p:nvSpPr>
          <p:cNvPr id="8" name="Text 6"/>
          <p:cNvSpPr/>
          <p:nvPr/>
        </p:nvSpPr>
        <p:spPr>
          <a:xfrm>
            <a:off x="1024128" y="1901952"/>
            <a:ext cx="2752344" cy="164592"/>
          </a:xfrm>
          <a:prstGeom prst="rect">
            <a:avLst/>
          </a:prstGeom>
          <a:noFill/>
          <a:ln/>
        </p:spPr>
        <p:txBody>
          <a:bodyPr wrap="square" lIns="0" tIns="0" rIns="0" bIns="0" rtlCol="0" anchor="ctr"/>
          <a:lstStyle/>
          <a:p>
            <a:pPr algn="ctr" indent="0" marL="0">
              <a:buNone/>
            </a:pPr>
            <a:r>
              <a:rPr lang="en-US" sz="1200" b="1" dirty="0">
                <a:solidFill>
                  <a:srgbClr val="FFFFFF"/>
                </a:solidFill>
                <a:latin typeface="Aptos" pitchFamily="34" charset="0"/>
                <a:ea typeface="Aptos" pitchFamily="34" charset="-122"/>
                <a:cs typeface="Aptos" pitchFamily="34" charset="-120"/>
              </a:rPr>
              <a:t>Goal-based</a:t>
            </a:r>
            <a:endParaRPr lang="en-US" sz="1200" dirty="0"/>
          </a:p>
        </p:txBody>
      </p:sp>
      <p:sp>
        <p:nvSpPr>
          <p:cNvPr id="9" name="Text 7"/>
          <p:cNvSpPr/>
          <p:nvPr/>
        </p:nvSpPr>
        <p:spPr>
          <a:xfrm>
            <a:off x="1078992" y="2331720"/>
            <a:ext cx="2642616" cy="1024128"/>
          </a:xfrm>
          <a:prstGeom prst="rect">
            <a:avLst/>
          </a:prstGeom>
          <a:noFill/>
          <a:ln/>
        </p:spPr>
        <p:txBody>
          <a:bodyPr wrap="square" lIns="254" tIns="254" rIns="254" bIns="254" rtlCol="0" anchor="ctr">
            <a:normAutofit/>
          </a:bodyPr>
          <a:lstStyle/>
          <a:p>
            <a:pPr indent="0" marL="0">
              <a:buNone/>
            </a:pPr>
            <a:r>
              <a:rPr lang="en-US" sz="1230" dirty="0">
                <a:solidFill>
                  <a:srgbClr val="17202A"/>
                </a:solidFill>
                <a:latin typeface="Aptos" pitchFamily="34" charset="0"/>
                <a:ea typeface="Aptos" pitchFamily="34" charset="-122"/>
                <a:cs typeface="Aptos" pitchFamily="34" charset="-120"/>
              </a:rPr>
              <a:t>Destination reached?</a:t>
            </a:r>
            <a:endParaRPr lang="en-US" sz="1230" dirty="0"/>
          </a:p>
          <a:p>
            <a:pPr indent="0" marL="0">
              <a:buNone/>
            </a:pPr>
            <a:endParaRPr lang="en-US" sz="1230" dirty="0"/>
          </a:p>
          <a:p>
            <a:pPr indent="0" marL="0">
              <a:buNone/>
            </a:pPr>
            <a:r>
              <a:rPr lang="en-US" sz="1230" dirty="0">
                <a:solidFill>
                  <a:srgbClr val="17202A"/>
                </a:solidFill>
                <a:latin typeface="Aptos" pitchFamily="34" charset="0"/>
                <a:ea typeface="Aptos" pitchFamily="34" charset="-122"/>
                <a:cs typeface="Aptos" pitchFamily="34" charset="-120"/>
              </a:rPr>
              <a:t>Yes or no.</a:t>
            </a:r>
            <a:endParaRPr lang="en-US" sz="1230" dirty="0"/>
          </a:p>
        </p:txBody>
      </p:sp>
      <p:sp>
        <p:nvSpPr>
          <p:cNvPr id="10" name="Shape 8"/>
          <p:cNvSpPr/>
          <p:nvPr/>
        </p:nvSpPr>
        <p:spPr>
          <a:xfrm>
            <a:off x="4572000" y="1828800"/>
            <a:ext cx="2971800" cy="1645920"/>
          </a:xfrm>
          <a:prstGeom prst="roundRect">
            <a:avLst>
              <a:gd name="adj" fmla="val 4444"/>
            </a:avLst>
          </a:prstGeom>
          <a:solidFill>
            <a:srgbClr val="FFFFFF"/>
          </a:solidFill>
          <a:ln w="15240">
            <a:solidFill>
              <a:srgbClr val="B7C6DA"/>
            </a:solidFill>
            <a:prstDash val="solid"/>
          </a:ln>
        </p:spPr>
      </p:sp>
      <p:sp>
        <p:nvSpPr>
          <p:cNvPr id="11" name="Shape 9"/>
          <p:cNvSpPr/>
          <p:nvPr/>
        </p:nvSpPr>
        <p:spPr>
          <a:xfrm>
            <a:off x="4572000" y="1828800"/>
            <a:ext cx="2971800" cy="329184"/>
          </a:xfrm>
          <a:prstGeom prst="rect">
            <a:avLst/>
          </a:prstGeom>
          <a:solidFill>
            <a:srgbClr val="6D28D9"/>
          </a:solidFill>
          <a:ln w="12700">
            <a:solidFill>
              <a:srgbClr val="6D28D9"/>
            </a:solidFill>
            <a:prstDash val="solid"/>
          </a:ln>
        </p:spPr>
      </p:sp>
      <p:sp>
        <p:nvSpPr>
          <p:cNvPr id="12" name="Text 10"/>
          <p:cNvSpPr/>
          <p:nvPr/>
        </p:nvSpPr>
        <p:spPr>
          <a:xfrm>
            <a:off x="4681728" y="1901952"/>
            <a:ext cx="2752344" cy="164592"/>
          </a:xfrm>
          <a:prstGeom prst="rect">
            <a:avLst/>
          </a:prstGeom>
          <a:noFill/>
          <a:ln/>
        </p:spPr>
        <p:txBody>
          <a:bodyPr wrap="square" lIns="0" tIns="0" rIns="0" bIns="0" rtlCol="0" anchor="ctr"/>
          <a:lstStyle/>
          <a:p>
            <a:pPr algn="ctr" indent="0" marL="0">
              <a:buNone/>
            </a:pPr>
            <a:r>
              <a:rPr lang="en-US" sz="1200" b="1" dirty="0">
                <a:solidFill>
                  <a:srgbClr val="FFFFFF"/>
                </a:solidFill>
                <a:latin typeface="Aptos" pitchFamily="34" charset="0"/>
                <a:ea typeface="Aptos" pitchFamily="34" charset="-122"/>
                <a:cs typeface="Aptos" pitchFamily="34" charset="-120"/>
              </a:rPr>
              <a:t>Utility-based</a:t>
            </a:r>
            <a:endParaRPr lang="en-US" sz="1200" dirty="0"/>
          </a:p>
        </p:txBody>
      </p:sp>
      <p:sp>
        <p:nvSpPr>
          <p:cNvPr id="13" name="Text 11"/>
          <p:cNvSpPr/>
          <p:nvPr/>
        </p:nvSpPr>
        <p:spPr>
          <a:xfrm>
            <a:off x="4736592" y="2331720"/>
            <a:ext cx="2642616" cy="1024128"/>
          </a:xfrm>
          <a:prstGeom prst="rect">
            <a:avLst/>
          </a:prstGeom>
          <a:noFill/>
          <a:ln/>
        </p:spPr>
        <p:txBody>
          <a:bodyPr wrap="square" lIns="254" tIns="254" rIns="254" bIns="254" rtlCol="0" anchor="ctr">
            <a:normAutofit/>
          </a:bodyPr>
          <a:lstStyle/>
          <a:p>
            <a:pPr indent="0" marL="0">
              <a:buNone/>
            </a:pPr>
            <a:r>
              <a:rPr lang="en-US" sz="1230" dirty="0">
                <a:solidFill>
                  <a:srgbClr val="17202A"/>
                </a:solidFill>
                <a:latin typeface="Aptos" pitchFamily="34" charset="0"/>
                <a:ea typeface="Aptos" pitchFamily="34" charset="-122"/>
                <a:cs typeface="Aptos" pitchFamily="34" charset="-120"/>
              </a:rPr>
              <a:t>How good is each outcome?</a:t>
            </a:r>
            <a:endParaRPr lang="en-US" sz="1230" dirty="0"/>
          </a:p>
          <a:p>
            <a:pPr indent="0" marL="0">
              <a:buNone/>
            </a:pPr>
            <a:endParaRPr lang="en-US" sz="1230" dirty="0"/>
          </a:p>
          <a:p>
            <a:pPr indent="0" marL="0">
              <a:buNone/>
            </a:pPr>
            <a:r>
              <a:rPr lang="en-US" sz="1230" dirty="0">
                <a:solidFill>
                  <a:srgbClr val="17202A"/>
                </a:solidFill>
                <a:latin typeface="Aptos" pitchFamily="34" charset="0"/>
                <a:ea typeface="Aptos" pitchFamily="34" charset="-122"/>
                <a:cs typeface="Aptos" pitchFamily="34" charset="-120"/>
              </a:rPr>
              <a:t>Fast, safe, comfortable, cheap?</a:t>
            </a:r>
            <a:endParaRPr lang="en-US" sz="1230" dirty="0"/>
          </a:p>
        </p:txBody>
      </p:sp>
      <p:sp>
        <p:nvSpPr>
          <p:cNvPr id="14" name="Shape 12"/>
          <p:cNvSpPr/>
          <p:nvPr/>
        </p:nvSpPr>
        <p:spPr>
          <a:xfrm>
            <a:off x="8229600" y="1828800"/>
            <a:ext cx="2971800" cy="1645920"/>
          </a:xfrm>
          <a:prstGeom prst="roundRect">
            <a:avLst>
              <a:gd name="adj" fmla="val 4444"/>
            </a:avLst>
          </a:prstGeom>
          <a:solidFill>
            <a:srgbClr val="FFFFFF"/>
          </a:solidFill>
          <a:ln w="15240">
            <a:solidFill>
              <a:srgbClr val="B7C6DA"/>
            </a:solidFill>
            <a:prstDash val="solid"/>
          </a:ln>
        </p:spPr>
      </p:sp>
      <p:sp>
        <p:nvSpPr>
          <p:cNvPr id="15" name="Shape 13"/>
          <p:cNvSpPr/>
          <p:nvPr/>
        </p:nvSpPr>
        <p:spPr>
          <a:xfrm>
            <a:off x="8229600" y="1828800"/>
            <a:ext cx="2971800" cy="329184"/>
          </a:xfrm>
          <a:prstGeom prst="rect">
            <a:avLst/>
          </a:prstGeom>
          <a:solidFill>
            <a:srgbClr val="1F65B6"/>
          </a:solidFill>
          <a:ln w="12700">
            <a:solidFill>
              <a:srgbClr val="1F65B6"/>
            </a:solidFill>
            <a:prstDash val="solid"/>
          </a:ln>
        </p:spPr>
      </p:sp>
      <p:sp>
        <p:nvSpPr>
          <p:cNvPr id="16" name="Text 14"/>
          <p:cNvSpPr/>
          <p:nvPr/>
        </p:nvSpPr>
        <p:spPr>
          <a:xfrm>
            <a:off x="8339328" y="1901952"/>
            <a:ext cx="2752344" cy="164592"/>
          </a:xfrm>
          <a:prstGeom prst="rect">
            <a:avLst/>
          </a:prstGeom>
          <a:noFill/>
          <a:ln/>
        </p:spPr>
        <p:txBody>
          <a:bodyPr wrap="square" lIns="0" tIns="0" rIns="0" bIns="0" rtlCol="0" anchor="ctr"/>
          <a:lstStyle/>
          <a:p>
            <a:pPr algn="ctr" indent="0" marL="0">
              <a:buNone/>
            </a:pPr>
            <a:r>
              <a:rPr lang="en-US" sz="1200" b="1" dirty="0">
                <a:solidFill>
                  <a:srgbClr val="FFFFFF"/>
                </a:solidFill>
                <a:latin typeface="Aptos" pitchFamily="34" charset="0"/>
                <a:ea typeface="Aptos" pitchFamily="34" charset="-122"/>
                <a:cs typeface="Aptos" pitchFamily="34" charset="-120"/>
              </a:rPr>
              <a:t>Expected utility</a:t>
            </a:r>
            <a:endParaRPr lang="en-US" sz="1200" dirty="0"/>
          </a:p>
        </p:txBody>
      </p:sp>
      <p:sp>
        <p:nvSpPr>
          <p:cNvPr id="17" name="Text 15"/>
          <p:cNvSpPr/>
          <p:nvPr/>
        </p:nvSpPr>
        <p:spPr>
          <a:xfrm>
            <a:off x="8394192" y="2331720"/>
            <a:ext cx="2642616" cy="1024128"/>
          </a:xfrm>
          <a:prstGeom prst="rect">
            <a:avLst/>
          </a:prstGeom>
          <a:noFill/>
          <a:ln/>
        </p:spPr>
        <p:txBody>
          <a:bodyPr wrap="square" lIns="254" tIns="254" rIns="254" bIns="254" rtlCol="0" anchor="ctr">
            <a:normAutofit/>
          </a:bodyPr>
          <a:lstStyle/>
          <a:p>
            <a:pPr indent="0" marL="0">
              <a:buNone/>
            </a:pPr>
            <a:r>
              <a:rPr lang="en-US" sz="1230" dirty="0">
                <a:solidFill>
                  <a:srgbClr val="17202A"/>
                </a:solidFill>
                <a:latin typeface="Aptos" pitchFamily="34" charset="0"/>
                <a:ea typeface="Aptos" pitchFamily="34" charset="-122"/>
                <a:cs typeface="Aptos" pitchFamily="34" charset="-120"/>
              </a:rPr>
              <a:t>Weigh utility by probability when outcomes are uncertain.</a:t>
            </a:r>
            <a:endParaRPr lang="en-US" sz="1230" dirty="0"/>
          </a:p>
        </p:txBody>
      </p:sp>
      <p:sp>
        <p:nvSpPr>
          <p:cNvPr id="18" name="Text 16"/>
          <p:cNvSpPr/>
          <p:nvPr/>
        </p:nvSpPr>
        <p:spPr>
          <a:xfrm>
            <a:off x="914400" y="4251960"/>
            <a:ext cx="10241280" cy="274320"/>
          </a:xfrm>
          <a:prstGeom prst="rect">
            <a:avLst/>
          </a:prstGeom>
          <a:noFill/>
          <a:ln/>
        </p:spPr>
        <p:txBody>
          <a:bodyPr wrap="square" rtlCol="0" anchor="ctr"/>
          <a:lstStyle/>
          <a:p>
            <a:pPr algn="ctr" indent="0" marL="0">
              <a:buNone/>
            </a:pPr>
            <a:r>
              <a:rPr lang="en-US" sz="2200" b="1" dirty="0">
                <a:solidFill>
                  <a:srgbClr val="102F63"/>
                </a:solidFill>
              </a:rPr>
              <a:t>Utility handles conflicts and uncertainty.</a:t>
            </a:r>
            <a:endParaRPr lang="en-US" sz="2200" dirty="0"/>
          </a:p>
        </p:txBody>
      </p:sp>
      <p:sp>
        <p:nvSpPr>
          <p:cNvPr id="19" name="Shape 17"/>
          <p:cNvSpPr/>
          <p:nvPr/>
        </p:nvSpPr>
        <p:spPr>
          <a:xfrm>
            <a:off x="2926080" y="5074920"/>
            <a:ext cx="1280160" cy="411480"/>
          </a:xfrm>
          <a:prstGeom prst="roundRect">
            <a:avLst>
              <a:gd name="adj" fmla="val 13333"/>
            </a:avLst>
          </a:prstGeom>
          <a:solidFill>
            <a:srgbClr val="E8F7EF"/>
          </a:solidFill>
          <a:ln w="12700">
            <a:solidFill>
              <a:srgbClr val="AFC2DC"/>
            </a:solidFill>
            <a:prstDash val="solid"/>
          </a:ln>
        </p:spPr>
      </p:sp>
      <p:sp>
        <p:nvSpPr>
          <p:cNvPr id="20" name="Text 18"/>
          <p:cNvSpPr/>
          <p:nvPr/>
        </p:nvSpPr>
        <p:spPr>
          <a:xfrm>
            <a:off x="2971800" y="5129784"/>
            <a:ext cx="1188720" cy="320040"/>
          </a:xfrm>
          <a:prstGeom prst="rect">
            <a:avLst/>
          </a:prstGeom>
          <a:noFill/>
          <a:ln/>
        </p:spPr>
        <p:txBody>
          <a:bodyPr wrap="square" lIns="0" tIns="0" rIns="0" bIns="0" rtlCol="0" anchor="ctr">
            <a:normAutofit/>
          </a:bodyPr>
          <a:lstStyle/>
          <a:p>
            <a:pPr algn="ctr" indent="0" marL="0">
              <a:buNone/>
            </a:pPr>
            <a:r>
              <a:rPr lang="en-US" sz="1250" b="1" dirty="0">
                <a:solidFill>
                  <a:srgbClr val="102F63"/>
                </a:solidFill>
                <a:latin typeface="Aptos" pitchFamily="34" charset="0"/>
                <a:ea typeface="Aptos" pitchFamily="34" charset="-122"/>
                <a:cs typeface="Aptos" pitchFamily="34" charset="-120"/>
              </a:rPr>
              <a:t>safer</a:t>
            </a:r>
            <a:endParaRPr lang="en-US" sz="1250" dirty="0"/>
          </a:p>
        </p:txBody>
      </p:sp>
      <p:sp>
        <p:nvSpPr>
          <p:cNvPr id="21" name="Shape 19"/>
          <p:cNvSpPr/>
          <p:nvPr/>
        </p:nvSpPr>
        <p:spPr>
          <a:xfrm>
            <a:off x="4251960" y="5276088"/>
            <a:ext cx="1234440" cy="0"/>
          </a:xfrm>
          <a:prstGeom prst="line">
            <a:avLst/>
          </a:prstGeom>
          <a:noFill/>
          <a:ln w="17780">
            <a:solidFill>
              <a:srgbClr val="6B778C"/>
            </a:solidFill>
            <a:prstDash val="solid"/>
            <a:headEnd type="none"/>
            <a:tailEnd type="triangle"/>
          </a:ln>
        </p:spPr>
      </p:sp>
      <p:sp>
        <p:nvSpPr>
          <p:cNvPr id="22" name="Shape 20"/>
          <p:cNvSpPr/>
          <p:nvPr/>
        </p:nvSpPr>
        <p:spPr>
          <a:xfrm>
            <a:off x="5532120" y="5074920"/>
            <a:ext cx="1554480" cy="411480"/>
          </a:xfrm>
          <a:prstGeom prst="roundRect">
            <a:avLst>
              <a:gd name="adj" fmla="val 13333"/>
            </a:avLst>
          </a:prstGeom>
          <a:solidFill>
            <a:srgbClr val="FFEFCB"/>
          </a:solidFill>
          <a:ln w="12700">
            <a:solidFill>
              <a:srgbClr val="AFC2DC"/>
            </a:solidFill>
            <a:prstDash val="solid"/>
          </a:ln>
        </p:spPr>
      </p:sp>
      <p:sp>
        <p:nvSpPr>
          <p:cNvPr id="23" name="Text 21"/>
          <p:cNvSpPr/>
          <p:nvPr/>
        </p:nvSpPr>
        <p:spPr>
          <a:xfrm>
            <a:off x="5577840" y="5129784"/>
            <a:ext cx="1463040" cy="320040"/>
          </a:xfrm>
          <a:prstGeom prst="rect">
            <a:avLst/>
          </a:prstGeom>
          <a:noFill/>
          <a:ln/>
        </p:spPr>
        <p:txBody>
          <a:bodyPr wrap="square" lIns="0" tIns="0" rIns="0" bIns="0" rtlCol="0" anchor="ctr">
            <a:normAutofit/>
          </a:bodyPr>
          <a:lstStyle/>
          <a:p>
            <a:pPr algn="ctr" indent="0" marL="0">
              <a:buNone/>
            </a:pPr>
            <a:r>
              <a:rPr lang="en-US" sz="1250" b="1" dirty="0">
                <a:solidFill>
                  <a:srgbClr val="102F63"/>
                </a:solidFill>
                <a:latin typeface="Aptos" pitchFamily="34" charset="0"/>
                <a:ea typeface="Aptos" pitchFamily="34" charset="-122"/>
                <a:cs typeface="Aptos" pitchFamily="34" charset="-120"/>
              </a:rPr>
              <a:t>tradeoff</a:t>
            </a:r>
            <a:endParaRPr lang="en-US" sz="1250" dirty="0"/>
          </a:p>
        </p:txBody>
      </p:sp>
      <p:sp>
        <p:nvSpPr>
          <p:cNvPr id="24" name="Shape 22"/>
          <p:cNvSpPr/>
          <p:nvPr/>
        </p:nvSpPr>
        <p:spPr>
          <a:xfrm>
            <a:off x="7132320" y="5276088"/>
            <a:ext cx="1143000" cy="0"/>
          </a:xfrm>
          <a:prstGeom prst="line">
            <a:avLst/>
          </a:prstGeom>
          <a:noFill/>
          <a:ln w="17780">
            <a:solidFill>
              <a:srgbClr val="6B778C"/>
            </a:solidFill>
            <a:prstDash val="solid"/>
            <a:headEnd type="none"/>
            <a:tailEnd type="triangle"/>
          </a:ln>
        </p:spPr>
      </p:sp>
      <p:sp>
        <p:nvSpPr>
          <p:cNvPr id="25" name="Shape 23"/>
          <p:cNvSpPr/>
          <p:nvPr/>
        </p:nvSpPr>
        <p:spPr>
          <a:xfrm>
            <a:off x="8321040" y="5074920"/>
            <a:ext cx="1280160" cy="411480"/>
          </a:xfrm>
          <a:prstGeom prst="roundRect">
            <a:avLst>
              <a:gd name="adj" fmla="val 13333"/>
            </a:avLst>
          </a:prstGeom>
          <a:solidFill>
            <a:srgbClr val="F0E8FF"/>
          </a:solidFill>
          <a:ln w="12700">
            <a:solidFill>
              <a:srgbClr val="AFC2DC"/>
            </a:solidFill>
            <a:prstDash val="solid"/>
          </a:ln>
        </p:spPr>
      </p:sp>
      <p:sp>
        <p:nvSpPr>
          <p:cNvPr id="26" name="Text 24"/>
          <p:cNvSpPr/>
          <p:nvPr/>
        </p:nvSpPr>
        <p:spPr>
          <a:xfrm>
            <a:off x="8366760" y="5129784"/>
            <a:ext cx="1188720" cy="320040"/>
          </a:xfrm>
          <a:prstGeom prst="rect">
            <a:avLst/>
          </a:prstGeom>
          <a:noFill/>
          <a:ln/>
        </p:spPr>
        <p:txBody>
          <a:bodyPr wrap="square" lIns="0" tIns="0" rIns="0" bIns="0" rtlCol="0" anchor="ctr">
            <a:normAutofit/>
          </a:bodyPr>
          <a:lstStyle/>
          <a:p>
            <a:pPr algn="ctr" indent="0" marL="0">
              <a:buNone/>
            </a:pPr>
            <a:r>
              <a:rPr lang="en-US" sz="1250" b="1" dirty="0">
                <a:solidFill>
                  <a:srgbClr val="102F63"/>
                </a:solidFill>
                <a:latin typeface="Aptos" pitchFamily="34" charset="0"/>
                <a:ea typeface="Aptos" pitchFamily="34" charset="-122"/>
                <a:cs typeface="Aptos" pitchFamily="34" charset="-120"/>
              </a:rPr>
              <a:t>faster</a:t>
            </a:r>
            <a:endParaRPr lang="en-US" sz="1250" dirty="0"/>
          </a:p>
        </p:txBody>
      </p:sp>
      <p:sp>
        <p:nvSpPr>
          <p:cNvPr id="27" name="Text 25"/>
          <p:cNvSpPr/>
          <p:nvPr/>
        </p:nvSpPr>
        <p:spPr>
          <a:xfrm>
            <a:off x="502920" y="6574536"/>
            <a:ext cx="5760720" cy="118872"/>
          </a:xfrm>
          <a:prstGeom prst="rect">
            <a:avLst/>
          </a:prstGeom>
          <a:noFill/>
          <a:ln/>
        </p:spPr>
        <p:txBody>
          <a:bodyPr wrap="square" lIns="0" tIns="0" rIns="0" bIns="0" rtlCol="0" anchor="ctr"/>
          <a:lstStyle/>
          <a:p>
            <a:pPr indent="0" marL="0">
              <a:buNone/>
            </a:pPr>
            <a:r>
              <a:rPr lang="en-US" sz="650" dirty="0">
                <a:solidFill>
                  <a:srgbClr val="7A869A"/>
                </a:solidFill>
                <a:latin typeface="Aptos" pitchFamily="34" charset="0"/>
                <a:ea typeface="Aptos" pitchFamily="34" charset="-122"/>
                <a:cs typeface="Aptos" pitchFamily="34" charset="-120"/>
              </a:rPr>
              <a:t>AIMA Ch. 2 + UC Berkeley CS188 Part II companion</a:t>
            </a:r>
            <a:endParaRPr lang="en-US" sz="650" dirty="0"/>
          </a:p>
        </p:txBody>
      </p:sp>
      <p:sp>
        <p:nvSpPr>
          <p:cNvPr id="25" name="Slide Number Placeholder 0"/>
          <p:cNvSpPr>
            <a:spLocks noGrp="1"/>
          </p:cNvSpPr>
          <p:nvPr>
            <p:ph type="sldNum" sz="quarter" idx="4294967295"/>
          </p:nvPr>
        </p:nvSpPr>
        <p:spPr>
          <a:xfrm>
            <a:off x="5943600" y="658368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B778C"/>
                </a:solidFill>
                <a:latin typeface="Aptos"/>
                <a:ea typeface="Aptos"/>
                <a:cs typeface="Aptos"/>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02920" y="146304"/>
            <a:ext cx="11155680" cy="329184"/>
          </a:xfrm>
          <a:prstGeom prst="rect">
            <a:avLst/>
          </a:prstGeom>
          <a:noFill/>
          <a:ln/>
        </p:spPr>
        <p:txBody>
          <a:bodyPr wrap="square" lIns="0" tIns="0" rIns="0" bIns="0" rtlCol="0" anchor="ctr"/>
          <a:lstStyle/>
          <a:p>
            <a:pPr indent="0" marL="0">
              <a:buNone/>
            </a:pPr>
            <a:r>
              <a:rPr lang="en-US" sz="2500" b="1" dirty="0">
                <a:solidFill>
                  <a:srgbClr val="FFFFFF"/>
                </a:solidFill>
                <a:latin typeface="Aptos Display" pitchFamily="34" charset="0"/>
                <a:ea typeface="Aptos Display" pitchFamily="34" charset="-122"/>
                <a:cs typeface="Aptos Display" pitchFamily="34" charset="-120"/>
              </a:rPr>
              <a:t>2.4.6 Learning Agents</a:t>
            </a:r>
            <a:endParaRPr lang="en-US" sz="2500" dirty="0"/>
          </a:p>
        </p:txBody>
      </p:sp>
      <p:sp>
        <p:nvSpPr>
          <p:cNvPr id="3" name="Shape 1"/>
          <p:cNvSpPr/>
          <p:nvPr/>
        </p:nvSpPr>
        <p:spPr>
          <a:xfrm>
            <a:off x="10058400" y="841248"/>
            <a:ext cx="1508760" cy="228600"/>
          </a:xfrm>
          <a:prstGeom prst="roundRect">
            <a:avLst>
              <a:gd name="adj" fmla="val 28000"/>
            </a:avLst>
          </a:prstGeom>
          <a:solidFill>
            <a:srgbClr val="EAF2FF"/>
          </a:solidFill>
          <a:ln w="12700">
            <a:solidFill>
              <a:srgbClr val="B7CAE4"/>
            </a:solidFill>
            <a:prstDash val="solid"/>
          </a:ln>
        </p:spPr>
      </p:sp>
      <p:sp>
        <p:nvSpPr>
          <p:cNvPr id="4" name="Text 2"/>
          <p:cNvSpPr/>
          <p:nvPr/>
        </p:nvSpPr>
        <p:spPr>
          <a:xfrm>
            <a:off x="10168128" y="900684"/>
            <a:ext cx="1298448" cy="91440"/>
          </a:xfrm>
          <a:prstGeom prst="rect">
            <a:avLst/>
          </a:prstGeom>
          <a:noFill/>
          <a:ln/>
        </p:spPr>
        <p:txBody>
          <a:bodyPr wrap="square" lIns="0" tIns="0" rIns="0" bIns="0" rtlCol="0" anchor="ctr"/>
          <a:lstStyle/>
          <a:p>
            <a:pPr algn="ctr" indent="0" marL="0">
              <a:buNone/>
            </a:pPr>
            <a:r>
              <a:rPr lang="en-US" sz="950" b="1" dirty="0">
                <a:solidFill>
                  <a:srgbClr val="102F63"/>
                </a:solidFill>
                <a:latin typeface="Aptos" pitchFamily="34" charset="0"/>
                <a:ea typeface="Aptos" pitchFamily="34" charset="-122"/>
                <a:cs typeface="Aptos" pitchFamily="34" charset="-120"/>
              </a:rPr>
              <a:t>2.4.6</a:t>
            </a:r>
            <a:endParaRPr lang="en-US" sz="950" dirty="0"/>
          </a:p>
        </p:txBody>
      </p:sp>
      <p:sp>
        <p:nvSpPr>
          <p:cNvPr id="5" name="Text 3"/>
          <p:cNvSpPr/>
          <p:nvPr/>
        </p:nvSpPr>
        <p:spPr>
          <a:xfrm>
            <a:off x="914400" y="1115568"/>
            <a:ext cx="10241280" cy="329184"/>
          </a:xfrm>
          <a:prstGeom prst="rect">
            <a:avLst/>
          </a:prstGeom>
          <a:noFill/>
          <a:ln/>
        </p:spPr>
        <p:txBody>
          <a:bodyPr wrap="square" rtlCol="0" anchor="ctr"/>
          <a:lstStyle/>
          <a:p>
            <a:pPr algn="ctr" indent="0" marL="0">
              <a:buNone/>
            </a:pPr>
            <a:r>
              <a:rPr lang="en-US" sz="2200" b="1" dirty="0">
                <a:solidFill>
                  <a:srgbClr val="102F63"/>
                </a:solidFill>
              </a:rPr>
              <a:t>Any agent type can be made into a learning agent.</a:t>
            </a:r>
            <a:endParaRPr lang="en-US" sz="2200" dirty="0"/>
          </a:p>
        </p:txBody>
      </p:sp>
      <p:sp>
        <p:nvSpPr>
          <p:cNvPr id="6" name="Shape 4"/>
          <p:cNvSpPr/>
          <p:nvPr/>
        </p:nvSpPr>
        <p:spPr>
          <a:xfrm>
            <a:off x="4709160" y="2926080"/>
            <a:ext cx="2331720" cy="594360"/>
          </a:xfrm>
          <a:prstGeom prst="roundRect">
            <a:avLst>
              <a:gd name="adj" fmla="val 9231"/>
            </a:avLst>
          </a:prstGeom>
          <a:solidFill>
            <a:srgbClr val="EAF2FF"/>
          </a:solidFill>
          <a:ln w="12700">
            <a:solidFill>
              <a:srgbClr val="AFC2DC"/>
            </a:solidFill>
            <a:prstDash val="solid"/>
          </a:ln>
        </p:spPr>
      </p:sp>
      <p:sp>
        <p:nvSpPr>
          <p:cNvPr id="7" name="Text 5"/>
          <p:cNvSpPr/>
          <p:nvPr/>
        </p:nvSpPr>
        <p:spPr>
          <a:xfrm>
            <a:off x="4754880" y="2980944"/>
            <a:ext cx="2240280" cy="502920"/>
          </a:xfrm>
          <a:prstGeom prst="rect">
            <a:avLst/>
          </a:prstGeom>
          <a:noFill/>
          <a:ln/>
        </p:spPr>
        <p:txBody>
          <a:bodyPr wrap="square" lIns="0" tIns="0" rIns="0" bIns="0" rtlCol="0" anchor="ctr">
            <a:normAutofit/>
          </a:bodyPr>
          <a:lstStyle/>
          <a:p>
            <a:pPr algn="ctr" indent="0" marL="0">
              <a:buNone/>
            </a:pPr>
            <a:r>
              <a:rPr lang="en-US" sz="1250" b="1" dirty="0">
                <a:solidFill>
                  <a:srgbClr val="102F63"/>
                </a:solidFill>
                <a:latin typeface="Aptos" pitchFamily="34" charset="0"/>
                <a:ea typeface="Aptos" pitchFamily="34" charset="-122"/>
                <a:cs typeface="Aptos" pitchFamily="34" charset="-120"/>
              </a:rPr>
              <a:t>Performance element</a:t>
            </a:r>
            <a:endParaRPr lang="en-US" sz="1250" dirty="0"/>
          </a:p>
          <a:p>
            <a:pPr algn="ctr" indent="0" marL="0">
              <a:buNone/>
            </a:pPr>
            <a:r>
              <a:rPr lang="en-US" sz="1250" b="1" dirty="0">
                <a:solidFill>
                  <a:srgbClr val="102F63"/>
                </a:solidFill>
                <a:latin typeface="Aptos" pitchFamily="34" charset="0"/>
                <a:ea typeface="Aptos" pitchFamily="34" charset="-122"/>
                <a:cs typeface="Aptos" pitchFamily="34" charset="-120"/>
              </a:rPr>
              <a:t>chooses actions</a:t>
            </a:r>
            <a:endParaRPr lang="en-US" sz="1250" dirty="0"/>
          </a:p>
        </p:txBody>
      </p:sp>
      <p:sp>
        <p:nvSpPr>
          <p:cNvPr id="8" name="Shape 6"/>
          <p:cNvSpPr/>
          <p:nvPr/>
        </p:nvSpPr>
        <p:spPr>
          <a:xfrm>
            <a:off x="2103120" y="1828800"/>
            <a:ext cx="1645920" cy="530352"/>
          </a:xfrm>
          <a:prstGeom prst="roundRect">
            <a:avLst>
              <a:gd name="adj" fmla="val 10345"/>
            </a:avLst>
          </a:prstGeom>
          <a:solidFill>
            <a:srgbClr val="FFEFCB"/>
          </a:solidFill>
          <a:ln w="12700">
            <a:solidFill>
              <a:srgbClr val="AFC2DC"/>
            </a:solidFill>
            <a:prstDash val="solid"/>
          </a:ln>
        </p:spPr>
      </p:sp>
      <p:sp>
        <p:nvSpPr>
          <p:cNvPr id="9" name="Text 7"/>
          <p:cNvSpPr/>
          <p:nvPr/>
        </p:nvSpPr>
        <p:spPr>
          <a:xfrm>
            <a:off x="2148840" y="1883664"/>
            <a:ext cx="1554480" cy="438912"/>
          </a:xfrm>
          <a:prstGeom prst="rect">
            <a:avLst/>
          </a:prstGeom>
          <a:noFill/>
          <a:ln/>
        </p:spPr>
        <p:txBody>
          <a:bodyPr wrap="square" lIns="0" tIns="0" rIns="0" bIns="0" rtlCol="0" anchor="ctr">
            <a:normAutofit/>
          </a:bodyPr>
          <a:lstStyle/>
          <a:p>
            <a:pPr algn="ctr" indent="0" marL="0">
              <a:buNone/>
            </a:pPr>
            <a:r>
              <a:rPr lang="en-US" sz="1250" b="1" dirty="0">
                <a:solidFill>
                  <a:srgbClr val="102F63"/>
                </a:solidFill>
                <a:latin typeface="Aptos" pitchFamily="34" charset="0"/>
                <a:ea typeface="Aptos" pitchFamily="34" charset="-122"/>
                <a:cs typeface="Aptos" pitchFamily="34" charset="-120"/>
              </a:rPr>
              <a:t>Critic</a:t>
            </a:r>
            <a:endParaRPr lang="en-US" sz="1250" dirty="0"/>
          </a:p>
          <a:p>
            <a:pPr algn="ctr" indent="0" marL="0">
              <a:buNone/>
            </a:pPr>
            <a:r>
              <a:rPr lang="en-US" sz="1250" b="1" dirty="0">
                <a:solidFill>
                  <a:srgbClr val="102F63"/>
                </a:solidFill>
                <a:latin typeface="Aptos" pitchFamily="34" charset="0"/>
                <a:ea typeface="Aptos" pitchFamily="34" charset="-122"/>
                <a:cs typeface="Aptos" pitchFamily="34" charset="-120"/>
              </a:rPr>
              <a:t>evaluates</a:t>
            </a:r>
            <a:endParaRPr lang="en-US" sz="1250" dirty="0"/>
          </a:p>
        </p:txBody>
      </p:sp>
      <p:sp>
        <p:nvSpPr>
          <p:cNvPr id="10" name="Shape 8"/>
          <p:cNvSpPr/>
          <p:nvPr/>
        </p:nvSpPr>
        <p:spPr>
          <a:xfrm>
            <a:off x="2103120" y="3977640"/>
            <a:ext cx="1737360" cy="530352"/>
          </a:xfrm>
          <a:prstGeom prst="roundRect">
            <a:avLst>
              <a:gd name="adj" fmla="val 10345"/>
            </a:avLst>
          </a:prstGeom>
          <a:solidFill>
            <a:srgbClr val="E8F7EF"/>
          </a:solidFill>
          <a:ln w="12700">
            <a:solidFill>
              <a:srgbClr val="AFC2DC"/>
            </a:solidFill>
            <a:prstDash val="solid"/>
          </a:ln>
        </p:spPr>
      </p:sp>
      <p:sp>
        <p:nvSpPr>
          <p:cNvPr id="11" name="Text 9"/>
          <p:cNvSpPr/>
          <p:nvPr/>
        </p:nvSpPr>
        <p:spPr>
          <a:xfrm>
            <a:off x="2148840" y="4032504"/>
            <a:ext cx="1645920" cy="438912"/>
          </a:xfrm>
          <a:prstGeom prst="rect">
            <a:avLst/>
          </a:prstGeom>
          <a:noFill/>
          <a:ln/>
        </p:spPr>
        <p:txBody>
          <a:bodyPr wrap="square" lIns="0" tIns="0" rIns="0" bIns="0" rtlCol="0" anchor="ctr">
            <a:normAutofit/>
          </a:bodyPr>
          <a:lstStyle/>
          <a:p>
            <a:pPr algn="ctr" indent="0" marL="0">
              <a:buNone/>
            </a:pPr>
            <a:r>
              <a:rPr lang="en-US" sz="1250" b="1" dirty="0">
                <a:solidFill>
                  <a:srgbClr val="102F63"/>
                </a:solidFill>
                <a:latin typeface="Aptos" pitchFamily="34" charset="0"/>
                <a:ea typeface="Aptos" pitchFamily="34" charset="-122"/>
                <a:cs typeface="Aptos" pitchFamily="34" charset="-120"/>
              </a:rPr>
              <a:t>Learning element</a:t>
            </a:r>
            <a:endParaRPr lang="en-US" sz="1250" dirty="0"/>
          </a:p>
          <a:p>
            <a:pPr algn="ctr" indent="0" marL="0">
              <a:buNone/>
            </a:pPr>
            <a:r>
              <a:rPr lang="en-US" sz="1250" b="1" dirty="0">
                <a:solidFill>
                  <a:srgbClr val="102F63"/>
                </a:solidFill>
                <a:latin typeface="Aptos" pitchFamily="34" charset="0"/>
                <a:ea typeface="Aptos" pitchFamily="34" charset="-122"/>
                <a:cs typeface="Aptos" pitchFamily="34" charset="-120"/>
              </a:rPr>
              <a:t>improves</a:t>
            </a:r>
            <a:endParaRPr lang="en-US" sz="1250" dirty="0"/>
          </a:p>
        </p:txBody>
      </p:sp>
      <p:sp>
        <p:nvSpPr>
          <p:cNvPr id="12" name="Shape 10"/>
          <p:cNvSpPr/>
          <p:nvPr/>
        </p:nvSpPr>
        <p:spPr>
          <a:xfrm>
            <a:off x="8001000" y="3977640"/>
            <a:ext cx="2011680" cy="530352"/>
          </a:xfrm>
          <a:prstGeom prst="roundRect">
            <a:avLst>
              <a:gd name="adj" fmla="val 10345"/>
            </a:avLst>
          </a:prstGeom>
          <a:solidFill>
            <a:srgbClr val="F0E8FF"/>
          </a:solidFill>
          <a:ln w="12700">
            <a:solidFill>
              <a:srgbClr val="AFC2DC"/>
            </a:solidFill>
            <a:prstDash val="solid"/>
          </a:ln>
        </p:spPr>
      </p:sp>
      <p:sp>
        <p:nvSpPr>
          <p:cNvPr id="13" name="Text 11"/>
          <p:cNvSpPr/>
          <p:nvPr/>
        </p:nvSpPr>
        <p:spPr>
          <a:xfrm>
            <a:off x="8046720" y="4032504"/>
            <a:ext cx="1920240" cy="438912"/>
          </a:xfrm>
          <a:prstGeom prst="rect">
            <a:avLst/>
          </a:prstGeom>
          <a:noFill/>
          <a:ln/>
        </p:spPr>
        <p:txBody>
          <a:bodyPr wrap="square" lIns="0" tIns="0" rIns="0" bIns="0" rtlCol="0" anchor="ctr">
            <a:normAutofit/>
          </a:bodyPr>
          <a:lstStyle/>
          <a:p>
            <a:pPr algn="ctr" indent="0" marL="0">
              <a:buNone/>
            </a:pPr>
            <a:r>
              <a:rPr lang="en-US" sz="1250" b="1" dirty="0">
                <a:solidFill>
                  <a:srgbClr val="102F63"/>
                </a:solidFill>
                <a:latin typeface="Aptos" pitchFamily="34" charset="0"/>
                <a:ea typeface="Aptos" pitchFamily="34" charset="-122"/>
                <a:cs typeface="Aptos" pitchFamily="34" charset="-120"/>
              </a:rPr>
              <a:t>Problem generator</a:t>
            </a:r>
            <a:endParaRPr lang="en-US" sz="1250" dirty="0"/>
          </a:p>
          <a:p>
            <a:pPr algn="ctr" indent="0" marL="0">
              <a:buNone/>
            </a:pPr>
            <a:r>
              <a:rPr lang="en-US" sz="1250" b="1" dirty="0">
                <a:solidFill>
                  <a:srgbClr val="102F63"/>
                </a:solidFill>
                <a:latin typeface="Aptos" pitchFamily="34" charset="0"/>
                <a:ea typeface="Aptos" pitchFamily="34" charset="-122"/>
                <a:cs typeface="Aptos" pitchFamily="34" charset="-120"/>
              </a:rPr>
              <a:t>explores</a:t>
            </a:r>
            <a:endParaRPr lang="en-US" sz="1250" dirty="0"/>
          </a:p>
        </p:txBody>
      </p:sp>
      <p:sp>
        <p:nvSpPr>
          <p:cNvPr id="14" name="Shape 12"/>
          <p:cNvSpPr/>
          <p:nvPr/>
        </p:nvSpPr>
        <p:spPr>
          <a:xfrm>
            <a:off x="3794760" y="2084832"/>
            <a:ext cx="868680" cy="1024128"/>
          </a:xfrm>
          <a:prstGeom prst="line">
            <a:avLst/>
          </a:prstGeom>
          <a:noFill/>
          <a:ln w="17780">
            <a:solidFill>
              <a:srgbClr val="6B778C"/>
            </a:solidFill>
            <a:prstDash val="solid"/>
            <a:headEnd type="none"/>
            <a:tailEnd type="triangle"/>
          </a:ln>
        </p:spPr>
      </p:sp>
      <p:sp>
        <p:nvSpPr>
          <p:cNvPr id="15" name="Shape 13"/>
          <p:cNvSpPr/>
          <p:nvPr/>
        </p:nvSpPr>
        <p:spPr>
          <a:xfrm>
            <a:off x="3886200" y="4160520"/>
            <a:ext cx="777240" cy="-914400"/>
          </a:xfrm>
          <a:prstGeom prst="line">
            <a:avLst/>
          </a:prstGeom>
          <a:noFill/>
          <a:ln w="17780">
            <a:solidFill>
              <a:srgbClr val="6B778C"/>
            </a:solidFill>
            <a:prstDash val="solid"/>
            <a:headEnd type="none"/>
            <a:tailEnd type="triangle"/>
          </a:ln>
        </p:spPr>
      </p:sp>
      <p:sp>
        <p:nvSpPr>
          <p:cNvPr id="16" name="Shape 14"/>
          <p:cNvSpPr/>
          <p:nvPr/>
        </p:nvSpPr>
        <p:spPr>
          <a:xfrm>
            <a:off x="7086600" y="3218688"/>
            <a:ext cx="868680" cy="941832"/>
          </a:xfrm>
          <a:prstGeom prst="line">
            <a:avLst/>
          </a:prstGeom>
          <a:noFill/>
          <a:ln w="17780">
            <a:solidFill>
              <a:srgbClr val="6B778C"/>
            </a:solidFill>
            <a:prstDash val="solid"/>
            <a:headEnd type="none"/>
            <a:tailEnd type="triangle"/>
          </a:ln>
        </p:spPr>
      </p:sp>
      <p:sp>
        <p:nvSpPr>
          <p:cNvPr id="17" name="Shape 15"/>
          <p:cNvSpPr/>
          <p:nvPr/>
        </p:nvSpPr>
        <p:spPr>
          <a:xfrm>
            <a:off x="3886200" y="4343400"/>
            <a:ext cx="4023360" cy="0"/>
          </a:xfrm>
          <a:prstGeom prst="line">
            <a:avLst/>
          </a:prstGeom>
          <a:noFill/>
          <a:ln w="17780">
            <a:solidFill>
              <a:srgbClr val="6B778C"/>
            </a:solidFill>
            <a:prstDash val="solid"/>
            <a:headEnd type="none"/>
            <a:tailEnd type="triangle"/>
          </a:ln>
        </p:spPr>
      </p:sp>
      <p:sp>
        <p:nvSpPr>
          <p:cNvPr id="18" name="Shape 16"/>
          <p:cNvSpPr/>
          <p:nvPr/>
        </p:nvSpPr>
        <p:spPr>
          <a:xfrm>
            <a:off x="1325880" y="5394960"/>
            <a:ext cx="9509760" cy="457200"/>
          </a:xfrm>
          <a:prstGeom prst="roundRect">
            <a:avLst>
              <a:gd name="adj" fmla="val 12000"/>
            </a:avLst>
          </a:prstGeom>
          <a:solidFill>
            <a:srgbClr val="FFEFCB"/>
          </a:solidFill>
          <a:ln w="12700">
            <a:solidFill>
              <a:srgbClr val="AFC2DC"/>
            </a:solidFill>
            <a:prstDash val="solid"/>
          </a:ln>
        </p:spPr>
      </p:sp>
      <p:sp>
        <p:nvSpPr>
          <p:cNvPr id="19" name="Text 17"/>
          <p:cNvSpPr/>
          <p:nvPr/>
        </p:nvSpPr>
        <p:spPr>
          <a:xfrm>
            <a:off x="1371600" y="5449824"/>
            <a:ext cx="9418320" cy="365760"/>
          </a:xfrm>
          <a:prstGeom prst="rect">
            <a:avLst/>
          </a:prstGeom>
          <a:noFill/>
          <a:ln/>
        </p:spPr>
        <p:txBody>
          <a:bodyPr wrap="square" lIns="0" tIns="0" rIns="0" bIns="0" rtlCol="0" anchor="ctr">
            <a:normAutofit/>
          </a:bodyPr>
          <a:lstStyle/>
          <a:p>
            <a:pPr algn="ctr" indent="0" marL="0">
              <a:buNone/>
            </a:pPr>
            <a:r>
              <a:rPr lang="en-US" sz="1250" b="1" dirty="0">
                <a:solidFill>
                  <a:srgbClr val="102F63"/>
                </a:solidFill>
                <a:latin typeface="Aptos" pitchFamily="34" charset="0"/>
                <a:ea typeface="Aptos" pitchFamily="34" charset="-122"/>
                <a:cs typeface="Aptos" pitchFamily="34" charset="-120"/>
              </a:rPr>
              <a:t>Performance element chooses actions. Learning element improves it. Critic evaluates. Problem generator explores.</a:t>
            </a:r>
            <a:endParaRPr lang="en-US" sz="1250" dirty="0"/>
          </a:p>
        </p:txBody>
      </p:sp>
      <p:sp>
        <p:nvSpPr>
          <p:cNvPr id="20" name="Text 18"/>
          <p:cNvSpPr/>
          <p:nvPr/>
        </p:nvSpPr>
        <p:spPr>
          <a:xfrm>
            <a:off x="502920" y="6574536"/>
            <a:ext cx="5760720" cy="118872"/>
          </a:xfrm>
          <a:prstGeom prst="rect">
            <a:avLst/>
          </a:prstGeom>
          <a:noFill/>
          <a:ln/>
        </p:spPr>
        <p:txBody>
          <a:bodyPr wrap="square" lIns="0" tIns="0" rIns="0" bIns="0" rtlCol="0" anchor="ctr"/>
          <a:lstStyle/>
          <a:p>
            <a:pPr indent="0" marL="0">
              <a:buNone/>
            </a:pPr>
            <a:r>
              <a:rPr lang="en-US" sz="650" dirty="0">
                <a:solidFill>
                  <a:srgbClr val="7A869A"/>
                </a:solidFill>
                <a:latin typeface="Aptos" pitchFamily="34" charset="0"/>
                <a:ea typeface="Aptos" pitchFamily="34" charset="-122"/>
                <a:cs typeface="Aptos" pitchFamily="34" charset="-120"/>
              </a:rPr>
              <a:t>AIMA Ch. 2 + UC Berkeley CS188 Part II companion</a:t>
            </a:r>
            <a:endParaRPr lang="en-US" sz="650" dirty="0"/>
          </a:p>
        </p:txBody>
      </p:sp>
      <p:sp>
        <p:nvSpPr>
          <p:cNvPr id="25" name="Slide Number Placeholder 0"/>
          <p:cNvSpPr>
            <a:spLocks noGrp="1"/>
          </p:cNvSpPr>
          <p:nvPr>
            <p:ph type="sldNum" sz="quarter" idx="4294967295"/>
          </p:nvPr>
        </p:nvSpPr>
        <p:spPr>
          <a:xfrm>
            <a:off x="5943600" y="658368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B778C"/>
                </a:solidFill>
                <a:latin typeface="Aptos"/>
                <a:ea typeface="Aptos"/>
                <a:cs typeface="Aptos"/>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02920" y="146304"/>
            <a:ext cx="11155680" cy="329184"/>
          </a:xfrm>
          <a:prstGeom prst="rect">
            <a:avLst/>
          </a:prstGeom>
          <a:noFill/>
          <a:ln/>
        </p:spPr>
        <p:txBody>
          <a:bodyPr wrap="square" lIns="0" tIns="0" rIns="0" bIns="0" rtlCol="0" anchor="ctr"/>
          <a:lstStyle/>
          <a:p>
            <a:pPr indent="0" marL="0">
              <a:buNone/>
            </a:pPr>
            <a:r>
              <a:rPr lang="en-US" sz="2500" b="1" dirty="0">
                <a:solidFill>
                  <a:srgbClr val="FFFFFF"/>
                </a:solidFill>
                <a:latin typeface="Aptos Display" pitchFamily="34" charset="0"/>
                <a:ea typeface="Aptos Display" pitchFamily="34" charset="-122"/>
                <a:cs typeface="Aptos Display" pitchFamily="34" charset="-120"/>
              </a:rPr>
              <a:t>2.4.7 Representing the World Inside the Agent</a:t>
            </a:r>
            <a:endParaRPr lang="en-US" sz="2500" dirty="0"/>
          </a:p>
        </p:txBody>
      </p:sp>
      <p:sp>
        <p:nvSpPr>
          <p:cNvPr id="3" name="Shape 1"/>
          <p:cNvSpPr/>
          <p:nvPr/>
        </p:nvSpPr>
        <p:spPr>
          <a:xfrm>
            <a:off x="10058400" y="841248"/>
            <a:ext cx="1508760" cy="228600"/>
          </a:xfrm>
          <a:prstGeom prst="roundRect">
            <a:avLst>
              <a:gd name="adj" fmla="val 28000"/>
            </a:avLst>
          </a:prstGeom>
          <a:solidFill>
            <a:srgbClr val="EAF2FF"/>
          </a:solidFill>
          <a:ln w="12700">
            <a:solidFill>
              <a:srgbClr val="B7CAE4"/>
            </a:solidFill>
            <a:prstDash val="solid"/>
          </a:ln>
        </p:spPr>
      </p:sp>
      <p:sp>
        <p:nvSpPr>
          <p:cNvPr id="4" name="Text 2"/>
          <p:cNvSpPr/>
          <p:nvPr/>
        </p:nvSpPr>
        <p:spPr>
          <a:xfrm>
            <a:off x="10168128" y="900684"/>
            <a:ext cx="1298448" cy="91440"/>
          </a:xfrm>
          <a:prstGeom prst="rect">
            <a:avLst/>
          </a:prstGeom>
          <a:noFill/>
          <a:ln/>
        </p:spPr>
        <p:txBody>
          <a:bodyPr wrap="square" lIns="0" tIns="0" rIns="0" bIns="0" rtlCol="0" anchor="ctr"/>
          <a:lstStyle/>
          <a:p>
            <a:pPr algn="ctr" indent="0" marL="0">
              <a:buNone/>
            </a:pPr>
            <a:r>
              <a:rPr lang="en-US" sz="950" b="1" dirty="0">
                <a:solidFill>
                  <a:srgbClr val="102F63"/>
                </a:solidFill>
                <a:latin typeface="Aptos" pitchFamily="34" charset="0"/>
                <a:ea typeface="Aptos" pitchFamily="34" charset="-122"/>
                <a:cs typeface="Aptos" pitchFamily="34" charset="-120"/>
              </a:rPr>
              <a:t>2.4.7</a:t>
            </a:r>
            <a:endParaRPr lang="en-US" sz="950" dirty="0"/>
          </a:p>
        </p:txBody>
      </p:sp>
      <p:sp>
        <p:nvSpPr>
          <p:cNvPr id="5" name="Shape 3"/>
          <p:cNvSpPr/>
          <p:nvPr/>
        </p:nvSpPr>
        <p:spPr>
          <a:xfrm>
            <a:off x="822960" y="1234440"/>
            <a:ext cx="3246120" cy="1828800"/>
          </a:xfrm>
          <a:prstGeom prst="roundRect">
            <a:avLst>
              <a:gd name="adj" fmla="val 4000"/>
            </a:avLst>
          </a:prstGeom>
          <a:solidFill>
            <a:srgbClr val="FFFFFF"/>
          </a:solidFill>
          <a:ln w="15240">
            <a:solidFill>
              <a:srgbClr val="B7C6DA"/>
            </a:solidFill>
            <a:prstDash val="solid"/>
          </a:ln>
        </p:spPr>
      </p:sp>
      <p:sp>
        <p:nvSpPr>
          <p:cNvPr id="6" name="Shape 4"/>
          <p:cNvSpPr/>
          <p:nvPr/>
        </p:nvSpPr>
        <p:spPr>
          <a:xfrm>
            <a:off x="822960" y="1234440"/>
            <a:ext cx="3246120" cy="329184"/>
          </a:xfrm>
          <a:prstGeom prst="rect">
            <a:avLst/>
          </a:prstGeom>
          <a:solidFill>
            <a:srgbClr val="1F65B6"/>
          </a:solidFill>
          <a:ln w="12700">
            <a:solidFill>
              <a:srgbClr val="1F65B6"/>
            </a:solidFill>
            <a:prstDash val="solid"/>
          </a:ln>
        </p:spPr>
      </p:sp>
      <p:sp>
        <p:nvSpPr>
          <p:cNvPr id="7" name="Text 5"/>
          <p:cNvSpPr/>
          <p:nvPr/>
        </p:nvSpPr>
        <p:spPr>
          <a:xfrm>
            <a:off x="932688" y="1307592"/>
            <a:ext cx="3026664" cy="164592"/>
          </a:xfrm>
          <a:prstGeom prst="rect">
            <a:avLst/>
          </a:prstGeom>
          <a:noFill/>
          <a:ln/>
        </p:spPr>
        <p:txBody>
          <a:bodyPr wrap="square" lIns="0" tIns="0" rIns="0" bIns="0" rtlCol="0" anchor="ctr"/>
          <a:lstStyle/>
          <a:p>
            <a:pPr algn="ctr" indent="0" marL="0">
              <a:buNone/>
            </a:pPr>
            <a:r>
              <a:rPr lang="en-US" sz="1200" b="1" dirty="0">
                <a:solidFill>
                  <a:srgbClr val="FFFFFF"/>
                </a:solidFill>
                <a:latin typeface="Aptos" pitchFamily="34" charset="0"/>
                <a:ea typeface="Aptos" pitchFamily="34" charset="-122"/>
                <a:cs typeface="Aptos" pitchFamily="34" charset="-120"/>
              </a:rPr>
              <a:t>Atomic</a:t>
            </a:r>
            <a:endParaRPr lang="en-US" sz="1200" dirty="0"/>
          </a:p>
        </p:txBody>
      </p:sp>
      <p:sp>
        <p:nvSpPr>
          <p:cNvPr id="8" name="Text 6"/>
          <p:cNvSpPr/>
          <p:nvPr/>
        </p:nvSpPr>
        <p:spPr>
          <a:xfrm>
            <a:off x="987552" y="1737360"/>
            <a:ext cx="2916936" cy="1207008"/>
          </a:xfrm>
          <a:prstGeom prst="rect">
            <a:avLst/>
          </a:prstGeom>
          <a:noFill/>
          <a:ln/>
        </p:spPr>
        <p:txBody>
          <a:bodyPr wrap="square" lIns="254" tIns="254" rIns="254" bIns="254" rtlCol="0" anchor="ctr">
            <a:normAutofit/>
          </a:bodyPr>
          <a:lstStyle/>
          <a:p>
            <a:pPr indent="0" marL="0">
              <a:buNone/>
            </a:pPr>
            <a:r>
              <a:rPr lang="en-US" sz="1230" dirty="0">
                <a:solidFill>
                  <a:srgbClr val="17202A"/>
                </a:solidFill>
                <a:latin typeface="Aptos" pitchFamily="34" charset="0"/>
                <a:ea typeface="Aptos" pitchFamily="34" charset="-122"/>
                <a:cs typeface="Aptos" pitchFamily="34" charset="-120"/>
              </a:rPr>
              <a:t>State is a black box.</a:t>
            </a:r>
            <a:endParaRPr lang="en-US" sz="1230" dirty="0"/>
          </a:p>
          <a:p>
            <a:pPr indent="0" marL="0">
              <a:buNone/>
            </a:pPr>
            <a:r>
              <a:rPr lang="en-US" sz="1230" dirty="0">
                <a:solidFill>
                  <a:srgbClr val="17202A"/>
                </a:solidFill>
                <a:latin typeface="Aptos" pitchFamily="34" charset="0"/>
                <a:ea typeface="Aptos" pitchFamily="34" charset="-122"/>
                <a:cs typeface="Aptos" pitchFamily="34" charset="-120"/>
              </a:rPr>
              <a:t>Example: city name only.</a:t>
            </a:r>
            <a:endParaRPr lang="en-US" sz="1230" dirty="0"/>
          </a:p>
          <a:p>
            <a:pPr indent="0" marL="0">
              <a:buNone/>
            </a:pPr>
            <a:r>
              <a:rPr lang="en-US" sz="1230" dirty="0">
                <a:solidFill>
                  <a:srgbClr val="17202A"/>
                </a:solidFill>
                <a:latin typeface="Aptos" pitchFamily="34" charset="0"/>
                <a:ea typeface="Aptos" pitchFamily="34" charset="-122"/>
                <a:cs typeface="Aptos" pitchFamily="34" charset="-120"/>
              </a:rPr>
              <a:t>Used in search, games, HMMs, MDPs.</a:t>
            </a:r>
            <a:endParaRPr lang="en-US" sz="1230" dirty="0"/>
          </a:p>
        </p:txBody>
      </p:sp>
      <p:sp>
        <p:nvSpPr>
          <p:cNvPr id="9" name="Shape 7"/>
          <p:cNvSpPr/>
          <p:nvPr/>
        </p:nvSpPr>
        <p:spPr>
          <a:xfrm>
            <a:off x="4480560" y="1234440"/>
            <a:ext cx="3246120" cy="1828800"/>
          </a:xfrm>
          <a:prstGeom prst="roundRect">
            <a:avLst>
              <a:gd name="adj" fmla="val 4000"/>
            </a:avLst>
          </a:prstGeom>
          <a:solidFill>
            <a:srgbClr val="FFFFFF"/>
          </a:solidFill>
          <a:ln w="15240">
            <a:solidFill>
              <a:srgbClr val="B7C6DA"/>
            </a:solidFill>
            <a:prstDash val="solid"/>
          </a:ln>
        </p:spPr>
      </p:sp>
      <p:sp>
        <p:nvSpPr>
          <p:cNvPr id="10" name="Shape 8"/>
          <p:cNvSpPr/>
          <p:nvPr/>
        </p:nvSpPr>
        <p:spPr>
          <a:xfrm>
            <a:off x="4480560" y="1234440"/>
            <a:ext cx="3246120" cy="329184"/>
          </a:xfrm>
          <a:prstGeom prst="rect">
            <a:avLst/>
          </a:prstGeom>
          <a:solidFill>
            <a:srgbClr val="1F7A3D"/>
          </a:solidFill>
          <a:ln w="12700">
            <a:solidFill>
              <a:srgbClr val="1F7A3D"/>
            </a:solidFill>
            <a:prstDash val="solid"/>
          </a:ln>
        </p:spPr>
      </p:sp>
      <p:sp>
        <p:nvSpPr>
          <p:cNvPr id="11" name="Text 9"/>
          <p:cNvSpPr/>
          <p:nvPr/>
        </p:nvSpPr>
        <p:spPr>
          <a:xfrm>
            <a:off x="4590288" y="1307592"/>
            <a:ext cx="3026664" cy="164592"/>
          </a:xfrm>
          <a:prstGeom prst="rect">
            <a:avLst/>
          </a:prstGeom>
          <a:noFill/>
          <a:ln/>
        </p:spPr>
        <p:txBody>
          <a:bodyPr wrap="square" lIns="0" tIns="0" rIns="0" bIns="0" rtlCol="0" anchor="ctr"/>
          <a:lstStyle/>
          <a:p>
            <a:pPr algn="ctr" indent="0" marL="0">
              <a:buNone/>
            </a:pPr>
            <a:r>
              <a:rPr lang="en-US" sz="1200" b="1" dirty="0">
                <a:solidFill>
                  <a:srgbClr val="FFFFFF"/>
                </a:solidFill>
                <a:latin typeface="Aptos" pitchFamily="34" charset="0"/>
                <a:ea typeface="Aptos" pitchFamily="34" charset="-122"/>
                <a:cs typeface="Aptos" pitchFamily="34" charset="-120"/>
              </a:rPr>
              <a:t>Factored</a:t>
            </a:r>
            <a:endParaRPr lang="en-US" sz="1200" dirty="0"/>
          </a:p>
        </p:txBody>
      </p:sp>
      <p:sp>
        <p:nvSpPr>
          <p:cNvPr id="12" name="Text 10"/>
          <p:cNvSpPr/>
          <p:nvPr/>
        </p:nvSpPr>
        <p:spPr>
          <a:xfrm>
            <a:off x="4645152" y="1737360"/>
            <a:ext cx="2916936" cy="1207008"/>
          </a:xfrm>
          <a:prstGeom prst="rect">
            <a:avLst/>
          </a:prstGeom>
          <a:noFill/>
          <a:ln/>
        </p:spPr>
        <p:txBody>
          <a:bodyPr wrap="square" lIns="254" tIns="254" rIns="254" bIns="254" rtlCol="0" anchor="ctr">
            <a:normAutofit/>
          </a:bodyPr>
          <a:lstStyle/>
          <a:p>
            <a:pPr indent="0" marL="0">
              <a:buNone/>
            </a:pPr>
            <a:r>
              <a:rPr lang="en-US" sz="1230" dirty="0">
                <a:solidFill>
                  <a:srgbClr val="17202A"/>
                </a:solidFill>
                <a:latin typeface="Aptos" pitchFamily="34" charset="0"/>
                <a:ea typeface="Aptos" pitchFamily="34" charset="-122"/>
                <a:cs typeface="Aptos" pitchFamily="34" charset="-120"/>
              </a:rPr>
              <a:t>State is a set of variables.</a:t>
            </a:r>
            <a:endParaRPr lang="en-US" sz="1230" dirty="0"/>
          </a:p>
          <a:p>
            <a:pPr indent="0" marL="0">
              <a:buNone/>
            </a:pPr>
            <a:r>
              <a:rPr lang="en-US" sz="1230" dirty="0">
                <a:solidFill>
                  <a:srgbClr val="17202A"/>
                </a:solidFill>
                <a:latin typeface="Aptos" pitchFamily="34" charset="0"/>
                <a:ea typeface="Aptos" pitchFamily="34" charset="-122"/>
                <a:cs typeface="Aptos" pitchFamily="34" charset="-120"/>
              </a:rPr>
              <a:t>Example: location, fuel, speed, weather.</a:t>
            </a:r>
            <a:endParaRPr lang="en-US" sz="1230" dirty="0"/>
          </a:p>
          <a:p>
            <a:pPr indent="0" marL="0">
              <a:buNone/>
            </a:pPr>
            <a:r>
              <a:rPr lang="en-US" sz="1230" dirty="0">
                <a:solidFill>
                  <a:srgbClr val="17202A"/>
                </a:solidFill>
                <a:latin typeface="Aptos" pitchFamily="34" charset="0"/>
                <a:ea typeface="Aptos" pitchFamily="34" charset="-122"/>
                <a:cs typeface="Aptos" pitchFamily="34" charset="-120"/>
              </a:rPr>
              <a:t>Used in CSPs, logic, Bayes nets, planning.</a:t>
            </a:r>
            <a:endParaRPr lang="en-US" sz="1230" dirty="0"/>
          </a:p>
        </p:txBody>
      </p:sp>
      <p:sp>
        <p:nvSpPr>
          <p:cNvPr id="13" name="Shape 11"/>
          <p:cNvSpPr/>
          <p:nvPr/>
        </p:nvSpPr>
        <p:spPr>
          <a:xfrm>
            <a:off x="8138160" y="1234440"/>
            <a:ext cx="3246120" cy="1828800"/>
          </a:xfrm>
          <a:prstGeom prst="roundRect">
            <a:avLst>
              <a:gd name="adj" fmla="val 4000"/>
            </a:avLst>
          </a:prstGeom>
          <a:solidFill>
            <a:srgbClr val="FFFFFF"/>
          </a:solidFill>
          <a:ln w="15240">
            <a:solidFill>
              <a:srgbClr val="B7C6DA"/>
            </a:solidFill>
            <a:prstDash val="solid"/>
          </a:ln>
        </p:spPr>
      </p:sp>
      <p:sp>
        <p:nvSpPr>
          <p:cNvPr id="14" name="Shape 12"/>
          <p:cNvSpPr/>
          <p:nvPr/>
        </p:nvSpPr>
        <p:spPr>
          <a:xfrm>
            <a:off x="8138160" y="1234440"/>
            <a:ext cx="3246120" cy="329184"/>
          </a:xfrm>
          <a:prstGeom prst="rect">
            <a:avLst/>
          </a:prstGeom>
          <a:solidFill>
            <a:srgbClr val="6D28D9"/>
          </a:solidFill>
          <a:ln w="12700">
            <a:solidFill>
              <a:srgbClr val="6D28D9"/>
            </a:solidFill>
            <a:prstDash val="solid"/>
          </a:ln>
        </p:spPr>
      </p:sp>
      <p:sp>
        <p:nvSpPr>
          <p:cNvPr id="15" name="Text 13"/>
          <p:cNvSpPr/>
          <p:nvPr/>
        </p:nvSpPr>
        <p:spPr>
          <a:xfrm>
            <a:off x="8247888" y="1307592"/>
            <a:ext cx="3026664" cy="164592"/>
          </a:xfrm>
          <a:prstGeom prst="rect">
            <a:avLst/>
          </a:prstGeom>
          <a:noFill/>
          <a:ln/>
        </p:spPr>
        <p:txBody>
          <a:bodyPr wrap="square" lIns="0" tIns="0" rIns="0" bIns="0" rtlCol="0" anchor="ctr"/>
          <a:lstStyle/>
          <a:p>
            <a:pPr algn="ctr" indent="0" marL="0">
              <a:buNone/>
            </a:pPr>
            <a:r>
              <a:rPr lang="en-US" sz="1200" b="1" dirty="0">
                <a:solidFill>
                  <a:srgbClr val="FFFFFF"/>
                </a:solidFill>
                <a:latin typeface="Aptos" pitchFamily="34" charset="0"/>
                <a:ea typeface="Aptos" pitchFamily="34" charset="-122"/>
                <a:cs typeface="Aptos" pitchFamily="34" charset="-120"/>
              </a:rPr>
              <a:t>Structured</a:t>
            </a:r>
            <a:endParaRPr lang="en-US" sz="1200" dirty="0"/>
          </a:p>
        </p:txBody>
      </p:sp>
      <p:sp>
        <p:nvSpPr>
          <p:cNvPr id="16" name="Text 14"/>
          <p:cNvSpPr/>
          <p:nvPr/>
        </p:nvSpPr>
        <p:spPr>
          <a:xfrm>
            <a:off x="8302752" y="1737360"/>
            <a:ext cx="2916936" cy="1207008"/>
          </a:xfrm>
          <a:prstGeom prst="rect">
            <a:avLst/>
          </a:prstGeom>
          <a:noFill/>
          <a:ln/>
        </p:spPr>
        <p:txBody>
          <a:bodyPr wrap="square" lIns="254" tIns="254" rIns="254" bIns="254" rtlCol="0" anchor="ctr">
            <a:normAutofit/>
          </a:bodyPr>
          <a:lstStyle/>
          <a:p>
            <a:pPr indent="0" marL="0">
              <a:buNone/>
            </a:pPr>
            <a:r>
              <a:rPr lang="en-US" sz="1230" dirty="0">
                <a:solidFill>
                  <a:srgbClr val="17202A"/>
                </a:solidFill>
                <a:latin typeface="Aptos" pitchFamily="34" charset="0"/>
                <a:ea typeface="Aptos" pitchFamily="34" charset="-122"/>
                <a:cs typeface="Aptos" pitchFamily="34" charset="-120"/>
              </a:rPr>
              <a:t>Objects plus relations.</a:t>
            </a:r>
            <a:endParaRPr lang="en-US" sz="1230" dirty="0"/>
          </a:p>
          <a:p>
            <a:pPr indent="0" marL="0">
              <a:buNone/>
            </a:pPr>
            <a:r>
              <a:rPr lang="en-US" sz="1230" dirty="0">
                <a:solidFill>
                  <a:srgbClr val="17202A"/>
                </a:solidFill>
                <a:latin typeface="Aptos" pitchFamily="34" charset="0"/>
                <a:ea typeface="Aptos" pitchFamily="34" charset="-122"/>
                <a:cs typeface="Aptos" pitchFamily="34" charset="-120"/>
              </a:rPr>
              <a:t>Example: truck blocking cow near driveway.</a:t>
            </a:r>
            <a:endParaRPr lang="en-US" sz="1230" dirty="0"/>
          </a:p>
          <a:p>
            <a:pPr indent="0" marL="0">
              <a:buNone/>
            </a:pPr>
            <a:r>
              <a:rPr lang="en-US" sz="1230" dirty="0">
                <a:solidFill>
                  <a:srgbClr val="17202A"/>
                </a:solidFill>
                <a:latin typeface="Aptos" pitchFamily="34" charset="0"/>
                <a:ea typeface="Aptos" pitchFamily="34" charset="-122"/>
                <a:cs typeface="Aptos" pitchFamily="34" charset="-120"/>
              </a:rPr>
              <a:t>Used in first-order logic, databases, language.</a:t>
            </a:r>
            <a:endParaRPr lang="en-US" sz="1230" dirty="0"/>
          </a:p>
        </p:txBody>
      </p:sp>
      <p:sp>
        <p:nvSpPr>
          <p:cNvPr id="17" name="Shape 15"/>
          <p:cNvSpPr/>
          <p:nvPr/>
        </p:nvSpPr>
        <p:spPr>
          <a:xfrm>
            <a:off x="1920240" y="4160520"/>
            <a:ext cx="8321040" cy="0"/>
          </a:xfrm>
          <a:prstGeom prst="line">
            <a:avLst/>
          </a:prstGeom>
          <a:noFill/>
          <a:ln w="17780">
            <a:solidFill>
              <a:srgbClr val="6B778C"/>
            </a:solidFill>
            <a:prstDash val="solid"/>
            <a:headEnd type="none"/>
            <a:tailEnd type="triangle"/>
          </a:ln>
        </p:spPr>
      </p:sp>
      <p:sp>
        <p:nvSpPr>
          <p:cNvPr id="18" name="Text 16"/>
          <p:cNvSpPr/>
          <p:nvPr/>
        </p:nvSpPr>
        <p:spPr>
          <a:xfrm>
            <a:off x="1051560" y="4389120"/>
            <a:ext cx="2743200" cy="164592"/>
          </a:xfrm>
          <a:prstGeom prst="rect">
            <a:avLst/>
          </a:prstGeom>
          <a:noFill/>
          <a:ln/>
        </p:spPr>
        <p:txBody>
          <a:bodyPr wrap="square" rtlCol="0" anchor="ctr"/>
          <a:lstStyle/>
          <a:p>
            <a:pPr indent="0" marL="0">
              <a:buNone/>
            </a:pPr>
            <a:r>
              <a:rPr lang="en-US" sz="1100" dirty="0">
                <a:solidFill>
                  <a:srgbClr val="6B778C"/>
                </a:solidFill>
              </a:rPr>
              <a:t>less expressive, easier reasoning</a:t>
            </a:r>
            <a:endParaRPr lang="en-US" sz="1100" dirty="0"/>
          </a:p>
        </p:txBody>
      </p:sp>
      <p:sp>
        <p:nvSpPr>
          <p:cNvPr id="19" name="Text 17"/>
          <p:cNvSpPr/>
          <p:nvPr/>
        </p:nvSpPr>
        <p:spPr>
          <a:xfrm>
            <a:off x="8229600" y="4389120"/>
            <a:ext cx="2926080" cy="164592"/>
          </a:xfrm>
          <a:prstGeom prst="rect">
            <a:avLst/>
          </a:prstGeom>
          <a:noFill/>
          <a:ln/>
        </p:spPr>
        <p:txBody>
          <a:bodyPr wrap="square" rtlCol="0" anchor="ctr"/>
          <a:lstStyle/>
          <a:p>
            <a:pPr algn="r" indent="0" marL="0">
              <a:buNone/>
            </a:pPr>
            <a:r>
              <a:rPr lang="en-US" sz="1100" dirty="0">
                <a:solidFill>
                  <a:srgbClr val="6B778C"/>
                </a:solidFill>
              </a:rPr>
              <a:t>more expressive, harder reasoning</a:t>
            </a:r>
            <a:endParaRPr lang="en-US" sz="1100" dirty="0"/>
          </a:p>
        </p:txBody>
      </p:sp>
      <p:sp>
        <p:nvSpPr>
          <p:cNvPr id="20" name="Shape 18"/>
          <p:cNvSpPr/>
          <p:nvPr/>
        </p:nvSpPr>
        <p:spPr>
          <a:xfrm>
            <a:off x="1417320" y="5230368"/>
            <a:ext cx="9326880" cy="475488"/>
          </a:xfrm>
          <a:prstGeom prst="roundRect">
            <a:avLst>
              <a:gd name="adj" fmla="val 11538"/>
            </a:avLst>
          </a:prstGeom>
          <a:solidFill>
            <a:srgbClr val="FFEFCB"/>
          </a:solidFill>
          <a:ln w="12700">
            <a:solidFill>
              <a:srgbClr val="AFC2DC"/>
            </a:solidFill>
            <a:prstDash val="solid"/>
          </a:ln>
        </p:spPr>
      </p:sp>
      <p:sp>
        <p:nvSpPr>
          <p:cNvPr id="21" name="Text 19"/>
          <p:cNvSpPr/>
          <p:nvPr/>
        </p:nvSpPr>
        <p:spPr>
          <a:xfrm>
            <a:off x="1463040" y="5285232"/>
            <a:ext cx="9235440" cy="384048"/>
          </a:xfrm>
          <a:prstGeom prst="rect">
            <a:avLst/>
          </a:prstGeom>
          <a:noFill/>
          <a:ln/>
        </p:spPr>
        <p:txBody>
          <a:bodyPr wrap="square" lIns="0" tIns="0" rIns="0" bIns="0" rtlCol="0" anchor="ctr">
            <a:normAutofit/>
          </a:bodyPr>
          <a:lstStyle/>
          <a:p>
            <a:pPr algn="ctr" indent="0" marL="0">
              <a:buNone/>
            </a:pPr>
            <a:r>
              <a:rPr lang="en-US" sz="1250" b="1" dirty="0">
                <a:solidFill>
                  <a:srgbClr val="102F63"/>
                </a:solidFill>
                <a:latin typeface="Aptos" pitchFamily="34" charset="0"/>
                <a:ea typeface="Aptos" pitchFamily="34" charset="-122"/>
                <a:cs typeface="Aptos" pitchFamily="34" charset="-120"/>
              </a:rPr>
              <a:t>Design choice: enough expressive power for the task, but not more than the agent can reason with efficiently.</a:t>
            </a:r>
            <a:endParaRPr lang="en-US" sz="1250" dirty="0"/>
          </a:p>
        </p:txBody>
      </p:sp>
      <p:sp>
        <p:nvSpPr>
          <p:cNvPr id="22" name="Text 20"/>
          <p:cNvSpPr/>
          <p:nvPr/>
        </p:nvSpPr>
        <p:spPr>
          <a:xfrm>
            <a:off x="502920" y="6574536"/>
            <a:ext cx="5760720" cy="118872"/>
          </a:xfrm>
          <a:prstGeom prst="rect">
            <a:avLst/>
          </a:prstGeom>
          <a:noFill/>
          <a:ln/>
        </p:spPr>
        <p:txBody>
          <a:bodyPr wrap="square" lIns="0" tIns="0" rIns="0" bIns="0" rtlCol="0" anchor="ctr"/>
          <a:lstStyle/>
          <a:p>
            <a:pPr indent="0" marL="0">
              <a:buNone/>
            </a:pPr>
            <a:r>
              <a:rPr lang="en-US" sz="650" dirty="0">
                <a:solidFill>
                  <a:srgbClr val="7A869A"/>
                </a:solidFill>
                <a:latin typeface="Aptos" pitchFamily="34" charset="0"/>
                <a:ea typeface="Aptos" pitchFamily="34" charset="-122"/>
                <a:cs typeface="Aptos" pitchFamily="34" charset="-120"/>
              </a:rPr>
              <a:t>AIMA Ch. 2 + UC Berkeley CS188 Part II companion</a:t>
            </a:r>
            <a:endParaRPr lang="en-US" sz="650" dirty="0"/>
          </a:p>
        </p:txBody>
      </p:sp>
      <p:sp>
        <p:nvSpPr>
          <p:cNvPr id="25" name="Slide Number Placeholder 0"/>
          <p:cNvSpPr>
            <a:spLocks noGrp="1"/>
          </p:cNvSpPr>
          <p:nvPr>
            <p:ph type="sldNum" sz="quarter" idx="4294967295"/>
          </p:nvPr>
        </p:nvSpPr>
        <p:spPr>
          <a:xfrm>
            <a:off x="5943600" y="658368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B778C"/>
                </a:solidFill>
                <a:latin typeface="Aptos"/>
                <a:ea typeface="Aptos"/>
                <a:cs typeface="Aptos"/>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02920" y="146304"/>
            <a:ext cx="11155680" cy="329184"/>
          </a:xfrm>
          <a:prstGeom prst="rect">
            <a:avLst/>
          </a:prstGeom>
          <a:noFill/>
          <a:ln/>
        </p:spPr>
        <p:txBody>
          <a:bodyPr wrap="square" lIns="0" tIns="0" rIns="0" bIns="0" rtlCol="0" anchor="ctr"/>
          <a:lstStyle/>
          <a:p>
            <a:pPr indent="0" marL="0">
              <a:buNone/>
            </a:pPr>
            <a:r>
              <a:rPr lang="en-US" sz="2500" b="1" dirty="0">
                <a:solidFill>
                  <a:srgbClr val="FFFFFF"/>
                </a:solidFill>
                <a:latin typeface="Aptos Display" pitchFamily="34" charset="0"/>
                <a:ea typeface="Aptos Display" pitchFamily="34" charset="-122"/>
                <a:cs typeface="Aptos Display" pitchFamily="34" charset="-120"/>
              </a:rPr>
              <a:t>Choosing an Agent Design from Environment Properties</a:t>
            </a:r>
            <a:endParaRPr lang="en-US" sz="2500" dirty="0"/>
          </a:p>
        </p:txBody>
      </p:sp>
      <p:sp>
        <p:nvSpPr>
          <p:cNvPr id="3" name="Shape 1"/>
          <p:cNvSpPr/>
          <p:nvPr/>
        </p:nvSpPr>
        <p:spPr>
          <a:xfrm>
            <a:off x="10058400" y="841248"/>
            <a:ext cx="1508760" cy="228600"/>
          </a:xfrm>
          <a:prstGeom prst="roundRect">
            <a:avLst>
              <a:gd name="adj" fmla="val 28000"/>
            </a:avLst>
          </a:prstGeom>
          <a:solidFill>
            <a:srgbClr val="EAF2FF"/>
          </a:solidFill>
          <a:ln w="12700">
            <a:solidFill>
              <a:srgbClr val="B7CAE4"/>
            </a:solidFill>
            <a:prstDash val="solid"/>
          </a:ln>
        </p:spPr>
      </p:sp>
      <p:sp>
        <p:nvSpPr>
          <p:cNvPr id="4" name="Text 2"/>
          <p:cNvSpPr/>
          <p:nvPr/>
        </p:nvSpPr>
        <p:spPr>
          <a:xfrm>
            <a:off x="10168128" y="900684"/>
            <a:ext cx="1298448" cy="91440"/>
          </a:xfrm>
          <a:prstGeom prst="rect">
            <a:avLst/>
          </a:prstGeom>
          <a:noFill/>
          <a:ln/>
        </p:spPr>
        <p:txBody>
          <a:bodyPr wrap="square" lIns="0" tIns="0" rIns="0" bIns="0" rtlCol="0" anchor="ctr"/>
          <a:lstStyle/>
          <a:p>
            <a:pPr algn="ctr" indent="0" marL="0">
              <a:buNone/>
            </a:pPr>
            <a:r>
              <a:rPr lang="en-US" sz="950" b="1" dirty="0">
                <a:solidFill>
                  <a:srgbClr val="102F63"/>
                </a:solidFill>
                <a:latin typeface="Aptos" pitchFamily="34" charset="0"/>
                <a:ea typeface="Aptos" pitchFamily="34" charset="-122"/>
                <a:cs typeface="Aptos" pitchFamily="34" charset="-120"/>
              </a:rPr>
              <a:t>Synthesis</a:t>
            </a:r>
            <a:endParaRPr lang="en-US" sz="950" dirty="0"/>
          </a:p>
        </p:txBody>
      </p:sp>
      <p:sp>
        <p:nvSpPr>
          <p:cNvPr id="5" name="Shape 3"/>
          <p:cNvSpPr/>
          <p:nvPr/>
        </p:nvSpPr>
        <p:spPr>
          <a:xfrm>
            <a:off x="822960" y="1234440"/>
            <a:ext cx="10515600" cy="548640"/>
          </a:xfrm>
          <a:prstGeom prst="roundRect">
            <a:avLst>
              <a:gd name="adj" fmla="val 10000"/>
            </a:avLst>
          </a:prstGeom>
          <a:solidFill>
            <a:srgbClr val="FFFFFF"/>
          </a:solidFill>
          <a:ln w="12700">
            <a:solidFill>
              <a:srgbClr val="C8D3E0"/>
            </a:solidFill>
            <a:prstDash val="solid"/>
          </a:ln>
        </p:spPr>
      </p:sp>
      <p:sp>
        <p:nvSpPr>
          <p:cNvPr id="6" name="Text 4"/>
          <p:cNvSpPr/>
          <p:nvPr/>
        </p:nvSpPr>
        <p:spPr>
          <a:xfrm>
            <a:off x="1051560" y="1389888"/>
            <a:ext cx="2468880" cy="182880"/>
          </a:xfrm>
          <a:prstGeom prst="rect">
            <a:avLst/>
          </a:prstGeom>
          <a:noFill/>
          <a:ln/>
        </p:spPr>
        <p:txBody>
          <a:bodyPr wrap="square" rtlCol="0" anchor="ctr"/>
          <a:lstStyle/>
          <a:p>
            <a:pPr indent="0" marL="0">
              <a:buNone/>
            </a:pPr>
            <a:r>
              <a:rPr lang="en-US" sz="1250" b="1" dirty="0">
                <a:solidFill>
                  <a:srgbClr val="102F63"/>
                </a:solidFill>
              </a:rPr>
              <a:t>Fully observable + simple</a:t>
            </a:r>
            <a:endParaRPr lang="en-US" sz="1250" dirty="0"/>
          </a:p>
        </p:txBody>
      </p:sp>
      <p:sp>
        <p:nvSpPr>
          <p:cNvPr id="7" name="Text 5"/>
          <p:cNvSpPr/>
          <p:nvPr/>
        </p:nvSpPr>
        <p:spPr>
          <a:xfrm>
            <a:off x="3840480" y="1371600"/>
            <a:ext cx="274320" cy="182880"/>
          </a:xfrm>
          <a:prstGeom prst="rect">
            <a:avLst/>
          </a:prstGeom>
          <a:noFill/>
          <a:ln/>
        </p:spPr>
        <p:txBody>
          <a:bodyPr wrap="square" rtlCol="0" anchor="ctr"/>
          <a:lstStyle/>
          <a:p>
            <a:pPr indent="0" marL="0">
              <a:buNone/>
            </a:pPr>
            <a:r>
              <a:rPr lang="en-US" sz="1500" dirty="0">
                <a:solidFill>
                  <a:srgbClr val="6B778C"/>
                </a:solidFill>
              </a:rPr>
              <a:t>→</a:t>
            </a:r>
            <a:endParaRPr lang="en-US" sz="1500" dirty="0"/>
          </a:p>
        </p:txBody>
      </p:sp>
      <p:sp>
        <p:nvSpPr>
          <p:cNvPr id="8" name="Text 6"/>
          <p:cNvSpPr/>
          <p:nvPr/>
        </p:nvSpPr>
        <p:spPr>
          <a:xfrm>
            <a:off x="4160520" y="1389888"/>
            <a:ext cx="1874520" cy="182880"/>
          </a:xfrm>
          <a:prstGeom prst="rect">
            <a:avLst/>
          </a:prstGeom>
          <a:noFill/>
          <a:ln/>
        </p:spPr>
        <p:txBody>
          <a:bodyPr wrap="square" rtlCol="0" anchor="ctr"/>
          <a:lstStyle/>
          <a:p>
            <a:pPr indent="0" marL="0">
              <a:buNone/>
            </a:pPr>
            <a:r>
              <a:rPr lang="en-US" sz="1250" b="1" dirty="0">
                <a:solidFill>
                  <a:srgbClr val="1F7A3D"/>
                </a:solidFill>
              </a:rPr>
              <a:t>Simple reflex</a:t>
            </a:r>
            <a:endParaRPr lang="en-US" sz="1250" dirty="0"/>
          </a:p>
        </p:txBody>
      </p:sp>
      <p:sp>
        <p:nvSpPr>
          <p:cNvPr id="9" name="Text 7"/>
          <p:cNvSpPr/>
          <p:nvPr/>
        </p:nvSpPr>
        <p:spPr>
          <a:xfrm>
            <a:off x="6263640" y="1389888"/>
            <a:ext cx="4526280" cy="182880"/>
          </a:xfrm>
          <a:prstGeom prst="rect">
            <a:avLst/>
          </a:prstGeom>
          <a:noFill/>
          <a:ln/>
        </p:spPr>
        <p:txBody>
          <a:bodyPr wrap="square" rtlCol="0" anchor="ctr"/>
          <a:lstStyle/>
          <a:p>
            <a:pPr indent="0" marL="0">
              <a:buNone/>
            </a:pPr>
            <a:r>
              <a:rPr lang="en-US" sz="1250" dirty="0">
                <a:solidFill>
                  <a:srgbClr val="17202A"/>
                </a:solidFill>
              </a:rPr>
              <a:t>Fast condition–action rules may be enough.</a:t>
            </a:r>
            <a:endParaRPr lang="en-US" sz="1250" dirty="0"/>
          </a:p>
        </p:txBody>
      </p:sp>
      <p:sp>
        <p:nvSpPr>
          <p:cNvPr id="10" name="Shape 8"/>
          <p:cNvSpPr/>
          <p:nvPr/>
        </p:nvSpPr>
        <p:spPr>
          <a:xfrm>
            <a:off x="822960" y="2057400"/>
            <a:ext cx="10515600" cy="548640"/>
          </a:xfrm>
          <a:prstGeom prst="roundRect">
            <a:avLst>
              <a:gd name="adj" fmla="val 10000"/>
            </a:avLst>
          </a:prstGeom>
          <a:solidFill>
            <a:srgbClr val="EAF2FF"/>
          </a:solidFill>
          <a:ln w="12700">
            <a:solidFill>
              <a:srgbClr val="C8D3E0"/>
            </a:solidFill>
            <a:prstDash val="solid"/>
          </a:ln>
        </p:spPr>
      </p:sp>
      <p:sp>
        <p:nvSpPr>
          <p:cNvPr id="11" name="Text 9"/>
          <p:cNvSpPr/>
          <p:nvPr/>
        </p:nvSpPr>
        <p:spPr>
          <a:xfrm>
            <a:off x="1051560" y="2212848"/>
            <a:ext cx="2468880" cy="182880"/>
          </a:xfrm>
          <a:prstGeom prst="rect">
            <a:avLst/>
          </a:prstGeom>
          <a:noFill/>
          <a:ln/>
        </p:spPr>
        <p:txBody>
          <a:bodyPr wrap="square" rtlCol="0" anchor="ctr"/>
          <a:lstStyle/>
          <a:p>
            <a:pPr indent="0" marL="0">
              <a:buNone/>
            </a:pPr>
            <a:r>
              <a:rPr lang="en-US" sz="1250" b="1" dirty="0">
                <a:solidFill>
                  <a:srgbClr val="102F63"/>
                </a:solidFill>
              </a:rPr>
              <a:t>Partially observable</a:t>
            </a:r>
            <a:endParaRPr lang="en-US" sz="1250" dirty="0"/>
          </a:p>
        </p:txBody>
      </p:sp>
      <p:sp>
        <p:nvSpPr>
          <p:cNvPr id="12" name="Text 10"/>
          <p:cNvSpPr/>
          <p:nvPr/>
        </p:nvSpPr>
        <p:spPr>
          <a:xfrm>
            <a:off x="3840480" y="2194560"/>
            <a:ext cx="274320" cy="182880"/>
          </a:xfrm>
          <a:prstGeom prst="rect">
            <a:avLst/>
          </a:prstGeom>
          <a:noFill/>
          <a:ln/>
        </p:spPr>
        <p:txBody>
          <a:bodyPr wrap="square" rtlCol="0" anchor="ctr"/>
          <a:lstStyle/>
          <a:p>
            <a:pPr indent="0" marL="0">
              <a:buNone/>
            </a:pPr>
            <a:r>
              <a:rPr lang="en-US" sz="1500" dirty="0">
                <a:solidFill>
                  <a:srgbClr val="6B778C"/>
                </a:solidFill>
              </a:rPr>
              <a:t>→</a:t>
            </a:r>
            <a:endParaRPr lang="en-US" sz="1500" dirty="0"/>
          </a:p>
        </p:txBody>
      </p:sp>
      <p:sp>
        <p:nvSpPr>
          <p:cNvPr id="13" name="Text 11"/>
          <p:cNvSpPr/>
          <p:nvPr/>
        </p:nvSpPr>
        <p:spPr>
          <a:xfrm>
            <a:off x="4160520" y="2212848"/>
            <a:ext cx="1874520" cy="182880"/>
          </a:xfrm>
          <a:prstGeom prst="rect">
            <a:avLst/>
          </a:prstGeom>
          <a:noFill/>
          <a:ln/>
        </p:spPr>
        <p:txBody>
          <a:bodyPr wrap="square" rtlCol="0" anchor="ctr"/>
          <a:lstStyle/>
          <a:p>
            <a:pPr indent="0" marL="0">
              <a:buNone/>
            </a:pPr>
            <a:r>
              <a:rPr lang="en-US" sz="1250" b="1" dirty="0">
                <a:solidFill>
                  <a:srgbClr val="1F7A3D"/>
                </a:solidFill>
              </a:rPr>
              <a:t>Model-based reflex</a:t>
            </a:r>
            <a:endParaRPr lang="en-US" sz="1250" dirty="0"/>
          </a:p>
        </p:txBody>
      </p:sp>
      <p:sp>
        <p:nvSpPr>
          <p:cNvPr id="14" name="Text 12"/>
          <p:cNvSpPr/>
          <p:nvPr/>
        </p:nvSpPr>
        <p:spPr>
          <a:xfrm>
            <a:off x="6263640" y="2212848"/>
            <a:ext cx="4526280" cy="182880"/>
          </a:xfrm>
          <a:prstGeom prst="rect">
            <a:avLst/>
          </a:prstGeom>
          <a:noFill/>
          <a:ln/>
        </p:spPr>
        <p:txBody>
          <a:bodyPr wrap="square" rtlCol="0" anchor="ctr"/>
          <a:lstStyle/>
          <a:p>
            <a:pPr indent="0" marL="0">
              <a:buNone/>
            </a:pPr>
            <a:r>
              <a:rPr lang="en-US" sz="1250" dirty="0">
                <a:solidFill>
                  <a:srgbClr val="17202A"/>
                </a:solidFill>
              </a:rPr>
              <a:t>Maintain internal state and update it using models.</a:t>
            </a:r>
            <a:endParaRPr lang="en-US" sz="1250" dirty="0"/>
          </a:p>
        </p:txBody>
      </p:sp>
      <p:sp>
        <p:nvSpPr>
          <p:cNvPr id="15" name="Shape 13"/>
          <p:cNvSpPr/>
          <p:nvPr/>
        </p:nvSpPr>
        <p:spPr>
          <a:xfrm>
            <a:off x="822960" y="2880360"/>
            <a:ext cx="10515600" cy="548640"/>
          </a:xfrm>
          <a:prstGeom prst="roundRect">
            <a:avLst>
              <a:gd name="adj" fmla="val 10000"/>
            </a:avLst>
          </a:prstGeom>
          <a:solidFill>
            <a:srgbClr val="FFFFFF"/>
          </a:solidFill>
          <a:ln w="12700">
            <a:solidFill>
              <a:srgbClr val="C8D3E0"/>
            </a:solidFill>
            <a:prstDash val="solid"/>
          </a:ln>
        </p:spPr>
      </p:sp>
      <p:sp>
        <p:nvSpPr>
          <p:cNvPr id="16" name="Text 14"/>
          <p:cNvSpPr/>
          <p:nvPr/>
        </p:nvSpPr>
        <p:spPr>
          <a:xfrm>
            <a:off x="1051560" y="3035808"/>
            <a:ext cx="2468880" cy="182880"/>
          </a:xfrm>
          <a:prstGeom prst="rect">
            <a:avLst/>
          </a:prstGeom>
          <a:noFill/>
          <a:ln/>
        </p:spPr>
        <p:txBody>
          <a:bodyPr wrap="square" rtlCol="0" anchor="ctr"/>
          <a:lstStyle/>
          <a:p>
            <a:pPr indent="0" marL="0">
              <a:buNone/>
            </a:pPr>
            <a:r>
              <a:rPr lang="en-US" sz="1250" b="1" dirty="0">
                <a:solidFill>
                  <a:srgbClr val="102F63"/>
                </a:solidFill>
              </a:rPr>
              <a:t>Long-term objective</a:t>
            </a:r>
            <a:endParaRPr lang="en-US" sz="1250" dirty="0"/>
          </a:p>
        </p:txBody>
      </p:sp>
      <p:sp>
        <p:nvSpPr>
          <p:cNvPr id="17" name="Text 15"/>
          <p:cNvSpPr/>
          <p:nvPr/>
        </p:nvSpPr>
        <p:spPr>
          <a:xfrm>
            <a:off x="3840480" y="3017520"/>
            <a:ext cx="274320" cy="182880"/>
          </a:xfrm>
          <a:prstGeom prst="rect">
            <a:avLst/>
          </a:prstGeom>
          <a:noFill/>
          <a:ln/>
        </p:spPr>
        <p:txBody>
          <a:bodyPr wrap="square" rtlCol="0" anchor="ctr"/>
          <a:lstStyle/>
          <a:p>
            <a:pPr indent="0" marL="0">
              <a:buNone/>
            </a:pPr>
            <a:r>
              <a:rPr lang="en-US" sz="1500" dirty="0">
                <a:solidFill>
                  <a:srgbClr val="6B778C"/>
                </a:solidFill>
              </a:rPr>
              <a:t>→</a:t>
            </a:r>
            <a:endParaRPr lang="en-US" sz="1500" dirty="0"/>
          </a:p>
        </p:txBody>
      </p:sp>
      <p:sp>
        <p:nvSpPr>
          <p:cNvPr id="18" name="Text 16"/>
          <p:cNvSpPr/>
          <p:nvPr/>
        </p:nvSpPr>
        <p:spPr>
          <a:xfrm>
            <a:off x="4160520" y="3035808"/>
            <a:ext cx="1874520" cy="182880"/>
          </a:xfrm>
          <a:prstGeom prst="rect">
            <a:avLst/>
          </a:prstGeom>
          <a:noFill/>
          <a:ln/>
        </p:spPr>
        <p:txBody>
          <a:bodyPr wrap="square" rtlCol="0" anchor="ctr"/>
          <a:lstStyle/>
          <a:p>
            <a:pPr indent="0" marL="0">
              <a:buNone/>
            </a:pPr>
            <a:r>
              <a:rPr lang="en-US" sz="1250" b="1" dirty="0">
                <a:solidFill>
                  <a:srgbClr val="1F7A3D"/>
                </a:solidFill>
              </a:rPr>
              <a:t>Goal-based</a:t>
            </a:r>
            <a:endParaRPr lang="en-US" sz="1250" dirty="0"/>
          </a:p>
        </p:txBody>
      </p:sp>
      <p:sp>
        <p:nvSpPr>
          <p:cNvPr id="19" name="Text 17"/>
          <p:cNvSpPr/>
          <p:nvPr/>
        </p:nvSpPr>
        <p:spPr>
          <a:xfrm>
            <a:off x="6263640" y="3035808"/>
            <a:ext cx="4526280" cy="182880"/>
          </a:xfrm>
          <a:prstGeom prst="rect">
            <a:avLst/>
          </a:prstGeom>
          <a:noFill/>
          <a:ln/>
        </p:spPr>
        <p:txBody>
          <a:bodyPr wrap="square" rtlCol="0" anchor="ctr"/>
          <a:lstStyle/>
          <a:p>
            <a:pPr indent="0" marL="0">
              <a:buNone/>
            </a:pPr>
            <a:r>
              <a:rPr lang="en-US" sz="1250" dirty="0">
                <a:solidFill>
                  <a:srgbClr val="17202A"/>
                </a:solidFill>
              </a:rPr>
              <a:t>Search or planning over future action sequences.</a:t>
            </a:r>
            <a:endParaRPr lang="en-US" sz="1250" dirty="0"/>
          </a:p>
        </p:txBody>
      </p:sp>
      <p:sp>
        <p:nvSpPr>
          <p:cNvPr id="20" name="Shape 18"/>
          <p:cNvSpPr/>
          <p:nvPr/>
        </p:nvSpPr>
        <p:spPr>
          <a:xfrm>
            <a:off x="822960" y="3703320"/>
            <a:ext cx="10515600" cy="548640"/>
          </a:xfrm>
          <a:prstGeom prst="roundRect">
            <a:avLst>
              <a:gd name="adj" fmla="val 10000"/>
            </a:avLst>
          </a:prstGeom>
          <a:solidFill>
            <a:srgbClr val="EAF2FF"/>
          </a:solidFill>
          <a:ln w="12700">
            <a:solidFill>
              <a:srgbClr val="C8D3E0"/>
            </a:solidFill>
            <a:prstDash val="solid"/>
          </a:ln>
        </p:spPr>
      </p:sp>
      <p:sp>
        <p:nvSpPr>
          <p:cNvPr id="21" name="Text 19"/>
          <p:cNvSpPr/>
          <p:nvPr/>
        </p:nvSpPr>
        <p:spPr>
          <a:xfrm>
            <a:off x="1051560" y="3858768"/>
            <a:ext cx="2468880" cy="182880"/>
          </a:xfrm>
          <a:prstGeom prst="rect">
            <a:avLst/>
          </a:prstGeom>
          <a:noFill/>
          <a:ln/>
        </p:spPr>
        <p:txBody>
          <a:bodyPr wrap="square" rtlCol="0" anchor="ctr"/>
          <a:lstStyle/>
          <a:p>
            <a:pPr indent="0" marL="0">
              <a:buNone/>
            </a:pPr>
            <a:r>
              <a:rPr lang="en-US" sz="1250" b="1" dirty="0">
                <a:solidFill>
                  <a:srgbClr val="102F63"/>
                </a:solidFill>
              </a:rPr>
              <a:t>Tradeoffs / uncertainty</a:t>
            </a:r>
            <a:endParaRPr lang="en-US" sz="1250" dirty="0"/>
          </a:p>
        </p:txBody>
      </p:sp>
      <p:sp>
        <p:nvSpPr>
          <p:cNvPr id="22" name="Text 20"/>
          <p:cNvSpPr/>
          <p:nvPr/>
        </p:nvSpPr>
        <p:spPr>
          <a:xfrm>
            <a:off x="3840480" y="3840480"/>
            <a:ext cx="274320" cy="182880"/>
          </a:xfrm>
          <a:prstGeom prst="rect">
            <a:avLst/>
          </a:prstGeom>
          <a:noFill/>
          <a:ln/>
        </p:spPr>
        <p:txBody>
          <a:bodyPr wrap="square" rtlCol="0" anchor="ctr"/>
          <a:lstStyle/>
          <a:p>
            <a:pPr indent="0" marL="0">
              <a:buNone/>
            </a:pPr>
            <a:r>
              <a:rPr lang="en-US" sz="1500" dirty="0">
                <a:solidFill>
                  <a:srgbClr val="6B778C"/>
                </a:solidFill>
              </a:rPr>
              <a:t>→</a:t>
            </a:r>
            <a:endParaRPr lang="en-US" sz="1500" dirty="0"/>
          </a:p>
        </p:txBody>
      </p:sp>
      <p:sp>
        <p:nvSpPr>
          <p:cNvPr id="23" name="Text 21"/>
          <p:cNvSpPr/>
          <p:nvPr/>
        </p:nvSpPr>
        <p:spPr>
          <a:xfrm>
            <a:off x="4160520" y="3858768"/>
            <a:ext cx="1874520" cy="182880"/>
          </a:xfrm>
          <a:prstGeom prst="rect">
            <a:avLst/>
          </a:prstGeom>
          <a:noFill/>
          <a:ln/>
        </p:spPr>
        <p:txBody>
          <a:bodyPr wrap="square" rtlCol="0" anchor="ctr"/>
          <a:lstStyle/>
          <a:p>
            <a:pPr indent="0" marL="0">
              <a:buNone/>
            </a:pPr>
            <a:r>
              <a:rPr lang="en-US" sz="1250" b="1" dirty="0">
                <a:solidFill>
                  <a:srgbClr val="1F7A3D"/>
                </a:solidFill>
              </a:rPr>
              <a:t>Utility-based</a:t>
            </a:r>
            <a:endParaRPr lang="en-US" sz="1250" dirty="0"/>
          </a:p>
        </p:txBody>
      </p:sp>
      <p:sp>
        <p:nvSpPr>
          <p:cNvPr id="24" name="Text 22"/>
          <p:cNvSpPr/>
          <p:nvPr/>
        </p:nvSpPr>
        <p:spPr>
          <a:xfrm>
            <a:off x="6263640" y="3858768"/>
            <a:ext cx="4526280" cy="182880"/>
          </a:xfrm>
          <a:prstGeom prst="rect">
            <a:avLst/>
          </a:prstGeom>
          <a:noFill/>
          <a:ln/>
        </p:spPr>
        <p:txBody>
          <a:bodyPr wrap="square" rtlCol="0" anchor="ctr"/>
          <a:lstStyle/>
          <a:p>
            <a:pPr indent="0" marL="0">
              <a:buNone/>
            </a:pPr>
            <a:r>
              <a:rPr lang="en-US" sz="1250" dirty="0">
                <a:solidFill>
                  <a:srgbClr val="17202A"/>
                </a:solidFill>
              </a:rPr>
              <a:t>Compare outcomes by expected utility.</a:t>
            </a:r>
            <a:endParaRPr lang="en-US" sz="1250" dirty="0"/>
          </a:p>
        </p:txBody>
      </p:sp>
      <p:sp>
        <p:nvSpPr>
          <p:cNvPr id="25" name="Shape 23"/>
          <p:cNvSpPr/>
          <p:nvPr/>
        </p:nvSpPr>
        <p:spPr>
          <a:xfrm>
            <a:off x="822960" y="4526280"/>
            <a:ext cx="10515600" cy="548640"/>
          </a:xfrm>
          <a:prstGeom prst="roundRect">
            <a:avLst>
              <a:gd name="adj" fmla="val 10000"/>
            </a:avLst>
          </a:prstGeom>
          <a:solidFill>
            <a:srgbClr val="FFFFFF"/>
          </a:solidFill>
          <a:ln w="12700">
            <a:solidFill>
              <a:srgbClr val="C8D3E0"/>
            </a:solidFill>
            <a:prstDash val="solid"/>
          </a:ln>
        </p:spPr>
      </p:sp>
      <p:sp>
        <p:nvSpPr>
          <p:cNvPr id="26" name="Text 24"/>
          <p:cNvSpPr/>
          <p:nvPr/>
        </p:nvSpPr>
        <p:spPr>
          <a:xfrm>
            <a:off x="1051560" y="4681728"/>
            <a:ext cx="2468880" cy="182880"/>
          </a:xfrm>
          <a:prstGeom prst="rect">
            <a:avLst/>
          </a:prstGeom>
          <a:noFill/>
          <a:ln/>
        </p:spPr>
        <p:txBody>
          <a:bodyPr wrap="square" rtlCol="0" anchor="ctr"/>
          <a:lstStyle/>
          <a:p>
            <a:pPr indent="0" marL="0">
              <a:buNone/>
            </a:pPr>
            <a:r>
              <a:rPr lang="en-US" sz="1250" b="1" dirty="0">
                <a:solidFill>
                  <a:srgbClr val="102F63"/>
                </a:solidFill>
              </a:rPr>
              <a:t>Unknown rules / changing world</a:t>
            </a:r>
            <a:endParaRPr lang="en-US" sz="1250" dirty="0"/>
          </a:p>
        </p:txBody>
      </p:sp>
      <p:sp>
        <p:nvSpPr>
          <p:cNvPr id="27" name="Text 25"/>
          <p:cNvSpPr/>
          <p:nvPr/>
        </p:nvSpPr>
        <p:spPr>
          <a:xfrm>
            <a:off x="3840480" y="4663440"/>
            <a:ext cx="274320" cy="182880"/>
          </a:xfrm>
          <a:prstGeom prst="rect">
            <a:avLst/>
          </a:prstGeom>
          <a:noFill/>
          <a:ln/>
        </p:spPr>
        <p:txBody>
          <a:bodyPr wrap="square" rtlCol="0" anchor="ctr"/>
          <a:lstStyle/>
          <a:p>
            <a:pPr indent="0" marL="0">
              <a:buNone/>
            </a:pPr>
            <a:r>
              <a:rPr lang="en-US" sz="1500" dirty="0">
                <a:solidFill>
                  <a:srgbClr val="6B778C"/>
                </a:solidFill>
              </a:rPr>
              <a:t>→</a:t>
            </a:r>
            <a:endParaRPr lang="en-US" sz="1500" dirty="0"/>
          </a:p>
        </p:txBody>
      </p:sp>
      <p:sp>
        <p:nvSpPr>
          <p:cNvPr id="28" name="Text 26"/>
          <p:cNvSpPr/>
          <p:nvPr/>
        </p:nvSpPr>
        <p:spPr>
          <a:xfrm>
            <a:off x="4160520" y="4681728"/>
            <a:ext cx="1874520" cy="182880"/>
          </a:xfrm>
          <a:prstGeom prst="rect">
            <a:avLst/>
          </a:prstGeom>
          <a:noFill/>
          <a:ln/>
        </p:spPr>
        <p:txBody>
          <a:bodyPr wrap="square" rtlCol="0" anchor="ctr"/>
          <a:lstStyle/>
          <a:p>
            <a:pPr indent="0" marL="0">
              <a:buNone/>
            </a:pPr>
            <a:r>
              <a:rPr lang="en-US" sz="1250" b="1" dirty="0">
                <a:solidFill>
                  <a:srgbClr val="1F7A3D"/>
                </a:solidFill>
              </a:rPr>
              <a:t>Learning agent</a:t>
            </a:r>
            <a:endParaRPr lang="en-US" sz="1250" dirty="0"/>
          </a:p>
        </p:txBody>
      </p:sp>
      <p:sp>
        <p:nvSpPr>
          <p:cNvPr id="29" name="Text 27"/>
          <p:cNvSpPr/>
          <p:nvPr/>
        </p:nvSpPr>
        <p:spPr>
          <a:xfrm>
            <a:off x="6263640" y="4681728"/>
            <a:ext cx="4526280" cy="182880"/>
          </a:xfrm>
          <a:prstGeom prst="rect">
            <a:avLst/>
          </a:prstGeom>
          <a:noFill/>
          <a:ln/>
        </p:spPr>
        <p:txBody>
          <a:bodyPr wrap="square" rtlCol="0" anchor="ctr"/>
          <a:lstStyle/>
          <a:p>
            <a:pPr indent="0" marL="0">
              <a:buNone/>
            </a:pPr>
            <a:r>
              <a:rPr lang="en-US" sz="1250" dirty="0">
                <a:solidFill>
                  <a:srgbClr val="17202A"/>
                </a:solidFill>
              </a:rPr>
              <a:t>Improve model, utility, rules, or policy from feedback.</a:t>
            </a:r>
            <a:endParaRPr lang="en-US" sz="1250" dirty="0"/>
          </a:p>
        </p:txBody>
      </p:sp>
      <p:sp>
        <p:nvSpPr>
          <p:cNvPr id="30" name="Text 28"/>
          <p:cNvSpPr/>
          <p:nvPr/>
        </p:nvSpPr>
        <p:spPr>
          <a:xfrm>
            <a:off x="502920" y="6574536"/>
            <a:ext cx="5760720" cy="118872"/>
          </a:xfrm>
          <a:prstGeom prst="rect">
            <a:avLst/>
          </a:prstGeom>
          <a:noFill/>
          <a:ln/>
        </p:spPr>
        <p:txBody>
          <a:bodyPr wrap="square" lIns="0" tIns="0" rIns="0" bIns="0" rtlCol="0" anchor="ctr"/>
          <a:lstStyle/>
          <a:p>
            <a:pPr indent="0" marL="0">
              <a:buNone/>
            </a:pPr>
            <a:r>
              <a:rPr lang="en-US" sz="650" dirty="0">
                <a:solidFill>
                  <a:srgbClr val="7A869A"/>
                </a:solidFill>
                <a:latin typeface="Aptos" pitchFamily="34" charset="0"/>
                <a:ea typeface="Aptos" pitchFamily="34" charset="-122"/>
                <a:cs typeface="Aptos" pitchFamily="34" charset="-120"/>
              </a:rPr>
              <a:t>AIMA Ch. 2 + UC Berkeley CS188 Part II companion</a:t>
            </a:r>
            <a:endParaRPr lang="en-US" sz="650" dirty="0"/>
          </a:p>
        </p:txBody>
      </p:sp>
      <p:sp>
        <p:nvSpPr>
          <p:cNvPr id="25" name="Slide Number Placeholder 0"/>
          <p:cNvSpPr>
            <a:spLocks noGrp="1"/>
          </p:cNvSpPr>
          <p:nvPr>
            <p:ph type="sldNum" sz="quarter" idx="4294967295"/>
          </p:nvPr>
        </p:nvSpPr>
        <p:spPr>
          <a:xfrm>
            <a:off x="5943600" y="658368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B778C"/>
                </a:solidFill>
                <a:latin typeface="Aptos"/>
                <a:ea typeface="Aptos"/>
                <a:cs typeface="Aptos"/>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02920" y="146304"/>
            <a:ext cx="11155680" cy="329184"/>
          </a:xfrm>
          <a:prstGeom prst="rect">
            <a:avLst/>
          </a:prstGeom>
          <a:noFill/>
          <a:ln/>
        </p:spPr>
        <p:txBody>
          <a:bodyPr wrap="square" lIns="0" tIns="0" rIns="0" bIns="0" rtlCol="0" anchor="ctr"/>
          <a:lstStyle/>
          <a:p>
            <a:pPr indent="0" marL="0">
              <a:buNone/>
            </a:pPr>
            <a:r>
              <a:rPr lang="en-US" sz="2500" b="1" dirty="0">
                <a:solidFill>
                  <a:srgbClr val="FFFFFF"/>
                </a:solidFill>
                <a:latin typeface="Aptos Display" pitchFamily="34" charset="0"/>
                <a:ea typeface="Aptos Display" pitchFamily="34" charset="-122"/>
                <a:cs typeface="Aptos Display" pitchFamily="34" charset="-120"/>
              </a:rPr>
              <a:t>Class Activity: Build a PEAS Description</a:t>
            </a:r>
            <a:endParaRPr lang="en-US" sz="2500" dirty="0"/>
          </a:p>
        </p:txBody>
      </p:sp>
      <p:sp>
        <p:nvSpPr>
          <p:cNvPr id="3" name="Shape 1"/>
          <p:cNvSpPr/>
          <p:nvPr/>
        </p:nvSpPr>
        <p:spPr>
          <a:xfrm>
            <a:off x="10058400" y="841248"/>
            <a:ext cx="1508760" cy="228600"/>
          </a:xfrm>
          <a:prstGeom prst="roundRect">
            <a:avLst>
              <a:gd name="adj" fmla="val 28000"/>
            </a:avLst>
          </a:prstGeom>
          <a:solidFill>
            <a:srgbClr val="EAF2FF"/>
          </a:solidFill>
          <a:ln w="12700">
            <a:solidFill>
              <a:srgbClr val="B7CAE4"/>
            </a:solidFill>
            <a:prstDash val="solid"/>
          </a:ln>
        </p:spPr>
      </p:sp>
      <p:sp>
        <p:nvSpPr>
          <p:cNvPr id="4" name="Text 2"/>
          <p:cNvSpPr/>
          <p:nvPr/>
        </p:nvSpPr>
        <p:spPr>
          <a:xfrm>
            <a:off x="10168128" y="900684"/>
            <a:ext cx="1298448" cy="91440"/>
          </a:xfrm>
          <a:prstGeom prst="rect">
            <a:avLst/>
          </a:prstGeom>
          <a:noFill/>
          <a:ln/>
        </p:spPr>
        <p:txBody>
          <a:bodyPr wrap="square" lIns="0" tIns="0" rIns="0" bIns="0" rtlCol="0" anchor="ctr"/>
          <a:lstStyle/>
          <a:p>
            <a:pPr algn="ctr" indent="0" marL="0">
              <a:buNone/>
            </a:pPr>
            <a:r>
              <a:rPr lang="en-US" sz="950" b="1" dirty="0">
                <a:solidFill>
                  <a:srgbClr val="102F63"/>
                </a:solidFill>
                <a:latin typeface="Aptos" pitchFamily="34" charset="0"/>
                <a:ea typeface="Aptos" pitchFamily="34" charset="-122"/>
                <a:cs typeface="Aptos" pitchFamily="34" charset="-120"/>
              </a:rPr>
              <a:t>Activity</a:t>
            </a:r>
            <a:endParaRPr lang="en-US" sz="950" dirty="0"/>
          </a:p>
        </p:txBody>
      </p:sp>
      <p:sp>
        <p:nvSpPr>
          <p:cNvPr id="5" name="Text 3"/>
          <p:cNvSpPr/>
          <p:nvPr/>
        </p:nvSpPr>
        <p:spPr>
          <a:xfrm>
            <a:off x="914400" y="1115568"/>
            <a:ext cx="10241280" cy="320040"/>
          </a:xfrm>
          <a:prstGeom prst="rect">
            <a:avLst/>
          </a:prstGeom>
          <a:noFill/>
          <a:ln/>
        </p:spPr>
        <p:txBody>
          <a:bodyPr wrap="square" rtlCol="0" anchor="ctr"/>
          <a:lstStyle/>
          <a:p>
            <a:pPr algn="ctr" indent="0" marL="0">
              <a:buNone/>
            </a:pPr>
            <a:r>
              <a:rPr lang="en-US" sz="2100" b="1" dirty="0">
                <a:solidFill>
                  <a:srgbClr val="102F63"/>
                </a:solidFill>
              </a:rPr>
              <a:t>Choose one system, then fill in PEAS before proposing an algorithm.</a:t>
            </a:r>
            <a:endParaRPr lang="en-US" sz="2100" dirty="0"/>
          </a:p>
        </p:txBody>
      </p:sp>
      <p:sp>
        <p:nvSpPr>
          <p:cNvPr id="6" name="Shape 4"/>
          <p:cNvSpPr/>
          <p:nvPr/>
        </p:nvSpPr>
        <p:spPr>
          <a:xfrm>
            <a:off x="822960" y="1920240"/>
            <a:ext cx="2240280" cy="438912"/>
          </a:xfrm>
          <a:prstGeom prst="roundRect">
            <a:avLst>
              <a:gd name="adj" fmla="val 12500"/>
            </a:avLst>
          </a:prstGeom>
          <a:solidFill>
            <a:srgbClr val="EAF2FF"/>
          </a:solidFill>
          <a:ln w="12700">
            <a:solidFill>
              <a:srgbClr val="AFC2DC"/>
            </a:solidFill>
            <a:prstDash val="solid"/>
          </a:ln>
        </p:spPr>
      </p:sp>
      <p:sp>
        <p:nvSpPr>
          <p:cNvPr id="7" name="Text 5"/>
          <p:cNvSpPr/>
          <p:nvPr/>
        </p:nvSpPr>
        <p:spPr>
          <a:xfrm>
            <a:off x="868680" y="1975104"/>
            <a:ext cx="2148840" cy="347472"/>
          </a:xfrm>
          <a:prstGeom prst="rect">
            <a:avLst/>
          </a:prstGeom>
          <a:noFill/>
          <a:ln/>
        </p:spPr>
        <p:txBody>
          <a:bodyPr wrap="square" lIns="0" tIns="0" rIns="0" bIns="0" rtlCol="0" anchor="ctr">
            <a:normAutofit/>
          </a:bodyPr>
          <a:lstStyle/>
          <a:p>
            <a:pPr algn="ctr" indent="0" marL="0">
              <a:buNone/>
            </a:pPr>
            <a:r>
              <a:rPr lang="en-US" sz="1250" b="1" dirty="0">
                <a:solidFill>
                  <a:srgbClr val="102F63"/>
                </a:solidFill>
                <a:latin typeface="Aptos" pitchFamily="34" charset="0"/>
                <a:ea typeface="Aptos" pitchFamily="34" charset="-122"/>
                <a:cs typeface="Aptos" pitchFamily="34" charset="-120"/>
              </a:rPr>
              <a:t>Autonomous Pac-Man</a:t>
            </a:r>
            <a:endParaRPr lang="en-US" sz="1250" dirty="0"/>
          </a:p>
        </p:txBody>
      </p:sp>
      <p:sp>
        <p:nvSpPr>
          <p:cNvPr id="8" name="Shape 6"/>
          <p:cNvSpPr/>
          <p:nvPr/>
        </p:nvSpPr>
        <p:spPr>
          <a:xfrm>
            <a:off x="3611880" y="1920240"/>
            <a:ext cx="2240280" cy="438912"/>
          </a:xfrm>
          <a:prstGeom prst="roundRect">
            <a:avLst>
              <a:gd name="adj" fmla="val 12500"/>
            </a:avLst>
          </a:prstGeom>
          <a:solidFill>
            <a:srgbClr val="E8F7EF"/>
          </a:solidFill>
          <a:ln w="12700">
            <a:solidFill>
              <a:srgbClr val="AFC2DC"/>
            </a:solidFill>
            <a:prstDash val="solid"/>
          </a:ln>
        </p:spPr>
      </p:sp>
      <p:sp>
        <p:nvSpPr>
          <p:cNvPr id="9" name="Text 7"/>
          <p:cNvSpPr/>
          <p:nvPr/>
        </p:nvSpPr>
        <p:spPr>
          <a:xfrm>
            <a:off x="3657600" y="1975104"/>
            <a:ext cx="2148840" cy="347472"/>
          </a:xfrm>
          <a:prstGeom prst="rect">
            <a:avLst/>
          </a:prstGeom>
          <a:noFill/>
          <a:ln/>
        </p:spPr>
        <p:txBody>
          <a:bodyPr wrap="square" lIns="0" tIns="0" rIns="0" bIns="0" rtlCol="0" anchor="ctr">
            <a:normAutofit/>
          </a:bodyPr>
          <a:lstStyle/>
          <a:p>
            <a:pPr algn="ctr" indent="0" marL="0">
              <a:buNone/>
            </a:pPr>
            <a:r>
              <a:rPr lang="en-US" sz="1250" b="1" dirty="0">
                <a:solidFill>
                  <a:srgbClr val="102F63"/>
                </a:solidFill>
                <a:latin typeface="Aptos" pitchFamily="34" charset="0"/>
                <a:ea typeface="Aptos" pitchFamily="34" charset="-122"/>
                <a:cs typeface="Aptos" pitchFamily="34" charset="-120"/>
              </a:rPr>
              <a:t>Campus chatbot</a:t>
            </a:r>
            <a:endParaRPr lang="en-US" sz="1250" dirty="0"/>
          </a:p>
        </p:txBody>
      </p:sp>
      <p:sp>
        <p:nvSpPr>
          <p:cNvPr id="10" name="Shape 8"/>
          <p:cNvSpPr/>
          <p:nvPr/>
        </p:nvSpPr>
        <p:spPr>
          <a:xfrm>
            <a:off x="6400800" y="1920240"/>
            <a:ext cx="2240280" cy="438912"/>
          </a:xfrm>
          <a:prstGeom prst="roundRect">
            <a:avLst>
              <a:gd name="adj" fmla="val 12500"/>
            </a:avLst>
          </a:prstGeom>
          <a:solidFill>
            <a:srgbClr val="FFEFCB"/>
          </a:solidFill>
          <a:ln w="12700">
            <a:solidFill>
              <a:srgbClr val="AFC2DC"/>
            </a:solidFill>
            <a:prstDash val="solid"/>
          </a:ln>
        </p:spPr>
      </p:sp>
      <p:sp>
        <p:nvSpPr>
          <p:cNvPr id="11" name="Text 9"/>
          <p:cNvSpPr/>
          <p:nvPr/>
        </p:nvSpPr>
        <p:spPr>
          <a:xfrm>
            <a:off x="6446520" y="1975104"/>
            <a:ext cx="2148840" cy="347472"/>
          </a:xfrm>
          <a:prstGeom prst="rect">
            <a:avLst/>
          </a:prstGeom>
          <a:noFill/>
          <a:ln/>
        </p:spPr>
        <p:txBody>
          <a:bodyPr wrap="square" lIns="0" tIns="0" rIns="0" bIns="0" rtlCol="0" anchor="ctr">
            <a:normAutofit/>
          </a:bodyPr>
          <a:lstStyle/>
          <a:p>
            <a:pPr algn="ctr" indent="0" marL="0">
              <a:buNone/>
            </a:pPr>
            <a:r>
              <a:rPr lang="en-US" sz="1250" b="1" dirty="0">
                <a:solidFill>
                  <a:srgbClr val="102F63"/>
                </a:solidFill>
                <a:latin typeface="Aptos" pitchFamily="34" charset="0"/>
                <a:ea typeface="Aptos" pitchFamily="34" charset="-122"/>
                <a:cs typeface="Aptos" pitchFamily="34" charset="-120"/>
              </a:rPr>
              <a:t>Email phishing triage agent</a:t>
            </a:r>
            <a:endParaRPr lang="en-US" sz="1250" dirty="0"/>
          </a:p>
        </p:txBody>
      </p:sp>
      <p:sp>
        <p:nvSpPr>
          <p:cNvPr id="12" name="Shape 10"/>
          <p:cNvSpPr/>
          <p:nvPr/>
        </p:nvSpPr>
        <p:spPr>
          <a:xfrm>
            <a:off x="9189720" y="1920240"/>
            <a:ext cx="2240280" cy="438912"/>
          </a:xfrm>
          <a:prstGeom prst="roundRect">
            <a:avLst>
              <a:gd name="adj" fmla="val 12500"/>
            </a:avLst>
          </a:prstGeom>
          <a:solidFill>
            <a:srgbClr val="F0E8FF"/>
          </a:solidFill>
          <a:ln w="12700">
            <a:solidFill>
              <a:srgbClr val="AFC2DC"/>
            </a:solidFill>
            <a:prstDash val="solid"/>
          </a:ln>
        </p:spPr>
      </p:sp>
      <p:sp>
        <p:nvSpPr>
          <p:cNvPr id="13" name="Text 11"/>
          <p:cNvSpPr/>
          <p:nvPr/>
        </p:nvSpPr>
        <p:spPr>
          <a:xfrm>
            <a:off x="9235440" y="1975104"/>
            <a:ext cx="2148840" cy="347472"/>
          </a:xfrm>
          <a:prstGeom prst="rect">
            <a:avLst/>
          </a:prstGeom>
          <a:noFill/>
          <a:ln/>
        </p:spPr>
        <p:txBody>
          <a:bodyPr wrap="square" lIns="0" tIns="0" rIns="0" bIns="0" rtlCol="0" anchor="ctr">
            <a:normAutofit/>
          </a:bodyPr>
          <a:lstStyle/>
          <a:p>
            <a:pPr algn="ctr" indent="0" marL="0">
              <a:buNone/>
            </a:pPr>
            <a:r>
              <a:rPr lang="en-US" sz="1250" b="1" dirty="0">
                <a:solidFill>
                  <a:srgbClr val="102F63"/>
                </a:solidFill>
                <a:latin typeface="Aptos" pitchFamily="34" charset="0"/>
                <a:ea typeface="Aptos" pitchFamily="34" charset="-122"/>
                <a:cs typeface="Aptos" pitchFamily="34" charset="-120"/>
              </a:rPr>
              <a:t>Robotic delivery cart</a:t>
            </a:r>
            <a:endParaRPr lang="en-US" sz="1250" dirty="0"/>
          </a:p>
        </p:txBody>
      </p:sp>
      <p:sp>
        <p:nvSpPr>
          <p:cNvPr id="14" name="Shape 12"/>
          <p:cNvSpPr/>
          <p:nvPr/>
        </p:nvSpPr>
        <p:spPr>
          <a:xfrm>
            <a:off x="960120" y="3063240"/>
            <a:ext cx="2148840" cy="1417320"/>
          </a:xfrm>
          <a:prstGeom prst="roundRect">
            <a:avLst>
              <a:gd name="adj" fmla="val 5161"/>
            </a:avLst>
          </a:prstGeom>
          <a:solidFill>
            <a:srgbClr val="FFFFFF"/>
          </a:solidFill>
          <a:ln w="15240">
            <a:solidFill>
              <a:srgbClr val="B7C6DA"/>
            </a:solidFill>
            <a:prstDash val="solid"/>
          </a:ln>
        </p:spPr>
      </p:sp>
      <p:sp>
        <p:nvSpPr>
          <p:cNvPr id="15" name="Shape 13"/>
          <p:cNvSpPr/>
          <p:nvPr/>
        </p:nvSpPr>
        <p:spPr>
          <a:xfrm>
            <a:off x="960120" y="3063240"/>
            <a:ext cx="2148840" cy="329184"/>
          </a:xfrm>
          <a:prstGeom prst="rect">
            <a:avLst/>
          </a:prstGeom>
          <a:solidFill>
            <a:srgbClr val="1F65B6"/>
          </a:solidFill>
          <a:ln w="12700">
            <a:solidFill>
              <a:srgbClr val="1F65B6"/>
            </a:solidFill>
            <a:prstDash val="solid"/>
          </a:ln>
        </p:spPr>
      </p:sp>
      <p:sp>
        <p:nvSpPr>
          <p:cNvPr id="16" name="Text 14"/>
          <p:cNvSpPr/>
          <p:nvPr/>
        </p:nvSpPr>
        <p:spPr>
          <a:xfrm>
            <a:off x="1069848" y="3136392"/>
            <a:ext cx="1929384" cy="164592"/>
          </a:xfrm>
          <a:prstGeom prst="rect">
            <a:avLst/>
          </a:prstGeom>
          <a:noFill/>
          <a:ln/>
        </p:spPr>
        <p:txBody>
          <a:bodyPr wrap="square" lIns="0" tIns="0" rIns="0" bIns="0" rtlCol="0" anchor="ctr"/>
          <a:lstStyle/>
          <a:p>
            <a:pPr algn="ctr" indent="0" marL="0">
              <a:buNone/>
            </a:pPr>
            <a:r>
              <a:rPr lang="en-US" sz="1200" b="1" dirty="0">
                <a:solidFill>
                  <a:srgbClr val="FFFFFF"/>
                </a:solidFill>
                <a:latin typeface="Aptos" pitchFamily="34" charset="0"/>
                <a:ea typeface="Aptos" pitchFamily="34" charset="-122"/>
                <a:cs typeface="Aptos" pitchFamily="34" charset="-120"/>
              </a:rPr>
              <a:t>Performance</a:t>
            </a:r>
            <a:endParaRPr lang="en-US" sz="1200" dirty="0"/>
          </a:p>
        </p:txBody>
      </p:sp>
      <p:sp>
        <p:nvSpPr>
          <p:cNvPr id="17" name="Text 15"/>
          <p:cNvSpPr/>
          <p:nvPr/>
        </p:nvSpPr>
        <p:spPr>
          <a:xfrm>
            <a:off x="1124712" y="3566160"/>
            <a:ext cx="1819656" cy="795528"/>
          </a:xfrm>
          <a:prstGeom prst="rect">
            <a:avLst/>
          </a:prstGeom>
          <a:noFill/>
          <a:ln/>
        </p:spPr>
        <p:txBody>
          <a:bodyPr wrap="square" lIns="254" tIns="254" rIns="254" bIns="254" rtlCol="0" anchor="ctr">
            <a:normAutofit/>
          </a:bodyPr>
          <a:lstStyle/>
          <a:p>
            <a:pPr indent="0" marL="0">
              <a:buNone/>
            </a:pPr>
            <a:r>
              <a:rPr lang="en-US" sz="1230" dirty="0">
                <a:solidFill>
                  <a:srgbClr val="17202A"/>
                </a:solidFill>
                <a:latin typeface="Aptos" pitchFamily="34" charset="0"/>
                <a:ea typeface="Aptos" pitchFamily="34" charset="-122"/>
                <a:cs typeface="Aptos" pitchFamily="34" charset="-120"/>
              </a:rPr>
              <a:t>Students write 2–3 concrete items.</a:t>
            </a:r>
            <a:endParaRPr lang="en-US" sz="1230" dirty="0"/>
          </a:p>
        </p:txBody>
      </p:sp>
      <p:sp>
        <p:nvSpPr>
          <p:cNvPr id="18" name="Shape 16"/>
          <p:cNvSpPr/>
          <p:nvPr/>
        </p:nvSpPr>
        <p:spPr>
          <a:xfrm>
            <a:off x="3749040" y="3063240"/>
            <a:ext cx="2148840" cy="1417320"/>
          </a:xfrm>
          <a:prstGeom prst="roundRect">
            <a:avLst>
              <a:gd name="adj" fmla="val 5161"/>
            </a:avLst>
          </a:prstGeom>
          <a:solidFill>
            <a:srgbClr val="FFFFFF"/>
          </a:solidFill>
          <a:ln w="15240">
            <a:solidFill>
              <a:srgbClr val="B7C6DA"/>
            </a:solidFill>
            <a:prstDash val="solid"/>
          </a:ln>
        </p:spPr>
      </p:sp>
      <p:sp>
        <p:nvSpPr>
          <p:cNvPr id="19" name="Shape 17"/>
          <p:cNvSpPr/>
          <p:nvPr/>
        </p:nvSpPr>
        <p:spPr>
          <a:xfrm>
            <a:off x="3749040" y="3063240"/>
            <a:ext cx="2148840" cy="329184"/>
          </a:xfrm>
          <a:prstGeom prst="rect">
            <a:avLst/>
          </a:prstGeom>
          <a:solidFill>
            <a:srgbClr val="1F7A3D"/>
          </a:solidFill>
          <a:ln w="12700">
            <a:solidFill>
              <a:srgbClr val="1F7A3D"/>
            </a:solidFill>
            <a:prstDash val="solid"/>
          </a:ln>
        </p:spPr>
      </p:sp>
      <p:sp>
        <p:nvSpPr>
          <p:cNvPr id="20" name="Text 18"/>
          <p:cNvSpPr/>
          <p:nvPr/>
        </p:nvSpPr>
        <p:spPr>
          <a:xfrm>
            <a:off x="3858768" y="3136392"/>
            <a:ext cx="1929384" cy="164592"/>
          </a:xfrm>
          <a:prstGeom prst="rect">
            <a:avLst/>
          </a:prstGeom>
          <a:noFill/>
          <a:ln/>
        </p:spPr>
        <p:txBody>
          <a:bodyPr wrap="square" lIns="0" tIns="0" rIns="0" bIns="0" rtlCol="0" anchor="ctr"/>
          <a:lstStyle/>
          <a:p>
            <a:pPr algn="ctr" indent="0" marL="0">
              <a:buNone/>
            </a:pPr>
            <a:r>
              <a:rPr lang="en-US" sz="1200" b="1" dirty="0">
                <a:solidFill>
                  <a:srgbClr val="FFFFFF"/>
                </a:solidFill>
                <a:latin typeface="Aptos" pitchFamily="34" charset="0"/>
                <a:ea typeface="Aptos" pitchFamily="34" charset="-122"/>
                <a:cs typeface="Aptos" pitchFamily="34" charset="-120"/>
              </a:rPr>
              <a:t>Environment</a:t>
            </a:r>
            <a:endParaRPr lang="en-US" sz="1200" dirty="0"/>
          </a:p>
        </p:txBody>
      </p:sp>
      <p:sp>
        <p:nvSpPr>
          <p:cNvPr id="21" name="Text 19"/>
          <p:cNvSpPr/>
          <p:nvPr/>
        </p:nvSpPr>
        <p:spPr>
          <a:xfrm>
            <a:off x="3913632" y="3566160"/>
            <a:ext cx="1819656" cy="795528"/>
          </a:xfrm>
          <a:prstGeom prst="rect">
            <a:avLst/>
          </a:prstGeom>
          <a:noFill/>
          <a:ln/>
        </p:spPr>
        <p:txBody>
          <a:bodyPr wrap="square" lIns="254" tIns="254" rIns="254" bIns="254" rtlCol="0" anchor="ctr">
            <a:normAutofit/>
          </a:bodyPr>
          <a:lstStyle/>
          <a:p>
            <a:pPr indent="0" marL="0">
              <a:buNone/>
            </a:pPr>
            <a:r>
              <a:rPr lang="en-US" sz="1230" dirty="0">
                <a:solidFill>
                  <a:srgbClr val="17202A"/>
                </a:solidFill>
                <a:latin typeface="Aptos" pitchFamily="34" charset="0"/>
                <a:ea typeface="Aptos" pitchFamily="34" charset="-122"/>
                <a:cs typeface="Aptos" pitchFamily="34" charset="-120"/>
              </a:rPr>
              <a:t>Students write 2–3 concrete items.</a:t>
            </a:r>
            <a:endParaRPr lang="en-US" sz="1230" dirty="0"/>
          </a:p>
        </p:txBody>
      </p:sp>
      <p:sp>
        <p:nvSpPr>
          <p:cNvPr id="22" name="Shape 20"/>
          <p:cNvSpPr/>
          <p:nvPr/>
        </p:nvSpPr>
        <p:spPr>
          <a:xfrm>
            <a:off x="6537960" y="3063240"/>
            <a:ext cx="2148840" cy="1417320"/>
          </a:xfrm>
          <a:prstGeom prst="roundRect">
            <a:avLst>
              <a:gd name="adj" fmla="val 5161"/>
            </a:avLst>
          </a:prstGeom>
          <a:solidFill>
            <a:srgbClr val="FFFFFF"/>
          </a:solidFill>
          <a:ln w="15240">
            <a:solidFill>
              <a:srgbClr val="B7C6DA"/>
            </a:solidFill>
            <a:prstDash val="solid"/>
          </a:ln>
        </p:spPr>
      </p:sp>
      <p:sp>
        <p:nvSpPr>
          <p:cNvPr id="23" name="Shape 21"/>
          <p:cNvSpPr/>
          <p:nvPr/>
        </p:nvSpPr>
        <p:spPr>
          <a:xfrm>
            <a:off x="6537960" y="3063240"/>
            <a:ext cx="2148840" cy="329184"/>
          </a:xfrm>
          <a:prstGeom prst="rect">
            <a:avLst/>
          </a:prstGeom>
          <a:solidFill>
            <a:srgbClr val="F5A623"/>
          </a:solidFill>
          <a:ln w="12700">
            <a:solidFill>
              <a:srgbClr val="F5A623"/>
            </a:solidFill>
            <a:prstDash val="solid"/>
          </a:ln>
        </p:spPr>
      </p:sp>
      <p:sp>
        <p:nvSpPr>
          <p:cNvPr id="24" name="Text 22"/>
          <p:cNvSpPr/>
          <p:nvPr/>
        </p:nvSpPr>
        <p:spPr>
          <a:xfrm>
            <a:off x="6647688" y="3136392"/>
            <a:ext cx="1929384" cy="164592"/>
          </a:xfrm>
          <a:prstGeom prst="rect">
            <a:avLst/>
          </a:prstGeom>
          <a:noFill/>
          <a:ln/>
        </p:spPr>
        <p:txBody>
          <a:bodyPr wrap="square" lIns="0" tIns="0" rIns="0" bIns="0" rtlCol="0" anchor="ctr"/>
          <a:lstStyle/>
          <a:p>
            <a:pPr algn="ctr" indent="0" marL="0">
              <a:buNone/>
            </a:pPr>
            <a:r>
              <a:rPr lang="en-US" sz="1200" b="1" dirty="0">
                <a:solidFill>
                  <a:srgbClr val="FFFFFF"/>
                </a:solidFill>
                <a:latin typeface="Aptos" pitchFamily="34" charset="0"/>
                <a:ea typeface="Aptos" pitchFamily="34" charset="-122"/>
                <a:cs typeface="Aptos" pitchFamily="34" charset="-120"/>
              </a:rPr>
              <a:t>Actuators</a:t>
            </a:r>
            <a:endParaRPr lang="en-US" sz="1200" dirty="0"/>
          </a:p>
        </p:txBody>
      </p:sp>
      <p:sp>
        <p:nvSpPr>
          <p:cNvPr id="25" name="Text 23"/>
          <p:cNvSpPr/>
          <p:nvPr/>
        </p:nvSpPr>
        <p:spPr>
          <a:xfrm>
            <a:off x="6702552" y="3566160"/>
            <a:ext cx="1819656" cy="795528"/>
          </a:xfrm>
          <a:prstGeom prst="rect">
            <a:avLst/>
          </a:prstGeom>
          <a:noFill/>
          <a:ln/>
        </p:spPr>
        <p:txBody>
          <a:bodyPr wrap="square" lIns="254" tIns="254" rIns="254" bIns="254" rtlCol="0" anchor="ctr">
            <a:normAutofit/>
          </a:bodyPr>
          <a:lstStyle/>
          <a:p>
            <a:pPr indent="0" marL="0">
              <a:buNone/>
            </a:pPr>
            <a:r>
              <a:rPr lang="en-US" sz="1230" dirty="0">
                <a:solidFill>
                  <a:srgbClr val="17202A"/>
                </a:solidFill>
                <a:latin typeface="Aptos" pitchFamily="34" charset="0"/>
                <a:ea typeface="Aptos" pitchFamily="34" charset="-122"/>
                <a:cs typeface="Aptos" pitchFamily="34" charset="-120"/>
              </a:rPr>
              <a:t>Students write 2–3 concrete items.</a:t>
            </a:r>
            <a:endParaRPr lang="en-US" sz="1230" dirty="0"/>
          </a:p>
        </p:txBody>
      </p:sp>
      <p:sp>
        <p:nvSpPr>
          <p:cNvPr id="26" name="Shape 24"/>
          <p:cNvSpPr/>
          <p:nvPr/>
        </p:nvSpPr>
        <p:spPr>
          <a:xfrm>
            <a:off x="9326880" y="3063240"/>
            <a:ext cx="2148840" cy="1417320"/>
          </a:xfrm>
          <a:prstGeom prst="roundRect">
            <a:avLst>
              <a:gd name="adj" fmla="val 5161"/>
            </a:avLst>
          </a:prstGeom>
          <a:solidFill>
            <a:srgbClr val="FFFFFF"/>
          </a:solidFill>
          <a:ln w="15240">
            <a:solidFill>
              <a:srgbClr val="B7C6DA"/>
            </a:solidFill>
            <a:prstDash val="solid"/>
          </a:ln>
        </p:spPr>
      </p:sp>
      <p:sp>
        <p:nvSpPr>
          <p:cNvPr id="27" name="Shape 25"/>
          <p:cNvSpPr/>
          <p:nvPr/>
        </p:nvSpPr>
        <p:spPr>
          <a:xfrm>
            <a:off x="9326880" y="3063240"/>
            <a:ext cx="2148840" cy="329184"/>
          </a:xfrm>
          <a:prstGeom prst="rect">
            <a:avLst/>
          </a:prstGeom>
          <a:solidFill>
            <a:srgbClr val="6D28D9"/>
          </a:solidFill>
          <a:ln w="12700">
            <a:solidFill>
              <a:srgbClr val="6D28D9"/>
            </a:solidFill>
            <a:prstDash val="solid"/>
          </a:ln>
        </p:spPr>
      </p:sp>
      <p:sp>
        <p:nvSpPr>
          <p:cNvPr id="28" name="Text 26"/>
          <p:cNvSpPr/>
          <p:nvPr/>
        </p:nvSpPr>
        <p:spPr>
          <a:xfrm>
            <a:off x="9436608" y="3136392"/>
            <a:ext cx="1929384" cy="164592"/>
          </a:xfrm>
          <a:prstGeom prst="rect">
            <a:avLst/>
          </a:prstGeom>
          <a:noFill/>
          <a:ln/>
        </p:spPr>
        <p:txBody>
          <a:bodyPr wrap="square" lIns="0" tIns="0" rIns="0" bIns="0" rtlCol="0" anchor="ctr"/>
          <a:lstStyle/>
          <a:p>
            <a:pPr algn="ctr" indent="0" marL="0">
              <a:buNone/>
            </a:pPr>
            <a:r>
              <a:rPr lang="en-US" sz="1200" b="1" dirty="0">
                <a:solidFill>
                  <a:srgbClr val="FFFFFF"/>
                </a:solidFill>
                <a:latin typeface="Aptos" pitchFamily="34" charset="0"/>
                <a:ea typeface="Aptos" pitchFamily="34" charset="-122"/>
                <a:cs typeface="Aptos" pitchFamily="34" charset="-120"/>
              </a:rPr>
              <a:t>Sensors</a:t>
            </a:r>
            <a:endParaRPr lang="en-US" sz="1200" dirty="0"/>
          </a:p>
        </p:txBody>
      </p:sp>
      <p:sp>
        <p:nvSpPr>
          <p:cNvPr id="29" name="Text 27"/>
          <p:cNvSpPr/>
          <p:nvPr/>
        </p:nvSpPr>
        <p:spPr>
          <a:xfrm>
            <a:off x="9491472" y="3566160"/>
            <a:ext cx="1819656" cy="795528"/>
          </a:xfrm>
          <a:prstGeom prst="rect">
            <a:avLst/>
          </a:prstGeom>
          <a:noFill/>
          <a:ln/>
        </p:spPr>
        <p:txBody>
          <a:bodyPr wrap="square" lIns="254" tIns="254" rIns="254" bIns="254" rtlCol="0" anchor="ctr">
            <a:normAutofit/>
          </a:bodyPr>
          <a:lstStyle/>
          <a:p>
            <a:pPr indent="0" marL="0">
              <a:buNone/>
            </a:pPr>
            <a:r>
              <a:rPr lang="en-US" sz="1230" dirty="0">
                <a:solidFill>
                  <a:srgbClr val="17202A"/>
                </a:solidFill>
                <a:latin typeface="Aptos" pitchFamily="34" charset="0"/>
                <a:ea typeface="Aptos" pitchFamily="34" charset="-122"/>
                <a:cs typeface="Aptos" pitchFamily="34" charset="-120"/>
              </a:rPr>
              <a:t>Students write 2–3 concrete items.</a:t>
            </a:r>
            <a:endParaRPr lang="en-US" sz="1230" dirty="0"/>
          </a:p>
        </p:txBody>
      </p:sp>
      <p:sp>
        <p:nvSpPr>
          <p:cNvPr id="30" name="Shape 28"/>
          <p:cNvSpPr/>
          <p:nvPr/>
        </p:nvSpPr>
        <p:spPr>
          <a:xfrm>
            <a:off x="1874520" y="5212080"/>
            <a:ext cx="8412480" cy="457200"/>
          </a:xfrm>
          <a:prstGeom prst="roundRect">
            <a:avLst>
              <a:gd name="adj" fmla="val 12000"/>
            </a:avLst>
          </a:prstGeom>
          <a:solidFill>
            <a:srgbClr val="FFEFCB"/>
          </a:solidFill>
          <a:ln w="12700">
            <a:solidFill>
              <a:srgbClr val="AFC2DC"/>
            </a:solidFill>
            <a:prstDash val="solid"/>
          </a:ln>
        </p:spPr>
      </p:sp>
      <p:sp>
        <p:nvSpPr>
          <p:cNvPr id="31" name="Text 29"/>
          <p:cNvSpPr/>
          <p:nvPr/>
        </p:nvSpPr>
        <p:spPr>
          <a:xfrm>
            <a:off x="1920240" y="5266944"/>
            <a:ext cx="8321040" cy="365760"/>
          </a:xfrm>
          <a:prstGeom prst="rect">
            <a:avLst/>
          </a:prstGeom>
          <a:noFill/>
          <a:ln/>
        </p:spPr>
        <p:txBody>
          <a:bodyPr wrap="square" lIns="0" tIns="0" rIns="0" bIns="0" rtlCol="0" anchor="ctr">
            <a:normAutofit/>
          </a:bodyPr>
          <a:lstStyle/>
          <a:p>
            <a:pPr algn="ctr" indent="0" marL="0">
              <a:buNone/>
            </a:pPr>
            <a:r>
              <a:rPr lang="en-US" sz="1250" b="1" dirty="0">
                <a:solidFill>
                  <a:srgbClr val="102F63"/>
                </a:solidFill>
                <a:latin typeface="Aptos" pitchFamily="34" charset="0"/>
                <a:ea typeface="Aptos" pitchFamily="34" charset="-122"/>
                <a:cs typeface="Aptos" pitchFamily="34" charset="-120"/>
              </a:rPr>
              <a:t>Instructor checkpoint: if students cannot define PEAS, they are not ready to design the agent.</a:t>
            </a:r>
            <a:endParaRPr lang="en-US" sz="1250" dirty="0"/>
          </a:p>
        </p:txBody>
      </p:sp>
      <p:sp>
        <p:nvSpPr>
          <p:cNvPr id="32" name="Text 30"/>
          <p:cNvSpPr/>
          <p:nvPr/>
        </p:nvSpPr>
        <p:spPr>
          <a:xfrm>
            <a:off x="502920" y="6574536"/>
            <a:ext cx="5760720" cy="118872"/>
          </a:xfrm>
          <a:prstGeom prst="rect">
            <a:avLst/>
          </a:prstGeom>
          <a:noFill/>
          <a:ln/>
        </p:spPr>
        <p:txBody>
          <a:bodyPr wrap="square" lIns="0" tIns="0" rIns="0" bIns="0" rtlCol="0" anchor="ctr"/>
          <a:lstStyle/>
          <a:p>
            <a:pPr indent="0" marL="0">
              <a:buNone/>
            </a:pPr>
            <a:r>
              <a:rPr lang="en-US" sz="650" dirty="0">
                <a:solidFill>
                  <a:srgbClr val="7A869A"/>
                </a:solidFill>
                <a:latin typeface="Aptos" pitchFamily="34" charset="0"/>
                <a:ea typeface="Aptos" pitchFamily="34" charset="-122"/>
                <a:cs typeface="Aptos" pitchFamily="34" charset="-120"/>
              </a:rPr>
              <a:t>AIMA Ch. 2 + UC Berkeley CS188 Part II companion</a:t>
            </a:r>
            <a:endParaRPr lang="en-US" sz="650" dirty="0"/>
          </a:p>
        </p:txBody>
      </p:sp>
      <p:sp>
        <p:nvSpPr>
          <p:cNvPr id="25" name="Slide Number Placeholder 0"/>
          <p:cNvSpPr>
            <a:spLocks noGrp="1"/>
          </p:cNvSpPr>
          <p:nvPr>
            <p:ph type="sldNum" sz="quarter" idx="4294967295"/>
          </p:nvPr>
        </p:nvSpPr>
        <p:spPr>
          <a:xfrm>
            <a:off x="5943600" y="658368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B778C"/>
                </a:solidFill>
                <a:latin typeface="Aptos"/>
                <a:ea typeface="Aptos"/>
                <a:cs typeface="Aptos"/>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02920" y="146304"/>
            <a:ext cx="11155680" cy="329184"/>
          </a:xfrm>
          <a:prstGeom prst="rect">
            <a:avLst/>
          </a:prstGeom>
          <a:noFill/>
          <a:ln/>
        </p:spPr>
        <p:txBody>
          <a:bodyPr wrap="square" lIns="0" tIns="0" rIns="0" bIns="0" rtlCol="0" anchor="ctr"/>
          <a:lstStyle/>
          <a:p>
            <a:pPr indent="0" marL="0">
              <a:buNone/>
            </a:pPr>
            <a:r>
              <a:rPr lang="en-US" sz="2500" b="1" dirty="0">
                <a:solidFill>
                  <a:srgbClr val="FFFFFF"/>
                </a:solidFill>
                <a:latin typeface="Aptos Display" pitchFamily="34" charset="0"/>
                <a:ea typeface="Aptos Display" pitchFamily="34" charset="-122"/>
                <a:cs typeface="Aptos Display" pitchFamily="34" charset="-120"/>
              </a:rPr>
              <a:t>Class Demo: Autonomous Pac-Man Agent</a:t>
            </a:r>
            <a:endParaRPr lang="en-US" sz="2500" dirty="0"/>
          </a:p>
        </p:txBody>
      </p:sp>
      <p:sp>
        <p:nvSpPr>
          <p:cNvPr id="3" name="Shape 1"/>
          <p:cNvSpPr/>
          <p:nvPr/>
        </p:nvSpPr>
        <p:spPr>
          <a:xfrm>
            <a:off x="10058400" y="841248"/>
            <a:ext cx="1508760" cy="228600"/>
          </a:xfrm>
          <a:prstGeom prst="roundRect">
            <a:avLst>
              <a:gd name="adj" fmla="val 28000"/>
            </a:avLst>
          </a:prstGeom>
          <a:solidFill>
            <a:srgbClr val="EAF2FF"/>
          </a:solidFill>
          <a:ln w="12700">
            <a:solidFill>
              <a:srgbClr val="B7CAE4"/>
            </a:solidFill>
            <a:prstDash val="solid"/>
          </a:ln>
        </p:spPr>
      </p:sp>
      <p:sp>
        <p:nvSpPr>
          <p:cNvPr id="4" name="Text 2"/>
          <p:cNvSpPr/>
          <p:nvPr/>
        </p:nvSpPr>
        <p:spPr>
          <a:xfrm>
            <a:off x="10168128" y="900684"/>
            <a:ext cx="1298448" cy="91440"/>
          </a:xfrm>
          <a:prstGeom prst="rect">
            <a:avLst/>
          </a:prstGeom>
          <a:noFill/>
          <a:ln/>
        </p:spPr>
        <p:txBody>
          <a:bodyPr wrap="square" lIns="0" tIns="0" rIns="0" bIns="0" rtlCol="0" anchor="ctr"/>
          <a:lstStyle/>
          <a:p>
            <a:pPr algn="ctr" indent="0" marL="0">
              <a:buNone/>
            </a:pPr>
            <a:r>
              <a:rPr lang="en-US" sz="950" b="1" dirty="0">
                <a:solidFill>
                  <a:srgbClr val="102F63"/>
                </a:solidFill>
                <a:latin typeface="Aptos" pitchFamily="34" charset="0"/>
                <a:ea typeface="Aptos" pitchFamily="34" charset="-122"/>
                <a:cs typeface="Aptos" pitchFamily="34" charset="-120"/>
              </a:rPr>
              <a:t>Demo</a:t>
            </a:r>
            <a:endParaRPr lang="en-US" sz="950" dirty="0"/>
          </a:p>
        </p:txBody>
      </p:sp>
      <p:pic>
        <p:nvPicPr>
          <p:cNvPr id="5" name="Image 0" descr="/mnt/data/image(77).png">    </p:cNvPr>
          <p:cNvPicPr>
            <a:picLocks noChangeAspect="1"/>
          </p:cNvPicPr>
          <p:nvPr/>
        </p:nvPicPr>
        <p:blipFill>
          <a:blip r:embed="rId1"/>
          <a:srcRect l="4742" r="4742" t="0" b="0"/>
          <a:stretch/>
        </p:blipFill>
        <p:spPr>
          <a:xfrm>
            <a:off x="685800" y="1170432"/>
            <a:ext cx="5166360" cy="3566160"/>
          </a:xfrm>
          <a:prstGeom prst="rect">
            <a:avLst/>
          </a:prstGeom>
        </p:spPr>
      </p:pic>
      <p:sp>
        <p:nvSpPr>
          <p:cNvPr id="6" name="Text 3"/>
          <p:cNvSpPr/>
          <p:nvPr/>
        </p:nvSpPr>
        <p:spPr>
          <a:xfrm>
            <a:off x="6263640" y="1417320"/>
            <a:ext cx="4937760" cy="2103120"/>
          </a:xfrm>
          <a:prstGeom prst="rect">
            <a:avLst/>
          </a:prstGeom>
          <a:noFill/>
          <a:ln/>
        </p:spPr>
        <p:txBody>
          <a:bodyPr wrap="square" lIns="635" tIns="635" rIns="635" bIns="635" rtlCol="0" anchor="ctr">
            <a:normAutofit/>
          </a:bodyPr>
          <a:lstStyle/>
          <a:p>
            <a:r>
              <a:rPr lang="en-US" sz="1600" dirty="0">
                <a:solidFill>
                  <a:srgbClr val="102F63"/>
                </a:solidFill>
                <a:latin typeface="Aptos" pitchFamily="34" charset="0"/>
                <a:ea typeface="Aptos" pitchFamily="34" charset="-122"/>
                <a:cs typeface="Aptos" pitchFamily="34" charset="-120"/>
              </a:rPr>
              <a:t>What are the percepts?</a:t>
            </a:r>
            <a:endParaRPr lang="en-US" sz="1600" dirty="0"/>
          </a:p>
          <a:p>
            <a:r>
              <a:rPr lang="en-US" sz="1600" dirty="0">
                <a:solidFill>
                  <a:srgbClr val="102F63"/>
                </a:solidFill>
                <a:latin typeface="Aptos" pitchFamily="34" charset="0"/>
                <a:ea typeface="Aptos" pitchFamily="34" charset="-122"/>
                <a:cs typeface="Aptos" pitchFamily="34" charset="-120"/>
              </a:rPr>
              <a:t>What actions can the agent return?</a:t>
            </a:r>
            <a:endParaRPr lang="en-US" sz="1600" dirty="0"/>
          </a:p>
          <a:p>
            <a:r>
              <a:rPr lang="en-US" sz="1600" dirty="0">
                <a:solidFill>
                  <a:srgbClr val="102F63"/>
                </a:solidFill>
                <a:latin typeface="Aptos" pitchFamily="34" charset="0"/>
                <a:ea typeface="Aptos" pitchFamily="34" charset="-122"/>
                <a:cs typeface="Aptos" pitchFamily="34" charset="-120"/>
              </a:rPr>
              <a:t>What is the performance measure?</a:t>
            </a:r>
            <a:endParaRPr lang="en-US" sz="1600" dirty="0"/>
          </a:p>
          <a:p>
            <a:r>
              <a:rPr lang="en-US" sz="1600" dirty="0">
                <a:solidFill>
                  <a:srgbClr val="102F63"/>
                </a:solidFill>
                <a:latin typeface="Aptos" pitchFamily="34" charset="0"/>
                <a:ea typeface="Aptos" pitchFamily="34" charset="-122"/>
                <a:cs typeface="Aptos" pitchFamily="34" charset="-120"/>
              </a:rPr>
              <a:t>Does it use memory or only current state?</a:t>
            </a:r>
            <a:endParaRPr lang="en-US" sz="1600" dirty="0"/>
          </a:p>
          <a:p>
            <a:r>
              <a:rPr lang="en-US" sz="1600" dirty="0">
                <a:solidFill>
                  <a:srgbClr val="102F63"/>
                </a:solidFill>
                <a:latin typeface="Aptos" pitchFamily="34" charset="0"/>
                <a:ea typeface="Aptos" pitchFamily="34" charset="-122"/>
                <a:cs typeface="Aptos" pitchFamily="34" charset="-120"/>
              </a:rPr>
              <a:t>Is it reflex, model-based, goal-based, utility-based, or mixed?</a:t>
            </a:r>
            <a:endParaRPr lang="en-US" sz="1600" dirty="0"/>
          </a:p>
        </p:txBody>
      </p:sp>
      <p:sp>
        <p:nvSpPr>
          <p:cNvPr id="7" name="Shape 4"/>
          <p:cNvSpPr/>
          <p:nvPr/>
        </p:nvSpPr>
        <p:spPr>
          <a:xfrm>
            <a:off x="6309360" y="4251960"/>
            <a:ext cx="4800600" cy="475488"/>
          </a:xfrm>
          <a:prstGeom prst="roundRect">
            <a:avLst>
              <a:gd name="adj" fmla="val 11538"/>
            </a:avLst>
          </a:prstGeom>
          <a:solidFill>
            <a:srgbClr val="FFEFCB"/>
          </a:solidFill>
          <a:ln w="12700">
            <a:solidFill>
              <a:srgbClr val="AFC2DC"/>
            </a:solidFill>
            <a:prstDash val="solid"/>
          </a:ln>
        </p:spPr>
      </p:sp>
      <p:sp>
        <p:nvSpPr>
          <p:cNvPr id="8" name="Text 5"/>
          <p:cNvSpPr/>
          <p:nvPr/>
        </p:nvSpPr>
        <p:spPr>
          <a:xfrm>
            <a:off x="6355080" y="4306824"/>
            <a:ext cx="4709160" cy="384048"/>
          </a:xfrm>
          <a:prstGeom prst="rect">
            <a:avLst/>
          </a:prstGeom>
          <a:noFill/>
          <a:ln/>
        </p:spPr>
        <p:txBody>
          <a:bodyPr wrap="square" lIns="0" tIns="0" rIns="0" bIns="0" rtlCol="0" anchor="ctr">
            <a:normAutofit/>
          </a:bodyPr>
          <a:lstStyle/>
          <a:p>
            <a:pPr algn="ctr" indent="0" marL="0">
              <a:buNone/>
            </a:pPr>
            <a:r>
              <a:rPr lang="en-US" sz="1250" b="1" dirty="0">
                <a:solidFill>
                  <a:srgbClr val="102F63"/>
                </a:solidFill>
                <a:latin typeface="Aptos" pitchFamily="34" charset="0"/>
                <a:ea typeface="Aptos" pitchFamily="34" charset="-122"/>
                <a:cs typeface="Aptos" pitchFamily="34" charset="-120"/>
              </a:rPr>
              <a:t>Transition: search algorithms are one way to make goal-based agents act rationally.</a:t>
            </a:r>
            <a:endParaRPr lang="en-US" sz="1250" dirty="0"/>
          </a:p>
        </p:txBody>
      </p:sp>
      <p:sp>
        <p:nvSpPr>
          <p:cNvPr id="9" name="Text 6"/>
          <p:cNvSpPr/>
          <p:nvPr/>
        </p:nvSpPr>
        <p:spPr>
          <a:xfrm>
            <a:off x="502920" y="6574536"/>
            <a:ext cx="5760720" cy="118872"/>
          </a:xfrm>
          <a:prstGeom prst="rect">
            <a:avLst/>
          </a:prstGeom>
          <a:noFill/>
          <a:ln/>
        </p:spPr>
        <p:txBody>
          <a:bodyPr wrap="square" lIns="0" tIns="0" rIns="0" bIns="0" rtlCol="0" anchor="ctr"/>
          <a:lstStyle/>
          <a:p>
            <a:pPr indent="0" marL="0">
              <a:buNone/>
            </a:pPr>
            <a:r>
              <a:rPr lang="en-US" sz="650" dirty="0">
                <a:solidFill>
                  <a:srgbClr val="7A869A"/>
                </a:solidFill>
                <a:latin typeface="Aptos" pitchFamily="34" charset="0"/>
                <a:ea typeface="Aptos" pitchFamily="34" charset="-122"/>
                <a:cs typeface="Aptos" pitchFamily="34" charset="-120"/>
              </a:rPr>
              <a:t>AIMA Ch. 2 + UC Berkeley CS188 Part II companion</a:t>
            </a:r>
            <a:endParaRPr lang="en-US" sz="650" dirty="0"/>
          </a:p>
        </p:txBody>
      </p:sp>
      <p:sp>
        <p:nvSpPr>
          <p:cNvPr id="25" name="Slide Number Placeholder 0"/>
          <p:cNvSpPr>
            <a:spLocks noGrp="1"/>
          </p:cNvSpPr>
          <p:nvPr>
            <p:ph type="sldNum" sz="quarter" idx="4294967295"/>
          </p:nvPr>
        </p:nvSpPr>
        <p:spPr>
          <a:xfrm>
            <a:off x="5943600" y="658368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B778C"/>
                </a:solidFill>
                <a:latin typeface="Aptos"/>
                <a:ea typeface="Aptos"/>
                <a:cs typeface="Aptos"/>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02920" y="146304"/>
            <a:ext cx="11155680" cy="329184"/>
          </a:xfrm>
          <a:prstGeom prst="rect">
            <a:avLst/>
          </a:prstGeom>
          <a:noFill/>
          <a:ln/>
        </p:spPr>
        <p:txBody>
          <a:bodyPr wrap="square" lIns="0" tIns="0" rIns="0" bIns="0" rtlCol="0" anchor="ctr"/>
          <a:lstStyle/>
          <a:p>
            <a:pPr indent="0" marL="0">
              <a:buNone/>
            </a:pPr>
            <a:r>
              <a:rPr lang="en-US" sz="2500" b="1" dirty="0">
                <a:solidFill>
                  <a:srgbClr val="FFFFFF"/>
                </a:solidFill>
                <a:latin typeface="Aptos Display" pitchFamily="34" charset="0"/>
                <a:ea typeface="Aptos Display" pitchFamily="34" charset="-122"/>
                <a:cs typeface="Aptos Display" pitchFamily="34" charset="-120"/>
              </a:rPr>
              <a:t>How the New Berkeley Video Fits Your Lecture</a:t>
            </a:r>
            <a:endParaRPr lang="en-US" sz="2500" dirty="0"/>
          </a:p>
        </p:txBody>
      </p:sp>
      <p:sp>
        <p:nvSpPr>
          <p:cNvPr id="3" name="Shape 1"/>
          <p:cNvSpPr/>
          <p:nvPr/>
        </p:nvSpPr>
        <p:spPr>
          <a:xfrm>
            <a:off x="10058400" y="841248"/>
            <a:ext cx="1508760" cy="228600"/>
          </a:xfrm>
          <a:prstGeom prst="roundRect">
            <a:avLst>
              <a:gd name="adj" fmla="val 28000"/>
            </a:avLst>
          </a:prstGeom>
          <a:solidFill>
            <a:srgbClr val="EAF2FF"/>
          </a:solidFill>
          <a:ln w="12700">
            <a:solidFill>
              <a:srgbClr val="B7CAE4"/>
            </a:solidFill>
            <a:prstDash val="solid"/>
          </a:ln>
        </p:spPr>
      </p:sp>
      <p:sp>
        <p:nvSpPr>
          <p:cNvPr id="4" name="Text 2"/>
          <p:cNvSpPr/>
          <p:nvPr/>
        </p:nvSpPr>
        <p:spPr>
          <a:xfrm>
            <a:off x="10168128" y="900684"/>
            <a:ext cx="1298448" cy="91440"/>
          </a:xfrm>
          <a:prstGeom prst="rect">
            <a:avLst/>
          </a:prstGeom>
          <a:noFill/>
          <a:ln/>
        </p:spPr>
        <p:txBody>
          <a:bodyPr wrap="square" lIns="0" tIns="0" rIns="0" bIns="0" rtlCol="0" anchor="ctr"/>
          <a:lstStyle/>
          <a:p>
            <a:pPr algn="ctr" indent="0" marL="0">
              <a:buNone/>
            </a:pPr>
            <a:r>
              <a:rPr lang="en-US" sz="950" b="1" dirty="0">
                <a:solidFill>
                  <a:srgbClr val="102F63"/>
                </a:solidFill>
                <a:latin typeface="Aptos" pitchFamily="34" charset="0"/>
                <a:ea typeface="Aptos" pitchFamily="34" charset="-122"/>
                <a:cs typeface="Aptos" pitchFamily="34" charset="-120"/>
              </a:rPr>
              <a:t>Video</a:t>
            </a:r>
            <a:endParaRPr lang="en-US" sz="950" dirty="0"/>
          </a:p>
        </p:txBody>
      </p:sp>
      <p:sp>
        <p:nvSpPr>
          <p:cNvPr id="5" name="Shape 3"/>
          <p:cNvSpPr/>
          <p:nvPr/>
        </p:nvSpPr>
        <p:spPr>
          <a:xfrm>
            <a:off x="822960" y="1234440"/>
            <a:ext cx="3383280" cy="1874520"/>
          </a:xfrm>
          <a:prstGeom prst="roundRect">
            <a:avLst>
              <a:gd name="adj" fmla="val 3902"/>
            </a:avLst>
          </a:prstGeom>
          <a:solidFill>
            <a:srgbClr val="FFFFFF"/>
          </a:solidFill>
          <a:ln w="15240">
            <a:solidFill>
              <a:srgbClr val="B7C6DA"/>
            </a:solidFill>
            <a:prstDash val="solid"/>
          </a:ln>
        </p:spPr>
      </p:sp>
      <p:sp>
        <p:nvSpPr>
          <p:cNvPr id="6" name="Shape 4"/>
          <p:cNvSpPr/>
          <p:nvPr/>
        </p:nvSpPr>
        <p:spPr>
          <a:xfrm>
            <a:off x="822960" y="1234440"/>
            <a:ext cx="3383280" cy="329184"/>
          </a:xfrm>
          <a:prstGeom prst="rect">
            <a:avLst/>
          </a:prstGeom>
          <a:solidFill>
            <a:srgbClr val="1F7A3D"/>
          </a:solidFill>
          <a:ln w="12700">
            <a:solidFill>
              <a:srgbClr val="1F7A3D"/>
            </a:solidFill>
            <a:prstDash val="solid"/>
          </a:ln>
        </p:spPr>
      </p:sp>
      <p:sp>
        <p:nvSpPr>
          <p:cNvPr id="7" name="Text 5"/>
          <p:cNvSpPr/>
          <p:nvPr/>
        </p:nvSpPr>
        <p:spPr>
          <a:xfrm>
            <a:off x="932688" y="1307592"/>
            <a:ext cx="3163824" cy="164592"/>
          </a:xfrm>
          <a:prstGeom prst="rect">
            <a:avLst/>
          </a:prstGeom>
          <a:noFill/>
          <a:ln/>
        </p:spPr>
        <p:txBody>
          <a:bodyPr wrap="square" lIns="0" tIns="0" rIns="0" bIns="0" rtlCol="0" anchor="ctr"/>
          <a:lstStyle/>
          <a:p>
            <a:pPr algn="ctr" indent="0" marL="0">
              <a:buNone/>
            </a:pPr>
            <a:r>
              <a:rPr lang="en-US" sz="1200" b="1" dirty="0">
                <a:solidFill>
                  <a:srgbClr val="FFFFFF"/>
                </a:solidFill>
                <a:latin typeface="Aptos" pitchFamily="34" charset="0"/>
                <a:ea typeface="Aptos" pitchFamily="34" charset="-122"/>
                <a:cs typeface="Aptos" pitchFamily="34" charset="-120"/>
              </a:rPr>
              <a:t>Use for Chapter 2</a:t>
            </a:r>
            <a:endParaRPr lang="en-US" sz="1200" dirty="0"/>
          </a:p>
        </p:txBody>
      </p:sp>
      <p:sp>
        <p:nvSpPr>
          <p:cNvPr id="8" name="Text 6"/>
          <p:cNvSpPr/>
          <p:nvPr/>
        </p:nvSpPr>
        <p:spPr>
          <a:xfrm>
            <a:off x="987552" y="1737360"/>
            <a:ext cx="3054096" cy="1252728"/>
          </a:xfrm>
          <a:prstGeom prst="rect">
            <a:avLst/>
          </a:prstGeom>
          <a:noFill/>
          <a:ln/>
        </p:spPr>
        <p:txBody>
          <a:bodyPr wrap="square" lIns="254" tIns="254" rIns="254" bIns="254" rtlCol="0" anchor="ctr">
            <a:normAutofit/>
          </a:bodyPr>
          <a:lstStyle/>
          <a:p>
            <a:pPr indent="0" marL="0">
              <a:buNone/>
            </a:pPr>
            <a:r>
              <a:rPr lang="en-US" sz="1230" dirty="0">
                <a:solidFill>
                  <a:srgbClr val="17202A"/>
                </a:solidFill>
                <a:latin typeface="Aptos" pitchFamily="34" charset="0"/>
                <a:ea typeface="Aptos" pitchFamily="34" charset="-122"/>
                <a:cs typeface="Aptos" pitchFamily="34" charset="-120"/>
              </a:rPr>
              <a:t>1:19–10:05: agents that plan, reflex agents, Pac-Man examples, planning versus replanning.</a:t>
            </a:r>
            <a:endParaRPr lang="en-US" sz="1230" dirty="0"/>
          </a:p>
        </p:txBody>
      </p:sp>
      <p:sp>
        <p:nvSpPr>
          <p:cNvPr id="9" name="Shape 7"/>
          <p:cNvSpPr/>
          <p:nvPr/>
        </p:nvSpPr>
        <p:spPr>
          <a:xfrm>
            <a:off x="4434840" y="1234440"/>
            <a:ext cx="3383280" cy="1874520"/>
          </a:xfrm>
          <a:prstGeom prst="roundRect">
            <a:avLst>
              <a:gd name="adj" fmla="val 3902"/>
            </a:avLst>
          </a:prstGeom>
          <a:solidFill>
            <a:srgbClr val="FFFFFF"/>
          </a:solidFill>
          <a:ln w="15240">
            <a:solidFill>
              <a:srgbClr val="B7C6DA"/>
            </a:solidFill>
            <a:prstDash val="solid"/>
          </a:ln>
        </p:spPr>
      </p:sp>
      <p:sp>
        <p:nvSpPr>
          <p:cNvPr id="10" name="Shape 8"/>
          <p:cNvSpPr/>
          <p:nvPr/>
        </p:nvSpPr>
        <p:spPr>
          <a:xfrm>
            <a:off x="4434840" y="1234440"/>
            <a:ext cx="3383280" cy="329184"/>
          </a:xfrm>
          <a:prstGeom prst="rect">
            <a:avLst/>
          </a:prstGeom>
          <a:solidFill>
            <a:srgbClr val="F5A623"/>
          </a:solidFill>
          <a:ln w="12700">
            <a:solidFill>
              <a:srgbClr val="F5A623"/>
            </a:solidFill>
            <a:prstDash val="solid"/>
          </a:ln>
        </p:spPr>
      </p:sp>
      <p:sp>
        <p:nvSpPr>
          <p:cNvPr id="11" name="Text 9"/>
          <p:cNvSpPr/>
          <p:nvPr/>
        </p:nvSpPr>
        <p:spPr>
          <a:xfrm>
            <a:off x="4544568" y="1307592"/>
            <a:ext cx="3163824" cy="164592"/>
          </a:xfrm>
          <a:prstGeom prst="rect">
            <a:avLst/>
          </a:prstGeom>
          <a:noFill/>
          <a:ln/>
        </p:spPr>
        <p:txBody>
          <a:bodyPr wrap="square" lIns="0" tIns="0" rIns="0" bIns="0" rtlCol="0" anchor="ctr"/>
          <a:lstStyle/>
          <a:p>
            <a:pPr algn="ctr" indent="0" marL="0">
              <a:buNone/>
            </a:pPr>
            <a:r>
              <a:rPr lang="en-US" sz="1200" b="1" dirty="0">
                <a:solidFill>
                  <a:srgbClr val="FFFFFF"/>
                </a:solidFill>
                <a:latin typeface="Aptos" pitchFamily="34" charset="0"/>
                <a:ea typeface="Aptos" pitchFamily="34" charset="-122"/>
                <a:cs typeface="Aptos" pitchFamily="34" charset="-120"/>
              </a:rPr>
              <a:t>Save for Chapter 3</a:t>
            </a:r>
            <a:endParaRPr lang="en-US" sz="1200" dirty="0"/>
          </a:p>
        </p:txBody>
      </p:sp>
      <p:sp>
        <p:nvSpPr>
          <p:cNvPr id="12" name="Text 10"/>
          <p:cNvSpPr/>
          <p:nvPr/>
        </p:nvSpPr>
        <p:spPr>
          <a:xfrm>
            <a:off x="4599432" y="1737360"/>
            <a:ext cx="3054096" cy="1252728"/>
          </a:xfrm>
          <a:prstGeom prst="rect">
            <a:avLst/>
          </a:prstGeom>
          <a:noFill/>
          <a:ln/>
        </p:spPr>
        <p:txBody>
          <a:bodyPr wrap="square" lIns="254" tIns="254" rIns="254" bIns="254" rtlCol="0" anchor="ctr">
            <a:normAutofit/>
          </a:bodyPr>
          <a:lstStyle/>
          <a:p>
            <a:pPr indent="0" marL="0">
              <a:buNone/>
            </a:pPr>
            <a:r>
              <a:rPr lang="en-US" sz="1230" dirty="0">
                <a:solidFill>
                  <a:srgbClr val="17202A"/>
                </a:solidFill>
                <a:latin typeface="Aptos" pitchFamily="34" charset="0"/>
                <a:ea typeface="Aptos" pitchFamily="34" charset="-122"/>
                <a:cs typeface="Aptos" pitchFamily="34" charset="-120"/>
              </a:rPr>
              <a:t>After ~11:48: search problem formulation, state spaces, search trees, DFS, BFS, UCS.</a:t>
            </a:r>
            <a:endParaRPr lang="en-US" sz="1230" dirty="0"/>
          </a:p>
        </p:txBody>
      </p:sp>
      <p:sp>
        <p:nvSpPr>
          <p:cNvPr id="13" name="Shape 11"/>
          <p:cNvSpPr/>
          <p:nvPr/>
        </p:nvSpPr>
        <p:spPr>
          <a:xfrm>
            <a:off x="8046720" y="1234440"/>
            <a:ext cx="3383280" cy="1874520"/>
          </a:xfrm>
          <a:prstGeom prst="roundRect">
            <a:avLst>
              <a:gd name="adj" fmla="val 3902"/>
            </a:avLst>
          </a:prstGeom>
          <a:solidFill>
            <a:srgbClr val="FFFFFF"/>
          </a:solidFill>
          <a:ln w="15240">
            <a:solidFill>
              <a:srgbClr val="B7C6DA"/>
            </a:solidFill>
            <a:prstDash val="solid"/>
          </a:ln>
        </p:spPr>
      </p:sp>
      <p:sp>
        <p:nvSpPr>
          <p:cNvPr id="14" name="Shape 12"/>
          <p:cNvSpPr/>
          <p:nvPr/>
        </p:nvSpPr>
        <p:spPr>
          <a:xfrm>
            <a:off x="8046720" y="1234440"/>
            <a:ext cx="3383280" cy="329184"/>
          </a:xfrm>
          <a:prstGeom prst="rect">
            <a:avLst/>
          </a:prstGeom>
          <a:solidFill>
            <a:srgbClr val="1F65B6"/>
          </a:solidFill>
          <a:ln w="12700">
            <a:solidFill>
              <a:srgbClr val="1F65B6"/>
            </a:solidFill>
            <a:prstDash val="solid"/>
          </a:ln>
        </p:spPr>
      </p:sp>
      <p:sp>
        <p:nvSpPr>
          <p:cNvPr id="15" name="Text 13"/>
          <p:cNvSpPr/>
          <p:nvPr/>
        </p:nvSpPr>
        <p:spPr>
          <a:xfrm>
            <a:off x="8156448" y="1307592"/>
            <a:ext cx="3163824" cy="164592"/>
          </a:xfrm>
          <a:prstGeom prst="rect">
            <a:avLst/>
          </a:prstGeom>
          <a:noFill/>
          <a:ln/>
        </p:spPr>
        <p:txBody>
          <a:bodyPr wrap="square" lIns="0" tIns="0" rIns="0" bIns="0" rtlCol="0" anchor="ctr"/>
          <a:lstStyle/>
          <a:p>
            <a:pPr algn="ctr" indent="0" marL="0">
              <a:buNone/>
            </a:pPr>
            <a:r>
              <a:rPr lang="en-US" sz="1200" b="1" dirty="0">
                <a:solidFill>
                  <a:srgbClr val="FFFFFF"/>
                </a:solidFill>
                <a:latin typeface="Aptos" pitchFamily="34" charset="0"/>
                <a:ea typeface="Aptos" pitchFamily="34" charset="-122"/>
                <a:cs typeface="Aptos" pitchFamily="34" charset="-120"/>
              </a:rPr>
              <a:t>Teaching boundary</a:t>
            </a:r>
            <a:endParaRPr lang="en-US" sz="1200" dirty="0"/>
          </a:p>
        </p:txBody>
      </p:sp>
      <p:sp>
        <p:nvSpPr>
          <p:cNvPr id="16" name="Text 14"/>
          <p:cNvSpPr/>
          <p:nvPr/>
        </p:nvSpPr>
        <p:spPr>
          <a:xfrm>
            <a:off x="8211312" y="1737360"/>
            <a:ext cx="3054096" cy="1252728"/>
          </a:xfrm>
          <a:prstGeom prst="rect">
            <a:avLst/>
          </a:prstGeom>
          <a:noFill/>
          <a:ln/>
        </p:spPr>
        <p:txBody>
          <a:bodyPr wrap="square" lIns="254" tIns="254" rIns="254" bIns="254" rtlCol="0" anchor="ctr">
            <a:normAutofit/>
          </a:bodyPr>
          <a:lstStyle/>
          <a:p>
            <a:pPr indent="0" marL="0">
              <a:buNone/>
            </a:pPr>
            <a:r>
              <a:rPr lang="en-US" sz="1230" dirty="0">
                <a:solidFill>
                  <a:srgbClr val="17202A"/>
                </a:solidFill>
                <a:latin typeface="Aptos" pitchFamily="34" charset="0"/>
                <a:ea typeface="Aptos" pitchFamily="34" charset="-122"/>
                <a:cs typeface="Aptos" pitchFamily="34" charset="-120"/>
              </a:rPr>
              <a:t>Chapter 2 explains what a goal-based agent is. Chapter 3 explains how search implements it.</a:t>
            </a:r>
            <a:endParaRPr lang="en-US" sz="1230" dirty="0"/>
          </a:p>
        </p:txBody>
      </p:sp>
      <p:sp>
        <p:nvSpPr>
          <p:cNvPr id="17" name="Shape 15"/>
          <p:cNvSpPr/>
          <p:nvPr/>
        </p:nvSpPr>
        <p:spPr>
          <a:xfrm>
            <a:off x="1645920" y="4251960"/>
            <a:ext cx="8961120" cy="502920"/>
          </a:xfrm>
          <a:prstGeom prst="roundRect">
            <a:avLst>
              <a:gd name="adj" fmla="val 10909"/>
            </a:avLst>
          </a:prstGeom>
          <a:solidFill>
            <a:srgbClr val="FFEFCB"/>
          </a:solidFill>
          <a:ln w="12700">
            <a:solidFill>
              <a:srgbClr val="AFC2DC"/>
            </a:solidFill>
            <a:prstDash val="solid"/>
          </a:ln>
        </p:spPr>
      </p:sp>
      <p:sp>
        <p:nvSpPr>
          <p:cNvPr id="18" name="Text 16"/>
          <p:cNvSpPr/>
          <p:nvPr/>
        </p:nvSpPr>
        <p:spPr>
          <a:xfrm>
            <a:off x="1691640" y="4306824"/>
            <a:ext cx="8869680" cy="411480"/>
          </a:xfrm>
          <a:prstGeom prst="rect">
            <a:avLst/>
          </a:prstGeom>
          <a:noFill/>
          <a:ln/>
        </p:spPr>
        <p:txBody>
          <a:bodyPr wrap="square" lIns="0" tIns="0" rIns="0" bIns="0" rtlCol="0" anchor="ctr">
            <a:normAutofit/>
          </a:bodyPr>
          <a:lstStyle/>
          <a:p>
            <a:pPr algn="ctr" indent="0" marL="0">
              <a:buNone/>
            </a:pPr>
            <a:r>
              <a:rPr lang="en-US" sz="1250" b="1" dirty="0">
                <a:solidFill>
                  <a:srgbClr val="102F63"/>
                </a:solidFill>
                <a:latin typeface="Aptos" pitchFamily="34" charset="0"/>
                <a:ea typeface="Aptos" pitchFamily="34" charset="-122"/>
                <a:cs typeface="Aptos" pitchFamily="34" charset="-120"/>
              </a:rPr>
              <a:t>Recommended use: play the first segment as a bridge, then stop before the full search algorithms.</a:t>
            </a:r>
            <a:endParaRPr lang="en-US" sz="1250" dirty="0"/>
          </a:p>
        </p:txBody>
      </p:sp>
      <p:sp>
        <p:nvSpPr>
          <p:cNvPr id="19" name="Text 17"/>
          <p:cNvSpPr/>
          <p:nvPr/>
        </p:nvSpPr>
        <p:spPr>
          <a:xfrm>
            <a:off x="502920" y="6574536"/>
            <a:ext cx="5760720" cy="118872"/>
          </a:xfrm>
          <a:prstGeom prst="rect">
            <a:avLst/>
          </a:prstGeom>
          <a:noFill/>
          <a:ln/>
        </p:spPr>
        <p:txBody>
          <a:bodyPr wrap="square" lIns="0" tIns="0" rIns="0" bIns="0" rtlCol="0" anchor="ctr"/>
          <a:lstStyle/>
          <a:p>
            <a:pPr indent="0" marL="0">
              <a:buNone/>
            </a:pPr>
            <a:r>
              <a:rPr lang="en-US" sz="650" dirty="0">
                <a:solidFill>
                  <a:srgbClr val="7A869A"/>
                </a:solidFill>
                <a:latin typeface="Aptos" pitchFamily="34" charset="0"/>
                <a:ea typeface="Aptos" pitchFamily="34" charset="-122"/>
                <a:cs typeface="Aptos" pitchFamily="34" charset="-120"/>
              </a:rPr>
              <a:t>Berkeley Lecture 2 transcript + AIMA Ch. 2</a:t>
            </a:r>
            <a:endParaRPr lang="en-US" sz="650" dirty="0"/>
          </a:p>
        </p:txBody>
      </p:sp>
      <p:sp>
        <p:nvSpPr>
          <p:cNvPr id="25" name="Slide Number Placeholder 0"/>
          <p:cNvSpPr>
            <a:spLocks noGrp="1"/>
          </p:cNvSpPr>
          <p:nvPr>
            <p:ph type="sldNum" sz="quarter" idx="4294967295"/>
          </p:nvPr>
        </p:nvSpPr>
        <p:spPr>
          <a:xfrm>
            <a:off x="5943600" y="658368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B778C"/>
                </a:solidFill>
                <a:latin typeface="Aptos"/>
                <a:ea typeface="Aptos"/>
                <a:cs typeface="Aptos"/>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02920" y="146304"/>
            <a:ext cx="11155680" cy="329184"/>
          </a:xfrm>
          <a:prstGeom prst="rect">
            <a:avLst/>
          </a:prstGeom>
          <a:noFill/>
          <a:ln/>
        </p:spPr>
        <p:txBody>
          <a:bodyPr wrap="square" lIns="0" tIns="0" rIns="0" bIns="0" rtlCol="0" anchor="ctr"/>
          <a:lstStyle/>
          <a:p>
            <a:pPr indent="0" marL="0">
              <a:buNone/>
            </a:pPr>
            <a:r>
              <a:rPr lang="en-US" sz="2500" b="1" dirty="0">
                <a:solidFill>
                  <a:srgbClr val="FFFFFF"/>
                </a:solidFill>
                <a:latin typeface="Aptos Display" pitchFamily="34" charset="0"/>
                <a:ea typeface="Aptos Display" pitchFamily="34" charset="-122"/>
                <a:cs typeface="Aptos Display" pitchFamily="34" charset="-120"/>
              </a:rPr>
              <a:t>Chapter 2 Takeaways</a:t>
            </a:r>
            <a:endParaRPr lang="en-US" sz="2500" dirty="0"/>
          </a:p>
        </p:txBody>
      </p:sp>
      <p:sp>
        <p:nvSpPr>
          <p:cNvPr id="3" name="Shape 1"/>
          <p:cNvSpPr/>
          <p:nvPr/>
        </p:nvSpPr>
        <p:spPr>
          <a:xfrm>
            <a:off x="10058400" y="841248"/>
            <a:ext cx="1508760" cy="228600"/>
          </a:xfrm>
          <a:prstGeom prst="roundRect">
            <a:avLst>
              <a:gd name="adj" fmla="val 28000"/>
            </a:avLst>
          </a:prstGeom>
          <a:solidFill>
            <a:srgbClr val="EAF2FF"/>
          </a:solidFill>
          <a:ln w="12700">
            <a:solidFill>
              <a:srgbClr val="B7CAE4"/>
            </a:solidFill>
            <a:prstDash val="solid"/>
          </a:ln>
        </p:spPr>
      </p:sp>
      <p:sp>
        <p:nvSpPr>
          <p:cNvPr id="4" name="Text 2"/>
          <p:cNvSpPr/>
          <p:nvPr/>
        </p:nvSpPr>
        <p:spPr>
          <a:xfrm>
            <a:off x="10168128" y="900684"/>
            <a:ext cx="1298448" cy="91440"/>
          </a:xfrm>
          <a:prstGeom prst="rect">
            <a:avLst/>
          </a:prstGeom>
          <a:noFill/>
          <a:ln/>
        </p:spPr>
        <p:txBody>
          <a:bodyPr wrap="square" lIns="0" tIns="0" rIns="0" bIns="0" rtlCol="0" anchor="ctr"/>
          <a:lstStyle/>
          <a:p>
            <a:pPr algn="ctr" indent="0" marL="0">
              <a:buNone/>
            </a:pPr>
            <a:r>
              <a:rPr lang="en-US" sz="950" b="1" dirty="0">
                <a:solidFill>
                  <a:srgbClr val="102F63"/>
                </a:solidFill>
                <a:latin typeface="Aptos" pitchFamily="34" charset="0"/>
                <a:ea typeface="Aptos" pitchFamily="34" charset="-122"/>
                <a:cs typeface="Aptos" pitchFamily="34" charset="-120"/>
              </a:rPr>
              <a:t>Summary</a:t>
            </a:r>
            <a:endParaRPr lang="en-US" sz="950" dirty="0"/>
          </a:p>
        </p:txBody>
      </p:sp>
      <p:sp>
        <p:nvSpPr>
          <p:cNvPr id="5" name="Text 3"/>
          <p:cNvSpPr/>
          <p:nvPr/>
        </p:nvSpPr>
        <p:spPr>
          <a:xfrm>
            <a:off x="914400" y="1325880"/>
            <a:ext cx="10241280" cy="3474720"/>
          </a:xfrm>
          <a:prstGeom prst="rect">
            <a:avLst/>
          </a:prstGeom>
          <a:noFill/>
          <a:ln/>
        </p:spPr>
        <p:txBody>
          <a:bodyPr wrap="square" lIns="635" tIns="635" rIns="635" bIns="635" rtlCol="0" anchor="ctr">
            <a:normAutofit/>
          </a:bodyPr>
          <a:lstStyle/>
          <a:p>
            <a:r>
              <a:rPr lang="en-US" sz="1650" dirty="0">
                <a:solidFill>
                  <a:srgbClr val="102F63"/>
                </a:solidFill>
                <a:latin typeface="Aptos" pitchFamily="34" charset="0"/>
                <a:ea typeface="Aptos" pitchFamily="34" charset="-122"/>
                <a:cs typeface="Aptos" pitchFamily="34" charset="-120"/>
              </a:rPr>
              <a:t>An agent perceives an environment through sensors and acts through actuators.</a:t>
            </a:r>
            <a:endParaRPr lang="en-US" sz="1650" dirty="0"/>
          </a:p>
          <a:p>
            <a:r>
              <a:rPr lang="en-US" sz="1650" dirty="0">
                <a:solidFill>
                  <a:srgbClr val="102F63"/>
                </a:solidFill>
                <a:latin typeface="Aptos" pitchFamily="34" charset="0"/>
                <a:ea typeface="Aptos" pitchFamily="34" charset="-122"/>
                <a:cs typeface="Aptos" pitchFamily="34" charset="-120"/>
              </a:rPr>
              <a:t>A rational agent maximizes expected performance, not hindsight perfection.</a:t>
            </a:r>
            <a:endParaRPr lang="en-US" sz="1650" dirty="0"/>
          </a:p>
          <a:p>
            <a:r>
              <a:rPr lang="en-US" sz="1650" dirty="0">
                <a:solidFill>
                  <a:srgbClr val="102F63"/>
                </a:solidFill>
                <a:latin typeface="Aptos" pitchFamily="34" charset="0"/>
                <a:ea typeface="Aptos" pitchFamily="34" charset="-122"/>
                <a:cs typeface="Aptos" pitchFamily="34" charset="-120"/>
              </a:rPr>
              <a:t>PEAS specifies the task: performance, environment, actuators, sensors.</a:t>
            </a:r>
            <a:endParaRPr lang="en-US" sz="1650" dirty="0"/>
          </a:p>
          <a:p>
            <a:r>
              <a:rPr lang="en-US" sz="1650" dirty="0">
                <a:solidFill>
                  <a:srgbClr val="102F63"/>
                </a:solidFill>
                <a:latin typeface="Aptos" pitchFamily="34" charset="0"/>
                <a:ea typeface="Aptos" pitchFamily="34" charset="-122"/>
                <a:cs typeface="Aptos" pitchFamily="34" charset="-120"/>
              </a:rPr>
              <a:t>Environment properties determine which agent design is appropriate.</a:t>
            </a:r>
            <a:endParaRPr lang="en-US" sz="1650" dirty="0"/>
          </a:p>
          <a:p>
            <a:r>
              <a:rPr lang="en-US" sz="1650" dirty="0">
                <a:solidFill>
                  <a:srgbClr val="102F63"/>
                </a:solidFill>
                <a:latin typeface="Aptos" pitchFamily="34" charset="0"/>
                <a:ea typeface="Aptos" pitchFamily="34" charset="-122"/>
                <a:cs typeface="Aptos" pitchFamily="34" charset="-120"/>
              </a:rPr>
              <a:t>Agent programs range from simple reflex to model-based, goal-based, utility-based, and learning agents.</a:t>
            </a:r>
            <a:endParaRPr lang="en-US" sz="1650" dirty="0"/>
          </a:p>
          <a:p>
            <a:r>
              <a:rPr lang="en-US" sz="1650" dirty="0">
                <a:solidFill>
                  <a:srgbClr val="102F63"/>
                </a:solidFill>
                <a:latin typeface="Aptos" pitchFamily="34" charset="0"/>
                <a:ea typeface="Aptos" pitchFamily="34" charset="-122"/>
                <a:cs typeface="Aptos" pitchFamily="34" charset="-120"/>
              </a:rPr>
              <a:t>Representations determine what the agent can express and how hard reasoning becomes.</a:t>
            </a:r>
            <a:endParaRPr lang="en-US" sz="1650" dirty="0"/>
          </a:p>
        </p:txBody>
      </p:sp>
      <p:sp>
        <p:nvSpPr>
          <p:cNvPr id="6" name="Shape 4"/>
          <p:cNvSpPr/>
          <p:nvPr/>
        </p:nvSpPr>
        <p:spPr>
          <a:xfrm>
            <a:off x="1463040" y="5303520"/>
            <a:ext cx="9326880" cy="475488"/>
          </a:xfrm>
          <a:prstGeom prst="roundRect">
            <a:avLst>
              <a:gd name="adj" fmla="val 11538"/>
            </a:avLst>
          </a:prstGeom>
          <a:solidFill>
            <a:srgbClr val="FFEFCB"/>
          </a:solidFill>
          <a:ln w="12700">
            <a:solidFill>
              <a:srgbClr val="AFC2DC"/>
            </a:solidFill>
            <a:prstDash val="solid"/>
          </a:ln>
        </p:spPr>
      </p:sp>
      <p:sp>
        <p:nvSpPr>
          <p:cNvPr id="7" name="Text 5"/>
          <p:cNvSpPr/>
          <p:nvPr/>
        </p:nvSpPr>
        <p:spPr>
          <a:xfrm>
            <a:off x="1508760" y="5358384"/>
            <a:ext cx="9235440" cy="384048"/>
          </a:xfrm>
          <a:prstGeom prst="rect">
            <a:avLst/>
          </a:prstGeom>
          <a:noFill/>
          <a:ln/>
        </p:spPr>
        <p:txBody>
          <a:bodyPr wrap="square" lIns="0" tIns="0" rIns="0" bIns="0" rtlCol="0" anchor="ctr">
            <a:normAutofit/>
          </a:bodyPr>
          <a:lstStyle/>
          <a:p>
            <a:pPr algn="ctr" indent="0" marL="0">
              <a:buNone/>
            </a:pPr>
            <a:r>
              <a:rPr lang="en-US" sz="1250" b="1" dirty="0">
                <a:solidFill>
                  <a:srgbClr val="102F63"/>
                </a:solidFill>
                <a:latin typeface="Aptos" pitchFamily="34" charset="0"/>
                <a:ea typeface="Aptos" pitchFamily="34" charset="-122"/>
                <a:cs typeface="Aptos" pitchFamily="34" charset="-120"/>
              </a:rPr>
              <a:t>Define the agent → Specify the task → Classify the environment → Choose the design</a:t>
            </a:r>
            <a:endParaRPr lang="en-US" sz="1250" dirty="0"/>
          </a:p>
        </p:txBody>
      </p:sp>
      <p:sp>
        <p:nvSpPr>
          <p:cNvPr id="8" name="Text 6"/>
          <p:cNvSpPr/>
          <p:nvPr/>
        </p:nvSpPr>
        <p:spPr>
          <a:xfrm>
            <a:off x="502920" y="6574536"/>
            <a:ext cx="5760720" cy="118872"/>
          </a:xfrm>
          <a:prstGeom prst="rect">
            <a:avLst/>
          </a:prstGeom>
          <a:noFill/>
          <a:ln/>
        </p:spPr>
        <p:txBody>
          <a:bodyPr wrap="square" lIns="0" tIns="0" rIns="0" bIns="0" rtlCol="0" anchor="ctr"/>
          <a:lstStyle/>
          <a:p>
            <a:pPr indent="0" marL="0">
              <a:buNone/>
            </a:pPr>
            <a:r>
              <a:rPr lang="en-US" sz="650" dirty="0">
                <a:solidFill>
                  <a:srgbClr val="7A869A"/>
                </a:solidFill>
                <a:latin typeface="Aptos" pitchFamily="34" charset="0"/>
                <a:ea typeface="Aptos" pitchFamily="34" charset="-122"/>
                <a:cs typeface="Aptos" pitchFamily="34" charset="-120"/>
              </a:rPr>
              <a:t>AIMA Ch. 2 + UC Berkeley CS188 Part II companion</a:t>
            </a:r>
            <a:endParaRPr lang="en-US" sz="650" dirty="0"/>
          </a:p>
        </p:txBody>
      </p:sp>
      <p:sp>
        <p:nvSpPr>
          <p:cNvPr id="25" name="Slide Number Placeholder 0"/>
          <p:cNvSpPr>
            <a:spLocks noGrp="1"/>
          </p:cNvSpPr>
          <p:nvPr>
            <p:ph type="sldNum" sz="quarter" idx="4294967295"/>
          </p:nvPr>
        </p:nvSpPr>
        <p:spPr>
          <a:xfrm>
            <a:off x="5943600" y="658368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B778C"/>
                </a:solidFill>
                <a:latin typeface="Aptos"/>
                <a:ea typeface="Aptos"/>
                <a:cs typeface="Aptos"/>
              </a:defRPr>
            </a:lvl1pPr>
          </a:lstStyle>
          <a:p>
            <a:pPr algn="l"/>
            <a:fld id="{F7021451-1387-4CA6-816F-3879F97B5CBC}" type="slidenum">
              <a:rPr b="0" lang="en-US"/>
              <a:t>25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COMP 469</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 469 Chapter 2 Intelligent Agents - Berkeley Master</dc:title>
  <dc:subject>Chapter 2 Intelligent Agents</dc:subject>
  <dc:creator>COMP 469</dc:creator>
  <cp:lastModifiedBy>COMP 469</cp:lastModifiedBy>
  <cp:revision>1</cp:revision>
  <dcterms:created xsi:type="dcterms:W3CDTF">2026-07-30T08:17:52Z</dcterms:created>
  <dcterms:modified xsi:type="dcterms:W3CDTF">2026-07-30T08:17:52Z</dcterms:modified>
</cp:coreProperties>
</file>