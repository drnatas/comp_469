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6858000" cy="9144000"/>
  <p:embeddedFontLst>
    <p:embeddedFont>
      <p:font typeface="Montserrat SemiBold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Montserrat Medium"/>
      <p:regular r:id="rId38"/>
      <p:bold r:id="rId39"/>
      <p:italic r:id="rId40"/>
      <p:boldItalic r:id="rId41"/>
    </p:embeddedFont>
    <p:embeddedFont>
      <p:font typeface="Lora"/>
      <p:regular r:id="rId42"/>
      <p:bold r:id="rId43"/>
      <p:italic r:id="rId44"/>
      <p:boldItalic r:id="rId45"/>
    </p:embeddedFont>
    <p:embeddedFont>
      <p:font typeface="Cinzel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99A1FB-DAE9-43C8-8D02-2ED83B9D63F8}">
  <a:tblStyle styleId="{8399A1FB-DAE9-43C8-8D02-2ED83B9D63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Medium-italic.fntdata"/><Relationship Id="rId20" Type="http://schemas.openxmlformats.org/officeDocument/2006/relationships/slide" Target="slides/slide14.xml"/><Relationship Id="rId42" Type="http://schemas.openxmlformats.org/officeDocument/2006/relationships/font" Target="fonts/Lora-regular.fntdata"/><Relationship Id="rId41" Type="http://schemas.openxmlformats.org/officeDocument/2006/relationships/font" Target="fonts/MontserratMedium-boldItalic.fntdata"/><Relationship Id="rId22" Type="http://schemas.openxmlformats.org/officeDocument/2006/relationships/slide" Target="slides/slide16.xml"/><Relationship Id="rId44" Type="http://schemas.openxmlformats.org/officeDocument/2006/relationships/font" Target="fonts/Lora-italic.fntdata"/><Relationship Id="rId21" Type="http://schemas.openxmlformats.org/officeDocument/2006/relationships/slide" Target="slides/slide15.xml"/><Relationship Id="rId43" Type="http://schemas.openxmlformats.org/officeDocument/2006/relationships/font" Target="fonts/Lora-bold.fntdata"/><Relationship Id="rId24" Type="http://schemas.openxmlformats.org/officeDocument/2006/relationships/slide" Target="slides/slide18.xml"/><Relationship Id="rId46" Type="http://schemas.openxmlformats.org/officeDocument/2006/relationships/font" Target="fonts/Cinzel-regular.fntdata"/><Relationship Id="rId23" Type="http://schemas.openxmlformats.org/officeDocument/2006/relationships/slide" Target="slides/slide17.xml"/><Relationship Id="rId45" Type="http://schemas.openxmlformats.org/officeDocument/2006/relationships/font" Target="fonts/Lor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Cinzel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SemiBold-bold.fntdata"/><Relationship Id="rId30" Type="http://schemas.openxmlformats.org/officeDocument/2006/relationships/font" Target="fonts/Montserrat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Montserrat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SemiBold-italic.fntdata"/><Relationship Id="rId13" Type="http://schemas.openxmlformats.org/officeDocument/2006/relationships/slide" Target="slides/slide7.xml"/><Relationship Id="rId35" Type="http://schemas.openxmlformats.org/officeDocument/2006/relationships/font" Target="fonts/Montserrat-bold.fntdata"/><Relationship Id="rId12" Type="http://schemas.openxmlformats.org/officeDocument/2006/relationships/slide" Target="slides/slide6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9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1.xml"/><Relationship Id="rId39" Type="http://schemas.openxmlformats.org/officeDocument/2006/relationships/font" Target="fonts/MontserratMedium-bold.fntdata"/><Relationship Id="rId16" Type="http://schemas.openxmlformats.org/officeDocument/2006/relationships/slide" Target="slides/slide10.xml"/><Relationship Id="rId38" Type="http://schemas.openxmlformats.org/officeDocument/2006/relationships/font" Target="fonts/MontserratMedium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6" name="Google Shape;84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.png"/><Relationship Id="rId22" Type="http://schemas.openxmlformats.org/officeDocument/2006/relationships/image" Target="../media/image16.png"/><Relationship Id="rId21" Type="http://schemas.openxmlformats.org/officeDocument/2006/relationships/image" Target="../media/image29.png"/><Relationship Id="rId24" Type="http://schemas.openxmlformats.org/officeDocument/2006/relationships/image" Target="../media/image37.png"/><Relationship Id="rId23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Relationship Id="rId26" Type="http://schemas.openxmlformats.org/officeDocument/2006/relationships/image" Target="../media/image36.png"/><Relationship Id="rId25" Type="http://schemas.openxmlformats.org/officeDocument/2006/relationships/image" Target="../media/image17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7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3" Type="http://schemas.openxmlformats.org/officeDocument/2006/relationships/image" Target="../media/image26.png"/><Relationship Id="rId12" Type="http://schemas.openxmlformats.org/officeDocument/2006/relationships/image" Target="../media/image3.png"/><Relationship Id="rId15" Type="http://schemas.openxmlformats.org/officeDocument/2006/relationships/image" Target="../media/image9.png"/><Relationship Id="rId14" Type="http://schemas.openxmlformats.org/officeDocument/2006/relationships/image" Target="../media/image6.png"/><Relationship Id="rId17" Type="http://schemas.openxmlformats.org/officeDocument/2006/relationships/image" Target="../media/image10.png"/><Relationship Id="rId16" Type="http://schemas.openxmlformats.org/officeDocument/2006/relationships/image" Target="../media/image31.png"/><Relationship Id="rId19" Type="http://schemas.openxmlformats.org/officeDocument/2006/relationships/image" Target="../media/image15.png"/><Relationship Id="rId1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.png"/><Relationship Id="rId22" Type="http://schemas.openxmlformats.org/officeDocument/2006/relationships/image" Target="../media/image29.png"/><Relationship Id="rId21" Type="http://schemas.openxmlformats.org/officeDocument/2006/relationships/image" Target="../media/image13.png"/><Relationship Id="rId24" Type="http://schemas.openxmlformats.org/officeDocument/2006/relationships/image" Target="../media/image28.png"/><Relationship Id="rId23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Relationship Id="rId9" Type="http://schemas.openxmlformats.org/officeDocument/2006/relationships/image" Target="../media/image7.png"/><Relationship Id="rId26" Type="http://schemas.openxmlformats.org/officeDocument/2006/relationships/image" Target="../media/image17.png"/><Relationship Id="rId25" Type="http://schemas.openxmlformats.org/officeDocument/2006/relationships/image" Target="../media/image37.png"/><Relationship Id="rId28" Type="http://schemas.openxmlformats.org/officeDocument/2006/relationships/image" Target="../media/image24.png"/><Relationship Id="rId27" Type="http://schemas.openxmlformats.org/officeDocument/2006/relationships/image" Target="../media/image36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4.png"/><Relationship Id="rId8" Type="http://schemas.openxmlformats.org/officeDocument/2006/relationships/image" Target="../media/image8.png"/><Relationship Id="rId11" Type="http://schemas.openxmlformats.org/officeDocument/2006/relationships/image" Target="../media/image11.png"/><Relationship Id="rId10" Type="http://schemas.openxmlformats.org/officeDocument/2006/relationships/image" Target="../media/image25.png"/><Relationship Id="rId13" Type="http://schemas.openxmlformats.org/officeDocument/2006/relationships/image" Target="../media/image3.png"/><Relationship Id="rId12" Type="http://schemas.openxmlformats.org/officeDocument/2006/relationships/image" Target="../media/image12.png"/><Relationship Id="rId15" Type="http://schemas.openxmlformats.org/officeDocument/2006/relationships/image" Target="../media/image6.png"/><Relationship Id="rId14" Type="http://schemas.openxmlformats.org/officeDocument/2006/relationships/image" Target="../media/image26.png"/><Relationship Id="rId17" Type="http://schemas.openxmlformats.org/officeDocument/2006/relationships/image" Target="../media/image31.png"/><Relationship Id="rId16" Type="http://schemas.openxmlformats.org/officeDocument/2006/relationships/image" Target="../media/image9.png"/><Relationship Id="rId19" Type="http://schemas.openxmlformats.org/officeDocument/2006/relationships/image" Target="../media/image5.png"/><Relationship Id="rId1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.png"/><Relationship Id="rId22" Type="http://schemas.openxmlformats.org/officeDocument/2006/relationships/image" Target="../media/image29.png"/><Relationship Id="rId21" Type="http://schemas.openxmlformats.org/officeDocument/2006/relationships/image" Target="../media/image13.png"/><Relationship Id="rId24" Type="http://schemas.openxmlformats.org/officeDocument/2006/relationships/image" Target="../media/image28.png"/><Relationship Id="rId23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9" Type="http://schemas.openxmlformats.org/officeDocument/2006/relationships/image" Target="../media/image7.png"/><Relationship Id="rId26" Type="http://schemas.openxmlformats.org/officeDocument/2006/relationships/image" Target="../media/image17.png"/><Relationship Id="rId25" Type="http://schemas.openxmlformats.org/officeDocument/2006/relationships/image" Target="../media/image37.png"/><Relationship Id="rId28" Type="http://schemas.openxmlformats.org/officeDocument/2006/relationships/image" Target="../media/image33.png"/><Relationship Id="rId27" Type="http://schemas.openxmlformats.org/officeDocument/2006/relationships/image" Target="../media/image36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4.png"/><Relationship Id="rId8" Type="http://schemas.openxmlformats.org/officeDocument/2006/relationships/image" Target="../media/image8.png"/><Relationship Id="rId11" Type="http://schemas.openxmlformats.org/officeDocument/2006/relationships/image" Target="../media/image11.png"/><Relationship Id="rId10" Type="http://schemas.openxmlformats.org/officeDocument/2006/relationships/image" Target="../media/image25.png"/><Relationship Id="rId13" Type="http://schemas.openxmlformats.org/officeDocument/2006/relationships/image" Target="../media/image3.png"/><Relationship Id="rId12" Type="http://schemas.openxmlformats.org/officeDocument/2006/relationships/image" Target="../media/image12.png"/><Relationship Id="rId15" Type="http://schemas.openxmlformats.org/officeDocument/2006/relationships/image" Target="../media/image6.png"/><Relationship Id="rId14" Type="http://schemas.openxmlformats.org/officeDocument/2006/relationships/image" Target="../media/image26.png"/><Relationship Id="rId17" Type="http://schemas.openxmlformats.org/officeDocument/2006/relationships/image" Target="../media/image31.png"/><Relationship Id="rId16" Type="http://schemas.openxmlformats.org/officeDocument/2006/relationships/image" Target="../media/image9.png"/><Relationship Id="rId19" Type="http://schemas.openxmlformats.org/officeDocument/2006/relationships/image" Target="../media/image5.png"/><Relationship Id="rId1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20" Type="http://schemas.openxmlformats.org/officeDocument/2006/relationships/image" Target="../media/image5.png"/><Relationship Id="rId22" Type="http://schemas.openxmlformats.org/officeDocument/2006/relationships/image" Target="../media/image13.png"/><Relationship Id="rId21" Type="http://schemas.openxmlformats.org/officeDocument/2006/relationships/image" Target="../media/image15.png"/><Relationship Id="rId24" Type="http://schemas.openxmlformats.org/officeDocument/2006/relationships/image" Target="../media/image16.png"/><Relationship Id="rId23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5.png"/><Relationship Id="rId4" Type="http://schemas.openxmlformats.org/officeDocument/2006/relationships/image" Target="../media/image30.png"/><Relationship Id="rId9" Type="http://schemas.openxmlformats.org/officeDocument/2006/relationships/image" Target="../media/image8.png"/><Relationship Id="rId26" Type="http://schemas.openxmlformats.org/officeDocument/2006/relationships/image" Target="../media/image37.png"/><Relationship Id="rId25" Type="http://schemas.openxmlformats.org/officeDocument/2006/relationships/image" Target="../media/image28.png"/><Relationship Id="rId28" Type="http://schemas.openxmlformats.org/officeDocument/2006/relationships/image" Target="../media/image36.png"/><Relationship Id="rId27" Type="http://schemas.openxmlformats.org/officeDocument/2006/relationships/image" Target="../media/image17.png"/><Relationship Id="rId5" Type="http://schemas.openxmlformats.org/officeDocument/2006/relationships/image" Target="../media/image32.png"/><Relationship Id="rId6" Type="http://schemas.openxmlformats.org/officeDocument/2006/relationships/image" Target="../media/image34.png"/><Relationship Id="rId29" Type="http://schemas.openxmlformats.org/officeDocument/2006/relationships/image" Target="../media/image50.png"/><Relationship Id="rId7" Type="http://schemas.openxmlformats.org/officeDocument/2006/relationships/image" Target="../media/image20.png"/><Relationship Id="rId8" Type="http://schemas.openxmlformats.org/officeDocument/2006/relationships/image" Target="../media/image4.png"/><Relationship Id="rId11" Type="http://schemas.openxmlformats.org/officeDocument/2006/relationships/image" Target="../media/image25.png"/><Relationship Id="rId10" Type="http://schemas.openxmlformats.org/officeDocument/2006/relationships/image" Target="../media/image7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5" Type="http://schemas.openxmlformats.org/officeDocument/2006/relationships/image" Target="../media/image26.png"/><Relationship Id="rId14" Type="http://schemas.openxmlformats.org/officeDocument/2006/relationships/image" Target="../media/image3.png"/><Relationship Id="rId17" Type="http://schemas.openxmlformats.org/officeDocument/2006/relationships/image" Target="../media/image9.png"/><Relationship Id="rId16" Type="http://schemas.openxmlformats.org/officeDocument/2006/relationships/image" Target="../media/image6.png"/><Relationship Id="rId19" Type="http://schemas.openxmlformats.org/officeDocument/2006/relationships/image" Target="../media/image10.png"/><Relationship Id="rId18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.png"/><Relationship Id="rId22" Type="http://schemas.openxmlformats.org/officeDocument/2006/relationships/image" Target="../media/image16.png"/><Relationship Id="rId21" Type="http://schemas.openxmlformats.org/officeDocument/2006/relationships/image" Target="../media/image29.png"/><Relationship Id="rId24" Type="http://schemas.openxmlformats.org/officeDocument/2006/relationships/image" Target="../media/image37.png"/><Relationship Id="rId23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9" Type="http://schemas.openxmlformats.org/officeDocument/2006/relationships/image" Target="../media/image25.png"/><Relationship Id="rId26" Type="http://schemas.openxmlformats.org/officeDocument/2006/relationships/image" Target="../media/image36.png"/><Relationship Id="rId25" Type="http://schemas.openxmlformats.org/officeDocument/2006/relationships/image" Target="../media/image17.png"/><Relationship Id="rId27" Type="http://schemas.openxmlformats.org/officeDocument/2006/relationships/image" Target="../media/image40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7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3" Type="http://schemas.openxmlformats.org/officeDocument/2006/relationships/image" Target="../media/image26.png"/><Relationship Id="rId12" Type="http://schemas.openxmlformats.org/officeDocument/2006/relationships/image" Target="../media/image3.png"/><Relationship Id="rId15" Type="http://schemas.openxmlformats.org/officeDocument/2006/relationships/image" Target="../media/image9.png"/><Relationship Id="rId14" Type="http://schemas.openxmlformats.org/officeDocument/2006/relationships/image" Target="../media/image6.png"/><Relationship Id="rId17" Type="http://schemas.openxmlformats.org/officeDocument/2006/relationships/image" Target="../media/image10.png"/><Relationship Id="rId16" Type="http://schemas.openxmlformats.org/officeDocument/2006/relationships/image" Target="../media/image31.png"/><Relationship Id="rId19" Type="http://schemas.openxmlformats.org/officeDocument/2006/relationships/image" Target="../media/image15.png"/><Relationship Id="rId1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20" Type="http://schemas.openxmlformats.org/officeDocument/2006/relationships/image" Target="../media/image5.png"/><Relationship Id="rId22" Type="http://schemas.openxmlformats.org/officeDocument/2006/relationships/image" Target="../media/image13.png"/><Relationship Id="rId21" Type="http://schemas.openxmlformats.org/officeDocument/2006/relationships/image" Target="../media/image15.png"/><Relationship Id="rId24" Type="http://schemas.openxmlformats.org/officeDocument/2006/relationships/image" Target="../media/image16.png"/><Relationship Id="rId23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5.png"/><Relationship Id="rId4" Type="http://schemas.openxmlformats.org/officeDocument/2006/relationships/image" Target="../media/image41.png"/><Relationship Id="rId9" Type="http://schemas.openxmlformats.org/officeDocument/2006/relationships/image" Target="../media/image8.png"/><Relationship Id="rId26" Type="http://schemas.openxmlformats.org/officeDocument/2006/relationships/image" Target="../media/image37.png"/><Relationship Id="rId25" Type="http://schemas.openxmlformats.org/officeDocument/2006/relationships/image" Target="../media/image28.png"/><Relationship Id="rId28" Type="http://schemas.openxmlformats.org/officeDocument/2006/relationships/image" Target="../media/image36.png"/><Relationship Id="rId27" Type="http://schemas.openxmlformats.org/officeDocument/2006/relationships/image" Target="../media/image17.png"/><Relationship Id="rId5" Type="http://schemas.openxmlformats.org/officeDocument/2006/relationships/image" Target="../media/image45.png"/><Relationship Id="rId6" Type="http://schemas.openxmlformats.org/officeDocument/2006/relationships/image" Target="../media/image43.png"/><Relationship Id="rId29" Type="http://schemas.openxmlformats.org/officeDocument/2006/relationships/image" Target="../media/image48.png"/><Relationship Id="rId7" Type="http://schemas.openxmlformats.org/officeDocument/2006/relationships/image" Target="../media/image20.png"/><Relationship Id="rId8" Type="http://schemas.openxmlformats.org/officeDocument/2006/relationships/image" Target="../media/image4.png"/><Relationship Id="rId11" Type="http://schemas.openxmlformats.org/officeDocument/2006/relationships/image" Target="../media/image25.png"/><Relationship Id="rId10" Type="http://schemas.openxmlformats.org/officeDocument/2006/relationships/image" Target="../media/image7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15" Type="http://schemas.openxmlformats.org/officeDocument/2006/relationships/image" Target="../media/image26.png"/><Relationship Id="rId14" Type="http://schemas.openxmlformats.org/officeDocument/2006/relationships/image" Target="../media/image3.png"/><Relationship Id="rId17" Type="http://schemas.openxmlformats.org/officeDocument/2006/relationships/image" Target="../media/image9.png"/><Relationship Id="rId16" Type="http://schemas.openxmlformats.org/officeDocument/2006/relationships/image" Target="../media/image6.png"/><Relationship Id="rId19" Type="http://schemas.openxmlformats.org/officeDocument/2006/relationships/image" Target="../media/image10.png"/><Relationship Id="rId18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.png"/><Relationship Id="rId22" Type="http://schemas.openxmlformats.org/officeDocument/2006/relationships/image" Target="../media/image16.png"/><Relationship Id="rId21" Type="http://schemas.openxmlformats.org/officeDocument/2006/relationships/image" Target="../media/image29.png"/><Relationship Id="rId24" Type="http://schemas.openxmlformats.org/officeDocument/2006/relationships/image" Target="../media/image37.png"/><Relationship Id="rId23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25.png"/><Relationship Id="rId26" Type="http://schemas.openxmlformats.org/officeDocument/2006/relationships/image" Target="../media/image36.png"/><Relationship Id="rId25" Type="http://schemas.openxmlformats.org/officeDocument/2006/relationships/image" Target="../media/image17.png"/><Relationship Id="rId27" Type="http://schemas.openxmlformats.org/officeDocument/2006/relationships/image" Target="../media/image81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7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3" Type="http://schemas.openxmlformats.org/officeDocument/2006/relationships/image" Target="../media/image26.png"/><Relationship Id="rId12" Type="http://schemas.openxmlformats.org/officeDocument/2006/relationships/image" Target="../media/image3.png"/><Relationship Id="rId15" Type="http://schemas.openxmlformats.org/officeDocument/2006/relationships/image" Target="../media/image9.png"/><Relationship Id="rId14" Type="http://schemas.openxmlformats.org/officeDocument/2006/relationships/image" Target="../media/image6.png"/><Relationship Id="rId17" Type="http://schemas.openxmlformats.org/officeDocument/2006/relationships/image" Target="../media/image10.png"/><Relationship Id="rId16" Type="http://schemas.openxmlformats.org/officeDocument/2006/relationships/image" Target="../media/image31.png"/><Relationship Id="rId19" Type="http://schemas.openxmlformats.org/officeDocument/2006/relationships/image" Target="../media/image15.png"/><Relationship Id="rId18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.png"/><Relationship Id="rId22" Type="http://schemas.openxmlformats.org/officeDocument/2006/relationships/image" Target="../media/image16.png"/><Relationship Id="rId21" Type="http://schemas.openxmlformats.org/officeDocument/2006/relationships/image" Target="../media/image29.png"/><Relationship Id="rId24" Type="http://schemas.openxmlformats.org/officeDocument/2006/relationships/image" Target="../media/image37.png"/><Relationship Id="rId23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7.png"/><Relationship Id="rId4" Type="http://schemas.openxmlformats.org/officeDocument/2006/relationships/image" Target="../media/image54.png"/><Relationship Id="rId9" Type="http://schemas.openxmlformats.org/officeDocument/2006/relationships/image" Target="../media/image25.png"/><Relationship Id="rId26" Type="http://schemas.openxmlformats.org/officeDocument/2006/relationships/image" Target="../media/image36.png"/><Relationship Id="rId25" Type="http://schemas.openxmlformats.org/officeDocument/2006/relationships/image" Target="../media/image17.png"/><Relationship Id="rId28" Type="http://schemas.openxmlformats.org/officeDocument/2006/relationships/image" Target="../media/image44.png"/><Relationship Id="rId27" Type="http://schemas.openxmlformats.org/officeDocument/2006/relationships/image" Target="../media/image57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7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3" Type="http://schemas.openxmlformats.org/officeDocument/2006/relationships/image" Target="../media/image26.png"/><Relationship Id="rId12" Type="http://schemas.openxmlformats.org/officeDocument/2006/relationships/image" Target="../media/image3.png"/><Relationship Id="rId15" Type="http://schemas.openxmlformats.org/officeDocument/2006/relationships/image" Target="../media/image9.png"/><Relationship Id="rId14" Type="http://schemas.openxmlformats.org/officeDocument/2006/relationships/image" Target="../media/image6.png"/><Relationship Id="rId17" Type="http://schemas.openxmlformats.org/officeDocument/2006/relationships/image" Target="../media/image10.png"/><Relationship Id="rId16" Type="http://schemas.openxmlformats.org/officeDocument/2006/relationships/image" Target="../media/image31.png"/><Relationship Id="rId19" Type="http://schemas.openxmlformats.org/officeDocument/2006/relationships/image" Target="../media/image15.png"/><Relationship Id="rId1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.png"/><Relationship Id="rId22" Type="http://schemas.openxmlformats.org/officeDocument/2006/relationships/image" Target="../media/image29.png"/><Relationship Id="rId21" Type="http://schemas.openxmlformats.org/officeDocument/2006/relationships/image" Target="../media/image13.png"/><Relationship Id="rId24" Type="http://schemas.openxmlformats.org/officeDocument/2006/relationships/image" Target="../media/image28.png"/><Relationship Id="rId23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6.png"/><Relationship Id="rId4" Type="http://schemas.openxmlformats.org/officeDocument/2006/relationships/image" Target="../media/image42.png"/><Relationship Id="rId9" Type="http://schemas.openxmlformats.org/officeDocument/2006/relationships/image" Target="../media/image7.png"/><Relationship Id="rId26" Type="http://schemas.openxmlformats.org/officeDocument/2006/relationships/image" Target="../media/image17.png"/><Relationship Id="rId25" Type="http://schemas.openxmlformats.org/officeDocument/2006/relationships/image" Target="../media/image37.png"/><Relationship Id="rId28" Type="http://schemas.openxmlformats.org/officeDocument/2006/relationships/image" Target="../media/image49.png"/><Relationship Id="rId27" Type="http://schemas.openxmlformats.org/officeDocument/2006/relationships/image" Target="../media/image36.png"/><Relationship Id="rId5" Type="http://schemas.openxmlformats.org/officeDocument/2006/relationships/image" Target="../media/image46.png"/><Relationship Id="rId6" Type="http://schemas.openxmlformats.org/officeDocument/2006/relationships/image" Target="../media/image20.png"/><Relationship Id="rId7" Type="http://schemas.openxmlformats.org/officeDocument/2006/relationships/image" Target="../media/image4.png"/><Relationship Id="rId8" Type="http://schemas.openxmlformats.org/officeDocument/2006/relationships/image" Target="../media/image8.png"/><Relationship Id="rId11" Type="http://schemas.openxmlformats.org/officeDocument/2006/relationships/image" Target="../media/image11.png"/><Relationship Id="rId10" Type="http://schemas.openxmlformats.org/officeDocument/2006/relationships/image" Target="../media/image25.png"/><Relationship Id="rId13" Type="http://schemas.openxmlformats.org/officeDocument/2006/relationships/image" Target="../media/image3.png"/><Relationship Id="rId12" Type="http://schemas.openxmlformats.org/officeDocument/2006/relationships/image" Target="../media/image12.png"/><Relationship Id="rId15" Type="http://schemas.openxmlformats.org/officeDocument/2006/relationships/image" Target="../media/image6.png"/><Relationship Id="rId14" Type="http://schemas.openxmlformats.org/officeDocument/2006/relationships/image" Target="../media/image26.png"/><Relationship Id="rId17" Type="http://schemas.openxmlformats.org/officeDocument/2006/relationships/image" Target="../media/image31.png"/><Relationship Id="rId16" Type="http://schemas.openxmlformats.org/officeDocument/2006/relationships/image" Target="../media/image9.png"/><Relationship Id="rId19" Type="http://schemas.openxmlformats.org/officeDocument/2006/relationships/image" Target="../media/image5.png"/><Relationship Id="rId18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.png"/><Relationship Id="rId22" Type="http://schemas.openxmlformats.org/officeDocument/2006/relationships/image" Target="../media/image16.png"/><Relationship Id="rId21" Type="http://schemas.openxmlformats.org/officeDocument/2006/relationships/image" Target="../media/image29.png"/><Relationship Id="rId24" Type="http://schemas.openxmlformats.org/officeDocument/2006/relationships/image" Target="../media/image37.png"/><Relationship Id="rId23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Relationship Id="rId4" Type="http://schemas.openxmlformats.org/officeDocument/2006/relationships/image" Target="../media/image53.png"/><Relationship Id="rId9" Type="http://schemas.openxmlformats.org/officeDocument/2006/relationships/image" Target="../media/image25.png"/><Relationship Id="rId26" Type="http://schemas.openxmlformats.org/officeDocument/2006/relationships/image" Target="../media/image36.png"/><Relationship Id="rId25" Type="http://schemas.openxmlformats.org/officeDocument/2006/relationships/image" Target="../media/image17.png"/><Relationship Id="rId27" Type="http://schemas.openxmlformats.org/officeDocument/2006/relationships/image" Target="../media/image68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7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3" Type="http://schemas.openxmlformats.org/officeDocument/2006/relationships/image" Target="../media/image26.png"/><Relationship Id="rId12" Type="http://schemas.openxmlformats.org/officeDocument/2006/relationships/image" Target="../media/image3.png"/><Relationship Id="rId15" Type="http://schemas.openxmlformats.org/officeDocument/2006/relationships/image" Target="../media/image9.png"/><Relationship Id="rId14" Type="http://schemas.openxmlformats.org/officeDocument/2006/relationships/image" Target="../media/image6.png"/><Relationship Id="rId17" Type="http://schemas.openxmlformats.org/officeDocument/2006/relationships/image" Target="../media/image10.png"/><Relationship Id="rId16" Type="http://schemas.openxmlformats.org/officeDocument/2006/relationships/image" Target="../media/image31.png"/><Relationship Id="rId19" Type="http://schemas.openxmlformats.org/officeDocument/2006/relationships/image" Target="../media/image15.png"/><Relationship Id="rId18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22" Type="http://schemas.openxmlformats.org/officeDocument/2006/relationships/image" Target="../media/image28.png"/><Relationship Id="rId21" Type="http://schemas.openxmlformats.org/officeDocument/2006/relationships/image" Target="../media/image16.png"/><Relationship Id="rId24" Type="http://schemas.openxmlformats.org/officeDocument/2006/relationships/image" Target="../media/image17.png"/><Relationship Id="rId23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5.png"/><Relationship Id="rId4" Type="http://schemas.openxmlformats.org/officeDocument/2006/relationships/image" Target="../media/image20.png"/><Relationship Id="rId9" Type="http://schemas.openxmlformats.org/officeDocument/2006/relationships/image" Target="../media/image11.png"/><Relationship Id="rId26" Type="http://schemas.openxmlformats.org/officeDocument/2006/relationships/image" Target="../media/image66.png"/><Relationship Id="rId25" Type="http://schemas.openxmlformats.org/officeDocument/2006/relationships/image" Target="../media/image36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25.png"/><Relationship Id="rId11" Type="http://schemas.openxmlformats.org/officeDocument/2006/relationships/image" Target="../media/image3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26.png"/><Relationship Id="rId15" Type="http://schemas.openxmlformats.org/officeDocument/2006/relationships/image" Target="../media/image31.png"/><Relationship Id="rId14" Type="http://schemas.openxmlformats.org/officeDocument/2006/relationships/image" Target="../media/image9.png"/><Relationship Id="rId17" Type="http://schemas.openxmlformats.org/officeDocument/2006/relationships/image" Target="../media/image5.png"/><Relationship Id="rId16" Type="http://schemas.openxmlformats.org/officeDocument/2006/relationships/image" Target="../media/image10.png"/><Relationship Id="rId19" Type="http://schemas.openxmlformats.org/officeDocument/2006/relationships/image" Target="../media/image13.png"/><Relationship Id="rId18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.png"/><Relationship Id="rId22" Type="http://schemas.openxmlformats.org/officeDocument/2006/relationships/image" Target="../media/image16.png"/><Relationship Id="rId21" Type="http://schemas.openxmlformats.org/officeDocument/2006/relationships/image" Target="../media/image29.png"/><Relationship Id="rId24" Type="http://schemas.openxmlformats.org/officeDocument/2006/relationships/image" Target="../media/image37.png"/><Relationship Id="rId23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9.png"/><Relationship Id="rId4" Type="http://schemas.openxmlformats.org/officeDocument/2006/relationships/image" Target="../media/image61.png"/><Relationship Id="rId9" Type="http://schemas.openxmlformats.org/officeDocument/2006/relationships/image" Target="../media/image25.png"/><Relationship Id="rId26" Type="http://schemas.openxmlformats.org/officeDocument/2006/relationships/image" Target="../media/image36.png"/><Relationship Id="rId25" Type="http://schemas.openxmlformats.org/officeDocument/2006/relationships/image" Target="../media/image17.png"/><Relationship Id="rId28" Type="http://schemas.openxmlformats.org/officeDocument/2006/relationships/image" Target="../media/image56.png"/><Relationship Id="rId27" Type="http://schemas.openxmlformats.org/officeDocument/2006/relationships/image" Target="../media/image55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29" Type="http://schemas.openxmlformats.org/officeDocument/2006/relationships/image" Target="../media/image58.png"/><Relationship Id="rId7" Type="http://schemas.openxmlformats.org/officeDocument/2006/relationships/image" Target="../media/image8.png"/><Relationship Id="rId8" Type="http://schemas.openxmlformats.org/officeDocument/2006/relationships/image" Target="../media/image7.png"/><Relationship Id="rId31" Type="http://schemas.openxmlformats.org/officeDocument/2006/relationships/image" Target="../media/image63.png"/><Relationship Id="rId30" Type="http://schemas.openxmlformats.org/officeDocument/2006/relationships/image" Target="../media/image60.png"/><Relationship Id="rId11" Type="http://schemas.openxmlformats.org/officeDocument/2006/relationships/image" Target="../media/image12.png"/><Relationship Id="rId33" Type="http://schemas.openxmlformats.org/officeDocument/2006/relationships/image" Target="../media/image62.png"/><Relationship Id="rId10" Type="http://schemas.openxmlformats.org/officeDocument/2006/relationships/image" Target="../media/image11.png"/><Relationship Id="rId32" Type="http://schemas.openxmlformats.org/officeDocument/2006/relationships/image" Target="../media/image64.png"/><Relationship Id="rId13" Type="http://schemas.openxmlformats.org/officeDocument/2006/relationships/image" Target="../media/image26.png"/><Relationship Id="rId12" Type="http://schemas.openxmlformats.org/officeDocument/2006/relationships/image" Target="../media/image3.png"/><Relationship Id="rId34" Type="http://schemas.openxmlformats.org/officeDocument/2006/relationships/image" Target="../media/image70.png"/><Relationship Id="rId15" Type="http://schemas.openxmlformats.org/officeDocument/2006/relationships/image" Target="../media/image9.png"/><Relationship Id="rId14" Type="http://schemas.openxmlformats.org/officeDocument/2006/relationships/image" Target="../media/image6.png"/><Relationship Id="rId17" Type="http://schemas.openxmlformats.org/officeDocument/2006/relationships/image" Target="../media/image10.png"/><Relationship Id="rId16" Type="http://schemas.openxmlformats.org/officeDocument/2006/relationships/image" Target="../media/image31.png"/><Relationship Id="rId19" Type="http://schemas.openxmlformats.org/officeDocument/2006/relationships/image" Target="../media/image15.png"/><Relationship Id="rId18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.png"/><Relationship Id="rId22" Type="http://schemas.openxmlformats.org/officeDocument/2006/relationships/image" Target="../media/image29.png"/><Relationship Id="rId21" Type="http://schemas.openxmlformats.org/officeDocument/2006/relationships/image" Target="../media/image13.png"/><Relationship Id="rId24" Type="http://schemas.openxmlformats.org/officeDocument/2006/relationships/image" Target="../media/image28.png"/><Relationship Id="rId23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7.png"/><Relationship Id="rId4" Type="http://schemas.openxmlformats.org/officeDocument/2006/relationships/image" Target="../media/image120.png"/><Relationship Id="rId9" Type="http://schemas.openxmlformats.org/officeDocument/2006/relationships/image" Target="../media/image7.png"/><Relationship Id="rId26" Type="http://schemas.openxmlformats.org/officeDocument/2006/relationships/image" Target="../media/image17.png"/><Relationship Id="rId25" Type="http://schemas.openxmlformats.org/officeDocument/2006/relationships/image" Target="../media/image37.png"/><Relationship Id="rId28" Type="http://schemas.openxmlformats.org/officeDocument/2006/relationships/image" Target="../media/image73.png"/><Relationship Id="rId27" Type="http://schemas.openxmlformats.org/officeDocument/2006/relationships/image" Target="../media/image36.png"/><Relationship Id="rId5" Type="http://schemas.openxmlformats.org/officeDocument/2006/relationships/image" Target="../media/image72.png"/><Relationship Id="rId6" Type="http://schemas.openxmlformats.org/officeDocument/2006/relationships/image" Target="../media/image20.png"/><Relationship Id="rId29" Type="http://schemas.openxmlformats.org/officeDocument/2006/relationships/image" Target="../media/image69.png"/><Relationship Id="rId7" Type="http://schemas.openxmlformats.org/officeDocument/2006/relationships/image" Target="../media/image4.png"/><Relationship Id="rId8" Type="http://schemas.openxmlformats.org/officeDocument/2006/relationships/image" Target="../media/image8.png"/><Relationship Id="rId31" Type="http://schemas.openxmlformats.org/officeDocument/2006/relationships/image" Target="../media/image79.png"/><Relationship Id="rId30" Type="http://schemas.openxmlformats.org/officeDocument/2006/relationships/image" Target="../media/image76.png"/><Relationship Id="rId11" Type="http://schemas.openxmlformats.org/officeDocument/2006/relationships/image" Target="../media/image11.png"/><Relationship Id="rId33" Type="http://schemas.openxmlformats.org/officeDocument/2006/relationships/image" Target="../media/image74.png"/><Relationship Id="rId10" Type="http://schemas.openxmlformats.org/officeDocument/2006/relationships/image" Target="../media/image25.png"/><Relationship Id="rId32" Type="http://schemas.openxmlformats.org/officeDocument/2006/relationships/image" Target="../media/image67.png"/><Relationship Id="rId13" Type="http://schemas.openxmlformats.org/officeDocument/2006/relationships/image" Target="../media/image3.png"/><Relationship Id="rId12" Type="http://schemas.openxmlformats.org/officeDocument/2006/relationships/image" Target="../media/image12.png"/><Relationship Id="rId15" Type="http://schemas.openxmlformats.org/officeDocument/2006/relationships/image" Target="../media/image6.png"/><Relationship Id="rId14" Type="http://schemas.openxmlformats.org/officeDocument/2006/relationships/image" Target="../media/image26.png"/><Relationship Id="rId17" Type="http://schemas.openxmlformats.org/officeDocument/2006/relationships/image" Target="../media/image31.png"/><Relationship Id="rId16" Type="http://schemas.openxmlformats.org/officeDocument/2006/relationships/image" Target="../media/image9.png"/><Relationship Id="rId19" Type="http://schemas.openxmlformats.org/officeDocument/2006/relationships/image" Target="../media/image5.png"/><Relationship Id="rId18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.png"/><Relationship Id="rId22" Type="http://schemas.openxmlformats.org/officeDocument/2006/relationships/image" Target="../media/image16.png"/><Relationship Id="rId21" Type="http://schemas.openxmlformats.org/officeDocument/2006/relationships/image" Target="../media/image29.png"/><Relationship Id="rId24" Type="http://schemas.openxmlformats.org/officeDocument/2006/relationships/image" Target="../media/image37.png"/><Relationship Id="rId23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2.png"/><Relationship Id="rId4" Type="http://schemas.openxmlformats.org/officeDocument/2006/relationships/image" Target="../media/image71.png"/><Relationship Id="rId9" Type="http://schemas.openxmlformats.org/officeDocument/2006/relationships/image" Target="../media/image25.png"/><Relationship Id="rId26" Type="http://schemas.openxmlformats.org/officeDocument/2006/relationships/image" Target="../media/image36.png"/><Relationship Id="rId25" Type="http://schemas.openxmlformats.org/officeDocument/2006/relationships/image" Target="../media/image17.png"/><Relationship Id="rId27" Type="http://schemas.openxmlformats.org/officeDocument/2006/relationships/image" Target="../media/image78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7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3" Type="http://schemas.openxmlformats.org/officeDocument/2006/relationships/image" Target="../media/image26.png"/><Relationship Id="rId12" Type="http://schemas.openxmlformats.org/officeDocument/2006/relationships/image" Target="../media/image3.png"/><Relationship Id="rId15" Type="http://schemas.openxmlformats.org/officeDocument/2006/relationships/image" Target="../media/image9.png"/><Relationship Id="rId14" Type="http://schemas.openxmlformats.org/officeDocument/2006/relationships/image" Target="../media/image6.png"/><Relationship Id="rId17" Type="http://schemas.openxmlformats.org/officeDocument/2006/relationships/image" Target="../media/image75.png"/><Relationship Id="rId16" Type="http://schemas.openxmlformats.org/officeDocument/2006/relationships/image" Target="../media/image31.png"/><Relationship Id="rId19" Type="http://schemas.openxmlformats.org/officeDocument/2006/relationships/image" Target="../media/image15.png"/><Relationship Id="rId18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.png"/><Relationship Id="rId22" Type="http://schemas.openxmlformats.org/officeDocument/2006/relationships/image" Target="../media/image29.png"/><Relationship Id="rId21" Type="http://schemas.openxmlformats.org/officeDocument/2006/relationships/image" Target="../media/image13.png"/><Relationship Id="rId24" Type="http://schemas.openxmlformats.org/officeDocument/2006/relationships/image" Target="../media/image28.png"/><Relationship Id="rId23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0.png"/><Relationship Id="rId4" Type="http://schemas.openxmlformats.org/officeDocument/2006/relationships/image" Target="../media/image80.png"/><Relationship Id="rId9" Type="http://schemas.openxmlformats.org/officeDocument/2006/relationships/image" Target="../media/image7.png"/><Relationship Id="rId26" Type="http://schemas.openxmlformats.org/officeDocument/2006/relationships/image" Target="../media/image17.png"/><Relationship Id="rId25" Type="http://schemas.openxmlformats.org/officeDocument/2006/relationships/image" Target="../media/image37.png"/><Relationship Id="rId28" Type="http://schemas.openxmlformats.org/officeDocument/2006/relationships/image" Target="../media/image91.png"/><Relationship Id="rId27" Type="http://schemas.openxmlformats.org/officeDocument/2006/relationships/image" Target="../media/image36.png"/><Relationship Id="rId5" Type="http://schemas.openxmlformats.org/officeDocument/2006/relationships/image" Target="../media/image82.png"/><Relationship Id="rId6" Type="http://schemas.openxmlformats.org/officeDocument/2006/relationships/image" Target="../media/image20.png"/><Relationship Id="rId29" Type="http://schemas.openxmlformats.org/officeDocument/2006/relationships/image" Target="../media/image85.png"/><Relationship Id="rId7" Type="http://schemas.openxmlformats.org/officeDocument/2006/relationships/image" Target="../media/image4.png"/><Relationship Id="rId8" Type="http://schemas.openxmlformats.org/officeDocument/2006/relationships/image" Target="../media/image8.png"/><Relationship Id="rId31" Type="http://schemas.openxmlformats.org/officeDocument/2006/relationships/image" Target="../media/image87.png"/><Relationship Id="rId30" Type="http://schemas.openxmlformats.org/officeDocument/2006/relationships/image" Target="../media/image62.png"/><Relationship Id="rId11" Type="http://schemas.openxmlformats.org/officeDocument/2006/relationships/image" Target="../media/image11.png"/><Relationship Id="rId10" Type="http://schemas.openxmlformats.org/officeDocument/2006/relationships/image" Target="../media/image25.png"/><Relationship Id="rId13" Type="http://schemas.openxmlformats.org/officeDocument/2006/relationships/image" Target="../media/image3.png"/><Relationship Id="rId12" Type="http://schemas.openxmlformats.org/officeDocument/2006/relationships/image" Target="../media/image12.png"/><Relationship Id="rId15" Type="http://schemas.openxmlformats.org/officeDocument/2006/relationships/image" Target="../media/image6.png"/><Relationship Id="rId14" Type="http://schemas.openxmlformats.org/officeDocument/2006/relationships/image" Target="../media/image26.png"/><Relationship Id="rId17" Type="http://schemas.openxmlformats.org/officeDocument/2006/relationships/image" Target="../media/image31.png"/><Relationship Id="rId16" Type="http://schemas.openxmlformats.org/officeDocument/2006/relationships/image" Target="../media/image9.png"/><Relationship Id="rId19" Type="http://schemas.openxmlformats.org/officeDocument/2006/relationships/image" Target="../media/image5.png"/><Relationship Id="rId18" Type="http://schemas.openxmlformats.org/officeDocument/2006/relationships/image" Target="../media/image75.png"/></Relationships>
</file>

<file path=ppt/slides/_rels/slide16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.png"/><Relationship Id="rId22" Type="http://schemas.openxmlformats.org/officeDocument/2006/relationships/image" Target="../media/image29.png"/><Relationship Id="rId21" Type="http://schemas.openxmlformats.org/officeDocument/2006/relationships/image" Target="../media/image13.png"/><Relationship Id="rId24" Type="http://schemas.openxmlformats.org/officeDocument/2006/relationships/image" Target="../media/image28.png"/><Relationship Id="rId23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2.png"/><Relationship Id="rId4" Type="http://schemas.openxmlformats.org/officeDocument/2006/relationships/image" Target="../media/image83.png"/><Relationship Id="rId9" Type="http://schemas.openxmlformats.org/officeDocument/2006/relationships/image" Target="../media/image7.png"/><Relationship Id="rId26" Type="http://schemas.openxmlformats.org/officeDocument/2006/relationships/image" Target="../media/image17.png"/><Relationship Id="rId25" Type="http://schemas.openxmlformats.org/officeDocument/2006/relationships/image" Target="../media/image37.png"/><Relationship Id="rId28" Type="http://schemas.openxmlformats.org/officeDocument/2006/relationships/image" Target="../media/image84.png"/><Relationship Id="rId27" Type="http://schemas.openxmlformats.org/officeDocument/2006/relationships/image" Target="../media/image36.png"/><Relationship Id="rId5" Type="http://schemas.openxmlformats.org/officeDocument/2006/relationships/image" Target="../media/image90.png"/><Relationship Id="rId6" Type="http://schemas.openxmlformats.org/officeDocument/2006/relationships/image" Target="../media/image20.png"/><Relationship Id="rId29" Type="http://schemas.openxmlformats.org/officeDocument/2006/relationships/image" Target="../media/image88.png"/><Relationship Id="rId7" Type="http://schemas.openxmlformats.org/officeDocument/2006/relationships/image" Target="../media/image4.png"/><Relationship Id="rId8" Type="http://schemas.openxmlformats.org/officeDocument/2006/relationships/image" Target="../media/image8.png"/><Relationship Id="rId11" Type="http://schemas.openxmlformats.org/officeDocument/2006/relationships/image" Target="../media/image11.png"/><Relationship Id="rId10" Type="http://schemas.openxmlformats.org/officeDocument/2006/relationships/image" Target="../media/image25.png"/><Relationship Id="rId13" Type="http://schemas.openxmlformats.org/officeDocument/2006/relationships/image" Target="../media/image3.png"/><Relationship Id="rId12" Type="http://schemas.openxmlformats.org/officeDocument/2006/relationships/image" Target="../media/image12.png"/><Relationship Id="rId15" Type="http://schemas.openxmlformats.org/officeDocument/2006/relationships/image" Target="../media/image6.png"/><Relationship Id="rId14" Type="http://schemas.openxmlformats.org/officeDocument/2006/relationships/image" Target="../media/image26.png"/><Relationship Id="rId17" Type="http://schemas.openxmlformats.org/officeDocument/2006/relationships/image" Target="../media/image31.png"/><Relationship Id="rId16" Type="http://schemas.openxmlformats.org/officeDocument/2006/relationships/image" Target="../media/image9.png"/><Relationship Id="rId19" Type="http://schemas.openxmlformats.org/officeDocument/2006/relationships/image" Target="../media/image5.png"/><Relationship Id="rId18" Type="http://schemas.openxmlformats.org/officeDocument/2006/relationships/image" Target="../media/image75.png"/></Relationships>
</file>

<file path=ppt/slides/_rels/slide17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.png"/><Relationship Id="rId22" Type="http://schemas.openxmlformats.org/officeDocument/2006/relationships/image" Target="../media/image29.png"/><Relationship Id="rId21" Type="http://schemas.openxmlformats.org/officeDocument/2006/relationships/image" Target="../media/image13.png"/><Relationship Id="rId24" Type="http://schemas.openxmlformats.org/officeDocument/2006/relationships/image" Target="../media/image28.png"/><Relationship Id="rId23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9.png"/><Relationship Id="rId4" Type="http://schemas.openxmlformats.org/officeDocument/2006/relationships/image" Target="../media/image95.png"/><Relationship Id="rId9" Type="http://schemas.openxmlformats.org/officeDocument/2006/relationships/image" Target="../media/image7.png"/><Relationship Id="rId26" Type="http://schemas.openxmlformats.org/officeDocument/2006/relationships/image" Target="../media/image17.png"/><Relationship Id="rId25" Type="http://schemas.openxmlformats.org/officeDocument/2006/relationships/image" Target="../media/image37.png"/><Relationship Id="rId28" Type="http://schemas.openxmlformats.org/officeDocument/2006/relationships/image" Target="../media/image93.png"/><Relationship Id="rId27" Type="http://schemas.openxmlformats.org/officeDocument/2006/relationships/image" Target="../media/image36.png"/><Relationship Id="rId5" Type="http://schemas.openxmlformats.org/officeDocument/2006/relationships/image" Target="../media/image96.png"/><Relationship Id="rId6" Type="http://schemas.openxmlformats.org/officeDocument/2006/relationships/image" Target="../media/image20.png"/><Relationship Id="rId7" Type="http://schemas.openxmlformats.org/officeDocument/2006/relationships/image" Target="../media/image4.png"/><Relationship Id="rId8" Type="http://schemas.openxmlformats.org/officeDocument/2006/relationships/image" Target="../media/image8.png"/><Relationship Id="rId11" Type="http://schemas.openxmlformats.org/officeDocument/2006/relationships/image" Target="../media/image11.png"/><Relationship Id="rId10" Type="http://schemas.openxmlformats.org/officeDocument/2006/relationships/image" Target="../media/image25.png"/><Relationship Id="rId13" Type="http://schemas.openxmlformats.org/officeDocument/2006/relationships/image" Target="../media/image3.png"/><Relationship Id="rId12" Type="http://schemas.openxmlformats.org/officeDocument/2006/relationships/image" Target="../media/image12.png"/><Relationship Id="rId15" Type="http://schemas.openxmlformats.org/officeDocument/2006/relationships/image" Target="../media/image6.png"/><Relationship Id="rId14" Type="http://schemas.openxmlformats.org/officeDocument/2006/relationships/image" Target="../media/image26.png"/><Relationship Id="rId17" Type="http://schemas.openxmlformats.org/officeDocument/2006/relationships/image" Target="../media/image31.png"/><Relationship Id="rId16" Type="http://schemas.openxmlformats.org/officeDocument/2006/relationships/image" Target="../media/image9.png"/><Relationship Id="rId19" Type="http://schemas.openxmlformats.org/officeDocument/2006/relationships/image" Target="../media/image5.png"/><Relationship Id="rId18" Type="http://schemas.openxmlformats.org/officeDocument/2006/relationships/image" Target="../media/image75.png"/></Relationships>
</file>

<file path=ppt/slides/_rels/slide18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.png"/><Relationship Id="rId22" Type="http://schemas.openxmlformats.org/officeDocument/2006/relationships/image" Target="../media/image29.png"/><Relationship Id="rId21" Type="http://schemas.openxmlformats.org/officeDocument/2006/relationships/image" Target="../media/image13.png"/><Relationship Id="rId24" Type="http://schemas.openxmlformats.org/officeDocument/2006/relationships/image" Target="../media/image28.png"/><Relationship Id="rId23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4.png"/><Relationship Id="rId4" Type="http://schemas.openxmlformats.org/officeDocument/2006/relationships/image" Target="../media/image89.png"/><Relationship Id="rId9" Type="http://schemas.openxmlformats.org/officeDocument/2006/relationships/image" Target="../media/image7.png"/><Relationship Id="rId26" Type="http://schemas.openxmlformats.org/officeDocument/2006/relationships/image" Target="../media/image17.png"/><Relationship Id="rId25" Type="http://schemas.openxmlformats.org/officeDocument/2006/relationships/image" Target="../media/image37.png"/><Relationship Id="rId28" Type="http://schemas.openxmlformats.org/officeDocument/2006/relationships/image" Target="../media/image99.png"/><Relationship Id="rId27" Type="http://schemas.openxmlformats.org/officeDocument/2006/relationships/image" Target="../media/image36.png"/><Relationship Id="rId5" Type="http://schemas.openxmlformats.org/officeDocument/2006/relationships/image" Target="../media/image90.png"/><Relationship Id="rId6" Type="http://schemas.openxmlformats.org/officeDocument/2006/relationships/image" Target="../media/image20.png"/><Relationship Id="rId29" Type="http://schemas.openxmlformats.org/officeDocument/2006/relationships/image" Target="../media/image103.png"/><Relationship Id="rId7" Type="http://schemas.openxmlformats.org/officeDocument/2006/relationships/image" Target="../media/image4.png"/><Relationship Id="rId8" Type="http://schemas.openxmlformats.org/officeDocument/2006/relationships/image" Target="../media/image8.png"/><Relationship Id="rId11" Type="http://schemas.openxmlformats.org/officeDocument/2006/relationships/image" Target="../media/image11.png"/><Relationship Id="rId10" Type="http://schemas.openxmlformats.org/officeDocument/2006/relationships/image" Target="../media/image25.png"/><Relationship Id="rId13" Type="http://schemas.openxmlformats.org/officeDocument/2006/relationships/image" Target="../media/image3.png"/><Relationship Id="rId12" Type="http://schemas.openxmlformats.org/officeDocument/2006/relationships/image" Target="../media/image12.png"/><Relationship Id="rId15" Type="http://schemas.openxmlformats.org/officeDocument/2006/relationships/image" Target="../media/image6.png"/><Relationship Id="rId14" Type="http://schemas.openxmlformats.org/officeDocument/2006/relationships/image" Target="../media/image26.png"/><Relationship Id="rId17" Type="http://schemas.openxmlformats.org/officeDocument/2006/relationships/image" Target="../media/image31.png"/><Relationship Id="rId16" Type="http://schemas.openxmlformats.org/officeDocument/2006/relationships/image" Target="../media/image9.png"/><Relationship Id="rId19" Type="http://schemas.openxmlformats.org/officeDocument/2006/relationships/image" Target="../media/image5.png"/><Relationship Id="rId18" Type="http://schemas.openxmlformats.org/officeDocument/2006/relationships/image" Target="../media/image75.png"/></Relationships>
</file>

<file path=ppt/slides/_rels/slide19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.png"/><Relationship Id="rId22" Type="http://schemas.openxmlformats.org/officeDocument/2006/relationships/image" Target="../media/image104.png"/><Relationship Id="rId21" Type="http://schemas.openxmlformats.org/officeDocument/2006/relationships/image" Target="../media/image29.png"/><Relationship Id="rId24" Type="http://schemas.openxmlformats.org/officeDocument/2006/relationships/image" Target="../media/image37.png"/><Relationship Id="rId23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8.png"/><Relationship Id="rId4" Type="http://schemas.openxmlformats.org/officeDocument/2006/relationships/image" Target="../media/image54.png"/><Relationship Id="rId9" Type="http://schemas.openxmlformats.org/officeDocument/2006/relationships/image" Target="../media/image25.png"/><Relationship Id="rId26" Type="http://schemas.openxmlformats.org/officeDocument/2006/relationships/image" Target="../media/image36.png"/><Relationship Id="rId25" Type="http://schemas.openxmlformats.org/officeDocument/2006/relationships/image" Target="../media/image17.png"/><Relationship Id="rId28" Type="http://schemas.openxmlformats.org/officeDocument/2006/relationships/image" Target="../media/image113.png"/><Relationship Id="rId27" Type="http://schemas.openxmlformats.org/officeDocument/2006/relationships/image" Target="../media/image119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7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3" Type="http://schemas.openxmlformats.org/officeDocument/2006/relationships/image" Target="../media/image26.png"/><Relationship Id="rId12" Type="http://schemas.openxmlformats.org/officeDocument/2006/relationships/image" Target="../media/image3.png"/><Relationship Id="rId15" Type="http://schemas.openxmlformats.org/officeDocument/2006/relationships/image" Target="../media/image9.png"/><Relationship Id="rId14" Type="http://schemas.openxmlformats.org/officeDocument/2006/relationships/image" Target="../media/image6.png"/><Relationship Id="rId17" Type="http://schemas.openxmlformats.org/officeDocument/2006/relationships/image" Target="../media/image75.png"/><Relationship Id="rId16" Type="http://schemas.openxmlformats.org/officeDocument/2006/relationships/image" Target="../media/image31.png"/><Relationship Id="rId19" Type="http://schemas.openxmlformats.org/officeDocument/2006/relationships/image" Target="../media/image15.png"/><Relationship Id="rId18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22" Type="http://schemas.openxmlformats.org/officeDocument/2006/relationships/image" Target="../media/image28.png"/><Relationship Id="rId21" Type="http://schemas.openxmlformats.org/officeDocument/2006/relationships/image" Target="../media/image104.png"/><Relationship Id="rId24" Type="http://schemas.openxmlformats.org/officeDocument/2006/relationships/image" Target="../media/image17.png"/><Relationship Id="rId23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6.png"/><Relationship Id="rId4" Type="http://schemas.openxmlformats.org/officeDocument/2006/relationships/image" Target="../media/image20.png"/><Relationship Id="rId9" Type="http://schemas.openxmlformats.org/officeDocument/2006/relationships/image" Target="../media/image11.png"/><Relationship Id="rId26" Type="http://schemas.openxmlformats.org/officeDocument/2006/relationships/image" Target="../media/image102.png"/><Relationship Id="rId25" Type="http://schemas.openxmlformats.org/officeDocument/2006/relationships/image" Target="../media/image36.png"/><Relationship Id="rId28" Type="http://schemas.openxmlformats.org/officeDocument/2006/relationships/image" Target="../media/image110.png"/><Relationship Id="rId27" Type="http://schemas.openxmlformats.org/officeDocument/2006/relationships/image" Target="../media/image101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29" Type="http://schemas.openxmlformats.org/officeDocument/2006/relationships/image" Target="../media/image111.png"/><Relationship Id="rId7" Type="http://schemas.openxmlformats.org/officeDocument/2006/relationships/image" Target="../media/image7.png"/><Relationship Id="rId8" Type="http://schemas.openxmlformats.org/officeDocument/2006/relationships/image" Target="../media/image25.png"/><Relationship Id="rId11" Type="http://schemas.openxmlformats.org/officeDocument/2006/relationships/image" Target="../media/image3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26.png"/><Relationship Id="rId15" Type="http://schemas.openxmlformats.org/officeDocument/2006/relationships/image" Target="../media/image31.png"/><Relationship Id="rId14" Type="http://schemas.openxmlformats.org/officeDocument/2006/relationships/image" Target="../media/image9.png"/><Relationship Id="rId17" Type="http://schemas.openxmlformats.org/officeDocument/2006/relationships/image" Target="../media/image5.png"/><Relationship Id="rId16" Type="http://schemas.openxmlformats.org/officeDocument/2006/relationships/image" Target="../media/image75.png"/><Relationship Id="rId19" Type="http://schemas.openxmlformats.org/officeDocument/2006/relationships/image" Target="../media/image13.png"/><Relationship Id="rId18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5.png"/><Relationship Id="rId22" Type="http://schemas.openxmlformats.org/officeDocument/2006/relationships/image" Target="../media/image29.png"/><Relationship Id="rId21" Type="http://schemas.openxmlformats.org/officeDocument/2006/relationships/image" Target="../media/image13.png"/><Relationship Id="rId24" Type="http://schemas.openxmlformats.org/officeDocument/2006/relationships/image" Target="../media/image28.png"/><Relationship Id="rId23" Type="http://schemas.openxmlformats.org/officeDocument/2006/relationships/image" Target="../media/image10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8.png"/><Relationship Id="rId4" Type="http://schemas.openxmlformats.org/officeDocument/2006/relationships/image" Target="../media/image121.png"/><Relationship Id="rId9" Type="http://schemas.openxmlformats.org/officeDocument/2006/relationships/image" Target="../media/image7.png"/><Relationship Id="rId26" Type="http://schemas.openxmlformats.org/officeDocument/2006/relationships/image" Target="../media/image17.png"/><Relationship Id="rId25" Type="http://schemas.openxmlformats.org/officeDocument/2006/relationships/image" Target="../media/image37.png"/><Relationship Id="rId28" Type="http://schemas.openxmlformats.org/officeDocument/2006/relationships/image" Target="../media/image107.png"/><Relationship Id="rId27" Type="http://schemas.openxmlformats.org/officeDocument/2006/relationships/image" Target="../media/image36.png"/><Relationship Id="rId5" Type="http://schemas.openxmlformats.org/officeDocument/2006/relationships/image" Target="../media/image106.png"/><Relationship Id="rId6" Type="http://schemas.openxmlformats.org/officeDocument/2006/relationships/image" Target="../media/image20.png"/><Relationship Id="rId7" Type="http://schemas.openxmlformats.org/officeDocument/2006/relationships/image" Target="../media/image4.png"/><Relationship Id="rId8" Type="http://schemas.openxmlformats.org/officeDocument/2006/relationships/image" Target="../media/image8.png"/><Relationship Id="rId11" Type="http://schemas.openxmlformats.org/officeDocument/2006/relationships/image" Target="../media/image11.png"/><Relationship Id="rId10" Type="http://schemas.openxmlformats.org/officeDocument/2006/relationships/image" Target="../media/image25.png"/><Relationship Id="rId13" Type="http://schemas.openxmlformats.org/officeDocument/2006/relationships/image" Target="../media/image3.png"/><Relationship Id="rId12" Type="http://schemas.openxmlformats.org/officeDocument/2006/relationships/image" Target="../media/image12.png"/><Relationship Id="rId15" Type="http://schemas.openxmlformats.org/officeDocument/2006/relationships/image" Target="../media/image6.png"/><Relationship Id="rId14" Type="http://schemas.openxmlformats.org/officeDocument/2006/relationships/image" Target="../media/image26.png"/><Relationship Id="rId17" Type="http://schemas.openxmlformats.org/officeDocument/2006/relationships/image" Target="../media/image31.png"/><Relationship Id="rId16" Type="http://schemas.openxmlformats.org/officeDocument/2006/relationships/image" Target="../media/image9.png"/><Relationship Id="rId19" Type="http://schemas.openxmlformats.org/officeDocument/2006/relationships/image" Target="../media/image5.png"/><Relationship Id="rId18" Type="http://schemas.openxmlformats.org/officeDocument/2006/relationships/image" Target="../media/image75.png"/></Relationships>
</file>

<file path=ppt/slides/_rels/slide22.xml.rels><?xml version="1.0" encoding="UTF-8" standalone="yes"?><Relationships xmlns="http://schemas.openxmlformats.org/package/2006/relationships"><Relationship Id="rId20" Type="http://schemas.openxmlformats.org/officeDocument/2006/relationships/image" Target="../media/image13.png"/><Relationship Id="rId22" Type="http://schemas.openxmlformats.org/officeDocument/2006/relationships/image" Target="../media/image104.png"/><Relationship Id="rId21" Type="http://schemas.openxmlformats.org/officeDocument/2006/relationships/image" Target="../media/image29.png"/><Relationship Id="rId24" Type="http://schemas.openxmlformats.org/officeDocument/2006/relationships/image" Target="../media/image37.png"/><Relationship Id="rId23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3.png"/><Relationship Id="rId4" Type="http://schemas.openxmlformats.org/officeDocument/2006/relationships/image" Target="../media/image115.png"/><Relationship Id="rId9" Type="http://schemas.openxmlformats.org/officeDocument/2006/relationships/image" Target="../media/image25.png"/><Relationship Id="rId26" Type="http://schemas.openxmlformats.org/officeDocument/2006/relationships/image" Target="../media/image36.png"/><Relationship Id="rId25" Type="http://schemas.openxmlformats.org/officeDocument/2006/relationships/image" Target="../media/image17.png"/><Relationship Id="rId27" Type="http://schemas.openxmlformats.org/officeDocument/2006/relationships/image" Target="../media/image118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7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3" Type="http://schemas.openxmlformats.org/officeDocument/2006/relationships/image" Target="../media/image26.png"/><Relationship Id="rId12" Type="http://schemas.openxmlformats.org/officeDocument/2006/relationships/image" Target="../media/image3.png"/><Relationship Id="rId15" Type="http://schemas.openxmlformats.org/officeDocument/2006/relationships/image" Target="../media/image9.png"/><Relationship Id="rId14" Type="http://schemas.openxmlformats.org/officeDocument/2006/relationships/image" Target="../media/image6.png"/><Relationship Id="rId17" Type="http://schemas.openxmlformats.org/officeDocument/2006/relationships/image" Target="../media/image75.png"/><Relationship Id="rId16" Type="http://schemas.openxmlformats.org/officeDocument/2006/relationships/image" Target="../media/image31.png"/><Relationship Id="rId19" Type="http://schemas.openxmlformats.org/officeDocument/2006/relationships/image" Target="../media/image15.png"/><Relationship Id="rId18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9.png"/><Relationship Id="rId22" Type="http://schemas.openxmlformats.org/officeDocument/2006/relationships/image" Target="../media/image28.png"/><Relationship Id="rId21" Type="http://schemas.openxmlformats.org/officeDocument/2006/relationships/image" Target="../media/image104.png"/><Relationship Id="rId24" Type="http://schemas.openxmlformats.org/officeDocument/2006/relationships/image" Target="../media/image17.png"/><Relationship Id="rId23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7.png"/><Relationship Id="rId4" Type="http://schemas.openxmlformats.org/officeDocument/2006/relationships/image" Target="../media/image20.png"/><Relationship Id="rId9" Type="http://schemas.openxmlformats.org/officeDocument/2006/relationships/image" Target="../media/image11.png"/><Relationship Id="rId26" Type="http://schemas.openxmlformats.org/officeDocument/2006/relationships/image" Target="../media/image122.png"/><Relationship Id="rId25" Type="http://schemas.openxmlformats.org/officeDocument/2006/relationships/image" Target="../media/image36.png"/><Relationship Id="rId27" Type="http://schemas.openxmlformats.org/officeDocument/2006/relationships/image" Target="../media/image114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25.png"/><Relationship Id="rId11" Type="http://schemas.openxmlformats.org/officeDocument/2006/relationships/image" Target="../media/image3.png"/><Relationship Id="rId10" Type="http://schemas.openxmlformats.org/officeDocument/2006/relationships/image" Target="../media/image12.png"/><Relationship Id="rId13" Type="http://schemas.openxmlformats.org/officeDocument/2006/relationships/image" Target="../media/image6.png"/><Relationship Id="rId12" Type="http://schemas.openxmlformats.org/officeDocument/2006/relationships/image" Target="../media/image26.png"/><Relationship Id="rId15" Type="http://schemas.openxmlformats.org/officeDocument/2006/relationships/image" Target="../media/image31.png"/><Relationship Id="rId14" Type="http://schemas.openxmlformats.org/officeDocument/2006/relationships/image" Target="../media/image9.png"/><Relationship Id="rId17" Type="http://schemas.openxmlformats.org/officeDocument/2006/relationships/image" Target="../media/image5.png"/><Relationship Id="rId16" Type="http://schemas.openxmlformats.org/officeDocument/2006/relationships/image" Target="../media/image75.png"/><Relationship Id="rId19" Type="http://schemas.openxmlformats.org/officeDocument/2006/relationships/image" Target="../media/image13.png"/><Relationship Id="rId1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6076950"/>
            <a:ext cx="110490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4960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7058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7620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8181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8743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9305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9867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10429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10991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11553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12115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12677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13239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13801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14363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14925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"/>
          <p:cNvSpPr txBox="1"/>
          <p:nvPr/>
        </p:nvSpPr>
        <p:spPr>
          <a:xfrm>
            <a:off x="390525" y="66484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390525" y="72104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390525" y="77724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390525" y="83343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390525" y="88963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390525" y="94583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390525" y="100203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390525" y="105822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390525" y="111442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390525" y="117062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390525" y="122682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390525" y="128301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390525" y="133921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121" name="Google Shape;121;p13"/>
          <p:cNvSpPr txBox="1"/>
          <p:nvPr/>
        </p:nvSpPr>
        <p:spPr>
          <a:xfrm>
            <a:off x="390525" y="13954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390525" y="14516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123" name="Google Shape;123;p13"/>
          <p:cNvSpPr txBox="1"/>
          <p:nvPr/>
        </p:nvSpPr>
        <p:spPr>
          <a:xfrm>
            <a:off x="390525" y="15078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124" name="Google Shape;124;p13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125" name="Google Shape;125;p13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129" name="Google Shape;129;p13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571500" y="8572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COMP 469: ARTIFICIAL INTELLIGENCE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295275" y="1238250"/>
            <a:ext cx="11601450" cy="1270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Solving Problems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3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 By Searching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571500" y="2603896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5C6A79"/>
                </a:solidFill>
                <a:latin typeface="Lora"/>
                <a:ea typeface="Lora"/>
                <a:cs typeface="Lora"/>
                <a:sym typeface="Lora"/>
              </a:rPr>
              <a:t>Chapter 3: Foundations, Algorithms, and Structural Analysis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571500" y="6229350"/>
            <a:ext cx="28098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6A79"/>
                </a:solidFill>
                <a:latin typeface="Montserrat"/>
                <a:ea typeface="Montserrat"/>
                <a:cs typeface="Montserrat"/>
                <a:sym typeface="Montserrat"/>
              </a:rPr>
              <a:t>California State University Channel Islands</a:t>
            </a:r>
            <a:endParaRPr/>
          </a:p>
        </p:txBody>
      </p:sp>
      <p:sp>
        <p:nvSpPr>
          <p:cNvPr id="134" name="Google Shape;134;p13"/>
          <p:cNvSpPr txBox="1"/>
          <p:nvPr/>
        </p:nvSpPr>
        <p:spPr>
          <a:xfrm>
            <a:off x="9439275" y="6229350"/>
            <a:ext cx="21812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C6A79"/>
                </a:solidFill>
                <a:latin typeface="Montserrat"/>
                <a:ea typeface="Montserrat"/>
                <a:cs typeface="Montserrat"/>
                <a:sym typeface="Montserrat"/>
              </a:rPr>
              <a:t>Russell &amp; Norvig AIMA Reference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7399"/>
            <a:ext cx="5334000" cy="2593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27399"/>
            <a:ext cx="5334000" cy="2593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7058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7620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8181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8743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9305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9867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10429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10991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11553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12115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12677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13239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13801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14363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14925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4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4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165" name="Google Shape;165;p14"/>
          <p:cNvSpPr txBox="1"/>
          <p:nvPr/>
        </p:nvSpPr>
        <p:spPr>
          <a:xfrm>
            <a:off x="390525" y="72104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166" name="Google Shape;166;p14"/>
          <p:cNvSpPr txBox="1"/>
          <p:nvPr/>
        </p:nvSpPr>
        <p:spPr>
          <a:xfrm>
            <a:off x="390525" y="77724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167" name="Google Shape;167;p14"/>
          <p:cNvSpPr txBox="1"/>
          <p:nvPr/>
        </p:nvSpPr>
        <p:spPr>
          <a:xfrm>
            <a:off x="390525" y="83343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168" name="Google Shape;168;p14"/>
          <p:cNvSpPr txBox="1"/>
          <p:nvPr/>
        </p:nvSpPr>
        <p:spPr>
          <a:xfrm>
            <a:off x="390525" y="88963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169" name="Google Shape;169;p14"/>
          <p:cNvSpPr txBox="1"/>
          <p:nvPr/>
        </p:nvSpPr>
        <p:spPr>
          <a:xfrm>
            <a:off x="390525" y="94583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390525" y="100203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171" name="Google Shape;171;p14"/>
          <p:cNvSpPr txBox="1"/>
          <p:nvPr/>
        </p:nvSpPr>
        <p:spPr>
          <a:xfrm>
            <a:off x="390525" y="105822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172" name="Google Shape;172;p14"/>
          <p:cNvSpPr txBox="1"/>
          <p:nvPr/>
        </p:nvSpPr>
        <p:spPr>
          <a:xfrm>
            <a:off x="390525" y="111442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173" name="Google Shape;173;p14"/>
          <p:cNvSpPr txBox="1"/>
          <p:nvPr/>
        </p:nvSpPr>
        <p:spPr>
          <a:xfrm>
            <a:off x="390525" y="117062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174" name="Google Shape;174;p14"/>
          <p:cNvSpPr txBox="1"/>
          <p:nvPr/>
        </p:nvSpPr>
        <p:spPr>
          <a:xfrm>
            <a:off x="390525" y="122682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390525" y="128301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390525" y="133921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390525" y="13954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390525" y="14516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179" name="Google Shape;179;p14"/>
          <p:cNvSpPr txBox="1"/>
          <p:nvPr/>
        </p:nvSpPr>
        <p:spPr>
          <a:xfrm>
            <a:off x="390525" y="15078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180" name="Google Shape;180;p14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186" name="Google Shape;186;p14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0834687" y="571500"/>
            <a:ext cx="78581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4"/>
          <p:cNvSpPr txBox="1"/>
          <p:nvPr/>
        </p:nvSpPr>
        <p:spPr>
          <a:xfrm>
            <a:off x="800100" y="2727424"/>
            <a:ext cx="51506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Core Foundations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6515100" y="2727424"/>
            <a:ext cx="51506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Informed Heuristics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1028700" y="3079849"/>
            <a:ext cx="46767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Formulate arbitrary environments into mathematical </a:t>
            </a: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5-tuple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search components.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1028700" y="3689449"/>
            <a:ext cx="46767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Map the precise physical difference between a </a:t>
            </a: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State-Space Graph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and a </a:t>
            </a: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Search Tree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.</a:t>
            </a:r>
            <a:endParaRPr/>
          </a:p>
        </p:txBody>
      </p:sp>
      <p:sp>
        <p:nvSpPr>
          <p:cNvPr id="191" name="Google Shape;191;p14"/>
          <p:cNvSpPr txBox="1"/>
          <p:nvPr/>
        </p:nvSpPr>
        <p:spPr>
          <a:xfrm>
            <a:off x="1028700" y="4299049"/>
            <a:ext cx="46767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Critique and implement uninformed search algorithms: </a:t>
            </a: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BFS, DFS, UCS, IDS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.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6743700" y="3079849"/>
            <a:ext cx="4676775" cy="526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Understand the metrics g(n), h(n), and f(n) in Best-First algorithms.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6743700" y="3701801"/>
            <a:ext cx="46767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Analyze conditions for optimality: </a:t>
            </a: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Admissibility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and </a:t>
            </a: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Consistency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.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6743700" y="4311401"/>
            <a:ext cx="46767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Design, evaluate, and prove heuristic dominance using the </a:t>
            </a: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8-Puzzle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.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800100" y="3098899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96" name="Google Shape;196;p14"/>
          <p:cNvSpPr txBox="1"/>
          <p:nvPr/>
        </p:nvSpPr>
        <p:spPr>
          <a:xfrm>
            <a:off x="800100" y="3708499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97" name="Google Shape;197;p14"/>
          <p:cNvSpPr txBox="1"/>
          <p:nvPr/>
        </p:nvSpPr>
        <p:spPr>
          <a:xfrm>
            <a:off x="800100" y="4318099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6515100" y="3098899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6515100" y="3720851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6515100" y="4330451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201" name="Google Shape;201;p14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LEARNING OUTCOMES</a:t>
            </a:r>
            <a:endParaRPr/>
          </a:p>
        </p:txBody>
      </p:sp>
      <p:sp>
        <p:nvSpPr>
          <p:cNvPr id="202" name="Google Shape;202;p14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7912"/>
            <a:ext cx="533400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347912"/>
            <a:ext cx="5334000" cy="2952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7620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8181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8743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9305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9867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10429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10991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11553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12115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12677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13239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13801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14363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14925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1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1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5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233" name="Google Shape;233;p15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234" name="Google Shape;234;p15"/>
          <p:cNvSpPr txBox="1"/>
          <p:nvPr/>
        </p:nvSpPr>
        <p:spPr>
          <a:xfrm>
            <a:off x="390525" y="77724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235" name="Google Shape;235;p15"/>
          <p:cNvSpPr txBox="1"/>
          <p:nvPr/>
        </p:nvSpPr>
        <p:spPr>
          <a:xfrm>
            <a:off x="390525" y="83343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236" name="Google Shape;236;p15"/>
          <p:cNvSpPr txBox="1"/>
          <p:nvPr/>
        </p:nvSpPr>
        <p:spPr>
          <a:xfrm>
            <a:off x="390525" y="88963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237" name="Google Shape;237;p15"/>
          <p:cNvSpPr txBox="1"/>
          <p:nvPr/>
        </p:nvSpPr>
        <p:spPr>
          <a:xfrm>
            <a:off x="390525" y="94583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390525" y="100203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239" name="Google Shape;239;p15"/>
          <p:cNvSpPr txBox="1"/>
          <p:nvPr/>
        </p:nvSpPr>
        <p:spPr>
          <a:xfrm>
            <a:off x="390525" y="105822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390525" y="111442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241" name="Google Shape;241;p15"/>
          <p:cNvSpPr txBox="1"/>
          <p:nvPr/>
        </p:nvSpPr>
        <p:spPr>
          <a:xfrm>
            <a:off x="390525" y="117062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242" name="Google Shape;242;p15"/>
          <p:cNvSpPr txBox="1"/>
          <p:nvPr/>
        </p:nvSpPr>
        <p:spPr>
          <a:xfrm>
            <a:off x="390525" y="122682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243" name="Google Shape;243;p15"/>
          <p:cNvSpPr txBox="1"/>
          <p:nvPr/>
        </p:nvSpPr>
        <p:spPr>
          <a:xfrm>
            <a:off x="390525" y="128301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244" name="Google Shape;244;p15"/>
          <p:cNvSpPr txBox="1"/>
          <p:nvPr/>
        </p:nvSpPr>
        <p:spPr>
          <a:xfrm>
            <a:off x="390525" y="133921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245" name="Google Shape;245;p15"/>
          <p:cNvSpPr txBox="1"/>
          <p:nvPr/>
        </p:nvSpPr>
        <p:spPr>
          <a:xfrm>
            <a:off x="390525" y="13954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246" name="Google Shape;246;p15"/>
          <p:cNvSpPr txBox="1"/>
          <p:nvPr/>
        </p:nvSpPr>
        <p:spPr>
          <a:xfrm>
            <a:off x="390525" y="14516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247" name="Google Shape;247;p15"/>
          <p:cNvSpPr txBox="1"/>
          <p:nvPr/>
        </p:nvSpPr>
        <p:spPr>
          <a:xfrm>
            <a:off x="390525" y="15078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248" name="Google Shape;248;p15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249" name="Google Shape;249;p15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250" name="Google Shape;250;p15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251" name="Google Shape;251;p15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252" name="Google Shape;252;p15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253" name="Google Shape;253;p15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254" name="Google Shape;254;p1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0834687" y="571500"/>
            <a:ext cx="78581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5"/>
          <p:cNvSpPr txBox="1"/>
          <p:nvPr/>
        </p:nvSpPr>
        <p:spPr>
          <a:xfrm>
            <a:off x="800100" y="2547937"/>
            <a:ext cx="51506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AI Agent Roadmap</a:t>
            </a:r>
            <a:endParaRPr/>
          </a:p>
        </p:txBody>
      </p:sp>
      <p:sp>
        <p:nvSpPr>
          <p:cNvPr id="256" name="Google Shape;256;p15"/>
          <p:cNvSpPr txBox="1"/>
          <p:nvPr/>
        </p:nvSpPr>
        <p:spPr>
          <a:xfrm>
            <a:off x="800100" y="2900362"/>
            <a:ext cx="4905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Previously, we formulated systems based on immediate reflexes and localized environments. Now, we expand our outlook:</a:t>
            </a:r>
            <a:endParaRPr/>
          </a:p>
        </p:txBody>
      </p:sp>
      <p:sp>
        <p:nvSpPr>
          <p:cNvPr id="257" name="Google Shape;257;p15"/>
          <p:cNvSpPr txBox="1"/>
          <p:nvPr/>
        </p:nvSpPr>
        <p:spPr>
          <a:xfrm>
            <a:off x="6477000" y="2538412"/>
            <a:ext cx="520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CFAF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Our Structural Shift</a:t>
            </a:r>
            <a:endParaRPr/>
          </a:p>
        </p:txBody>
      </p:sp>
      <p:sp>
        <p:nvSpPr>
          <p:cNvPr id="258" name="Google Shape;258;p15"/>
          <p:cNvSpPr txBox="1"/>
          <p:nvPr/>
        </p:nvSpPr>
        <p:spPr>
          <a:xfrm>
            <a:off x="6477000" y="2890837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FCFAF2"/>
                </a:solidFill>
                <a:latin typeface="Lora"/>
                <a:ea typeface="Lora"/>
                <a:cs typeface="Lora"/>
                <a:sym typeface="Lora"/>
              </a:rPr>
              <a:t>Instead of reacting instantly to current percepts, we shift the core question:</a:t>
            </a:r>
            <a:endParaRPr/>
          </a:p>
        </p:txBody>
      </p:sp>
      <p:sp>
        <p:nvSpPr>
          <p:cNvPr id="259" name="Google Shape;259;p15"/>
          <p:cNvSpPr txBox="1"/>
          <p:nvPr/>
        </p:nvSpPr>
        <p:spPr>
          <a:xfrm>
            <a:off x="6477000" y="3519487"/>
            <a:ext cx="4953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CFAF2"/>
                </a:solidFill>
                <a:latin typeface="Lora"/>
                <a:ea typeface="Lora"/>
                <a:cs typeface="Lora"/>
                <a:sym typeface="Lora"/>
              </a:rPr>
              <a:t>"How can an agent look ahead to select sequence paths that solve problems optimally?"</a:t>
            </a:r>
            <a:endParaRPr/>
          </a:p>
        </p:txBody>
      </p:sp>
      <p:sp>
        <p:nvSpPr>
          <p:cNvPr id="260" name="Google Shape;260;p15"/>
          <p:cNvSpPr txBox="1"/>
          <p:nvPr/>
        </p:nvSpPr>
        <p:spPr>
          <a:xfrm>
            <a:off x="6477000" y="4167187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This assumes environments that are deterministic, fully observable, static, discrete, and completely known.</a:t>
            </a:r>
            <a:endParaRPr/>
          </a:p>
        </p:txBody>
      </p:sp>
      <p:sp>
        <p:nvSpPr>
          <p:cNvPr id="261" name="Google Shape;261;p15"/>
          <p:cNvSpPr txBox="1"/>
          <p:nvPr/>
        </p:nvSpPr>
        <p:spPr>
          <a:xfrm>
            <a:off x="1028700" y="3786187"/>
            <a:ext cx="4676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Chapter 1: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Defining rational acting.</a:t>
            </a:r>
            <a:endParaRPr/>
          </a:p>
        </p:txBody>
      </p:sp>
      <p:sp>
        <p:nvSpPr>
          <p:cNvPr id="262" name="Google Shape;262;p15"/>
          <p:cNvSpPr txBox="1"/>
          <p:nvPr/>
        </p:nvSpPr>
        <p:spPr>
          <a:xfrm>
            <a:off x="1028700" y="4138612"/>
            <a:ext cx="4676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Chapter 2: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Structuring PEAS and environment states.</a:t>
            </a:r>
            <a:endParaRPr/>
          </a:p>
        </p:txBody>
      </p:sp>
      <p:sp>
        <p:nvSpPr>
          <p:cNvPr id="263" name="Google Shape;263;p15"/>
          <p:cNvSpPr txBox="1"/>
          <p:nvPr/>
        </p:nvSpPr>
        <p:spPr>
          <a:xfrm>
            <a:off x="1028700" y="4491037"/>
            <a:ext cx="46767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Chapter 3: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Planning sequences of future actions via mental simulations.</a:t>
            </a:r>
            <a:endParaRPr/>
          </a:p>
        </p:txBody>
      </p:sp>
      <p:sp>
        <p:nvSpPr>
          <p:cNvPr id="264" name="Google Shape;264;p15"/>
          <p:cNvSpPr txBox="1"/>
          <p:nvPr/>
        </p:nvSpPr>
        <p:spPr>
          <a:xfrm>
            <a:off x="800100" y="3805237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265" name="Google Shape;265;p15"/>
          <p:cNvSpPr txBox="1"/>
          <p:nvPr/>
        </p:nvSpPr>
        <p:spPr>
          <a:xfrm>
            <a:off x="800100" y="4157662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266" name="Google Shape;266;p15"/>
          <p:cNvSpPr txBox="1"/>
          <p:nvPr/>
        </p:nvSpPr>
        <p:spPr>
          <a:xfrm>
            <a:off x="800100" y="4510087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267" name="Google Shape;267;p15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WHERE CHAPTER 3 FITS</a:t>
            </a:r>
            <a:endParaRPr/>
          </a:p>
        </p:txBody>
      </p:sp>
      <p:sp>
        <p:nvSpPr>
          <p:cNvPr id="268" name="Google Shape;268;p15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367087"/>
            <a:ext cx="3555950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3367087"/>
            <a:ext cx="3555950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3367087"/>
            <a:ext cx="3556099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8181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8743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9305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9867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10429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10991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11553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12115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12677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13239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13801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1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14363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1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4925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1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1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1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1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16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16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6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300" name="Google Shape;300;p16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301" name="Google Shape;301;p16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302" name="Google Shape;302;p16"/>
          <p:cNvSpPr txBox="1"/>
          <p:nvPr/>
        </p:nvSpPr>
        <p:spPr>
          <a:xfrm>
            <a:off x="390525" y="83343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303" name="Google Shape;303;p16"/>
          <p:cNvSpPr txBox="1"/>
          <p:nvPr/>
        </p:nvSpPr>
        <p:spPr>
          <a:xfrm>
            <a:off x="390525" y="88963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304" name="Google Shape;304;p16"/>
          <p:cNvSpPr txBox="1"/>
          <p:nvPr/>
        </p:nvSpPr>
        <p:spPr>
          <a:xfrm>
            <a:off x="390525" y="94583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305" name="Google Shape;305;p16"/>
          <p:cNvSpPr txBox="1"/>
          <p:nvPr/>
        </p:nvSpPr>
        <p:spPr>
          <a:xfrm>
            <a:off x="390525" y="100203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306" name="Google Shape;306;p16"/>
          <p:cNvSpPr txBox="1"/>
          <p:nvPr/>
        </p:nvSpPr>
        <p:spPr>
          <a:xfrm>
            <a:off x="390525" y="105822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307" name="Google Shape;307;p16"/>
          <p:cNvSpPr txBox="1"/>
          <p:nvPr/>
        </p:nvSpPr>
        <p:spPr>
          <a:xfrm>
            <a:off x="390525" y="111442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308" name="Google Shape;308;p16"/>
          <p:cNvSpPr txBox="1"/>
          <p:nvPr/>
        </p:nvSpPr>
        <p:spPr>
          <a:xfrm>
            <a:off x="390525" y="117062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309" name="Google Shape;309;p16"/>
          <p:cNvSpPr txBox="1"/>
          <p:nvPr/>
        </p:nvSpPr>
        <p:spPr>
          <a:xfrm>
            <a:off x="390525" y="122682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310" name="Google Shape;310;p16"/>
          <p:cNvSpPr txBox="1"/>
          <p:nvPr/>
        </p:nvSpPr>
        <p:spPr>
          <a:xfrm>
            <a:off x="390525" y="128301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311" name="Google Shape;311;p16"/>
          <p:cNvSpPr txBox="1"/>
          <p:nvPr/>
        </p:nvSpPr>
        <p:spPr>
          <a:xfrm>
            <a:off x="390525" y="133921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312" name="Google Shape;312;p16"/>
          <p:cNvSpPr txBox="1"/>
          <p:nvPr/>
        </p:nvSpPr>
        <p:spPr>
          <a:xfrm>
            <a:off x="390525" y="13954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313" name="Google Shape;313;p16"/>
          <p:cNvSpPr txBox="1"/>
          <p:nvPr/>
        </p:nvSpPr>
        <p:spPr>
          <a:xfrm>
            <a:off x="390525" y="14516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314" name="Google Shape;314;p16"/>
          <p:cNvSpPr txBox="1"/>
          <p:nvPr/>
        </p:nvSpPr>
        <p:spPr>
          <a:xfrm>
            <a:off x="390525" y="15078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315" name="Google Shape;315;p16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316" name="Google Shape;316;p16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317" name="Google Shape;317;p16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318" name="Google Shape;318;p16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319" name="Google Shape;319;p16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320" name="Google Shape;320;p16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321" name="Google Shape;321;p16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0815637" y="571500"/>
            <a:ext cx="80486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6"/>
          <p:cNvSpPr txBox="1"/>
          <p:nvPr/>
        </p:nvSpPr>
        <p:spPr>
          <a:xfrm>
            <a:off x="571500" y="284321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The Big Analogy:</a:t>
            </a:r>
            <a:r>
              <a:rPr b="0" i="0" lang="en-US" sz="150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Before physically executing an action, the agent conducts look-ahead imagination.</a:t>
            </a:r>
            <a:endParaRPr/>
          </a:p>
        </p:txBody>
      </p:sp>
      <p:sp>
        <p:nvSpPr>
          <p:cNvPr id="323" name="Google Shape;323;p16"/>
          <p:cNvSpPr txBox="1"/>
          <p:nvPr/>
        </p:nvSpPr>
        <p:spPr>
          <a:xfrm>
            <a:off x="800100" y="3567112"/>
            <a:ext cx="32836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Imagined States</a:t>
            </a:r>
            <a:endParaRPr/>
          </a:p>
        </p:txBody>
      </p:sp>
      <p:sp>
        <p:nvSpPr>
          <p:cNvPr id="324" name="Google Shape;324;p16"/>
          <p:cNvSpPr txBox="1"/>
          <p:nvPr/>
        </p:nvSpPr>
        <p:spPr>
          <a:xfrm>
            <a:off x="800100" y="3919537"/>
            <a:ext cx="31273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Each simulated step becomes a node in a search tree in RAM, avoiding real-world risks or energy costs.</a:t>
            </a:r>
            <a:endParaRPr/>
          </a:p>
        </p:txBody>
      </p:sp>
      <p:sp>
        <p:nvSpPr>
          <p:cNvPr id="325" name="Google Shape;325;p16"/>
          <p:cNvSpPr txBox="1"/>
          <p:nvPr/>
        </p:nvSpPr>
        <p:spPr>
          <a:xfrm>
            <a:off x="4546550" y="3567112"/>
            <a:ext cx="32836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Frontier</a:t>
            </a:r>
            <a:endParaRPr/>
          </a:p>
        </p:txBody>
      </p:sp>
      <p:sp>
        <p:nvSpPr>
          <p:cNvPr id="326" name="Google Shape;326;p16"/>
          <p:cNvSpPr txBox="1"/>
          <p:nvPr/>
        </p:nvSpPr>
        <p:spPr>
          <a:xfrm>
            <a:off x="4546550" y="3919537"/>
            <a:ext cx="31273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The "active memory horizon"—the list of all paths currently queued up for expansion.</a:t>
            </a:r>
            <a:endParaRPr/>
          </a:p>
        </p:txBody>
      </p:sp>
      <p:sp>
        <p:nvSpPr>
          <p:cNvPr id="327" name="Google Shape;327;p16"/>
          <p:cNvSpPr txBox="1"/>
          <p:nvPr/>
        </p:nvSpPr>
        <p:spPr>
          <a:xfrm>
            <a:off x="8293000" y="3567112"/>
            <a:ext cx="328384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Solution</a:t>
            </a:r>
            <a:endParaRPr/>
          </a:p>
        </p:txBody>
      </p:sp>
      <p:sp>
        <p:nvSpPr>
          <p:cNvPr id="328" name="Google Shape;328;p16"/>
          <p:cNvSpPr txBox="1"/>
          <p:nvPr/>
        </p:nvSpPr>
        <p:spPr>
          <a:xfrm>
            <a:off x="8293000" y="3919537"/>
            <a:ext cx="312747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A path from start to goal. Optimality guarantees we find the absolute cheapest path under our constraints.</a:t>
            </a:r>
            <a:endParaRPr/>
          </a:p>
        </p:txBody>
      </p:sp>
      <p:sp>
        <p:nvSpPr>
          <p:cNvPr id="329" name="Google Shape;329;p16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SEARCH IS MENTAL SIMULATION</a:t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5" name="Google Shape;3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19200"/>
            <a:ext cx="11049000" cy="521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1" name="Google Shape;34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8743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9305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9867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10429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10991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11553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12115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1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12677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1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13239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1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13801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1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14363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1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14925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1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4" name="Google Shape;354;p1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1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1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1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17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7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360" name="Google Shape;360;p17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361" name="Google Shape;361;p17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362" name="Google Shape;362;p17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363" name="Google Shape;363;p17"/>
          <p:cNvSpPr txBox="1"/>
          <p:nvPr/>
        </p:nvSpPr>
        <p:spPr>
          <a:xfrm>
            <a:off x="390525" y="88963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364" name="Google Shape;364;p17"/>
          <p:cNvSpPr txBox="1"/>
          <p:nvPr/>
        </p:nvSpPr>
        <p:spPr>
          <a:xfrm>
            <a:off x="390525" y="94583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365" name="Google Shape;365;p17"/>
          <p:cNvSpPr txBox="1"/>
          <p:nvPr/>
        </p:nvSpPr>
        <p:spPr>
          <a:xfrm>
            <a:off x="390525" y="100203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366" name="Google Shape;366;p17"/>
          <p:cNvSpPr txBox="1"/>
          <p:nvPr/>
        </p:nvSpPr>
        <p:spPr>
          <a:xfrm>
            <a:off x="390525" y="105822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367" name="Google Shape;367;p17"/>
          <p:cNvSpPr txBox="1"/>
          <p:nvPr/>
        </p:nvSpPr>
        <p:spPr>
          <a:xfrm>
            <a:off x="390525" y="111442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368" name="Google Shape;368;p17"/>
          <p:cNvSpPr txBox="1"/>
          <p:nvPr/>
        </p:nvSpPr>
        <p:spPr>
          <a:xfrm>
            <a:off x="390525" y="117062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369" name="Google Shape;369;p17"/>
          <p:cNvSpPr txBox="1"/>
          <p:nvPr/>
        </p:nvSpPr>
        <p:spPr>
          <a:xfrm>
            <a:off x="390525" y="122682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370" name="Google Shape;370;p17"/>
          <p:cNvSpPr txBox="1"/>
          <p:nvPr/>
        </p:nvSpPr>
        <p:spPr>
          <a:xfrm>
            <a:off x="390525" y="128301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371" name="Google Shape;371;p17"/>
          <p:cNvSpPr txBox="1"/>
          <p:nvPr/>
        </p:nvSpPr>
        <p:spPr>
          <a:xfrm>
            <a:off x="390525" y="133921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372" name="Google Shape;372;p17"/>
          <p:cNvSpPr txBox="1"/>
          <p:nvPr/>
        </p:nvSpPr>
        <p:spPr>
          <a:xfrm>
            <a:off x="390525" y="13954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373" name="Google Shape;373;p17"/>
          <p:cNvSpPr txBox="1"/>
          <p:nvPr/>
        </p:nvSpPr>
        <p:spPr>
          <a:xfrm>
            <a:off x="390525" y="14516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374" name="Google Shape;374;p17"/>
          <p:cNvSpPr txBox="1"/>
          <p:nvPr/>
        </p:nvSpPr>
        <p:spPr>
          <a:xfrm>
            <a:off x="390525" y="15078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375" name="Google Shape;375;p17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376" name="Google Shape;376;p17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377" name="Google Shape;377;p17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378" name="Google Shape;378;p17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379" name="Google Shape;379;p17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380" name="Google Shape;380;p17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381" name="Google Shape;381;p17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0834687" y="571500"/>
            <a:ext cx="785812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17"/>
          <p:cNvSpPr txBox="1"/>
          <p:nvPr/>
        </p:nvSpPr>
        <p:spPr>
          <a:xfrm>
            <a:off x="571500" y="2940843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Before executing any action sequence, the agent cycles through distinct architectural stages:</a:t>
            </a:r>
            <a:endParaRPr/>
          </a:p>
        </p:txBody>
      </p:sp>
      <p:sp>
        <p:nvSpPr>
          <p:cNvPr id="383" name="Google Shape;383;p17"/>
          <p:cNvSpPr txBox="1"/>
          <p:nvPr/>
        </p:nvSpPr>
        <p:spPr>
          <a:xfrm>
            <a:off x="571500" y="4493418"/>
            <a:ext cx="110490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5C6A79"/>
                </a:solidFill>
                <a:latin typeface="Lora"/>
                <a:ea typeface="Lora"/>
                <a:cs typeface="Lora"/>
                <a:sym typeface="Lora"/>
              </a:rPr>
              <a:t>Note: "Abstraction" (the art of removing unnecessary details) happens during Problem Formulation.</a:t>
            </a:r>
            <a:endParaRPr/>
          </a:p>
        </p:txBody>
      </p:sp>
      <p:sp>
        <p:nvSpPr>
          <p:cNvPr id="384" name="Google Shape;384;p1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PROBLEM-SOLVING AGENT CYCLE</a:t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0" name="Google Shape;39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1" name="Google Shape;39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31628"/>
            <a:ext cx="3555950" cy="19853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2" name="Google Shape;39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3031628"/>
            <a:ext cx="3555950" cy="19853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3031628"/>
            <a:ext cx="3556099" cy="19853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5" name="Google Shape;39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6" name="Google Shape;39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8" name="Google Shape;398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9305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9867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1" name="Google Shape;401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10429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2" name="Google Shape;402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10991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11553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1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12115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5" name="Google Shape;405;p1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12677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6" name="Google Shape;406;p1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13239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7" name="Google Shape;407;p1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13801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8" name="Google Shape;408;p1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14363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9" name="Google Shape;409;p1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4925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1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1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1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1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1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5" name="Google Shape;415;p18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8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417" name="Google Shape;417;p18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418" name="Google Shape;418;p18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419" name="Google Shape;419;p18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420" name="Google Shape;420;p18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421" name="Google Shape;421;p18"/>
          <p:cNvSpPr txBox="1"/>
          <p:nvPr/>
        </p:nvSpPr>
        <p:spPr>
          <a:xfrm>
            <a:off x="390525" y="94583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422" name="Google Shape;422;p18"/>
          <p:cNvSpPr txBox="1"/>
          <p:nvPr/>
        </p:nvSpPr>
        <p:spPr>
          <a:xfrm>
            <a:off x="390525" y="100203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423" name="Google Shape;423;p18"/>
          <p:cNvSpPr txBox="1"/>
          <p:nvPr/>
        </p:nvSpPr>
        <p:spPr>
          <a:xfrm>
            <a:off x="390525" y="105822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424" name="Google Shape;424;p18"/>
          <p:cNvSpPr txBox="1"/>
          <p:nvPr/>
        </p:nvSpPr>
        <p:spPr>
          <a:xfrm>
            <a:off x="390525" y="111442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425" name="Google Shape;425;p18"/>
          <p:cNvSpPr txBox="1"/>
          <p:nvPr/>
        </p:nvSpPr>
        <p:spPr>
          <a:xfrm>
            <a:off x="390525" y="117062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426" name="Google Shape;426;p18"/>
          <p:cNvSpPr txBox="1"/>
          <p:nvPr/>
        </p:nvSpPr>
        <p:spPr>
          <a:xfrm>
            <a:off x="390525" y="122682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427" name="Google Shape;427;p18"/>
          <p:cNvSpPr txBox="1"/>
          <p:nvPr/>
        </p:nvSpPr>
        <p:spPr>
          <a:xfrm>
            <a:off x="390525" y="128301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428" name="Google Shape;428;p18"/>
          <p:cNvSpPr txBox="1"/>
          <p:nvPr/>
        </p:nvSpPr>
        <p:spPr>
          <a:xfrm>
            <a:off x="390525" y="133921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429" name="Google Shape;429;p18"/>
          <p:cNvSpPr txBox="1"/>
          <p:nvPr/>
        </p:nvSpPr>
        <p:spPr>
          <a:xfrm>
            <a:off x="390525" y="13954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430" name="Google Shape;430;p18"/>
          <p:cNvSpPr txBox="1"/>
          <p:nvPr/>
        </p:nvSpPr>
        <p:spPr>
          <a:xfrm>
            <a:off x="390525" y="14516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431" name="Google Shape;431;p18"/>
          <p:cNvSpPr txBox="1"/>
          <p:nvPr/>
        </p:nvSpPr>
        <p:spPr>
          <a:xfrm>
            <a:off x="390525" y="15078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432" name="Google Shape;432;p18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433" name="Google Shape;433;p18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434" name="Google Shape;434;p18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435" name="Google Shape;435;p18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436" name="Google Shape;436;p18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437" name="Google Shape;437;p18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438" name="Google Shape;438;p18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10825162" y="571500"/>
            <a:ext cx="795337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8"/>
          <p:cNvSpPr txBox="1"/>
          <p:nvPr/>
        </p:nvSpPr>
        <p:spPr>
          <a:xfrm>
            <a:off x="571500" y="2631578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Any search problem is mathematically defined using a formal </a:t>
            </a: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5-tuple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structure:</a:t>
            </a:r>
            <a:endParaRPr/>
          </a:p>
        </p:txBody>
      </p:sp>
      <p:sp>
        <p:nvSpPr>
          <p:cNvPr id="440" name="Google Shape;440;p18"/>
          <p:cNvSpPr txBox="1"/>
          <p:nvPr/>
        </p:nvSpPr>
        <p:spPr>
          <a:xfrm>
            <a:off x="800100" y="3231653"/>
            <a:ext cx="32836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Initial State</a:t>
            </a:r>
            <a:endParaRPr/>
          </a:p>
        </p:txBody>
      </p:sp>
      <p:sp>
        <p:nvSpPr>
          <p:cNvPr id="441" name="Google Shape;441;p18"/>
          <p:cNvSpPr txBox="1"/>
          <p:nvPr/>
        </p:nvSpPr>
        <p:spPr>
          <a:xfrm>
            <a:off x="800100" y="3584078"/>
            <a:ext cx="31273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The environment configuration where the agent begins its look-ahead trajectory.</a:t>
            </a:r>
            <a:endParaRPr/>
          </a:p>
        </p:txBody>
      </p:sp>
      <p:sp>
        <p:nvSpPr>
          <p:cNvPr id="442" name="Google Shape;442;p18"/>
          <p:cNvSpPr txBox="1"/>
          <p:nvPr/>
        </p:nvSpPr>
        <p:spPr>
          <a:xfrm>
            <a:off x="800100" y="4071639"/>
            <a:ext cx="32836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Actions(s)</a:t>
            </a:r>
            <a:endParaRPr/>
          </a:p>
        </p:txBody>
      </p:sp>
      <p:sp>
        <p:nvSpPr>
          <p:cNvPr id="443" name="Google Shape;443;p18"/>
          <p:cNvSpPr txBox="1"/>
          <p:nvPr/>
        </p:nvSpPr>
        <p:spPr>
          <a:xfrm>
            <a:off x="800100" y="4424064"/>
            <a:ext cx="3127325" cy="383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A set of legal actions or operators available to the agent in state s.</a:t>
            </a:r>
            <a:endParaRPr/>
          </a:p>
        </p:txBody>
      </p:sp>
      <p:sp>
        <p:nvSpPr>
          <p:cNvPr id="444" name="Google Shape;444;p18"/>
          <p:cNvSpPr txBox="1"/>
          <p:nvPr/>
        </p:nvSpPr>
        <p:spPr>
          <a:xfrm>
            <a:off x="4546550" y="3231653"/>
            <a:ext cx="32836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Transition Model</a:t>
            </a:r>
            <a:endParaRPr/>
          </a:p>
        </p:txBody>
      </p:sp>
      <p:sp>
        <p:nvSpPr>
          <p:cNvPr id="445" name="Google Shape;445;p18"/>
          <p:cNvSpPr txBox="1"/>
          <p:nvPr/>
        </p:nvSpPr>
        <p:spPr>
          <a:xfrm>
            <a:off x="4546550" y="3584078"/>
            <a:ext cx="3127325" cy="392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A function Result(s, a) returning the exact state resulting from action a in state s.</a:t>
            </a:r>
            <a:endParaRPr/>
          </a:p>
        </p:txBody>
      </p:sp>
      <p:sp>
        <p:nvSpPr>
          <p:cNvPr id="446" name="Google Shape;446;p18"/>
          <p:cNvSpPr txBox="1"/>
          <p:nvPr/>
        </p:nvSpPr>
        <p:spPr>
          <a:xfrm>
            <a:off x="4546550" y="4091285"/>
            <a:ext cx="328369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4. Goal Test</a:t>
            </a:r>
            <a:endParaRPr/>
          </a:p>
        </p:txBody>
      </p:sp>
      <p:sp>
        <p:nvSpPr>
          <p:cNvPr id="447" name="Google Shape;447;p18"/>
          <p:cNvSpPr txBox="1"/>
          <p:nvPr/>
        </p:nvSpPr>
        <p:spPr>
          <a:xfrm>
            <a:off x="4546550" y="4443710"/>
            <a:ext cx="3127325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A boolean condition check determining if a given state matches targets.</a:t>
            </a:r>
            <a:endParaRPr/>
          </a:p>
        </p:txBody>
      </p:sp>
      <p:sp>
        <p:nvSpPr>
          <p:cNvPr id="448" name="Google Shape;448;p18"/>
          <p:cNvSpPr txBox="1"/>
          <p:nvPr/>
        </p:nvSpPr>
        <p:spPr>
          <a:xfrm>
            <a:off x="8293000" y="3231653"/>
            <a:ext cx="328384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5. Action/Path Cost</a:t>
            </a:r>
            <a:endParaRPr/>
          </a:p>
        </p:txBody>
      </p:sp>
      <p:sp>
        <p:nvSpPr>
          <p:cNvPr id="449" name="Google Shape;449;p18"/>
          <p:cNvSpPr txBox="1"/>
          <p:nvPr/>
        </p:nvSpPr>
        <p:spPr>
          <a:xfrm>
            <a:off x="8293000" y="3584078"/>
            <a:ext cx="3127474" cy="579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Assigns a numeric step cost c(s, a, s'). The overall path cost g(n) is the cumulative sum of step costs.</a:t>
            </a:r>
            <a:endParaRPr/>
          </a:p>
        </p:txBody>
      </p:sp>
      <p:sp>
        <p:nvSpPr>
          <p:cNvPr id="450" name="Google Shape;450;p18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FORMAL SEARCH PROBLEM COMPONENTS</a:t>
            </a:r>
            <a:endParaRPr/>
          </a:p>
        </p:txBody>
      </p:sp>
      <p:sp>
        <p:nvSpPr>
          <p:cNvPr id="451" name="Google Shape;451;p18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6" name="Google Shape;4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7" name="Google Shape;4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452687"/>
            <a:ext cx="53340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8" name="Google Shape;45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9" name="Google Shape;45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0" name="Google Shape;46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1" name="Google Shape;46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2" name="Google Shape;462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3" name="Google Shape;463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4" name="Google Shape;464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9867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5" name="Google Shape;465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10429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6" name="Google Shape;466;p1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10991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7" name="Google Shape;467;p1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11553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8" name="Google Shape;468;p1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12115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9" name="Google Shape;469;p1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12677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0" name="Google Shape;470;p1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13239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1" name="Google Shape;471;p1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13801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p1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14363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3" name="Google Shape;473;p1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14925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4" name="Google Shape;474;p1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5" name="Google Shape;475;p1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6" name="Google Shape;476;p1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7" name="Google Shape;477;p1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8" name="Google Shape;478;p1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1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9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481" name="Google Shape;481;p19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482" name="Google Shape;482;p19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483" name="Google Shape;483;p19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484" name="Google Shape;484;p19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485" name="Google Shape;485;p19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486" name="Google Shape;486;p19"/>
          <p:cNvSpPr txBox="1"/>
          <p:nvPr/>
        </p:nvSpPr>
        <p:spPr>
          <a:xfrm>
            <a:off x="390525" y="100203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487" name="Google Shape;487;p19"/>
          <p:cNvSpPr txBox="1"/>
          <p:nvPr/>
        </p:nvSpPr>
        <p:spPr>
          <a:xfrm>
            <a:off x="390525" y="105822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488" name="Google Shape;488;p19"/>
          <p:cNvSpPr txBox="1"/>
          <p:nvPr/>
        </p:nvSpPr>
        <p:spPr>
          <a:xfrm>
            <a:off x="390525" y="111442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489" name="Google Shape;489;p19"/>
          <p:cNvSpPr txBox="1"/>
          <p:nvPr/>
        </p:nvSpPr>
        <p:spPr>
          <a:xfrm>
            <a:off x="390525" y="117062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490" name="Google Shape;490;p19"/>
          <p:cNvSpPr txBox="1"/>
          <p:nvPr/>
        </p:nvSpPr>
        <p:spPr>
          <a:xfrm>
            <a:off x="390525" y="122682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491" name="Google Shape;491;p19"/>
          <p:cNvSpPr txBox="1"/>
          <p:nvPr/>
        </p:nvSpPr>
        <p:spPr>
          <a:xfrm>
            <a:off x="390525" y="128301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492" name="Google Shape;492;p19"/>
          <p:cNvSpPr txBox="1"/>
          <p:nvPr/>
        </p:nvSpPr>
        <p:spPr>
          <a:xfrm>
            <a:off x="390525" y="133921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493" name="Google Shape;493;p19"/>
          <p:cNvSpPr txBox="1"/>
          <p:nvPr/>
        </p:nvSpPr>
        <p:spPr>
          <a:xfrm>
            <a:off x="390525" y="13954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494" name="Google Shape;494;p19"/>
          <p:cNvSpPr txBox="1"/>
          <p:nvPr/>
        </p:nvSpPr>
        <p:spPr>
          <a:xfrm>
            <a:off x="390525" y="14516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495" name="Google Shape;495;p19"/>
          <p:cNvSpPr txBox="1"/>
          <p:nvPr/>
        </p:nvSpPr>
        <p:spPr>
          <a:xfrm>
            <a:off x="390525" y="15078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496" name="Google Shape;496;p19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497" name="Google Shape;497;p19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498" name="Google Shape;498;p19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499" name="Google Shape;499;p19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500" name="Google Shape;500;p19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501" name="Google Shape;501;p19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502" name="Google Shape;502;p19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0825162" y="571500"/>
            <a:ext cx="795337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9"/>
          <p:cNvSpPr txBox="1"/>
          <p:nvPr/>
        </p:nvSpPr>
        <p:spPr>
          <a:xfrm>
            <a:off x="571500" y="2452687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Leaving Things Out</a:t>
            </a:r>
            <a:endParaRPr/>
          </a:p>
        </p:txBody>
      </p:sp>
      <p:sp>
        <p:nvSpPr>
          <p:cNvPr id="504" name="Google Shape;504;p19"/>
          <p:cNvSpPr txBox="1"/>
          <p:nvPr/>
        </p:nvSpPr>
        <p:spPr>
          <a:xfrm>
            <a:off x="571500" y="2805112"/>
            <a:ext cx="5334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Real environments are infinitely complex. An abstraction is valid if we can expand any abstract solution path back into a sequence of physical real-world actions.</a:t>
            </a:r>
            <a:endParaRPr/>
          </a:p>
        </p:txBody>
      </p:sp>
      <p:sp>
        <p:nvSpPr>
          <p:cNvPr id="505" name="Google Shape;505;p19"/>
          <p:cNvSpPr txBox="1"/>
          <p:nvPr/>
        </p:nvSpPr>
        <p:spPr>
          <a:xfrm>
            <a:off x="6515100" y="2652712"/>
            <a:ext cx="51506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Standardized vs. Real-World</a:t>
            </a:r>
            <a:endParaRPr/>
          </a:p>
        </p:txBody>
      </p:sp>
      <p:sp>
        <p:nvSpPr>
          <p:cNvPr id="506" name="Google Shape;506;p19"/>
          <p:cNvSpPr/>
          <p:nvPr/>
        </p:nvSpPr>
        <p:spPr>
          <a:xfrm>
            <a:off x="6515100" y="3005137"/>
            <a:ext cx="4905375" cy="1362075"/>
          </a:xfrm>
          <a:prstGeom prst="roundRect">
            <a:avLst>
              <a:gd fmla="val 0" name="adj"/>
            </a:avLst>
          </a:prstGeom>
          <a:solidFill>
            <a:srgbClr val="FAF8F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7" name="Google Shape;507;p19"/>
          <p:cNvGraphicFramePr/>
          <p:nvPr/>
        </p:nvGraphicFramePr>
        <p:xfrm>
          <a:off x="6515100" y="30051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{8399A1FB-DAE9-43C8-8D02-2ED83B9D63F8}</a:tableStyleId>
              </a:tblPr>
              <a:tblGrid>
                <a:gridCol w="2458800"/>
                <a:gridCol w="2446575"/>
              </a:tblGrid>
              <a:tr h="34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FCFAF2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Standardized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FCFAF2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Real-World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</a:tr>
              <a:tr h="34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Concise, clean descriptions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Messy, multi-modal costs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8-puzzle, Grid Worlds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VLSI Layout, Assembly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</a:tr>
              <a:tr h="34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Used for comparing algs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Requires custom heuristics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8" name="Google Shape;508;p19"/>
          <p:cNvSpPr txBox="1"/>
          <p:nvPr/>
        </p:nvSpPr>
        <p:spPr>
          <a:xfrm>
            <a:off x="800100" y="3719512"/>
            <a:ext cx="5105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Good Abstraction: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Keeps only what is necessary to compute costs and predict valid transitions.</a:t>
            </a:r>
            <a:endParaRPr/>
          </a:p>
        </p:txBody>
      </p:sp>
      <p:sp>
        <p:nvSpPr>
          <p:cNvPr id="509" name="Google Shape;509;p19"/>
          <p:cNvSpPr txBox="1"/>
          <p:nvPr/>
        </p:nvSpPr>
        <p:spPr>
          <a:xfrm>
            <a:off x="800100" y="4329112"/>
            <a:ext cx="51054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Example: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In route planning, we abstract away street width, curves, current weather, and scenery, representing the world simply as node coordinates.</a:t>
            </a:r>
            <a:endParaRPr/>
          </a:p>
        </p:txBody>
      </p:sp>
      <p:sp>
        <p:nvSpPr>
          <p:cNvPr id="510" name="Google Shape;510;p19"/>
          <p:cNvSpPr/>
          <p:nvPr/>
        </p:nvSpPr>
        <p:spPr>
          <a:xfrm>
            <a:off x="6515100" y="3338512"/>
            <a:ext cx="2458789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9"/>
          <p:cNvSpPr/>
          <p:nvPr/>
        </p:nvSpPr>
        <p:spPr>
          <a:xfrm>
            <a:off x="8973889" y="3338512"/>
            <a:ext cx="2446585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9"/>
          <p:cNvSpPr txBox="1"/>
          <p:nvPr/>
        </p:nvSpPr>
        <p:spPr>
          <a:xfrm>
            <a:off x="571500" y="3738562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513" name="Google Shape;513;p19"/>
          <p:cNvSpPr txBox="1"/>
          <p:nvPr/>
        </p:nvSpPr>
        <p:spPr>
          <a:xfrm>
            <a:off x="571500" y="4348162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514" name="Google Shape;514;p19"/>
          <p:cNvSpPr/>
          <p:nvPr/>
        </p:nvSpPr>
        <p:spPr>
          <a:xfrm>
            <a:off x="6515100" y="3686175"/>
            <a:ext cx="2458789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9"/>
          <p:cNvSpPr/>
          <p:nvPr/>
        </p:nvSpPr>
        <p:spPr>
          <a:xfrm>
            <a:off x="8973889" y="3686175"/>
            <a:ext cx="2446585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6515100" y="4019550"/>
            <a:ext cx="2458789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9"/>
          <p:cNvSpPr/>
          <p:nvPr/>
        </p:nvSpPr>
        <p:spPr>
          <a:xfrm>
            <a:off x="8973889" y="4019550"/>
            <a:ext cx="2446585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9"/>
          <p:cNvSpPr/>
          <p:nvPr/>
        </p:nvSpPr>
        <p:spPr>
          <a:xfrm>
            <a:off x="6515100" y="4352925"/>
            <a:ext cx="2458789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9"/>
          <p:cNvSpPr/>
          <p:nvPr/>
        </p:nvSpPr>
        <p:spPr>
          <a:xfrm>
            <a:off x="8973889" y="4352925"/>
            <a:ext cx="2446585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9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THE ART OF ABSTRACTION</a:t>
            </a:r>
            <a:endParaRPr/>
          </a:p>
        </p:txBody>
      </p:sp>
      <p:sp>
        <p:nvSpPr>
          <p:cNvPr id="521" name="Google Shape;521;p19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6" name="Google Shape;5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7" name="Google Shape;52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14537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8" name="Google Shape;52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9" name="Google Shape;52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0" name="Google Shape;53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1" name="Google Shape;53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2" name="Google Shape;53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3" name="Google Shape;533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4" name="Google Shape;534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3009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5" name="Google Shape;535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10429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6" name="Google Shape;536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10991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7" name="Google Shape;537;p2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11553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8" name="Google Shape;538;p2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12115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9" name="Google Shape;539;p2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12677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0" name="Google Shape;540;p2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13239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1" name="Google Shape;541;p2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13801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2" name="Google Shape;542;p2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14363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3" name="Google Shape;543;p2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14925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4" name="Google Shape;544;p2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5" name="Google Shape;545;p2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6" name="Google Shape;546;p20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7" name="Google Shape;547;p20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8" name="Google Shape;548;p20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9" name="Google Shape;549;p20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20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551" name="Google Shape;551;p20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552" name="Google Shape;552;p20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553" name="Google Shape;553;p20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554" name="Google Shape;554;p20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555" name="Google Shape;555;p20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556" name="Google Shape;556;p20"/>
          <p:cNvSpPr txBox="1"/>
          <p:nvPr/>
        </p:nvSpPr>
        <p:spPr>
          <a:xfrm>
            <a:off x="390525" y="31623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557" name="Google Shape;557;p20"/>
          <p:cNvSpPr txBox="1"/>
          <p:nvPr/>
        </p:nvSpPr>
        <p:spPr>
          <a:xfrm>
            <a:off x="390525" y="105822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558" name="Google Shape;558;p20"/>
          <p:cNvSpPr txBox="1"/>
          <p:nvPr/>
        </p:nvSpPr>
        <p:spPr>
          <a:xfrm>
            <a:off x="390525" y="111442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559" name="Google Shape;559;p20"/>
          <p:cNvSpPr txBox="1"/>
          <p:nvPr/>
        </p:nvSpPr>
        <p:spPr>
          <a:xfrm>
            <a:off x="390525" y="117062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560" name="Google Shape;560;p20"/>
          <p:cNvSpPr txBox="1"/>
          <p:nvPr/>
        </p:nvSpPr>
        <p:spPr>
          <a:xfrm>
            <a:off x="390525" y="122682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561" name="Google Shape;561;p20"/>
          <p:cNvSpPr txBox="1"/>
          <p:nvPr/>
        </p:nvSpPr>
        <p:spPr>
          <a:xfrm>
            <a:off x="390525" y="128301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562" name="Google Shape;562;p20"/>
          <p:cNvSpPr txBox="1"/>
          <p:nvPr/>
        </p:nvSpPr>
        <p:spPr>
          <a:xfrm>
            <a:off x="390525" y="133921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563" name="Google Shape;563;p20"/>
          <p:cNvSpPr txBox="1"/>
          <p:nvPr/>
        </p:nvSpPr>
        <p:spPr>
          <a:xfrm>
            <a:off x="390525" y="13954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564" name="Google Shape;564;p20"/>
          <p:cNvSpPr txBox="1"/>
          <p:nvPr/>
        </p:nvSpPr>
        <p:spPr>
          <a:xfrm>
            <a:off x="390525" y="14516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565" name="Google Shape;565;p20"/>
          <p:cNvSpPr txBox="1"/>
          <p:nvPr/>
        </p:nvSpPr>
        <p:spPr>
          <a:xfrm>
            <a:off x="390525" y="15078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566" name="Google Shape;566;p20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567" name="Google Shape;567;p20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568" name="Google Shape;568;p20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569" name="Google Shape;569;p20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570" name="Google Shape;570;p20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571" name="Google Shape;571;p20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572" name="Google Shape;572;p20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0825162" y="571500"/>
            <a:ext cx="795337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20"/>
          <p:cNvSpPr txBox="1"/>
          <p:nvPr/>
        </p:nvSpPr>
        <p:spPr>
          <a:xfrm>
            <a:off x="571500" y="2014537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Case Study: Figure 3.1</a:t>
            </a:r>
            <a:endParaRPr/>
          </a:p>
        </p:txBody>
      </p:sp>
      <p:sp>
        <p:nvSpPr>
          <p:cNvPr id="574" name="Google Shape;574;p20"/>
          <p:cNvSpPr txBox="1"/>
          <p:nvPr/>
        </p:nvSpPr>
        <p:spPr>
          <a:xfrm>
            <a:off x="571500" y="2366962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A classic roadmap from Russell &amp; Norvig. We want to find the shortest path from </a:t>
            </a: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Arad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to </a:t>
            </a: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Bucharest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.</a:t>
            </a:r>
            <a:endParaRPr/>
          </a:p>
        </p:txBody>
      </p:sp>
      <p:pic>
        <p:nvPicPr>
          <p:cNvPr descr="image.png" id="575" name="Google Shape;575;p20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6305550" y="2033587"/>
            <a:ext cx="52959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0"/>
          <p:cNvSpPr txBox="1"/>
          <p:nvPr/>
        </p:nvSpPr>
        <p:spPr>
          <a:xfrm>
            <a:off x="800100" y="3024187"/>
            <a:ext cx="5105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States: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Discrete cities (Arad, Sibiu, Pitesti, etc.).</a:t>
            </a:r>
            <a:endParaRPr/>
          </a:p>
        </p:txBody>
      </p:sp>
      <p:sp>
        <p:nvSpPr>
          <p:cNvPr id="577" name="Google Shape;577;p20"/>
          <p:cNvSpPr txBox="1"/>
          <p:nvPr/>
        </p:nvSpPr>
        <p:spPr>
          <a:xfrm>
            <a:off x="800100" y="3376612"/>
            <a:ext cx="5105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Actions: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Drive along direct road links connecting neighboring cities.</a:t>
            </a:r>
            <a:endParaRPr/>
          </a:p>
        </p:txBody>
      </p:sp>
      <p:sp>
        <p:nvSpPr>
          <p:cNvPr id="578" name="Google Shape;578;p20"/>
          <p:cNvSpPr txBox="1"/>
          <p:nvPr/>
        </p:nvSpPr>
        <p:spPr>
          <a:xfrm>
            <a:off x="800100" y="3986212"/>
            <a:ext cx="5105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Path Cost: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Sum of physical mileage values displayed on edges (e.g., Arad to Sibiu = 140).</a:t>
            </a:r>
            <a:endParaRPr/>
          </a:p>
        </p:txBody>
      </p:sp>
      <p:sp>
        <p:nvSpPr>
          <p:cNvPr id="579" name="Google Shape;579;p20"/>
          <p:cNvSpPr txBox="1"/>
          <p:nvPr/>
        </p:nvSpPr>
        <p:spPr>
          <a:xfrm>
            <a:off x="571500" y="3043237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580" name="Google Shape;580;p20"/>
          <p:cNvSpPr txBox="1"/>
          <p:nvPr/>
        </p:nvSpPr>
        <p:spPr>
          <a:xfrm>
            <a:off x="571500" y="3395662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581" name="Google Shape;581;p20"/>
          <p:cNvSpPr txBox="1"/>
          <p:nvPr/>
        </p:nvSpPr>
        <p:spPr>
          <a:xfrm>
            <a:off x="571500" y="4005262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582" name="Google Shape;582;p20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ROMANIA ROUTE ABSTRACTION</a:t>
            </a:r>
            <a:endParaRPr/>
          </a:p>
        </p:txBody>
      </p:sp>
      <p:sp>
        <p:nvSpPr>
          <p:cNvPr id="583" name="Google Shape;583;p20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8" name="Google Shape;5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9" name="Google Shape;58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5050"/>
            <a:ext cx="533400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0" name="Google Shape;59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305050"/>
            <a:ext cx="5334000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1" name="Google Shape;59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2" name="Google Shape;59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3" name="Google Shape;59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4" name="Google Shape;59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5" name="Google Shape;595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6" name="Google Shape;596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7" name="Google Shape;597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3009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8" name="Google Shape;598;p2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3571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9" name="Google Shape;599;p2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10991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0" name="Google Shape;600;p2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11553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1" name="Google Shape;601;p2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12115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2" name="Google Shape;602;p2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12677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3" name="Google Shape;603;p2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13239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4" name="Google Shape;604;p2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13801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5" name="Google Shape;605;p2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14363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6" name="Google Shape;606;p2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14925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7" name="Google Shape;607;p2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8" name="Google Shape;608;p2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9" name="Google Shape;609;p21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0" name="Google Shape;610;p21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1" name="Google Shape;611;p21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2" name="Google Shape;612;p21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1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614" name="Google Shape;614;p21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615" name="Google Shape;615;p21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616" name="Google Shape;616;p21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617" name="Google Shape;617;p21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618" name="Google Shape;618;p21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619" name="Google Shape;619;p21"/>
          <p:cNvSpPr txBox="1"/>
          <p:nvPr/>
        </p:nvSpPr>
        <p:spPr>
          <a:xfrm>
            <a:off x="390525" y="31623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620" name="Google Shape;620;p21"/>
          <p:cNvSpPr txBox="1"/>
          <p:nvPr/>
        </p:nvSpPr>
        <p:spPr>
          <a:xfrm>
            <a:off x="390525" y="37242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621" name="Google Shape;621;p21"/>
          <p:cNvSpPr txBox="1"/>
          <p:nvPr/>
        </p:nvSpPr>
        <p:spPr>
          <a:xfrm>
            <a:off x="390525" y="111442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622" name="Google Shape;622;p21"/>
          <p:cNvSpPr txBox="1"/>
          <p:nvPr/>
        </p:nvSpPr>
        <p:spPr>
          <a:xfrm>
            <a:off x="390525" y="117062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623" name="Google Shape;623;p21"/>
          <p:cNvSpPr txBox="1"/>
          <p:nvPr/>
        </p:nvSpPr>
        <p:spPr>
          <a:xfrm>
            <a:off x="390525" y="122682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624" name="Google Shape;624;p21"/>
          <p:cNvSpPr txBox="1"/>
          <p:nvPr/>
        </p:nvSpPr>
        <p:spPr>
          <a:xfrm>
            <a:off x="390525" y="128301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625" name="Google Shape;625;p21"/>
          <p:cNvSpPr txBox="1"/>
          <p:nvPr/>
        </p:nvSpPr>
        <p:spPr>
          <a:xfrm>
            <a:off x="390525" y="133921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626" name="Google Shape;626;p21"/>
          <p:cNvSpPr txBox="1"/>
          <p:nvPr/>
        </p:nvSpPr>
        <p:spPr>
          <a:xfrm>
            <a:off x="390525" y="13954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627" name="Google Shape;627;p21"/>
          <p:cNvSpPr txBox="1"/>
          <p:nvPr/>
        </p:nvSpPr>
        <p:spPr>
          <a:xfrm>
            <a:off x="390525" y="14516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628" name="Google Shape;628;p21"/>
          <p:cNvSpPr txBox="1"/>
          <p:nvPr/>
        </p:nvSpPr>
        <p:spPr>
          <a:xfrm>
            <a:off x="390525" y="15078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629" name="Google Shape;629;p21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630" name="Google Shape;630;p21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631" name="Google Shape;631;p21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632" name="Google Shape;632;p21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633" name="Google Shape;633;p21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634" name="Google Shape;634;p21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635" name="Google Shape;635;p21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0825162" y="571500"/>
            <a:ext cx="795337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21"/>
          <p:cNvSpPr txBox="1"/>
          <p:nvPr/>
        </p:nvSpPr>
        <p:spPr>
          <a:xfrm>
            <a:off x="800100" y="2505075"/>
            <a:ext cx="51506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State-Space Graph</a:t>
            </a:r>
            <a:endParaRPr/>
          </a:p>
        </p:txBody>
      </p:sp>
      <p:sp>
        <p:nvSpPr>
          <p:cNvPr id="637" name="Google Shape;637;p21"/>
          <p:cNvSpPr txBox="1"/>
          <p:nvPr/>
        </p:nvSpPr>
        <p:spPr>
          <a:xfrm>
            <a:off x="800100" y="4572000"/>
            <a:ext cx="490537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5C6A79"/>
                </a:solidFill>
                <a:latin typeface="Lora"/>
                <a:ea typeface="Lora"/>
                <a:cs typeface="Lora"/>
                <a:sym typeface="Lora"/>
              </a:rPr>
              <a:t>Example: The map of Romania has exactly 20 cities (20 nodes in the graph).</a:t>
            </a:r>
            <a:endParaRPr/>
          </a:p>
        </p:txBody>
      </p:sp>
      <p:sp>
        <p:nvSpPr>
          <p:cNvPr id="638" name="Google Shape;638;p21"/>
          <p:cNvSpPr txBox="1"/>
          <p:nvPr/>
        </p:nvSpPr>
        <p:spPr>
          <a:xfrm>
            <a:off x="6477000" y="2495550"/>
            <a:ext cx="520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5A0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Conceptual Search Tree</a:t>
            </a:r>
            <a:endParaRPr/>
          </a:p>
        </p:txBody>
      </p:sp>
      <p:sp>
        <p:nvSpPr>
          <p:cNvPr id="639" name="Google Shape;639;p21"/>
          <p:cNvSpPr txBox="1"/>
          <p:nvPr/>
        </p:nvSpPr>
        <p:spPr>
          <a:xfrm>
            <a:off x="6477000" y="4724400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CBD5E1"/>
                </a:solidFill>
                <a:latin typeface="Lora"/>
                <a:ea typeface="Lora"/>
                <a:cs typeface="Lora"/>
                <a:sym typeface="Lora"/>
              </a:rPr>
              <a:t>Example: The tree root is Arad. Branching from Sibiu can lead right back to Arad (depth 2).</a:t>
            </a:r>
            <a:endParaRPr/>
          </a:p>
        </p:txBody>
      </p:sp>
      <p:sp>
        <p:nvSpPr>
          <p:cNvPr id="640" name="Google Shape;640;p21"/>
          <p:cNvSpPr txBox="1"/>
          <p:nvPr/>
        </p:nvSpPr>
        <p:spPr>
          <a:xfrm>
            <a:off x="1028700" y="2857500"/>
            <a:ext cx="4676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Represents physical configurations of the environment.</a:t>
            </a:r>
            <a:endParaRPr/>
          </a:p>
        </p:txBody>
      </p:sp>
      <p:sp>
        <p:nvSpPr>
          <p:cNvPr id="641" name="Google Shape;641;p21"/>
          <p:cNvSpPr txBox="1"/>
          <p:nvPr/>
        </p:nvSpPr>
        <p:spPr>
          <a:xfrm>
            <a:off x="1028700" y="3209925"/>
            <a:ext cx="46767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Contains exactly </a:t>
            </a: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one node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for each distinct physical state in the world.</a:t>
            </a:r>
            <a:endParaRPr/>
          </a:p>
        </p:txBody>
      </p:sp>
      <p:sp>
        <p:nvSpPr>
          <p:cNvPr id="642" name="Google Shape;642;p21"/>
          <p:cNvSpPr txBox="1"/>
          <p:nvPr/>
        </p:nvSpPr>
        <p:spPr>
          <a:xfrm>
            <a:off x="1028700" y="3819525"/>
            <a:ext cx="4676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Connections are physical paths.</a:t>
            </a:r>
            <a:endParaRPr/>
          </a:p>
        </p:txBody>
      </p:sp>
      <p:sp>
        <p:nvSpPr>
          <p:cNvPr id="643" name="Google Shape;643;p21"/>
          <p:cNvSpPr txBox="1"/>
          <p:nvPr/>
        </p:nvSpPr>
        <p:spPr>
          <a:xfrm>
            <a:off x="1028700" y="4171950"/>
            <a:ext cx="4676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Scope is fixed and finite.</a:t>
            </a:r>
            <a:endParaRPr/>
          </a:p>
        </p:txBody>
      </p:sp>
      <p:sp>
        <p:nvSpPr>
          <p:cNvPr id="644" name="Google Shape;644;p21"/>
          <p:cNvSpPr txBox="1"/>
          <p:nvPr/>
        </p:nvSpPr>
        <p:spPr>
          <a:xfrm>
            <a:off x="6705600" y="2847975"/>
            <a:ext cx="4724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CFAF2"/>
                </a:solidFill>
                <a:latin typeface="Lora"/>
                <a:ea typeface="Lora"/>
                <a:cs typeface="Lora"/>
                <a:sym typeface="Lora"/>
              </a:rPr>
              <a:t>Represents alternative execution pathways built dynamically in memory.</a:t>
            </a:r>
            <a:endParaRPr/>
          </a:p>
        </p:txBody>
      </p:sp>
      <p:sp>
        <p:nvSpPr>
          <p:cNvPr id="645" name="Google Shape;645;p21"/>
          <p:cNvSpPr txBox="1"/>
          <p:nvPr/>
        </p:nvSpPr>
        <p:spPr>
          <a:xfrm>
            <a:off x="6705600" y="3457575"/>
            <a:ext cx="4724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CFAF2"/>
                </a:solidFill>
                <a:latin typeface="Lora"/>
                <a:ea typeface="Lora"/>
                <a:cs typeface="Lora"/>
                <a:sym typeface="Lora"/>
              </a:rPr>
              <a:t>A single physical state can appear </a:t>
            </a:r>
            <a:r>
              <a:rPr b="1" i="0" lang="en-US" sz="1350" u="none" cap="none" strike="noStrike">
                <a:solidFill>
                  <a:srgbClr val="FCFAF2"/>
                </a:solidFill>
                <a:latin typeface="Lora"/>
                <a:ea typeface="Lora"/>
                <a:cs typeface="Lora"/>
                <a:sym typeface="Lora"/>
              </a:rPr>
              <a:t>multiple times</a:t>
            </a:r>
            <a:r>
              <a:rPr b="0" i="0" lang="en-US" sz="1350" u="none" cap="none" strike="noStrike">
                <a:solidFill>
                  <a:srgbClr val="FCFAF2"/>
                </a:solidFill>
                <a:latin typeface="Lora"/>
                <a:ea typeface="Lora"/>
                <a:cs typeface="Lora"/>
                <a:sym typeface="Lora"/>
              </a:rPr>
              <a:t> along different paths of the tree.</a:t>
            </a:r>
            <a:endParaRPr/>
          </a:p>
        </p:txBody>
      </p:sp>
      <p:sp>
        <p:nvSpPr>
          <p:cNvPr id="646" name="Google Shape;646;p21"/>
          <p:cNvSpPr txBox="1"/>
          <p:nvPr/>
        </p:nvSpPr>
        <p:spPr>
          <a:xfrm>
            <a:off x="6705600" y="4067175"/>
            <a:ext cx="4724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CFAF2"/>
                </a:solidFill>
                <a:latin typeface="Lora"/>
                <a:ea typeface="Lora"/>
                <a:cs typeface="Lora"/>
                <a:sym typeface="Lora"/>
              </a:rPr>
              <a:t>Can grow infinitely if cycle checks are not actively performed.</a:t>
            </a:r>
            <a:endParaRPr/>
          </a:p>
        </p:txBody>
      </p:sp>
      <p:sp>
        <p:nvSpPr>
          <p:cNvPr id="647" name="Google Shape;647;p21"/>
          <p:cNvSpPr txBox="1"/>
          <p:nvPr/>
        </p:nvSpPr>
        <p:spPr>
          <a:xfrm>
            <a:off x="800100" y="2876550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648" name="Google Shape;648;p21"/>
          <p:cNvSpPr txBox="1"/>
          <p:nvPr/>
        </p:nvSpPr>
        <p:spPr>
          <a:xfrm>
            <a:off x="800100" y="3228975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649" name="Google Shape;649;p21"/>
          <p:cNvSpPr txBox="1"/>
          <p:nvPr/>
        </p:nvSpPr>
        <p:spPr>
          <a:xfrm>
            <a:off x="800100" y="3838575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650" name="Google Shape;650;p21"/>
          <p:cNvSpPr txBox="1"/>
          <p:nvPr/>
        </p:nvSpPr>
        <p:spPr>
          <a:xfrm>
            <a:off x="800100" y="4191000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651" name="Google Shape;651;p21"/>
          <p:cNvSpPr txBox="1"/>
          <p:nvPr/>
        </p:nvSpPr>
        <p:spPr>
          <a:xfrm>
            <a:off x="6477000" y="2867025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652" name="Google Shape;652;p21"/>
          <p:cNvSpPr txBox="1"/>
          <p:nvPr/>
        </p:nvSpPr>
        <p:spPr>
          <a:xfrm>
            <a:off x="6477000" y="3476625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653" name="Google Shape;653;p21"/>
          <p:cNvSpPr txBox="1"/>
          <p:nvPr/>
        </p:nvSpPr>
        <p:spPr>
          <a:xfrm>
            <a:off x="6477000" y="4086225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654" name="Google Shape;654;p21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STATE GRAPH VS. SEARCH TREE</a:t>
            </a:r>
            <a:endParaRPr/>
          </a:p>
        </p:txBody>
      </p:sp>
      <p:sp>
        <p:nvSpPr>
          <p:cNvPr id="655" name="Google Shape;655;p21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0" name="Google Shape;66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1" name="Google Shape;66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24137"/>
            <a:ext cx="5334000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2" name="Google Shape;66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3" name="Google Shape;66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4" name="Google Shape;66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5" name="Google Shape;665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6" name="Google Shape;666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7" name="Google Shape;667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8" name="Google Shape;668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3009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9" name="Google Shape;669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3571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0" name="Google Shape;670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4133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1" name="Google Shape;671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11553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2" name="Google Shape;672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12115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3" name="Google Shape;673;p2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12677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4" name="Google Shape;674;p2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13239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5" name="Google Shape;675;p2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13801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6" name="Google Shape;676;p2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14363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7" name="Google Shape;677;p2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14925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8" name="Google Shape;678;p2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9" name="Google Shape;679;p2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0" name="Google Shape;680;p2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1" name="Google Shape;681;p2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2" name="Google Shape;682;p2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3" name="Google Shape;683;p2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22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685" name="Google Shape;685;p22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686" name="Google Shape;686;p22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687" name="Google Shape;687;p22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688" name="Google Shape;688;p22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689" name="Google Shape;689;p22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690" name="Google Shape;690;p22"/>
          <p:cNvSpPr txBox="1"/>
          <p:nvPr/>
        </p:nvSpPr>
        <p:spPr>
          <a:xfrm>
            <a:off x="390525" y="31623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691" name="Google Shape;691;p22"/>
          <p:cNvSpPr txBox="1"/>
          <p:nvPr/>
        </p:nvSpPr>
        <p:spPr>
          <a:xfrm>
            <a:off x="390525" y="37242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692" name="Google Shape;692;p22"/>
          <p:cNvSpPr txBox="1"/>
          <p:nvPr/>
        </p:nvSpPr>
        <p:spPr>
          <a:xfrm>
            <a:off x="390525" y="42862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693" name="Google Shape;693;p22"/>
          <p:cNvSpPr txBox="1"/>
          <p:nvPr/>
        </p:nvSpPr>
        <p:spPr>
          <a:xfrm>
            <a:off x="390525" y="117062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694" name="Google Shape;694;p22"/>
          <p:cNvSpPr txBox="1"/>
          <p:nvPr/>
        </p:nvSpPr>
        <p:spPr>
          <a:xfrm>
            <a:off x="390525" y="122682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695" name="Google Shape;695;p22"/>
          <p:cNvSpPr txBox="1"/>
          <p:nvPr/>
        </p:nvSpPr>
        <p:spPr>
          <a:xfrm>
            <a:off x="390525" y="128301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696" name="Google Shape;696;p22"/>
          <p:cNvSpPr txBox="1"/>
          <p:nvPr/>
        </p:nvSpPr>
        <p:spPr>
          <a:xfrm>
            <a:off x="390525" y="133921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697" name="Google Shape;697;p22"/>
          <p:cNvSpPr txBox="1"/>
          <p:nvPr/>
        </p:nvSpPr>
        <p:spPr>
          <a:xfrm>
            <a:off x="390525" y="13954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698" name="Google Shape;698;p22"/>
          <p:cNvSpPr txBox="1"/>
          <p:nvPr/>
        </p:nvSpPr>
        <p:spPr>
          <a:xfrm>
            <a:off x="390525" y="14516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699" name="Google Shape;699;p22"/>
          <p:cNvSpPr txBox="1"/>
          <p:nvPr/>
        </p:nvSpPr>
        <p:spPr>
          <a:xfrm>
            <a:off x="390525" y="15078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700" name="Google Shape;700;p22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701" name="Google Shape;701;p22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702" name="Google Shape;702;p22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703" name="Google Shape;703;p22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704" name="Google Shape;704;p22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705" name="Google Shape;705;p22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706" name="Google Shape;706;p2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0763250" y="571500"/>
            <a:ext cx="8572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22"/>
          <p:cNvSpPr txBox="1"/>
          <p:nvPr/>
        </p:nvSpPr>
        <p:spPr>
          <a:xfrm>
            <a:off x="571500" y="2624137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Search Node Object Structure</a:t>
            </a:r>
            <a:endParaRPr/>
          </a:p>
        </p:txBody>
      </p:sp>
      <p:sp>
        <p:nvSpPr>
          <p:cNvPr id="708" name="Google Shape;708;p22"/>
          <p:cNvSpPr txBox="1"/>
          <p:nvPr/>
        </p:nvSpPr>
        <p:spPr>
          <a:xfrm>
            <a:off x="571500" y="2976562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A node is a custom memory object tracking paths:</a:t>
            </a:r>
            <a:endParaRPr/>
          </a:p>
        </p:txBody>
      </p:sp>
      <p:sp>
        <p:nvSpPr>
          <p:cNvPr id="709" name="Google Shape;709;p22"/>
          <p:cNvSpPr txBox="1"/>
          <p:nvPr/>
        </p:nvSpPr>
        <p:spPr>
          <a:xfrm>
            <a:off x="6515100" y="2824162"/>
            <a:ext cx="51506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Frontier &amp; Reached Structures</a:t>
            </a:r>
            <a:endParaRPr/>
          </a:p>
        </p:txBody>
      </p:sp>
      <p:sp>
        <p:nvSpPr>
          <p:cNvPr id="710" name="Google Shape;710;p22"/>
          <p:cNvSpPr txBox="1"/>
          <p:nvPr/>
        </p:nvSpPr>
        <p:spPr>
          <a:xfrm>
            <a:off x="6515100" y="4395787"/>
            <a:ext cx="49053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5C6A79"/>
                </a:solidFill>
                <a:latin typeface="Lora"/>
                <a:ea typeface="Lora"/>
                <a:cs typeface="Lora"/>
                <a:sym typeface="Lora"/>
              </a:rPr>
              <a:t>How we prioritize popping from our frontier queue defines our search strategy!</a:t>
            </a:r>
            <a:endParaRPr/>
          </a:p>
        </p:txBody>
      </p:sp>
      <p:sp>
        <p:nvSpPr>
          <p:cNvPr id="711" name="Google Shape;711;p22"/>
          <p:cNvSpPr txBox="1"/>
          <p:nvPr/>
        </p:nvSpPr>
        <p:spPr>
          <a:xfrm>
            <a:off x="6743700" y="3176587"/>
            <a:ext cx="46767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Frontier: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Tracks all leaf nodes generated in the tree that are waiting for expansion. Implemented as a Queue.</a:t>
            </a:r>
            <a:endParaRPr/>
          </a:p>
        </p:txBody>
      </p:sp>
      <p:sp>
        <p:nvSpPr>
          <p:cNvPr id="712" name="Google Shape;712;p22"/>
          <p:cNvSpPr txBox="1"/>
          <p:nvPr/>
        </p:nvSpPr>
        <p:spPr>
          <a:xfrm>
            <a:off x="6743700" y="3786187"/>
            <a:ext cx="46767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Reached: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A lookup table tracking visited states to prevent redundant paths and infinite loops.</a:t>
            </a:r>
            <a:endParaRPr/>
          </a:p>
        </p:txBody>
      </p:sp>
      <p:sp>
        <p:nvSpPr>
          <p:cNvPr id="713" name="Google Shape;713;p22"/>
          <p:cNvSpPr txBox="1"/>
          <p:nvPr/>
        </p:nvSpPr>
        <p:spPr>
          <a:xfrm>
            <a:off x="6515100" y="3195637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714" name="Google Shape;714;p22"/>
          <p:cNvSpPr txBox="1"/>
          <p:nvPr/>
        </p:nvSpPr>
        <p:spPr>
          <a:xfrm>
            <a:off x="6515100" y="3805237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715" name="Google Shape;715;p2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NODE ANATOMY AND BOOKKEEPING</a:t>
            </a:r>
            <a:endParaRPr/>
          </a:p>
        </p:txBody>
      </p:sp>
      <p:sp>
        <p:nvSpPr>
          <p:cNvPr id="716" name="Google Shape;716;p22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21" name="Google Shape;7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2" name="Google Shape;7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3" name="Google Shape;72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4" name="Google Shape;72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5" name="Google Shape;72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6" name="Google Shape;726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7" name="Google Shape;727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8" name="Google Shape;728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3009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9" name="Google Shape;729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3571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0" name="Google Shape;730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4133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1" name="Google Shape;731;p2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4695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2" name="Google Shape;732;p2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12115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3" name="Google Shape;733;p2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12677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4" name="Google Shape;734;p2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13239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5" name="Google Shape;735;p2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13801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6" name="Google Shape;736;p2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14363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7" name="Google Shape;737;p2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14925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8" name="Google Shape;738;p2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39" name="Google Shape;739;p2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0" name="Google Shape;740;p2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1" name="Google Shape;741;p2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2" name="Google Shape;742;p2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3" name="Google Shape;743;p2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23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745" name="Google Shape;745;p23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746" name="Google Shape;746;p23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747" name="Google Shape;747;p23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748" name="Google Shape;748;p23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749" name="Google Shape;749;p23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750" name="Google Shape;750;p23"/>
          <p:cNvSpPr txBox="1"/>
          <p:nvPr/>
        </p:nvSpPr>
        <p:spPr>
          <a:xfrm>
            <a:off x="390525" y="31623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751" name="Google Shape;751;p23"/>
          <p:cNvSpPr txBox="1"/>
          <p:nvPr/>
        </p:nvSpPr>
        <p:spPr>
          <a:xfrm>
            <a:off x="390525" y="37242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752" name="Google Shape;752;p23"/>
          <p:cNvSpPr txBox="1"/>
          <p:nvPr/>
        </p:nvSpPr>
        <p:spPr>
          <a:xfrm>
            <a:off x="390525" y="42862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753" name="Google Shape;753;p23"/>
          <p:cNvSpPr txBox="1"/>
          <p:nvPr/>
        </p:nvSpPr>
        <p:spPr>
          <a:xfrm>
            <a:off x="390525" y="48482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754" name="Google Shape;754;p23"/>
          <p:cNvSpPr txBox="1"/>
          <p:nvPr/>
        </p:nvSpPr>
        <p:spPr>
          <a:xfrm>
            <a:off x="390525" y="122682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755" name="Google Shape;755;p23"/>
          <p:cNvSpPr txBox="1"/>
          <p:nvPr/>
        </p:nvSpPr>
        <p:spPr>
          <a:xfrm>
            <a:off x="390525" y="128301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756" name="Google Shape;756;p23"/>
          <p:cNvSpPr txBox="1"/>
          <p:nvPr/>
        </p:nvSpPr>
        <p:spPr>
          <a:xfrm>
            <a:off x="390525" y="133921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757" name="Google Shape;757;p23"/>
          <p:cNvSpPr txBox="1"/>
          <p:nvPr/>
        </p:nvSpPr>
        <p:spPr>
          <a:xfrm>
            <a:off x="390525" y="13954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758" name="Google Shape;758;p23"/>
          <p:cNvSpPr txBox="1"/>
          <p:nvPr/>
        </p:nvSpPr>
        <p:spPr>
          <a:xfrm>
            <a:off x="390525" y="14516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759" name="Google Shape;759;p23"/>
          <p:cNvSpPr txBox="1"/>
          <p:nvPr/>
        </p:nvSpPr>
        <p:spPr>
          <a:xfrm>
            <a:off x="390525" y="15078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760" name="Google Shape;760;p23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761" name="Google Shape;761;p23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762" name="Google Shape;762;p23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763" name="Google Shape;763;p23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764" name="Google Shape;764;p23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765" name="Google Shape;765;p23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766" name="Google Shape;766;p2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0810875" y="571500"/>
            <a:ext cx="8096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23"/>
          <p:cNvSpPr txBox="1"/>
          <p:nvPr/>
        </p:nvSpPr>
        <p:spPr>
          <a:xfrm>
            <a:off x="571500" y="5096619"/>
            <a:ext cx="11049000" cy="2085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5C6A79"/>
                </a:solidFill>
                <a:latin typeface="Lora"/>
                <a:ea typeface="Lora"/>
                <a:cs typeface="Lora"/>
                <a:sym typeface="Lora"/>
              </a:rPr>
              <a:t>By altering the evaluation function f(n), this generic template becomes BFS, UCS, Greedy, or A*!</a:t>
            </a:r>
            <a:endParaRPr/>
          </a:p>
        </p:txBody>
      </p:sp>
      <p:sp>
        <p:nvSpPr>
          <p:cNvPr id="768" name="Google Shape;768;p2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BEST-FIRST SEARCH FRAMEWORK</a:t>
            </a:r>
            <a:endParaRPr/>
          </a:p>
        </p:txBody>
      </p:sp>
      <p:sp>
        <p:nvSpPr>
          <p:cNvPr id="769" name="Google Shape;769;p23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74" name="Google Shape;77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5" name="Google Shape;77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22649"/>
            <a:ext cx="5334000" cy="2403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6" name="Google Shape;77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7" name="Google Shape;77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8" name="Google Shape;778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9" name="Google Shape;779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0" name="Google Shape;780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1" name="Google Shape;781;p2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2" name="Google Shape;782;p2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3009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3" name="Google Shape;783;p2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3571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4" name="Google Shape;784;p2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4133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5" name="Google Shape;785;p2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4695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6" name="Google Shape;786;p2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5257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7" name="Google Shape;787;p2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12677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8" name="Google Shape;788;p2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13239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9" name="Google Shape;789;p2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13801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0" name="Google Shape;790;p2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14363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1" name="Google Shape;791;p2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14925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2" name="Google Shape;792;p2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3" name="Google Shape;793;p2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4" name="Google Shape;794;p2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5" name="Google Shape;795;p2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6" name="Google Shape;796;p2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97" name="Google Shape;797;p2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24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799" name="Google Shape;799;p24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800" name="Google Shape;800;p24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801" name="Google Shape;801;p24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802" name="Google Shape;802;p24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803" name="Google Shape;803;p24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804" name="Google Shape;804;p24"/>
          <p:cNvSpPr txBox="1"/>
          <p:nvPr/>
        </p:nvSpPr>
        <p:spPr>
          <a:xfrm>
            <a:off x="390525" y="31623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805" name="Google Shape;805;p24"/>
          <p:cNvSpPr txBox="1"/>
          <p:nvPr/>
        </p:nvSpPr>
        <p:spPr>
          <a:xfrm>
            <a:off x="390525" y="37242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806" name="Google Shape;806;p24"/>
          <p:cNvSpPr txBox="1"/>
          <p:nvPr/>
        </p:nvSpPr>
        <p:spPr>
          <a:xfrm>
            <a:off x="390525" y="42862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807" name="Google Shape;807;p24"/>
          <p:cNvSpPr txBox="1"/>
          <p:nvPr/>
        </p:nvSpPr>
        <p:spPr>
          <a:xfrm>
            <a:off x="390525" y="48482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808" name="Google Shape;808;p24"/>
          <p:cNvSpPr txBox="1"/>
          <p:nvPr/>
        </p:nvSpPr>
        <p:spPr>
          <a:xfrm>
            <a:off x="390525" y="54102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809" name="Google Shape;809;p24"/>
          <p:cNvSpPr txBox="1"/>
          <p:nvPr/>
        </p:nvSpPr>
        <p:spPr>
          <a:xfrm>
            <a:off x="390525" y="128301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810" name="Google Shape;810;p24"/>
          <p:cNvSpPr txBox="1"/>
          <p:nvPr/>
        </p:nvSpPr>
        <p:spPr>
          <a:xfrm>
            <a:off x="390525" y="133921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811" name="Google Shape;811;p24"/>
          <p:cNvSpPr txBox="1"/>
          <p:nvPr/>
        </p:nvSpPr>
        <p:spPr>
          <a:xfrm>
            <a:off x="390525" y="13954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812" name="Google Shape;812;p24"/>
          <p:cNvSpPr txBox="1"/>
          <p:nvPr/>
        </p:nvSpPr>
        <p:spPr>
          <a:xfrm>
            <a:off x="390525" y="14516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813" name="Google Shape;813;p24"/>
          <p:cNvSpPr txBox="1"/>
          <p:nvPr/>
        </p:nvSpPr>
        <p:spPr>
          <a:xfrm>
            <a:off x="390525" y="15078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814" name="Google Shape;814;p24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815" name="Google Shape;815;p24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816" name="Google Shape;816;p24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817" name="Google Shape;817;p24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818" name="Google Shape;818;p24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819" name="Google Shape;819;p24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820" name="Google Shape;820;p24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0782300" y="571500"/>
            <a:ext cx="8382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24"/>
          <p:cNvSpPr txBox="1"/>
          <p:nvPr/>
        </p:nvSpPr>
        <p:spPr>
          <a:xfrm>
            <a:off x="571500" y="2622649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Queue Type: FIFO</a:t>
            </a:r>
            <a:endParaRPr/>
          </a:p>
        </p:txBody>
      </p:sp>
      <p:sp>
        <p:nvSpPr>
          <p:cNvPr id="822" name="Google Shape;822;p24"/>
          <p:cNvSpPr txBox="1"/>
          <p:nvPr/>
        </p:nvSpPr>
        <p:spPr>
          <a:xfrm>
            <a:off x="571500" y="2975074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BFS expands the shallowest unexpanded node first, proceeding level-by-level through the tree.</a:t>
            </a:r>
            <a:endParaRPr/>
          </a:p>
        </p:txBody>
      </p:sp>
      <p:sp>
        <p:nvSpPr>
          <p:cNvPr id="823" name="Google Shape;823;p24"/>
          <p:cNvSpPr txBox="1"/>
          <p:nvPr/>
        </p:nvSpPr>
        <p:spPr>
          <a:xfrm>
            <a:off x="6515100" y="2822674"/>
            <a:ext cx="51506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Visualizing BFS Queue Tracing</a:t>
            </a:r>
            <a:endParaRPr/>
          </a:p>
        </p:txBody>
      </p:sp>
      <p:sp>
        <p:nvSpPr>
          <p:cNvPr id="824" name="Google Shape;824;p24"/>
          <p:cNvSpPr txBox="1"/>
          <p:nvPr/>
        </p:nvSpPr>
        <p:spPr>
          <a:xfrm>
            <a:off x="6515100" y="3175099"/>
            <a:ext cx="490537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Expanding level 1 generates all of level 2:</a:t>
            </a:r>
            <a:endParaRPr/>
          </a:p>
        </p:txBody>
      </p:sp>
      <p:pic>
        <p:nvPicPr>
          <p:cNvPr descr="image.png" id="825" name="Google Shape;825;p24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6515100" y="3465611"/>
            <a:ext cx="4905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24"/>
          <p:cNvSpPr txBox="1"/>
          <p:nvPr/>
        </p:nvSpPr>
        <p:spPr>
          <a:xfrm>
            <a:off x="6515100" y="3989486"/>
            <a:ext cx="49053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5C6A79"/>
                </a:solidFill>
                <a:latin typeface="Lora"/>
                <a:ea typeface="Lora"/>
                <a:cs typeface="Lora"/>
                <a:sym typeface="Lora"/>
              </a:rPr>
              <a:t>FIFO behavior ensures that we evaluate paths of length 1 entirely before starting paths of length 2.</a:t>
            </a:r>
            <a:endParaRPr/>
          </a:p>
        </p:txBody>
      </p:sp>
      <p:sp>
        <p:nvSpPr>
          <p:cNvPr id="827" name="Google Shape;827;p24"/>
          <p:cNvSpPr txBox="1"/>
          <p:nvPr/>
        </p:nvSpPr>
        <p:spPr>
          <a:xfrm>
            <a:off x="800100" y="3603724"/>
            <a:ext cx="5105400" cy="269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Completeness: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Yes (if branching factor b is finite).</a:t>
            </a:r>
            <a:endParaRPr/>
          </a:p>
        </p:txBody>
      </p:sp>
      <p:sp>
        <p:nvSpPr>
          <p:cNvPr id="828" name="Google Shape;828;p24"/>
          <p:cNvSpPr txBox="1"/>
          <p:nvPr/>
        </p:nvSpPr>
        <p:spPr>
          <a:xfrm>
            <a:off x="800100" y="3968501"/>
            <a:ext cx="5105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Optimality: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Only if all step costs are identical.</a:t>
            </a:r>
            <a:endParaRPr/>
          </a:p>
        </p:txBody>
      </p:sp>
      <p:sp>
        <p:nvSpPr>
          <p:cNvPr id="829" name="Google Shape;829;p24"/>
          <p:cNvSpPr txBox="1"/>
          <p:nvPr/>
        </p:nvSpPr>
        <p:spPr>
          <a:xfrm>
            <a:off x="800100" y="4320926"/>
            <a:ext cx="5105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Time Complexity:</a:t>
            </a:r>
            <a:endParaRPr/>
          </a:p>
        </p:txBody>
      </p:sp>
      <p:sp>
        <p:nvSpPr>
          <p:cNvPr id="830" name="Google Shape;830;p24"/>
          <p:cNvSpPr txBox="1"/>
          <p:nvPr/>
        </p:nvSpPr>
        <p:spPr>
          <a:xfrm>
            <a:off x="800100" y="4673351"/>
            <a:ext cx="5105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Space Complexity: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(Keeps every node in memory).</a:t>
            </a:r>
            <a:endParaRPr/>
          </a:p>
        </p:txBody>
      </p:sp>
      <p:pic>
        <p:nvPicPr>
          <p:cNvPr descr="image.png" id="831" name="Google Shape;831;p24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300912" y="3541811"/>
            <a:ext cx="9525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2" name="Google Shape;832;p24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8520112" y="3541811"/>
            <a:ext cx="5143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3" name="Google Shape;833;p24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9110662" y="3541811"/>
            <a:ext cx="8286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34" name="Google Shape;834;p24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10015537" y="3541811"/>
            <a:ext cx="6191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24"/>
          <p:cNvSpPr txBox="1"/>
          <p:nvPr/>
        </p:nvSpPr>
        <p:spPr>
          <a:xfrm>
            <a:off x="571500" y="3622774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836" name="Google Shape;836;p24"/>
          <p:cNvSpPr txBox="1"/>
          <p:nvPr/>
        </p:nvSpPr>
        <p:spPr>
          <a:xfrm>
            <a:off x="571500" y="3987551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837" name="Google Shape;837;p24"/>
          <p:cNvSpPr txBox="1"/>
          <p:nvPr/>
        </p:nvSpPr>
        <p:spPr>
          <a:xfrm>
            <a:off x="571500" y="4339976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pic>
        <p:nvPicPr>
          <p:cNvPr descr="image.png" id="838" name="Google Shape;838;p24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2286000" y="4341167"/>
            <a:ext cx="603795" cy="217884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24"/>
          <p:cNvSpPr txBox="1"/>
          <p:nvPr/>
        </p:nvSpPr>
        <p:spPr>
          <a:xfrm>
            <a:off x="571500" y="4692401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pic>
        <p:nvPicPr>
          <p:cNvPr descr="image.png" id="840" name="Google Shape;840;p24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2343150" y="4693592"/>
            <a:ext cx="603795" cy="2178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41" name="Google Shape;841;p24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8329612" y="3603724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24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BREADTH-FIRST SEARCH (BFS)</a:t>
            </a:r>
            <a:endParaRPr/>
          </a:p>
        </p:txBody>
      </p:sp>
      <p:sp>
        <p:nvSpPr>
          <p:cNvPr id="843" name="Google Shape;843;p24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8" name="Google Shape;8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49" name="Google Shape;84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28900"/>
            <a:ext cx="5334000" cy="23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0" name="Google Shape;85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3695700"/>
            <a:ext cx="4953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1" name="Google Shape;85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2" name="Google Shape;85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3" name="Google Shape;853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4" name="Google Shape;854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5" name="Google Shape;855;p2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6" name="Google Shape;856;p2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7" name="Google Shape;857;p2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3009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8" name="Google Shape;858;p2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3571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9" name="Google Shape;859;p2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4133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0" name="Google Shape;860;p2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4695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1" name="Google Shape;861;p2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5257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2" name="Google Shape;862;p2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5819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3" name="Google Shape;863;p2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13239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4" name="Google Shape;864;p2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13801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5" name="Google Shape;865;p2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14363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6" name="Google Shape;866;p2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14925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7" name="Google Shape;867;p2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8" name="Google Shape;868;p2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9" name="Google Shape;869;p2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0" name="Google Shape;870;p2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1" name="Google Shape;871;p2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2" name="Google Shape;872;p2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25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874" name="Google Shape;874;p25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875" name="Google Shape;875;p25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876" name="Google Shape;876;p25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877" name="Google Shape;877;p25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878" name="Google Shape;878;p25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879" name="Google Shape;879;p25"/>
          <p:cNvSpPr txBox="1"/>
          <p:nvPr/>
        </p:nvSpPr>
        <p:spPr>
          <a:xfrm>
            <a:off x="390525" y="31623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880" name="Google Shape;880;p25"/>
          <p:cNvSpPr txBox="1"/>
          <p:nvPr/>
        </p:nvSpPr>
        <p:spPr>
          <a:xfrm>
            <a:off x="390525" y="37242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881" name="Google Shape;881;p25"/>
          <p:cNvSpPr txBox="1"/>
          <p:nvPr/>
        </p:nvSpPr>
        <p:spPr>
          <a:xfrm>
            <a:off x="390525" y="42862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882" name="Google Shape;882;p25"/>
          <p:cNvSpPr txBox="1"/>
          <p:nvPr/>
        </p:nvSpPr>
        <p:spPr>
          <a:xfrm>
            <a:off x="390525" y="48482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883" name="Google Shape;883;p25"/>
          <p:cNvSpPr txBox="1"/>
          <p:nvPr/>
        </p:nvSpPr>
        <p:spPr>
          <a:xfrm>
            <a:off x="390525" y="54102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884" name="Google Shape;884;p25"/>
          <p:cNvSpPr txBox="1"/>
          <p:nvPr/>
        </p:nvSpPr>
        <p:spPr>
          <a:xfrm>
            <a:off x="390525" y="59721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885" name="Google Shape;885;p25"/>
          <p:cNvSpPr txBox="1"/>
          <p:nvPr/>
        </p:nvSpPr>
        <p:spPr>
          <a:xfrm>
            <a:off x="390525" y="133921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886" name="Google Shape;886;p25"/>
          <p:cNvSpPr txBox="1"/>
          <p:nvPr/>
        </p:nvSpPr>
        <p:spPr>
          <a:xfrm>
            <a:off x="390525" y="13954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887" name="Google Shape;887;p25"/>
          <p:cNvSpPr txBox="1"/>
          <p:nvPr/>
        </p:nvSpPr>
        <p:spPr>
          <a:xfrm>
            <a:off x="390525" y="14516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888" name="Google Shape;888;p25"/>
          <p:cNvSpPr txBox="1"/>
          <p:nvPr/>
        </p:nvSpPr>
        <p:spPr>
          <a:xfrm>
            <a:off x="390525" y="15078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889" name="Google Shape;889;p25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890" name="Google Shape;890;p25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891" name="Google Shape;891;p25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892" name="Google Shape;892;p25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893" name="Google Shape;893;p25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894" name="Google Shape;894;p25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895" name="Google Shape;895;p2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0782300" y="571500"/>
            <a:ext cx="8382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96" name="Google Shape;896;p25"/>
          <p:cNvSpPr txBox="1"/>
          <p:nvPr/>
        </p:nvSpPr>
        <p:spPr>
          <a:xfrm>
            <a:off x="571500" y="2628900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Queue Type: LIFO Stack</a:t>
            </a:r>
            <a:endParaRPr/>
          </a:p>
        </p:txBody>
      </p:sp>
      <p:sp>
        <p:nvSpPr>
          <p:cNvPr id="897" name="Google Shape;897;p25"/>
          <p:cNvSpPr txBox="1"/>
          <p:nvPr/>
        </p:nvSpPr>
        <p:spPr>
          <a:xfrm>
            <a:off x="571500" y="2981325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DFS plunges deep, expanding the deepest unexpanded node first, backtracking only when it hits a dead end.</a:t>
            </a:r>
            <a:endParaRPr/>
          </a:p>
        </p:txBody>
      </p:sp>
      <p:sp>
        <p:nvSpPr>
          <p:cNvPr id="898" name="Google Shape;898;p25"/>
          <p:cNvSpPr txBox="1"/>
          <p:nvPr/>
        </p:nvSpPr>
        <p:spPr>
          <a:xfrm>
            <a:off x="6477000" y="2819400"/>
            <a:ext cx="520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5A0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Memory Advantage</a:t>
            </a:r>
            <a:endParaRPr/>
          </a:p>
        </p:txBody>
      </p:sp>
      <p:sp>
        <p:nvSpPr>
          <p:cNvPr id="899" name="Google Shape;899;p25"/>
          <p:cNvSpPr txBox="1"/>
          <p:nvPr/>
        </p:nvSpPr>
        <p:spPr>
          <a:xfrm>
            <a:off x="6477000" y="3171825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Lora"/>
                <a:ea typeface="Lora"/>
                <a:cs typeface="Lora"/>
                <a:sym typeface="Lora"/>
              </a:rPr>
              <a:t>DFS only needs to store nodes on the path from the root to the current leaf, plus unexpanded siblings.</a:t>
            </a:r>
            <a:endParaRPr/>
          </a:p>
        </p:txBody>
      </p:sp>
      <p:sp>
        <p:nvSpPr>
          <p:cNvPr id="900" name="Google Shape;900;p25"/>
          <p:cNvSpPr txBox="1"/>
          <p:nvPr/>
        </p:nvSpPr>
        <p:spPr>
          <a:xfrm>
            <a:off x="6477000" y="4171950"/>
            <a:ext cx="4953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Contrast this linear space saving with BFS's exponential storage footprint!</a:t>
            </a:r>
            <a:endParaRPr/>
          </a:p>
        </p:txBody>
      </p:sp>
      <p:sp>
        <p:nvSpPr>
          <p:cNvPr id="901" name="Google Shape;901;p25"/>
          <p:cNvSpPr txBox="1"/>
          <p:nvPr/>
        </p:nvSpPr>
        <p:spPr>
          <a:xfrm>
            <a:off x="800100" y="3609975"/>
            <a:ext cx="5105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Completeness: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No (can get stuck in infinite paths or cycles).</a:t>
            </a:r>
            <a:endParaRPr/>
          </a:p>
        </p:txBody>
      </p:sp>
      <p:sp>
        <p:nvSpPr>
          <p:cNvPr id="902" name="Google Shape;902;p25"/>
          <p:cNvSpPr txBox="1"/>
          <p:nvPr/>
        </p:nvSpPr>
        <p:spPr>
          <a:xfrm>
            <a:off x="800100" y="3962400"/>
            <a:ext cx="5105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Optimality: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No (might find a deep goal before a shallow one).</a:t>
            </a:r>
            <a:endParaRPr/>
          </a:p>
        </p:txBody>
      </p:sp>
      <p:sp>
        <p:nvSpPr>
          <p:cNvPr id="903" name="Google Shape;903;p25"/>
          <p:cNvSpPr txBox="1"/>
          <p:nvPr/>
        </p:nvSpPr>
        <p:spPr>
          <a:xfrm>
            <a:off x="800100" y="4314825"/>
            <a:ext cx="5105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Time Complexity:</a:t>
            </a:r>
            <a:endParaRPr/>
          </a:p>
        </p:txBody>
      </p:sp>
      <p:sp>
        <p:nvSpPr>
          <p:cNvPr id="904" name="Google Shape;904;p25"/>
          <p:cNvSpPr txBox="1"/>
          <p:nvPr/>
        </p:nvSpPr>
        <p:spPr>
          <a:xfrm>
            <a:off x="800100" y="4667250"/>
            <a:ext cx="5105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Space Complexity: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(Massive memory savings!).</a:t>
            </a:r>
            <a:endParaRPr/>
          </a:p>
        </p:txBody>
      </p:sp>
      <p:pic>
        <p:nvPicPr>
          <p:cNvPr descr="image.png" id="905" name="Google Shape;905;p25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7277100" y="3771900"/>
            <a:ext cx="5143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6" name="Google Shape;906;p25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7867650" y="3771900"/>
            <a:ext cx="6953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7" name="Google Shape;907;p25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8639175" y="3771900"/>
            <a:ext cx="19907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p25"/>
          <p:cNvSpPr txBox="1"/>
          <p:nvPr/>
        </p:nvSpPr>
        <p:spPr>
          <a:xfrm>
            <a:off x="571500" y="3629025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909" name="Google Shape;909;p25"/>
          <p:cNvSpPr txBox="1"/>
          <p:nvPr/>
        </p:nvSpPr>
        <p:spPr>
          <a:xfrm>
            <a:off x="571500" y="3981450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910" name="Google Shape;910;p25"/>
          <p:cNvSpPr txBox="1"/>
          <p:nvPr/>
        </p:nvSpPr>
        <p:spPr>
          <a:xfrm>
            <a:off x="571500" y="4333875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pic>
        <p:nvPicPr>
          <p:cNvPr descr="image.png" id="911" name="Google Shape;911;p25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2286000" y="4363640"/>
            <a:ext cx="637579" cy="189309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25"/>
          <p:cNvSpPr txBox="1"/>
          <p:nvPr/>
        </p:nvSpPr>
        <p:spPr>
          <a:xfrm>
            <a:off x="571500" y="4686300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pic>
        <p:nvPicPr>
          <p:cNvPr descr="image.png" id="913" name="Google Shape;913;p25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2343150" y="4724400"/>
            <a:ext cx="647848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25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DEPTH-FIRST SEARCH (DFS)</a:t>
            </a:r>
            <a:endParaRPr/>
          </a:p>
        </p:txBody>
      </p:sp>
      <p:sp>
        <p:nvSpPr>
          <p:cNvPr id="915" name="Google Shape;915;p25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0" name="Google Shape;92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1" name="Google Shape;92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64172"/>
            <a:ext cx="5334000" cy="2320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2" name="Google Shape;92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3" name="Google Shape;92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4" name="Google Shape;924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5" name="Google Shape;925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6" name="Google Shape;926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7" name="Google Shape;927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8" name="Google Shape;928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3009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9" name="Google Shape;929;p2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3571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0" name="Google Shape;930;p2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4133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1" name="Google Shape;931;p2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4695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2" name="Google Shape;932;p2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5257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3" name="Google Shape;933;p2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5819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4" name="Google Shape;934;p2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6381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5" name="Google Shape;935;p2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13801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6" name="Google Shape;936;p2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14363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7" name="Google Shape;937;p2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14925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8" name="Google Shape;938;p2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9" name="Google Shape;939;p2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0" name="Google Shape;940;p2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1" name="Google Shape;941;p2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2" name="Google Shape;942;p2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3" name="Google Shape;943;p2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26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945" name="Google Shape;945;p26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946" name="Google Shape;946;p26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947" name="Google Shape;947;p26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948" name="Google Shape;948;p26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949" name="Google Shape;949;p26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950" name="Google Shape;950;p26"/>
          <p:cNvSpPr txBox="1"/>
          <p:nvPr/>
        </p:nvSpPr>
        <p:spPr>
          <a:xfrm>
            <a:off x="390525" y="31623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951" name="Google Shape;951;p26"/>
          <p:cNvSpPr txBox="1"/>
          <p:nvPr/>
        </p:nvSpPr>
        <p:spPr>
          <a:xfrm>
            <a:off x="390525" y="37242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952" name="Google Shape;952;p26"/>
          <p:cNvSpPr txBox="1"/>
          <p:nvPr/>
        </p:nvSpPr>
        <p:spPr>
          <a:xfrm>
            <a:off x="390525" y="42862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953" name="Google Shape;953;p26"/>
          <p:cNvSpPr txBox="1"/>
          <p:nvPr/>
        </p:nvSpPr>
        <p:spPr>
          <a:xfrm>
            <a:off x="390525" y="48482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954" name="Google Shape;954;p26"/>
          <p:cNvSpPr txBox="1"/>
          <p:nvPr/>
        </p:nvSpPr>
        <p:spPr>
          <a:xfrm>
            <a:off x="390525" y="54102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955" name="Google Shape;955;p26"/>
          <p:cNvSpPr txBox="1"/>
          <p:nvPr/>
        </p:nvSpPr>
        <p:spPr>
          <a:xfrm>
            <a:off x="390525" y="59721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956" name="Google Shape;956;p26"/>
          <p:cNvSpPr txBox="1"/>
          <p:nvPr/>
        </p:nvSpPr>
        <p:spPr>
          <a:xfrm>
            <a:off x="390525" y="65341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957" name="Google Shape;957;p26"/>
          <p:cNvSpPr txBox="1"/>
          <p:nvPr/>
        </p:nvSpPr>
        <p:spPr>
          <a:xfrm>
            <a:off x="390525" y="13954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958" name="Google Shape;958;p26"/>
          <p:cNvSpPr txBox="1"/>
          <p:nvPr/>
        </p:nvSpPr>
        <p:spPr>
          <a:xfrm>
            <a:off x="390525" y="14516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959" name="Google Shape;959;p26"/>
          <p:cNvSpPr txBox="1"/>
          <p:nvPr/>
        </p:nvSpPr>
        <p:spPr>
          <a:xfrm>
            <a:off x="390525" y="15078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960" name="Google Shape;960;p26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961" name="Google Shape;961;p26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962" name="Google Shape;962;p26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963" name="Google Shape;963;p26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964" name="Google Shape;964;p26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965" name="Google Shape;965;p26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966" name="Google Shape;966;p26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0763250" y="571500"/>
            <a:ext cx="8572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26"/>
          <p:cNvSpPr txBox="1"/>
          <p:nvPr/>
        </p:nvSpPr>
        <p:spPr>
          <a:xfrm>
            <a:off x="800100" y="2864197"/>
            <a:ext cx="490537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g(n)</a:t>
            </a:r>
            <a:endParaRPr/>
          </a:p>
        </p:txBody>
      </p:sp>
      <p:sp>
        <p:nvSpPr>
          <p:cNvPr id="968" name="Google Shape;968;p26"/>
          <p:cNvSpPr txBox="1"/>
          <p:nvPr/>
        </p:nvSpPr>
        <p:spPr>
          <a:xfrm>
            <a:off x="800100" y="3864322"/>
            <a:ext cx="4905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Prioritize by Cumulative Path Cost</a:t>
            </a:r>
            <a:endParaRPr/>
          </a:p>
        </p:txBody>
      </p:sp>
      <p:sp>
        <p:nvSpPr>
          <p:cNvPr id="969" name="Google Shape;969;p26"/>
          <p:cNvSpPr txBox="1"/>
          <p:nvPr/>
        </p:nvSpPr>
        <p:spPr>
          <a:xfrm>
            <a:off x="6286500" y="2664172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Optimizing Variable Step Costs</a:t>
            </a:r>
            <a:endParaRPr/>
          </a:p>
        </p:txBody>
      </p:sp>
      <p:sp>
        <p:nvSpPr>
          <p:cNvPr id="970" name="Google Shape;970;p26"/>
          <p:cNvSpPr txBox="1"/>
          <p:nvPr/>
        </p:nvSpPr>
        <p:spPr>
          <a:xfrm>
            <a:off x="6286500" y="3016597"/>
            <a:ext cx="5334000" cy="526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When step costs differ, BFS fails to find optimal paths. UCS resolves this by ordering the frontier queue strictly by g(n):</a:t>
            </a:r>
            <a:endParaRPr/>
          </a:p>
        </p:txBody>
      </p:sp>
      <p:sp>
        <p:nvSpPr>
          <p:cNvPr id="971" name="Google Shape;971;p26"/>
          <p:cNvSpPr txBox="1"/>
          <p:nvPr/>
        </p:nvSpPr>
        <p:spPr>
          <a:xfrm>
            <a:off x="6515100" y="3657600"/>
            <a:ext cx="5105400" cy="269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Equivalent to best-first search with f(n) = g(n).</a:t>
            </a:r>
            <a:endParaRPr/>
          </a:p>
        </p:txBody>
      </p:sp>
      <p:sp>
        <p:nvSpPr>
          <p:cNvPr id="972" name="Google Shape;972;p26"/>
          <p:cNvSpPr txBox="1"/>
          <p:nvPr/>
        </p:nvSpPr>
        <p:spPr>
          <a:xfrm>
            <a:off x="6515100" y="4022377"/>
            <a:ext cx="5105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Guaranteed to find the optimal path with positive step costs.</a:t>
            </a:r>
            <a:endParaRPr/>
          </a:p>
        </p:txBody>
      </p:sp>
      <p:sp>
        <p:nvSpPr>
          <p:cNvPr id="973" name="Google Shape;973;p26"/>
          <p:cNvSpPr txBox="1"/>
          <p:nvPr/>
        </p:nvSpPr>
        <p:spPr>
          <a:xfrm>
            <a:off x="6515100" y="4374802"/>
            <a:ext cx="5105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Early Goal-Test Failure: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A goal state cannot be tested when it is generated; we must test only when popped.</a:t>
            </a:r>
            <a:endParaRPr/>
          </a:p>
        </p:txBody>
      </p:sp>
      <p:sp>
        <p:nvSpPr>
          <p:cNvPr id="974" name="Google Shape;974;p26"/>
          <p:cNvSpPr txBox="1"/>
          <p:nvPr/>
        </p:nvSpPr>
        <p:spPr>
          <a:xfrm>
            <a:off x="6286500" y="3676650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975" name="Google Shape;975;p26"/>
          <p:cNvSpPr txBox="1"/>
          <p:nvPr/>
        </p:nvSpPr>
        <p:spPr>
          <a:xfrm>
            <a:off x="6286500" y="4041427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976" name="Google Shape;976;p26"/>
          <p:cNvSpPr txBox="1"/>
          <p:nvPr/>
        </p:nvSpPr>
        <p:spPr>
          <a:xfrm>
            <a:off x="6286500" y="4393852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977" name="Google Shape;977;p26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UNIFORM-COST SEARCH (UCS)</a:t>
            </a:r>
            <a:endParaRPr/>
          </a:p>
        </p:txBody>
      </p:sp>
      <p:sp>
        <p:nvSpPr>
          <p:cNvPr id="978" name="Google Shape;978;p26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3" name="Google Shape;98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4" name="Google Shape;98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4593"/>
            <a:ext cx="5334000" cy="2719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5" name="Google Shape;98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64593"/>
            <a:ext cx="5334000" cy="27193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6" name="Google Shape;98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7" name="Google Shape;987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8" name="Google Shape;988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9" name="Google Shape;989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0" name="Google Shape;990;p2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1" name="Google Shape;991;p2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2" name="Google Shape;992;p2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3009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3" name="Google Shape;993;p2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3571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4" name="Google Shape;994;p2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4133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5" name="Google Shape;995;p2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4695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6" name="Google Shape;996;p2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5257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7" name="Google Shape;997;p2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5819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8" name="Google Shape;998;p2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6381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9" name="Google Shape;999;p2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6943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0" name="Google Shape;1000;p2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14363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1" name="Google Shape;1001;p2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14925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2" name="Google Shape;1002;p2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3" name="Google Shape;1003;p2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4" name="Google Shape;1004;p2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5" name="Google Shape;1005;p2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6" name="Google Shape;1006;p27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7" name="Google Shape;1007;p27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8" name="Google Shape;1008;p27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1009" name="Google Shape;1009;p27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1010" name="Google Shape;1010;p27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1011" name="Google Shape;1011;p27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1012" name="Google Shape;1012;p27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1013" name="Google Shape;1013;p27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1014" name="Google Shape;1014;p27"/>
          <p:cNvSpPr txBox="1"/>
          <p:nvPr/>
        </p:nvSpPr>
        <p:spPr>
          <a:xfrm>
            <a:off x="390525" y="31623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1015" name="Google Shape;1015;p27"/>
          <p:cNvSpPr txBox="1"/>
          <p:nvPr/>
        </p:nvSpPr>
        <p:spPr>
          <a:xfrm>
            <a:off x="390525" y="37242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1016" name="Google Shape;1016;p27"/>
          <p:cNvSpPr txBox="1"/>
          <p:nvPr/>
        </p:nvSpPr>
        <p:spPr>
          <a:xfrm>
            <a:off x="390525" y="42862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1017" name="Google Shape;1017;p27"/>
          <p:cNvSpPr txBox="1"/>
          <p:nvPr/>
        </p:nvSpPr>
        <p:spPr>
          <a:xfrm>
            <a:off x="390525" y="48482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1018" name="Google Shape;1018;p27"/>
          <p:cNvSpPr txBox="1"/>
          <p:nvPr/>
        </p:nvSpPr>
        <p:spPr>
          <a:xfrm>
            <a:off x="390525" y="54102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1019" name="Google Shape;1019;p27"/>
          <p:cNvSpPr txBox="1"/>
          <p:nvPr/>
        </p:nvSpPr>
        <p:spPr>
          <a:xfrm>
            <a:off x="390525" y="59721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1020" name="Google Shape;1020;p27"/>
          <p:cNvSpPr txBox="1"/>
          <p:nvPr/>
        </p:nvSpPr>
        <p:spPr>
          <a:xfrm>
            <a:off x="390525" y="65341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1021" name="Google Shape;1021;p27"/>
          <p:cNvSpPr txBox="1"/>
          <p:nvPr/>
        </p:nvSpPr>
        <p:spPr>
          <a:xfrm>
            <a:off x="390525" y="7096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1022" name="Google Shape;1022;p27"/>
          <p:cNvSpPr txBox="1"/>
          <p:nvPr/>
        </p:nvSpPr>
        <p:spPr>
          <a:xfrm>
            <a:off x="390525" y="14516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1023" name="Google Shape;1023;p27"/>
          <p:cNvSpPr txBox="1"/>
          <p:nvPr/>
        </p:nvSpPr>
        <p:spPr>
          <a:xfrm>
            <a:off x="390525" y="15078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1024" name="Google Shape;1024;p27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1025" name="Google Shape;1025;p27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1026" name="Google Shape;1026;p27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1027" name="Google Shape;1027;p27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1028" name="Google Shape;1028;p27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1029" name="Google Shape;1029;p27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1030" name="Google Shape;1030;p27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0782300" y="571500"/>
            <a:ext cx="8382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27"/>
          <p:cNvSpPr txBox="1"/>
          <p:nvPr/>
        </p:nvSpPr>
        <p:spPr>
          <a:xfrm>
            <a:off x="800100" y="2664618"/>
            <a:ext cx="51506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Iterative Deepening Search (IDS)</a:t>
            </a:r>
            <a:endParaRPr/>
          </a:p>
        </p:txBody>
      </p:sp>
      <p:sp>
        <p:nvSpPr>
          <p:cNvPr id="1032" name="Google Shape;1032;p27"/>
          <p:cNvSpPr txBox="1"/>
          <p:nvPr/>
        </p:nvSpPr>
        <p:spPr>
          <a:xfrm>
            <a:off x="800100" y="3017043"/>
            <a:ext cx="49053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IDS combines the completeness of BFS with the low memory footprint of DFS:</a:t>
            </a:r>
            <a:endParaRPr/>
          </a:p>
        </p:txBody>
      </p:sp>
      <p:sp>
        <p:nvSpPr>
          <p:cNvPr id="1033" name="Google Shape;1033;p27"/>
          <p:cNvSpPr txBox="1"/>
          <p:nvPr/>
        </p:nvSpPr>
        <p:spPr>
          <a:xfrm>
            <a:off x="800100" y="4598193"/>
            <a:ext cx="490537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12" u="none" cap="none" strike="noStrike">
                <a:solidFill>
                  <a:srgbClr val="5C6A79"/>
                </a:solidFill>
                <a:latin typeface="Lora"/>
                <a:ea typeface="Lora"/>
                <a:cs typeface="Lora"/>
                <a:sym typeface="Lora"/>
              </a:rPr>
              <a:t>Regenerating root nodes feels wasteful but represents only an 11% computational overhead for a massive memory saving.</a:t>
            </a:r>
            <a:endParaRPr/>
          </a:p>
        </p:txBody>
      </p:sp>
      <p:sp>
        <p:nvSpPr>
          <p:cNvPr id="1034" name="Google Shape;1034;p27"/>
          <p:cNvSpPr txBox="1"/>
          <p:nvPr/>
        </p:nvSpPr>
        <p:spPr>
          <a:xfrm>
            <a:off x="6515100" y="2664618"/>
            <a:ext cx="51506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Bidirectional Search</a:t>
            </a:r>
            <a:endParaRPr/>
          </a:p>
        </p:txBody>
      </p:sp>
      <p:sp>
        <p:nvSpPr>
          <p:cNvPr id="1035" name="Google Shape;1035;p27"/>
          <p:cNvSpPr txBox="1"/>
          <p:nvPr/>
        </p:nvSpPr>
        <p:spPr>
          <a:xfrm>
            <a:off x="6515100" y="3017043"/>
            <a:ext cx="49053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Search forward from the initial state AND backward from the goal simultaneously:</a:t>
            </a:r>
            <a:endParaRPr/>
          </a:p>
        </p:txBody>
      </p:sp>
      <p:sp>
        <p:nvSpPr>
          <p:cNvPr id="1036" name="Google Shape;1036;p27"/>
          <p:cNvSpPr txBox="1"/>
          <p:nvPr/>
        </p:nvSpPr>
        <p:spPr>
          <a:xfrm>
            <a:off x="1028700" y="3540918"/>
            <a:ext cx="4676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Repeatedly runs depth-limited search with limit = 0, 1, 2...</a:t>
            </a:r>
            <a:endParaRPr/>
          </a:p>
        </p:txBody>
      </p:sp>
      <p:sp>
        <p:nvSpPr>
          <p:cNvPr id="1037" name="Google Shape;1037;p27"/>
          <p:cNvSpPr txBox="1"/>
          <p:nvPr/>
        </p:nvSpPr>
        <p:spPr>
          <a:xfrm>
            <a:off x="1028700" y="3893343"/>
            <a:ext cx="4676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Explores level-by-level, ensuring depth optimality.</a:t>
            </a:r>
            <a:endParaRPr/>
          </a:p>
        </p:txBody>
      </p:sp>
      <p:sp>
        <p:nvSpPr>
          <p:cNvPr id="1038" name="Google Shape;1038;p27"/>
          <p:cNvSpPr txBox="1"/>
          <p:nvPr/>
        </p:nvSpPr>
        <p:spPr>
          <a:xfrm>
            <a:off x="1028700" y="4245768"/>
            <a:ext cx="4676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Uses linear space:</a:t>
            </a:r>
            <a:endParaRPr/>
          </a:p>
        </p:txBody>
      </p:sp>
      <p:sp>
        <p:nvSpPr>
          <p:cNvPr id="1039" name="Google Shape;1039;p27"/>
          <p:cNvSpPr txBox="1"/>
          <p:nvPr/>
        </p:nvSpPr>
        <p:spPr>
          <a:xfrm>
            <a:off x="6743700" y="3540918"/>
            <a:ext cx="4676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Intersects in the middle, stopping when frontiers meet.</a:t>
            </a:r>
            <a:endParaRPr/>
          </a:p>
        </p:txBody>
      </p:sp>
      <p:sp>
        <p:nvSpPr>
          <p:cNvPr id="1040" name="Google Shape;1040;p27"/>
          <p:cNvSpPr txBox="1"/>
          <p:nvPr/>
        </p:nvSpPr>
        <p:spPr>
          <a:xfrm>
            <a:off x="6743700" y="3893343"/>
            <a:ext cx="4676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Reduces complexity from to .</a:t>
            </a:r>
            <a:endParaRPr/>
          </a:p>
        </p:txBody>
      </p:sp>
      <p:sp>
        <p:nvSpPr>
          <p:cNvPr id="1041" name="Google Shape;1041;p27"/>
          <p:cNvSpPr txBox="1"/>
          <p:nvPr/>
        </p:nvSpPr>
        <p:spPr>
          <a:xfrm>
            <a:off x="6743700" y="4245768"/>
            <a:ext cx="4676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Requires backwards action capabilities.</a:t>
            </a:r>
            <a:endParaRPr/>
          </a:p>
        </p:txBody>
      </p:sp>
      <p:sp>
        <p:nvSpPr>
          <p:cNvPr id="1042" name="Google Shape;1042;p27"/>
          <p:cNvSpPr txBox="1"/>
          <p:nvPr/>
        </p:nvSpPr>
        <p:spPr>
          <a:xfrm>
            <a:off x="800100" y="3559968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043" name="Google Shape;1043;p27"/>
          <p:cNvSpPr txBox="1"/>
          <p:nvPr/>
        </p:nvSpPr>
        <p:spPr>
          <a:xfrm>
            <a:off x="800100" y="3912393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044" name="Google Shape;1044;p27"/>
          <p:cNvSpPr txBox="1"/>
          <p:nvPr/>
        </p:nvSpPr>
        <p:spPr>
          <a:xfrm>
            <a:off x="800100" y="4264818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pic>
        <p:nvPicPr>
          <p:cNvPr descr="image.png" id="1045" name="Google Shape;1045;p27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2514600" y="4302918"/>
            <a:ext cx="600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27"/>
          <p:cNvSpPr txBox="1"/>
          <p:nvPr/>
        </p:nvSpPr>
        <p:spPr>
          <a:xfrm>
            <a:off x="6515100" y="3559968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047" name="Google Shape;1047;p27"/>
          <p:cNvSpPr txBox="1"/>
          <p:nvPr/>
        </p:nvSpPr>
        <p:spPr>
          <a:xfrm>
            <a:off x="6515100" y="3912393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pic>
        <p:nvPicPr>
          <p:cNvPr descr="image.png" id="1048" name="Google Shape;1048;p27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8858250" y="3913584"/>
            <a:ext cx="603795" cy="2178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9" name="Google Shape;1049;p27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9728745" y="3913584"/>
            <a:ext cx="767208" cy="217884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27"/>
          <p:cNvSpPr txBox="1"/>
          <p:nvPr/>
        </p:nvSpPr>
        <p:spPr>
          <a:xfrm>
            <a:off x="6515100" y="4264818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051" name="Google Shape;1051;p2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IDS &amp; BIDIRECTIONAL SEARCH</a:t>
            </a:r>
            <a:endParaRPr/>
          </a:p>
        </p:txBody>
      </p:sp>
      <p:sp>
        <p:nvSpPr>
          <p:cNvPr id="1052" name="Google Shape;1052;p27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7" name="Google Shape;105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8" name="Google Shape;105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01503"/>
            <a:ext cx="5334000" cy="2645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9" name="Google Shape;105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18730"/>
            <a:ext cx="53340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0" name="Google Shape;106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1" name="Google Shape;1061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2" name="Google Shape;1062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3" name="Google Shape;1063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4" name="Google Shape;1064;p2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5" name="Google Shape;1065;p2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6" name="Google Shape;1066;p2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3009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7" name="Google Shape;1067;p2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3571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8" name="Google Shape;1068;p2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4133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9" name="Google Shape;1069;p2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4695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0" name="Google Shape;1070;p2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5257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1" name="Google Shape;1071;p2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5819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2" name="Google Shape;1072;p28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6381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3" name="Google Shape;1073;p28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6943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4" name="Google Shape;1074;p28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7505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5" name="Google Shape;1075;p28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14925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6" name="Google Shape;1076;p28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7" name="Google Shape;1077;p28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8" name="Google Shape;1078;p28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9" name="Google Shape;1079;p28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0" name="Google Shape;1080;p28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1" name="Google Shape;1081;p28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28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1083" name="Google Shape;1083;p28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1084" name="Google Shape;1084;p28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1085" name="Google Shape;1085;p28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1086" name="Google Shape;1086;p28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1087" name="Google Shape;1087;p28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1088" name="Google Shape;1088;p28"/>
          <p:cNvSpPr txBox="1"/>
          <p:nvPr/>
        </p:nvSpPr>
        <p:spPr>
          <a:xfrm>
            <a:off x="390525" y="31623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1089" name="Google Shape;1089;p28"/>
          <p:cNvSpPr txBox="1"/>
          <p:nvPr/>
        </p:nvSpPr>
        <p:spPr>
          <a:xfrm>
            <a:off x="390525" y="37242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1090" name="Google Shape;1090;p28"/>
          <p:cNvSpPr txBox="1"/>
          <p:nvPr/>
        </p:nvSpPr>
        <p:spPr>
          <a:xfrm>
            <a:off x="390525" y="42862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1091" name="Google Shape;1091;p28"/>
          <p:cNvSpPr txBox="1"/>
          <p:nvPr/>
        </p:nvSpPr>
        <p:spPr>
          <a:xfrm>
            <a:off x="390525" y="48482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1092" name="Google Shape;1092;p28"/>
          <p:cNvSpPr txBox="1"/>
          <p:nvPr/>
        </p:nvSpPr>
        <p:spPr>
          <a:xfrm>
            <a:off x="390525" y="54102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1093" name="Google Shape;1093;p28"/>
          <p:cNvSpPr txBox="1"/>
          <p:nvPr/>
        </p:nvSpPr>
        <p:spPr>
          <a:xfrm>
            <a:off x="390525" y="59721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1094" name="Google Shape;1094;p28"/>
          <p:cNvSpPr txBox="1"/>
          <p:nvPr/>
        </p:nvSpPr>
        <p:spPr>
          <a:xfrm>
            <a:off x="390525" y="65341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1095" name="Google Shape;1095;p28"/>
          <p:cNvSpPr txBox="1"/>
          <p:nvPr/>
        </p:nvSpPr>
        <p:spPr>
          <a:xfrm>
            <a:off x="390525" y="7096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1096" name="Google Shape;1096;p28"/>
          <p:cNvSpPr txBox="1"/>
          <p:nvPr/>
        </p:nvSpPr>
        <p:spPr>
          <a:xfrm>
            <a:off x="390525" y="7658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1097" name="Google Shape;1097;p28"/>
          <p:cNvSpPr txBox="1"/>
          <p:nvPr/>
        </p:nvSpPr>
        <p:spPr>
          <a:xfrm>
            <a:off x="390525" y="15078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1098" name="Google Shape;1098;p28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1099" name="Google Shape;1099;p28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1100" name="Google Shape;1100;p28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1101" name="Google Shape;1101;p28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1102" name="Google Shape;1102;p28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1103" name="Google Shape;1103;p28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1104" name="Google Shape;1104;p28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0772775" y="571500"/>
            <a:ext cx="8477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28"/>
          <p:cNvSpPr txBox="1"/>
          <p:nvPr/>
        </p:nvSpPr>
        <p:spPr>
          <a:xfrm>
            <a:off x="571500" y="2501503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Adding Domain Knowledge</a:t>
            </a:r>
            <a:endParaRPr/>
          </a:p>
        </p:txBody>
      </p:sp>
      <p:sp>
        <p:nvSpPr>
          <p:cNvPr id="1106" name="Google Shape;1106;p28"/>
          <p:cNvSpPr txBox="1"/>
          <p:nvPr/>
        </p:nvSpPr>
        <p:spPr>
          <a:xfrm>
            <a:off x="571500" y="2853928"/>
            <a:ext cx="5334000" cy="526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Uninformed search explores blindly. Informed search uses domain-specific hints via a heuristic function h(n):</a:t>
            </a:r>
            <a:endParaRPr/>
          </a:p>
        </p:txBody>
      </p:sp>
      <p:sp>
        <p:nvSpPr>
          <p:cNvPr id="1107" name="Google Shape;1107;p28"/>
          <p:cNvSpPr txBox="1"/>
          <p:nvPr/>
        </p:nvSpPr>
        <p:spPr>
          <a:xfrm>
            <a:off x="571500" y="4314080"/>
            <a:ext cx="5334000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Unlike historical path cost g(n), a heuristic is an estimate of future steps. It must evaluate to h(goal) = 0.</a:t>
            </a:r>
            <a:endParaRPr/>
          </a:p>
        </p:txBody>
      </p:sp>
      <p:sp>
        <p:nvSpPr>
          <p:cNvPr id="1108" name="Google Shape;1108;p28"/>
          <p:cNvSpPr txBox="1"/>
          <p:nvPr/>
        </p:nvSpPr>
        <p:spPr>
          <a:xfrm>
            <a:off x="6515100" y="2701528"/>
            <a:ext cx="51506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Straight-Line Distance Heuristic</a:t>
            </a:r>
            <a:endParaRPr/>
          </a:p>
        </p:txBody>
      </p:sp>
      <p:sp>
        <p:nvSpPr>
          <p:cNvPr id="1109" name="Google Shape;1109;p28"/>
          <p:cNvSpPr txBox="1"/>
          <p:nvPr/>
        </p:nvSpPr>
        <p:spPr>
          <a:xfrm>
            <a:off x="6515100" y="3053953"/>
            <a:ext cx="4905375" cy="4357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For the Romania map, we use direct line-of-sight distance to Bucharest as our h(n):</a:t>
            </a:r>
            <a:endParaRPr/>
          </a:p>
        </p:txBody>
      </p:sp>
      <p:sp>
        <p:nvSpPr>
          <p:cNvPr id="1110" name="Google Shape;1110;p28"/>
          <p:cNvSpPr/>
          <p:nvPr/>
        </p:nvSpPr>
        <p:spPr>
          <a:xfrm>
            <a:off x="6515100" y="3584971"/>
            <a:ext cx="4905375" cy="1362075"/>
          </a:xfrm>
          <a:prstGeom prst="roundRect">
            <a:avLst>
              <a:gd fmla="val 0" name="adj"/>
            </a:avLst>
          </a:prstGeom>
          <a:solidFill>
            <a:srgbClr val="FAF8F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11" name="Google Shape;1111;p28"/>
          <p:cNvGraphicFramePr/>
          <p:nvPr/>
        </p:nvGraphicFramePr>
        <p:xfrm>
          <a:off x="6515100" y="35849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{8399A1FB-DAE9-43C8-8D02-2ED83B9D63F8}</a:tableStyleId>
              </a:tblPr>
              <a:tblGrid>
                <a:gridCol w="1460300"/>
                <a:gridCol w="3445075"/>
              </a:tblGrid>
              <a:tr h="34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FCFAF2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City (n)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FCFAF2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h_SLD(n) to Bucharest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</a:tr>
              <a:tr h="34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Arad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366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Sibiu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253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</a:tr>
              <a:tr h="34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Pitesti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112" name="Google Shape;1112;p28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571500" y="3761630"/>
            <a:ext cx="53340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28"/>
          <p:cNvSpPr/>
          <p:nvPr/>
        </p:nvSpPr>
        <p:spPr>
          <a:xfrm>
            <a:off x="6515100" y="3918346"/>
            <a:ext cx="1460301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28"/>
          <p:cNvSpPr/>
          <p:nvPr/>
        </p:nvSpPr>
        <p:spPr>
          <a:xfrm>
            <a:off x="7975401" y="3918346"/>
            <a:ext cx="3445073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28"/>
          <p:cNvSpPr/>
          <p:nvPr/>
        </p:nvSpPr>
        <p:spPr>
          <a:xfrm>
            <a:off x="6515100" y="4266009"/>
            <a:ext cx="1460301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28"/>
          <p:cNvSpPr/>
          <p:nvPr/>
        </p:nvSpPr>
        <p:spPr>
          <a:xfrm>
            <a:off x="7975401" y="4266009"/>
            <a:ext cx="3445073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28"/>
          <p:cNvSpPr/>
          <p:nvPr/>
        </p:nvSpPr>
        <p:spPr>
          <a:xfrm>
            <a:off x="6515100" y="4599384"/>
            <a:ext cx="1460301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8"/>
          <p:cNvSpPr/>
          <p:nvPr/>
        </p:nvSpPr>
        <p:spPr>
          <a:xfrm>
            <a:off x="7975401" y="4599384"/>
            <a:ext cx="3445073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28"/>
          <p:cNvSpPr/>
          <p:nvPr/>
        </p:nvSpPr>
        <p:spPr>
          <a:xfrm>
            <a:off x="6515100" y="4932759"/>
            <a:ext cx="1460301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28"/>
          <p:cNvSpPr/>
          <p:nvPr/>
        </p:nvSpPr>
        <p:spPr>
          <a:xfrm>
            <a:off x="7975401" y="4932759"/>
            <a:ext cx="3445073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28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INFORMED SEARCH &amp; HEURISTICS</a:t>
            </a:r>
            <a:endParaRPr/>
          </a:p>
        </p:txBody>
      </p:sp>
      <p:sp>
        <p:nvSpPr>
          <p:cNvPr id="1122" name="Google Shape;1122;p28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7" name="Google Shape;11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8" name="Google Shape;1128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3149"/>
            <a:ext cx="5334000" cy="2022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9" name="Google Shape;1129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813149"/>
            <a:ext cx="5334000" cy="2022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0" name="Google Shape;113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1" name="Google Shape;1131;p2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2" name="Google Shape;1132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3" name="Google Shape;1133;p2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4" name="Google Shape;1134;p2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5" name="Google Shape;1135;p2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6" name="Google Shape;1136;p2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3009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7" name="Google Shape;1137;p29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3571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8" name="Google Shape;1138;p29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4133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9" name="Google Shape;1139;p29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4695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0" name="Google Shape;1140;p29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5257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1" name="Google Shape;1141;p29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5819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2" name="Google Shape;1142;p29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6381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3" name="Google Shape;1143;p29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6943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4" name="Google Shape;1144;p29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7505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5" name="Google Shape;1145;p29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8067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6" name="Google Shape;1146;p29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15487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7" name="Google Shape;1147;p2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8" name="Google Shape;1148;p29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9" name="Google Shape;1149;p29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0" name="Google Shape;1150;p29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1" name="Google Shape;1151;p29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2" name="Google Shape;1152;p29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1153" name="Google Shape;1153;p29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1154" name="Google Shape;1154;p29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1155" name="Google Shape;1155;p29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1156" name="Google Shape;1156;p29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1157" name="Google Shape;1157;p29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1158" name="Google Shape;1158;p29"/>
          <p:cNvSpPr txBox="1"/>
          <p:nvPr/>
        </p:nvSpPr>
        <p:spPr>
          <a:xfrm>
            <a:off x="390525" y="31623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1159" name="Google Shape;1159;p29"/>
          <p:cNvSpPr txBox="1"/>
          <p:nvPr/>
        </p:nvSpPr>
        <p:spPr>
          <a:xfrm>
            <a:off x="390525" y="37242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1160" name="Google Shape;1160;p29"/>
          <p:cNvSpPr txBox="1"/>
          <p:nvPr/>
        </p:nvSpPr>
        <p:spPr>
          <a:xfrm>
            <a:off x="390525" y="42862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1161" name="Google Shape;1161;p29"/>
          <p:cNvSpPr txBox="1"/>
          <p:nvPr/>
        </p:nvSpPr>
        <p:spPr>
          <a:xfrm>
            <a:off x="390525" y="48482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1162" name="Google Shape;1162;p29"/>
          <p:cNvSpPr txBox="1"/>
          <p:nvPr/>
        </p:nvSpPr>
        <p:spPr>
          <a:xfrm>
            <a:off x="390525" y="54102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1163" name="Google Shape;1163;p29"/>
          <p:cNvSpPr txBox="1"/>
          <p:nvPr/>
        </p:nvSpPr>
        <p:spPr>
          <a:xfrm>
            <a:off x="390525" y="59721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1164" name="Google Shape;1164;p29"/>
          <p:cNvSpPr txBox="1"/>
          <p:nvPr/>
        </p:nvSpPr>
        <p:spPr>
          <a:xfrm>
            <a:off x="390525" y="65341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1165" name="Google Shape;1165;p29"/>
          <p:cNvSpPr txBox="1"/>
          <p:nvPr/>
        </p:nvSpPr>
        <p:spPr>
          <a:xfrm>
            <a:off x="390525" y="7096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1166" name="Google Shape;1166;p29"/>
          <p:cNvSpPr txBox="1"/>
          <p:nvPr/>
        </p:nvSpPr>
        <p:spPr>
          <a:xfrm>
            <a:off x="390525" y="7658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1167" name="Google Shape;1167;p29"/>
          <p:cNvSpPr txBox="1"/>
          <p:nvPr/>
        </p:nvSpPr>
        <p:spPr>
          <a:xfrm>
            <a:off x="390525" y="8220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1168" name="Google Shape;1168;p29"/>
          <p:cNvSpPr txBox="1"/>
          <p:nvPr/>
        </p:nvSpPr>
        <p:spPr>
          <a:xfrm>
            <a:off x="390525" y="15640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1169" name="Google Shape;1169;p29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1170" name="Google Shape;1170;p29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1171" name="Google Shape;1171;p29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1172" name="Google Shape;1172;p29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1173" name="Google Shape;1173;p29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1174" name="Google Shape;1174;p29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0772775" y="571500"/>
            <a:ext cx="8477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29"/>
          <p:cNvSpPr txBox="1"/>
          <p:nvPr/>
        </p:nvSpPr>
        <p:spPr>
          <a:xfrm>
            <a:off x="800100" y="3013174"/>
            <a:ext cx="51506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How It Works</a:t>
            </a:r>
            <a:endParaRPr/>
          </a:p>
        </p:txBody>
      </p:sp>
      <p:sp>
        <p:nvSpPr>
          <p:cNvPr id="1176" name="Google Shape;1176;p29"/>
          <p:cNvSpPr txBox="1"/>
          <p:nvPr/>
        </p:nvSpPr>
        <p:spPr>
          <a:xfrm>
            <a:off x="800100" y="3365599"/>
            <a:ext cx="4905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GBFS always expands the node that appears closest to the goal, completely ignoring past action cost:</a:t>
            </a:r>
            <a:endParaRPr/>
          </a:p>
        </p:txBody>
      </p:sp>
      <p:sp>
        <p:nvSpPr>
          <p:cNvPr id="1177" name="Google Shape;1177;p29"/>
          <p:cNvSpPr txBox="1"/>
          <p:nvPr/>
        </p:nvSpPr>
        <p:spPr>
          <a:xfrm>
            <a:off x="6477000" y="3003649"/>
            <a:ext cx="520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5A0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Myopic Trap</a:t>
            </a:r>
            <a:endParaRPr/>
          </a:p>
        </p:txBody>
      </p:sp>
      <p:sp>
        <p:nvSpPr>
          <p:cNvPr id="1178" name="Google Shape;1178;p29"/>
          <p:cNvSpPr txBox="1"/>
          <p:nvPr/>
        </p:nvSpPr>
        <p:spPr>
          <a:xfrm>
            <a:off x="6477000" y="3356074"/>
            <a:ext cx="4953000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CFAF2"/>
                </a:solidFill>
                <a:latin typeface="Lora"/>
                <a:ea typeface="Lora"/>
                <a:cs typeface="Lora"/>
                <a:sym typeface="Lora"/>
              </a:rPr>
              <a:t>Because GBFS ignores g(n), it can be misled by local-looking progress:</a:t>
            </a:r>
            <a:endParaRPr/>
          </a:p>
        </p:txBody>
      </p:sp>
      <p:sp>
        <p:nvSpPr>
          <p:cNvPr id="1179" name="Google Shape;1179;p29"/>
          <p:cNvSpPr txBox="1"/>
          <p:nvPr/>
        </p:nvSpPr>
        <p:spPr>
          <a:xfrm>
            <a:off x="6477000" y="3691830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25" u="none" cap="none" strike="noStrike">
                <a:solidFill>
                  <a:srgbClr val="CBD5E1"/>
                </a:solidFill>
                <a:latin typeface="Lora"/>
                <a:ea typeface="Lora"/>
                <a:cs typeface="Lora"/>
                <a:sym typeface="Lora"/>
              </a:rPr>
              <a:t>"Going from Arad, Sibiu looks closer to Bucharest than Timisoara. But a direct mountain path might be far slower than a slightly longer detour."</a:t>
            </a:r>
            <a:endParaRPr/>
          </a:p>
        </p:txBody>
      </p:sp>
      <p:sp>
        <p:nvSpPr>
          <p:cNvPr id="1180" name="Google Shape;1180;p29"/>
          <p:cNvSpPr txBox="1"/>
          <p:nvPr/>
        </p:nvSpPr>
        <p:spPr>
          <a:xfrm>
            <a:off x="6477000" y="4215705"/>
            <a:ext cx="4953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Result: Neither optimal nor complete in general.</a:t>
            </a:r>
            <a:endParaRPr/>
          </a:p>
        </p:txBody>
      </p:sp>
      <p:sp>
        <p:nvSpPr>
          <p:cNvPr id="1181" name="Google Shape;1181;p29"/>
          <p:cNvSpPr txBox="1"/>
          <p:nvPr/>
        </p:nvSpPr>
        <p:spPr>
          <a:xfrm>
            <a:off x="1028700" y="3918049"/>
            <a:ext cx="4676775" cy="2695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Equivalent to best-first search with f(n) = h(n).</a:t>
            </a:r>
            <a:endParaRPr/>
          </a:p>
        </p:txBody>
      </p:sp>
      <p:sp>
        <p:nvSpPr>
          <p:cNvPr id="1182" name="Google Shape;1182;p29"/>
          <p:cNvSpPr txBox="1"/>
          <p:nvPr/>
        </p:nvSpPr>
        <p:spPr>
          <a:xfrm>
            <a:off x="1028700" y="4282826"/>
            <a:ext cx="46767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Extremely fast when the heuristic is highly accurate.</a:t>
            </a:r>
            <a:endParaRPr/>
          </a:p>
        </p:txBody>
      </p:sp>
      <p:sp>
        <p:nvSpPr>
          <p:cNvPr id="1183" name="Google Shape;1183;p29"/>
          <p:cNvSpPr txBox="1"/>
          <p:nvPr/>
        </p:nvSpPr>
        <p:spPr>
          <a:xfrm>
            <a:off x="800100" y="3937099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184" name="Google Shape;1184;p29"/>
          <p:cNvSpPr txBox="1"/>
          <p:nvPr/>
        </p:nvSpPr>
        <p:spPr>
          <a:xfrm>
            <a:off x="800100" y="4301876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185" name="Google Shape;1185;p29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GREEDY BEST-FIRST SEARCH</a:t>
            </a:r>
            <a:endParaRPr/>
          </a:p>
        </p:txBody>
      </p:sp>
      <p:sp>
        <p:nvSpPr>
          <p:cNvPr id="1186" name="Google Shape;1186;p29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1" name="Google Shape;119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2" name="Google Shape;119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09862"/>
            <a:ext cx="533400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3" name="Google Shape;119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14737"/>
            <a:ext cx="53340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4" name="Google Shape;1194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5" name="Google Shape;1195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6" name="Google Shape;1196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7" name="Google Shape;1197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8" name="Google Shape;1198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9" name="Google Shape;1199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0" name="Google Shape;1200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3009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1" name="Google Shape;1201;p3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3571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2" name="Google Shape;1202;p30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4133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3" name="Google Shape;1203;p30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4695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4" name="Google Shape;1204;p30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5257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5" name="Google Shape;1205;p30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5819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6" name="Google Shape;1206;p3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6381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7" name="Google Shape;1207;p30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6943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8" name="Google Shape;1208;p3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7505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9" name="Google Shape;1209;p30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8067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0" name="Google Shape;1210;p30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8629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1" name="Google Shape;1211;p30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6049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2" name="Google Shape;1212;p30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3" name="Google Shape;1213;p30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4" name="Google Shape;1214;p30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5" name="Google Shape;1215;p30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6" name="Google Shape;1216;p30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1217" name="Google Shape;1217;p30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1218" name="Google Shape;1218;p30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1219" name="Google Shape;1219;p30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1220" name="Google Shape;1220;p30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1221" name="Google Shape;1221;p30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1222" name="Google Shape;1222;p30"/>
          <p:cNvSpPr txBox="1"/>
          <p:nvPr/>
        </p:nvSpPr>
        <p:spPr>
          <a:xfrm>
            <a:off x="390525" y="31623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1223" name="Google Shape;1223;p30"/>
          <p:cNvSpPr txBox="1"/>
          <p:nvPr/>
        </p:nvSpPr>
        <p:spPr>
          <a:xfrm>
            <a:off x="390525" y="37242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1224" name="Google Shape;1224;p30"/>
          <p:cNvSpPr txBox="1"/>
          <p:nvPr/>
        </p:nvSpPr>
        <p:spPr>
          <a:xfrm>
            <a:off x="390525" y="42862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1225" name="Google Shape;1225;p30"/>
          <p:cNvSpPr txBox="1"/>
          <p:nvPr/>
        </p:nvSpPr>
        <p:spPr>
          <a:xfrm>
            <a:off x="390525" y="48482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1226" name="Google Shape;1226;p30"/>
          <p:cNvSpPr txBox="1"/>
          <p:nvPr/>
        </p:nvSpPr>
        <p:spPr>
          <a:xfrm>
            <a:off x="390525" y="54102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1227" name="Google Shape;1227;p30"/>
          <p:cNvSpPr txBox="1"/>
          <p:nvPr/>
        </p:nvSpPr>
        <p:spPr>
          <a:xfrm>
            <a:off x="390525" y="59721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1228" name="Google Shape;1228;p30"/>
          <p:cNvSpPr txBox="1"/>
          <p:nvPr/>
        </p:nvSpPr>
        <p:spPr>
          <a:xfrm>
            <a:off x="390525" y="65341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1229" name="Google Shape;1229;p30"/>
          <p:cNvSpPr txBox="1"/>
          <p:nvPr/>
        </p:nvSpPr>
        <p:spPr>
          <a:xfrm>
            <a:off x="390525" y="7096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1230" name="Google Shape;1230;p30"/>
          <p:cNvSpPr txBox="1"/>
          <p:nvPr/>
        </p:nvSpPr>
        <p:spPr>
          <a:xfrm>
            <a:off x="390525" y="7658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1231" name="Google Shape;1231;p30"/>
          <p:cNvSpPr txBox="1"/>
          <p:nvPr/>
        </p:nvSpPr>
        <p:spPr>
          <a:xfrm>
            <a:off x="390525" y="8220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1232" name="Google Shape;1232;p30"/>
          <p:cNvSpPr txBox="1"/>
          <p:nvPr/>
        </p:nvSpPr>
        <p:spPr>
          <a:xfrm>
            <a:off x="390525" y="8782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1233" name="Google Shape;1233;p30"/>
          <p:cNvSpPr txBox="1"/>
          <p:nvPr/>
        </p:nvSpPr>
        <p:spPr>
          <a:xfrm>
            <a:off x="390525" y="16202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1234" name="Google Shape;1234;p30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1235" name="Google Shape;1235;p30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1236" name="Google Shape;1236;p30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1237" name="Google Shape;1237;p30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1238" name="Google Shape;1238;p30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0772775" y="571500"/>
            <a:ext cx="8477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9" name="Google Shape;1239;p30"/>
          <p:cNvSpPr txBox="1"/>
          <p:nvPr/>
        </p:nvSpPr>
        <p:spPr>
          <a:xfrm>
            <a:off x="571500" y="2709862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Combining Past and Future</a:t>
            </a:r>
            <a:endParaRPr/>
          </a:p>
        </p:txBody>
      </p:sp>
      <p:sp>
        <p:nvSpPr>
          <p:cNvPr id="1240" name="Google Shape;1240;p30"/>
          <p:cNvSpPr txBox="1"/>
          <p:nvPr/>
        </p:nvSpPr>
        <p:spPr>
          <a:xfrm>
            <a:off x="571500" y="3062287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A* evaluates nodes by combining the exact cost already paid with the estimated remaining cost:</a:t>
            </a:r>
            <a:endParaRPr/>
          </a:p>
        </p:txBody>
      </p:sp>
      <p:sp>
        <p:nvSpPr>
          <p:cNvPr id="1241" name="Google Shape;1241;p30"/>
          <p:cNvSpPr txBox="1"/>
          <p:nvPr/>
        </p:nvSpPr>
        <p:spPr>
          <a:xfrm>
            <a:off x="571500" y="4510087"/>
            <a:ext cx="5334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This ensures A* does not pursue cheap-looking but highly circuitous routes, nor expensive-looking local steps.</a:t>
            </a:r>
            <a:endParaRPr/>
          </a:p>
        </p:txBody>
      </p:sp>
      <p:sp>
        <p:nvSpPr>
          <p:cNvPr id="1242" name="Google Shape;1242;p30"/>
          <p:cNvSpPr txBox="1"/>
          <p:nvPr/>
        </p:nvSpPr>
        <p:spPr>
          <a:xfrm>
            <a:off x="6515100" y="2909887"/>
            <a:ext cx="51506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Expansion Contours</a:t>
            </a:r>
            <a:endParaRPr/>
          </a:p>
        </p:txBody>
      </p:sp>
      <p:sp>
        <p:nvSpPr>
          <p:cNvPr id="1243" name="Google Shape;1243;p30"/>
          <p:cNvSpPr txBox="1"/>
          <p:nvPr/>
        </p:nvSpPr>
        <p:spPr>
          <a:xfrm>
            <a:off x="6515100" y="3262312"/>
            <a:ext cx="4905375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A* expands nodes in concentric contours of increasing f(n) values.</a:t>
            </a:r>
            <a:endParaRPr/>
          </a:p>
        </p:txBody>
      </p:sp>
      <p:sp>
        <p:nvSpPr>
          <p:cNvPr id="1244" name="Google Shape;1244;p30"/>
          <p:cNvSpPr txBox="1"/>
          <p:nvPr/>
        </p:nvSpPr>
        <p:spPr>
          <a:xfrm>
            <a:off x="6515100" y="3579018"/>
            <a:ext cx="4905375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An accurate heuristic shapes these contours into focused ellipses directed toward the goal, dramatically pruning the search tree.</a:t>
            </a:r>
            <a:endParaRPr/>
          </a:p>
        </p:txBody>
      </p:sp>
      <p:sp>
        <p:nvSpPr>
          <p:cNvPr id="1245" name="Google Shape;1245;p30"/>
          <p:cNvSpPr txBox="1"/>
          <p:nvPr/>
        </p:nvSpPr>
        <p:spPr>
          <a:xfrm>
            <a:off x="6515100" y="4102893"/>
            <a:ext cx="4905375" cy="385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12" u="none" cap="none" strike="noStrike">
                <a:solidFill>
                  <a:srgbClr val="5C6A79"/>
                </a:solidFill>
                <a:latin typeface="Lora"/>
                <a:ea typeface="Lora"/>
                <a:cs typeface="Lora"/>
                <a:sym typeface="Lora"/>
              </a:rPr>
              <a:t>Admissibility and consistency are mandatory requirements for A* to guarantee cost optimality.</a:t>
            </a:r>
            <a:endParaRPr/>
          </a:p>
        </p:txBody>
      </p:sp>
      <p:pic>
        <p:nvPicPr>
          <p:cNvPr descr="image.png" id="1246" name="Google Shape;1246;p30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571500" y="3957637"/>
            <a:ext cx="53340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30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A* SEARCH: BALANCED APPROACH</a:t>
            </a:r>
            <a:endParaRPr/>
          </a:p>
        </p:txBody>
      </p:sp>
      <p:sp>
        <p:nvSpPr>
          <p:cNvPr id="1248" name="Google Shape;1248;p30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3" name="Google Shape;125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4" name="Google Shape;125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14537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5" name="Google Shape;1255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6" name="Google Shape;1256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7" name="Google Shape;1257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8" name="Google Shape;1258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9" name="Google Shape;1259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0" name="Google Shape;1260;p3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1" name="Google Shape;1261;p3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3009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2" name="Google Shape;1262;p3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3571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3" name="Google Shape;1263;p3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4133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4" name="Google Shape;1264;p31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4695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5" name="Google Shape;1265;p31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5257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6" name="Google Shape;1266;p31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5819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7" name="Google Shape;1267;p31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6381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8" name="Google Shape;1268;p3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6943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9" name="Google Shape;1269;p31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7505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0" name="Google Shape;1270;p31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8067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1" name="Google Shape;1271;p31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8629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2" name="Google Shape;1272;p31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9191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3" name="Google Shape;1273;p31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6611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4" name="Google Shape;1274;p31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5" name="Google Shape;1275;p31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6" name="Google Shape;1276;p31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7" name="Google Shape;1277;p31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1278" name="Google Shape;1278;p31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1279" name="Google Shape;1279;p31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1280" name="Google Shape;1280;p31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1281" name="Google Shape;1281;p31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1282" name="Google Shape;1282;p31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1283" name="Google Shape;1283;p31"/>
          <p:cNvSpPr txBox="1"/>
          <p:nvPr/>
        </p:nvSpPr>
        <p:spPr>
          <a:xfrm>
            <a:off x="390525" y="31623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1284" name="Google Shape;1284;p31"/>
          <p:cNvSpPr txBox="1"/>
          <p:nvPr/>
        </p:nvSpPr>
        <p:spPr>
          <a:xfrm>
            <a:off x="390525" y="37242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1285" name="Google Shape;1285;p31"/>
          <p:cNvSpPr txBox="1"/>
          <p:nvPr/>
        </p:nvSpPr>
        <p:spPr>
          <a:xfrm>
            <a:off x="390525" y="42862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1286" name="Google Shape;1286;p31"/>
          <p:cNvSpPr txBox="1"/>
          <p:nvPr/>
        </p:nvSpPr>
        <p:spPr>
          <a:xfrm>
            <a:off x="390525" y="48482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1287" name="Google Shape;1287;p31"/>
          <p:cNvSpPr txBox="1"/>
          <p:nvPr/>
        </p:nvSpPr>
        <p:spPr>
          <a:xfrm>
            <a:off x="390525" y="54102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1288" name="Google Shape;1288;p31"/>
          <p:cNvSpPr txBox="1"/>
          <p:nvPr/>
        </p:nvSpPr>
        <p:spPr>
          <a:xfrm>
            <a:off x="390525" y="59721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1289" name="Google Shape;1289;p31"/>
          <p:cNvSpPr txBox="1"/>
          <p:nvPr/>
        </p:nvSpPr>
        <p:spPr>
          <a:xfrm>
            <a:off x="390525" y="65341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1290" name="Google Shape;1290;p31"/>
          <p:cNvSpPr txBox="1"/>
          <p:nvPr/>
        </p:nvSpPr>
        <p:spPr>
          <a:xfrm>
            <a:off x="390525" y="7096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1291" name="Google Shape;1291;p31"/>
          <p:cNvSpPr txBox="1"/>
          <p:nvPr/>
        </p:nvSpPr>
        <p:spPr>
          <a:xfrm>
            <a:off x="390525" y="7658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1292" name="Google Shape;1292;p31"/>
          <p:cNvSpPr txBox="1"/>
          <p:nvPr/>
        </p:nvSpPr>
        <p:spPr>
          <a:xfrm>
            <a:off x="390525" y="8220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1293" name="Google Shape;1293;p31"/>
          <p:cNvSpPr txBox="1"/>
          <p:nvPr/>
        </p:nvSpPr>
        <p:spPr>
          <a:xfrm>
            <a:off x="390525" y="8782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1294" name="Google Shape;1294;p31"/>
          <p:cNvSpPr txBox="1"/>
          <p:nvPr/>
        </p:nvSpPr>
        <p:spPr>
          <a:xfrm>
            <a:off x="390525" y="9344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1295" name="Google Shape;1295;p31"/>
          <p:cNvSpPr txBox="1"/>
          <p:nvPr/>
        </p:nvSpPr>
        <p:spPr>
          <a:xfrm>
            <a:off x="390525" y="16764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1296" name="Google Shape;1296;p31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1297" name="Google Shape;1297;p31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1298" name="Google Shape;1298;p31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1299" name="Google Shape;1299;p31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0772775" y="571500"/>
            <a:ext cx="8477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31"/>
          <p:cNvSpPr txBox="1"/>
          <p:nvPr/>
        </p:nvSpPr>
        <p:spPr>
          <a:xfrm>
            <a:off x="571500" y="2014537"/>
            <a:ext cx="56007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Comparing Heuristics</a:t>
            </a:r>
            <a:endParaRPr/>
          </a:p>
        </p:txBody>
      </p:sp>
      <p:sp>
        <p:nvSpPr>
          <p:cNvPr id="1301" name="Google Shape;1301;p31"/>
          <p:cNvSpPr txBox="1"/>
          <p:nvPr/>
        </p:nvSpPr>
        <p:spPr>
          <a:xfrm>
            <a:off x="571500" y="2366962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Let's analyze two different heuristic formulations for the 8-puzzle game:</a:t>
            </a:r>
            <a:endParaRPr/>
          </a:p>
        </p:txBody>
      </p:sp>
      <p:pic>
        <p:nvPicPr>
          <p:cNvPr descr="image.png" id="1302" name="Google Shape;1302;p31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6305550" y="2033587"/>
            <a:ext cx="52959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31"/>
          <p:cNvSpPr txBox="1"/>
          <p:nvPr/>
        </p:nvSpPr>
        <p:spPr>
          <a:xfrm>
            <a:off x="800100" y="2995612"/>
            <a:ext cx="51054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h1 (Misplaced Tiles):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Counts how many tiles are in the wrong coordinate position. (Simple and admissible, but weak).</a:t>
            </a:r>
            <a:endParaRPr/>
          </a:p>
        </p:txBody>
      </p:sp>
      <p:sp>
        <p:nvSpPr>
          <p:cNvPr id="1304" name="Google Shape;1304;p31"/>
          <p:cNvSpPr txBox="1"/>
          <p:nvPr/>
        </p:nvSpPr>
        <p:spPr>
          <a:xfrm>
            <a:off x="800100" y="3605212"/>
            <a:ext cx="51054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h2 (Manhattan Distance):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Sums the horizontal and vertical grid blocks each tile must travel to reach its target square. (Much more informative).</a:t>
            </a:r>
            <a:endParaRPr/>
          </a:p>
        </p:txBody>
      </p:sp>
      <p:sp>
        <p:nvSpPr>
          <p:cNvPr id="1305" name="Google Shape;1305;p31"/>
          <p:cNvSpPr txBox="1"/>
          <p:nvPr/>
        </p:nvSpPr>
        <p:spPr>
          <a:xfrm>
            <a:off x="571500" y="3014662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306" name="Google Shape;1306;p31"/>
          <p:cNvSpPr txBox="1"/>
          <p:nvPr/>
        </p:nvSpPr>
        <p:spPr>
          <a:xfrm>
            <a:off x="571500" y="3624262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307" name="Google Shape;1307;p31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CASE STUDY: 8-PUZZLE HEURISTICS</a:t>
            </a:r>
            <a:endParaRPr/>
          </a:p>
        </p:txBody>
      </p:sp>
      <p:sp>
        <p:nvSpPr>
          <p:cNvPr id="1308" name="Google Shape;1308;p31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3" name="Google Shape;131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4" name="Google Shape;131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5" name="Google Shape;131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6" name="Google Shape;131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7" name="Google Shape;1317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8" name="Google Shape;1318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9" name="Google Shape;1319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0" name="Google Shape;1320;p3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3009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1" name="Google Shape;1321;p3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3571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2" name="Google Shape;1322;p3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4133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3" name="Google Shape;1323;p3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4695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4" name="Google Shape;1324;p3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5257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5" name="Google Shape;1325;p3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5819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6" name="Google Shape;1326;p3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6381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7" name="Google Shape;1327;p3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6943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8" name="Google Shape;1328;p3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7505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9" name="Google Shape;1329;p3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8067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0" name="Google Shape;1330;p3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8629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1" name="Google Shape;1331;p3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9191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2" name="Google Shape;1332;p32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9753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3" name="Google Shape;1333;p32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7173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4" name="Google Shape;1334;p32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5" name="Google Shape;1335;p32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6" name="Google Shape;1336;p32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1337" name="Google Shape;1337;p32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1338" name="Google Shape;1338;p32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1339" name="Google Shape;1339;p32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1340" name="Google Shape;1340;p32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1341" name="Google Shape;1341;p32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1342" name="Google Shape;1342;p32"/>
          <p:cNvSpPr txBox="1"/>
          <p:nvPr/>
        </p:nvSpPr>
        <p:spPr>
          <a:xfrm>
            <a:off x="390525" y="31623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1343" name="Google Shape;1343;p32"/>
          <p:cNvSpPr txBox="1"/>
          <p:nvPr/>
        </p:nvSpPr>
        <p:spPr>
          <a:xfrm>
            <a:off x="390525" y="37242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1344" name="Google Shape;1344;p32"/>
          <p:cNvSpPr txBox="1"/>
          <p:nvPr/>
        </p:nvSpPr>
        <p:spPr>
          <a:xfrm>
            <a:off x="390525" y="42862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1345" name="Google Shape;1345;p32"/>
          <p:cNvSpPr txBox="1"/>
          <p:nvPr/>
        </p:nvSpPr>
        <p:spPr>
          <a:xfrm>
            <a:off x="390525" y="48482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1346" name="Google Shape;1346;p32"/>
          <p:cNvSpPr txBox="1"/>
          <p:nvPr/>
        </p:nvSpPr>
        <p:spPr>
          <a:xfrm>
            <a:off x="390525" y="54102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1347" name="Google Shape;1347;p32"/>
          <p:cNvSpPr txBox="1"/>
          <p:nvPr/>
        </p:nvSpPr>
        <p:spPr>
          <a:xfrm>
            <a:off x="390525" y="59721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1348" name="Google Shape;1348;p32"/>
          <p:cNvSpPr txBox="1"/>
          <p:nvPr/>
        </p:nvSpPr>
        <p:spPr>
          <a:xfrm>
            <a:off x="390525" y="65341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1349" name="Google Shape;1349;p32"/>
          <p:cNvSpPr txBox="1"/>
          <p:nvPr/>
        </p:nvSpPr>
        <p:spPr>
          <a:xfrm>
            <a:off x="390525" y="7096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1350" name="Google Shape;1350;p32"/>
          <p:cNvSpPr txBox="1"/>
          <p:nvPr/>
        </p:nvSpPr>
        <p:spPr>
          <a:xfrm>
            <a:off x="390525" y="7658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1351" name="Google Shape;1351;p32"/>
          <p:cNvSpPr txBox="1"/>
          <p:nvPr/>
        </p:nvSpPr>
        <p:spPr>
          <a:xfrm>
            <a:off x="390525" y="8220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1352" name="Google Shape;1352;p32"/>
          <p:cNvSpPr txBox="1"/>
          <p:nvPr/>
        </p:nvSpPr>
        <p:spPr>
          <a:xfrm>
            <a:off x="390525" y="8782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1353" name="Google Shape;1353;p32"/>
          <p:cNvSpPr txBox="1"/>
          <p:nvPr/>
        </p:nvSpPr>
        <p:spPr>
          <a:xfrm>
            <a:off x="390525" y="9344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1354" name="Google Shape;1354;p32"/>
          <p:cNvSpPr txBox="1"/>
          <p:nvPr/>
        </p:nvSpPr>
        <p:spPr>
          <a:xfrm>
            <a:off x="390525" y="9906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1355" name="Google Shape;1355;p32"/>
          <p:cNvSpPr txBox="1"/>
          <p:nvPr/>
        </p:nvSpPr>
        <p:spPr>
          <a:xfrm>
            <a:off x="390525" y="17325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1356" name="Google Shape;1356;p32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1357" name="Google Shape;1357;p32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1358" name="Google Shape;1358;p32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10734675" y="571500"/>
            <a:ext cx="8858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32"/>
          <p:cNvSpPr txBox="1"/>
          <p:nvPr/>
        </p:nvSpPr>
        <p:spPr>
          <a:xfrm>
            <a:off x="571500" y="2750343"/>
            <a:ext cx="1104900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If for all nodes, we say that </a:t>
            </a:r>
            <a:r>
              <a:rPr b="1" i="0" lang="en-US" sz="1275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dominates</a:t>
            </a:r>
            <a:r>
              <a:rPr b="0" i="0" lang="en-US" sz="1275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. Dominating heuristics expand fewer nodes:</a:t>
            </a:r>
            <a:endParaRPr/>
          </a:p>
        </p:txBody>
      </p:sp>
      <p:sp>
        <p:nvSpPr>
          <p:cNvPr id="1360" name="Google Shape;1360;p32"/>
          <p:cNvSpPr/>
          <p:nvPr/>
        </p:nvSpPr>
        <p:spPr>
          <a:xfrm>
            <a:off x="571500" y="3183731"/>
            <a:ext cx="11049000" cy="1714500"/>
          </a:xfrm>
          <a:prstGeom prst="roundRect">
            <a:avLst>
              <a:gd fmla="val 0" name="adj"/>
            </a:avLst>
          </a:prstGeom>
          <a:solidFill>
            <a:srgbClr val="FAF8F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61" name="Google Shape;1361;p32"/>
          <p:cNvGraphicFramePr/>
          <p:nvPr/>
        </p:nvGraphicFramePr>
        <p:xfrm>
          <a:off x="571500" y="31837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{8399A1FB-DAE9-43C8-8D02-2ED83B9D63F8}</a:tableStyleId>
              </a:tblPr>
              <a:tblGrid>
                <a:gridCol w="1913775"/>
                <a:gridCol w="2207425"/>
                <a:gridCol w="1749475"/>
                <a:gridCol w="1855150"/>
                <a:gridCol w="1643800"/>
                <a:gridCol w="1679375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CFAF2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Solution Depth (d)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CFAF2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BFS Nodes Generated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CFAF2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A* (h1 Misplaced)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CFAF2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A* (h2 Manhattan)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CFAF2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Effective b* (h1)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FCFAF2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Effective b* (h2)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1,033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116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48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1.43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1.27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6,783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678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174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1.47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1.31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91,493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9,905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1,318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1.50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1.34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290,082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53,039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5,733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1.50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1.36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1362" name="Google Shape;1362;p32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23900" y="2807493"/>
            <a:ext cx="1250453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3" name="Google Shape;1363;p32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3907928" y="2807493"/>
            <a:ext cx="166985" cy="1513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4" name="Google Shape;1364;p32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4913114" y="2807493"/>
            <a:ext cx="166985" cy="151358"/>
          </a:xfrm>
          <a:prstGeom prst="rect">
            <a:avLst/>
          </a:prstGeom>
          <a:noFill/>
          <a:ln>
            <a:noFill/>
          </a:ln>
        </p:spPr>
      </p:pic>
      <p:sp>
        <p:nvSpPr>
          <p:cNvPr id="1365" name="Google Shape;1365;p32"/>
          <p:cNvSpPr/>
          <p:nvPr/>
        </p:nvSpPr>
        <p:spPr>
          <a:xfrm>
            <a:off x="571500" y="3536156"/>
            <a:ext cx="191378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32"/>
          <p:cNvSpPr/>
          <p:nvPr/>
        </p:nvSpPr>
        <p:spPr>
          <a:xfrm>
            <a:off x="2485280" y="3536156"/>
            <a:ext cx="2207418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32"/>
          <p:cNvSpPr/>
          <p:nvPr/>
        </p:nvSpPr>
        <p:spPr>
          <a:xfrm>
            <a:off x="4692699" y="3536156"/>
            <a:ext cx="1749474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8" name="Google Shape;1368;p32"/>
          <p:cNvSpPr/>
          <p:nvPr/>
        </p:nvSpPr>
        <p:spPr>
          <a:xfrm>
            <a:off x="6442174" y="3536156"/>
            <a:ext cx="1855142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32"/>
          <p:cNvSpPr/>
          <p:nvPr/>
        </p:nvSpPr>
        <p:spPr>
          <a:xfrm>
            <a:off x="8297316" y="3536156"/>
            <a:ext cx="1643806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32"/>
          <p:cNvSpPr/>
          <p:nvPr/>
        </p:nvSpPr>
        <p:spPr>
          <a:xfrm>
            <a:off x="9941123" y="3536156"/>
            <a:ext cx="1679376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32"/>
          <p:cNvSpPr/>
          <p:nvPr/>
        </p:nvSpPr>
        <p:spPr>
          <a:xfrm>
            <a:off x="571500" y="3883818"/>
            <a:ext cx="1913780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2" name="Google Shape;1372;p32"/>
          <p:cNvSpPr/>
          <p:nvPr/>
        </p:nvSpPr>
        <p:spPr>
          <a:xfrm>
            <a:off x="2485280" y="3883818"/>
            <a:ext cx="2207418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32"/>
          <p:cNvSpPr/>
          <p:nvPr/>
        </p:nvSpPr>
        <p:spPr>
          <a:xfrm>
            <a:off x="4692699" y="3883818"/>
            <a:ext cx="1749474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32"/>
          <p:cNvSpPr/>
          <p:nvPr/>
        </p:nvSpPr>
        <p:spPr>
          <a:xfrm>
            <a:off x="6442174" y="3883818"/>
            <a:ext cx="1855142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32"/>
          <p:cNvSpPr/>
          <p:nvPr/>
        </p:nvSpPr>
        <p:spPr>
          <a:xfrm>
            <a:off x="8297316" y="3883818"/>
            <a:ext cx="1643806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32"/>
          <p:cNvSpPr/>
          <p:nvPr/>
        </p:nvSpPr>
        <p:spPr>
          <a:xfrm>
            <a:off x="9941123" y="3883818"/>
            <a:ext cx="1679376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32"/>
          <p:cNvSpPr/>
          <p:nvPr/>
        </p:nvSpPr>
        <p:spPr>
          <a:xfrm>
            <a:off x="571500" y="4217193"/>
            <a:ext cx="1913780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32"/>
          <p:cNvSpPr/>
          <p:nvPr/>
        </p:nvSpPr>
        <p:spPr>
          <a:xfrm>
            <a:off x="2485280" y="4217193"/>
            <a:ext cx="2207418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32"/>
          <p:cNvSpPr/>
          <p:nvPr/>
        </p:nvSpPr>
        <p:spPr>
          <a:xfrm>
            <a:off x="4692699" y="4217193"/>
            <a:ext cx="1749474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32"/>
          <p:cNvSpPr/>
          <p:nvPr/>
        </p:nvSpPr>
        <p:spPr>
          <a:xfrm>
            <a:off x="6442174" y="4217193"/>
            <a:ext cx="1855142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32"/>
          <p:cNvSpPr/>
          <p:nvPr/>
        </p:nvSpPr>
        <p:spPr>
          <a:xfrm>
            <a:off x="8297316" y="4217193"/>
            <a:ext cx="1643806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32"/>
          <p:cNvSpPr/>
          <p:nvPr/>
        </p:nvSpPr>
        <p:spPr>
          <a:xfrm>
            <a:off x="9941123" y="4217193"/>
            <a:ext cx="1679376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32"/>
          <p:cNvSpPr/>
          <p:nvPr/>
        </p:nvSpPr>
        <p:spPr>
          <a:xfrm>
            <a:off x="571500" y="4550568"/>
            <a:ext cx="1913780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32"/>
          <p:cNvSpPr/>
          <p:nvPr/>
        </p:nvSpPr>
        <p:spPr>
          <a:xfrm>
            <a:off x="2485280" y="4550568"/>
            <a:ext cx="2207418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32"/>
          <p:cNvSpPr/>
          <p:nvPr/>
        </p:nvSpPr>
        <p:spPr>
          <a:xfrm>
            <a:off x="4692699" y="4550568"/>
            <a:ext cx="1749474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32"/>
          <p:cNvSpPr/>
          <p:nvPr/>
        </p:nvSpPr>
        <p:spPr>
          <a:xfrm>
            <a:off x="6442174" y="4550568"/>
            <a:ext cx="1855142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32"/>
          <p:cNvSpPr/>
          <p:nvPr/>
        </p:nvSpPr>
        <p:spPr>
          <a:xfrm>
            <a:off x="8297316" y="4550568"/>
            <a:ext cx="1643806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32"/>
          <p:cNvSpPr/>
          <p:nvPr/>
        </p:nvSpPr>
        <p:spPr>
          <a:xfrm>
            <a:off x="9941123" y="4550568"/>
            <a:ext cx="1679376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32"/>
          <p:cNvSpPr/>
          <p:nvPr/>
        </p:nvSpPr>
        <p:spPr>
          <a:xfrm>
            <a:off x="571500" y="4883943"/>
            <a:ext cx="1913780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32"/>
          <p:cNvSpPr/>
          <p:nvPr/>
        </p:nvSpPr>
        <p:spPr>
          <a:xfrm>
            <a:off x="2485280" y="4883943"/>
            <a:ext cx="2207418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32"/>
          <p:cNvSpPr/>
          <p:nvPr/>
        </p:nvSpPr>
        <p:spPr>
          <a:xfrm>
            <a:off x="4692699" y="4883943"/>
            <a:ext cx="1749474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32"/>
          <p:cNvSpPr/>
          <p:nvPr/>
        </p:nvSpPr>
        <p:spPr>
          <a:xfrm>
            <a:off x="6442174" y="4883943"/>
            <a:ext cx="1855142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32"/>
          <p:cNvSpPr/>
          <p:nvPr/>
        </p:nvSpPr>
        <p:spPr>
          <a:xfrm>
            <a:off x="8297316" y="4883943"/>
            <a:ext cx="1643806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32"/>
          <p:cNvSpPr/>
          <p:nvPr/>
        </p:nvSpPr>
        <p:spPr>
          <a:xfrm>
            <a:off x="9941123" y="4883943"/>
            <a:ext cx="1679376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3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DOMINANCE &amp; SEARCH COST</a:t>
            </a:r>
            <a:endParaRPr/>
          </a:p>
        </p:txBody>
      </p:sp>
      <p:sp>
        <p:nvSpPr>
          <p:cNvPr id="1396" name="Google Shape;1396;p32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1" name="Google Shape;140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2" name="Google Shape;140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05062"/>
            <a:ext cx="533400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3" name="Google Shape;140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05062"/>
            <a:ext cx="533400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4" name="Google Shape;1404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5" name="Google Shape;1405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6" name="Google Shape;1406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7" name="Google Shape;1407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8" name="Google Shape;1408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9" name="Google Shape;1409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0" name="Google Shape;1410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3009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1" name="Google Shape;1411;p3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3571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2" name="Google Shape;1412;p3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4133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3" name="Google Shape;1413;p3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4695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4" name="Google Shape;1414;p3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5257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5" name="Google Shape;1415;p3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5819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6" name="Google Shape;1416;p3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6381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7" name="Google Shape;1417;p3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6943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8" name="Google Shape;1418;p3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7505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9" name="Google Shape;1419;p3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8067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0" name="Google Shape;1420;p3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8629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1" name="Google Shape;1421;p3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9191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2" name="Google Shape;1422;p3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9753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3" name="Google Shape;1423;p3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0315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4" name="Google Shape;1424;p3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7735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5" name="Google Shape;1425;p3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33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1427" name="Google Shape;1427;p33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1428" name="Google Shape;1428;p33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1429" name="Google Shape;1429;p33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1430" name="Google Shape;1430;p33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1431" name="Google Shape;1431;p33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1432" name="Google Shape;1432;p33"/>
          <p:cNvSpPr txBox="1"/>
          <p:nvPr/>
        </p:nvSpPr>
        <p:spPr>
          <a:xfrm>
            <a:off x="390525" y="31623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1433" name="Google Shape;1433;p33"/>
          <p:cNvSpPr txBox="1"/>
          <p:nvPr/>
        </p:nvSpPr>
        <p:spPr>
          <a:xfrm>
            <a:off x="390525" y="37242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1434" name="Google Shape;1434;p33"/>
          <p:cNvSpPr txBox="1"/>
          <p:nvPr/>
        </p:nvSpPr>
        <p:spPr>
          <a:xfrm>
            <a:off x="390525" y="42862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1435" name="Google Shape;1435;p33"/>
          <p:cNvSpPr txBox="1"/>
          <p:nvPr/>
        </p:nvSpPr>
        <p:spPr>
          <a:xfrm>
            <a:off x="390525" y="48482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1436" name="Google Shape;1436;p33"/>
          <p:cNvSpPr txBox="1"/>
          <p:nvPr/>
        </p:nvSpPr>
        <p:spPr>
          <a:xfrm>
            <a:off x="390525" y="54102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1437" name="Google Shape;1437;p33"/>
          <p:cNvSpPr txBox="1"/>
          <p:nvPr/>
        </p:nvSpPr>
        <p:spPr>
          <a:xfrm>
            <a:off x="390525" y="59721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1438" name="Google Shape;1438;p33"/>
          <p:cNvSpPr txBox="1"/>
          <p:nvPr/>
        </p:nvSpPr>
        <p:spPr>
          <a:xfrm>
            <a:off x="390525" y="65341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1439" name="Google Shape;1439;p33"/>
          <p:cNvSpPr txBox="1"/>
          <p:nvPr/>
        </p:nvSpPr>
        <p:spPr>
          <a:xfrm>
            <a:off x="390525" y="7096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1440" name="Google Shape;1440;p33"/>
          <p:cNvSpPr txBox="1"/>
          <p:nvPr/>
        </p:nvSpPr>
        <p:spPr>
          <a:xfrm>
            <a:off x="390525" y="7658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1441" name="Google Shape;1441;p33"/>
          <p:cNvSpPr txBox="1"/>
          <p:nvPr/>
        </p:nvSpPr>
        <p:spPr>
          <a:xfrm>
            <a:off x="390525" y="8220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1442" name="Google Shape;1442;p33"/>
          <p:cNvSpPr txBox="1"/>
          <p:nvPr/>
        </p:nvSpPr>
        <p:spPr>
          <a:xfrm>
            <a:off x="390525" y="8782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1443" name="Google Shape;1443;p33"/>
          <p:cNvSpPr txBox="1"/>
          <p:nvPr/>
        </p:nvSpPr>
        <p:spPr>
          <a:xfrm>
            <a:off x="390525" y="9344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1444" name="Google Shape;1444;p33"/>
          <p:cNvSpPr txBox="1"/>
          <p:nvPr/>
        </p:nvSpPr>
        <p:spPr>
          <a:xfrm>
            <a:off x="390525" y="9906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1445" name="Google Shape;1445;p33"/>
          <p:cNvSpPr txBox="1"/>
          <p:nvPr/>
        </p:nvSpPr>
        <p:spPr>
          <a:xfrm>
            <a:off x="390525" y="10467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1446" name="Google Shape;1446;p33"/>
          <p:cNvSpPr txBox="1"/>
          <p:nvPr/>
        </p:nvSpPr>
        <p:spPr>
          <a:xfrm>
            <a:off x="390525" y="17887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1447" name="Google Shape;1447;p33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1448" name="Google Shape;1448;p3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10782300" y="571500"/>
            <a:ext cx="8382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9" name="Google Shape;1449;p33"/>
          <p:cNvSpPr txBox="1"/>
          <p:nvPr/>
        </p:nvSpPr>
        <p:spPr>
          <a:xfrm>
            <a:off x="800100" y="2605087"/>
            <a:ext cx="5150643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Pitfalls to Catch Early</a:t>
            </a:r>
            <a:endParaRPr/>
          </a:p>
        </p:txBody>
      </p:sp>
      <p:sp>
        <p:nvSpPr>
          <p:cNvPr id="1450" name="Google Shape;1450;p33"/>
          <p:cNvSpPr txBox="1"/>
          <p:nvPr/>
        </p:nvSpPr>
        <p:spPr>
          <a:xfrm>
            <a:off x="6477000" y="2595562"/>
            <a:ext cx="5200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5A05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Activity: "Students as the Frontier"</a:t>
            </a:r>
            <a:endParaRPr/>
          </a:p>
        </p:txBody>
      </p:sp>
      <p:sp>
        <p:nvSpPr>
          <p:cNvPr id="1451" name="Google Shape;1451;p33"/>
          <p:cNvSpPr txBox="1"/>
          <p:nvPr/>
        </p:nvSpPr>
        <p:spPr>
          <a:xfrm>
            <a:off x="6477000" y="2947987"/>
            <a:ext cx="4953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CFAF2"/>
                </a:solidFill>
                <a:latin typeface="Lora"/>
                <a:ea typeface="Lora"/>
                <a:cs typeface="Lora"/>
                <a:sym typeface="Lora"/>
              </a:rPr>
              <a:t>Give 6 students badges labeled with a state, a depth, and simulated g and h values:</a:t>
            </a:r>
            <a:endParaRPr/>
          </a:p>
        </p:txBody>
      </p:sp>
      <p:sp>
        <p:nvSpPr>
          <p:cNvPr id="1452" name="Google Shape;1452;p33"/>
          <p:cNvSpPr txBox="1"/>
          <p:nvPr/>
        </p:nvSpPr>
        <p:spPr>
          <a:xfrm>
            <a:off x="1028700" y="2957512"/>
            <a:ext cx="46767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State != Node: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A state is a static world setup; a node includes parent history and costs.</a:t>
            </a:r>
            <a:endParaRPr/>
          </a:p>
        </p:txBody>
      </p:sp>
      <p:sp>
        <p:nvSpPr>
          <p:cNvPr id="1453" name="Google Shape;1453;p33"/>
          <p:cNvSpPr txBox="1"/>
          <p:nvPr/>
        </p:nvSpPr>
        <p:spPr>
          <a:xfrm>
            <a:off x="1028700" y="3567112"/>
            <a:ext cx="46767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Early Goal-Checking: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Don't evaluate goal status during node generation; evaluate only on pop (important for UCS and A*).</a:t>
            </a:r>
            <a:endParaRPr/>
          </a:p>
        </p:txBody>
      </p:sp>
      <p:sp>
        <p:nvSpPr>
          <p:cNvPr id="1454" name="Google Shape;1454;p33"/>
          <p:cNvSpPr txBox="1"/>
          <p:nvPr/>
        </p:nvSpPr>
        <p:spPr>
          <a:xfrm>
            <a:off x="1028700" y="4433887"/>
            <a:ext cx="46767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Heuristic Overhead:</a:t>
            </a:r>
            <a:r>
              <a:rPr b="0" i="0" lang="en-US" sz="135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 A complex heuristic is useless if its computing time outweighs the node pruning.</a:t>
            </a:r>
            <a:endParaRPr/>
          </a:p>
        </p:txBody>
      </p:sp>
      <p:sp>
        <p:nvSpPr>
          <p:cNvPr id="1455" name="Google Shape;1455;p33"/>
          <p:cNvSpPr txBox="1"/>
          <p:nvPr/>
        </p:nvSpPr>
        <p:spPr>
          <a:xfrm>
            <a:off x="6705600" y="3471862"/>
            <a:ext cx="4724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CFAF2"/>
                </a:solidFill>
                <a:latin typeface="Lora"/>
                <a:ea typeface="Lora"/>
                <a:cs typeface="Lora"/>
                <a:sym typeface="Lora"/>
              </a:rPr>
              <a:t>To simulate BFS: Line students up strictly by depth (FIFO).</a:t>
            </a:r>
            <a:endParaRPr/>
          </a:p>
        </p:txBody>
      </p:sp>
      <p:sp>
        <p:nvSpPr>
          <p:cNvPr id="1456" name="Google Shape;1456;p33"/>
          <p:cNvSpPr txBox="1"/>
          <p:nvPr/>
        </p:nvSpPr>
        <p:spPr>
          <a:xfrm>
            <a:off x="6705600" y="3824287"/>
            <a:ext cx="4724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CFAF2"/>
                </a:solidFill>
                <a:latin typeface="Lora"/>
                <a:ea typeface="Lora"/>
                <a:cs typeface="Lora"/>
                <a:sym typeface="Lora"/>
              </a:rPr>
              <a:t>To simulate UCS: Sort the queue by lowest g(n).</a:t>
            </a:r>
            <a:endParaRPr/>
          </a:p>
        </p:txBody>
      </p:sp>
      <p:sp>
        <p:nvSpPr>
          <p:cNvPr id="1457" name="Google Shape;1457;p33"/>
          <p:cNvSpPr txBox="1"/>
          <p:nvPr/>
        </p:nvSpPr>
        <p:spPr>
          <a:xfrm>
            <a:off x="6705600" y="4176712"/>
            <a:ext cx="47244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CFAF2"/>
                </a:solidFill>
                <a:latin typeface="Lora"/>
                <a:ea typeface="Lora"/>
                <a:cs typeface="Lora"/>
                <a:sym typeface="Lora"/>
              </a:rPr>
              <a:t>To simulate A*: Sort queue by lowest g(n) + h(n).</a:t>
            </a:r>
            <a:endParaRPr/>
          </a:p>
        </p:txBody>
      </p:sp>
      <p:sp>
        <p:nvSpPr>
          <p:cNvPr id="1458" name="Google Shape;1458;p33"/>
          <p:cNvSpPr txBox="1"/>
          <p:nvPr/>
        </p:nvSpPr>
        <p:spPr>
          <a:xfrm>
            <a:off x="800100" y="2976562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459" name="Google Shape;1459;p33"/>
          <p:cNvSpPr txBox="1"/>
          <p:nvPr/>
        </p:nvSpPr>
        <p:spPr>
          <a:xfrm>
            <a:off x="800100" y="3586162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460" name="Google Shape;1460;p33"/>
          <p:cNvSpPr txBox="1"/>
          <p:nvPr/>
        </p:nvSpPr>
        <p:spPr>
          <a:xfrm>
            <a:off x="800100" y="4452937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461" name="Google Shape;1461;p33"/>
          <p:cNvSpPr txBox="1"/>
          <p:nvPr/>
        </p:nvSpPr>
        <p:spPr>
          <a:xfrm>
            <a:off x="6477000" y="3490912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462" name="Google Shape;1462;p33"/>
          <p:cNvSpPr txBox="1"/>
          <p:nvPr/>
        </p:nvSpPr>
        <p:spPr>
          <a:xfrm>
            <a:off x="6477000" y="3843337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463" name="Google Shape;1463;p33"/>
          <p:cNvSpPr txBox="1"/>
          <p:nvPr/>
        </p:nvSpPr>
        <p:spPr>
          <a:xfrm>
            <a:off x="6477000" y="4195762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464" name="Google Shape;1464;p33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MISCONCEPTIONS &amp; ACTIVITIES</a:t>
            </a:r>
            <a:endParaRPr/>
          </a:p>
        </p:txBody>
      </p:sp>
      <p:sp>
        <p:nvSpPr>
          <p:cNvPr id="1465" name="Google Shape;1465;p33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0" name="Google Shape;147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1" name="Google Shape;147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24200"/>
            <a:ext cx="11049000" cy="3305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2" name="Google Shape;147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3" name="Google Shape;1473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4" name="Google Shape;1474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5" name="Google Shape;1475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6" name="Google Shape;1476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7" name="Google Shape;1477;p3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8" name="Google Shape;1478;p3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3009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9" name="Google Shape;1479;p3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3571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0" name="Google Shape;1480;p3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4133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1" name="Google Shape;1481;p3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4695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2" name="Google Shape;1482;p3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5257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3" name="Google Shape;1483;p3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5819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4" name="Google Shape;1484;p3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6381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5" name="Google Shape;1485;p3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6943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6" name="Google Shape;1486;p3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7505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7" name="Google Shape;1487;p3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8067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8" name="Google Shape;1488;p3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8629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9" name="Google Shape;1489;p3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9191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0" name="Google Shape;1490;p34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9753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1" name="Google Shape;1491;p34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0315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2" name="Google Shape;1492;p34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0877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3" name="Google Shape;1493;p34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0" y="18297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4" name="Google Shape;1494;p34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1495" name="Google Shape;1495;p34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1496" name="Google Shape;1496;p34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1497" name="Google Shape;1497;p34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1498" name="Google Shape;1498;p34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1499" name="Google Shape;1499;p34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1500" name="Google Shape;1500;p34"/>
          <p:cNvSpPr txBox="1"/>
          <p:nvPr/>
        </p:nvSpPr>
        <p:spPr>
          <a:xfrm>
            <a:off x="390525" y="31623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1501" name="Google Shape;1501;p34"/>
          <p:cNvSpPr txBox="1"/>
          <p:nvPr/>
        </p:nvSpPr>
        <p:spPr>
          <a:xfrm>
            <a:off x="390525" y="37242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1502" name="Google Shape;1502;p34"/>
          <p:cNvSpPr txBox="1"/>
          <p:nvPr/>
        </p:nvSpPr>
        <p:spPr>
          <a:xfrm>
            <a:off x="390525" y="42862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1503" name="Google Shape;1503;p34"/>
          <p:cNvSpPr txBox="1"/>
          <p:nvPr/>
        </p:nvSpPr>
        <p:spPr>
          <a:xfrm>
            <a:off x="390525" y="48482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1504" name="Google Shape;1504;p34"/>
          <p:cNvSpPr txBox="1"/>
          <p:nvPr/>
        </p:nvSpPr>
        <p:spPr>
          <a:xfrm>
            <a:off x="390525" y="54102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1505" name="Google Shape;1505;p34"/>
          <p:cNvSpPr txBox="1"/>
          <p:nvPr/>
        </p:nvSpPr>
        <p:spPr>
          <a:xfrm>
            <a:off x="390525" y="59721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1506" name="Google Shape;1506;p34"/>
          <p:cNvSpPr txBox="1"/>
          <p:nvPr/>
        </p:nvSpPr>
        <p:spPr>
          <a:xfrm>
            <a:off x="390525" y="65341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1507" name="Google Shape;1507;p34"/>
          <p:cNvSpPr txBox="1"/>
          <p:nvPr/>
        </p:nvSpPr>
        <p:spPr>
          <a:xfrm>
            <a:off x="390525" y="7096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1508" name="Google Shape;1508;p34"/>
          <p:cNvSpPr txBox="1"/>
          <p:nvPr/>
        </p:nvSpPr>
        <p:spPr>
          <a:xfrm>
            <a:off x="390525" y="7658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1509" name="Google Shape;1509;p34"/>
          <p:cNvSpPr txBox="1"/>
          <p:nvPr/>
        </p:nvSpPr>
        <p:spPr>
          <a:xfrm>
            <a:off x="390525" y="8220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1510" name="Google Shape;1510;p34"/>
          <p:cNvSpPr txBox="1"/>
          <p:nvPr/>
        </p:nvSpPr>
        <p:spPr>
          <a:xfrm>
            <a:off x="390525" y="8782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1511" name="Google Shape;1511;p34"/>
          <p:cNvSpPr txBox="1"/>
          <p:nvPr/>
        </p:nvSpPr>
        <p:spPr>
          <a:xfrm>
            <a:off x="390525" y="9344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1512" name="Google Shape;1512;p34"/>
          <p:cNvSpPr txBox="1"/>
          <p:nvPr/>
        </p:nvSpPr>
        <p:spPr>
          <a:xfrm>
            <a:off x="390525" y="9906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1513" name="Google Shape;1513;p34"/>
          <p:cNvSpPr txBox="1"/>
          <p:nvPr/>
        </p:nvSpPr>
        <p:spPr>
          <a:xfrm>
            <a:off x="390525" y="10467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1514" name="Google Shape;1514;p34"/>
          <p:cNvSpPr txBox="1"/>
          <p:nvPr/>
        </p:nvSpPr>
        <p:spPr>
          <a:xfrm>
            <a:off x="390525" y="11029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1515" name="Google Shape;1515;p34"/>
          <p:cNvSpPr txBox="1"/>
          <p:nvPr/>
        </p:nvSpPr>
        <p:spPr>
          <a:xfrm>
            <a:off x="390525" y="18449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pic>
        <p:nvPicPr>
          <p:cNvPr descr="image.png" id="1516" name="Google Shape;1516;p34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10753725" y="571500"/>
            <a:ext cx="8667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7" name="Google Shape;1517;p34"/>
          <p:cNvSpPr/>
          <p:nvPr/>
        </p:nvSpPr>
        <p:spPr>
          <a:xfrm>
            <a:off x="571500" y="1314450"/>
            <a:ext cx="11049000" cy="1695450"/>
          </a:xfrm>
          <a:prstGeom prst="roundRect">
            <a:avLst>
              <a:gd fmla="val 0" name="adj"/>
            </a:avLst>
          </a:prstGeom>
          <a:solidFill>
            <a:srgbClr val="FAF8F2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8" name="Google Shape;1518;p34"/>
          <p:cNvGraphicFramePr/>
          <p:nvPr/>
        </p:nvGraphicFramePr>
        <p:xfrm>
          <a:off x="571500" y="1314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{8399A1FB-DAE9-43C8-8D02-2ED83B9D63F8}</a:tableStyleId>
              </a:tblPr>
              <a:tblGrid>
                <a:gridCol w="1620450"/>
                <a:gridCol w="1702300"/>
                <a:gridCol w="2455225"/>
                <a:gridCol w="2357000"/>
                <a:gridCol w="2914050"/>
              </a:tblGrid>
              <a:tr h="33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FCFAF2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Algorithm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FCFAF2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Complete?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FCFAF2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Optimal Cost?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FCFAF2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Time Complexity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FCFAF2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Space Complexity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B49"/>
                    </a:solidFill>
                  </a:tcPr>
                </a:tc>
              </a:tr>
              <a:tr h="33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BFS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Yes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If step costs equal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O(b^d)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O(b^d) (High RAM)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UCS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Yes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Yes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O(b^(1+⌊C*/ε⌋))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O(b^(1+⌊C*/ε⌋))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</a:tr>
              <a:tr h="33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IDS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Yes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If step costs equal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O(b^d)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O(bd) (Highly efficient)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9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A*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Yes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Yes (if h consistent)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O(b^d)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12" u="none" cap="none" strike="noStrike">
                          <a:solidFill>
                            <a:srgbClr val="2B3A4A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O(b^d) (Memory heavy)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5A059"/>
                    </a:solidFill>
                  </a:tcPr>
                </a:tc>
              </a:tr>
            </a:tbl>
          </a:graphicData>
        </a:graphic>
      </p:graphicFrame>
      <p:sp>
        <p:nvSpPr>
          <p:cNvPr id="1519" name="Google Shape;1519;p34"/>
          <p:cNvSpPr/>
          <p:nvPr/>
        </p:nvSpPr>
        <p:spPr>
          <a:xfrm>
            <a:off x="571500" y="1647825"/>
            <a:ext cx="162044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34"/>
          <p:cNvSpPr/>
          <p:nvPr/>
        </p:nvSpPr>
        <p:spPr>
          <a:xfrm>
            <a:off x="2191940" y="1647825"/>
            <a:ext cx="1702296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34"/>
          <p:cNvSpPr/>
          <p:nvPr/>
        </p:nvSpPr>
        <p:spPr>
          <a:xfrm>
            <a:off x="3894236" y="1647825"/>
            <a:ext cx="2455217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34"/>
          <p:cNvSpPr/>
          <p:nvPr/>
        </p:nvSpPr>
        <p:spPr>
          <a:xfrm>
            <a:off x="6349454" y="1647825"/>
            <a:ext cx="2356991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3" name="Google Shape;1523;p34"/>
          <p:cNvSpPr/>
          <p:nvPr/>
        </p:nvSpPr>
        <p:spPr>
          <a:xfrm>
            <a:off x="8706445" y="1647825"/>
            <a:ext cx="2914054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34"/>
          <p:cNvSpPr txBox="1"/>
          <p:nvPr/>
        </p:nvSpPr>
        <p:spPr>
          <a:xfrm>
            <a:off x="800100" y="3228975"/>
            <a:ext cx="1062037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Exit Ticket Challenge:</a:t>
            </a:r>
            <a:endParaRPr/>
          </a:p>
        </p:txBody>
      </p:sp>
      <p:sp>
        <p:nvSpPr>
          <p:cNvPr id="1525" name="Google Shape;1525;p34"/>
          <p:cNvSpPr txBox="1"/>
          <p:nvPr/>
        </p:nvSpPr>
        <p:spPr>
          <a:xfrm>
            <a:off x="800100" y="3481387"/>
            <a:ext cx="10620375" cy="179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2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"Explain why A* requires admissibility to guarantee optimality in a tree search, and consistency in a graph search."</a:t>
            </a:r>
            <a:endParaRPr/>
          </a:p>
        </p:txBody>
      </p:sp>
      <p:sp>
        <p:nvSpPr>
          <p:cNvPr id="1526" name="Google Shape;1526;p34"/>
          <p:cNvSpPr/>
          <p:nvPr/>
        </p:nvSpPr>
        <p:spPr>
          <a:xfrm>
            <a:off x="571500" y="1995487"/>
            <a:ext cx="1620440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7" name="Google Shape;1527;p34"/>
          <p:cNvSpPr/>
          <p:nvPr/>
        </p:nvSpPr>
        <p:spPr>
          <a:xfrm>
            <a:off x="2191940" y="1995487"/>
            <a:ext cx="1702296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8" name="Google Shape;1528;p34"/>
          <p:cNvSpPr/>
          <p:nvPr/>
        </p:nvSpPr>
        <p:spPr>
          <a:xfrm>
            <a:off x="3894236" y="1995487"/>
            <a:ext cx="2455217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34"/>
          <p:cNvSpPr/>
          <p:nvPr/>
        </p:nvSpPr>
        <p:spPr>
          <a:xfrm>
            <a:off x="6349454" y="1995487"/>
            <a:ext cx="2356991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34"/>
          <p:cNvSpPr/>
          <p:nvPr/>
        </p:nvSpPr>
        <p:spPr>
          <a:xfrm>
            <a:off x="8706445" y="1995487"/>
            <a:ext cx="2914054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1" name="Google Shape;1531;p34"/>
          <p:cNvSpPr/>
          <p:nvPr/>
        </p:nvSpPr>
        <p:spPr>
          <a:xfrm>
            <a:off x="571500" y="2328862"/>
            <a:ext cx="1620440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34"/>
          <p:cNvSpPr/>
          <p:nvPr/>
        </p:nvSpPr>
        <p:spPr>
          <a:xfrm>
            <a:off x="2191940" y="2328862"/>
            <a:ext cx="1702296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3" name="Google Shape;1533;p34"/>
          <p:cNvSpPr/>
          <p:nvPr/>
        </p:nvSpPr>
        <p:spPr>
          <a:xfrm>
            <a:off x="3894236" y="2328862"/>
            <a:ext cx="2455217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34"/>
          <p:cNvSpPr/>
          <p:nvPr/>
        </p:nvSpPr>
        <p:spPr>
          <a:xfrm>
            <a:off x="6349454" y="2328862"/>
            <a:ext cx="2356991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34"/>
          <p:cNvSpPr/>
          <p:nvPr/>
        </p:nvSpPr>
        <p:spPr>
          <a:xfrm>
            <a:off x="8706445" y="2328862"/>
            <a:ext cx="2914054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34"/>
          <p:cNvSpPr/>
          <p:nvPr/>
        </p:nvSpPr>
        <p:spPr>
          <a:xfrm>
            <a:off x="571500" y="2662237"/>
            <a:ext cx="1620440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34"/>
          <p:cNvSpPr/>
          <p:nvPr/>
        </p:nvSpPr>
        <p:spPr>
          <a:xfrm>
            <a:off x="2191940" y="2662237"/>
            <a:ext cx="1702296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34"/>
          <p:cNvSpPr/>
          <p:nvPr/>
        </p:nvSpPr>
        <p:spPr>
          <a:xfrm>
            <a:off x="3894236" y="2662237"/>
            <a:ext cx="2455217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34"/>
          <p:cNvSpPr/>
          <p:nvPr/>
        </p:nvSpPr>
        <p:spPr>
          <a:xfrm>
            <a:off x="6349454" y="2662237"/>
            <a:ext cx="2356991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34"/>
          <p:cNvSpPr/>
          <p:nvPr/>
        </p:nvSpPr>
        <p:spPr>
          <a:xfrm>
            <a:off x="8706445" y="2662237"/>
            <a:ext cx="2914054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34"/>
          <p:cNvSpPr/>
          <p:nvPr/>
        </p:nvSpPr>
        <p:spPr>
          <a:xfrm>
            <a:off x="571500" y="2995612"/>
            <a:ext cx="1620440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34"/>
          <p:cNvSpPr/>
          <p:nvPr/>
        </p:nvSpPr>
        <p:spPr>
          <a:xfrm>
            <a:off x="2191940" y="2995612"/>
            <a:ext cx="1702296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34"/>
          <p:cNvSpPr/>
          <p:nvPr/>
        </p:nvSpPr>
        <p:spPr>
          <a:xfrm>
            <a:off x="3894236" y="2995612"/>
            <a:ext cx="2455217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34"/>
          <p:cNvSpPr/>
          <p:nvPr/>
        </p:nvSpPr>
        <p:spPr>
          <a:xfrm>
            <a:off x="6349454" y="2995612"/>
            <a:ext cx="2356991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34"/>
          <p:cNvSpPr/>
          <p:nvPr/>
        </p:nvSpPr>
        <p:spPr>
          <a:xfrm>
            <a:off x="8706445" y="2995612"/>
            <a:ext cx="2914054" cy="9525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34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DECISION GUIDE &amp; ASSESSMENT</a:t>
            </a:r>
            <a:endParaRPr/>
          </a:p>
        </p:txBody>
      </p:sp>
      <p:sp>
        <p:nvSpPr>
          <p:cNvPr id="1547" name="Google Shape;1547;p34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AF2"/>
        </a:solidFill>
      </p:bgPr>
    </p:bg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2" name="Google Shape;15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3" name="Google Shape;155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361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4" name="Google Shape;155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2000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5" name="Google Shape;1555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7620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6" name="Google Shape;1556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13239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7" name="Google Shape;1557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18859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8" name="Google Shape;1558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0" y="24479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9" name="Google Shape;1559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0" y="30099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0" name="Google Shape;1560;p3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0" y="35718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1" name="Google Shape;1561;p3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0" y="41338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2" name="Google Shape;1562;p3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0" y="46958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3" name="Google Shape;1563;p3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0" y="52578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4" name="Google Shape;1564;p3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0" y="58197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5" name="Google Shape;1565;p3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0" y="63817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6" name="Google Shape;1566;p3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0" y="69437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7" name="Google Shape;1567;p3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0" y="75057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8" name="Google Shape;1568;p3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0" y="80676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9" name="Google Shape;1569;p3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0" y="86296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0" name="Google Shape;1570;p3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0" y="919162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1" name="Google Shape;1571;p3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0" y="975360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2" name="Google Shape;1572;p3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0" y="10315575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3" name="Google Shape;1573;p3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0" y="10877550"/>
            <a:ext cx="121920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4" name="Google Shape;1574;p3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0" y="11439525"/>
            <a:ext cx="12192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5" name="Google Shape;1575;p35"/>
          <p:cNvSpPr txBox="1"/>
          <p:nvPr/>
        </p:nvSpPr>
        <p:spPr>
          <a:xfrm>
            <a:off x="390525" y="-2095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1):</a:t>
            </a:r>
            <a:endParaRPr/>
          </a:p>
        </p:txBody>
      </p:sp>
      <p:sp>
        <p:nvSpPr>
          <p:cNvPr id="1576" name="Google Shape;1576;p35"/>
          <p:cNvSpPr txBox="1"/>
          <p:nvPr/>
        </p:nvSpPr>
        <p:spPr>
          <a:xfrm>
            <a:off x="390525" y="3524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2):</a:t>
            </a:r>
            <a:endParaRPr/>
          </a:p>
        </p:txBody>
      </p:sp>
      <p:sp>
        <p:nvSpPr>
          <p:cNvPr id="1577" name="Google Shape;1577;p35"/>
          <p:cNvSpPr txBox="1"/>
          <p:nvPr/>
        </p:nvSpPr>
        <p:spPr>
          <a:xfrm>
            <a:off x="390525" y="9144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3):</a:t>
            </a:r>
            <a:endParaRPr/>
          </a:p>
        </p:txBody>
      </p:sp>
      <p:sp>
        <p:nvSpPr>
          <p:cNvPr id="1578" name="Google Shape;1578;p35"/>
          <p:cNvSpPr txBox="1"/>
          <p:nvPr/>
        </p:nvSpPr>
        <p:spPr>
          <a:xfrm>
            <a:off x="390525" y="14763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4):</a:t>
            </a:r>
            <a:endParaRPr/>
          </a:p>
        </p:txBody>
      </p:sp>
      <p:sp>
        <p:nvSpPr>
          <p:cNvPr id="1579" name="Google Shape;1579;p35"/>
          <p:cNvSpPr txBox="1"/>
          <p:nvPr/>
        </p:nvSpPr>
        <p:spPr>
          <a:xfrm>
            <a:off x="390525" y="20383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5):</a:t>
            </a:r>
            <a:endParaRPr/>
          </a:p>
        </p:txBody>
      </p:sp>
      <p:sp>
        <p:nvSpPr>
          <p:cNvPr id="1580" name="Google Shape;1580;p35"/>
          <p:cNvSpPr txBox="1"/>
          <p:nvPr/>
        </p:nvSpPr>
        <p:spPr>
          <a:xfrm>
            <a:off x="390525" y="26003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6):</a:t>
            </a:r>
            <a:endParaRPr/>
          </a:p>
        </p:txBody>
      </p:sp>
      <p:sp>
        <p:nvSpPr>
          <p:cNvPr id="1581" name="Google Shape;1581;p35"/>
          <p:cNvSpPr txBox="1"/>
          <p:nvPr/>
        </p:nvSpPr>
        <p:spPr>
          <a:xfrm>
            <a:off x="390525" y="31623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7):</a:t>
            </a:r>
            <a:endParaRPr/>
          </a:p>
        </p:txBody>
      </p:sp>
      <p:sp>
        <p:nvSpPr>
          <p:cNvPr id="1582" name="Google Shape;1582;p35"/>
          <p:cNvSpPr txBox="1"/>
          <p:nvPr/>
        </p:nvSpPr>
        <p:spPr>
          <a:xfrm>
            <a:off x="390525" y="37242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8):</a:t>
            </a:r>
            <a:endParaRPr/>
          </a:p>
        </p:txBody>
      </p:sp>
      <p:sp>
        <p:nvSpPr>
          <p:cNvPr id="1583" name="Google Shape;1583;p35"/>
          <p:cNvSpPr txBox="1"/>
          <p:nvPr/>
        </p:nvSpPr>
        <p:spPr>
          <a:xfrm>
            <a:off x="390525" y="42862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9):</a:t>
            </a:r>
            <a:endParaRPr/>
          </a:p>
        </p:txBody>
      </p:sp>
      <p:sp>
        <p:nvSpPr>
          <p:cNvPr id="1584" name="Google Shape;1584;p35"/>
          <p:cNvSpPr txBox="1"/>
          <p:nvPr/>
        </p:nvSpPr>
        <p:spPr>
          <a:xfrm>
            <a:off x="390525" y="484822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10):</a:t>
            </a:r>
            <a:endParaRPr/>
          </a:p>
        </p:txBody>
      </p:sp>
      <p:sp>
        <p:nvSpPr>
          <p:cNvPr id="1585" name="Google Shape;1585;p35"/>
          <p:cNvSpPr txBox="1"/>
          <p:nvPr/>
        </p:nvSpPr>
        <p:spPr>
          <a:xfrm>
            <a:off x="390525" y="541020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11):</a:t>
            </a:r>
            <a:endParaRPr/>
          </a:p>
        </p:txBody>
      </p:sp>
      <p:sp>
        <p:nvSpPr>
          <p:cNvPr id="1586" name="Google Shape;1586;p35"/>
          <p:cNvSpPr txBox="1"/>
          <p:nvPr/>
        </p:nvSpPr>
        <p:spPr>
          <a:xfrm>
            <a:off x="390525" y="5972175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12):</a:t>
            </a:r>
            <a:endParaRPr/>
          </a:p>
        </p:txBody>
      </p:sp>
      <p:sp>
        <p:nvSpPr>
          <p:cNvPr id="1587" name="Google Shape;1587;p35"/>
          <p:cNvSpPr txBox="1"/>
          <p:nvPr/>
        </p:nvSpPr>
        <p:spPr>
          <a:xfrm>
            <a:off x="390525" y="6534150"/>
            <a:ext cx="114109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13):</a:t>
            </a:r>
            <a:endParaRPr/>
          </a:p>
        </p:txBody>
      </p:sp>
      <p:sp>
        <p:nvSpPr>
          <p:cNvPr id="1588" name="Google Shape;1588;p35"/>
          <p:cNvSpPr txBox="1"/>
          <p:nvPr/>
        </p:nvSpPr>
        <p:spPr>
          <a:xfrm>
            <a:off x="390525" y="70961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14):</a:t>
            </a:r>
            <a:endParaRPr/>
          </a:p>
        </p:txBody>
      </p:sp>
      <p:sp>
        <p:nvSpPr>
          <p:cNvPr id="1589" name="Google Shape;1589;p35"/>
          <p:cNvSpPr txBox="1"/>
          <p:nvPr/>
        </p:nvSpPr>
        <p:spPr>
          <a:xfrm>
            <a:off x="390525" y="76581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15):</a:t>
            </a:r>
            <a:endParaRPr/>
          </a:p>
        </p:txBody>
      </p:sp>
      <p:sp>
        <p:nvSpPr>
          <p:cNvPr id="1590" name="Google Shape;1590;p35"/>
          <p:cNvSpPr txBox="1"/>
          <p:nvPr/>
        </p:nvSpPr>
        <p:spPr>
          <a:xfrm>
            <a:off x="390525" y="82200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16):</a:t>
            </a:r>
            <a:endParaRPr/>
          </a:p>
        </p:txBody>
      </p:sp>
      <p:sp>
        <p:nvSpPr>
          <p:cNvPr id="1591" name="Google Shape;1591;p35"/>
          <p:cNvSpPr txBox="1"/>
          <p:nvPr/>
        </p:nvSpPr>
        <p:spPr>
          <a:xfrm>
            <a:off x="390525" y="87820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17):</a:t>
            </a:r>
            <a:endParaRPr/>
          </a:p>
        </p:txBody>
      </p:sp>
      <p:sp>
        <p:nvSpPr>
          <p:cNvPr id="1592" name="Google Shape;1592;p35"/>
          <p:cNvSpPr txBox="1"/>
          <p:nvPr/>
        </p:nvSpPr>
        <p:spPr>
          <a:xfrm>
            <a:off x="390525" y="93440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18):</a:t>
            </a:r>
            <a:endParaRPr/>
          </a:p>
        </p:txBody>
      </p:sp>
      <p:sp>
        <p:nvSpPr>
          <p:cNvPr id="1593" name="Google Shape;1593;p35"/>
          <p:cNvSpPr txBox="1"/>
          <p:nvPr/>
        </p:nvSpPr>
        <p:spPr>
          <a:xfrm>
            <a:off x="390525" y="990600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19):</a:t>
            </a:r>
            <a:endParaRPr/>
          </a:p>
        </p:txBody>
      </p:sp>
      <p:sp>
        <p:nvSpPr>
          <p:cNvPr id="1594" name="Google Shape;1594;p35"/>
          <p:cNvSpPr txBox="1"/>
          <p:nvPr/>
        </p:nvSpPr>
        <p:spPr>
          <a:xfrm>
            <a:off x="390525" y="1046797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20):</a:t>
            </a:r>
            <a:endParaRPr/>
          </a:p>
        </p:txBody>
      </p:sp>
      <p:sp>
        <p:nvSpPr>
          <p:cNvPr id="1595" name="Google Shape;1595;p35"/>
          <p:cNvSpPr txBox="1"/>
          <p:nvPr/>
        </p:nvSpPr>
        <p:spPr>
          <a:xfrm>
            <a:off x="390525" y="11029950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21):</a:t>
            </a:r>
            <a:endParaRPr/>
          </a:p>
        </p:txBody>
      </p:sp>
      <p:sp>
        <p:nvSpPr>
          <p:cNvPr id="1596" name="Google Shape;1596;p35"/>
          <p:cNvSpPr txBox="1"/>
          <p:nvPr/>
        </p:nvSpPr>
        <p:spPr>
          <a:xfrm>
            <a:off x="390525" y="11591925"/>
            <a:ext cx="1141095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C5A059"/>
                </a:solidFill>
                <a:latin typeface="Montserrat"/>
                <a:ea typeface="Montserrat"/>
                <a:cs typeface="Montserrat"/>
                <a:sym typeface="Montserrat"/>
              </a:rPr>
              <a:t>SPEAKER NOTES (SLIDE 22):</a:t>
            </a:r>
            <a:endParaRPr/>
          </a:p>
        </p:txBody>
      </p:sp>
      <p:sp>
        <p:nvSpPr>
          <p:cNvPr id="1597" name="Google Shape;1597;p35"/>
          <p:cNvSpPr/>
          <p:nvPr/>
        </p:nvSpPr>
        <p:spPr>
          <a:xfrm>
            <a:off x="571500" y="297180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8" name="Google Shape;1598;p35"/>
          <p:cNvSpPr txBox="1"/>
          <p:nvPr/>
        </p:nvSpPr>
        <p:spPr>
          <a:xfrm>
            <a:off x="571500" y="2990850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sp>
        <p:nvSpPr>
          <p:cNvPr id="1599" name="Google Shape;1599;p35"/>
          <p:cNvSpPr/>
          <p:nvPr/>
        </p:nvSpPr>
        <p:spPr>
          <a:xfrm>
            <a:off x="571500" y="3905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35"/>
          <p:cNvSpPr/>
          <p:nvPr/>
        </p:nvSpPr>
        <p:spPr>
          <a:xfrm>
            <a:off x="571500" y="3905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35"/>
          <p:cNvSpPr txBox="1"/>
          <p:nvPr/>
        </p:nvSpPr>
        <p:spPr>
          <a:xfrm>
            <a:off x="571500" y="3933825"/>
            <a:ext cx="1143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59"/>
                </a:solidFill>
                <a:latin typeface="Lora"/>
                <a:ea typeface="Lora"/>
                <a:cs typeface="Lora"/>
                <a:sym typeface="Lora"/>
              </a:rPr>
              <a:t>◆</a:t>
            </a:r>
            <a:endParaRPr/>
          </a:p>
        </p:txBody>
      </p:sp>
      <p:pic>
        <p:nvPicPr>
          <p:cNvPr descr="image.png" id="1602" name="Google Shape;1602;p3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71500" y="32004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35"/>
          <p:cNvSpPr txBox="1"/>
          <p:nvPr/>
        </p:nvSpPr>
        <p:spPr>
          <a:xfrm>
            <a:off x="1666875" y="311467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https://camo.githubusercontent.com/c625ab1d6d136f82325713a74f83924112b2215cf64a894d0cdd8b9cea3ab16b/68747470733a2f2f6373756e706c75676765642e66696c65732e776f726470726573732e636f6d2f323031322f30392f726f6d616e69612d6772617068312e706e67</a:t>
            </a:r>
            <a:endParaRPr/>
          </a:p>
        </p:txBody>
      </p:sp>
      <p:sp>
        <p:nvSpPr>
          <p:cNvPr id="1604" name="Google Shape;1604;p35"/>
          <p:cNvSpPr txBox="1"/>
          <p:nvPr/>
        </p:nvSpPr>
        <p:spPr>
          <a:xfrm>
            <a:off x="1666875" y="353377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ora"/>
                <a:ea typeface="Lora"/>
                <a:cs typeface="Lora"/>
                <a:sym typeface="Lora"/>
              </a:rPr>
              <a:t>github.com</a:t>
            </a:r>
            <a:endParaRPr/>
          </a:p>
        </p:txBody>
      </p:sp>
      <p:pic>
        <p:nvPicPr>
          <p:cNvPr descr="image.png" id="1605" name="Google Shape;1605;p3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71500" y="40576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6" name="Google Shape;1606;p35"/>
          <p:cNvSpPr txBox="1"/>
          <p:nvPr/>
        </p:nvSpPr>
        <p:spPr>
          <a:xfrm>
            <a:off x="1666875" y="40647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https://media.geeksforgeeks.org/wp-content/uploads/puzzle-1.jpg</a:t>
            </a:r>
            <a:endParaRPr/>
          </a:p>
        </p:txBody>
      </p:sp>
      <p:sp>
        <p:nvSpPr>
          <p:cNvPr id="1607" name="Google Shape;1607;p35"/>
          <p:cNvSpPr txBox="1"/>
          <p:nvPr/>
        </p:nvSpPr>
        <p:spPr>
          <a:xfrm>
            <a:off x="1666875" y="42981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B3A4A"/>
                </a:solidFill>
                <a:latin typeface="Lora"/>
                <a:ea typeface="Lora"/>
                <a:cs typeface="Lora"/>
                <a:sym typeface="Lora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ora"/>
                <a:ea typeface="Lora"/>
                <a:cs typeface="Lora"/>
                <a:sym typeface="Lora"/>
              </a:rPr>
              <a:t>www.geeksforgeeks.org</a:t>
            </a:r>
            <a:endParaRPr/>
          </a:p>
        </p:txBody>
      </p:sp>
      <p:sp>
        <p:nvSpPr>
          <p:cNvPr id="1608" name="Google Shape;1608;p35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B49"/>
                </a:solidFill>
                <a:latin typeface="Cinzel"/>
                <a:ea typeface="Cinzel"/>
                <a:cs typeface="Cinzel"/>
                <a:sym typeface="Cinzel"/>
              </a:rPr>
              <a:t>IMAGE SOURCES</a:t>
            </a:r>
            <a:endParaRPr/>
          </a:p>
        </p:txBody>
      </p:sp>
      <p:sp>
        <p:nvSpPr>
          <p:cNvPr id="1609" name="Google Shape;1609;p35"/>
          <p:cNvSpPr/>
          <p:nvPr/>
        </p:nvSpPr>
        <p:spPr>
          <a:xfrm>
            <a:off x="571500" y="1009650"/>
            <a:ext cx="11049000" cy="19050"/>
          </a:xfrm>
          <a:prstGeom prst="rect">
            <a:avLst/>
          </a:prstGeom>
          <a:solidFill>
            <a:srgbClr val="C5A05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