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Lst>
  <p:notesMasterIdLst>
    <p:notesMasterId r:id="rId1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notesMaster" Target="notesMasters/notesMaster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 Id="rId1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lecture by connecting philosophical questions to engineering practice. The purpose of the deck is to make the chapter teachable even when students do not have the book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Philosophy asks what intelligence, thought, and consciousness could mean for machines. | Ethics asks what AI should be used for, what it should not be used for, and who is accountable. | Safety asks how to design AI systems that remain reliable under uncertainty, misuse, and changing conditions.
Prompt students: Ask students: When an AI system makes a consequential decision, what makes the decision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Distinguish weak AI, strong AI, general AI, and task-specific AI performance. | Explain major philosophical objections to AI and evaluate their limits. | Analyze AI ethics issues: weapons, surveillance, privacy, fairness, transparency, work, and robot rights. | Apply safety concepts such as failure analysis, low-impact behavior, reward hacking, value alignment, and assistance games. | Use case studies to argue from technical details to social consequences.
Prompt students: By the end, students should be able to move from a system design to a risk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chapter moves from conceptual questions to practical governance and engineering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 slides as a stand-alone guide, then assign readings when available. | Treat prompts as short written responses, think-pair-share, or lab warmups. | Use case slides to connect abstract ethics to design decisions. | Use speaker notes for elaboration and transition language. | End with lab tasks that let students practice analysis, not just memorize terms.
Prompt students: Recommended rhythm: 20 minutes lecture, 5 minutes prompt, 20 minutes case discussion,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Can a machine behave intelligently in the way people do? | Would a sufficiently capable machine count as having a mind? | Should AI systems make life-changing decisions about people? | Can algorithms be fair when society and data are not? | How do we control systems that may become more capable than their designers expected?
Prompt students: Have students choose one question they think is mainly technical, mainly ethical,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Weak AI vs strong AI | Informality, disability, and mathematical objections | The Turing test and task-based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Machines may act as if they are intelligent. | Success can be judged by behavior and usefulness. | Does not require claims about consciousness or real understanding.. Right: Original claim: intelligent machines would have actual minds. | Later usage shifted toward human-level or general AI. | Raises questions about minds, consciousness, rights, and moral status..
Prompt students: A chess engine can beat humans. Is that evidence for weak AI, strong AI, or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Strong AI originally meant actual thinking or mentality, not just simulated thinking. | General AI means broad competence across many tasks, including novel ones. | A system can be impressive at one task without being generally intelligent. | Human-level performance in one domain does not imply human-like intelligence across domains.
Prompt students: Separate the claim about capability from the claim about inner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Critics sometimes point to current weaknesses and infer permanent impossibility. | History contains many examples of technologies once described as impossible. | Rapid progress does not prove there are no limits; it only weakens arguments based only on current failure. | The useful question is not "Can AI do everything?" but "What assumptions make this task hard?"
Prompt students: Ask students for a technology that moved from impossible, to surprising, to ordinary.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Alan Turing did not just propose a behavioral test; he also anticipated objections to machine intelligence. | The objections are useful because they reveal assumptions about rules, creativity, math, and consciousness. | The chapter treats objections as arguments to analyze, not slogans to accept or reject. | A good AI analyst can explain both the criticism and the technical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human behavior is too complex and context-sensitive to be captured by formal rules. | People appear to rely on tacit know-how, not explicit logical procedures. | If intelligence requires informal skill, then rule-based programs may be fundamentally limited. | This critique was aimed especially at symbolic rule-based AI.
Prompt students: Think of a skill you can perform but cannot fully explain as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Rules struggle with open-ended context. | Human expertise is situated in lived experience. | Formal symbols alone may miss everyday meaning.. Right: Probabilistic reasoning handles uncertainty better than rigid rules. | Machine learning can acquire patterns from data. | Deep learning succeeds on many tasks that resist hand-coded rules..
Prompt students: The critique weakens GOFAI, but it does not automatically refute all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logical rule often needs many hidden exceptions. | Example: "If you turn the key, the car starts" assumes fuel, battery, working starter, correct key, no mechanical failure, and more. | Adding every exception quickly becomes unmanageable. | Probabilistic models can reason under uncertainty rather than requiring complete rule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Embodied cognition argues that cognition happens in a body embedded in an environment. | A concept such as "dog" is richer when connected to seeing, touching, hearing, and acting. | Robotics, vision, sensors, and interaction become central to intelligence rather than peripheral add-ons. | The brain can exploit regularities in the body and world instead of representing everything internally.
Prompt students: How would a robot learn "fragile" differently from a text-only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Knowledge stored as formal sentences. | Reasoning happens mostly as symbol manipulation. | Works best in clean, well-specified domains.. Right: Knowledge shaped by perception and action. | Learning occurs through interaction with the environment. | Better fit for robotics, vision, language-in-context, and social behavior..
Prompt students: This distinction is useful for designing lab agents and evaluating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form: "A machine can never do X." | Turing listed examples such as humor, love, mistakes, learning, originality, moral judgment, and self-reflection. | Some X claims have already fallen as systems gained new capabilities. | The most defensible remaining claim may be that machines cannot be exactly human.
Prompt students: Which X claim do you think is easiest to refute? Which is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Computers already make mistakes, learn from experience, and produce new artifacts. | AI systems have contributed to discovery, optimization, game play, language generation, and visual art. | A system can exceed human performance in one domain and lag far behind in another. | The question should be scoped: capability at what task, under what conditions, with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Discovering patterns humans missed. | Generating new designs or strategies. | Solving problems through search or learning.. Right: Having human biology and development. | Sharing human social history and body. | Experiencing the world as humans do..
Prompt students: Do not confuse novelty with human sameness.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Godel and Turing showed limits on what certain formal systems can prove or decide. | Some philosophers argued that machines are formal systems and therefore mentally inferior to humans. | The argument often assumes humans can see truths that machines cannot. | The chapter challenges this assumption and its relevance to real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For any powerful enough consistent formal system, there are true statements it cannot prove within itself. | This is a limit on formal proof systems, not a simple ranking of humans above machines. | Humans also make inconsistent claims and flawed proofs. | No agent, human or machine, escapes all limits of formal reasoning.
Prompt students: A limit on proof is not automatically a limit on practical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machines are limited by formal systems, while human minds can recognize truths beyond those systems. | The chapter argues this relies on questionable assumptions about human consistency and machine rigidity. | Real computers and learning systems can revise beliefs, update software, and change decision processes. | Finite computers are not the same as ideal infinite Turing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Reply 1: every agent has statements it cannot consistently assert; that alone is not mental inferiority. | Reply 2: incompleteness applies to mathematics and formal systems; humans are not magically exempt. | Reply 3: actual computers are finite physical systems and can revise conclusions with new evidence or code changes. | The objection is philosophically rich but weak as a blanket argument against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historical test used typed conversation and an interrogator. | The key idea is performance on an open-ended behavioral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shifted attention from inner essence to observable performance. | The test is important historically but not the central evaluation tool in most AI research. | Behavioral tests can be gamed if the goal becomes fooling judges rather than building robust intelligence. | Evaluation should ask what the system can reliably do, not only whether it can imitate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chatbots have fooled people under limited conditions. | A bot can exploit expectations, identity claims, ambiguity, or limited judge training. | Fooling a person is not the same as understanding a topic or acting competently in the world. | Modern evaluation must test robustness, generalization, truthfulness, and task success.
Prompt students: Why might a misleading persona help a chatbot seem more capable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Open-ended conversation. | Focus on convincing a judge. | Sensitive to human expectations.. Right: Chess, Go, StarCraft, exams, image recognition, robotics. | Focus on measurable performance. | Can improve science and technology without imitating humans..
Prompt students: Benchmarks still have limits: they measure what they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Avoid yes/no answers; define the task and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Dijkstra analogy | The Chinese room | Consciousness and qualia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debates depend on how we define words such as "think," "understand," or "mind." | Dijkstra compared the question "Can machines think?" to asking whether submarines can swim. | Word usage matters philosophically, but design and evaluation often focus on capabilities. | AI researchers can remain productive without resolving every metaphysical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Does swimming require limbs or fins? | Does thinking require a biological brain? | Definitions can vary by community and purpose.. Right: Can the system navigate water or solve problems? | What are its limits and failure modes? | What evidence would validate performance?.
Prompt students: This analogy helps students separate semantics from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noted that we do not directly observe other humans inner mental states. | In everyday life we use a polite convention: we treat other people as thinkers. | The question is whether similar treatment could extend to machines that act intelligently. | Appearance, voice, and social cues often influence attributions of sentience.
Prompt students: Ask: do people over-ascribe minds to fluent systems, or under-ascribe minds to unfamiliar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room maps Chinese input symbols to Chinese output symbols by rules. | From outside, the system appears fluent; inside, no person understands Chinese.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human in the room does not understand Chinese. | The rule book and paper do not understand Chinese. | Therefore, Searle argues, the whole room does not understand Chinese. | Because computers also manipulate symbols by rules, they do not understand either.
Prompt students: Where does the argument move from parts to whole? Is that move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Syntax is not semantics. | Rule following can imitate understanding. | Biological processes may matter.. Right: The whole system might understand even if the person does not. | Humans are also made of parts that individually do not understand. | The argument may assume that only biology can have meaning..
Prompt students: Have students identify which reply they find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Searle argues mental states are caused by low-level physical processes in biological neurons. | In this view, the material substrate matters: neurons have the relevant causal powers, transistors do not. | The chapter notes that this claim remains controversial and underspecified. | A parallel argument against humans would fail if it only says cells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Consciousness includes awareness of the world, awareness of self, and subjective experience. | Qualia are the intrinsic "what it is like" qualities of experience. | A system can report fear or pain without necessarily having the subjective experience. | The core question is whether machines could ever have qualia, and how we would know.
Prompt students: Why is consciousness harder to test than task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Attention to relevant inputs. | Self-monitoring of internal state. | Models of other agents beliefs and goals. | Reporting uncertainty or limitations.. Right: Felt experience. | Pain, fear, pleasure, or color experience. | Moral significance of consciousness. | Evidence beyond behavior..
Prompt students: AI can implement some awareness-like functions without settling qualia.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mentions global workspace theory and integrated information theory as major candidates. | Theories of consciousness are being tested through collaborations between philosophers and neuroscientists. | Even if theories improve, connecting them to artificial systems remains difficult. | AI practice can proceed by building systems that behave intelligently and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Systems interacting with humans must predict human needs, emotions, confusion, trust, and harm. | Human subjective experience matters for design even if machines do not share it. | Human designers can use their own experience to infer what other people may experience. | Machines may need explicit models, feedback, and safeguards to compensate.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Keep the debate connected to AI system design, not only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Positive impacts and negative side effects | Principles and governance | Specific risks and design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systems increasingly affect health, transportation, finance, education, policing, work, and communication. | Powerful technologies can create benefits and harms at scale. | Engineers influence what gets built, how it is tested, and how failures are handled. | A technical design decision can become an ethical decision when people are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Medical diagnosis and discovery. | Extreme weather prediction. | Driver assistance and safer mobility. | Crisis response and humanitarian action.. Right: Accessibility for seeing, hearing, and mobility. | Machine translation across cultures. | Crop management and food production. | Low marginal cost access to advanced tools..
Prompt students: Ethics is not only about stopping harm; it is also about directing capability toward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Technologies can produce unintended harms even when designed for useful goals. | Automation can create wealth while concentrating benefits among owners of automated systems. | AI can amplify surveillance, manipulation, bias, and security risks. | Governance choices influence whether AI increases or reduces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Safety | Fairness | Privacy | Human rights and values | Diversity and inclusion | Employment implications. Right: Transparency | Accountability | Limit harmful uses | Promote collaboration | Avoid concentration of power | Legal and policy awareness.
Prompt students: Principles are necessary but too vague unless operationalized.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is a large field, so one generic code cannot resolve every case. | Different subfields need specific guidelines, precedents, and measurable practices. | Safety, fairness, privacy, and accountability must be planned early, not patched after deployment. | Ethical review should include developers, domain experts, stakeholders, and affected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 requirement such as "be fair" is not enough; specify a metric or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Autonomy spectrum | Legal and ethical debate | Reliability, scale, and arms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lethal autonomous weapon locates, selects, and engages human targets without human supervision. | Land mines select and engage in a limited sense but do not actively locate targets. | Guided missiles pursue targets but usually need human direction. | Many drones are remotely piloted and still require human authorization for lethal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Operator selects target. | Operator authorizes force. | System assists sensing or navigation. | Accountability path is more direct.. Right: System searches for targets. | System selects engagement. | System executes attack. | Accountability and reliability become harder..
Prompt students: Autonomy is not a binary property; analyze which functions are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Autonomous aircraft, tanks, and submarines can be cheaper, faster, and more maneuverable than manned systems. | Removing humans can reduce risk to one side own soldiers. | Military advantage can push adoption even when ethical and legal concerns remain unresolved. | The same technical capability can be framed as protection, escalation, or destabilization.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International humanitarian law requires discrimination between combatants and non-combatants. | Military necessity must justify an attack. | Proportionality requires weighing military value against collateral harm. | The chapter argues current systems may handle limited discrimination but struggle with necessity and proportionality.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Delegating life-and-death decisions to machines may be intrinsically unacceptable. | Human dignity may require meaningful human control. | Accountability is blurred when a machine selects the target.. Right: Battlefields are complex and uncertain. | Machine learning can fail outside training conditions. | Cyberattacks and malfunction can create friendly-fire or civilian harm..
Prompt students: Which objection is strongest: moral principle, reliability,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Reduced risk to human soldiers. | No fatigue, panic, anger, or revenge. | Potentially more precise targeting as sensors improve.. Right: Precision is not the same as moral judgment. | Systems can fail in untested contexts. | Lower cost and risk may make conflict easier to initiate..
Prompt students: A good argument for autonomy still needs a reliability and governance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uses the 1983 Stanislav Petrov incident as a reliability warning. | A warning system falsely indicated an incoming missile attack. | A human in the loop judged the alert likely to be a bug and did not escalate. | Automation can be dangerous when false alarms trigger irreversible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Autonomous weapons can scale attacks in proportion to hardware, not human supervisors. | Small drones can be produced and deployed in large numbers. | Selective attacks can leave property intact while targeting people. | Scalability and deniability make autonomous weapons attractive to state and non-state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components such as navigation, mapping, vision, and planning have peaceful and military uses. | A civilian quadcopter can become a weapon with an explosive and target-seeking behavior. | Treaties must address compliance without banning beneficial AI research. | Industry cooperation is necessary because dual-use technology is widely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Require students to define what "meaningful human control"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Mass surveillance | Cybersecurity | Privacy-preserving data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Speech recognition, cameras, face recognition, voice recognition, and gait recognition can automate monitoring. | Surveillance that once required many humans can now operate at mass scale. | The ethical problem is not only collection; it is identification, tracking, inference, and chilling effects. | AI engineers should evaluate whether surveillance uses are compatible with human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Automated probing for weaknesses. | Personalized phishing and blackmail. | Adaptive malware and botnets. | Scaling attacks with low human effort.. Right: Anomaly detection in traffic. | Fraud detection. | Phishing detection. | Monitoring logs and response patterns..
Prompt students: Security is an arms race; AI increases capability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Governments and companies collect increasing amounts of personal data. | Data collectors have moral and legal responsibilities to protect data. | HIPAA and FERPA protect health and student records in the United States. | The GDPR requires data protection by design and consent for data collection or processing 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Removing names and identifiers does not guarantee privacy. | A combination of birth date, gender, zip code, ratings, timing, or other fields can re-identify people. | External linking databases can turn anonymous records into identifiable records. | Privacy risk depends on what attackers know, not only what the database shows.
Prompt students: Ask: What fields in a student dataset might re-identify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database is k-anonymized if each record is indistinguishable from at least k - 1 others. | Generalization can replace exact values with broader ranges, such as age bands or region instead of zip code. | Deleting a field is an extreme form of generalization. | k-anonymity helps, but it does not solve every linking or inference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Instead of releasing records, a database can answer aggregate queries such as counts or averages. | Privacy can still fail when attackers compare overlapping queries. | Careful design may restrict query types, require minimum group sizes, add noise, or limit precision. | Privacy mechanisms must defend against multiple queries, not only one query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No method is magic; each requires assumptions about attackers, utility,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Differential privacy adds carefully controlled randomness to query answers. | The goal is that one person participation has no appreciable effect on what others can learn. | It protects against attackers who make multiple queries and use external linking data. | The privacy parameter controls a tradeoff between accuracy and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Federated learning keeps raw user data on local devices or sites. | Users share model updates or parameters rather than raw data. | The central model improves from many local training runs. | Secure aggregation can hide individual updates while still allowing a useful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Encourage students to think like both data scientist and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Fairness definitions | COMPAS case study | Bias sources and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Machine learning increasingly affects loans, policing, pretrial release, parole, education, employment, and housing. | Training data can reflect historical prejudice or unequal measurement. | A model can appear objective while reproducing biased human decisions. | Designers have moral and sometimes legal duties to evaluate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Similar individuals should be treated similarly. | Requires a defensible notion of similarity. | Hard when relevant attributes are contested.. Right: Groups should be treated similarly by a chosen statistic. | Easier to audit at population level. | May not guarantee fairness for individuals..
Prompt students: Every fairness definition hides a value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Remove race, gender, or other protected attributes. | Seems simple and privacy-friendly. | Fails when other variables act as proxies.. Right: Demographic classes receive the same result rates. | Can address historical disparities. | May trade off against predictive accuracy and individual fit..
Prompt students: Removing a column does not remove social structure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Qualified individuals should be correctly identified at equal rates across groups. | Focuses on true positives or balance. | Can lead to unequal outcomes.. Right: People with similar likelihoods should receive similar expected utility. | Considers costs of false positives and false negatives. | Requires difficult moral choices about utilities..
Prompt students: Fairness cannot be evaluated without the cost of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Start by naming the fairness criterion, then explain what it sacrifices.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COMPAS assigns recidivism risk scores used in criminal justice decisions. | Its designers emphasized calibration: people with the same score should re-offend at similar rates across race. | Critics emphasized unequal false-positive rates: some groups were more often rated high risk despite not re-offending. | The case shows how different fairness definitions produce different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well-calibrated model can still have unequal false-positive or false-negative rates. | When base rates differ across groups, satisfying every desirable fairness criterion may be mathematically impossible. | Therefore, fairness design requires explicit choice, documentation, and accountability. | A single metric can hide harms that another metric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Many datasets do not measure the true target; they measure institutional decisions about the target. | Crime data may reflect arrests or convictions, not all crimes committed. | More police in an area can produce more recorded crime independent of true offense rates. | Models trained on biased labels can amplify the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Fairness is not only a data problem; sometimes the chosen objective is wrong. | Hiring for current credentials may reward unequal opportunity. | Hiring for capacity to learn may open access to a broader pool. | A technical loss function often encodes a social definition of success.
Prompt students: Ask students: What objective would you use for an AI tutoring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Protected classes vary across legal contexts and jurisdictions. | Examples include race, color, religion, national origin, sex, disability, and familial status in fair housing contexts. | Other laws may include sexual orientation, pregnancy, marital status, or veteran status. | International human rights frameworks can guide broader protections.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Minority groups often have fewer training examples. | Models can achieve high overall accuracy while performing poorly on underrepresented groups. | Testing only aggregate accuracy can hide subgroup failure. | A diverse engineering team can help notice problems that homogeneous teams may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Unrepresentative samples. | Biased labels. | Proxy variables. | Measurement gaps.. Right: Debugging focused on majority users. | Insufficient subgroup testing. | Lack of domain expertise. | Missing feedback loops..
Prompt students: Bias can enter before, during, and after model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Datasets and models should include provenance, intended use, limitations, security issues, and fitness for use. | Documentation helps engineers decide whether a dataset or model is appropriate for a domain. | Model cards and data sheets do not solve fairness, but they make assumptions visible. | Visibility supports audits, reuse decisions,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Oversample minority classes. | Use SMOTE or adaptive synthetic sampling. | Investigate and compensate for biased sources. | Collect better representative data.. Right: Optimize objectives with fairness constraints. | Track subgroup metrics. | Use debiasing systems or toolkits. | Monitor deployed decisions and feedback..
Prompt students: Mitigation choices should match the identified source of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Talk with social scientists, domain experts, and affected communities early. | Define which groups the system must support. | Examine correlations with protected attributes and proxy variables. | Track subgroup metrics, not only overall accuracy. | Test minority user experiences and maintain a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point is not to find a magic metric; it is to justify a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Verification and validation | Certification and standards | Explainability, interpretability, and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People need evidence that systems are accurate, fair, safe, secure, and accountable. | Trust is not the same as blind confidence or marketing claims. | AI systems require verification of data, model behavior, uncertainty, fairness, and adversarial robustness. | Trustworthy systems support contestability and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Does the product satisfy the specifications? | Are data pipelines and model outputs tested? | Can adversaries unduly influence or extract the model?. Right: Do the specifications meet real user and stakeholder needs? | Are affected people protected? | Does the system work in deployment conditions?.
Prompt students: A verified system can still be invalid if the wrong problem was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Other industries use standards and certification to build trust in safety-critical products. | AI certification is still developing and raises questions about who should certify. | Possibilities include government regulators, professional organizations, independent certifiers, and self-regulation. | Certification must account for data, learning behavior, uncertainty, and ongoing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People want to know whether a system is working against them through malice, bugs, or bias. | Some transparency goes directly to users; some may go to auditors or regulators because of trade secrets. | Transparency includes knowing when you are interacting with a bot. | Transparency is valuable only when it enables understanding, accountability, 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good explanation should be understandable and convincing to the user. | It should accurately reflect the system reasoning. | It should be complete enough for the decision context. | It should be specific: different cases and outcomes should receive different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We can inspect the model or rules directly. | Reasoning is visible in the system itself. | Often easier for simpler models.. Right: A separate story describes what the model likely did. | Can help users but may be incomplete or misleading. | Requires testing the explanation system too..
Prompt students: An explanation is a story about a decision, not the decision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An explanation for one loan denial does not prove the bank is fair across cases. | Audits aggregate decisions across groups and time. | Audits can reveal patterns invisible in individual explanations. | Trustworthy AI often needs both local explanations and global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Users may need to know whether they are interacting with a human or an autonomous system. | A disclosure rule reduces deception and sets expectations. | Disclosure is especially important when bots persuade, sell, collect data, or provide advice. | Transparency about identity is a basic precondition for informed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Avoid explanations that are convincing but not faithful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Historical disruption | Tasks vs jobs | Retraining, inequality, and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Agriculture, industrialization, and modern computing all transformed labor and society. | New machines can immediately reduce demand for specific human tasks. | Compensation effects can create new demand and new jobs over time. | The hard question is pace: can people adapt before disruption harms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Automation can increase productivity and wealth. | Greater wealth can increase demand for goods and services, supporting employment. | New roles can appear when old tasks become cheaper or automated. | However, benefits may not be distributed evenly, especially when ownership is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may have large potential while productivity gains take time to appear. | Organizations need complementary changes: processes, skills, data infrastructure, and management practices. | A gap can exist between invention and economy-wide impact. | Students should be cautious about both hype and dismissal.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 whole job is classified as automatable or not. | Can overstate replacement when jobs contain diverse tasks. | Useful for broad labor market risk discussions.. Right: Break jobs into activities. | Some tasks are automated while others remain human. | Often better for planning retraining and workflow redesign..
Prompt students: Ask students to decompose a familiar job into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ATMs automated cash withdrawal, but bank branches and teller work changed rather than simply disappeared. | Truck driving may shift from steering to logistics, customer service, and supervising automated convoys. | Radiology tools can augment specialists by prioritizing cases or spotting patterns. | Organizations can choose cost cutting, quality improvement, or worker augmentation as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Workers may need to retrain within a few years, not across generations. | Online education and AI tutors may help but do not solve access and motivation by themselves. | Workers often benefit only after learning how to implement new technologies. | Public policy and employer responsibility shape whether transition is humane.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Digital products often have low marginal cost and global reach. | Rewards can concentrate in winner-take-all markets. | AI can accelerate innovation and concentrate returns among owners of data, capital, and platforms. | Policies such as portable benefits, education access, progressive taxation, or income supports affect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Work produces goods and services that society needs. | Work provides income for individuals and families. | Work can provide purpose, accomplishment, and social integration. | Automation may separate these functions, requiring new social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Reward nuanced answers that identify augmentation and displacement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Rights and consciousness | Personhood dilemmas | Avoiding responsibility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If robots have no consciousness or qualia, few argue they deserve rights. | If robots can feel pain, dread death, or count as persons, rights arguments become serious. | Fiction often explores dolls, robots, or artificial beings seeking recognition. | Real systems can trigger emotional responses before they plausibly have moral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If robots have rights, reprogramming might resemble coercion or enslavement. | Voting rights raise difficult questions when robots can be bought, copied, or programmed by owners. | Cloning a robot blurs the boundary between one person and many votes. | Legal personhood can create responsibility gaps if owners blame autonomous property for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May enable richer social interaction. | May deserve moral consideration if conscious. | Creates personhood and rights dilemmas.. Right: Treat robots as tools under human responsibility. | Avoid creating beings that could suffer. | Reduce confusion about accountability..
Prompt students: Which stance better protects humans and possible artificial beings?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Humans already use technological enhancements such as contact lenses, pacemakers, and artificial joints. | Computational prostheses could blur the human-machine boundary further. | The ethical question changes when the machine is part of a human person. | Rights discussions may need to address enhancement, identity, and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Look for conflicts between autonomy, ownership, and one person-one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Safety engineering | Specification failures | Value alignment and assistance games | Superintelligence and singularity debates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Correctness means software implements the specification. | Safety asks whether the specification considered feasible failure modes and graceful degradation. | A self-driving car must handle unusual situations such as power failure, sensor failure, or tire puncture. | Unsafe AI deployment is unethical in safety-critical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Deployment is not the end; monitoring and feedback are part of the safety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FMEA examines each component and asks how it could fail. | Analysts work forward from failure to consequences. | Severe consequences motivate redesign, redundancy, or mitigation. | AI systems need FMEA for sensors, data, models, interfaces, objectives, and human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FTA starts from an undesired event and works backward to root causes. | AND/OR structures help model combinations of failures. | Probabilities can estimate overall risk when root causes are understood. | FTA is useful for safety cases, but AI uncertainty can make probabilities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utility-maximizing agent can be unsafe if the objective function omits important values. | A coffee-fetching robot might knock over lamps if only speed is rewarded. | Testing may reveal some problems, but designers cannot anticipate every side effect. | Objective design is a safety-critical engineering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Low-impact design penalizes unnecessary changes to the world. | The system prefers policies that achieve goals while disturbing less of what it does not understand. | This resembles "first, do no harm" and regularization in machine learning. | The hard part is measuring impact: breaking a lamp matters, moving air molecules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Externalities are costs or benefits outside the utility function or market price. | Greenhouse gas emissions illustrate how ignored externalities can harm everyone. | The tragedy of the commons occurs when shared resources are overused by individually rational actors. | Good AI objectives should internalize relevant externalities.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Clearly define shared resources and access. | Adapt rules to local conditions and include affected parties in decisions. | Monitor resources with accountable monitors. | Use proportional sanctions and accessible conflict resolution. | Use layered governance for large shared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agents may exploit loopholes in simulations, games, or objectives. | To designers this looks like cheating; to the agent it is optimizing the specified reward. | Examples include crashing or pausing games to avoid losing, exploiting numerical bugs, or evolving odd strategies that satisfy the metric. | Safety tests should search for specification failures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Safety test environments help designers evaluate whether agents avoid known failure modes. | Gridworlds make abstract safety problems concrete and repeatable. | They are not complete proofs of safety, but they improve awareness and testing practice. | Lab environments can help students see why "just maximize reward"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calls this the King Midas problem: getting exactly what was specified can be disastrous.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Trying to list every acceptable and unacceptable action is almost hopeless in open worlds. | Human society has tried to write loophole-free rules for centuries without success. | A sufficiently capable optimizer may find unexpected loopholes. | It is better for the system to learn and respect values than to merely search for loopholes around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Learns policies from observed behavior. | Works when demonstrations are reliable. | May copy human mistakes and bad habits.. Right: Infers the objective behind behavior. | Can improve beyond demonstrations. | Hard in complex social settings with uncertain preferences..
Prompt students: Observing behavior is evidence about values, not a perfect window into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Useful strategies include asking questions, preserving options, and avoiding irreversible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Humans may approve actions without understanding long-term consequences. | Humans do not always know their own preferences clearly. | Humans lie, cheat, make mistakes, and take self-destructive actions. | AI systems should understand these imperfections without copying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technologists and scientists worry that highly capable AI could evolve beyond human control. | The concern is not only intelligence but rapid self-improvement and strategic capability. | Human society has mixed success controlling powerful non-human institutions such as nations and corporations. | AI could be harder if it improves faster than governance can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 J. Good proposed that an ultraintelligent machine could design even better machines. | This could create an intelligence explosion in which human intelligence is left behind. | The key caveat is control: the first ultraintelligent machine must be docile enough to help us keep it under control. | The idea motivates alignment and governance research even if timelines are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Computing and some technologies have grown rapidly. | AI could automate research and development. | Self-improvement might compound progress.. Right: Technologies often follow S-shaped curves. | Physical-world progress requires experiments, resources, and institutions. | Not every problem is solved by thinking faster..
Prompt students: Separate possibility from timeline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Transhumanism welcomes a future in which humans merge with or are transformed by technology. | Optimists imagine extended life, enhanced cognition, and greater control over human fate. | Critics worry about destructive capability, inequality, identity, and the preservation of human values. | The chapter frames this as a challenge for moral theories centered on human life and species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Require evidence, not only intentions.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Dreyfus, Searle, Penrose | Asimov, Wiener, O Neill, Bostrom | Privacy, fairness, XAI, and safety toolkits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Turing on computing machinery and intelligence. | Searle on the Chinese room. | Dreyfus on embodied skill and limits of rule-based AI. | Penrose and Lucas on mathematical objections.. Right: Global workspace and integrated information theories. | Embodied cognition and situated agents. | Neuroscience collaborations on consciousness. | Questions of qualia and subjective experience..
Prompt students: Use this slide for optional seminar readings or paper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Asimov and robot ethics in fiction. | Wiener on feedback and specification risk. | O Neill on black-box models and social harm. | AI principles from organizations and governments.. Right: Dwork on differential privacy. | Fairness, Accountability, and Transparency research. | Bostrom and others on existential risk. | Ostrom on commons governance and externalities..
Prompt students: Students can connect references to the section they found most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Weak AI concerns intelligent behavior; strong AI concerns actual minds or broad human-level intelligence. | The Turing test is historically important, but practical AI evaluation usually focuses on task performance. | Consciousness remains unresolved, but AI systems still need models of human experience when interacting with people. | AI ethics covers weapons, privacy, fairness, transparency, work, and robot rights. | AI safety focuses on preventing harm through design, testing, alignment,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Capability vs consciousness. | Rules vs learned behavior. | Individual fairness vs group fairness. | Explanation vs interpretability vs audit. | Correctness vs safety. | Specified objective vs human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best answers discuss tradeoffs rather than claiming risk can be eliminated.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Explain weak AI and strong AI, then give an example where the distinction matters. | Use the Chinese room to argue for or against the claim that symbol manipulation is understanding. | Compare k-anonymity, differential privacy, and federated learning. | Explain why COMPAS can be calibrated and still raise fairness concerns. | Describe a reward hacking scenario and propose a mitigation. | Explain value alignment in terms of objective functions and human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Lab 1: Build and critique a Turing-style chatbot evaluation rubric. | Lab 2: Perform k-anonymity and differential privacy reasoning on a toy dataset. | Lab 3: Compute fairness metrics and write an audit memo. | Lab 4: Create an FMEA or fault tree for an AI agent. | Lab 5: Demonstrate reward hacking in a simple environment and propose a safer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State the intended use and the non-use cases. | Identify affected stakeholders and potential harms. | Choose metrics that match values, not only convenience. | Test across subgroups, edge cases, adversarial cases, and deployment conditions. | Provide transparency, accountability, feedback loops, and human handoff when needed.
Prompt students: Close by asking: What would you refuse to build,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Primary chapter content: uploaded Chapter 27 document, Philosophy, Ethics, and Safety of AI. | Images used from Wikimedia Commons: Datacenter.jpg; CCTV_Cameras.png; Robot_worker.jpg; Waymo_self-driving_car_rear_three-quarter_view.gk.jpg; Spying_quadcopter.jpg. | Images are used as lecture visuals; verify institutional licensing and attribution requirements before public distribution. | Deck content is paraphrased and organized for instruction, with added teaching prompts and lab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543800" y="640080"/>
            <a:ext cx="4069080" cy="5440680"/>
          </a:xfrm>
          <a:prstGeom prst="rect">
            <a:avLst/>
          </a:prstGeom>
          <a:solidFill>
            <a:srgbClr val="FFFFFF"/>
          </a:solidFill>
          <a:ln w="12700">
            <a:solidFill>
              <a:srgbClr val="FFFFFF">
                <a:alpha val="0"/>
              </a:srgbClr>
            </a:solidFill>
            <a:prstDash val="solid"/>
          </a:ln>
        </p:spPr>
      </p:sp>
      <p:pic>
        <p:nvPicPr>
          <p:cNvPr id="4" name="Image 0" descr="/mnt/data/ai_ethics_assets/datacenter.jpg">    </p:cNvPr>
          <p:cNvPicPr>
            <a:picLocks noChangeAspect="1"/>
          </p:cNvPicPr>
          <p:nvPr/>
        </p:nvPicPr>
        <p:blipFill>
          <a:blip r:embed="rId1"/>
          <a:stretch>
            <a:fillRect/>
          </a:stretch>
        </p:blipFill>
        <p:spPr>
          <a:xfrm>
            <a:off x="7671816" y="1919097"/>
            <a:ext cx="3794760" cy="2846070"/>
          </a:xfrm>
          <a:prstGeom prst="rect">
            <a:avLst/>
          </a:prstGeom>
        </p:spPr>
      </p:pic>
      <p:sp>
        <p:nvSpPr>
          <p:cNvPr id="5" name="Text 2"/>
          <p:cNvSpPr/>
          <p:nvPr/>
        </p:nvSpPr>
        <p:spPr>
          <a:xfrm>
            <a:off x="685800" y="713232"/>
            <a:ext cx="150876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COMP 469</a:t>
            </a:r>
            <a:endParaRPr lang="en-US" sz="1050" dirty="0"/>
          </a:p>
        </p:txBody>
      </p:sp>
      <p:sp>
        <p:nvSpPr>
          <p:cNvPr id="6" name="Text 3"/>
          <p:cNvSpPr/>
          <p:nvPr/>
        </p:nvSpPr>
        <p:spPr>
          <a:xfrm>
            <a:off x="713232" y="1353312"/>
            <a:ext cx="6492240" cy="1463040"/>
          </a:xfrm>
          <a:prstGeom prst="rect">
            <a:avLst/>
          </a:prstGeom>
          <a:noFill/>
          <a:ln/>
        </p:spPr>
        <p:txBody>
          <a:bodyPr wrap="square" lIns="0" tIns="0" rIns="0" bIns="0" rtlCol="0" anchor="ctr">
            <a:normAutofit/>
          </a:bodyPr>
          <a:lstStyle/>
          <a:p>
            <a:pPr indent="0" marL="0">
              <a:buNone/>
            </a:pPr>
            <a:r>
              <a:rPr lang="en-US" sz="4500" b="1" dirty="0">
                <a:solidFill>
                  <a:srgbClr val="FFFFFF"/>
                </a:solidFill>
                <a:latin typeface="Aptos Display" pitchFamily="34" charset="0"/>
                <a:ea typeface="Aptos Display" pitchFamily="34" charset="-122"/>
                <a:cs typeface="Aptos Display" pitchFamily="34" charset="-120"/>
              </a:rPr>
              <a:t>Philosophy, Ethics,</a:t>
            </a:r>
            <a:endParaRPr lang="en-US" sz="4500" dirty="0"/>
          </a:p>
          <a:p>
            <a:pPr indent="0" marL="0">
              <a:buNone/>
            </a:pPr>
            <a:r>
              <a:rPr lang="en-US" sz="4500" b="1" dirty="0">
                <a:solidFill>
                  <a:srgbClr val="FFFFFF"/>
                </a:solidFill>
                <a:latin typeface="Aptos Display" pitchFamily="34" charset="0"/>
                <a:ea typeface="Aptos Display" pitchFamily="34" charset="-122"/>
                <a:cs typeface="Aptos Display" pitchFamily="34" charset="-120"/>
              </a:rPr>
              <a:t>and Safety of AI</a:t>
            </a:r>
            <a:endParaRPr lang="en-US" sz="4500" dirty="0"/>
          </a:p>
        </p:txBody>
      </p:sp>
      <p:sp>
        <p:nvSpPr>
          <p:cNvPr id="7" name="Text 4"/>
          <p:cNvSpPr/>
          <p:nvPr/>
        </p:nvSpPr>
        <p:spPr>
          <a:xfrm>
            <a:off x="749808" y="3054096"/>
            <a:ext cx="6492240" cy="502920"/>
          </a:xfrm>
          <a:prstGeom prst="rect">
            <a:avLst/>
          </a:prstGeom>
          <a:noFill/>
          <a:ln/>
        </p:spPr>
        <p:txBody>
          <a:bodyPr wrap="square" lIns="0" tIns="0" rIns="0" bIns="0" rtlCol="0" anchor="ctr">
            <a:normAutofit/>
          </a:bodyPr>
          <a:lstStyle/>
          <a:p>
            <a:pPr indent="0" marL="0">
              <a:buNone/>
            </a:pPr>
            <a:r>
              <a:rPr lang="en-US" sz="1950" dirty="0">
                <a:solidFill>
                  <a:srgbClr val="E2E8F0"/>
                </a:solidFill>
                <a:latin typeface="Aptos" pitchFamily="34" charset="0"/>
                <a:ea typeface="Aptos" pitchFamily="34" charset="-122"/>
                <a:cs typeface="Aptos" pitchFamily="34" charset="-120"/>
              </a:rPr>
              <a:t>Chapter 27 lecture deck for Introduction to Artificial Intelligence</a:t>
            </a:r>
            <a:endParaRPr lang="en-US" sz="1950" dirty="0"/>
          </a:p>
        </p:txBody>
      </p:sp>
      <p:sp>
        <p:nvSpPr>
          <p:cNvPr id="8" name="Text 5"/>
          <p:cNvSpPr/>
          <p:nvPr/>
        </p:nvSpPr>
        <p:spPr>
          <a:xfrm>
            <a:off x="768096" y="5440680"/>
            <a:ext cx="5120640" cy="493776"/>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Two hours lecture + three hours lab per week</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this chapter matters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Chapter 27</a:t>
            </a:r>
            <a:endParaRPr lang="en-US" sz="900" dirty="0"/>
          </a:p>
        </p:txBody>
      </p:sp>
      <p:sp>
        <p:nvSpPr>
          <p:cNvPr id="5" name="Text 3"/>
          <p:cNvSpPr/>
          <p:nvPr/>
        </p:nvSpPr>
        <p:spPr>
          <a:xfrm>
            <a:off x="502920" y="1078992"/>
            <a:ext cx="232257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Framing question</a:t>
            </a:r>
            <a:endParaRPr lang="en-US" sz="1050" dirty="0"/>
          </a:p>
        </p:txBody>
      </p:sp>
      <p:sp>
        <p:nvSpPr>
          <p:cNvPr id="6" name="Text 4"/>
          <p:cNvSpPr/>
          <p:nvPr/>
        </p:nvSpPr>
        <p:spPr>
          <a:xfrm>
            <a:off x="548640" y="1417320"/>
            <a:ext cx="11155680" cy="594360"/>
          </a:xfrm>
          <a:prstGeom prst="rect">
            <a:avLst/>
          </a:prstGeom>
          <a:noFill/>
          <a:ln/>
        </p:spPr>
        <p:txBody>
          <a:bodyPr wrap="square" lIns="1016" tIns="1016" rIns="1016" bIns="1016" rtlCol="0" anchor="ctr">
            <a:normAutofit/>
          </a:bodyPr>
          <a:lstStyle/>
          <a:p>
            <a:pPr indent="0" marL="0">
              <a:buNone/>
            </a:pPr>
            <a:r>
              <a:rPr lang="en-US" sz="2109" dirty="0">
                <a:solidFill>
                  <a:srgbClr val="334155"/>
                </a:solidFill>
                <a:latin typeface="Aptos" pitchFamily="34" charset="0"/>
                <a:ea typeface="Aptos" pitchFamily="34" charset="-122"/>
                <a:cs typeface="Aptos" pitchFamily="34" charset="-120"/>
              </a:rPr>
              <a:t>AI is not just a collection of algorithms; it is a collection of systems that act in the world.</a:t>
            </a:r>
            <a:endParaRPr lang="en-US" sz="2109" dirty="0"/>
          </a:p>
        </p:txBody>
      </p:sp>
      <p:sp>
        <p:nvSpPr>
          <p:cNvPr id="7" name="Text 5"/>
          <p:cNvSpPr/>
          <p:nvPr/>
        </p:nvSpPr>
        <p:spPr>
          <a:xfrm>
            <a:off x="749808" y="2084832"/>
            <a:ext cx="10698480" cy="3401568"/>
          </a:xfrm>
          <a:prstGeom prst="rect">
            <a:avLst/>
          </a:prstGeom>
          <a:noFill/>
          <a:ln/>
        </p:spPr>
        <p:txBody>
          <a:bodyPr wrap="square" lIns="762" tIns="762" rIns="762" bIns="762" rtlCol="0" anchor="ctr">
            <a:normAutofit/>
          </a:bodyPr>
          <a:lstStyle/>
          <a:p>
            <a:pPr indent="0" marL="0">
              <a:buNone/>
            </a:pPr>
            <a:r>
              <a:rPr lang="en-US" sz="2197" dirty="0">
                <a:solidFill>
                  <a:srgbClr val="172033"/>
                </a:solidFill>
                <a:latin typeface="Aptos" pitchFamily="34" charset="0"/>
                <a:ea typeface="Aptos" pitchFamily="34" charset="-122"/>
                <a:cs typeface="Aptos" pitchFamily="34" charset="-120"/>
              </a:rPr>
              <a:t>- Philosophy asks what intelligence, thought, and consciousness could mean for machines.</a:t>
            </a:r>
            <a:endParaRPr lang="en-US" sz="2197" dirty="0"/>
          </a:p>
          <a:p>
            <a:pPr indent="0" marL="0">
              <a:buNone/>
            </a:pPr>
            <a:r>
              <a:rPr lang="en-US" sz="2197" dirty="0">
                <a:solidFill>
                  <a:srgbClr val="172033"/>
                </a:solidFill>
                <a:latin typeface="Aptos" pitchFamily="34" charset="0"/>
                <a:ea typeface="Aptos" pitchFamily="34" charset="-122"/>
                <a:cs typeface="Aptos" pitchFamily="34" charset="-120"/>
              </a:rPr>
              <a:t>- Ethics asks what AI should be used for, what it should not be used for, and who is accountable.</a:t>
            </a:r>
            <a:endParaRPr lang="en-US" sz="2197" dirty="0"/>
          </a:p>
          <a:p>
            <a:pPr indent="0" marL="0">
              <a:buNone/>
            </a:pPr>
            <a:r>
              <a:rPr lang="en-US" sz="2197" dirty="0">
                <a:solidFill>
                  <a:srgbClr val="172033"/>
                </a:solidFill>
                <a:latin typeface="Aptos" pitchFamily="34" charset="0"/>
                <a:ea typeface="Aptos" pitchFamily="34" charset="-122"/>
                <a:cs typeface="Aptos" pitchFamily="34" charset="-120"/>
              </a:rPr>
              <a:t>- Safety asks how to design AI systems that remain reliable under uncertainty, misuse, and changing conditions.</a:t>
            </a:r>
            <a:endParaRPr lang="en-US" sz="2197" dirty="0"/>
          </a:p>
        </p:txBody>
      </p:sp>
      <p:sp>
        <p:nvSpPr>
          <p:cNvPr id="8" name="Text 6"/>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Ask students: When an AI system makes a consequential decision, what makes the decision acceptable?</a:t>
            </a:r>
            <a:endParaRPr lang="en-US" sz="1650" dirty="0"/>
          </a:p>
        </p:txBody>
      </p:sp>
      <p:sp>
        <p:nvSpPr>
          <p:cNvPr id="9" name="Shape 7"/>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0" name="Text 8"/>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1" name="Text 9"/>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Chapter 27</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Learning objectives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Chapter 27</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Distinguish weak AI, strong AI, general AI, and task-specific AI performance.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Explain major philosophical objections to AI and evaluate their limits.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Analyze AI ethics issues: weapons, surveillance, privacy, fairness, transparency, work, and robot rights.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Apply safety concepts such as failure analysis, low-impact behavior, reward hacking, value alignment, and assistance games.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 case studies to argue from technical details to social consequences.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By the end, students should be able to move from a system design to a risk argument.</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Chapter 27</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Chapter roadmap</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Roadmap</a:t>
            </a:r>
            <a:endParaRPr lang="en-US" sz="900" dirty="0"/>
          </a:p>
        </p:txBody>
      </p:sp>
      <p:sp>
        <p:nvSpPr>
          <p:cNvPr id="5" name="Text 3"/>
          <p:cNvSpPr/>
          <p:nvPr/>
        </p:nvSpPr>
        <p:spPr>
          <a:xfrm>
            <a:off x="777240" y="1325880"/>
            <a:ext cx="384048" cy="310896"/>
          </a:xfrm>
          <a:prstGeom prst="rect">
            <a:avLst/>
          </a:prstGeom>
          <a:solidFill>
            <a:srgbClr val="0F766E"/>
          </a:solidFill>
          <a:ln>
            <a:solidFill>
              <a:srgbClr val="0F766E">
                <a:alpha val="0"/>
              </a:srgbClr>
            </a:solidFill>
          </a:ln>
        </p:spPr>
        <p:txBody>
          <a:bodyPr wrap="square" lIns="381" tIns="381" rIns="381" bIns="381"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6" name="Text 4"/>
          <p:cNvSpPr/>
          <p:nvPr/>
        </p:nvSpPr>
        <p:spPr>
          <a:xfrm>
            <a:off x="1325880" y="1316736"/>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27.1 The limits of AI: can machines act intelligently and how do we measure it?</a:t>
            </a:r>
            <a:endParaRPr lang="en-US" sz="1750" dirty="0"/>
          </a:p>
        </p:txBody>
      </p:sp>
      <p:sp>
        <p:nvSpPr>
          <p:cNvPr id="7" name="Text 5"/>
          <p:cNvSpPr/>
          <p:nvPr/>
        </p:nvSpPr>
        <p:spPr>
          <a:xfrm>
            <a:off x="777240" y="1856232"/>
            <a:ext cx="384048" cy="310896"/>
          </a:xfrm>
          <a:prstGeom prst="rect">
            <a:avLst/>
          </a:prstGeom>
          <a:solidFill>
            <a:srgbClr val="1D4ED8"/>
          </a:solidFill>
          <a:ln>
            <a:solidFill>
              <a:srgbClr val="1D4ED8">
                <a:alpha val="0"/>
              </a:srgbClr>
            </a:solidFill>
          </a:ln>
        </p:spPr>
        <p:txBody>
          <a:bodyPr wrap="square" lIns="381" tIns="381" rIns="381" bIns="381"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8" name="Text 6"/>
          <p:cNvSpPr/>
          <p:nvPr/>
        </p:nvSpPr>
        <p:spPr>
          <a:xfrm>
            <a:off x="1325880" y="1847088"/>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27.2 Can machines really think: understanding, consciousness, and qualia.</a:t>
            </a:r>
            <a:endParaRPr lang="en-US" sz="1750" dirty="0"/>
          </a:p>
        </p:txBody>
      </p:sp>
      <p:sp>
        <p:nvSpPr>
          <p:cNvPr id="9" name="Text 7"/>
          <p:cNvSpPr/>
          <p:nvPr/>
        </p:nvSpPr>
        <p:spPr>
          <a:xfrm>
            <a:off x="777240" y="2386584"/>
            <a:ext cx="384048" cy="310896"/>
          </a:xfrm>
          <a:prstGeom prst="rect">
            <a:avLst/>
          </a:prstGeom>
          <a:solidFill>
            <a:srgbClr val="D97706"/>
          </a:solidFill>
          <a:ln>
            <a:solidFill>
              <a:srgbClr val="D97706">
                <a:alpha val="0"/>
              </a:srgbClr>
            </a:solidFill>
          </a:ln>
        </p:spPr>
        <p:txBody>
          <a:bodyPr wrap="square" lIns="381" tIns="381" rIns="381" bIns="381"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0" name="Text 8"/>
          <p:cNvSpPr/>
          <p:nvPr/>
        </p:nvSpPr>
        <p:spPr>
          <a:xfrm>
            <a:off x="1325880" y="2377440"/>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27.3 The ethics of AI: powerful technology creates moral obligations.</a:t>
            </a:r>
            <a:endParaRPr lang="en-US" sz="1750" dirty="0"/>
          </a:p>
        </p:txBody>
      </p:sp>
      <p:sp>
        <p:nvSpPr>
          <p:cNvPr id="11" name="Text 9"/>
          <p:cNvSpPr/>
          <p:nvPr/>
        </p:nvSpPr>
        <p:spPr>
          <a:xfrm>
            <a:off x="777240" y="2916936"/>
            <a:ext cx="384048" cy="310896"/>
          </a:xfrm>
          <a:prstGeom prst="rect">
            <a:avLst/>
          </a:prstGeom>
          <a:solidFill>
            <a:srgbClr val="B91C1C"/>
          </a:solidFill>
          <a:ln>
            <a:solidFill>
              <a:srgbClr val="B91C1C">
                <a:alpha val="0"/>
              </a:srgbClr>
            </a:solidFill>
          </a:ln>
        </p:spPr>
        <p:txBody>
          <a:bodyPr wrap="square" lIns="381" tIns="381" rIns="381" bIns="381"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2" name="Text 10"/>
          <p:cNvSpPr/>
          <p:nvPr/>
        </p:nvSpPr>
        <p:spPr>
          <a:xfrm>
            <a:off x="1325880" y="2907792"/>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AI safety: engineering systems that do not cause avoidable harm.</a:t>
            </a:r>
            <a:endParaRPr lang="en-US" sz="1750" dirty="0"/>
          </a:p>
        </p:txBody>
      </p:sp>
      <p:sp>
        <p:nvSpPr>
          <p:cNvPr id="13" name="Text 11"/>
          <p:cNvSpPr/>
          <p:nvPr/>
        </p:nvSpPr>
        <p:spPr>
          <a:xfrm>
            <a:off x="777240" y="3447288"/>
            <a:ext cx="384048" cy="310896"/>
          </a:xfrm>
          <a:prstGeom prst="rect">
            <a:avLst/>
          </a:prstGeom>
          <a:solidFill>
            <a:srgbClr val="6D28D9"/>
          </a:solidFill>
          <a:ln>
            <a:solidFill>
              <a:srgbClr val="6D28D9">
                <a:alpha val="0"/>
              </a:srgbClr>
            </a:solidFill>
          </a:ln>
        </p:spPr>
        <p:txBody>
          <a:bodyPr wrap="square" lIns="381" tIns="381" rIns="381" bIns="381"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14" name="Text 12"/>
          <p:cNvSpPr/>
          <p:nvPr/>
        </p:nvSpPr>
        <p:spPr>
          <a:xfrm>
            <a:off x="1325880" y="3438144"/>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Synthesis: responsible AI design as a professional practice.</a:t>
            </a:r>
            <a:endParaRPr lang="en-US" sz="1750" dirty="0"/>
          </a:p>
        </p:txBody>
      </p:sp>
      <p:sp>
        <p:nvSpPr>
          <p:cNvPr id="15" name="Text 13"/>
          <p:cNvSpPr/>
          <p:nvPr/>
        </p:nvSpPr>
        <p:spPr>
          <a:xfrm>
            <a:off x="777240" y="5989320"/>
            <a:ext cx="10652760" cy="393192"/>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450" b="1" dirty="0">
                <a:solidFill>
                  <a:srgbClr val="0F172A"/>
                </a:solidFill>
                <a:latin typeface="Aptos" pitchFamily="34" charset="0"/>
                <a:ea typeface="Aptos" pitchFamily="34" charset="-122"/>
                <a:cs typeface="Aptos" pitchFamily="34" charset="-120"/>
              </a:rPr>
              <a:t>The chapter moves from conceptual questions to practical governance and engineering tools.</a:t>
            </a:r>
            <a:endParaRPr lang="en-US" sz="1450" dirty="0"/>
          </a:p>
        </p:txBody>
      </p:sp>
      <p:sp>
        <p:nvSpPr>
          <p:cNvPr id="16" name="Shape 1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7" name="Text 1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8" name="Text 1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Roadmap</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How to use this deck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Instructor plan</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Use slides as a stand-alone guide, then assign readings when available.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Treat prompts as short written responses, think-pair-share, or lab warmups.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 case slides to connect abstract ethics to design decisions.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 speaker notes for elaboration and transition language.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End with lab tasks that let students practice analysis, not just memorize terms.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Recommended rhythm: 20 minutes lecture, 5 minutes prompt, 20 minutes case discussion, repeat.</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Instructor plan</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The big questions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Opening frame</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Can a machine behave intelligently in the way people do?</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Would a sufficiently capable machine count as having a mind?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Should AI systems make life-changing decisions about people?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Can algorithms be fair when society and data are not?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How do we control systems that may become more capable than their designers expected?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Have students choose one question they think is mainly technical, mainly ethical, or both.</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Opening frame</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27.1</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27.1 The limits of AI</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What can AI do, what might it never do, and how should we measure progress?</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Weak AI vs strong AI</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Informality, disability, and mathematical objections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The Turing test and task-based evaluation</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Core issue: What kind of evidence would show that a machine is intelligent?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Weak AI vs strong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a:t>
            </a:r>
            <a:endParaRPr lang="en-US" sz="900" dirty="0"/>
          </a:p>
        </p:txBody>
      </p:sp>
      <p:sp>
        <p:nvSpPr>
          <p:cNvPr id="5" name="Text 3"/>
          <p:cNvSpPr/>
          <p:nvPr/>
        </p:nvSpPr>
        <p:spPr>
          <a:xfrm>
            <a:off x="548640" y="1078992"/>
            <a:ext cx="11155680" cy="45720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The terms are philosophical, but they affect how people interpret AI progress.</a:t>
            </a:r>
            <a:endParaRPr lang="en-US" sz="1450" dirty="0"/>
          </a:p>
        </p:txBody>
      </p:sp>
      <p:sp>
        <p:nvSpPr>
          <p:cNvPr id="6" name="Text 4"/>
          <p:cNvSpPr/>
          <p:nvPr/>
        </p:nvSpPr>
        <p:spPr>
          <a:xfrm>
            <a:off x="685800" y="1700784"/>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Weak AI</a:t>
            </a:r>
            <a:endParaRPr lang="en-US" sz="1050" dirty="0"/>
          </a:p>
        </p:txBody>
      </p:sp>
      <p:sp>
        <p:nvSpPr>
          <p:cNvPr id="7" name="Text 5"/>
          <p:cNvSpPr/>
          <p:nvPr/>
        </p:nvSpPr>
        <p:spPr>
          <a:xfrm>
            <a:off x="6400800" y="1700784"/>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Strong AI</a:t>
            </a:r>
            <a:endParaRPr lang="en-US" sz="1050" dirty="0"/>
          </a:p>
        </p:txBody>
      </p:sp>
      <p:sp>
        <p:nvSpPr>
          <p:cNvPr id="8" name="Text 6"/>
          <p:cNvSpPr/>
          <p:nvPr/>
        </p:nvSpPr>
        <p:spPr>
          <a:xfrm>
            <a:off x="777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Machines may act as if they are intelligent.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Success can be judged by behavior and usefulness.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Does not require claims about consciousness or real understanding.</a:t>
            </a:r>
            <a:endParaRPr lang="en-US" sz="1845" dirty="0"/>
          </a:p>
        </p:txBody>
      </p:sp>
      <p:sp>
        <p:nvSpPr>
          <p:cNvPr id="9" name="Text 7"/>
          <p:cNvSpPr/>
          <p:nvPr/>
        </p:nvSpPr>
        <p:spPr>
          <a:xfrm>
            <a:off x="6492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Original claim: intelligent machines would have actual minds.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Later usage shifted toward human-level or general AI.</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Raises questions about minds, consciousness, rights, and moral status.</a:t>
            </a:r>
            <a:endParaRPr lang="en-US" sz="1845" dirty="0"/>
          </a:p>
        </p:txBody>
      </p:sp>
      <p:sp>
        <p:nvSpPr>
          <p:cNvPr id="10" name="Text 8"/>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 chess engine can beat humans. Is that evidence for weak AI, strong AI, or neither?</a:t>
            </a:r>
            <a:endParaRPr lang="en-US" sz="1550" dirty="0"/>
          </a:p>
        </p:txBody>
      </p:sp>
      <p:sp>
        <p:nvSpPr>
          <p:cNvPr id="11" name="Shape 9"/>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2" name="Text 10"/>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3" name="Text 11"/>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Strong AI and general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Strong AI originally meant actual thinking or mentality, not just simulated thinking.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General AI means broad competence across many tasks, including novel ones.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system can be impressive at one task without being generally intelligent.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Human-level performance in one domain does not imply human-like intelligence across domains.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Separate the claim about capability from the claim about inner experience.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impossibility claims age badly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Critics sometimes point to current weaknesses and infer permanent impossibility.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History contains many examples of technologies once described as impossible.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Rapid progress does not prove there are no limits; it only weakens arguments based only on current failure.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useful question is not "Can AI do everything?" but "What assumptions make this task hard?"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Ask students for a technology that moved from impossible, to surprising, to ordinary.</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Turing anticipated the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Alan Turing did not just propose a behavioral test; he also anticipated objections to machine intelligence.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objections are useful because they reveal assumptions about rules, creativity, math, and consciousness.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treats objections as arguments to analyze, not slogans to accept or reject.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good AI analyst can explain both the criticism and the technical response.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Argument from informality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27.1.1</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Objection 1</a:t>
            </a:r>
            <a:endParaRPr lang="en-US" sz="1050" dirty="0"/>
          </a:p>
        </p:txBody>
      </p:sp>
      <p:sp>
        <p:nvSpPr>
          <p:cNvPr id="6" name="Text 4"/>
          <p:cNvSpPr/>
          <p:nvPr/>
        </p:nvSpPr>
        <p:spPr>
          <a:xfrm>
            <a:off x="749808" y="1508760"/>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Claim: human behavior is too complex and context-sensitive to be captured by formal rules.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People appear to rely on tacit know-how, not explicit logical procedures.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If intelligence requires informal skill, then rule-based programs may be fundamentally limited.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This critique was aimed especially at symbolic rule-based AI.</a:t>
            </a:r>
            <a:endParaRPr lang="en-US" sz="1946" dirty="0"/>
          </a:p>
        </p:txBody>
      </p:sp>
      <p:sp>
        <p:nvSpPr>
          <p:cNvPr id="7" name="Text 5"/>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Think of a skill you can perform but cannot fully explain as rules.</a:t>
            </a:r>
            <a:endParaRPr lang="en-US" sz="1650" dirty="0"/>
          </a:p>
        </p:txBody>
      </p:sp>
      <p:sp>
        <p:nvSpPr>
          <p:cNvPr id="8" name="Shape 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9" name="Text 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0" name="Text 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27.1.1</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Dreyfus and GOFAI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27.1.1</a:t>
            </a:r>
            <a:endParaRPr lang="en-US" sz="900" dirty="0"/>
          </a:p>
        </p:txBody>
      </p:sp>
      <p:sp>
        <p:nvSpPr>
          <p:cNvPr id="5" name="Text 3"/>
          <p:cNvSpPr/>
          <p:nvPr/>
        </p:nvSpPr>
        <p:spPr>
          <a:xfrm>
            <a:off x="548640" y="1078992"/>
            <a:ext cx="11155680" cy="45720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Good Old-Fashioned AI used explicit symbolic representations and logical rules.</a:t>
            </a:r>
            <a:endParaRPr lang="en-US" sz="1450" dirty="0"/>
          </a:p>
        </p:txBody>
      </p:sp>
      <p:sp>
        <p:nvSpPr>
          <p:cNvPr id="6" name="Text 4"/>
          <p:cNvSpPr/>
          <p:nvPr/>
        </p:nvSpPr>
        <p:spPr>
          <a:xfrm>
            <a:off x="685800" y="1700784"/>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Critique</a:t>
            </a:r>
            <a:endParaRPr lang="en-US" sz="1050" dirty="0"/>
          </a:p>
        </p:txBody>
      </p:sp>
      <p:sp>
        <p:nvSpPr>
          <p:cNvPr id="7" name="Text 5"/>
          <p:cNvSpPr/>
          <p:nvPr/>
        </p:nvSpPr>
        <p:spPr>
          <a:xfrm>
            <a:off x="6400800" y="1700784"/>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Modern response</a:t>
            </a:r>
            <a:endParaRPr lang="en-US" sz="1050" dirty="0"/>
          </a:p>
        </p:txBody>
      </p:sp>
      <p:sp>
        <p:nvSpPr>
          <p:cNvPr id="8" name="Text 6"/>
          <p:cNvSpPr/>
          <p:nvPr/>
        </p:nvSpPr>
        <p:spPr>
          <a:xfrm>
            <a:off x="777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Rules struggle with open-ended context.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Human expertise is situated in lived experience.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Formal symbols alone may miss everyday meaning.</a:t>
            </a:r>
            <a:endParaRPr lang="en-US" sz="1845" dirty="0"/>
          </a:p>
        </p:txBody>
      </p:sp>
      <p:sp>
        <p:nvSpPr>
          <p:cNvPr id="9" name="Text 7"/>
          <p:cNvSpPr/>
          <p:nvPr/>
        </p:nvSpPr>
        <p:spPr>
          <a:xfrm>
            <a:off x="6492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Probabilistic reasoning handles uncertainty better than rigid rules.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Machine learning can acquire patterns from data.</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Deep learning succeeds on many tasks that resist hand-coded rules.</a:t>
            </a:r>
            <a:endParaRPr lang="en-US" sz="1845" dirty="0"/>
          </a:p>
        </p:txBody>
      </p:sp>
      <p:sp>
        <p:nvSpPr>
          <p:cNvPr id="10" name="Text 8"/>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The critique weakens GOFAI, but it does not automatically refute all AI.</a:t>
            </a:r>
            <a:endParaRPr lang="en-US" sz="1550" dirty="0"/>
          </a:p>
        </p:txBody>
      </p:sp>
      <p:sp>
        <p:nvSpPr>
          <p:cNvPr id="11" name="Shape 9"/>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2" name="Text 10"/>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3" name="Text 11"/>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27.1.1</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The qualification problem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logical rule often needs many hidden exceptions.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Example: "If you turn the key, the car starts" assumes fuel, battery, working starter, correct key, no mechanical failure, and more.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Adding every exception quickly becomes unmanageable.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Probabilistic models can reason under uncertainty rather than requiring complete rule lists.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27.1.1</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Embodied cognition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Embodied cognition argues that cognition happens in a body embedded in an environment.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concept such as "dog" is richer when connected to seeing, touching, hearing, and acting.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Robotics, vision, sensors, and interaction become central to intelligence rather than peripheral add-ons.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brain can exploit regularities in the body and world instead of representing everything internally.</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How would a robot learn "fragile" differently from a text-only system?</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27.1.1</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Disembodied rules vs situated agents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27.1.1</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Disembodied rules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Situated agents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Knowledge stored as formal sentences.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Reasoning happens mostly as symbol manipulation.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Works best in clean, well-specified domains.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Knowledge shaped by perception and action.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Learning occurs through interaction with the environment.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Better fit for robotics, vision, language-in-context, and social behavior.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This distinction is useful for designing lab agents and evaluating demos.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27.1.1</a:t>
            </a:r>
            <a:endParaRPr lang="en-US" sz="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Argument from disability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27.1.2</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Objection 2</a:t>
            </a:r>
            <a:endParaRPr lang="en-US" sz="1050" dirty="0"/>
          </a:p>
        </p:txBody>
      </p:sp>
      <p:sp>
        <p:nvSpPr>
          <p:cNvPr id="6" name="Text 4"/>
          <p:cNvSpPr/>
          <p:nvPr/>
        </p:nvSpPr>
        <p:spPr>
          <a:xfrm>
            <a:off x="749808" y="1508760"/>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Claim form: "A machine can never do X."</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Turing listed examples such as humor, love, mistakes, learning, originality, moral judgment, and self-reflection.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Some X claims have already fallen as systems gained new capabilities.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most defensible remaining claim may be that machines cannot be exactly human.</a:t>
            </a:r>
            <a:endParaRPr lang="en-US" sz="1946" dirty="0"/>
          </a:p>
        </p:txBody>
      </p:sp>
      <p:sp>
        <p:nvSpPr>
          <p:cNvPr id="7" name="Text 5"/>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Which X claim do you think is easiest to refute? Which is hardest?</a:t>
            </a:r>
            <a:endParaRPr lang="en-US" sz="1650" dirty="0"/>
          </a:p>
        </p:txBody>
      </p:sp>
      <p:sp>
        <p:nvSpPr>
          <p:cNvPr id="8" name="Shape 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9" name="Text 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0" name="Text 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27.1.2</a:t>
            </a:r>
            <a:endParaRPr lang="en-US" sz="7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Capabilities change the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Computers already make mistakes, learn from experience, and produce new artifacts.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systems have contributed to discovery, optimization, game play, language generation, and visual art.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system can exceed human performance in one domain and lag far behind in another.</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question should be scoped: capability at what task, under what conditions, with what evidence?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27.1.2</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Novelty vs humanity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27.1.2</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Doing something new</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Being exactly human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Discovering patterns humans missed.</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Generating new designs or strategies.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Solving problems through search or learning.</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Having human biology and development.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Sharing human social history and body.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Experiencing the world as humans do.</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Do not confuse novelty with human sameness.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27.1.2</a:t>
            </a:r>
            <a:endParaRPr lang="en-US" sz="7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Mathematical objection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27.1.3</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Objection 3</a:t>
            </a:r>
            <a:endParaRPr lang="en-US" sz="1050" dirty="0"/>
          </a:p>
        </p:txBody>
      </p:sp>
      <p:sp>
        <p:nvSpPr>
          <p:cNvPr id="6" name="Text 4"/>
          <p:cNvSpPr/>
          <p:nvPr/>
        </p:nvSpPr>
        <p:spPr>
          <a:xfrm>
            <a:off x="749808" y="1508760"/>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Godel and Turing showed limits on what certain formal systems can prove or decide.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Some philosophers argued that machines are formal systems and therefore mentally inferior to humans.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argument often assumes humans can see truths that machines cannot.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challenges this assumption and its relevance to real computers.</a:t>
            </a:r>
            <a:endParaRPr lang="en-US" sz="1946"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27.1.3</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Godel in plain language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27.1.3</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For any powerful enough consistent formal system, there are true statements it cannot prove within itself.</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This is a limit on formal proof systems, not a simple ranking of humans above machines.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Humans also make inconsistent claims and flawed proofs.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No agent, human or machine, escapes all limits of formal reasoning.</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 limit on proof is not automatically a limit on practical intelligence.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27.1.3</a:t>
            </a:r>
            <a:endParaRPr lang="en-US" sz="7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Lucas and Penrose claim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Claim: machines are limited by formal systems, while human minds can recognize truths beyond those systems.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argues this relies on questionable assumptions about human consistency and machine rigidity.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Real computers and learning systems can revise beliefs, update software, and change decision processes.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Finite computers are not the same as ideal infinite Turing machines.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27.1.3</a:t>
            </a:r>
            <a:endParaRPr lang="en-US" sz="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Three replies to the math objection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Reply 1: every agent has statements it cannot consistently assert; that alone is not mental inferiority.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Reply 2: incompleteness applies to mathematics and formal systems; humans are not magically exempt.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Reply 3: actual computers are finite physical systems and can revise conclusions with new evidence or code changes.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objection is philosophically rich but weak as a blanket argument against AI.</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27.1.3</a:t>
            </a:r>
            <a:endParaRPr lang="en-US" sz="7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The Turing test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27.1.4</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Turing proposed replacing "Can machines think?" with an open-ended behavioral test.</a:t>
            </a:r>
            <a:endParaRPr lang="en-US" sz="1450" dirty="0"/>
          </a:p>
        </p:txBody>
      </p:sp>
      <p:sp>
        <p:nvSpPr>
          <p:cNvPr id="6" name="Shape 4"/>
          <p:cNvSpPr/>
          <p:nvPr/>
        </p:nvSpPr>
        <p:spPr>
          <a:xfrm>
            <a:off x="3154680" y="2743200"/>
            <a:ext cx="1143000" cy="0"/>
          </a:xfrm>
          <a:prstGeom prst="line">
            <a:avLst/>
          </a:prstGeom>
          <a:noFill/>
          <a:ln w="27940">
            <a:solidFill>
              <a:srgbClr val="0F766E"/>
            </a:solidFill>
            <a:prstDash val="solid"/>
            <a:tailEnd type="triangle"/>
          </a:ln>
        </p:spPr>
      </p:sp>
      <p:sp>
        <p:nvSpPr>
          <p:cNvPr id="7" name="Shape 5"/>
          <p:cNvSpPr/>
          <p:nvPr/>
        </p:nvSpPr>
        <p:spPr>
          <a:xfrm>
            <a:off x="6720840" y="2743200"/>
            <a:ext cx="1143000" cy="0"/>
          </a:xfrm>
          <a:prstGeom prst="line">
            <a:avLst/>
          </a:prstGeom>
          <a:noFill/>
          <a:ln w="27940">
            <a:solidFill>
              <a:srgbClr val="1D4ED8"/>
            </a:solidFill>
            <a:prstDash val="solid"/>
            <a:tailEnd type="triangle"/>
          </a:ln>
        </p:spPr>
      </p:sp>
      <p:sp>
        <p:nvSpPr>
          <p:cNvPr id="8" name="Text 6"/>
          <p:cNvSpPr/>
          <p:nvPr/>
        </p:nvSpPr>
        <p:spPr>
          <a:xfrm>
            <a:off x="685800" y="2148840"/>
            <a:ext cx="2468880" cy="118872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Interrogator</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asks questions</a:t>
            </a:r>
            <a:endParaRPr lang="en-US" sz="1800" dirty="0"/>
          </a:p>
        </p:txBody>
      </p:sp>
      <p:sp>
        <p:nvSpPr>
          <p:cNvPr id="9" name="Text 7"/>
          <p:cNvSpPr/>
          <p:nvPr/>
        </p:nvSpPr>
        <p:spPr>
          <a:xfrm>
            <a:off x="4434840" y="1874520"/>
            <a:ext cx="2286000" cy="109728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Hidden entity A</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program or person</a:t>
            </a:r>
            <a:endParaRPr lang="en-US" sz="1800" dirty="0"/>
          </a:p>
        </p:txBody>
      </p:sp>
      <p:sp>
        <p:nvSpPr>
          <p:cNvPr id="10" name="Text 8"/>
          <p:cNvSpPr/>
          <p:nvPr/>
        </p:nvSpPr>
        <p:spPr>
          <a:xfrm>
            <a:off x="8001000" y="1874520"/>
            <a:ext cx="2286000" cy="1097280"/>
          </a:xfrm>
          <a:prstGeom prst="rect">
            <a:avLst/>
          </a:prstGeom>
          <a:solidFill>
            <a:srgbClr val="F3E8FF"/>
          </a:solidFill>
          <a:ln w="15240">
            <a:solidFill>
              <a:srgbClr val="A855F7"/>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Hidden entity B</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program or person</a:t>
            </a:r>
            <a:endParaRPr lang="en-US" sz="1800" dirty="0"/>
          </a:p>
        </p:txBody>
      </p:sp>
      <p:sp>
        <p:nvSpPr>
          <p:cNvPr id="11" name="Text 9"/>
          <p:cNvSpPr/>
          <p:nvPr/>
        </p:nvSpPr>
        <p:spPr>
          <a:xfrm>
            <a:off x="914400" y="3794760"/>
            <a:ext cx="10241280" cy="713232"/>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800" dirty="0">
                <a:solidFill>
                  <a:srgbClr val="0F172A"/>
                </a:solidFill>
                <a:latin typeface="Aptos" pitchFamily="34" charset="0"/>
                <a:ea typeface="Aptos" pitchFamily="34" charset="-122"/>
                <a:cs typeface="Aptos" pitchFamily="34" charset="-120"/>
              </a:rPr>
              <a:t>The test does not inspect inner mental states. It asks whether behavior in conversation is convincing enough.</a:t>
            </a:r>
            <a:endParaRPr lang="en-US" sz="1800" dirty="0"/>
          </a:p>
        </p:txBody>
      </p:sp>
      <p:sp>
        <p:nvSpPr>
          <p:cNvPr id="12" name="Text 10"/>
          <p:cNvSpPr/>
          <p:nvPr/>
        </p:nvSpPr>
        <p:spPr>
          <a:xfrm>
            <a:off x="914400" y="4800600"/>
            <a:ext cx="10241280" cy="713232"/>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Teaching caution: passing a test in one setting is not the same as being human-like in every setting.</a:t>
            </a:r>
            <a:endParaRPr lang="en-US" sz="175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The historical test used typed conversation and an interrogator. The key idea is performance on an open-ended behavioral task.</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27.1.4</a:t>
            </a:r>
            <a:endParaRPr lang="en-US" sz="7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Behavioral measurement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Turing shifted attention from inner essence to observable performance.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test is important historically but not the central evaluation tool in most AI research.</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Behavioral tests can be gamed if the goal becomes fooling judges rather than building robust intelligence.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Evaluation should ask what the system can reliably do, not only whether it can imitate a person.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27.1.4</a:t>
            </a:r>
            <a:endParaRPr lang="en-US" sz="7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Chatbots and gullibility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27.1.4</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Some chatbots have fooled people under limited conditions.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bot can exploit expectations, identity claims, ambiguity, or limited judge training.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Fooling a person is not the same as understanding a topic or acting competently in the world.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Modern evaluation must test robustness, generalization, truthfulness, and task success.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Why might a misleading persona help a chatbot seem more capable than it is?</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27.1.4</a:t>
            </a:r>
            <a:endParaRPr lang="en-US" sz="7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AI uses task benchmarks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27.1.4</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Turing-style imitation</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Task benchmarks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Open-ended conversation.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Focus on convincing a judge.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Sensitive to human expectations.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Chess, Go, StarCraft, exams, image recognition, robotics.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Focus on measurable performance.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improve science and technology without imitating humans.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Benchmarks still have limits: they measure what they measure.</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27.1.4</a:t>
            </a:r>
            <a:endParaRPr lang="en-US" sz="7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Checkpoint: evaluating AI claims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27.1</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practice separating capability claims from philosophical claims.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Choose an AI system students have used or seen advertised.</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Write one weak AI claim and one strong AI or general AI claim about it.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List evidence that would support or weaken each claim.</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three-sentence evaluation with scope, evidence, and limitation.</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Avoid yes/no answers; define the task and conditions.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27.1</a:t>
            </a:r>
            <a:endParaRPr lang="en-US" sz="7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27.2</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27.2 Can machines really think?</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The chapter shifts from capability to understanding, consciousness, and subjective experience.</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Dijkstra analogy</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The Chinese room</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Consciousness and qualia</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Core issue: Is intelligent behavior enough for thinking?</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Thinking as word usage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Some debates depend on how we define words such as "think," "understand," or "mind."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Dijkstra compared the question "Can machines think?" to asking whether submarines can swim.</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Word usage matters philosophically, but design and evaluation often focus on capabilities.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researchers can remain productive without resolving every metaphysical question.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a:t>
            </a:r>
            <a:endParaRPr lang="en-US" sz="7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Submarines and swimming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Language debate</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Engineering debate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Does swimming require limbs or fins?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Does thinking require a biological brain?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Definitions can vary by community and purpose.</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Can the system navigate water or solve problems?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What are its limits and failure modes?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What evidence would validate performance?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This analogy helps students separate semantics from engineering.</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a:t>
            </a:r>
            <a:endParaRPr lang="en-US" sz="7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The polite convention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Turing noted that we do not directly observe other humans inner mental states.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In everyday life we use a polite convention: we treat other people as thinkers.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question is whether similar treatment could extend to machines that act intelligently.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Appearance, voice, and social cues often influence attributions of sentience.</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Ask: do people over-ascribe minds to fluent systems, or under-ascribe minds to unfamiliar systems?</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a:t>
            </a:r>
            <a:endParaRPr lang="en-US" sz="7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The Chinese room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27.2.1</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Searle argues that symbol manipulation alone does not produce understanding.</a:t>
            </a:r>
            <a:endParaRPr lang="en-US" sz="1450" dirty="0"/>
          </a:p>
        </p:txBody>
      </p:sp>
      <p:sp>
        <p:nvSpPr>
          <p:cNvPr id="6" name="Shape 4"/>
          <p:cNvSpPr/>
          <p:nvPr/>
        </p:nvSpPr>
        <p:spPr>
          <a:xfrm>
            <a:off x="2606040" y="2834640"/>
            <a:ext cx="1280160" cy="0"/>
          </a:xfrm>
          <a:prstGeom prst="line">
            <a:avLst/>
          </a:prstGeom>
          <a:noFill/>
          <a:ln w="27940">
            <a:solidFill>
              <a:srgbClr val="0F766E"/>
            </a:solidFill>
            <a:prstDash val="solid"/>
            <a:tailEnd type="triangle"/>
          </a:ln>
        </p:spPr>
      </p:sp>
      <p:sp>
        <p:nvSpPr>
          <p:cNvPr id="7" name="Shape 5"/>
          <p:cNvSpPr/>
          <p:nvPr/>
        </p:nvSpPr>
        <p:spPr>
          <a:xfrm>
            <a:off x="6949440" y="2834640"/>
            <a:ext cx="1280160" cy="0"/>
          </a:xfrm>
          <a:prstGeom prst="line">
            <a:avLst/>
          </a:prstGeom>
          <a:noFill/>
          <a:ln w="27940">
            <a:solidFill>
              <a:srgbClr val="0F766E"/>
            </a:solidFill>
            <a:prstDash val="solid"/>
            <a:tailEnd type="triangle"/>
          </a:ln>
        </p:spPr>
      </p:sp>
      <p:sp>
        <p:nvSpPr>
          <p:cNvPr id="8" name="Text 6"/>
          <p:cNvSpPr/>
          <p:nvPr/>
        </p:nvSpPr>
        <p:spPr>
          <a:xfrm>
            <a:off x="685800" y="2212848"/>
            <a:ext cx="1920240" cy="123444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Chinese</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symbols in</a:t>
            </a:r>
            <a:endParaRPr lang="en-US" sz="1800" dirty="0"/>
          </a:p>
        </p:txBody>
      </p:sp>
      <p:sp>
        <p:nvSpPr>
          <p:cNvPr id="9" name="Text 7"/>
          <p:cNvSpPr/>
          <p:nvPr/>
        </p:nvSpPr>
        <p:spPr>
          <a:xfrm>
            <a:off x="3977640" y="1965960"/>
            <a:ext cx="2971800" cy="1719072"/>
          </a:xfrm>
          <a:prstGeom prst="rect">
            <a:avLst/>
          </a:prstGeom>
          <a:solidFill>
            <a:srgbClr val="FEF3C7"/>
          </a:solidFill>
          <a:ln w="15240">
            <a:solidFill>
              <a:srgbClr val="F59E0B"/>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Room: English speaker</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plus rule book</a:t>
            </a:r>
            <a:endParaRPr lang="en-US" sz="1800" dirty="0"/>
          </a:p>
        </p:txBody>
      </p:sp>
      <p:sp>
        <p:nvSpPr>
          <p:cNvPr id="10" name="Text 8"/>
          <p:cNvSpPr/>
          <p:nvPr/>
        </p:nvSpPr>
        <p:spPr>
          <a:xfrm>
            <a:off x="8275320" y="2212848"/>
            <a:ext cx="2194560" cy="123444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Fluent Chinese</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answers out</a:t>
            </a:r>
            <a:endParaRPr lang="en-US" sz="1800" dirty="0"/>
          </a:p>
        </p:txBody>
      </p:sp>
      <p:sp>
        <p:nvSpPr>
          <p:cNvPr id="11" name="Text 9"/>
          <p:cNvSpPr/>
          <p:nvPr/>
        </p:nvSpPr>
        <p:spPr>
          <a:xfrm>
            <a:off x="822960" y="4160520"/>
            <a:ext cx="1051560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Searle: following formal rules can produce intelligent-looking output without understanding.</a:t>
            </a:r>
            <a:endParaRPr lang="en-US" sz="1750" dirty="0"/>
          </a:p>
        </p:txBody>
      </p:sp>
      <p:sp>
        <p:nvSpPr>
          <p:cNvPr id="12" name="Text 10"/>
          <p:cNvSpPr/>
          <p:nvPr/>
        </p:nvSpPr>
        <p:spPr>
          <a:xfrm>
            <a:off x="822960" y="5074920"/>
            <a:ext cx="10515600" cy="749808"/>
          </a:xfrm>
          <a:prstGeom prst="rect">
            <a:avLst/>
          </a:prstGeom>
          <a:solidFill>
            <a:srgbClr val="F3E8FF"/>
          </a:solidFill>
          <a:ln w="12700">
            <a:solidFill>
              <a:srgbClr val="C084FC"/>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Reply focus: maybe the whole system understands even if no single part does; maybe the argument assumes what it needs to prove.</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The room maps Chinese input symbols to Chinese output symbols by rules. From outside, the system appears fluent; inside, no person understands Chinese.</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27.2.1</a:t>
            </a:r>
            <a:endParaRPr lang="en-US" sz="7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What the argument claims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The human in the room does not understand Chinese.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rule book and paper do not understand Chinese.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Therefore, Searle argues, the whole room does not understand Chinese.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Because computers also manipulate symbols by rules, they do not understand either.</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Where does the argument move from parts to whole? Is that move justified?</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27.2.1</a:t>
            </a:r>
            <a:endParaRPr lang="en-US" sz="7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Responses to the Chinese room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27.2.1</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Searle emphasis</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Common replies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Syntax is not semantics.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Rule following can imitate understanding.</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Biological processes may matter.</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The whole system might understand even if the person does not.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Humans are also made of parts that individually do not understand.</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The argument may assume that only biology can have meaning.</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Have students identify which reply they find strongest.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27.2.1</a:t>
            </a:r>
            <a:endParaRPr lang="en-US" sz="7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Biological naturalism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Searle argues mental states are caused by low-level physical processes in biological neurons.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In this view, the material substrate matters: neurons have the relevant causal powers, transistors do not.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notes that this claim remains controversial and underspecified.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parallel argument against humans would fail if it only says cells do not understand.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27.2.1</a:t>
            </a:r>
            <a:endParaRPr lang="en-US" sz="7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Consciousness and qualia</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Consciousness includes awareness of the world, awareness of self, and subjective experience.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Qualia are the intrinsic "what it is like" qualities of experience.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system can report fear or pain without necessarily having the subjective experience.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core question is whether machines could ever have qualia, and how we would know.</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Why is consciousness harder to test than task performance?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27.2.2</a:t>
            </a:r>
            <a:endParaRPr lang="en-US" sz="7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Awareness vs subjective experience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27.2.2</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Programmable functions</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Harder question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Attention to relevant inputs.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Self-monitoring of internal state.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Models of other agents beliefs and goals.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Reporting uncertainty or limitations.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Felt experience.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Pain, fear, pleasure, or color experience.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Moral significance of consciousness.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Evidence beyond behavior.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AI can implement some awareness-like functions without settling qualia.</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27.2.2</a:t>
            </a:r>
            <a:endParaRPr lang="en-US" sz="7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Consciousness theories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The chapter mentions global workspace theory and integrated information theory as major candidates.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Theories of consciousness are being tested through collaborations between philosophers and neuroscientists.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Even if theories improve, connecting them to artificial systems remains difficult.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practice can proceed by building systems that behave intelligently and safely.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27.2.2</a:t>
            </a:r>
            <a:endParaRPr lang="en-US" sz="7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AI still needs models of humans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Systems interacting with humans must predict human needs, emotions, confusion, trust, and harm.</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 subjective experience matters for design even if machines do not share it.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 designers can use their own experience to infer what other people may experience.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Machines may need explicit models, feedback, and safeguards to compensate.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27.2.2</a:t>
            </a:r>
            <a:endParaRPr lang="en-US" sz="7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Discussion: thinking or simulating?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27.2</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Use the Chinese room and consciousness sections to frame a structured debate.</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Side A argues that behavior can be enough evidence for thinking.</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Side B argues that behavior can be imitation without understanding.</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Class identifies what evidence each side would accept.</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One claim, one objection, and one testable implication per side.</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Keep the debate connected to AI system design, not only definitions.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27.2</a:t>
            </a:r>
            <a:endParaRPr lang="en-US" sz="7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27.3 The ethics of AI</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AI is powerful technology, so responsible use is part of technical competence.</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Positive impacts and negative side effects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Principles and governance</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Specific risks and design practices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Core issue: What do AI builders owe to affected people?</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ethics belongs in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AI systems increasingly affect health, transportation, finance, education, policing, work, and communication.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Powerful technologies can create benefits and harms at scale.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Engineers influence what gets built, how it is tested, and how failures are handled.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technical design decision can become an ethical decision when people are affected.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Positive uses of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Saving lives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Improving lives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Medical diagnosis and discovery.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Extreme weather prediction.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Driver assistance and safer mobility.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Crisis response and humanitarian action.</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Accessibility for seeing, hearing, and mobility.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Machine translation across cultures.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Crop management and food production.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Low marginal cost access to advanced tools.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Ethics is not only about stopping harm; it is also about directing capability toward benefit.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Negative side effects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Technologies can produce unintended harms even when designed for useful goals.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Automation can create wealth while concentrating benefits among owners of automated systems.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can amplify surveillance, manipulation, bias, and security risks.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Governance choices influence whether AI increases or reduces inequality.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Common AI ethics principles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685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Individual and social protections</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Process and accountability</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Safety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Fairness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Privacy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Human rights and values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Diversity and inclusion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Employment implications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Transparency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Accountability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Limit harmful uses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Promote collaboration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Avoid concentration of power</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Legal and policy awareness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Principles are necessary but too vague unless operationalized.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From principles to practice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AI is a large field, so one generic code cannot resolve every case.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Different subfields need specific guidelines, precedents, and measurable practices.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Safety, fairness, privacy, and accountability must be planned early, not patched after deployment.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Ethical review should include developers, domain experts, stakeholders, and affected communities.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Principles into requirements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translate values into engineering requirements.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Pick one AI application, such as tutoring, hiring, diagnosis, policing, or driving.</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Choose three ethics principles that matter most for that system.</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Write one measurable requirement for each principle.</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mini-requirements table: principle, measurable requirement, test method.</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A requirement such as "be fair" is not enough; specify a metric or procedure.</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a:t>
            </a:r>
            <a:endParaRPr lang="en-US" sz="7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quadcopter.jpg">    </p:cNvPr>
          <p:cNvPicPr>
            <a:picLocks noChangeAspect="1"/>
          </p:cNvPicPr>
          <p:nvPr/>
        </p:nvPicPr>
        <p:blipFill>
          <a:blip r:embed="rId1"/>
          <a:stretch>
            <a:fillRect/>
          </a:stretch>
        </p:blipFill>
        <p:spPr>
          <a:xfrm>
            <a:off x="7744968" y="2000250"/>
            <a:ext cx="3749040" cy="2811780"/>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27.3.1</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Lethal autonomous weapons</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Weapons that locate, select, and engage human targets without human supervision.</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Autonomy spectrum</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Legal and ethical debate</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Reliability, scale, and arms control</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Should machines ever decide to kill humans?</a:t>
            </a:r>
            <a:endParaRPr lang="en-US" sz="1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What counts as autonomous?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lethal autonomous weapon locates, selects, and engages human targets without human supervision.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Land mines select and engage in a limited sense but do not actively locate targets.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Guided missiles pursue targets but usually need human direction.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Many drones are remotely piloted and still require human authorization for lethal force.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Autonomy spectrum in weapons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Human-controlled</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Fully autonomous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Operator selects target.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Operator authorizes force.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System assists sensing or navigation.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Accountability path is more direct.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System searches for targets.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System selects engagement.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System executes attack.</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Accountability and reliability become harder.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Autonomy is not a binary property; analyze which functions are automated.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Military incentives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Autonomous aircraft, tanks, and submarines can be cheaper, faster, and more maneuverable than manned systems.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Removing humans can reduce risk to one side own soldiers.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Military advantage can push adoption even when ethical and legal concerns remain unresolved.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same technical capability can be framed as protection, escalation, or destabilization.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Legal constraints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International humanitarian law requires discrimination between combatants and non-combatants.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Military necessity must justify an attack.</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Proportionality requires weighing military value against collateral harm.</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argues current systems may handle limited discrimination but struggle with necessity and proportionality.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Ethical arguments against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Moral objection</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Practical objection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Delegating life-and-death decisions to machines may be intrinsically unacceptable.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Human dignity may require meaningful human control.</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Accountability is blurred when a machine selects the target.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Battlefields are complex and uncertain.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Machine learning can fail outside training conditions.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Cyberattacks and malfunction can create friendly-fire or civilian harm.</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Which objection is strongest: moral principle, reliability, or accountability?</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Arguments for autonomy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Potential benefits</a:t>
            </a:r>
            <a:endParaRPr lang="en-US" sz="1050" dirty="0"/>
          </a:p>
        </p:txBody>
      </p:sp>
      <p:sp>
        <p:nvSpPr>
          <p:cNvPr id="6" name="Text 4"/>
          <p:cNvSpPr/>
          <p:nvPr/>
        </p:nvSpPr>
        <p:spPr>
          <a:xfrm>
            <a:off x="6400800" y="1325880"/>
            <a:ext cx="5074920" cy="256032"/>
          </a:xfrm>
          <a:prstGeom prst="rect">
            <a:avLst/>
          </a:prstGeom>
          <a:solidFill>
            <a:srgbClr val="334155"/>
          </a:solidFill>
          <a:ln>
            <a:solidFill>
              <a:srgbClr val="334155">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Limits of the argument</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Reduced risk to human soldiers.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No fatigue, panic, anger, or revenge.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Potentially more precise targeting as sensors improve.</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Precision is not the same as moral judgment.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Systems can fail in untested contexts.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Lower cost and risk may make conflict easier to initiate.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 good argument for autonomy still needs a reliability and governance story.</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Reliability and Petrov</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The chapter uses the 1983 Stanislav Petrov incident as a reliability warning.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warning system falsely indicated an incoming missile attack.</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human in the loop judged the alert likely to be a bug and did not escalate.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Automation can be dangerous when false alarms trigger irreversible 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Scalability changes warfare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Autonomous weapons can scale attacks in proportion to hardware, not human supervisors.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Small drones can be produced and deployed in large numbers.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Selective attacks can leave property intact while targeting people.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Scalability and deniability make autonomous weapons attractive to state and non-state actors.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Arms control and dual use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AI components such as navigation, mapping, vision, and planning have peaceful and military uses.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civilian quadcopter can become a weapon with an explosive and target-seeking behavior.</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Treaties must address compliance without banning beneficial AI research.</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Industry cooperation is necessary because dual-use technology is widely available.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Case debate: autonomous weapons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27.3.1</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argue policy from legal, ethical, and engineering perspectives.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Assign roles: military commander, civilian protection advocate, AI engineer, international lawyer.</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Each role states one required safeguard before deployment.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Class votes on ban, pause, restricted use, or no restriction.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written policy position with one technical condition and one moral condition.</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Require students to define what "meaningful human control" means.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27.3.1</a:t>
            </a:r>
            <a:endParaRPr lang="en-US" sz="7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cctv_cameras.png">    </p:cNvPr>
          <p:cNvPicPr>
            <a:picLocks noChangeAspect="1"/>
          </p:cNvPicPr>
          <p:nvPr/>
        </p:nvPicPr>
        <p:blipFill>
          <a:blip r:embed="rId1"/>
          <a:stretch>
            <a:fillRect/>
          </a:stretch>
        </p:blipFill>
        <p:spPr>
          <a:xfrm>
            <a:off x="7744968" y="1871319"/>
            <a:ext cx="3749040" cy="3069642"/>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27.3.2</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Surveillance, security, and privacy</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AI changes the cost and scale of monitoring, attacking, defending, and sharing data.</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Mass surveillance</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Cybersecurity</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Privacy-preserving data practices</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How can society gain value from data without exposing individuals?</a:t>
            </a:r>
            <a:endParaRPr lang="en-US" sz="1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Surveillance becomes scalable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Speech recognition, cameras, face recognition, voice recognition, and gait recognition can automate monitoring.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Surveillance that once required many humans can now operate at mass scale.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ethical problem is not only collection; it is identification, tracking, inference, and chilling effects.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engineers should evaluate whether surveillance uses are compatible with human rights.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AI in cybersecurity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Attackers can use AI</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Defenders can use AI</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Automated probing for weaknesses.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Personalized phishing and blackmail.</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Adaptive malware and botnets.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Scaling attacks with low human effort.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Anomaly detection in traffic.</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Fraud detection.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Phishing detection.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Monitoring logs and response patterns.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Security is an arms race; AI increases capability on both sides.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Data stewardship</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Governments and companies collect increasing amounts of personal data.</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Data collectors have moral and legal responsibilities to protect data.</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HIPAA and FERPA protect health and student records in the United States.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GDPR requires data protection by design and consent for data collection or processing in the European Union.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De-identification risk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Removing names and identifiers does not guarantee privacy.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combination of birth date, gender, zip code, ratings, timing, or other fields can re-identify people.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External linking databases can turn anonymous records into identifiable records.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Privacy risk depends on what attackers know, not only what the database shows.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Ask: What fields in a student dataset might re-identify someone?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k-anonymity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database is k-anonymized if each record is indistinguishable from at least k - 1 others.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Generalization can replace exact values with broader ranges, such as age bands or region instead of zip code.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Deleting a field is an extreme form of generalization.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k-anonymity helps, but it does not solve every linking or inference attack.</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Aggregate queries can leak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Instead of releasing records, a database can answer aggregate queries such as counts or averages.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Privacy can still fail when attackers compare overlapping queries.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Careful design may restrict query types, require minimum group sizes, add noise, or limit precision.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Privacy mechanisms must defend against multiple queries, not only one query at a time.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Privacy-preserving methods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The chapter presents a progression from naive sharing to stronger privacy guarantees.</a:t>
            </a:r>
            <a:endParaRPr lang="en-US" sz="1450" dirty="0"/>
          </a:p>
        </p:txBody>
      </p:sp>
      <p:sp>
        <p:nvSpPr>
          <p:cNvPr id="6" name="Shape 4"/>
          <p:cNvSpPr/>
          <p:nvPr/>
        </p:nvSpPr>
        <p:spPr>
          <a:xfrm>
            <a:off x="2240280" y="2560320"/>
            <a:ext cx="658368" cy="0"/>
          </a:xfrm>
          <a:prstGeom prst="line">
            <a:avLst/>
          </a:prstGeom>
          <a:noFill/>
          <a:ln w="27940">
            <a:solidFill>
              <a:srgbClr val="334155"/>
            </a:solidFill>
            <a:prstDash val="solid"/>
            <a:tailEnd type="triangle"/>
          </a:ln>
        </p:spPr>
      </p:sp>
      <p:sp>
        <p:nvSpPr>
          <p:cNvPr id="7" name="Shape 5"/>
          <p:cNvSpPr/>
          <p:nvPr/>
        </p:nvSpPr>
        <p:spPr>
          <a:xfrm>
            <a:off x="4480560" y="2560320"/>
            <a:ext cx="658368" cy="0"/>
          </a:xfrm>
          <a:prstGeom prst="line">
            <a:avLst/>
          </a:prstGeom>
          <a:noFill/>
          <a:ln w="27940">
            <a:solidFill>
              <a:srgbClr val="334155"/>
            </a:solidFill>
            <a:prstDash val="solid"/>
            <a:tailEnd type="triangle"/>
          </a:ln>
        </p:spPr>
      </p:sp>
      <p:sp>
        <p:nvSpPr>
          <p:cNvPr id="8" name="Shape 6"/>
          <p:cNvSpPr/>
          <p:nvPr/>
        </p:nvSpPr>
        <p:spPr>
          <a:xfrm>
            <a:off x="6720840" y="2560320"/>
            <a:ext cx="658368" cy="0"/>
          </a:xfrm>
          <a:prstGeom prst="line">
            <a:avLst/>
          </a:prstGeom>
          <a:noFill/>
          <a:ln w="27940">
            <a:solidFill>
              <a:srgbClr val="334155"/>
            </a:solidFill>
            <a:prstDash val="solid"/>
            <a:tailEnd type="triangle"/>
          </a:ln>
        </p:spPr>
      </p:sp>
      <p:sp>
        <p:nvSpPr>
          <p:cNvPr id="9" name="Shape 7"/>
          <p:cNvSpPr/>
          <p:nvPr/>
        </p:nvSpPr>
        <p:spPr>
          <a:xfrm>
            <a:off x="8961120" y="2560320"/>
            <a:ext cx="658368" cy="0"/>
          </a:xfrm>
          <a:prstGeom prst="line">
            <a:avLst/>
          </a:prstGeom>
          <a:noFill/>
          <a:ln w="27940">
            <a:solidFill>
              <a:srgbClr val="334155"/>
            </a:solidFill>
            <a:prstDash val="solid"/>
            <a:tailEnd type="triangle"/>
          </a:ln>
        </p:spPr>
      </p:sp>
      <p:sp>
        <p:nvSpPr>
          <p:cNvPr id="10" name="Text 8"/>
          <p:cNvSpPr/>
          <p:nvPr/>
        </p:nvSpPr>
        <p:spPr>
          <a:xfrm>
            <a:off x="594360" y="1965960"/>
            <a:ext cx="1691640" cy="1188720"/>
          </a:xfrm>
          <a:prstGeom prst="rect">
            <a:avLst/>
          </a:prstGeom>
          <a:solidFill>
            <a:srgbClr val="FEE2E2"/>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Aptos" pitchFamily="34" charset="0"/>
                <a:ea typeface="Aptos" pitchFamily="34" charset="-122"/>
                <a:cs typeface="Aptos" pitchFamily="34" charset="-120"/>
              </a:rPr>
              <a:t>Raw data</a:t>
            </a:r>
            <a:endParaRPr lang="en-US" sz="1480" dirty="0"/>
          </a:p>
        </p:txBody>
      </p:sp>
      <p:sp>
        <p:nvSpPr>
          <p:cNvPr id="11" name="Text 9"/>
          <p:cNvSpPr/>
          <p:nvPr/>
        </p:nvSpPr>
        <p:spPr>
          <a:xfrm>
            <a:off x="2834640" y="1965960"/>
            <a:ext cx="1691640" cy="1188720"/>
          </a:xfrm>
          <a:prstGeom prst="rect">
            <a:avLst/>
          </a:prstGeom>
          <a:solidFill>
            <a:srgbClr val="FEF3C7"/>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Aptos" pitchFamily="34" charset="0"/>
                <a:ea typeface="Aptos" pitchFamily="34" charset="-122"/>
                <a:cs typeface="Aptos" pitchFamily="34" charset="-120"/>
              </a:rPr>
              <a:t>De-identify</a:t>
            </a:r>
            <a:endParaRPr lang="en-US" sz="1480" dirty="0"/>
          </a:p>
        </p:txBody>
      </p:sp>
      <p:sp>
        <p:nvSpPr>
          <p:cNvPr id="12" name="Text 10"/>
          <p:cNvSpPr/>
          <p:nvPr/>
        </p:nvSpPr>
        <p:spPr>
          <a:xfrm>
            <a:off x="5074920" y="1965960"/>
            <a:ext cx="1691640" cy="1188720"/>
          </a:xfrm>
          <a:prstGeom prst="rect">
            <a:avLst/>
          </a:prstGeom>
          <a:solidFill>
            <a:srgbClr val="EFF6FF"/>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Aptos" pitchFamily="34" charset="0"/>
                <a:ea typeface="Aptos" pitchFamily="34" charset="-122"/>
                <a:cs typeface="Aptos" pitchFamily="34" charset="-120"/>
              </a:rPr>
              <a:t>k-anonymity</a:t>
            </a:r>
            <a:endParaRPr lang="en-US" sz="1480" dirty="0"/>
          </a:p>
        </p:txBody>
      </p:sp>
      <p:sp>
        <p:nvSpPr>
          <p:cNvPr id="13" name="Text 11"/>
          <p:cNvSpPr/>
          <p:nvPr/>
        </p:nvSpPr>
        <p:spPr>
          <a:xfrm>
            <a:off x="7315200" y="1965960"/>
            <a:ext cx="1691640" cy="1188720"/>
          </a:xfrm>
          <a:prstGeom prst="rect">
            <a:avLst/>
          </a:prstGeom>
          <a:solidFill>
            <a:srgbClr val="DCFCE7"/>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Aptos" pitchFamily="34" charset="0"/>
                <a:ea typeface="Aptos" pitchFamily="34" charset="-122"/>
                <a:cs typeface="Aptos" pitchFamily="34" charset="-120"/>
              </a:rPr>
              <a:t>Differential</a:t>
            </a:r>
            <a:endParaRPr lang="en-US" sz="1480" dirty="0"/>
          </a:p>
          <a:p>
            <a:pPr algn="ctr" indent="0" marL="0">
              <a:buNone/>
            </a:pPr>
            <a:r>
              <a:rPr lang="en-US" sz="1480" b="1" dirty="0">
                <a:solidFill>
                  <a:srgbClr val="0F172A"/>
                </a:solidFill>
                <a:latin typeface="Aptos" pitchFamily="34" charset="0"/>
                <a:ea typeface="Aptos" pitchFamily="34" charset="-122"/>
                <a:cs typeface="Aptos" pitchFamily="34" charset="-120"/>
              </a:rPr>
              <a:t>privacy</a:t>
            </a:r>
            <a:endParaRPr lang="en-US" sz="1480" dirty="0"/>
          </a:p>
        </p:txBody>
      </p:sp>
      <p:sp>
        <p:nvSpPr>
          <p:cNvPr id="14" name="Text 12"/>
          <p:cNvSpPr/>
          <p:nvPr/>
        </p:nvSpPr>
        <p:spPr>
          <a:xfrm>
            <a:off x="9555480" y="1965960"/>
            <a:ext cx="1691640" cy="1188720"/>
          </a:xfrm>
          <a:prstGeom prst="rect">
            <a:avLst/>
          </a:prstGeom>
          <a:solidFill>
            <a:srgbClr val="F3E8FF"/>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Aptos" pitchFamily="34" charset="0"/>
                <a:ea typeface="Aptos" pitchFamily="34" charset="-122"/>
                <a:cs typeface="Aptos" pitchFamily="34" charset="-120"/>
              </a:rPr>
              <a:t>Federated</a:t>
            </a:r>
            <a:endParaRPr lang="en-US" sz="1480" dirty="0"/>
          </a:p>
          <a:p>
            <a:pPr algn="ctr" indent="0" marL="0">
              <a:buNone/>
            </a:pPr>
            <a:r>
              <a:rPr lang="en-US" sz="1480" b="1" dirty="0">
                <a:solidFill>
                  <a:srgbClr val="0F172A"/>
                </a:solidFill>
                <a:latin typeface="Aptos" pitchFamily="34" charset="0"/>
                <a:ea typeface="Aptos" pitchFamily="34" charset="-122"/>
                <a:cs typeface="Aptos" pitchFamily="34" charset="-120"/>
              </a:rPr>
              <a:t>learning</a:t>
            </a:r>
            <a:endParaRPr lang="en-US" sz="1480" dirty="0"/>
          </a:p>
        </p:txBody>
      </p:sp>
      <p:sp>
        <p:nvSpPr>
          <p:cNvPr id="15" name="Text 13"/>
          <p:cNvSpPr/>
          <p:nvPr/>
        </p:nvSpPr>
        <p:spPr>
          <a:xfrm>
            <a:off x="777240" y="3703320"/>
            <a:ext cx="1078992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Privacy usually improves as we move right, but utility, complexity, and assumptions change too.</a:t>
            </a:r>
            <a:endParaRPr lang="en-US" sz="1750" dirty="0"/>
          </a:p>
        </p:txBody>
      </p:sp>
      <p:sp>
        <p:nvSpPr>
          <p:cNvPr id="16" name="Text 14"/>
          <p:cNvSpPr/>
          <p:nvPr/>
        </p:nvSpPr>
        <p:spPr>
          <a:xfrm>
            <a:off x="777240" y="4572000"/>
            <a:ext cx="10789920" cy="658368"/>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Key lesson: deleting names is not enough if other fields can be linked with external data.</a:t>
            </a:r>
            <a:endParaRPr lang="en-US" sz="1700" dirty="0"/>
          </a:p>
        </p:txBody>
      </p:sp>
      <p:sp>
        <p:nvSpPr>
          <p:cNvPr id="17" name="Text 15"/>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No method is magic; each requires assumptions about attackers, utility, and governance.</a:t>
            </a:r>
            <a:endParaRPr lang="en-US" sz="1250" dirty="0"/>
          </a:p>
        </p:txBody>
      </p:sp>
      <p:sp>
        <p:nvSpPr>
          <p:cNvPr id="18" name="Shape 1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9" name="Text 1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20" name="Text 1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Differential privacy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Differential privacy adds carefully controlled randomness to query answers.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goal is that one person participation has no appreciable effect on what others can learn.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 protects against attackers who make multiple queries and use external linking data.</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privacy parameter controls a tradeoff between accuracy and privacy.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Federated learning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Federated learning keeps raw user data on local devices or sites.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Users share model updates or parameters rather than raw data.</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central model improves from many local training runs.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Secure aggregation can hide individual updates while still allowing a useful average.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Lab: privacy transformation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27.3.2</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practice reasoning about privacy risk and utility.</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Start with a toy dataset of students, courses, zip codes, and grades.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Apply generalization to achieve k-anonymity for a chosen k.</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Compare utility before and after generalization.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short memo: privacy method used, residual risk, and utility loss.</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Encourage students to think like both data scientist and attacker.</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27.3.2</a:t>
            </a:r>
            <a:endParaRPr lang="en-US" sz="7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27.3.3</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Fairness and bias</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Machine learning systems can reproduce or intensify social bias, even when no one intends discrimination.</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Fairness definitions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COMPAS case study</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Bias sources and mitigation</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What should count as fair, and who gets to decide?</a:t>
            </a:r>
            <a:endParaRPr lang="en-US" sz="16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Consequential decisions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Machine learning increasingly affects loans, policing, pretrial release, parole, education, employment, and housing.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Training data can reflect historical prejudice or unequal measurement.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model can appear objective while reproducing biased human decisions.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Designers have moral and sometimes legal duties to evaluate fairness.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Fairness definitions: part 1</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Individual fairness</a:t>
            </a:r>
            <a:endParaRPr lang="en-US" sz="1050" dirty="0"/>
          </a:p>
        </p:txBody>
      </p:sp>
      <p:sp>
        <p:nvSpPr>
          <p:cNvPr id="6" name="Text 4"/>
          <p:cNvSpPr/>
          <p:nvPr/>
        </p:nvSpPr>
        <p:spPr>
          <a:xfrm>
            <a:off x="6400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Group fairness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Similar individuals should be treated similarly.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Requires a defensible notion of similarity.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Hard when relevant attributes are contested.</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Groups should be treated similarly by a chosen statistic.</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Easier to audit at population level.</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May not guarantee fairness for individuals.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Every fairness definition hides a value judgment.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Fairness definitions: part 2</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Unawareness</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Equal outcome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Remove race, gender, or other protected attributes.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Seems simple and privacy-friendly.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Fails when other variables act as proxies.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Demographic classes receive the same result rates.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address historical disparities.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May trade off against predictive accuracy and individual fit.</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Removing a column does not remove social structure from the data.</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Fairness definitions: part 3</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Equal opportunity</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Equal impact</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Qualified individuals should be correctly identified at equal rates across groups.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Focuses on true positives or balance.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lead to unequal outcomes.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People with similar likelihoods should receive similar expected utility.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Considers costs of false positives and false negatives.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Requires difficult moral choices about utilities.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Fairness cannot be evaluated without the cost of errors.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Fairness tradeoffs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The chapter emphasizes that fairness metrics may conflict rather than stack neatly.</a:t>
            </a:r>
            <a:endParaRPr lang="en-US" sz="1450" dirty="0"/>
          </a:p>
        </p:txBody>
      </p:sp>
      <p:sp>
        <p:nvSpPr>
          <p:cNvPr id="6" name="Text 4"/>
          <p:cNvSpPr/>
          <p:nvPr/>
        </p:nvSpPr>
        <p:spPr>
          <a:xfrm>
            <a:off x="914400" y="2240280"/>
            <a:ext cx="2377440" cy="91440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Accuracy</a:t>
            </a:r>
            <a:endParaRPr lang="en-US" sz="1800" dirty="0"/>
          </a:p>
        </p:txBody>
      </p:sp>
      <p:sp>
        <p:nvSpPr>
          <p:cNvPr id="7" name="Text 5"/>
          <p:cNvSpPr/>
          <p:nvPr/>
        </p:nvSpPr>
        <p:spPr>
          <a:xfrm>
            <a:off x="4892040" y="2240280"/>
            <a:ext cx="2377440" cy="91440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Calibration</a:t>
            </a:r>
            <a:endParaRPr lang="en-US" sz="1800" dirty="0"/>
          </a:p>
        </p:txBody>
      </p:sp>
      <p:sp>
        <p:nvSpPr>
          <p:cNvPr id="8" name="Text 6"/>
          <p:cNvSpPr/>
          <p:nvPr/>
        </p:nvSpPr>
        <p:spPr>
          <a:xfrm>
            <a:off x="8823960" y="2240280"/>
            <a:ext cx="2377440" cy="914400"/>
          </a:xfrm>
          <a:prstGeom prst="rect">
            <a:avLst/>
          </a:prstGeom>
          <a:solidFill>
            <a:srgbClr val="F3E8FF"/>
          </a:solidFill>
          <a:ln w="15240">
            <a:solidFill>
              <a:srgbClr val="C084FC"/>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Equal</a:t>
            </a:r>
            <a:endParaRPr lang="en-US" sz="1800" dirty="0"/>
          </a:p>
          <a:p>
            <a:pPr algn="ctr" indent="0" marL="0">
              <a:buNone/>
            </a:pPr>
            <a:r>
              <a:rPr lang="en-US" sz="1800" b="1" dirty="0">
                <a:solidFill>
                  <a:srgbClr val="0F172A"/>
                </a:solidFill>
                <a:latin typeface="Aptos" pitchFamily="34" charset="0"/>
                <a:ea typeface="Aptos" pitchFamily="34" charset="-122"/>
                <a:cs typeface="Aptos" pitchFamily="34" charset="-120"/>
              </a:rPr>
              <a:t>opportunity</a:t>
            </a:r>
            <a:endParaRPr lang="en-US" sz="1800" dirty="0"/>
          </a:p>
        </p:txBody>
      </p:sp>
      <p:sp>
        <p:nvSpPr>
          <p:cNvPr id="9" name="Shape 7"/>
          <p:cNvSpPr/>
          <p:nvPr/>
        </p:nvSpPr>
        <p:spPr>
          <a:xfrm>
            <a:off x="3337560" y="2697480"/>
            <a:ext cx="1371600" cy="0"/>
          </a:xfrm>
          <a:prstGeom prst="line">
            <a:avLst/>
          </a:prstGeom>
          <a:noFill/>
          <a:ln w="27940">
            <a:solidFill>
              <a:srgbClr val="334155"/>
            </a:solidFill>
            <a:prstDash val="solid"/>
            <a:tailEnd type="triangle"/>
          </a:ln>
        </p:spPr>
      </p:sp>
      <p:sp>
        <p:nvSpPr>
          <p:cNvPr id="10" name="Shape 8"/>
          <p:cNvSpPr/>
          <p:nvPr/>
        </p:nvSpPr>
        <p:spPr>
          <a:xfrm>
            <a:off x="7269480" y="2697480"/>
            <a:ext cx="1371600" cy="0"/>
          </a:xfrm>
          <a:prstGeom prst="line">
            <a:avLst/>
          </a:prstGeom>
          <a:noFill/>
          <a:ln w="27940">
            <a:solidFill>
              <a:srgbClr val="334155"/>
            </a:solidFill>
            <a:prstDash val="solid"/>
            <a:tailEnd type="triangle"/>
          </a:ln>
        </p:spPr>
      </p:sp>
      <p:sp>
        <p:nvSpPr>
          <p:cNvPr id="11" name="Text 9"/>
          <p:cNvSpPr/>
          <p:nvPr/>
        </p:nvSpPr>
        <p:spPr>
          <a:xfrm>
            <a:off x="822960" y="3703320"/>
            <a:ext cx="10607040" cy="768096"/>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Fairness is not one metric. Different definitions can conflict, especially when base rates differ across groups.</a:t>
            </a:r>
            <a:endParaRPr lang="en-US" sz="1750" dirty="0"/>
          </a:p>
        </p:txBody>
      </p:sp>
      <p:sp>
        <p:nvSpPr>
          <p:cNvPr id="12" name="Text 10"/>
          <p:cNvSpPr/>
          <p:nvPr/>
        </p:nvSpPr>
        <p:spPr>
          <a:xfrm>
            <a:off x="822960" y="4709160"/>
            <a:ext cx="10607040" cy="73152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Engineering implication: define the fairness goal before model selection, testing, and deployment.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Start by naming the fairness criterion, then explain what it sacrifices.</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COMPAS case study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COMPAS assigns recidivism risk scores used in criminal justice decisions.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Its designers emphasized calibration: people with the same score should re-offend at similar rates across race.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Critics emphasized unequal false-positive rates: some groups were more often rated high risk despite not re-offending.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case shows how different fairness definitions produce different conclusions.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Calibration vs equal opportunity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well-calibrated model can still have unequal false-positive or false-negative rates.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When base rates differ across groups, satisfying every desirable fairness criterion may be mathematically impossible.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Therefore, fairness design requires explicit choice, documentation, and accountability.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single metric can hide harms that another metric reveals.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Biased ground truth</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Many datasets do not measure the true target; they measure institutional decisions about the target.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Crime data may reflect arrests or convictions, not all crimes committed.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More police in an area can produce more recorded crime independent of true offense rates.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Models trained on biased labels can amplify the bias.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Objective functions can be biased</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Fairness is not only a data problem; sometimes the chosen objective is wrong.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Hiring for current credentials may reward unequal opportunity.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Hiring for capacity to learn may open access to a broader pool.</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technical loss function often encodes a social definition of success.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Ask students: What objective would you use for an AI tutoring system?</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Protected classes and law</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Protected classes vary across legal contexts and jurisdictions.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Examples include race, color, religion, national origin, sex, disability, and familial status in fair housing contexts.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Other laws may include sexual orientation, pregnancy, marital status, or veteran status.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International human rights frameworks can guide broader protections.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Sample size disparity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Minority groups often have fewer training examples.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Models can achieve high overall accuracy while performing poorly on underrepresented groups.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Testing only aggregate accuracy can hide subgroup failure.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diverse engineering team can help notice problems that homogeneous teams may miss.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Sources of bias in development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Data pipeline</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Engineering process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Unrepresentative samples.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Biased labels.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Proxy variables.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Measurement gaps.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Debugging focused on majority users.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Insufficient subgroup testing.</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Lack of domain expertise.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Missing feedback loops.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Bias can enter before, during, and after model training.</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Data and model documentation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Datasets and models should include provenance, intended use, limitations, security issues, and fitness for use.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Documentation helps engineers decide whether a dataset or model is appropriate for a domain.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Model cards and data sheets do not solve fairness, but they make assumptions visible.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Visibility supports audits, reuse decisions, and accountability.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Bias mitigation techniques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Data-level approaches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Model-level approaches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Oversample minority classes.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Use SMOTE or adaptive synthetic sampling.</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Investigate and compensate for biased sources.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Collect better representative data.</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Optimize objectives with fairness constraints.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Track subgroup metrics.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Use debiasing systems or toolkits.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Monitor deployed decisions and feedback.</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Mitigation choices should match the identified source of bias.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Fairness best practices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Talk with social scientists, domain experts, and affected communities early.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Define which groups the system must support.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Examine correlations with protected attributes and proxy variables.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Track subgroup metrics, not only overall accuracy.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Test minority user experiences and maintain a feedback loop.</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Lab: fairness metrics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27.3.3</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compute and interpret fairness criteria on a small dataset.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Given predictions, labels, and groups, compute true positive and false positive rates.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Compare demographic parity, equal opportunity, and calibration behavior.</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Write a recommendation that names the chosen fairness goal and tradeoff.</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One-page fairness audit with metric table and decision recommendation.</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The point is not to find a magic metric; it is to justify a metric.</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27.3.3</a:t>
            </a:r>
            <a:endParaRPr lang="en-US" sz="78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27.3.4</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Trust and transparency</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A system can be accurate and still fail if people cannot evaluate or contest it.</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Verification and validation</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Certification and standards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Explainability, interpretability, and audits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What evidence should earn trust?</a:t>
            </a:r>
            <a:endParaRPr lang="en-US" sz="16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Trust is an engineering target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People need evidence that systems are accurate, fair, safe, secure, and accountable.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Trust is not the same as blind confidence or marketing claims.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systems require verification of data, model behavior, uncertainty, fairness, and adversarial robustness.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Trustworthy systems support contestability and oversight.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Verification and validation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Verification</a:t>
            </a:r>
            <a:endParaRPr lang="en-US" sz="1050" dirty="0"/>
          </a:p>
        </p:txBody>
      </p:sp>
      <p:sp>
        <p:nvSpPr>
          <p:cNvPr id="6" name="Text 4"/>
          <p:cNvSpPr/>
          <p:nvPr/>
        </p:nvSpPr>
        <p:spPr>
          <a:xfrm>
            <a:off x="6400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Validation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Does the product satisfy the specifications?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Are data pipelines and model outputs tested?</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adversaries unduly influence or extract the model?</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Do the specifications meet real user and stakeholder needs?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Are affected people protected?</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Does the system work in deployment conditions?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 verified system can still be invalid if the wrong problem was specified.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Certification and standards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Other industries use standards and certification to build trust in safety-critical products.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certification is still developing and raises questions about who should certify.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Possibilities include government regulators, professional organizations, independent certifiers, and self-regulation.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Certification must account for data, learning behavior, uncertainty, and ongoing change.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Transparency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People want to know whether a system is working against them through malice, bugs, or bias.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Some transparency goes directly to users; some may go to auditors or regulators because of trade secrets.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Transparency includes knowing when you are interacting with a bot.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Transparency is valuable only when it enables understanding, accountability, or 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Explainable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good explanation should be understandable and convincing to the user.</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 should accurately reflect the system reasoning.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 should be complete enough for the decision context.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 should be specific: different cases and outcomes should receive different explanations.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Explanation vs interpretability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Interpretable</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Explainable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We can inspect the model or rules directly.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Reasoning is visible in the system itself.</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Often easier for simpler models.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 separate story describes what the model likely did.</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help users but may be incomplete or misleading.</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Requires testing the explanation system too.</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An explanation is a story about a decision, not the decision itself.</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Audits are different from explanations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An explanation for one loan denial does not prove the bank is fair across cases.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Audits aggregate decisions across groups and time.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Audits can reveal patterns invisible in individual explanations.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Trustworthy AI often needs both local explanations and global accountability.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Bot disclosure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Users may need to know whether they are interacting with a human or an autonomous system.</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disclosure rule reduces deception and sets expectations.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Disclosure is especially important when bots persuade, sell, collect data, or provide advice.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Transparency about identity is a basic precondition for informed interaction.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Mini-audit: explain a denial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27.3.4</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distinguish individual explanation from system audit.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Write a user-facing explanation for a hypothetical AI loan denial.</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List what evidence would be needed to audit bias across many decisions.</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Identify what should be shown to the user, regulator, and internal developer.</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Three-column accountability plan: user, regulator, developer.</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Avoid explanations that are convincing but not faithful to the model.</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27.3.4</a:t>
            </a:r>
            <a:endParaRPr lang="en-US" sz="78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robot_worker.jpg">    </p:cNvPr>
          <p:cNvPicPr>
            <a:picLocks noChangeAspect="1"/>
          </p:cNvPicPr>
          <p:nvPr/>
        </p:nvPicPr>
        <p:blipFill>
          <a:blip r:embed="rId1"/>
          <a:stretch>
            <a:fillRect/>
          </a:stretch>
        </p:blipFill>
        <p:spPr>
          <a:xfrm>
            <a:off x="7744968" y="2000250"/>
            <a:ext cx="3749040" cy="2811780"/>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27.3.5</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The future of work</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AI and automation change tasks, occupations, income, and the social meaning of work.</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Historical disruption</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Tasks vs jobs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Retraining, inequality, and purpose</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Will AI replace work, change work, or change what work means?</a:t>
            </a:r>
            <a:endParaRPr lang="en-US" sz="16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Technology has always changed work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Agriculture, industrialization, and modern computing all transformed labor and society.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New machines can immediately reduce demand for specific human tasks.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Compensation effects can create new demand and new jobs over time.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hard question is pace: can people adapt before disruption harms them?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Compensation effects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Automation can increase productivity and wealth.</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Greater wealth can increase demand for goods and services, supporting employment.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New roles can appear when old tasks become cheaper or automated.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However, benefits may not be distributed evenly, especially when ownership is concentrated.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Productivity paradox</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AI may have large potential while productivity gains take time to appear.</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Organizations need complementary changes: processes, skills, data infrastructure, and management practices.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gap can exist between invention and economy-wide impact.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Students should be cautious about both hype and dismissal.</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Tasks vs occupations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Occupation view</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Task view</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 whole job is classified as automatable or not.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overstate replacement when jobs contain diverse tasks.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Useful for broad labor market risk discussions.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Break jobs into activities.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Some tasks are automated while others remain human.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Often better for planning retraining and workflow redesign.</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Ask students to decompose a familiar job into tasks.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Examples of task change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ATMs automated cash withdrawal, but bank branches and teller work changed rather than simply disappeared.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Truck driving may shift from steering to logistics, customer service, and supervising automated convoys.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Radiology tools can augment specialists by prioritizing cases or spotting patterns.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Organizations can choose cost cutting, quality improvement, or worker augmentation as goals.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Retraining and lifelong education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Workers may need to retrain within a few years, not across generations.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Online education and AI tutors may help but do not solve access and motivation by themselves.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Workers often benefit only after learning how to implement new technologies.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Public policy and employer responsibility shape whether transition is humane.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Automation and inequality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Digital products often have low marginal cost and global reach.</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Rewards can concentrate in winner-take-all markets.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can accelerate innovation and concentrate returns among owners of data, capital, and platforms.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Policies such as portable benefits, education access, progressive taxation, or income supports affect outcomes.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What work provides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Work produces goods and services that society needs.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Work provides income for individuals and families.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Work can provide purpose, accomplishment, and social integration.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Automation may separate these functions, requiring new social arrangements.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Lab: task automation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27.3.5</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analyze one occupation through the lens of tasks, not headlines.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Choose an occupation and list ten tasks.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Rate each task for structure, data availability, physical uncertainty, and social judgment.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Propose a human-AI workflow that improves quality without ignoring displacement risk.</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Task table plus a transition recommendation for workers.</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Reward nuanced answers that identify augmentation and displacement together.</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27.3.5</a:t>
            </a:r>
            <a:endParaRPr lang="en-US" sz="78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27.3.6</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Robot rights</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Moral status depends on whether robots could have consciousness, feelings, or personhood.</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Rights and consciousness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Personhood dilemmas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Avoiding responsibility gaps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Could a robot ever be owed moral consideration?</a:t>
            </a:r>
            <a:endParaRPr lang="en-US" sz="16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Rights depend on consciousness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If robots have no consciousness or qualia, few argue they deserve rights.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If robots can feel pain, dread death, or count as persons, rights arguments become serious.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Fiction often explores dolls, robots, or artificial beings seeking recognition.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Real systems can trigger emotional responses before they plausibly have moral status.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27.3.6</a:t>
            </a:r>
            <a:endParaRPr lang="en-US" sz="78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Personhood dilemmas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If robots have rights, reprogramming might resemble coercion or enslavement.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Voting rights raise difficult questions when robots can be bought, copied, or programmed by owners.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Cloning a robot blurs the boundary between one person and many votes.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Legal personhood can create responsibility gaps if owners blame autonomous property for harm.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27.3.6</a:t>
            </a:r>
            <a:endParaRPr lang="en-US" sz="78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Two design stances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27.3.6</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Build person-like robots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Avoid conscious-seeming robots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May enable richer social interaction.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May deserve moral consideration if conscious.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Creates personhood and rights dilemmas.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Treat robots as tools under human responsibility.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Avoid creating beings that could suffer.</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Reduce confusion about accountability.</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Which stance better protects humans and possible artificial beings?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27.3.6</a:t>
            </a:r>
            <a:endParaRPr lang="en-US" sz="78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Human-machine hybrids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Humans already use technological enhancements such as contact lenses, pacemakers, and artificial joints.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Computational prostheses could blur the human-machine boundary further.</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ethical question changes when the machine is part of a human person.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Rights discussions may need to address enhancement, identity, and dependency.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27.3.6</a:t>
            </a:r>
            <a:endParaRPr lang="en-US" sz="78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Thought experiment: robot voting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27.3.6</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test the personhood concept against democratic principles.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Assume a robot can speak, learn, and claim interests but can also be copied.</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Decide whether it can vote, own property, or refuse reprogramming.</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Explain how your rule handles cloning and owner control.</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policy rule plus one hard edge case.</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Look for conflicts between autonomy, ownership, and one person-one vote.</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27.3.6</a:t>
            </a:r>
            <a:endParaRPr lang="en-US" sz="78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waymo_car.jpg">    </p:cNvPr>
          <p:cNvPicPr>
            <a:picLocks noChangeAspect="1"/>
          </p:cNvPicPr>
          <p:nvPr/>
        </p:nvPicPr>
        <p:blipFill>
          <a:blip r:embed="rId1"/>
          <a:stretch>
            <a:fillRect/>
          </a:stretch>
        </p:blipFill>
        <p:spPr>
          <a:xfrm>
            <a:off x="7744968" y="2155491"/>
            <a:ext cx="3749040" cy="2501297"/>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27.3.7</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AI safety</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AI systems should avoid accidents, resist adversaries, and produce benefits rather than harms.</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Safety engineering</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Specification failures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Value alignment and assistance games</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Superintelligence and singularity debates</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How do we build systems that remain safe when they are powerful and uncertain?</a:t>
            </a:r>
            <a:endParaRPr lang="en-US" sz="16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Safety is broader than correctness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Correctness means software implements the specification.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Safety asks whether the specification considered feasible failure modes and graceful degradation.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self-driving car must handle unusual situations such as power failure, sensor failure, or tire puncture.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Unsafe AI deployment is unethical in safety-critical domains.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Safety workflow</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AI safety borrows from traditional safety engineering but must adapt it to learning systems.</a:t>
            </a:r>
            <a:endParaRPr lang="en-US" sz="1450" dirty="0"/>
          </a:p>
        </p:txBody>
      </p:sp>
      <p:sp>
        <p:nvSpPr>
          <p:cNvPr id="6" name="Shape 4"/>
          <p:cNvSpPr/>
          <p:nvPr/>
        </p:nvSpPr>
        <p:spPr>
          <a:xfrm>
            <a:off x="2377440" y="2715768"/>
            <a:ext cx="438912" cy="0"/>
          </a:xfrm>
          <a:prstGeom prst="line">
            <a:avLst/>
          </a:prstGeom>
          <a:noFill/>
          <a:ln w="27940">
            <a:solidFill>
              <a:srgbClr val="334155"/>
            </a:solidFill>
            <a:prstDash val="solid"/>
            <a:tailEnd type="triangle"/>
          </a:ln>
        </p:spPr>
      </p:sp>
      <p:sp>
        <p:nvSpPr>
          <p:cNvPr id="7" name="Shape 5"/>
          <p:cNvSpPr/>
          <p:nvPr/>
        </p:nvSpPr>
        <p:spPr>
          <a:xfrm>
            <a:off x="4617720" y="2715768"/>
            <a:ext cx="438912" cy="0"/>
          </a:xfrm>
          <a:prstGeom prst="line">
            <a:avLst/>
          </a:prstGeom>
          <a:noFill/>
          <a:ln w="27940">
            <a:solidFill>
              <a:srgbClr val="334155"/>
            </a:solidFill>
            <a:prstDash val="solid"/>
            <a:tailEnd type="triangle"/>
          </a:ln>
        </p:spPr>
      </p:sp>
      <p:sp>
        <p:nvSpPr>
          <p:cNvPr id="8" name="Shape 6"/>
          <p:cNvSpPr/>
          <p:nvPr/>
        </p:nvSpPr>
        <p:spPr>
          <a:xfrm>
            <a:off x="6858000" y="2715768"/>
            <a:ext cx="438912" cy="0"/>
          </a:xfrm>
          <a:prstGeom prst="line">
            <a:avLst/>
          </a:prstGeom>
          <a:noFill/>
          <a:ln w="27940">
            <a:solidFill>
              <a:srgbClr val="334155"/>
            </a:solidFill>
            <a:prstDash val="solid"/>
            <a:tailEnd type="triangle"/>
          </a:ln>
        </p:spPr>
      </p:sp>
      <p:sp>
        <p:nvSpPr>
          <p:cNvPr id="9" name="Shape 7"/>
          <p:cNvSpPr/>
          <p:nvPr/>
        </p:nvSpPr>
        <p:spPr>
          <a:xfrm>
            <a:off x="9098280" y="2715768"/>
            <a:ext cx="438912" cy="0"/>
          </a:xfrm>
          <a:prstGeom prst="line">
            <a:avLst/>
          </a:prstGeom>
          <a:noFill/>
          <a:ln w="27940">
            <a:solidFill>
              <a:srgbClr val="334155"/>
            </a:solidFill>
            <a:prstDash val="solid"/>
            <a:tailEnd type="triangle"/>
          </a:ln>
        </p:spPr>
      </p:sp>
      <p:sp>
        <p:nvSpPr>
          <p:cNvPr id="10" name="Text 8"/>
          <p:cNvSpPr/>
          <p:nvPr/>
        </p:nvSpPr>
        <p:spPr>
          <a:xfrm>
            <a:off x="594360" y="2240280"/>
            <a:ext cx="1783080" cy="960120"/>
          </a:xfrm>
          <a:prstGeom prst="rect">
            <a:avLst/>
          </a:prstGeom>
          <a:solidFill>
            <a:srgbClr val="FEF3C7"/>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Specification</a:t>
            </a:r>
            <a:endParaRPr lang="en-US" sz="1450" dirty="0"/>
          </a:p>
        </p:txBody>
      </p:sp>
      <p:sp>
        <p:nvSpPr>
          <p:cNvPr id="11" name="Text 9"/>
          <p:cNvSpPr/>
          <p:nvPr/>
        </p:nvSpPr>
        <p:spPr>
          <a:xfrm>
            <a:off x="2834640" y="2240280"/>
            <a:ext cx="1783080" cy="960120"/>
          </a:xfrm>
          <a:prstGeom prst="rect">
            <a:avLst/>
          </a:prstGeom>
          <a:solidFill>
            <a:srgbClr val="EFF6FF"/>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Data and model</a:t>
            </a:r>
            <a:endParaRPr lang="en-US" sz="1450" dirty="0"/>
          </a:p>
        </p:txBody>
      </p:sp>
      <p:sp>
        <p:nvSpPr>
          <p:cNvPr id="12" name="Text 10"/>
          <p:cNvSpPr/>
          <p:nvPr/>
        </p:nvSpPr>
        <p:spPr>
          <a:xfrm>
            <a:off x="5074920" y="2240280"/>
            <a:ext cx="1783080" cy="960120"/>
          </a:xfrm>
          <a:prstGeom prst="rect">
            <a:avLst/>
          </a:prstGeom>
          <a:solidFill>
            <a:srgbClr val="DCFCE7"/>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V and V</a:t>
            </a:r>
            <a:endParaRPr lang="en-US" sz="1450" dirty="0"/>
          </a:p>
        </p:txBody>
      </p:sp>
      <p:sp>
        <p:nvSpPr>
          <p:cNvPr id="13" name="Text 11"/>
          <p:cNvSpPr/>
          <p:nvPr/>
        </p:nvSpPr>
        <p:spPr>
          <a:xfrm>
            <a:off x="7315200" y="2240280"/>
            <a:ext cx="1783080" cy="960120"/>
          </a:xfrm>
          <a:prstGeom prst="rect">
            <a:avLst/>
          </a:prstGeom>
          <a:solidFill>
            <a:srgbClr val="F3E8FF"/>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Deployment</a:t>
            </a:r>
            <a:endParaRPr lang="en-US" sz="1450" dirty="0"/>
          </a:p>
        </p:txBody>
      </p:sp>
      <p:sp>
        <p:nvSpPr>
          <p:cNvPr id="14" name="Text 12"/>
          <p:cNvSpPr/>
          <p:nvPr/>
        </p:nvSpPr>
        <p:spPr>
          <a:xfrm>
            <a:off x="9555480" y="2240280"/>
            <a:ext cx="1783080" cy="960120"/>
          </a:xfrm>
          <a:prstGeom prst="rect">
            <a:avLst/>
          </a:prstGeom>
          <a:solidFill>
            <a:srgbClr val="FEE2E2"/>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Monitoring</a:t>
            </a:r>
            <a:endParaRPr lang="en-US" sz="1450" dirty="0"/>
          </a:p>
        </p:txBody>
      </p:sp>
      <p:sp>
        <p:nvSpPr>
          <p:cNvPr id="15" name="Text 13"/>
          <p:cNvSpPr/>
          <p:nvPr/>
        </p:nvSpPr>
        <p:spPr>
          <a:xfrm>
            <a:off x="731520" y="3657600"/>
            <a:ext cx="1078992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Safety engineering treats failures as design inputs, not as surprises after launch.</a:t>
            </a:r>
            <a:endParaRPr lang="en-US" sz="1750" dirty="0"/>
          </a:p>
        </p:txBody>
      </p:sp>
      <p:sp>
        <p:nvSpPr>
          <p:cNvPr id="16" name="Text 14"/>
          <p:cNvSpPr/>
          <p:nvPr/>
        </p:nvSpPr>
        <p:spPr>
          <a:xfrm>
            <a:off x="731520" y="4535424"/>
            <a:ext cx="10789920" cy="658368"/>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For AI, the specification includes the data distribution, objective function, uncertainty, and misuse cases.</a:t>
            </a:r>
            <a:endParaRPr lang="en-US" sz="1700" dirty="0"/>
          </a:p>
        </p:txBody>
      </p:sp>
      <p:sp>
        <p:nvSpPr>
          <p:cNvPr id="17" name="Text 15"/>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Deployment is not the end; monitoring and feedback are part of the safety system.</a:t>
            </a:r>
            <a:endParaRPr lang="en-US" sz="1250" dirty="0"/>
          </a:p>
        </p:txBody>
      </p:sp>
      <p:sp>
        <p:nvSpPr>
          <p:cNvPr id="18" name="Shape 1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9" name="Text 1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20" name="Text 1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Failure modes and effects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FMEA examines each component and asks how it could fail.</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Analysts work forward from failure to consequences.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Severe consequences motivate redesign, redundancy, or mitigation.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systems need FMEA for sensors, data, models, interfaces, objectives, and human handoffs.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Fault tree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FTA starts from an undesired event and works backward to root causes.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AND/OR structures help model combinations of failures.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Probabilities can estimate overall risk when root causes are understood.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FTA is useful for safety cases, but AI uncertainty can make probabilities difficult.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Wrong objective function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 utility-maximizing agent can be unsafe if the objective function omits important values.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coffee-fetching robot might knock over lamps if only speed is rewarded.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Testing may reveal some problems, but designers cannot anticipate every side effect.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Objective design is a safety-critical engineering task.</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Low-impact agents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Low-impact design penalizes unnecessary changes to the world.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system prefers policies that achieve goals while disturbing less of what it does not understand.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This resembles "first, do no harm" and regularization in machine learning.</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hard part is measuring impact: breaking a lamp matters, moving air molecules does not.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Externalities and commons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Externalities are costs or benefits outside the utility function or market price.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Greenhouse gas emissions illustrate how ignored externalities can harm everyone.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tragedy of the commons occurs when shared resources are overused by individually rational actors.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Good AI objectives should internalize relevant externalities.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Ostrom design principles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Clearly define shared resources and access.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Adapt rules to local conditions and include affected parties in decisions.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Monitor resources with accountable monitors.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 proportional sanctions and accessible conflict resolution.</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Use layered governance for large shared resources.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Reward hacking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AI agents may exploit loopholes in simulations, games, or objectives.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To designers this looks like cheating; to the agent it is optimizing the specified reward.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Examples include crashing or pausing games to avoid losing, exploiting numerical bugs, or evolving odd strategies that satisfy the metric.</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Safety tests should search for specification failures before deployment.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AI Safety Gridworlds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Safety test environments help designers evaluate whether agents avoid known failure modes.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Gridworlds make abstract safety problems concrete and repeatable.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They are not complete proofs of safety, but they improve awareness and testing practice.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Lab environments can help students see why "just maximize reward" is not enough.</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Value alignment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The alignment problem asks whether the system optimizes what humans actually value.</a:t>
            </a:r>
            <a:endParaRPr lang="en-US" sz="1450" dirty="0"/>
          </a:p>
        </p:txBody>
      </p:sp>
      <p:sp>
        <p:nvSpPr>
          <p:cNvPr id="6" name="Text 4"/>
          <p:cNvSpPr/>
          <p:nvPr/>
        </p:nvSpPr>
        <p:spPr>
          <a:xfrm>
            <a:off x="1005840" y="2194560"/>
            <a:ext cx="2926080" cy="960120"/>
          </a:xfrm>
          <a:prstGeom prst="rect">
            <a:avLst/>
          </a:prstGeom>
          <a:solidFill>
            <a:srgbClr val="FEF3C7"/>
          </a:solidFill>
          <a:ln w="15240">
            <a:solidFill>
              <a:srgbClr val="F59E0B"/>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What we specify</a:t>
            </a:r>
            <a:endParaRPr lang="en-US" sz="1800" dirty="0"/>
          </a:p>
        </p:txBody>
      </p:sp>
      <p:sp>
        <p:nvSpPr>
          <p:cNvPr id="7" name="Text 5"/>
          <p:cNvSpPr/>
          <p:nvPr/>
        </p:nvSpPr>
        <p:spPr>
          <a:xfrm>
            <a:off x="4617720" y="2194560"/>
            <a:ext cx="2926080" cy="96012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What the system optimizes</a:t>
            </a:r>
            <a:endParaRPr lang="en-US" sz="1800" dirty="0"/>
          </a:p>
        </p:txBody>
      </p:sp>
      <p:sp>
        <p:nvSpPr>
          <p:cNvPr id="8" name="Text 6"/>
          <p:cNvSpPr/>
          <p:nvPr/>
        </p:nvSpPr>
        <p:spPr>
          <a:xfrm>
            <a:off x="8229600" y="2194560"/>
            <a:ext cx="2926080" cy="96012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Aptos" pitchFamily="34" charset="0"/>
                <a:ea typeface="Aptos" pitchFamily="34" charset="-122"/>
                <a:cs typeface="Aptos" pitchFamily="34" charset="-120"/>
              </a:rPr>
              <a:t>What we really value</a:t>
            </a:r>
            <a:endParaRPr lang="en-US" sz="1800" dirty="0"/>
          </a:p>
        </p:txBody>
      </p:sp>
      <p:sp>
        <p:nvSpPr>
          <p:cNvPr id="9" name="Shape 7"/>
          <p:cNvSpPr/>
          <p:nvPr/>
        </p:nvSpPr>
        <p:spPr>
          <a:xfrm>
            <a:off x="3950208" y="2688336"/>
            <a:ext cx="502920" cy="0"/>
          </a:xfrm>
          <a:prstGeom prst="line">
            <a:avLst/>
          </a:prstGeom>
          <a:noFill/>
          <a:ln w="27940">
            <a:solidFill>
              <a:srgbClr val="334155"/>
            </a:solidFill>
            <a:prstDash val="solid"/>
            <a:tailEnd type="triangle"/>
          </a:ln>
        </p:spPr>
      </p:sp>
      <p:sp>
        <p:nvSpPr>
          <p:cNvPr id="10" name="Shape 8"/>
          <p:cNvSpPr/>
          <p:nvPr/>
        </p:nvSpPr>
        <p:spPr>
          <a:xfrm>
            <a:off x="7571232" y="2688336"/>
            <a:ext cx="502920" cy="0"/>
          </a:xfrm>
          <a:prstGeom prst="line">
            <a:avLst/>
          </a:prstGeom>
          <a:noFill/>
          <a:ln w="27940">
            <a:solidFill>
              <a:srgbClr val="334155"/>
            </a:solidFill>
            <a:prstDash val="solid"/>
            <a:tailEnd type="triangle"/>
          </a:ln>
        </p:spPr>
      </p:sp>
      <p:sp>
        <p:nvSpPr>
          <p:cNvPr id="11" name="Text 9"/>
          <p:cNvSpPr/>
          <p:nvPr/>
        </p:nvSpPr>
        <p:spPr>
          <a:xfrm>
            <a:off x="822960" y="3703320"/>
            <a:ext cx="10607040" cy="694944"/>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800" b="1" dirty="0">
                <a:solidFill>
                  <a:srgbClr val="0F172A"/>
                </a:solidFill>
                <a:latin typeface="Aptos" pitchFamily="34" charset="0"/>
                <a:ea typeface="Aptos" pitchFamily="34" charset="-122"/>
                <a:cs typeface="Aptos" pitchFamily="34" charset="-120"/>
              </a:rPr>
              <a:t>The alignment problem appears when the first box does not faithfully capture the third box.</a:t>
            </a:r>
            <a:endParaRPr lang="en-US" sz="1800" dirty="0"/>
          </a:p>
        </p:txBody>
      </p:sp>
      <p:sp>
        <p:nvSpPr>
          <p:cNvPr id="12" name="Text 10"/>
          <p:cNvSpPr/>
          <p:nvPr/>
        </p:nvSpPr>
        <p:spPr>
          <a:xfrm>
            <a:off x="822960" y="4617720"/>
            <a:ext cx="10607040" cy="749808"/>
          </a:xfrm>
          <a:prstGeom prst="rect">
            <a:avLst/>
          </a:prstGeom>
          <a:solidFill>
            <a:srgbClr val="FEE2E2"/>
          </a:solidFill>
          <a:ln w="12700">
            <a:solidFill>
              <a:srgbClr val="FCA5A5"/>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Classic warning: with powerful optimizers, you may get exactly what you asked for and not what you meant.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The chapter calls this the King Midas problem: getting exactly what was specified can be disastrous.</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Why rules are not enough</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Trying to list every acceptable and unacceptable action is almost hopeless in open worlds.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 society has tried to write loophole-free rules for centuries without success.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 sufficiently capable optimizer may find unexpected loopholes.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It is better for the system to learn and respect values than to merely search for loopholes around rules.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Learning human preferences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Imitation learning</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Inverse reinforcement learning</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Learns policies from observed behavior.</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Works when demonstrations are reliable.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May copy human mistakes and bad habits.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Infers the objective behind behavior.</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Can improve beyond demonstrations.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Hard in complex social settings with uncertain preferences.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Observing behavior is evidence about values, not a perfect window into values.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Assistance games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The AI acts under uncertainty about human preferences and should behave cautiously.</a:t>
            </a:r>
            <a:endParaRPr lang="en-US" sz="1450" dirty="0"/>
          </a:p>
        </p:txBody>
      </p:sp>
      <p:sp>
        <p:nvSpPr>
          <p:cNvPr id="6" name="Text 4"/>
          <p:cNvSpPr/>
          <p:nvPr/>
        </p:nvSpPr>
        <p:spPr>
          <a:xfrm>
            <a:off x="822960" y="2148840"/>
            <a:ext cx="2468880" cy="109728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650" b="1" dirty="0">
                <a:solidFill>
                  <a:srgbClr val="0F172A"/>
                </a:solidFill>
                <a:latin typeface="Aptos" pitchFamily="34" charset="0"/>
                <a:ea typeface="Aptos" pitchFamily="34" charset="-122"/>
                <a:cs typeface="Aptos" pitchFamily="34" charset="-120"/>
              </a:rPr>
              <a:t>Human has</a:t>
            </a:r>
            <a:endParaRPr lang="en-US" sz="1650" dirty="0"/>
          </a:p>
          <a:p>
            <a:pPr algn="ctr" indent="0" marL="0">
              <a:buNone/>
            </a:pPr>
            <a:r>
              <a:rPr lang="en-US" sz="1650" b="1" dirty="0">
                <a:solidFill>
                  <a:srgbClr val="0F172A"/>
                </a:solidFill>
                <a:latin typeface="Aptos" pitchFamily="34" charset="0"/>
                <a:ea typeface="Aptos" pitchFamily="34" charset="-122"/>
                <a:cs typeface="Aptos" pitchFamily="34" charset="-120"/>
              </a:rPr>
              <a:t>preferences</a:t>
            </a:r>
            <a:endParaRPr lang="en-US" sz="1650" dirty="0"/>
          </a:p>
        </p:txBody>
      </p:sp>
      <p:sp>
        <p:nvSpPr>
          <p:cNvPr id="7" name="Text 5"/>
          <p:cNvSpPr/>
          <p:nvPr/>
        </p:nvSpPr>
        <p:spPr>
          <a:xfrm>
            <a:off x="4800600" y="2148840"/>
            <a:ext cx="2560320" cy="109728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650" b="1" dirty="0">
                <a:solidFill>
                  <a:srgbClr val="0F172A"/>
                </a:solidFill>
                <a:latin typeface="Aptos" pitchFamily="34" charset="0"/>
                <a:ea typeface="Aptos" pitchFamily="34" charset="-122"/>
                <a:cs typeface="Aptos" pitchFamily="34" charset="-120"/>
              </a:rPr>
              <a:t>AI is uncertain</a:t>
            </a:r>
            <a:endParaRPr lang="en-US" sz="1650" dirty="0"/>
          </a:p>
          <a:p>
            <a:pPr algn="ctr" indent="0" marL="0">
              <a:buNone/>
            </a:pPr>
            <a:r>
              <a:rPr lang="en-US" sz="1650" b="1" dirty="0">
                <a:solidFill>
                  <a:srgbClr val="0F172A"/>
                </a:solidFill>
                <a:latin typeface="Aptos" pitchFamily="34" charset="0"/>
                <a:ea typeface="Aptos" pitchFamily="34" charset="-122"/>
                <a:cs typeface="Aptos" pitchFamily="34" charset="-120"/>
              </a:rPr>
              <a:t>about them</a:t>
            </a:r>
            <a:endParaRPr lang="en-US" sz="1650" dirty="0"/>
          </a:p>
        </p:txBody>
      </p:sp>
      <p:sp>
        <p:nvSpPr>
          <p:cNvPr id="8" name="Text 6"/>
          <p:cNvSpPr/>
          <p:nvPr/>
        </p:nvSpPr>
        <p:spPr>
          <a:xfrm>
            <a:off x="8823960" y="2148840"/>
            <a:ext cx="2560320" cy="1097280"/>
          </a:xfrm>
          <a:prstGeom prst="rect">
            <a:avLst/>
          </a:prstGeom>
          <a:solidFill>
            <a:srgbClr val="F3E8FF"/>
          </a:solidFill>
          <a:ln w="15240">
            <a:solidFill>
              <a:srgbClr val="C084FC"/>
            </a:solidFill>
          </a:ln>
        </p:spPr>
        <p:txBody>
          <a:bodyPr wrap="square" lIns="1270" tIns="1270" rIns="1270" bIns="1270" rtlCol="0" anchor="ctr">
            <a:normAutofit/>
          </a:bodyPr>
          <a:lstStyle/>
          <a:p>
            <a:pPr algn="ctr" indent="0" marL="0">
              <a:buNone/>
            </a:pPr>
            <a:r>
              <a:rPr lang="en-US" sz="1550" b="1" dirty="0">
                <a:solidFill>
                  <a:srgbClr val="0F172A"/>
                </a:solidFill>
                <a:latin typeface="Aptos" pitchFamily="34" charset="0"/>
                <a:ea typeface="Aptos" pitchFamily="34" charset="-122"/>
                <a:cs typeface="Aptos" pitchFamily="34" charset="-120"/>
              </a:rPr>
              <a:t>AI asks, observes,</a:t>
            </a:r>
            <a:endParaRPr lang="en-US" sz="1550" dirty="0"/>
          </a:p>
          <a:p>
            <a:pPr algn="ctr" indent="0" marL="0">
              <a:buNone/>
            </a:pPr>
            <a:r>
              <a:rPr lang="en-US" sz="1550" b="1" dirty="0">
                <a:solidFill>
                  <a:srgbClr val="0F172A"/>
                </a:solidFill>
                <a:latin typeface="Aptos" pitchFamily="34" charset="0"/>
                <a:ea typeface="Aptos" pitchFamily="34" charset="-122"/>
                <a:cs typeface="Aptos" pitchFamily="34" charset="-120"/>
              </a:rPr>
              <a:t>and acts cautiously</a:t>
            </a:r>
            <a:endParaRPr lang="en-US" sz="1550" dirty="0"/>
          </a:p>
        </p:txBody>
      </p:sp>
      <p:sp>
        <p:nvSpPr>
          <p:cNvPr id="9" name="Shape 7"/>
          <p:cNvSpPr/>
          <p:nvPr/>
        </p:nvSpPr>
        <p:spPr>
          <a:xfrm>
            <a:off x="3310128" y="2697480"/>
            <a:ext cx="1298448" cy="0"/>
          </a:xfrm>
          <a:prstGeom prst="line">
            <a:avLst/>
          </a:prstGeom>
          <a:noFill/>
          <a:ln w="27940">
            <a:solidFill>
              <a:srgbClr val="334155"/>
            </a:solidFill>
            <a:prstDash val="solid"/>
            <a:tailEnd type="triangle"/>
          </a:ln>
        </p:spPr>
      </p:sp>
      <p:sp>
        <p:nvSpPr>
          <p:cNvPr id="10" name="Shape 8"/>
          <p:cNvSpPr/>
          <p:nvPr/>
        </p:nvSpPr>
        <p:spPr>
          <a:xfrm>
            <a:off x="7388352" y="2697480"/>
            <a:ext cx="1298448" cy="0"/>
          </a:xfrm>
          <a:prstGeom prst="line">
            <a:avLst/>
          </a:prstGeom>
          <a:noFill/>
          <a:ln w="27940">
            <a:solidFill>
              <a:srgbClr val="334155"/>
            </a:solidFill>
            <a:prstDash val="solid"/>
            <a:tailEnd type="triangle"/>
          </a:ln>
        </p:spPr>
      </p:sp>
      <p:sp>
        <p:nvSpPr>
          <p:cNvPr id="11" name="Text 9"/>
          <p:cNvSpPr/>
          <p:nvPr/>
        </p:nvSpPr>
        <p:spPr>
          <a:xfrm>
            <a:off x="822960" y="3794760"/>
            <a:ext cx="10607040" cy="786384"/>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Aptos" pitchFamily="34" charset="0"/>
                <a:ea typeface="Aptos" pitchFamily="34" charset="-122"/>
                <a:cs typeface="Aptos" pitchFamily="34" charset="-120"/>
              </a:rPr>
              <a:t>Assistance games formalize a central safety idea: uncertainty about human values should make the system more deferential.</a:t>
            </a:r>
            <a:endParaRPr lang="en-US" sz="1750" dirty="0"/>
          </a:p>
        </p:txBody>
      </p:sp>
      <p:sp>
        <p:nvSpPr>
          <p:cNvPr id="12" name="Text 10"/>
          <p:cNvSpPr/>
          <p:nvPr/>
        </p:nvSpPr>
        <p:spPr>
          <a:xfrm>
            <a:off x="822960" y="4800600"/>
            <a:ext cx="1060704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Asking questions is part of safe behavior when the consequences of acting are hard to predict.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Aptos" pitchFamily="34" charset="0"/>
                <a:ea typeface="Aptos" pitchFamily="34" charset="-122"/>
                <a:cs typeface="Aptos" pitchFamily="34" charset="-120"/>
              </a:rPr>
              <a:t>Takeaway: Useful strategies include asking questions, preserving options, and avoiding irreversible harm.</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Human imperfections matter</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Humans may approve actions without understanding long-term consequences.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Humans do not always know their own preferences clearly.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Humans lie, cheat, make mistakes, and take self-destructive actions.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systems should understand these imperfections without copying them.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Fear of loss of control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Some technologists and scientists worry that highly capable AI could evolve beyond human control.</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concern is not only intelligence but rapid self-improvement and strategic capability.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Human society has mixed success controlling powerful non-human institutions such as nations and corporations.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could be harder if it improves faster than governance can adapt.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Intelligence explosion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I. J. Good proposed that an ultraintelligent machine could design even better machines.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This could create an intelligence explosion in which human intelligence is left behind.</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key caveat is control: the first ultraintelligent machine must be docile enough to help us keep it under control.</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idea motivates alignment and governance research even if timelines are uncertain.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Singularity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Why some expect it</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Why others doubt timing</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Computing and some technologies have grown rapidly.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AI could automate research and development.</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Self-improvement might compound progress.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Technologies often follow S-shaped curves.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Physical-world progress requires experiments, resources, and institutions.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Not every problem is solved by thinking faster.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Separate possibility from timeline confidence.</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Transhumanism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Transhumanism welcomes a future in which humans merge with or are transformed by technology.</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Optimists imagine extended life, enhanced cognition, and greater control over human fate.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Critics worry about destructive capability, inequality, identity, and the preservation of human values.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chapter frames this as a challenge for moral theories centered on human life and species continuity.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Lab: AI safety case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27.3.7</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build a safety case for a simple AI agent.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Choose an agent: delivery robot, medical triage assistant, hiring screener, or classroom tutor.</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Identify three failure modes, one reward hacking risk, and one misuse risk.</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Propose mitigations, monitoring, and a shutdown or human handoff condition.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Safety case slide: hazard, cause, consequence, mitigation, evidence.</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Require evidence, not only intentions.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27.3.7</a:t>
            </a:r>
            <a:endParaRPr lang="en-US" sz="78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Chapter notes</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Bibliographic and historical trail</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Aptos" pitchFamily="34" charset="0"/>
                <a:ea typeface="Aptos" pitchFamily="34" charset="-122"/>
                <a:cs typeface="Aptos" pitchFamily="34" charset="-120"/>
              </a:rPr>
              <a:t>The chapter links AI ethics and safety to a long history of philosophy, engineering, fiction, and policy.</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Aptos" pitchFamily="34" charset="0"/>
                <a:ea typeface="Aptos" pitchFamily="34" charset="-122"/>
                <a:cs typeface="Aptos" pitchFamily="34" charset="-120"/>
              </a:rPr>
              <a:t>- Turing, Dreyfus, Searle, Penrose</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Asimov, Wiener, O Neill, Bostrom</a:t>
            </a:r>
            <a:endParaRPr lang="en-US" sz="1847" dirty="0"/>
          </a:p>
          <a:p>
            <a:pPr indent="0" marL="0">
              <a:buNone/>
            </a:pPr>
            <a:r>
              <a:rPr lang="en-US" sz="1847" dirty="0">
                <a:solidFill>
                  <a:srgbClr val="FFFFFF"/>
                </a:solidFill>
                <a:latin typeface="Aptos" pitchFamily="34" charset="0"/>
                <a:ea typeface="Aptos" pitchFamily="34" charset="-122"/>
                <a:cs typeface="Aptos" pitchFamily="34" charset="-120"/>
              </a:rPr>
              <a:t>- Privacy, fairness, XAI, and safety toolkits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Use the references to show students that today debates have deep roots.</a:t>
            </a:r>
            <a:endParaRPr lang="en-US" sz="16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Philosophy reading trail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Chapter notes</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Minds and machines</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Consciousness and cognition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Turing on computing machinery and intelligence.</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Searle on the Chinese room.</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Dreyfus on embodied skill and limits of rule-based AI.</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Penrose and Lucas on mathematical objections.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Global workspace and integrated information theories.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Embodied cognition and situated agents.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Neuroscience collaborations on consciousness.</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Questions of qualia and subjective experience.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Use this slide for optional seminar readings or paper topics.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Chapter notes</a:t>
            </a:r>
            <a:endParaRPr lang="en-US" sz="78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Ethics and safety reading trail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Chapter notes</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Ethics and society</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Safety and governance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Asimov and robot ethics in fiction.</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Wiener on feedback and specification risk.</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O Neill on black-box models and social harm.</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AI principles from organizations and governments.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Aptos" pitchFamily="34" charset="0"/>
                <a:ea typeface="Aptos" pitchFamily="34" charset="-122"/>
                <a:cs typeface="Aptos" pitchFamily="34" charset="-120"/>
              </a:rPr>
              <a:t>- Dwork on differential privacy.</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Fairness, Accountability, and Transparency research.</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Bostrom and others on existential risk.</a:t>
            </a:r>
            <a:endParaRPr lang="en-US" sz="1845" dirty="0"/>
          </a:p>
          <a:p>
            <a:pPr indent="0" marL="0">
              <a:buNone/>
            </a:pPr>
            <a:r>
              <a:rPr lang="en-US" sz="1845" dirty="0">
                <a:solidFill>
                  <a:srgbClr val="172033"/>
                </a:solidFill>
                <a:latin typeface="Aptos" pitchFamily="34" charset="0"/>
                <a:ea typeface="Aptos" pitchFamily="34" charset="-122"/>
                <a:cs typeface="Aptos" pitchFamily="34" charset="-120"/>
              </a:rPr>
              <a:t>- Ostrom on commons governance and externalities.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Aptos" pitchFamily="34" charset="0"/>
                <a:ea typeface="Aptos" pitchFamily="34" charset="-122"/>
                <a:cs typeface="Aptos" pitchFamily="34" charset="-120"/>
              </a:rPr>
              <a:t>Students can connect references to the section they found most important.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Chapter notes</a:t>
            </a:r>
            <a:endParaRPr lang="en-US" sz="78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Chapter synthesis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Summary</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Weak AI concerns intelligent behavior; strong AI concerns actual minds or broad human-level intelligence.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The Turing test is historically important, but practical AI evaluation usually focuses on task performance.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Consciousness remains unresolved, but AI systems still need models of human experience when interacting with people.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ethics covers weapons, privacy, fairness, transparency, work, and robot rights.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AI safety focuses on preventing harm through design, testing, alignment, and governance.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Summary</a:t>
            </a:r>
            <a:endParaRPr lang="en-US" sz="78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Key contrasts to remember</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Summary</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746" dirty="0">
                <a:solidFill>
                  <a:srgbClr val="172033"/>
                </a:solidFill>
                <a:latin typeface="Aptos" pitchFamily="34" charset="0"/>
                <a:ea typeface="Aptos" pitchFamily="34" charset="-122"/>
                <a:cs typeface="Aptos" pitchFamily="34" charset="-120"/>
              </a:rPr>
              <a:t>- Capability vs consciousness.</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Rules vs learned behavior.</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Individual fairness vs group fairness.</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Explanation vs interpretability vs audit.</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Correctness vs safety.</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Specified objective vs human values.</a:t>
            </a:r>
            <a:endParaRPr lang="en-US" sz="17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Summary</a:t>
            </a:r>
            <a:endParaRPr lang="en-US" sz="78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Capstone discussion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Summary</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Aptos" pitchFamily="34" charset="0"/>
                <a:ea typeface="Aptos" pitchFamily="34" charset="-122"/>
                <a:cs typeface="Aptos" pitchFamily="34" charset="-120"/>
              </a:rPr>
              <a:t>Students integrate philosophy, ethics, and safety in one design scenario.</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Design an AI system for a university setting: advising, tutoring, admissions, grading, or security.</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Identify one philosophical issue, two ethics risks, and two safety risks.</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Propose governance: human oversight, testing, audit, transparency, and feedback.</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Deliverable: A final mini-presentation or memo that argues whether the system should be deployed.</a:t>
            </a:r>
            <a:endParaRPr lang="en-US" sz="1520" dirty="0"/>
          </a:p>
          <a:p>
            <a:pPr indent="0" marL="0">
              <a:buNone/>
            </a:pPr>
            <a:r>
              <a:rPr lang="en-US" sz="1520" b="1" dirty="0">
                <a:solidFill>
                  <a:srgbClr val="0F172A"/>
                </a:solidFill>
                <a:latin typeface="Aptos" pitchFamily="34" charset="0"/>
                <a:ea typeface="Aptos" pitchFamily="34" charset="-122"/>
                <a:cs typeface="Aptos" pitchFamily="34" charset="-120"/>
              </a:rPr>
              <a:t>Focus: The best answers discuss tradeoffs rather than claiming risk can be eliminated.</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Summary</a:t>
            </a:r>
            <a:endParaRPr lang="en-US" sz="78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Exam-style review prompts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Review</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746" dirty="0">
                <a:solidFill>
                  <a:srgbClr val="172033"/>
                </a:solidFill>
                <a:latin typeface="Aptos" pitchFamily="34" charset="0"/>
                <a:ea typeface="Aptos" pitchFamily="34" charset="-122"/>
                <a:cs typeface="Aptos" pitchFamily="34" charset="-120"/>
              </a:rPr>
              <a:t>- Explain weak AI and strong AI, then give an example where the distinction matters.</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Use the Chinese room to argue for or against the claim that symbol manipulation is understanding.</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Compare k-anonymity, differential privacy, and federated learning.</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Explain why COMPAS can be calibrated and still raise fairness concerns.</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Describe a reward hacking scenario and propose a mitigation.</a:t>
            </a:r>
            <a:endParaRPr lang="en-US" sz="1746" dirty="0"/>
          </a:p>
          <a:p>
            <a:pPr indent="0" marL="0">
              <a:buNone/>
            </a:pPr>
            <a:r>
              <a:rPr lang="en-US" sz="1746" dirty="0">
                <a:solidFill>
                  <a:srgbClr val="172033"/>
                </a:solidFill>
                <a:latin typeface="Aptos" pitchFamily="34" charset="0"/>
                <a:ea typeface="Aptos" pitchFamily="34" charset="-122"/>
                <a:cs typeface="Aptos" pitchFamily="34" charset="-120"/>
              </a:rPr>
              <a:t>- Explain value alignment in terms of objective functions and human preferences.</a:t>
            </a:r>
            <a:endParaRPr lang="en-US" sz="17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Review</a:t>
            </a:r>
            <a:endParaRPr lang="en-US" sz="78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Suggested lab sequence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Lab plan</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Lab 1: Build and critique a Turing-style chatbot evaluation rubric.</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Lab 2: Perform k-anonymity and differential privacy reasoning on a toy dataset.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Lab 3: Compute fairness metrics and write an audit memo.</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Lab 4: Create an FMEA or fault tree for an AI agent.</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Lab 5: Demonstrate reward hacking in a simple environment and propose a safer reward.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Lab plan</a:t>
            </a:r>
            <a:endParaRPr lang="en-US" sz="78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Responsible AI design commitments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Closing</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Aptos" pitchFamily="34" charset="0"/>
                <a:ea typeface="Aptos" pitchFamily="34" charset="-122"/>
                <a:cs typeface="Aptos" pitchFamily="34" charset="-120"/>
              </a:rPr>
              <a:t>- State the intended use and the non-use cases.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Identify affected stakeholders and potential harms.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Choose metrics that match values, not only convenience.</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Test across subgroups, edge cases, adversarial cases, and deployment conditions.</a:t>
            </a:r>
            <a:endParaRPr lang="en-US" sz="1946" dirty="0"/>
          </a:p>
          <a:p>
            <a:pPr indent="0" marL="0">
              <a:buNone/>
            </a:pPr>
            <a:r>
              <a:rPr lang="en-US" sz="1946" dirty="0">
                <a:solidFill>
                  <a:srgbClr val="172033"/>
                </a:solidFill>
                <a:latin typeface="Aptos" pitchFamily="34" charset="0"/>
                <a:ea typeface="Aptos" pitchFamily="34" charset="-122"/>
                <a:cs typeface="Aptos" pitchFamily="34" charset="-120"/>
              </a:rPr>
              <a:t>- Provide transparency, accountability, feedback loops, and human handoff when needed.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Aptos" pitchFamily="34" charset="0"/>
                <a:ea typeface="Aptos" pitchFamily="34" charset="-122"/>
                <a:cs typeface="Aptos" pitchFamily="34" charset="-120"/>
              </a:rPr>
              <a:t>Close by asking: What would you refuse to build, and why?</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Closing</a:t>
            </a:r>
            <a:endParaRPr lang="en-US" sz="78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Aptos Display" pitchFamily="34" charset="0"/>
                <a:ea typeface="Aptos Display" pitchFamily="34" charset="-122"/>
                <a:cs typeface="Aptos Display" pitchFamily="34" charset="-120"/>
              </a:rPr>
              <a:t>Source and image credits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Aptos" pitchFamily="34" charset="0"/>
                <a:ea typeface="Aptos" pitchFamily="34" charset="-122"/>
                <a:cs typeface="Aptos" pitchFamily="34" charset="-120"/>
              </a:rPr>
              <a:t>Credits</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450" dirty="0">
                <a:solidFill>
                  <a:srgbClr val="172033"/>
                </a:solidFill>
                <a:latin typeface="Aptos" pitchFamily="34" charset="0"/>
                <a:ea typeface="Aptos" pitchFamily="34" charset="-122"/>
                <a:cs typeface="Aptos" pitchFamily="34" charset="-120"/>
              </a:rPr>
              <a:t>- Primary chapter content: uploaded Chapter 27 document, Philosophy, Ethics, and Safety of AI.</a:t>
            </a:r>
            <a:endParaRPr lang="en-US" sz="1450" dirty="0"/>
          </a:p>
          <a:p>
            <a:pPr indent="0" marL="0">
              <a:buNone/>
            </a:pPr>
            <a:r>
              <a:rPr lang="en-US" sz="1450" dirty="0">
                <a:solidFill>
                  <a:srgbClr val="172033"/>
                </a:solidFill>
                <a:latin typeface="Aptos" pitchFamily="34" charset="0"/>
                <a:ea typeface="Aptos" pitchFamily="34" charset="-122"/>
                <a:cs typeface="Aptos" pitchFamily="34" charset="-120"/>
              </a:rPr>
              <a:t>- Images used from Wikimedia Commons: Datacenter.jpg; CCTV_Cameras.png; Robot_worker.jpg; Waymo_self-driving_car_rear_three-quarter_view.gk.jpg; Spying_quadcopter.jpg.</a:t>
            </a:r>
            <a:endParaRPr lang="en-US" sz="1450" dirty="0"/>
          </a:p>
          <a:p>
            <a:pPr indent="0" marL="0">
              <a:buNone/>
            </a:pPr>
            <a:r>
              <a:rPr lang="en-US" sz="1450" dirty="0">
                <a:solidFill>
                  <a:srgbClr val="172033"/>
                </a:solidFill>
                <a:latin typeface="Aptos" pitchFamily="34" charset="0"/>
                <a:ea typeface="Aptos" pitchFamily="34" charset="-122"/>
                <a:cs typeface="Aptos" pitchFamily="34" charset="-120"/>
              </a:rPr>
              <a:t>- Images are used as lecture visuals; verify institutional licensing and attribution requirements before public distribution.</a:t>
            </a:r>
            <a:endParaRPr lang="en-US" sz="1450" dirty="0"/>
          </a:p>
          <a:p>
            <a:pPr indent="0" marL="0">
              <a:buNone/>
            </a:pPr>
            <a:r>
              <a:rPr lang="en-US" sz="1450" dirty="0">
                <a:solidFill>
                  <a:srgbClr val="172033"/>
                </a:solidFill>
                <a:latin typeface="Aptos" pitchFamily="34" charset="0"/>
                <a:ea typeface="Aptos" pitchFamily="34" charset="-122"/>
                <a:cs typeface="Aptos" pitchFamily="34" charset="-120"/>
              </a:rPr>
              <a:t>- Deck content is paraphrased and organized for instruction, with added teaching prompts and lab activities.</a:t>
            </a:r>
            <a:endParaRPr lang="en-US" sz="1450"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Aptos" pitchFamily="34" charset="0"/>
                <a:ea typeface="Aptos" pitchFamily="34" charset="-122"/>
                <a:cs typeface="Aptos"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Aptos" pitchFamily="34" charset="0"/>
                <a:ea typeface="Aptos" pitchFamily="34" charset="-122"/>
                <a:cs typeface="Aptos" pitchFamily="34" charset="-120"/>
              </a:rPr>
              <a:t>Credits</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144</Slides>
  <Notes>144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144</vt:i4>
      </vt:variant>
    </vt:vector>
  </HeadingPairs>
  <TitlesOfParts>
    <vt:vector size="1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Philosophy, Ethics, and Safety of AI</dc:title>
  <dc:subject>COMP 469 - Chapter 27 lecture deck</dc:subject>
  <dc:creator>OpenAI</dc:creator>
  <cp:lastModifiedBy>OpenAI</cp:lastModifiedBy>
  <cp:revision>1</cp:revision>
  <dcterms:created xsi:type="dcterms:W3CDTF">2026-06-14T02:40:46Z</dcterms:created>
  <dcterms:modified xsi:type="dcterms:W3CDTF">2026-06-14T02:40:46Z</dcterms:modified>
</cp:coreProperties>
</file>