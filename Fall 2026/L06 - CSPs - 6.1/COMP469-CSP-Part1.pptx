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Two-hour session. Open by naming the shift: for four weeks we have treated the world as a path-finding problem. Today the goal stops being a path and becomes an assignment. Housekeeping first (2 min), then start the clock on the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Anchor the unit. Emphasize the last bullet on the right early and often - students consistently leave this unit believing filtering makes CSPs tractable. It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the break time out loud and hold to it. Two checkpoints are built in - one before the break, one near the end - keep them; they are where the modeling actually 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Read outcome 1 and 4 aloud; those are the two that show up on the exam in a form students cannot pattern-match.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Worth spending real time here. The rest of the course is these four assumptions being removed one at a time, and students who see that structure early do markedly better in the second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Ask the room for one of each before revealing. Good probe: is Sudoku a planning problem? Students say yes because they solve it in an order - the order is scratch work, not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15 minutes for this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The judge-versus-statute framing is the one students remember. Push it: if you know the law, you can tell you have broken it before the trial ends - which means you can abandon a doomed plan halfway through. That single idea is the entire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Write the triple on the board and leave it up for the rest of the hour. Every modeling exercise today is answered by filling in these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Consistent-but-partial is the concept that makes early pruning legal, and it is the one students blur. Make them say it back: an assignment can be perfectly consistent and still doomed.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for this block including the checkpoint. Modeling is the skill that transfers; the algorithms are commodity.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Running example for the rest of the lecture and for the textbook. Nine binary constraints - count them on the graph with the class so nobody is guessing later during the AC-3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Worth stating plainly: a constraint is a subset of a cross product. Students who internalize that stop asking whether some exotic rule counts as a constraint.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Point at Tasmania and ask what a solver that does not notice it will do - it will re-color Tasmania inside every single mainland branch. That is a factor-of-three waste on a toy graph and catastrophic on a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Let the class find the bug themselves - ask what the all-zero board scores. Somebody always gets it, and it lands far harder than being told.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Same lesson as the 8-puzzle state encoding in Chapter 3. Say it explicitly: modeling decisions routinely beat algorithmic ones by more orders of magnitude than anything we will cover after the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Introduce alldiff as a genuine higher-order constraint and note it can be decomposed into pairwise not-equals - but that the decomposition is strictly weaker for propagation, which is a preview of why we will care about arity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Ask who pencils in candidate lists in the margins. Those pencil marks are literally the filtered domains we implement in forty minutes - naming that connection is the single best hook in this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Historical color, and a useful counterweight to the assumption that all perception is learned. Keep it brief; do not get pulled into a vision tangent.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Use a local example - the campus timetable, or a rotation the students may have worked. Making it concrete is what stops this from feeling like a puzzle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Do not linger. The only durable point is d^n and the fact that SAT sits inside the top row, which is the source of the NP-hardness we return to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Say the binary-arity warning out loud even though it is on the slide. It is a reliable exam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 min including the report-out. Collect two competing formulations on the board and compare their space sizes out loud - it recreates the N-Queens lesson with a problem they own. Then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to ten minutes. Reset the Australia graph on the board during the break - you will draw on it continuously for the next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for this part. Start by asking the class how they would solve the Australia map by hand - somebody will describe backtracking without naming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Stress that path cost is meaningless here. Anyone reaching for uniform-cost search or A* on a CSP has misread the problem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This is the quantitative motivation for fix number one. Do the 7! arithmetic on the board - eleven million versus two thousand is a number they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Demo opportunity: the Berkeley coloring DFS demo, or just trace it on the board. Make sure the phrase refusing to look at information it already has lands - it is the setup for both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Both fixes are free - no domain knowledge, no tuning. Emphasize the soundness argument for fix 2; it is the only place in this unit where pruning is provably lossless.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Walk the recursion once by hand. Point out that the two red lines are stubs today and become MRV and LCV in an hour, and that filtering slots in just after the add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Trace it live rather than reading it. Ask what naive DFS does at the first X - four more levels of pointless expansion under an assignment that was dead on arrival.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The contrast with A* heuristics matters: there, every new domain meant designing a new heuristic. Here the same three techniques transfer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minutes. The core of the lecture. Keep the Australia graph visible on the board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Walk the two rows one variable at a time and let the class call out which squares disappear. If a domain ever empties, back out immediately - no need to try assigning it. Do not reveal the NT/SA problem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Let the class find it. Ask what is wrong with the last row and wait - somebody will spot the two blues. That discovery is what motivates arc consistency, so do not hand it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Delete from the tail is the single most missed detail on the exam. Say it, write it on the board, and repeat it during every worked arc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Do these on the board against the live domains rather than reading them. The SA/NSW pair is the one that proves direction matters - make students predict the second one before you reveal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Step 4's direction is the other reliable exam error. Draw it: the arc that needs rechecking points at the shrunken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Walk the queue mechanics slowly. The two red lines are the whole algorithm: fail on an empty domain, and re-queue inbound arcs. Everything else is bookkeeping.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Draw the triangle and make the class verify each pairwise arc themselves. This is the slide that stops students believing filtering solves CSPs, and it recurs on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Run the Berkeley coloring demos back to back here if you have them - FC then AC on the same graph. The visual difference in how far domains shrink is worth more than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minutes. Both heuristics sit on top of whatever filtering is running - they need the filtered domains to be useful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Rush into the scary door - you have to open every door anyway, so open the one most likely to be locked while the cost of finding out is still low. Note the dependency on filtering; MRV without maintained domains does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If students remember one sentence from the ordering section, make it the last line. Ask them to explain why the asymmetry is not a contradiction - that question appears verbatim on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25 to 1000 queens from techniques that each fit on one slide. That is the headline number for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Do not let the 1000-queens number leave students thinking CSPs are easy. This slide is the corrective, and it echoes the point made on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 min including the board walk. Expect the SA arc to be the sticking point. Watch for anyone deleting from the head and correct it in front of the room - it is the most common error carried into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Read only the bold labels aloud and let the deck carry the detail. This slide is the study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Say the node-count requirement out loud - measuring the effect of each feature is the point of the programming assignment, not just getting a solver that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E21"/>
        </a:solidFill>
      </p:bgPr>
    </p:bg>
    <p:spTree>
      <p:nvGrpSpPr>
        <p:cNvPr id="1" name=""/>
        <p:cNvGrpSpPr/>
        <p:nvPr/>
      </p:nvGrpSpPr>
      <p:grpSpPr>
        <a:xfrm>
          <a:off x="0" y="0"/>
          <a:ext cx="0" cy="0"/>
          <a:chOff x="0" y="0"/>
          <a:chExt cx="0" cy="0"/>
        </a:xfrm>
      </p:grpSpPr>
      <p:sp>
        <p:nvSpPr>
          <p:cNvPr id="2" name="Shape 0"/>
          <p:cNvSpPr/>
          <p:nvPr/>
        </p:nvSpPr>
        <p:spPr>
          <a:xfrm>
            <a:off x="0" y="0"/>
            <a:ext cx="914" cy="914"/>
          </a:xfrm>
          <a:prstGeom prst="rect">
            <a:avLst/>
          </a:prstGeom>
          <a:solidFill>
            <a:srgbClr val="1C1E21"/>
          </a:solidFill>
          <a:ln/>
        </p:spPr>
      </p:sp>
      <p:sp>
        <p:nvSpPr>
          <p:cNvPr id="3" name="Text 1"/>
          <p:cNvSpPr/>
          <p:nvPr/>
        </p:nvSpPr>
        <p:spPr>
          <a:xfrm>
            <a:off x="640080" y="1234440"/>
            <a:ext cx="10908792" cy="411480"/>
          </a:xfrm>
          <a:prstGeom prst="rect">
            <a:avLst/>
          </a:prstGeom>
          <a:noFill/>
          <a:ln/>
        </p:spPr>
        <p:txBody>
          <a:bodyPr wrap="square" lIns="0" tIns="0" rIns="0" bIns="0" rtlCol="0" anchor="ctr"/>
          <a:lstStyle/>
          <a:p>
            <a:pPr indent="0" marL="0">
              <a:buNone/>
            </a:pPr>
            <a:r>
              <a:rPr lang="en-US" sz="1700" b="1" spc="300" kern="0" dirty="0">
                <a:solidFill>
                  <a:srgbClr val="CB132A"/>
                </a:solidFill>
                <a:latin typeface="Calibri" pitchFamily="34" charset="0"/>
                <a:ea typeface="Calibri" pitchFamily="34" charset="-122"/>
                <a:cs typeface="Calibri" pitchFamily="34" charset="-120"/>
              </a:rPr>
              <a:t>COMP 469</a:t>
            </a:r>
            <a:endParaRPr lang="en-US" sz="1700" dirty="0"/>
          </a:p>
        </p:txBody>
      </p:sp>
      <p:sp>
        <p:nvSpPr>
          <p:cNvPr id="4" name="Text 2"/>
          <p:cNvSpPr/>
          <p:nvPr/>
        </p:nvSpPr>
        <p:spPr>
          <a:xfrm>
            <a:off x="640080" y="1627632"/>
            <a:ext cx="10908792" cy="365760"/>
          </a:xfrm>
          <a:prstGeom prst="rect">
            <a:avLst/>
          </a:prstGeom>
          <a:noFill/>
          <a:ln/>
        </p:spPr>
        <p:txBody>
          <a:bodyPr wrap="square" lIns="0" tIns="0" rIns="0" bIns="0" rtlCol="0" anchor="ctr"/>
          <a:lstStyle/>
          <a:p>
            <a:pPr indent="0" marL="0">
              <a:buNone/>
            </a:pPr>
            <a:r>
              <a:rPr lang="en-US" sz="1500" dirty="0">
                <a:solidFill>
                  <a:srgbClr val="B9BDC1"/>
                </a:solidFill>
                <a:latin typeface="Calibri" pitchFamily="34" charset="0"/>
                <a:ea typeface="Calibri" pitchFamily="34" charset="-122"/>
                <a:cs typeface="Calibri" pitchFamily="34" charset="-120"/>
              </a:rPr>
              <a:t>Introduction to Artificial Intelligence</a:t>
            </a:r>
            <a:endParaRPr lang="en-US" sz="1500" dirty="0"/>
          </a:p>
        </p:txBody>
      </p:sp>
      <p:sp>
        <p:nvSpPr>
          <p:cNvPr id="5" name="Text 3"/>
          <p:cNvSpPr/>
          <p:nvPr/>
        </p:nvSpPr>
        <p:spPr>
          <a:xfrm>
            <a:off x="640080" y="2212848"/>
            <a:ext cx="7863840" cy="1737360"/>
          </a:xfrm>
          <a:prstGeom prst="rect">
            <a:avLst/>
          </a:prstGeom>
          <a:noFill/>
          <a:ln/>
        </p:spPr>
        <p:txBody>
          <a:bodyPr wrap="square" lIns="0" tIns="0" rIns="0" bIns="0" rtlCol="0" anchor="ctr"/>
          <a:lstStyle/>
          <a:p>
            <a:pPr indent="0" marL="0">
              <a:lnSpc>
                <a:spcPct val="95000"/>
              </a:lnSpc>
              <a:buNone/>
            </a:pPr>
            <a:r>
              <a:rPr lang="en-US" sz="4800" b="1" dirty="0">
                <a:solidFill>
                  <a:srgbClr val="FFFFFF"/>
                </a:solidFill>
                <a:latin typeface="Cambria" pitchFamily="34" charset="0"/>
                <a:ea typeface="Cambria" pitchFamily="34" charset="-122"/>
                <a:cs typeface="Cambria" pitchFamily="34" charset="-120"/>
              </a:rPr>
              <a:t>Constraint Satisfaction</a:t>
            </a:r>
            <a:endParaRPr lang="en-US" sz="4800" dirty="0"/>
          </a:p>
          <a:p>
            <a:pPr indent="0" marL="0">
              <a:lnSpc>
                <a:spcPct val="95000"/>
              </a:lnSpc>
              <a:buNone/>
            </a:pPr>
            <a:r>
              <a:rPr lang="en-US" sz="4800" b="1" dirty="0">
                <a:solidFill>
                  <a:srgbClr val="FFFFFF"/>
                </a:solidFill>
                <a:latin typeface="Cambria" pitchFamily="34" charset="0"/>
                <a:ea typeface="Cambria" pitchFamily="34" charset="-122"/>
                <a:cs typeface="Cambria" pitchFamily="34" charset="-120"/>
              </a:rPr>
              <a:t>Problems</a:t>
            </a:r>
            <a:endParaRPr lang="en-US" sz="4800" dirty="0"/>
          </a:p>
        </p:txBody>
      </p:sp>
      <p:sp>
        <p:nvSpPr>
          <p:cNvPr id="6" name="Text 4"/>
          <p:cNvSpPr/>
          <p:nvPr/>
        </p:nvSpPr>
        <p:spPr>
          <a:xfrm>
            <a:off x="640080" y="4041648"/>
            <a:ext cx="8229600" cy="365760"/>
          </a:xfrm>
          <a:prstGeom prst="rect">
            <a:avLst/>
          </a:prstGeom>
          <a:noFill/>
          <a:ln/>
        </p:spPr>
        <p:txBody>
          <a:bodyPr wrap="square" lIns="0" tIns="0" rIns="0" bIns="0" rtlCol="0" anchor="ctr"/>
          <a:lstStyle/>
          <a:p>
            <a:pPr indent="0" marL="0">
              <a:buNone/>
            </a:pPr>
            <a:r>
              <a:rPr lang="en-US" sz="1700" i="1" dirty="0">
                <a:solidFill>
                  <a:srgbClr val="9FA4A9"/>
                </a:solidFill>
                <a:latin typeface="Calibri" pitchFamily="34" charset="0"/>
                <a:ea typeface="Calibri" pitchFamily="34" charset="-122"/>
                <a:cs typeface="Calibri" pitchFamily="34" charset="-120"/>
              </a:rPr>
              <a:t>Part I: modeling, backtracking, filtering, and ordering</a:t>
            </a:r>
            <a:endParaRPr lang="en-US" sz="1700" dirty="0"/>
          </a:p>
        </p:txBody>
      </p:sp>
      <p:sp>
        <p:nvSpPr>
          <p:cNvPr id="7" name="Text 5"/>
          <p:cNvSpPr/>
          <p:nvPr/>
        </p:nvSpPr>
        <p:spPr>
          <a:xfrm>
            <a:off x="640080" y="5029200"/>
            <a:ext cx="8229600" cy="7315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California State University Channel Islands</a:t>
            </a:r>
            <a:endParaRPr lang="en-US" sz="1250" dirty="0"/>
          </a:p>
          <a:p>
            <a:pPr indent="0" marL="0">
              <a:buNone/>
            </a:pPr>
            <a:r>
              <a:rPr lang="en-US" sz="1250" dirty="0">
                <a:solidFill>
                  <a:srgbClr val="9FA4A9"/>
                </a:solidFill>
                <a:latin typeface="Calibri" pitchFamily="34" charset="0"/>
                <a:ea typeface="Calibri" pitchFamily="34" charset="-122"/>
                <a:cs typeface="Calibri" pitchFamily="34" charset="-120"/>
              </a:rPr>
              <a:t>Fall 2026  ·  Two-hour session  ·  Russell &amp; Norvig, AIMA 4e, Chapter 6.1 - 6.3</a:t>
            </a:r>
            <a:endParaRPr lang="en-US" sz="1250" dirty="0"/>
          </a:p>
        </p:txBody>
      </p:sp>
      <p:sp>
        <p:nvSpPr>
          <p:cNvPr id="8" name="Text 6"/>
          <p:cNvSpPr/>
          <p:nvPr/>
        </p:nvSpPr>
        <p:spPr>
          <a:xfrm>
            <a:off x="640080" y="5897880"/>
            <a:ext cx="8686800" cy="548640"/>
          </a:xfrm>
          <a:prstGeom prst="rect">
            <a:avLst/>
          </a:prstGeom>
          <a:noFill/>
          <a:ln/>
        </p:spPr>
        <p:txBody>
          <a:bodyPr wrap="square" lIns="0" tIns="0" rIns="0" bIns="0" rtlCol="0" anchor="ctr"/>
          <a:lstStyle/>
          <a:p>
            <a:pPr indent="0" marL="0">
              <a:buNone/>
            </a:pPr>
            <a:r>
              <a:rPr lang="en-US" sz="950" i="1" dirty="0">
                <a:solidFill>
                  <a:srgbClr val="6E7378"/>
                </a:solidFill>
                <a:latin typeface="Calibri" pitchFamily="34" charset="0"/>
                <a:ea typeface="Calibri" pitchFamily="34" charset="-122"/>
                <a:cs typeface="Calibri" pitchFamily="34" charset="-120"/>
              </a:rPr>
              <a:t>Adapted in part from UC Berkeley CS 188 (Dan Klein &amp; Pieter Abbeel, ai.berkeley.edu),</a:t>
            </a:r>
            <a:endParaRPr lang="en-US" sz="950" dirty="0"/>
          </a:p>
          <a:p>
            <a:pPr indent="0" marL="0">
              <a:buNone/>
            </a:pPr>
            <a:r>
              <a:rPr lang="en-US" sz="950" i="1" dirty="0">
                <a:solidFill>
                  <a:srgbClr val="6E7378"/>
                </a:solidFill>
                <a:latin typeface="Calibri" pitchFamily="34" charset="0"/>
                <a:ea typeface="Calibri" pitchFamily="34" charset="-122"/>
                <a:cs typeface="Calibri" pitchFamily="34" charset="-120"/>
              </a:rPr>
              <a:t>used under their open courseware terms.</a:t>
            </a:r>
            <a:endParaRPr lang="en-US" sz="950" dirty="0"/>
          </a:p>
        </p:txBody>
      </p:sp>
      <p:sp>
        <p:nvSpPr>
          <p:cNvPr id="9" name="Shape 7"/>
          <p:cNvSpPr/>
          <p:nvPr/>
        </p:nvSpPr>
        <p:spPr>
          <a:xfrm>
            <a:off x="10104120" y="2331720"/>
            <a:ext cx="457200" cy="457200"/>
          </a:xfrm>
          <a:prstGeom prst="rect">
            <a:avLst/>
          </a:prstGeom>
          <a:solidFill>
            <a:srgbClr val="C0392B"/>
          </a:solidFill>
          <a:ln w="12700">
            <a:solidFill>
              <a:srgbClr val="C0392B"/>
            </a:solidFill>
            <a:prstDash val="solid"/>
          </a:ln>
        </p:spPr>
      </p:sp>
      <p:sp>
        <p:nvSpPr>
          <p:cNvPr id="10" name="Shape 8"/>
          <p:cNvSpPr/>
          <p:nvPr/>
        </p:nvSpPr>
        <p:spPr>
          <a:xfrm>
            <a:off x="10671048" y="2331720"/>
            <a:ext cx="457200" cy="457200"/>
          </a:xfrm>
          <a:prstGeom prst="rect">
            <a:avLst/>
          </a:prstGeom>
          <a:solidFill>
            <a:srgbClr val="2E8B45"/>
          </a:solidFill>
          <a:ln w="12700">
            <a:solidFill>
              <a:srgbClr val="2E8B45"/>
            </a:solidFill>
            <a:prstDash val="solid"/>
          </a:ln>
        </p:spPr>
      </p:sp>
      <p:sp>
        <p:nvSpPr>
          <p:cNvPr id="11" name="Shape 9"/>
          <p:cNvSpPr/>
          <p:nvPr/>
        </p:nvSpPr>
        <p:spPr>
          <a:xfrm>
            <a:off x="11237976" y="2331720"/>
            <a:ext cx="457200" cy="457200"/>
          </a:xfrm>
          <a:prstGeom prst="rect">
            <a:avLst/>
          </a:prstGeom>
          <a:solidFill>
            <a:srgbClr val="2A62C4"/>
          </a:solidFill>
          <a:ln w="12700">
            <a:solidFill>
              <a:srgbClr val="2A62C4"/>
            </a:solidFill>
            <a:prstDash val="solid"/>
          </a:ln>
        </p:spPr>
      </p:sp>
      <p:sp>
        <p:nvSpPr>
          <p:cNvPr id="12" name="Text 10"/>
          <p:cNvSpPr/>
          <p:nvPr/>
        </p:nvSpPr>
        <p:spPr>
          <a:xfrm>
            <a:off x="9326880" y="2944368"/>
            <a:ext cx="2697480" cy="548640"/>
          </a:xfrm>
          <a:prstGeom prst="rect">
            <a:avLst/>
          </a:prstGeom>
          <a:noFill/>
          <a:ln/>
        </p:spPr>
        <p:txBody>
          <a:bodyPr wrap="square" lIns="0" tIns="0" rIns="0" bIns="0" rtlCol="0" anchor="ctr"/>
          <a:lstStyle/>
          <a:p>
            <a:pPr algn="ctr" indent="0" marL="0">
              <a:buNone/>
            </a:pPr>
            <a:r>
              <a:rPr lang="en-US" sz="1000" i="1" dirty="0">
                <a:solidFill>
                  <a:srgbClr val="6E7378"/>
                </a:solidFill>
                <a:latin typeface="Calibri" pitchFamily="34" charset="0"/>
                <a:ea typeface="Calibri" pitchFamily="34" charset="-122"/>
                <a:cs typeface="Calibri" pitchFamily="34" charset="-120"/>
              </a:rPr>
              <a:t>a variable, and what it is still allowed to be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Where this sits in the course</a:t>
            </a:r>
            <a:endParaRPr lang="en-US" sz="3200" dirty="0"/>
          </a:p>
        </p:txBody>
      </p:sp>
      <p:sp>
        <p:nvSpPr>
          <p:cNvPr id="5" name="Shape 3"/>
          <p:cNvSpPr/>
          <p:nvPr/>
        </p:nvSpPr>
        <p:spPr>
          <a:xfrm>
            <a:off x="640080" y="1783080"/>
            <a:ext cx="1673352" cy="1371600"/>
          </a:xfrm>
          <a:prstGeom prst="roundRect">
            <a:avLst>
              <a:gd name="adj" fmla="val 4000"/>
            </a:avLst>
          </a:prstGeom>
          <a:solidFill>
            <a:srgbClr val="F6F7F8"/>
          </a:solidFill>
          <a:ln w="9525">
            <a:solidFill>
              <a:srgbClr val="D3D6D9"/>
            </a:solidFill>
            <a:prstDash val="solid"/>
          </a:ln>
        </p:spPr>
      </p:sp>
      <p:sp>
        <p:nvSpPr>
          <p:cNvPr id="6" name="Text 4"/>
          <p:cNvSpPr/>
          <p:nvPr/>
        </p:nvSpPr>
        <p:spPr>
          <a:xfrm>
            <a:off x="640080" y="1920240"/>
            <a:ext cx="1673352" cy="274320"/>
          </a:xfrm>
          <a:prstGeom prst="rect">
            <a:avLst/>
          </a:prstGeom>
          <a:noFill/>
          <a:ln/>
        </p:spPr>
        <p:txBody>
          <a:bodyPr wrap="square" lIns="0" tIns="0" rIns="0" bIns="0" rtlCol="0" anchor="ctr"/>
          <a:lstStyle/>
          <a:p>
            <a:pPr algn="ctr" indent="0" marL="0">
              <a:buNone/>
            </a:pPr>
            <a:r>
              <a:rPr lang="en-US" sz="1100" b="1" dirty="0">
                <a:solidFill>
                  <a:srgbClr val="7C8085"/>
                </a:solidFill>
                <a:latin typeface="Calibri" pitchFamily="34" charset="0"/>
                <a:ea typeface="Calibri" pitchFamily="34" charset="-122"/>
                <a:cs typeface="Calibri" pitchFamily="34" charset="-120"/>
              </a:rPr>
              <a:t>Ch. 2</a:t>
            </a:r>
            <a:endParaRPr lang="en-US" sz="1100" dirty="0"/>
          </a:p>
        </p:txBody>
      </p:sp>
      <p:sp>
        <p:nvSpPr>
          <p:cNvPr id="7" name="Text 5"/>
          <p:cNvSpPr/>
          <p:nvPr/>
        </p:nvSpPr>
        <p:spPr>
          <a:xfrm>
            <a:off x="731520" y="2212848"/>
            <a:ext cx="1490472" cy="685800"/>
          </a:xfrm>
          <a:prstGeom prst="rect">
            <a:avLst/>
          </a:prstGeom>
          <a:noFill/>
          <a:ln/>
        </p:spPr>
        <p:txBody>
          <a:bodyPr wrap="square" lIns="0" tIns="0" rIns="0" bIns="0" rtlCol="0" anchor="t"/>
          <a:lstStyle/>
          <a:p>
            <a:pPr algn="ctr" indent="0" marL="0">
              <a:buNone/>
            </a:pPr>
            <a:r>
              <a:rPr lang="en-US" sz="1350" b="1" dirty="0">
                <a:solidFill>
                  <a:srgbClr val="1C1E21"/>
                </a:solidFill>
                <a:latin typeface="Calibri" pitchFamily="34" charset="0"/>
                <a:ea typeface="Calibri" pitchFamily="34" charset="-122"/>
                <a:cs typeface="Calibri" pitchFamily="34" charset="-120"/>
              </a:rPr>
              <a:t>Rational agents</a:t>
            </a:r>
            <a:endParaRPr lang="en-US" sz="1350" dirty="0"/>
          </a:p>
        </p:txBody>
      </p:sp>
      <p:sp>
        <p:nvSpPr>
          <p:cNvPr id="8" name="Text 6"/>
          <p:cNvSpPr/>
          <p:nvPr/>
        </p:nvSpPr>
        <p:spPr>
          <a:xfrm>
            <a:off x="640080" y="2816352"/>
            <a:ext cx="1673352" cy="256032"/>
          </a:xfrm>
          <a:prstGeom prst="rect">
            <a:avLst/>
          </a:prstGeom>
          <a:noFill/>
          <a:ln/>
        </p:spPr>
        <p:txBody>
          <a:bodyPr wrap="square" lIns="0" tIns="0" rIns="0" bIns="0" rtlCol="0" anchor="ctr"/>
          <a:lstStyle/>
          <a:p>
            <a:pPr algn="ctr" indent="0" marL="0">
              <a:buNone/>
            </a:pPr>
            <a:r>
              <a:rPr lang="en-US" sz="950" i="1" dirty="0">
                <a:solidFill>
                  <a:srgbClr val="7C8085"/>
                </a:solidFill>
                <a:latin typeface="Calibri" pitchFamily="34" charset="0"/>
                <a:ea typeface="Calibri" pitchFamily="34" charset="-122"/>
                <a:cs typeface="Calibri" pitchFamily="34" charset="-120"/>
              </a:rPr>
              <a:t>covered</a:t>
            </a:r>
            <a:endParaRPr lang="en-US" sz="950" dirty="0"/>
          </a:p>
        </p:txBody>
      </p:sp>
      <p:sp>
        <p:nvSpPr>
          <p:cNvPr id="9" name="Shape 7"/>
          <p:cNvSpPr/>
          <p:nvPr/>
        </p:nvSpPr>
        <p:spPr>
          <a:xfrm>
            <a:off x="2487168" y="1783080"/>
            <a:ext cx="1673352" cy="1371600"/>
          </a:xfrm>
          <a:prstGeom prst="roundRect">
            <a:avLst>
              <a:gd name="adj" fmla="val 4000"/>
            </a:avLst>
          </a:prstGeom>
          <a:solidFill>
            <a:srgbClr val="F6F7F8"/>
          </a:solidFill>
          <a:ln w="9525">
            <a:solidFill>
              <a:srgbClr val="D3D6D9"/>
            </a:solidFill>
            <a:prstDash val="solid"/>
          </a:ln>
        </p:spPr>
      </p:sp>
      <p:sp>
        <p:nvSpPr>
          <p:cNvPr id="10" name="Text 8"/>
          <p:cNvSpPr/>
          <p:nvPr/>
        </p:nvSpPr>
        <p:spPr>
          <a:xfrm>
            <a:off x="2487168" y="1920240"/>
            <a:ext cx="1673352" cy="274320"/>
          </a:xfrm>
          <a:prstGeom prst="rect">
            <a:avLst/>
          </a:prstGeom>
          <a:noFill/>
          <a:ln/>
        </p:spPr>
        <p:txBody>
          <a:bodyPr wrap="square" lIns="0" tIns="0" rIns="0" bIns="0" rtlCol="0" anchor="ctr"/>
          <a:lstStyle/>
          <a:p>
            <a:pPr algn="ctr" indent="0" marL="0">
              <a:buNone/>
            </a:pPr>
            <a:r>
              <a:rPr lang="en-US" sz="1100" b="1" dirty="0">
                <a:solidFill>
                  <a:srgbClr val="7C8085"/>
                </a:solidFill>
                <a:latin typeface="Calibri" pitchFamily="34" charset="0"/>
                <a:ea typeface="Calibri" pitchFamily="34" charset="-122"/>
                <a:cs typeface="Calibri" pitchFamily="34" charset="-120"/>
              </a:rPr>
              <a:t>Ch. 3</a:t>
            </a:r>
            <a:endParaRPr lang="en-US" sz="1100" dirty="0"/>
          </a:p>
        </p:txBody>
      </p:sp>
      <p:sp>
        <p:nvSpPr>
          <p:cNvPr id="11" name="Text 9"/>
          <p:cNvSpPr/>
          <p:nvPr/>
        </p:nvSpPr>
        <p:spPr>
          <a:xfrm>
            <a:off x="2578608" y="2212848"/>
            <a:ext cx="1490472" cy="685800"/>
          </a:xfrm>
          <a:prstGeom prst="rect">
            <a:avLst/>
          </a:prstGeom>
          <a:noFill/>
          <a:ln/>
        </p:spPr>
        <p:txBody>
          <a:bodyPr wrap="square" lIns="0" tIns="0" rIns="0" bIns="0" rtlCol="0" anchor="t"/>
          <a:lstStyle/>
          <a:p>
            <a:pPr algn="ctr" indent="0" marL="0">
              <a:buNone/>
            </a:pPr>
            <a:r>
              <a:rPr lang="en-US" sz="1350" b="1" dirty="0">
                <a:solidFill>
                  <a:srgbClr val="1C1E21"/>
                </a:solidFill>
                <a:latin typeface="Calibri" pitchFamily="34" charset="0"/>
                <a:ea typeface="Calibri" pitchFamily="34" charset="-122"/>
                <a:cs typeface="Calibri" pitchFamily="34" charset="-120"/>
              </a:rPr>
              <a:t>Uninformed search</a:t>
            </a:r>
            <a:endParaRPr lang="en-US" sz="1350" dirty="0"/>
          </a:p>
        </p:txBody>
      </p:sp>
      <p:sp>
        <p:nvSpPr>
          <p:cNvPr id="12" name="Text 10"/>
          <p:cNvSpPr/>
          <p:nvPr/>
        </p:nvSpPr>
        <p:spPr>
          <a:xfrm>
            <a:off x="2487168" y="2816352"/>
            <a:ext cx="1673352" cy="256032"/>
          </a:xfrm>
          <a:prstGeom prst="rect">
            <a:avLst/>
          </a:prstGeom>
          <a:noFill/>
          <a:ln/>
        </p:spPr>
        <p:txBody>
          <a:bodyPr wrap="square" lIns="0" tIns="0" rIns="0" bIns="0" rtlCol="0" anchor="ctr"/>
          <a:lstStyle/>
          <a:p>
            <a:pPr algn="ctr" indent="0" marL="0">
              <a:buNone/>
            </a:pPr>
            <a:r>
              <a:rPr lang="en-US" sz="950" i="1" dirty="0">
                <a:solidFill>
                  <a:srgbClr val="7C8085"/>
                </a:solidFill>
                <a:latin typeface="Calibri" pitchFamily="34" charset="0"/>
                <a:ea typeface="Calibri" pitchFamily="34" charset="-122"/>
                <a:cs typeface="Calibri" pitchFamily="34" charset="-120"/>
              </a:rPr>
              <a:t>covered</a:t>
            </a:r>
            <a:endParaRPr lang="en-US" sz="950" dirty="0"/>
          </a:p>
        </p:txBody>
      </p:sp>
      <p:sp>
        <p:nvSpPr>
          <p:cNvPr id="13" name="Shape 11"/>
          <p:cNvSpPr/>
          <p:nvPr/>
        </p:nvSpPr>
        <p:spPr>
          <a:xfrm>
            <a:off x="4334256" y="1783080"/>
            <a:ext cx="1673352" cy="1371600"/>
          </a:xfrm>
          <a:prstGeom prst="roundRect">
            <a:avLst>
              <a:gd name="adj" fmla="val 4000"/>
            </a:avLst>
          </a:prstGeom>
          <a:solidFill>
            <a:srgbClr val="F6F7F8"/>
          </a:solidFill>
          <a:ln w="9525">
            <a:solidFill>
              <a:srgbClr val="D3D6D9"/>
            </a:solidFill>
            <a:prstDash val="solid"/>
          </a:ln>
        </p:spPr>
      </p:sp>
      <p:sp>
        <p:nvSpPr>
          <p:cNvPr id="14" name="Text 12"/>
          <p:cNvSpPr/>
          <p:nvPr/>
        </p:nvSpPr>
        <p:spPr>
          <a:xfrm>
            <a:off x="4334256" y="1920240"/>
            <a:ext cx="1673352" cy="274320"/>
          </a:xfrm>
          <a:prstGeom prst="rect">
            <a:avLst/>
          </a:prstGeom>
          <a:noFill/>
          <a:ln/>
        </p:spPr>
        <p:txBody>
          <a:bodyPr wrap="square" lIns="0" tIns="0" rIns="0" bIns="0" rtlCol="0" anchor="ctr"/>
          <a:lstStyle/>
          <a:p>
            <a:pPr algn="ctr" indent="0" marL="0">
              <a:buNone/>
            </a:pPr>
            <a:r>
              <a:rPr lang="en-US" sz="1100" b="1" dirty="0">
                <a:solidFill>
                  <a:srgbClr val="7C8085"/>
                </a:solidFill>
                <a:latin typeface="Calibri" pitchFamily="34" charset="0"/>
                <a:ea typeface="Calibri" pitchFamily="34" charset="-122"/>
                <a:cs typeface="Calibri" pitchFamily="34" charset="-120"/>
              </a:rPr>
              <a:t>Ch. 3-4</a:t>
            </a:r>
            <a:endParaRPr lang="en-US" sz="1100" dirty="0"/>
          </a:p>
        </p:txBody>
      </p:sp>
      <p:sp>
        <p:nvSpPr>
          <p:cNvPr id="15" name="Text 13"/>
          <p:cNvSpPr/>
          <p:nvPr/>
        </p:nvSpPr>
        <p:spPr>
          <a:xfrm>
            <a:off x="4425696" y="2212848"/>
            <a:ext cx="1490472" cy="685800"/>
          </a:xfrm>
          <a:prstGeom prst="rect">
            <a:avLst/>
          </a:prstGeom>
          <a:noFill/>
          <a:ln/>
        </p:spPr>
        <p:txBody>
          <a:bodyPr wrap="square" lIns="0" tIns="0" rIns="0" bIns="0" rtlCol="0" anchor="t"/>
          <a:lstStyle/>
          <a:p>
            <a:pPr algn="ctr" indent="0" marL="0">
              <a:buNone/>
            </a:pPr>
            <a:r>
              <a:rPr lang="en-US" sz="1350" b="1" dirty="0">
                <a:solidFill>
                  <a:srgbClr val="1C1E21"/>
                </a:solidFill>
                <a:latin typeface="Calibri" pitchFamily="34" charset="0"/>
                <a:ea typeface="Calibri" pitchFamily="34" charset="-122"/>
                <a:cs typeface="Calibri" pitchFamily="34" charset="-120"/>
              </a:rPr>
              <a:t>Informed search, A*</a:t>
            </a:r>
            <a:endParaRPr lang="en-US" sz="1350" dirty="0"/>
          </a:p>
        </p:txBody>
      </p:sp>
      <p:sp>
        <p:nvSpPr>
          <p:cNvPr id="16" name="Text 14"/>
          <p:cNvSpPr/>
          <p:nvPr/>
        </p:nvSpPr>
        <p:spPr>
          <a:xfrm>
            <a:off x="4334256" y="2816352"/>
            <a:ext cx="1673352" cy="256032"/>
          </a:xfrm>
          <a:prstGeom prst="rect">
            <a:avLst/>
          </a:prstGeom>
          <a:noFill/>
          <a:ln/>
        </p:spPr>
        <p:txBody>
          <a:bodyPr wrap="square" lIns="0" tIns="0" rIns="0" bIns="0" rtlCol="0" anchor="ctr"/>
          <a:lstStyle/>
          <a:p>
            <a:pPr algn="ctr" indent="0" marL="0">
              <a:buNone/>
            </a:pPr>
            <a:r>
              <a:rPr lang="en-US" sz="950" i="1" dirty="0">
                <a:solidFill>
                  <a:srgbClr val="7C8085"/>
                </a:solidFill>
                <a:latin typeface="Calibri" pitchFamily="34" charset="0"/>
                <a:ea typeface="Calibri" pitchFamily="34" charset="-122"/>
                <a:cs typeface="Calibri" pitchFamily="34" charset="-120"/>
              </a:rPr>
              <a:t>covered</a:t>
            </a:r>
            <a:endParaRPr lang="en-US" sz="950" dirty="0"/>
          </a:p>
        </p:txBody>
      </p:sp>
      <p:sp>
        <p:nvSpPr>
          <p:cNvPr id="17" name="Shape 15"/>
          <p:cNvSpPr/>
          <p:nvPr/>
        </p:nvSpPr>
        <p:spPr>
          <a:xfrm>
            <a:off x="6181344" y="1783080"/>
            <a:ext cx="1673352" cy="1371600"/>
          </a:xfrm>
          <a:prstGeom prst="roundRect">
            <a:avLst>
              <a:gd name="adj" fmla="val 4000"/>
            </a:avLst>
          </a:prstGeom>
          <a:solidFill>
            <a:srgbClr val="F6F7F8"/>
          </a:solidFill>
          <a:ln w="9525">
            <a:solidFill>
              <a:srgbClr val="D3D6D9"/>
            </a:solidFill>
            <a:prstDash val="solid"/>
          </a:ln>
        </p:spPr>
      </p:sp>
      <p:sp>
        <p:nvSpPr>
          <p:cNvPr id="18" name="Text 16"/>
          <p:cNvSpPr/>
          <p:nvPr/>
        </p:nvSpPr>
        <p:spPr>
          <a:xfrm>
            <a:off x="6181344" y="1920240"/>
            <a:ext cx="1673352" cy="274320"/>
          </a:xfrm>
          <a:prstGeom prst="rect">
            <a:avLst/>
          </a:prstGeom>
          <a:noFill/>
          <a:ln/>
        </p:spPr>
        <p:txBody>
          <a:bodyPr wrap="square" lIns="0" tIns="0" rIns="0" bIns="0" rtlCol="0" anchor="ctr"/>
          <a:lstStyle/>
          <a:p>
            <a:pPr algn="ctr" indent="0" marL="0">
              <a:buNone/>
            </a:pPr>
            <a:r>
              <a:rPr lang="en-US" sz="1100" b="1" dirty="0">
                <a:solidFill>
                  <a:srgbClr val="7C8085"/>
                </a:solidFill>
                <a:latin typeface="Calibri" pitchFamily="34" charset="0"/>
                <a:ea typeface="Calibri" pitchFamily="34" charset="-122"/>
                <a:cs typeface="Calibri" pitchFamily="34" charset="-120"/>
              </a:rPr>
              <a:t>Ch. 4</a:t>
            </a:r>
            <a:endParaRPr lang="en-US" sz="1100" dirty="0"/>
          </a:p>
        </p:txBody>
      </p:sp>
      <p:sp>
        <p:nvSpPr>
          <p:cNvPr id="19" name="Text 17"/>
          <p:cNvSpPr/>
          <p:nvPr/>
        </p:nvSpPr>
        <p:spPr>
          <a:xfrm>
            <a:off x="6272784" y="2212848"/>
            <a:ext cx="1490472" cy="685800"/>
          </a:xfrm>
          <a:prstGeom prst="rect">
            <a:avLst/>
          </a:prstGeom>
          <a:noFill/>
          <a:ln/>
        </p:spPr>
        <p:txBody>
          <a:bodyPr wrap="square" lIns="0" tIns="0" rIns="0" bIns="0" rtlCol="0" anchor="t"/>
          <a:lstStyle/>
          <a:p>
            <a:pPr algn="ctr" indent="0" marL="0">
              <a:buNone/>
            </a:pPr>
            <a:r>
              <a:rPr lang="en-US" sz="1350" b="1" dirty="0">
                <a:solidFill>
                  <a:srgbClr val="1C1E21"/>
                </a:solidFill>
                <a:latin typeface="Calibri" pitchFamily="34" charset="0"/>
                <a:ea typeface="Calibri" pitchFamily="34" charset="-122"/>
                <a:cs typeface="Calibri" pitchFamily="34" charset="-120"/>
              </a:rPr>
              <a:t>Local search</a:t>
            </a:r>
            <a:endParaRPr lang="en-US" sz="1350" dirty="0"/>
          </a:p>
        </p:txBody>
      </p:sp>
      <p:sp>
        <p:nvSpPr>
          <p:cNvPr id="20" name="Text 18"/>
          <p:cNvSpPr/>
          <p:nvPr/>
        </p:nvSpPr>
        <p:spPr>
          <a:xfrm>
            <a:off x="6181344" y="2816352"/>
            <a:ext cx="1673352" cy="256032"/>
          </a:xfrm>
          <a:prstGeom prst="rect">
            <a:avLst/>
          </a:prstGeom>
          <a:noFill/>
          <a:ln/>
        </p:spPr>
        <p:txBody>
          <a:bodyPr wrap="square" lIns="0" tIns="0" rIns="0" bIns="0" rtlCol="0" anchor="ctr"/>
          <a:lstStyle/>
          <a:p>
            <a:pPr algn="ctr" indent="0" marL="0">
              <a:buNone/>
            </a:pPr>
            <a:r>
              <a:rPr lang="en-US" sz="950" i="1" dirty="0">
                <a:solidFill>
                  <a:srgbClr val="7C8085"/>
                </a:solidFill>
                <a:latin typeface="Calibri" pitchFamily="34" charset="0"/>
                <a:ea typeface="Calibri" pitchFamily="34" charset="-122"/>
                <a:cs typeface="Calibri" pitchFamily="34" charset="-120"/>
              </a:rPr>
              <a:t>covered</a:t>
            </a:r>
            <a:endParaRPr lang="en-US" sz="950" dirty="0"/>
          </a:p>
        </p:txBody>
      </p:sp>
      <p:sp>
        <p:nvSpPr>
          <p:cNvPr id="21" name="Shape 19"/>
          <p:cNvSpPr/>
          <p:nvPr/>
        </p:nvSpPr>
        <p:spPr>
          <a:xfrm>
            <a:off x="8028432" y="1783080"/>
            <a:ext cx="1673352" cy="1371600"/>
          </a:xfrm>
          <a:prstGeom prst="roundRect">
            <a:avLst>
              <a:gd name="adj" fmla="val 4000"/>
            </a:avLst>
          </a:prstGeom>
          <a:solidFill>
            <a:srgbClr val="CB132A"/>
          </a:solidFill>
          <a:ln w="9525">
            <a:solidFill>
              <a:srgbClr val="CB132A"/>
            </a:solidFill>
            <a:prstDash val="solid"/>
          </a:ln>
        </p:spPr>
      </p:sp>
      <p:sp>
        <p:nvSpPr>
          <p:cNvPr id="22" name="Text 20"/>
          <p:cNvSpPr/>
          <p:nvPr/>
        </p:nvSpPr>
        <p:spPr>
          <a:xfrm>
            <a:off x="8028432" y="1920240"/>
            <a:ext cx="1673352" cy="274320"/>
          </a:xfrm>
          <a:prstGeom prst="rect">
            <a:avLst/>
          </a:prstGeom>
          <a:noFill/>
          <a:ln/>
        </p:spPr>
        <p:txBody>
          <a:bodyPr wrap="square" lIns="0" tIns="0" rIns="0" bIns="0" rtlCol="0" anchor="ctr"/>
          <a:lstStyle/>
          <a:p>
            <a:pPr algn="ctr" indent="0" marL="0">
              <a:buNone/>
            </a:pPr>
            <a:r>
              <a:rPr lang="en-US" sz="1100" b="1" dirty="0">
                <a:solidFill>
                  <a:srgbClr val="FFD9DD"/>
                </a:solidFill>
                <a:latin typeface="Calibri" pitchFamily="34" charset="0"/>
                <a:ea typeface="Calibri" pitchFamily="34" charset="-122"/>
                <a:cs typeface="Calibri" pitchFamily="34" charset="-120"/>
              </a:rPr>
              <a:t>Ch. 6</a:t>
            </a:r>
            <a:endParaRPr lang="en-US" sz="1100" dirty="0"/>
          </a:p>
        </p:txBody>
      </p:sp>
      <p:sp>
        <p:nvSpPr>
          <p:cNvPr id="23" name="Text 21"/>
          <p:cNvSpPr/>
          <p:nvPr/>
        </p:nvSpPr>
        <p:spPr>
          <a:xfrm>
            <a:off x="8119872" y="2212848"/>
            <a:ext cx="1490472" cy="685800"/>
          </a:xfrm>
          <a:prstGeom prst="rect">
            <a:avLst/>
          </a:prstGeom>
          <a:noFill/>
          <a:ln/>
        </p:spPr>
        <p:txBody>
          <a:bodyPr wrap="square" lIns="0" tIns="0" rIns="0" bIns="0" rtlCol="0" anchor="t"/>
          <a:lstStyle/>
          <a:p>
            <a:pPr algn="ctr" indent="0" marL="0">
              <a:buNone/>
            </a:pPr>
            <a:r>
              <a:rPr lang="en-US" sz="1350" b="1" dirty="0">
                <a:solidFill>
                  <a:srgbClr val="FFFFFF"/>
                </a:solidFill>
                <a:latin typeface="Calibri" pitchFamily="34" charset="0"/>
                <a:ea typeface="Calibri" pitchFamily="34" charset="-122"/>
                <a:cs typeface="Calibri" pitchFamily="34" charset="-120"/>
              </a:rPr>
              <a:t>Constraint satisfaction</a:t>
            </a:r>
            <a:endParaRPr lang="en-US" sz="1350" dirty="0"/>
          </a:p>
        </p:txBody>
      </p:sp>
      <p:sp>
        <p:nvSpPr>
          <p:cNvPr id="24" name="Text 22"/>
          <p:cNvSpPr/>
          <p:nvPr/>
        </p:nvSpPr>
        <p:spPr>
          <a:xfrm>
            <a:off x="8028432" y="2816352"/>
            <a:ext cx="1673352" cy="256032"/>
          </a:xfrm>
          <a:prstGeom prst="rect">
            <a:avLst/>
          </a:prstGeom>
          <a:noFill/>
          <a:ln/>
        </p:spPr>
        <p:txBody>
          <a:bodyPr wrap="square" lIns="0" tIns="0" rIns="0" bIns="0" rtlCol="0" anchor="ctr"/>
          <a:lstStyle/>
          <a:p>
            <a:pPr algn="ctr" indent="0" marL="0">
              <a:buNone/>
            </a:pPr>
            <a:r>
              <a:rPr lang="en-US" sz="950" b="1" dirty="0">
                <a:solidFill>
                  <a:srgbClr val="FFD9DD"/>
                </a:solidFill>
                <a:latin typeface="Calibri" pitchFamily="34" charset="0"/>
                <a:ea typeface="Calibri" pitchFamily="34" charset="-122"/>
                <a:cs typeface="Calibri" pitchFamily="34" charset="-120"/>
              </a:rPr>
              <a:t>TODAY</a:t>
            </a:r>
            <a:endParaRPr lang="en-US" sz="950" dirty="0"/>
          </a:p>
        </p:txBody>
      </p:sp>
      <p:sp>
        <p:nvSpPr>
          <p:cNvPr id="25" name="Shape 23"/>
          <p:cNvSpPr/>
          <p:nvPr/>
        </p:nvSpPr>
        <p:spPr>
          <a:xfrm>
            <a:off x="9875520" y="1783080"/>
            <a:ext cx="1673352" cy="1371600"/>
          </a:xfrm>
          <a:prstGeom prst="roundRect">
            <a:avLst>
              <a:gd name="adj" fmla="val 4000"/>
            </a:avLst>
          </a:prstGeom>
          <a:solidFill>
            <a:srgbClr val="F6F7F8"/>
          </a:solidFill>
          <a:ln w="9525">
            <a:solidFill>
              <a:srgbClr val="D3D6D9"/>
            </a:solidFill>
            <a:prstDash val="solid"/>
          </a:ln>
        </p:spPr>
      </p:sp>
      <p:sp>
        <p:nvSpPr>
          <p:cNvPr id="26" name="Text 24"/>
          <p:cNvSpPr/>
          <p:nvPr/>
        </p:nvSpPr>
        <p:spPr>
          <a:xfrm>
            <a:off x="9875520" y="1920240"/>
            <a:ext cx="1673352" cy="274320"/>
          </a:xfrm>
          <a:prstGeom prst="rect">
            <a:avLst/>
          </a:prstGeom>
          <a:noFill/>
          <a:ln/>
        </p:spPr>
        <p:txBody>
          <a:bodyPr wrap="square" lIns="0" tIns="0" rIns="0" bIns="0" rtlCol="0" anchor="ctr"/>
          <a:lstStyle/>
          <a:p>
            <a:pPr algn="ctr" indent="0" marL="0">
              <a:buNone/>
            </a:pPr>
            <a:r>
              <a:rPr lang="en-US" sz="1100" b="1" dirty="0">
                <a:solidFill>
                  <a:srgbClr val="7C8085"/>
                </a:solidFill>
                <a:latin typeface="Calibri" pitchFamily="34" charset="0"/>
                <a:ea typeface="Calibri" pitchFamily="34" charset="-122"/>
                <a:cs typeface="Calibri" pitchFamily="34" charset="-120"/>
              </a:rPr>
              <a:t>Ch. 5</a:t>
            </a:r>
            <a:endParaRPr lang="en-US" sz="1100" dirty="0"/>
          </a:p>
        </p:txBody>
      </p:sp>
      <p:sp>
        <p:nvSpPr>
          <p:cNvPr id="27" name="Text 25"/>
          <p:cNvSpPr/>
          <p:nvPr/>
        </p:nvSpPr>
        <p:spPr>
          <a:xfrm>
            <a:off x="9966960" y="2212848"/>
            <a:ext cx="1490472" cy="685800"/>
          </a:xfrm>
          <a:prstGeom prst="rect">
            <a:avLst/>
          </a:prstGeom>
          <a:noFill/>
          <a:ln/>
        </p:spPr>
        <p:txBody>
          <a:bodyPr wrap="square" lIns="0" tIns="0" rIns="0" bIns="0" rtlCol="0" anchor="t"/>
          <a:lstStyle/>
          <a:p>
            <a:pPr algn="ctr" indent="0" marL="0">
              <a:buNone/>
            </a:pPr>
            <a:r>
              <a:rPr lang="en-US" sz="1350" b="1" dirty="0">
                <a:solidFill>
                  <a:srgbClr val="1C1E21"/>
                </a:solidFill>
                <a:latin typeface="Calibri" pitchFamily="34" charset="0"/>
                <a:ea typeface="Calibri" pitchFamily="34" charset="-122"/>
                <a:cs typeface="Calibri" pitchFamily="34" charset="-120"/>
              </a:rPr>
              <a:t>Adversarial search</a:t>
            </a:r>
            <a:endParaRPr lang="en-US" sz="1350" dirty="0"/>
          </a:p>
        </p:txBody>
      </p:sp>
      <p:sp>
        <p:nvSpPr>
          <p:cNvPr id="28" name="Text 26"/>
          <p:cNvSpPr/>
          <p:nvPr/>
        </p:nvSpPr>
        <p:spPr>
          <a:xfrm>
            <a:off x="9875520" y="2816352"/>
            <a:ext cx="1673352" cy="256032"/>
          </a:xfrm>
          <a:prstGeom prst="rect">
            <a:avLst/>
          </a:prstGeom>
          <a:noFill/>
          <a:ln/>
        </p:spPr>
        <p:txBody>
          <a:bodyPr wrap="square" lIns="0" tIns="0" rIns="0" bIns="0" rtlCol="0" anchor="ctr"/>
          <a:lstStyle/>
          <a:p>
            <a:pPr algn="ctr" indent="0" marL="0">
              <a:buNone/>
            </a:pPr>
            <a:r>
              <a:rPr lang="en-US" sz="950" i="1" dirty="0">
                <a:solidFill>
                  <a:srgbClr val="7C8085"/>
                </a:solidFill>
                <a:latin typeface="Calibri" pitchFamily="34" charset="0"/>
                <a:ea typeface="Calibri" pitchFamily="34" charset="-122"/>
                <a:cs typeface="Calibri" pitchFamily="34" charset="-120"/>
              </a:rPr>
              <a:t>up next</a:t>
            </a:r>
            <a:endParaRPr lang="en-US" sz="950" dirty="0"/>
          </a:p>
        </p:txBody>
      </p:sp>
      <p:sp>
        <p:nvSpPr>
          <p:cNvPr id="29" name="Shape 27"/>
          <p:cNvSpPr/>
          <p:nvPr/>
        </p:nvSpPr>
        <p:spPr>
          <a:xfrm>
            <a:off x="640080" y="3611880"/>
            <a:ext cx="5303520" cy="1965960"/>
          </a:xfrm>
          <a:prstGeom prst="roundRect">
            <a:avLst>
              <a:gd name="adj" fmla="val 2791"/>
            </a:avLst>
          </a:prstGeom>
          <a:solidFill>
            <a:srgbClr val="F6F7F8"/>
          </a:solidFill>
          <a:ln w="9525">
            <a:solidFill>
              <a:srgbClr val="D3D6D9"/>
            </a:solidFill>
            <a:prstDash val="solid"/>
          </a:ln>
        </p:spPr>
      </p:sp>
      <p:sp>
        <p:nvSpPr>
          <p:cNvPr id="30" name="Text 28"/>
          <p:cNvSpPr/>
          <p:nvPr/>
        </p:nvSpPr>
        <p:spPr>
          <a:xfrm>
            <a:off x="896112" y="3794760"/>
            <a:ext cx="484632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What changes today</a:t>
            </a:r>
            <a:endParaRPr lang="en-US" sz="1700" dirty="0"/>
          </a:p>
        </p:txBody>
      </p:sp>
      <p:sp>
        <p:nvSpPr>
          <p:cNvPr id="31" name="Text 29"/>
          <p:cNvSpPr/>
          <p:nvPr/>
        </p:nvSpPr>
        <p:spPr>
          <a:xfrm>
            <a:off x="896112" y="4160520"/>
            <a:ext cx="4846320" cy="13716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C1E21"/>
                </a:solidFill>
                <a:latin typeface="Calibri" pitchFamily="34" charset="0"/>
                <a:ea typeface="Calibri" pitchFamily="34" charset="-122"/>
                <a:cs typeface="Calibri" pitchFamily="34" charset="-120"/>
              </a:rPr>
              <a:t>The state stops being an opaque blob and gains internal structure</a:t>
            </a:r>
            <a:endParaRPr lang="en-US" sz="1350" dirty="0"/>
          </a:p>
          <a:p>
            <a:pPr marL="177800" indent="-177800">
              <a:spcAft>
                <a:spcPts val="800"/>
              </a:spcAft>
              <a:buSzPct val="100000"/>
              <a:buChar char="•"/>
            </a:pPr>
            <a:r>
              <a:rPr lang="en-US" sz="1350" dirty="0">
                <a:solidFill>
                  <a:srgbClr val="1C1E21"/>
                </a:solidFill>
                <a:latin typeface="Calibri" pitchFamily="34" charset="0"/>
                <a:ea typeface="Calibri" pitchFamily="34" charset="-122"/>
                <a:cs typeface="Calibri" pitchFamily="34" charset="-120"/>
              </a:rPr>
              <a:t>The goal test stops being a mystery function and becomes a written-down set of rules</a:t>
            </a:r>
            <a:endParaRPr lang="en-US" sz="1350" dirty="0"/>
          </a:p>
          <a:p>
            <a:pPr marL="177800" indent="-177800">
              <a:spcAft>
                <a:spcPts val="800"/>
              </a:spcAft>
              <a:buSzPct val="100000"/>
              <a:buChar char="•"/>
            </a:pPr>
            <a:r>
              <a:rPr lang="en-US" sz="1350" dirty="0">
                <a:solidFill>
                  <a:srgbClr val="1C1E21"/>
                </a:solidFill>
                <a:latin typeface="Calibri" pitchFamily="34" charset="0"/>
                <a:ea typeface="Calibri" pitchFamily="34" charset="-122"/>
                <a:cs typeface="Calibri" pitchFamily="34" charset="-120"/>
              </a:rPr>
              <a:t>That structure buys us algorithms that plain search cannot use</a:t>
            </a:r>
            <a:endParaRPr lang="en-US" sz="1350" dirty="0"/>
          </a:p>
        </p:txBody>
      </p:sp>
      <p:sp>
        <p:nvSpPr>
          <p:cNvPr id="32" name="Shape 30"/>
          <p:cNvSpPr/>
          <p:nvPr/>
        </p:nvSpPr>
        <p:spPr>
          <a:xfrm>
            <a:off x="6263640" y="3611880"/>
            <a:ext cx="5285232" cy="1965960"/>
          </a:xfrm>
          <a:prstGeom prst="roundRect">
            <a:avLst>
              <a:gd name="adj" fmla="val 2791"/>
            </a:avLst>
          </a:prstGeom>
          <a:solidFill>
            <a:srgbClr val="F6F7F8"/>
          </a:solidFill>
          <a:ln w="9525">
            <a:solidFill>
              <a:srgbClr val="D3D6D9"/>
            </a:solidFill>
            <a:prstDash val="solid"/>
          </a:ln>
        </p:spPr>
      </p:sp>
      <p:sp>
        <p:nvSpPr>
          <p:cNvPr id="33" name="Text 31"/>
          <p:cNvSpPr/>
          <p:nvPr/>
        </p:nvSpPr>
        <p:spPr>
          <a:xfrm>
            <a:off x="6519672" y="3794760"/>
            <a:ext cx="4754880" cy="320040"/>
          </a:xfrm>
          <a:prstGeom prst="rect">
            <a:avLst/>
          </a:prstGeom>
          <a:noFill/>
          <a:ln/>
        </p:spPr>
        <p:txBody>
          <a:bodyPr wrap="square" lIns="0" tIns="0" rIns="0" bIns="0" rtlCol="0" anchor="ctr"/>
          <a:lstStyle/>
          <a:p>
            <a:pPr indent="0" marL="0">
              <a:buNone/>
            </a:pPr>
            <a:r>
              <a:rPr lang="en-US" sz="1700" b="1" dirty="0">
                <a:solidFill>
                  <a:srgbClr val="53565A"/>
                </a:solidFill>
                <a:latin typeface="Cambria" pitchFamily="34" charset="0"/>
                <a:ea typeface="Cambria" pitchFamily="34" charset="-122"/>
                <a:cs typeface="Cambria" pitchFamily="34" charset="-120"/>
              </a:rPr>
              <a:t>What does not change</a:t>
            </a:r>
            <a:endParaRPr lang="en-US" sz="1700" dirty="0"/>
          </a:p>
        </p:txBody>
      </p:sp>
      <p:sp>
        <p:nvSpPr>
          <p:cNvPr id="34" name="Text 32"/>
          <p:cNvSpPr/>
          <p:nvPr/>
        </p:nvSpPr>
        <p:spPr>
          <a:xfrm>
            <a:off x="6519672" y="4160520"/>
            <a:ext cx="4754880" cy="1371600"/>
          </a:xfrm>
          <a:prstGeom prst="rect">
            <a:avLst/>
          </a:prstGeom>
          <a:noFill/>
          <a:ln/>
        </p:spPr>
        <p:txBody>
          <a:bodyPr wrap="square" lIns="0" tIns="0" rIns="0" bIns="0" rtlCol="0" anchor="t"/>
          <a:lstStyle/>
          <a:p>
            <a:pPr marL="177800" indent="-177800">
              <a:spcAft>
                <a:spcPts val="800"/>
              </a:spcAft>
              <a:buSzPct val="100000"/>
              <a:buChar char="•"/>
            </a:pPr>
            <a:r>
              <a:rPr lang="en-US" sz="1350" dirty="0">
                <a:solidFill>
                  <a:srgbClr val="1C1E21"/>
                </a:solidFill>
                <a:latin typeface="Calibri" pitchFamily="34" charset="0"/>
                <a:ea typeface="Calibri" pitchFamily="34" charset="-122"/>
                <a:cs typeface="Calibri" pitchFamily="34" charset="-120"/>
              </a:rPr>
              <a:t>Still a single agent, deterministic, fully observed, discrete world</a:t>
            </a:r>
            <a:endParaRPr lang="en-US" sz="1350" dirty="0"/>
          </a:p>
          <a:p>
            <a:pPr marL="177800" indent="-177800">
              <a:spcAft>
                <a:spcPts val="800"/>
              </a:spcAft>
              <a:buSzPct val="100000"/>
              <a:buChar char="•"/>
            </a:pPr>
            <a:r>
              <a:rPr lang="en-US" sz="1350" dirty="0">
                <a:solidFill>
                  <a:srgbClr val="1C1E21"/>
                </a:solidFill>
                <a:latin typeface="Calibri" pitchFamily="34" charset="0"/>
                <a:ea typeface="Calibri" pitchFamily="34" charset="-122"/>
                <a:cs typeface="Calibri" pitchFamily="34" charset="-120"/>
              </a:rPr>
              <a:t>Still exponential in the worst case; nothing today defeats NP-hardness</a:t>
            </a:r>
            <a:endParaRPr lang="en-US" sz="1350" dirty="0"/>
          </a:p>
          <a:p>
            <a:pPr marL="177800" indent="-177800">
              <a:spcAft>
                <a:spcPts val="800"/>
              </a:spcAft>
              <a:buSzPct val="100000"/>
              <a:buChar char="•"/>
            </a:pPr>
            <a:r>
              <a:rPr lang="en-US" sz="1350" dirty="0">
                <a:solidFill>
                  <a:srgbClr val="1C1E21"/>
                </a:solidFill>
                <a:latin typeface="Calibri" pitchFamily="34" charset="0"/>
                <a:ea typeface="Calibri" pitchFamily="34" charset="-122"/>
                <a:cs typeface="Calibri" pitchFamily="34" charset="-120"/>
              </a:rPr>
              <a:t>We are buying constant and average-case speed, not a complexity class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Plan for today</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Two hours, one ten-minute break at the midpoint</a:t>
            </a:r>
            <a:endParaRPr lang="en-US" sz="1400" dirty="0"/>
          </a:p>
        </p:txBody>
      </p:sp>
      <p:sp>
        <p:nvSpPr>
          <p:cNvPr id="6" name="Shape 4"/>
          <p:cNvSpPr/>
          <p:nvPr/>
        </p:nvSpPr>
        <p:spPr>
          <a:xfrm>
            <a:off x="640080" y="1655064"/>
            <a:ext cx="292608" cy="292608"/>
          </a:xfrm>
          <a:prstGeom prst="ellipse">
            <a:avLst/>
          </a:prstGeom>
          <a:solidFill>
            <a:srgbClr val="CB132A"/>
          </a:solidFill>
          <a:ln w="12700">
            <a:solidFill>
              <a:srgbClr val="CB132A"/>
            </a:solidFill>
            <a:prstDash val="solid"/>
          </a:ln>
        </p:spPr>
      </p:sp>
      <p:sp>
        <p:nvSpPr>
          <p:cNvPr id="7" name="Text 5"/>
          <p:cNvSpPr/>
          <p:nvPr/>
        </p:nvSpPr>
        <p:spPr>
          <a:xfrm>
            <a:off x="640080" y="16550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097280" y="1572768"/>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Recap and reframing</a:t>
            </a:r>
            <a:endParaRPr lang="en-US" sz="1500" dirty="0"/>
          </a:p>
        </p:txBody>
      </p:sp>
      <p:sp>
        <p:nvSpPr>
          <p:cNvPr id="9" name="Text 7"/>
          <p:cNvSpPr/>
          <p:nvPr/>
        </p:nvSpPr>
        <p:spPr>
          <a:xfrm>
            <a:off x="4023360" y="1572768"/>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Planning problems vs. identification problems</a:t>
            </a:r>
            <a:endParaRPr lang="en-US" sz="1300" dirty="0"/>
          </a:p>
        </p:txBody>
      </p:sp>
      <p:sp>
        <p:nvSpPr>
          <p:cNvPr id="10" name="Text 8"/>
          <p:cNvSpPr/>
          <p:nvPr/>
        </p:nvSpPr>
        <p:spPr>
          <a:xfrm>
            <a:off x="9921240" y="1572768"/>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10 min</a:t>
            </a:r>
            <a:endParaRPr lang="en-US" sz="1300" dirty="0"/>
          </a:p>
        </p:txBody>
      </p:sp>
      <p:sp>
        <p:nvSpPr>
          <p:cNvPr id="11" name="Shape 9"/>
          <p:cNvSpPr/>
          <p:nvPr/>
        </p:nvSpPr>
        <p:spPr>
          <a:xfrm>
            <a:off x="640080" y="2221992"/>
            <a:ext cx="292608" cy="292608"/>
          </a:xfrm>
          <a:prstGeom prst="ellipse">
            <a:avLst/>
          </a:prstGeom>
          <a:solidFill>
            <a:srgbClr val="CB132A"/>
          </a:solidFill>
          <a:ln w="12700">
            <a:solidFill>
              <a:srgbClr val="CB132A"/>
            </a:solidFill>
            <a:prstDash val="solid"/>
          </a:ln>
        </p:spPr>
      </p:sp>
      <p:sp>
        <p:nvSpPr>
          <p:cNvPr id="12" name="Text 10"/>
          <p:cNvSpPr/>
          <p:nvPr/>
        </p:nvSpPr>
        <p:spPr>
          <a:xfrm>
            <a:off x="640080" y="22219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097280" y="2139696"/>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What a CSP is</a:t>
            </a:r>
            <a:endParaRPr lang="en-US" sz="1500" dirty="0"/>
          </a:p>
        </p:txBody>
      </p:sp>
      <p:sp>
        <p:nvSpPr>
          <p:cNvPr id="14" name="Text 12"/>
          <p:cNvSpPr/>
          <p:nvPr/>
        </p:nvSpPr>
        <p:spPr>
          <a:xfrm>
            <a:off x="4023360" y="2139696"/>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Variables, domains, constraints; solutions and partial assignments</a:t>
            </a:r>
            <a:endParaRPr lang="en-US" sz="1300" dirty="0"/>
          </a:p>
        </p:txBody>
      </p:sp>
      <p:sp>
        <p:nvSpPr>
          <p:cNvPr id="15" name="Text 13"/>
          <p:cNvSpPr/>
          <p:nvPr/>
        </p:nvSpPr>
        <p:spPr>
          <a:xfrm>
            <a:off x="9921240" y="2139696"/>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15 min</a:t>
            </a:r>
            <a:endParaRPr lang="en-US" sz="1300" dirty="0"/>
          </a:p>
        </p:txBody>
      </p:sp>
      <p:sp>
        <p:nvSpPr>
          <p:cNvPr id="16" name="Shape 14"/>
          <p:cNvSpPr/>
          <p:nvPr/>
        </p:nvSpPr>
        <p:spPr>
          <a:xfrm>
            <a:off x="640080" y="2788920"/>
            <a:ext cx="292608" cy="292608"/>
          </a:xfrm>
          <a:prstGeom prst="ellipse">
            <a:avLst/>
          </a:prstGeom>
          <a:solidFill>
            <a:srgbClr val="CB132A"/>
          </a:solidFill>
          <a:ln w="12700">
            <a:solidFill>
              <a:srgbClr val="CB132A"/>
            </a:solidFill>
            <a:prstDash val="solid"/>
          </a:ln>
        </p:spPr>
      </p:sp>
      <p:sp>
        <p:nvSpPr>
          <p:cNvPr id="17" name="Text 15"/>
          <p:cNvSpPr/>
          <p:nvPr/>
        </p:nvSpPr>
        <p:spPr>
          <a:xfrm>
            <a:off x="640080" y="27889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097280" y="2706624"/>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Modeling practice</a:t>
            </a:r>
            <a:endParaRPr lang="en-US" sz="1500" dirty="0"/>
          </a:p>
        </p:txBody>
      </p:sp>
      <p:sp>
        <p:nvSpPr>
          <p:cNvPr id="19" name="Text 17"/>
          <p:cNvSpPr/>
          <p:nvPr/>
        </p:nvSpPr>
        <p:spPr>
          <a:xfrm>
            <a:off x="4023360" y="2706624"/>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Map coloring, N-Queens, cryptarithmetic, Sudoku, Waltz</a:t>
            </a:r>
            <a:endParaRPr lang="en-US" sz="1300" dirty="0"/>
          </a:p>
        </p:txBody>
      </p:sp>
      <p:sp>
        <p:nvSpPr>
          <p:cNvPr id="20" name="Text 18"/>
          <p:cNvSpPr/>
          <p:nvPr/>
        </p:nvSpPr>
        <p:spPr>
          <a:xfrm>
            <a:off x="9921240" y="2706624"/>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25 min</a:t>
            </a:r>
            <a:endParaRPr lang="en-US" sz="1300" dirty="0"/>
          </a:p>
        </p:txBody>
      </p:sp>
      <p:sp>
        <p:nvSpPr>
          <p:cNvPr id="21" name="Shape 19"/>
          <p:cNvSpPr/>
          <p:nvPr/>
        </p:nvSpPr>
        <p:spPr>
          <a:xfrm>
            <a:off x="640080" y="3328416"/>
            <a:ext cx="10908792" cy="402336"/>
          </a:xfrm>
          <a:prstGeom prst="rect">
            <a:avLst/>
          </a:prstGeom>
          <a:solidFill>
            <a:srgbClr val="EBECED"/>
          </a:solidFill>
          <a:ln w="12700">
            <a:solidFill>
              <a:srgbClr val="333333"/>
            </a:solidFill>
            <a:prstDash val="solid"/>
          </a:ln>
        </p:spPr>
      </p:sp>
      <p:sp>
        <p:nvSpPr>
          <p:cNvPr id="22" name="Text 20"/>
          <p:cNvSpPr/>
          <p:nvPr/>
        </p:nvSpPr>
        <p:spPr>
          <a:xfrm>
            <a:off x="1143000" y="3328416"/>
            <a:ext cx="3657600" cy="402336"/>
          </a:xfrm>
          <a:prstGeom prst="rect">
            <a:avLst/>
          </a:prstGeom>
          <a:noFill/>
          <a:ln/>
        </p:spPr>
        <p:txBody>
          <a:bodyPr wrap="square" lIns="0" tIns="0" rIns="0" bIns="0" rtlCol="0" anchor="ctr"/>
          <a:lstStyle/>
          <a:p>
            <a:pPr indent="0" marL="0">
              <a:buNone/>
            </a:pPr>
            <a:r>
              <a:rPr lang="en-US" sz="1200" b="1" spc="200" kern="0" dirty="0">
                <a:solidFill>
                  <a:srgbClr val="53565A"/>
                </a:solidFill>
                <a:latin typeface="Calibri" pitchFamily="34" charset="0"/>
                <a:ea typeface="Calibri" pitchFamily="34" charset="-122"/>
                <a:cs typeface="Calibri" pitchFamily="34" charset="-120"/>
              </a:rPr>
              <a:t>BREAK</a:t>
            </a:r>
            <a:endParaRPr lang="en-US" sz="1200" dirty="0"/>
          </a:p>
        </p:txBody>
      </p:sp>
      <p:sp>
        <p:nvSpPr>
          <p:cNvPr id="23" name="Text 21"/>
          <p:cNvSpPr/>
          <p:nvPr/>
        </p:nvSpPr>
        <p:spPr>
          <a:xfrm>
            <a:off x="9921240" y="3328416"/>
            <a:ext cx="1371600" cy="402336"/>
          </a:xfrm>
          <a:prstGeom prst="rect">
            <a:avLst/>
          </a:prstGeom>
          <a:noFill/>
          <a:ln/>
        </p:spPr>
        <p:txBody>
          <a:bodyPr wrap="square" lIns="0" tIns="0" rIns="0" bIns="0" rtlCol="0" anchor="ctr"/>
          <a:lstStyle/>
          <a:p>
            <a:pPr algn="r" indent="0" marL="0">
              <a:buNone/>
            </a:pPr>
            <a:r>
              <a:rPr lang="en-US" sz="1200" dirty="0">
                <a:solidFill>
                  <a:srgbClr val="53565A"/>
                </a:solidFill>
                <a:latin typeface="Calibri" pitchFamily="34" charset="0"/>
                <a:ea typeface="Calibri" pitchFamily="34" charset="-122"/>
                <a:cs typeface="Calibri" pitchFamily="34" charset="-120"/>
              </a:rPr>
              <a:t>10 min</a:t>
            </a:r>
            <a:endParaRPr lang="en-US" sz="1200" dirty="0"/>
          </a:p>
        </p:txBody>
      </p:sp>
      <p:sp>
        <p:nvSpPr>
          <p:cNvPr id="24" name="Shape 22"/>
          <p:cNvSpPr/>
          <p:nvPr/>
        </p:nvSpPr>
        <p:spPr>
          <a:xfrm>
            <a:off x="640080" y="3922776"/>
            <a:ext cx="292608" cy="292608"/>
          </a:xfrm>
          <a:prstGeom prst="ellipse">
            <a:avLst/>
          </a:prstGeom>
          <a:solidFill>
            <a:srgbClr val="CB132A"/>
          </a:solidFill>
          <a:ln w="12700">
            <a:solidFill>
              <a:srgbClr val="CB132A"/>
            </a:solidFill>
            <a:prstDash val="solid"/>
          </a:ln>
        </p:spPr>
      </p:sp>
      <p:sp>
        <p:nvSpPr>
          <p:cNvPr id="25" name="Text 23"/>
          <p:cNvSpPr/>
          <p:nvPr/>
        </p:nvSpPr>
        <p:spPr>
          <a:xfrm>
            <a:off x="640080" y="392277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4"/>
          <p:cNvSpPr/>
          <p:nvPr/>
        </p:nvSpPr>
        <p:spPr>
          <a:xfrm>
            <a:off x="1097280" y="3840480"/>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Backtracking search</a:t>
            </a:r>
            <a:endParaRPr lang="en-US" sz="1500" dirty="0"/>
          </a:p>
        </p:txBody>
      </p:sp>
      <p:sp>
        <p:nvSpPr>
          <p:cNvPr id="27" name="Text 25"/>
          <p:cNvSpPr/>
          <p:nvPr/>
        </p:nvSpPr>
        <p:spPr>
          <a:xfrm>
            <a:off x="4023360" y="3840480"/>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Why BFS and naive DFS fail; the two fixes</a:t>
            </a:r>
            <a:endParaRPr lang="en-US" sz="1300" dirty="0"/>
          </a:p>
        </p:txBody>
      </p:sp>
      <p:sp>
        <p:nvSpPr>
          <p:cNvPr id="28" name="Text 26"/>
          <p:cNvSpPr/>
          <p:nvPr/>
        </p:nvSpPr>
        <p:spPr>
          <a:xfrm>
            <a:off x="9921240" y="3840480"/>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20 min</a:t>
            </a:r>
            <a:endParaRPr lang="en-US" sz="1300" dirty="0"/>
          </a:p>
        </p:txBody>
      </p:sp>
      <p:sp>
        <p:nvSpPr>
          <p:cNvPr id="29" name="Shape 27"/>
          <p:cNvSpPr/>
          <p:nvPr/>
        </p:nvSpPr>
        <p:spPr>
          <a:xfrm>
            <a:off x="640080" y="4489704"/>
            <a:ext cx="292608" cy="292608"/>
          </a:xfrm>
          <a:prstGeom prst="ellipse">
            <a:avLst/>
          </a:prstGeom>
          <a:solidFill>
            <a:srgbClr val="CB132A"/>
          </a:solidFill>
          <a:ln w="12700">
            <a:solidFill>
              <a:srgbClr val="CB132A"/>
            </a:solidFill>
            <a:prstDash val="solid"/>
          </a:ln>
        </p:spPr>
      </p:sp>
      <p:sp>
        <p:nvSpPr>
          <p:cNvPr id="30" name="Text 28"/>
          <p:cNvSpPr/>
          <p:nvPr/>
        </p:nvSpPr>
        <p:spPr>
          <a:xfrm>
            <a:off x="640080" y="448970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1097280" y="4407408"/>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Filtering</a:t>
            </a:r>
            <a:endParaRPr lang="en-US" sz="1500" dirty="0"/>
          </a:p>
        </p:txBody>
      </p:sp>
      <p:sp>
        <p:nvSpPr>
          <p:cNvPr id="32" name="Text 30"/>
          <p:cNvSpPr/>
          <p:nvPr/>
        </p:nvSpPr>
        <p:spPr>
          <a:xfrm>
            <a:off x="4023360" y="4407408"/>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Forward checking, arc consistency, AC-3</a:t>
            </a:r>
            <a:endParaRPr lang="en-US" sz="1300" dirty="0"/>
          </a:p>
        </p:txBody>
      </p:sp>
      <p:sp>
        <p:nvSpPr>
          <p:cNvPr id="33" name="Text 31"/>
          <p:cNvSpPr/>
          <p:nvPr/>
        </p:nvSpPr>
        <p:spPr>
          <a:xfrm>
            <a:off x="9921240" y="4407408"/>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25 min</a:t>
            </a:r>
            <a:endParaRPr lang="en-US" sz="1300" dirty="0"/>
          </a:p>
        </p:txBody>
      </p:sp>
      <p:sp>
        <p:nvSpPr>
          <p:cNvPr id="34" name="Shape 32"/>
          <p:cNvSpPr/>
          <p:nvPr/>
        </p:nvSpPr>
        <p:spPr>
          <a:xfrm>
            <a:off x="640080" y="5056632"/>
            <a:ext cx="292608" cy="292608"/>
          </a:xfrm>
          <a:prstGeom prst="ellipse">
            <a:avLst/>
          </a:prstGeom>
          <a:solidFill>
            <a:srgbClr val="CB132A"/>
          </a:solidFill>
          <a:ln w="12700">
            <a:solidFill>
              <a:srgbClr val="CB132A"/>
            </a:solidFill>
            <a:prstDash val="solid"/>
          </a:ln>
        </p:spPr>
      </p:sp>
      <p:sp>
        <p:nvSpPr>
          <p:cNvPr id="35" name="Text 33"/>
          <p:cNvSpPr/>
          <p:nvPr/>
        </p:nvSpPr>
        <p:spPr>
          <a:xfrm>
            <a:off x="640080" y="505663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6" name="Text 34"/>
          <p:cNvSpPr/>
          <p:nvPr/>
        </p:nvSpPr>
        <p:spPr>
          <a:xfrm>
            <a:off x="1097280" y="4974336"/>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Ordering</a:t>
            </a:r>
            <a:endParaRPr lang="en-US" sz="1500" dirty="0"/>
          </a:p>
        </p:txBody>
      </p:sp>
      <p:sp>
        <p:nvSpPr>
          <p:cNvPr id="37" name="Text 35"/>
          <p:cNvSpPr/>
          <p:nvPr/>
        </p:nvSpPr>
        <p:spPr>
          <a:xfrm>
            <a:off x="4023360" y="4974336"/>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Minimum remaining values, least constraining value</a:t>
            </a:r>
            <a:endParaRPr lang="en-US" sz="1300" dirty="0"/>
          </a:p>
        </p:txBody>
      </p:sp>
      <p:sp>
        <p:nvSpPr>
          <p:cNvPr id="38" name="Text 36"/>
          <p:cNvSpPr/>
          <p:nvPr/>
        </p:nvSpPr>
        <p:spPr>
          <a:xfrm>
            <a:off x="9921240" y="4974336"/>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12 min</a:t>
            </a:r>
            <a:endParaRPr lang="en-US" sz="1300" dirty="0"/>
          </a:p>
        </p:txBody>
      </p:sp>
      <p:sp>
        <p:nvSpPr>
          <p:cNvPr id="39" name="Shape 37"/>
          <p:cNvSpPr/>
          <p:nvPr/>
        </p:nvSpPr>
        <p:spPr>
          <a:xfrm>
            <a:off x="640080" y="5623560"/>
            <a:ext cx="292608" cy="292608"/>
          </a:xfrm>
          <a:prstGeom prst="ellipse">
            <a:avLst/>
          </a:prstGeom>
          <a:solidFill>
            <a:srgbClr val="CB132A"/>
          </a:solidFill>
          <a:ln w="12700">
            <a:solidFill>
              <a:srgbClr val="CB132A"/>
            </a:solidFill>
            <a:prstDash val="solid"/>
          </a:ln>
        </p:spPr>
      </p:sp>
      <p:sp>
        <p:nvSpPr>
          <p:cNvPr id="40" name="Text 38"/>
          <p:cNvSpPr/>
          <p:nvPr/>
        </p:nvSpPr>
        <p:spPr>
          <a:xfrm>
            <a:off x="640080" y="562356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41" name="Text 39"/>
          <p:cNvSpPr/>
          <p:nvPr/>
        </p:nvSpPr>
        <p:spPr>
          <a:xfrm>
            <a:off x="1097280" y="5541264"/>
            <a:ext cx="2926080" cy="45720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Wrap-up</a:t>
            </a:r>
            <a:endParaRPr lang="en-US" sz="1500" dirty="0"/>
          </a:p>
        </p:txBody>
      </p:sp>
      <p:sp>
        <p:nvSpPr>
          <p:cNvPr id="42" name="Text 40"/>
          <p:cNvSpPr/>
          <p:nvPr/>
        </p:nvSpPr>
        <p:spPr>
          <a:xfrm>
            <a:off x="4023360" y="5541264"/>
            <a:ext cx="6035040" cy="45720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Where this goes next, and what to read</a:t>
            </a:r>
            <a:endParaRPr lang="en-US" sz="1300" dirty="0"/>
          </a:p>
        </p:txBody>
      </p:sp>
      <p:sp>
        <p:nvSpPr>
          <p:cNvPr id="43" name="Text 41"/>
          <p:cNvSpPr/>
          <p:nvPr/>
        </p:nvSpPr>
        <p:spPr>
          <a:xfrm>
            <a:off x="9921240" y="5541264"/>
            <a:ext cx="1371600" cy="4572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3 min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By the end of this session you should be able to</a:t>
            </a:r>
            <a:endParaRPr lang="en-US" sz="3200" dirty="0"/>
          </a:p>
        </p:txBody>
      </p:sp>
      <p:sp>
        <p:nvSpPr>
          <p:cNvPr id="5" name="Shape 3"/>
          <p:cNvSpPr/>
          <p:nvPr/>
        </p:nvSpPr>
        <p:spPr>
          <a:xfrm>
            <a:off x="640080" y="1691640"/>
            <a:ext cx="10908792" cy="987552"/>
          </a:xfrm>
          <a:prstGeom prst="roundRect">
            <a:avLst>
              <a:gd name="adj" fmla="val 5556"/>
            </a:avLst>
          </a:prstGeom>
          <a:solidFill>
            <a:srgbClr val="F6F7F8"/>
          </a:solidFill>
          <a:ln w="9525">
            <a:solidFill>
              <a:srgbClr val="D3D6D9"/>
            </a:solidFill>
            <a:prstDash val="solid"/>
          </a:ln>
        </p:spPr>
      </p:sp>
      <p:sp>
        <p:nvSpPr>
          <p:cNvPr id="6" name="Shape 4"/>
          <p:cNvSpPr/>
          <p:nvPr/>
        </p:nvSpPr>
        <p:spPr>
          <a:xfrm>
            <a:off x="914400" y="1993392"/>
            <a:ext cx="384048" cy="384048"/>
          </a:xfrm>
          <a:prstGeom prst="ellipse">
            <a:avLst/>
          </a:prstGeom>
          <a:solidFill>
            <a:srgbClr val="CB132A"/>
          </a:solidFill>
          <a:ln w="12700">
            <a:solidFill>
              <a:srgbClr val="CB132A"/>
            </a:solidFill>
            <a:prstDash val="solid"/>
          </a:ln>
        </p:spPr>
      </p:sp>
      <p:sp>
        <p:nvSpPr>
          <p:cNvPr id="7" name="Text 5"/>
          <p:cNvSpPr/>
          <p:nvPr/>
        </p:nvSpPr>
        <p:spPr>
          <a:xfrm>
            <a:off x="914400" y="19933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81328" y="1819656"/>
            <a:ext cx="1920240" cy="329184"/>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Model</a:t>
            </a:r>
            <a:endParaRPr lang="en-US" sz="1700" dirty="0"/>
          </a:p>
        </p:txBody>
      </p:sp>
      <p:sp>
        <p:nvSpPr>
          <p:cNvPr id="9" name="Text 7"/>
          <p:cNvSpPr/>
          <p:nvPr/>
        </p:nvSpPr>
        <p:spPr>
          <a:xfrm>
            <a:off x="1481328" y="2148840"/>
            <a:ext cx="9601200" cy="4572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Take an informal problem statement and write it down as variables, domains, and constraints - and defend why you chose that formulation over another.</a:t>
            </a:r>
            <a:endParaRPr lang="en-US" sz="1350" dirty="0"/>
          </a:p>
        </p:txBody>
      </p:sp>
      <p:sp>
        <p:nvSpPr>
          <p:cNvPr id="10" name="Shape 8"/>
          <p:cNvSpPr/>
          <p:nvPr/>
        </p:nvSpPr>
        <p:spPr>
          <a:xfrm>
            <a:off x="640080" y="2807208"/>
            <a:ext cx="10908792" cy="987552"/>
          </a:xfrm>
          <a:prstGeom prst="roundRect">
            <a:avLst>
              <a:gd name="adj" fmla="val 5556"/>
            </a:avLst>
          </a:prstGeom>
          <a:solidFill>
            <a:srgbClr val="F6F7F8"/>
          </a:solidFill>
          <a:ln w="9525">
            <a:solidFill>
              <a:srgbClr val="D3D6D9"/>
            </a:solidFill>
            <a:prstDash val="solid"/>
          </a:ln>
        </p:spPr>
      </p:sp>
      <p:sp>
        <p:nvSpPr>
          <p:cNvPr id="11" name="Shape 9"/>
          <p:cNvSpPr/>
          <p:nvPr/>
        </p:nvSpPr>
        <p:spPr>
          <a:xfrm>
            <a:off x="914400" y="3108960"/>
            <a:ext cx="384048" cy="384048"/>
          </a:xfrm>
          <a:prstGeom prst="ellipse">
            <a:avLst/>
          </a:prstGeom>
          <a:solidFill>
            <a:srgbClr val="CB132A"/>
          </a:solidFill>
          <a:ln w="12700">
            <a:solidFill>
              <a:srgbClr val="CB132A"/>
            </a:solidFill>
            <a:prstDash val="solid"/>
          </a:ln>
        </p:spPr>
      </p:sp>
      <p:sp>
        <p:nvSpPr>
          <p:cNvPr id="12" name="Text 10"/>
          <p:cNvSpPr/>
          <p:nvPr/>
        </p:nvSpPr>
        <p:spPr>
          <a:xfrm>
            <a:off x="914400" y="3108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481328" y="2935224"/>
            <a:ext cx="1920240" cy="329184"/>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Trace</a:t>
            </a:r>
            <a:endParaRPr lang="en-US" sz="1700" dirty="0"/>
          </a:p>
        </p:txBody>
      </p:sp>
      <p:sp>
        <p:nvSpPr>
          <p:cNvPr id="14" name="Text 12"/>
          <p:cNvSpPr/>
          <p:nvPr/>
        </p:nvSpPr>
        <p:spPr>
          <a:xfrm>
            <a:off x="1481328" y="3264408"/>
            <a:ext cx="9601200" cy="4572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Hand-simulate backtracking search, forward checking, and AC-3 on a small constraint graph, and say what each one prunes and when.</a:t>
            </a:r>
            <a:endParaRPr lang="en-US" sz="1350" dirty="0"/>
          </a:p>
        </p:txBody>
      </p:sp>
      <p:sp>
        <p:nvSpPr>
          <p:cNvPr id="15" name="Shape 13"/>
          <p:cNvSpPr/>
          <p:nvPr/>
        </p:nvSpPr>
        <p:spPr>
          <a:xfrm>
            <a:off x="640080" y="3922776"/>
            <a:ext cx="10908792" cy="987552"/>
          </a:xfrm>
          <a:prstGeom prst="roundRect">
            <a:avLst>
              <a:gd name="adj" fmla="val 5556"/>
            </a:avLst>
          </a:prstGeom>
          <a:solidFill>
            <a:srgbClr val="F6F7F8"/>
          </a:solidFill>
          <a:ln w="9525">
            <a:solidFill>
              <a:srgbClr val="D3D6D9"/>
            </a:solidFill>
            <a:prstDash val="solid"/>
          </a:ln>
        </p:spPr>
      </p:sp>
      <p:sp>
        <p:nvSpPr>
          <p:cNvPr id="16" name="Shape 14"/>
          <p:cNvSpPr/>
          <p:nvPr/>
        </p:nvSpPr>
        <p:spPr>
          <a:xfrm>
            <a:off x="914400" y="4224528"/>
            <a:ext cx="384048" cy="384048"/>
          </a:xfrm>
          <a:prstGeom prst="ellipse">
            <a:avLst/>
          </a:prstGeom>
          <a:solidFill>
            <a:srgbClr val="CB132A"/>
          </a:solidFill>
          <a:ln w="12700">
            <a:solidFill>
              <a:srgbClr val="CB132A"/>
            </a:solidFill>
            <a:prstDash val="solid"/>
          </a:ln>
        </p:spPr>
      </p:sp>
      <p:sp>
        <p:nvSpPr>
          <p:cNvPr id="17" name="Text 15"/>
          <p:cNvSpPr/>
          <p:nvPr/>
        </p:nvSpPr>
        <p:spPr>
          <a:xfrm>
            <a:off x="914400" y="422452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1481328" y="4050792"/>
            <a:ext cx="1920240" cy="329184"/>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Distinguish</a:t>
            </a:r>
            <a:endParaRPr lang="en-US" sz="1700" dirty="0"/>
          </a:p>
        </p:txBody>
      </p:sp>
      <p:sp>
        <p:nvSpPr>
          <p:cNvPr id="19" name="Text 17"/>
          <p:cNvSpPr/>
          <p:nvPr/>
        </p:nvSpPr>
        <p:spPr>
          <a:xfrm>
            <a:off x="1481328" y="4379976"/>
            <a:ext cx="9601200" cy="4572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Explain precisely what arc consistency guarantees, what it does not, and why it can leave a doomed problem looking healthy.</a:t>
            </a:r>
            <a:endParaRPr lang="en-US" sz="1350" dirty="0"/>
          </a:p>
        </p:txBody>
      </p:sp>
      <p:sp>
        <p:nvSpPr>
          <p:cNvPr id="20" name="Shape 18"/>
          <p:cNvSpPr/>
          <p:nvPr/>
        </p:nvSpPr>
        <p:spPr>
          <a:xfrm>
            <a:off x="640080" y="5038344"/>
            <a:ext cx="10908792" cy="987552"/>
          </a:xfrm>
          <a:prstGeom prst="roundRect">
            <a:avLst>
              <a:gd name="adj" fmla="val 5556"/>
            </a:avLst>
          </a:prstGeom>
          <a:solidFill>
            <a:srgbClr val="F6F7F8"/>
          </a:solidFill>
          <a:ln w="9525">
            <a:solidFill>
              <a:srgbClr val="D3D6D9"/>
            </a:solidFill>
            <a:prstDash val="solid"/>
          </a:ln>
        </p:spPr>
      </p:sp>
      <p:sp>
        <p:nvSpPr>
          <p:cNvPr id="21" name="Shape 19"/>
          <p:cNvSpPr/>
          <p:nvPr/>
        </p:nvSpPr>
        <p:spPr>
          <a:xfrm>
            <a:off x="914400" y="5340096"/>
            <a:ext cx="384048" cy="384048"/>
          </a:xfrm>
          <a:prstGeom prst="ellipse">
            <a:avLst/>
          </a:prstGeom>
          <a:solidFill>
            <a:srgbClr val="CB132A"/>
          </a:solidFill>
          <a:ln w="12700">
            <a:solidFill>
              <a:srgbClr val="CB132A"/>
            </a:solidFill>
            <a:prstDash val="solid"/>
          </a:ln>
        </p:spPr>
      </p:sp>
      <p:sp>
        <p:nvSpPr>
          <p:cNvPr id="22" name="Text 20"/>
          <p:cNvSpPr/>
          <p:nvPr/>
        </p:nvSpPr>
        <p:spPr>
          <a:xfrm>
            <a:off x="914400" y="53400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1"/>
          <p:cNvSpPr/>
          <p:nvPr/>
        </p:nvSpPr>
        <p:spPr>
          <a:xfrm>
            <a:off x="1481328" y="5166360"/>
            <a:ext cx="1920240" cy="329184"/>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Justify</a:t>
            </a:r>
            <a:endParaRPr lang="en-US" sz="1700" dirty="0"/>
          </a:p>
        </p:txBody>
      </p:sp>
      <p:sp>
        <p:nvSpPr>
          <p:cNvPr id="24" name="Text 22"/>
          <p:cNvSpPr/>
          <p:nvPr/>
        </p:nvSpPr>
        <p:spPr>
          <a:xfrm>
            <a:off x="1481328" y="5495544"/>
            <a:ext cx="9601200" cy="4572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Say why we take the most constrained variable but the least constraining value, without reciting it as a rule.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Recap: the four assumptions search has been making</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Every algorithm so far has quietly depended on all four</a:t>
            </a:r>
            <a:endParaRPr lang="en-US" sz="1400" dirty="0"/>
          </a:p>
        </p:txBody>
      </p:sp>
      <p:sp>
        <p:nvSpPr>
          <p:cNvPr id="6" name="Shape 4"/>
          <p:cNvSpPr/>
          <p:nvPr/>
        </p:nvSpPr>
        <p:spPr>
          <a:xfrm>
            <a:off x="640080" y="1691640"/>
            <a:ext cx="2624328" cy="2788920"/>
          </a:xfrm>
          <a:prstGeom prst="roundRect">
            <a:avLst>
              <a:gd name="adj" fmla="val 2091"/>
            </a:avLst>
          </a:prstGeom>
          <a:solidFill>
            <a:srgbClr val="F6F7F8"/>
          </a:solidFill>
          <a:ln w="9525">
            <a:solidFill>
              <a:srgbClr val="D3D6D9"/>
            </a:solidFill>
            <a:prstDash val="solid"/>
          </a:ln>
        </p:spPr>
      </p:sp>
      <p:sp>
        <p:nvSpPr>
          <p:cNvPr id="7" name="Text 5"/>
          <p:cNvSpPr/>
          <p:nvPr/>
        </p:nvSpPr>
        <p:spPr>
          <a:xfrm>
            <a:off x="841248" y="1874520"/>
            <a:ext cx="2221992"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Single agent</a:t>
            </a:r>
            <a:endParaRPr lang="en-US" sz="1700" dirty="0"/>
          </a:p>
        </p:txBody>
      </p:sp>
      <p:sp>
        <p:nvSpPr>
          <p:cNvPr id="8" name="Text 6"/>
          <p:cNvSpPr/>
          <p:nvPr/>
        </p:nvSpPr>
        <p:spPr>
          <a:xfrm>
            <a:off x="841248" y="2286000"/>
            <a:ext cx="2221992" cy="146304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You are the only one acting. Nobody is working against you, and nothing else changes the world while you plan.</a:t>
            </a:r>
            <a:endParaRPr lang="en-US" sz="1300" dirty="0"/>
          </a:p>
        </p:txBody>
      </p:sp>
      <p:sp>
        <p:nvSpPr>
          <p:cNvPr id="9" name="Text 7"/>
          <p:cNvSpPr/>
          <p:nvPr/>
        </p:nvSpPr>
        <p:spPr>
          <a:xfrm>
            <a:off x="841248" y="3977640"/>
            <a:ext cx="2221992" cy="365760"/>
          </a:xfrm>
          <a:prstGeom prst="rect">
            <a:avLst/>
          </a:prstGeom>
          <a:noFill/>
          <a:ln/>
        </p:spPr>
        <p:txBody>
          <a:bodyPr wrap="square" lIns="0" tIns="0" rIns="0" bIns="0" rtlCol="0" anchor="ctr"/>
          <a:lstStyle/>
          <a:p>
            <a:pPr indent="0" marL="0">
              <a:buNone/>
            </a:pPr>
            <a:r>
              <a:rPr lang="en-US" sz="1050" i="1" dirty="0">
                <a:solidFill>
                  <a:srgbClr val="CB132A"/>
                </a:solidFill>
                <a:latin typeface="Calibri" pitchFamily="34" charset="0"/>
                <a:ea typeface="Calibri" pitchFamily="34" charset="-122"/>
                <a:cs typeface="Calibri" pitchFamily="34" charset="-120"/>
              </a:rPr>
              <a:t>relaxed in Ch. 5: adversarial search</a:t>
            </a:r>
            <a:endParaRPr lang="en-US" sz="1050" dirty="0"/>
          </a:p>
        </p:txBody>
      </p:sp>
      <p:sp>
        <p:nvSpPr>
          <p:cNvPr id="10" name="Shape 8"/>
          <p:cNvSpPr/>
          <p:nvPr/>
        </p:nvSpPr>
        <p:spPr>
          <a:xfrm>
            <a:off x="3406140" y="1691640"/>
            <a:ext cx="2624328" cy="2788920"/>
          </a:xfrm>
          <a:prstGeom prst="roundRect">
            <a:avLst>
              <a:gd name="adj" fmla="val 2091"/>
            </a:avLst>
          </a:prstGeom>
          <a:solidFill>
            <a:srgbClr val="F6F7F8"/>
          </a:solidFill>
          <a:ln w="9525">
            <a:solidFill>
              <a:srgbClr val="D3D6D9"/>
            </a:solidFill>
            <a:prstDash val="solid"/>
          </a:ln>
        </p:spPr>
      </p:sp>
      <p:sp>
        <p:nvSpPr>
          <p:cNvPr id="11" name="Text 9"/>
          <p:cNvSpPr/>
          <p:nvPr/>
        </p:nvSpPr>
        <p:spPr>
          <a:xfrm>
            <a:off x="3607308" y="1874520"/>
            <a:ext cx="2221992"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Deterministic</a:t>
            </a:r>
            <a:endParaRPr lang="en-US" sz="1700" dirty="0"/>
          </a:p>
        </p:txBody>
      </p:sp>
      <p:sp>
        <p:nvSpPr>
          <p:cNvPr id="12" name="Text 10"/>
          <p:cNvSpPr/>
          <p:nvPr/>
        </p:nvSpPr>
        <p:spPr>
          <a:xfrm>
            <a:off x="3607308" y="2286000"/>
            <a:ext cx="2221992" cy="146304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An action always produces the modeled outcome. This is really an assumption that your model is correct.</a:t>
            </a:r>
            <a:endParaRPr lang="en-US" sz="1300" dirty="0"/>
          </a:p>
        </p:txBody>
      </p:sp>
      <p:sp>
        <p:nvSpPr>
          <p:cNvPr id="13" name="Text 11"/>
          <p:cNvSpPr/>
          <p:nvPr/>
        </p:nvSpPr>
        <p:spPr>
          <a:xfrm>
            <a:off x="3607308" y="3977640"/>
            <a:ext cx="2221992" cy="365760"/>
          </a:xfrm>
          <a:prstGeom prst="rect">
            <a:avLst/>
          </a:prstGeom>
          <a:noFill/>
          <a:ln/>
        </p:spPr>
        <p:txBody>
          <a:bodyPr wrap="square" lIns="0" tIns="0" rIns="0" bIns="0" rtlCol="0" anchor="ctr"/>
          <a:lstStyle/>
          <a:p>
            <a:pPr indent="0" marL="0">
              <a:buNone/>
            </a:pPr>
            <a:r>
              <a:rPr lang="en-US" sz="1050" i="1" dirty="0">
                <a:solidFill>
                  <a:srgbClr val="CB132A"/>
                </a:solidFill>
                <a:latin typeface="Calibri" pitchFamily="34" charset="0"/>
                <a:ea typeface="Calibri" pitchFamily="34" charset="-122"/>
                <a:cs typeface="Calibri" pitchFamily="34" charset="-120"/>
              </a:rPr>
              <a:t>relaxed in Ch. 16-17: MDPs</a:t>
            </a:r>
            <a:endParaRPr lang="en-US" sz="1050" dirty="0"/>
          </a:p>
        </p:txBody>
      </p:sp>
      <p:sp>
        <p:nvSpPr>
          <p:cNvPr id="14" name="Shape 12"/>
          <p:cNvSpPr/>
          <p:nvPr/>
        </p:nvSpPr>
        <p:spPr>
          <a:xfrm>
            <a:off x="6172200" y="1691640"/>
            <a:ext cx="2624328" cy="2788920"/>
          </a:xfrm>
          <a:prstGeom prst="roundRect">
            <a:avLst>
              <a:gd name="adj" fmla="val 2091"/>
            </a:avLst>
          </a:prstGeom>
          <a:solidFill>
            <a:srgbClr val="F6F7F8"/>
          </a:solidFill>
          <a:ln w="9525">
            <a:solidFill>
              <a:srgbClr val="D3D6D9"/>
            </a:solidFill>
            <a:prstDash val="solid"/>
          </a:ln>
        </p:spPr>
      </p:sp>
      <p:sp>
        <p:nvSpPr>
          <p:cNvPr id="15" name="Text 13"/>
          <p:cNvSpPr/>
          <p:nvPr/>
        </p:nvSpPr>
        <p:spPr>
          <a:xfrm>
            <a:off x="6373368" y="1874520"/>
            <a:ext cx="2221992"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Fully observed</a:t>
            </a:r>
            <a:endParaRPr lang="en-US" sz="1700" dirty="0"/>
          </a:p>
        </p:txBody>
      </p:sp>
      <p:sp>
        <p:nvSpPr>
          <p:cNvPr id="16" name="Text 14"/>
          <p:cNvSpPr/>
          <p:nvPr/>
        </p:nvSpPr>
        <p:spPr>
          <a:xfrm>
            <a:off x="6373368" y="2286000"/>
            <a:ext cx="2221992" cy="146304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You know the complete current state, so you can simulate forward and predict what happens.</a:t>
            </a:r>
            <a:endParaRPr lang="en-US" sz="1300" dirty="0"/>
          </a:p>
        </p:txBody>
      </p:sp>
      <p:sp>
        <p:nvSpPr>
          <p:cNvPr id="17" name="Text 15"/>
          <p:cNvSpPr/>
          <p:nvPr/>
        </p:nvSpPr>
        <p:spPr>
          <a:xfrm>
            <a:off x="6373368" y="3977640"/>
            <a:ext cx="2221992" cy="365760"/>
          </a:xfrm>
          <a:prstGeom prst="rect">
            <a:avLst/>
          </a:prstGeom>
          <a:noFill/>
          <a:ln/>
        </p:spPr>
        <p:txBody>
          <a:bodyPr wrap="square" lIns="0" tIns="0" rIns="0" bIns="0" rtlCol="0" anchor="ctr"/>
          <a:lstStyle/>
          <a:p>
            <a:pPr indent="0" marL="0">
              <a:buNone/>
            </a:pPr>
            <a:r>
              <a:rPr lang="en-US" sz="1050" i="1" dirty="0">
                <a:solidFill>
                  <a:srgbClr val="CB132A"/>
                </a:solidFill>
                <a:latin typeface="Calibri" pitchFamily="34" charset="0"/>
                <a:ea typeface="Calibri" pitchFamily="34" charset="-122"/>
                <a:cs typeface="Calibri" pitchFamily="34" charset="-120"/>
              </a:rPr>
              <a:t>relaxed in Ch. 14: HMMs, filtering</a:t>
            </a:r>
            <a:endParaRPr lang="en-US" sz="1050" dirty="0"/>
          </a:p>
        </p:txBody>
      </p:sp>
      <p:sp>
        <p:nvSpPr>
          <p:cNvPr id="18" name="Shape 16"/>
          <p:cNvSpPr/>
          <p:nvPr/>
        </p:nvSpPr>
        <p:spPr>
          <a:xfrm>
            <a:off x="8938260" y="1691640"/>
            <a:ext cx="2624328" cy="2788920"/>
          </a:xfrm>
          <a:prstGeom prst="roundRect">
            <a:avLst>
              <a:gd name="adj" fmla="val 2091"/>
            </a:avLst>
          </a:prstGeom>
          <a:solidFill>
            <a:srgbClr val="F6F7F8"/>
          </a:solidFill>
          <a:ln w="9525">
            <a:solidFill>
              <a:srgbClr val="D3D6D9"/>
            </a:solidFill>
            <a:prstDash val="solid"/>
          </a:ln>
        </p:spPr>
      </p:sp>
      <p:sp>
        <p:nvSpPr>
          <p:cNvPr id="19" name="Text 17"/>
          <p:cNvSpPr/>
          <p:nvPr/>
        </p:nvSpPr>
        <p:spPr>
          <a:xfrm>
            <a:off x="9139428" y="1874520"/>
            <a:ext cx="2221992"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Discrete</a:t>
            </a:r>
            <a:endParaRPr lang="en-US" sz="1700" dirty="0"/>
          </a:p>
        </p:txBody>
      </p:sp>
      <p:sp>
        <p:nvSpPr>
          <p:cNvPr id="20" name="Text 18"/>
          <p:cNvSpPr/>
          <p:nvPr/>
        </p:nvSpPr>
        <p:spPr>
          <a:xfrm>
            <a:off x="9139428" y="2286000"/>
            <a:ext cx="2221992" cy="146304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Finitely many states and actions, enumerable one at a time.</a:t>
            </a:r>
            <a:endParaRPr lang="en-US" sz="1300" dirty="0"/>
          </a:p>
        </p:txBody>
      </p:sp>
      <p:sp>
        <p:nvSpPr>
          <p:cNvPr id="21" name="Text 19"/>
          <p:cNvSpPr/>
          <p:nvPr/>
        </p:nvSpPr>
        <p:spPr>
          <a:xfrm>
            <a:off x="9139428" y="3977640"/>
            <a:ext cx="2221992" cy="365760"/>
          </a:xfrm>
          <a:prstGeom prst="rect">
            <a:avLst/>
          </a:prstGeom>
          <a:noFill/>
          <a:ln/>
        </p:spPr>
        <p:txBody>
          <a:bodyPr wrap="square" lIns="0" tIns="0" rIns="0" bIns="0" rtlCol="0" anchor="ctr"/>
          <a:lstStyle/>
          <a:p>
            <a:pPr indent="0" marL="0">
              <a:buNone/>
            </a:pPr>
            <a:r>
              <a:rPr lang="en-US" sz="1050" i="1" dirty="0">
                <a:solidFill>
                  <a:srgbClr val="CB132A"/>
                </a:solidFill>
                <a:latin typeface="Calibri" pitchFamily="34" charset="0"/>
                <a:ea typeface="Calibri" pitchFamily="34" charset="-122"/>
                <a:cs typeface="Calibri" pitchFamily="34" charset="-120"/>
              </a:rPr>
              <a:t>relaxed in Ch. 4.4: continuous spaces</a:t>
            </a:r>
            <a:endParaRPr lang="en-US" sz="1050" dirty="0"/>
          </a:p>
        </p:txBody>
      </p:sp>
      <p:sp>
        <p:nvSpPr>
          <p:cNvPr id="22" name="Text 20"/>
          <p:cNvSpPr/>
          <p:nvPr/>
        </p:nvSpPr>
        <p:spPr>
          <a:xfrm>
            <a:off x="640080" y="4892040"/>
            <a:ext cx="10908792" cy="457200"/>
          </a:xfrm>
          <a:prstGeom prst="rect">
            <a:avLst/>
          </a:prstGeom>
          <a:noFill/>
          <a:ln/>
        </p:spPr>
        <p:txBody>
          <a:bodyPr wrap="square" lIns="0" tIns="0" rIns="0" bIns="0" rtlCol="0" anchor="ctr"/>
          <a:lstStyle/>
          <a:p>
            <a:pPr indent="0" marL="0">
              <a:buNone/>
            </a:pPr>
            <a:r>
              <a:rPr lang="en-US" sz="1900" i="1" dirty="0">
                <a:solidFill>
                  <a:srgbClr val="1C1E21"/>
                </a:solidFill>
                <a:latin typeface="Cambria" pitchFamily="34" charset="0"/>
                <a:ea typeface="Cambria" pitchFamily="34" charset="-122"/>
                <a:cs typeface="Cambria" pitchFamily="34" charset="-120"/>
              </a:rPr>
              <a:t>Today we keep all four. What we change is not the world - it is what we are asking for.</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6</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Two very different things we call search</a:t>
            </a:r>
            <a:endParaRPr lang="en-US" sz="3200" dirty="0"/>
          </a:p>
        </p:txBody>
      </p:sp>
      <p:sp>
        <p:nvSpPr>
          <p:cNvPr id="5" name="Shape 3"/>
          <p:cNvSpPr/>
          <p:nvPr/>
        </p:nvSpPr>
        <p:spPr>
          <a:xfrm>
            <a:off x="640080" y="1600200"/>
            <a:ext cx="5349240" cy="4069080"/>
          </a:xfrm>
          <a:prstGeom prst="roundRect">
            <a:avLst>
              <a:gd name="adj" fmla="val 1348"/>
            </a:avLst>
          </a:prstGeom>
          <a:solidFill>
            <a:srgbClr val="F6F7F8"/>
          </a:solidFill>
          <a:ln w="9525">
            <a:solidFill>
              <a:srgbClr val="D3D6D9"/>
            </a:solidFill>
            <a:prstDash val="solid"/>
          </a:ln>
        </p:spPr>
      </p:sp>
      <p:sp>
        <p:nvSpPr>
          <p:cNvPr id="6" name="Text 4"/>
          <p:cNvSpPr/>
          <p:nvPr/>
        </p:nvSpPr>
        <p:spPr>
          <a:xfrm>
            <a:off x="914400" y="1783080"/>
            <a:ext cx="4754880" cy="365760"/>
          </a:xfrm>
          <a:prstGeom prst="rect">
            <a:avLst/>
          </a:prstGeom>
          <a:noFill/>
          <a:ln/>
        </p:spPr>
        <p:txBody>
          <a:bodyPr wrap="square" lIns="0" tIns="0" rIns="0" bIns="0" rtlCol="0" anchor="ctr"/>
          <a:lstStyle/>
          <a:p>
            <a:pPr indent="0" marL="0">
              <a:buNone/>
            </a:pPr>
            <a:r>
              <a:rPr lang="en-US" sz="2100" b="1" dirty="0">
                <a:solidFill>
                  <a:srgbClr val="1C1E21"/>
                </a:solidFill>
                <a:latin typeface="Cambria" pitchFamily="34" charset="0"/>
                <a:ea typeface="Cambria" pitchFamily="34" charset="-122"/>
                <a:cs typeface="Cambria" pitchFamily="34" charset="-120"/>
              </a:rPr>
              <a:t>Planning problems</a:t>
            </a:r>
            <a:endParaRPr lang="en-US" sz="2100" dirty="0"/>
          </a:p>
        </p:txBody>
      </p:sp>
      <p:sp>
        <p:nvSpPr>
          <p:cNvPr id="7" name="Text 5"/>
          <p:cNvSpPr/>
          <p:nvPr/>
        </p:nvSpPr>
        <p:spPr>
          <a:xfrm>
            <a:off x="914400" y="2148840"/>
            <a:ext cx="4754880" cy="274320"/>
          </a:xfrm>
          <a:prstGeom prst="rect">
            <a:avLst/>
          </a:prstGeom>
          <a:noFill/>
          <a:ln/>
        </p:spPr>
        <p:txBody>
          <a:bodyPr wrap="square" lIns="0" tIns="0" rIns="0" bIns="0" rtlCol="0" anchor="ctr"/>
          <a:lstStyle/>
          <a:p>
            <a:pPr indent="0" marL="0">
              <a:buNone/>
            </a:pPr>
            <a:r>
              <a:rPr lang="en-US" sz="1300" i="1" dirty="0">
                <a:solidFill>
                  <a:srgbClr val="CB132A"/>
                </a:solidFill>
                <a:latin typeface="Calibri" pitchFamily="34" charset="0"/>
                <a:ea typeface="Calibri" pitchFamily="34" charset="-122"/>
                <a:cs typeface="Calibri" pitchFamily="34" charset="-120"/>
              </a:rPr>
              <a:t>The path is the answer.</a:t>
            </a:r>
            <a:endParaRPr lang="en-US" sz="1300" dirty="0"/>
          </a:p>
        </p:txBody>
      </p:sp>
      <p:sp>
        <p:nvSpPr>
          <p:cNvPr id="8" name="Text 6"/>
          <p:cNvSpPr/>
          <p:nvPr/>
        </p:nvSpPr>
        <p:spPr>
          <a:xfrm>
            <a:off x="914400" y="2560320"/>
            <a:ext cx="4754880" cy="17373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The output is a sequence of actions to execute</a:t>
            </a:r>
            <a:endParaRPr lang="en-US" sz="1400" dirty="0"/>
          </a:p>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Paths differ in cost and in depth, so both matter</a:t>
            </a:r>
            <a:endParaRPr lang="en-US" sz="1400" dirty="0"/>
          </a:p>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Heuristics inject problem-specific guidance: the goal is probably that way</a:t>
            </a:r>
            <a:endParaRPr lang="en-US" sz="1400" dirty="0"/>
          </a:p>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Getting there cheaply is the whole point</a:t>
            </a:r>
            <a:endParaRPr lang="en-US" sz="1400" dirty="0"/>
          </a:p>
        </p:txBody>
      </p:sp>
      <p:sp>
        <p:nvSpPr>
          <p:cNvPr id="9" name="Text 7"/>
          <p:cNvSpPr/>
          <p:nvPr/>
        </p:nvSpPr>
        <p:spPr>
          <a:xfrm>
            <a:off x="914400" y="5074920"/>
            <a:ext cx="4754880" cy="320040"/>
          </a:xfrm>
          <a:prstGeom prst="rect">
            <a:avLst/>
          </a:prstGeom>
          <a:noFill/>
          <a:ln/>
        </p:spPr>
        <p:txBody>
          <a:bodyPr wrap="square" lIns="0" tIns="0" rIns="0" bIns="0" rtlCol="0" anchor="ctr"/>
          <a:lstStyle/>
          <a:p>
            <a:pPr indent="0" marL="0">
              <a:buNone/>
            </a:pPr>
            <a:r>
              <a:rPr lang="en-US" sz="1200" i="1" dirty="0">
                <a:solidFill>
                  <a:srgbClr val="7C8085"/>
                </a:solidFill>
                <a:latin typeface="Calibri" pitchFamily="34" charset="0"/>
                <a:ea typeface="Calibri" pitchFamily="34" charset="-122"/>
                <a:cs typeface="Calibri" pitchFamily="34" charset="-120"/>
              </a:rPr>
              <a:t>Route planning, Pac-Man, puzzle solving</a:t>
            </a:r>
            <a:endParaRPr lang="en-US" sz="1200" dirty="0"/>
          </a:p>
        </p:txBody>
      </p:sp>
      <p:sp>
        <p:nvSpPr>
          <p:cNvPr id="10" name="Shape 8"/>
          <p:cNvSpPr/>
          <p:nvPr/>
        </p:nvSpPr>
        <p:spPr>
          <a:xfrm>
            <a:off x="6263640" y="1600200"/>
            <a:ext cx="5285232" cy="4069080"/>
          </a:xfrm>
          <a:prstGeom prst="roundRect">
            <a:avLst>
              <a:gd name="adj" fmla="val 1348"/>
            </a:avLst>
          </a:prstGeom>
          <a:solidFill>
            <a:srgbClr val="FBEDEF"/>
          </a:solidFill>
          <a:ln w="9525">
            <a:solidFill>
              <a:srgbClr val="E8B5BC"/>
            </a:solidFill>
            <a:prstDash val="solid"/>
          </a:ln>
        </p:spPr>
      </p:sp>
      <p:sp>
        <p:nvSpPr>
          <p:cNvPr id="11" name="Text 9"/>
          <p:cNvSpPr/>
          <p:nvPr/>
        </p:nvSpPr>
        <p:spPr>
          <a:xfrm>
            <a:off x="6537960" y="1783080"/>
            <a:ext cx="4754880" cy="365760"/>
          </a:xfrm>
          <a:prstGeom prst="rect">
            <a:avLst/>
          </a:prstGeom>
          <a:noFill/>
          <a:ln/>
        </p:spPr>
        <p:txBody>
          <a:bodyPr wrap="square" lIns="0" tIns="0" rIns="0" bIns="0" rtlCol="0" anchor="ctr"/>
          <a:lstStyle/>
          <a:p>
            <a:pPr indent="0" marL="0">
              <a:buNone/>
            </a:pPr>
            <a:r>
              <a:rPr lang="en-US" sz="2100" b="1" dirty="0">
                <a:solidFill>
                  <a:srgbClr val="1C1E21"/>
                </a:solidFill>
                <a:latin typeface="Cambria" pitchFamily="34" charset="0"/>
                <a:ea typeface="Cambria" pitchFamily="34" charset="-122"/>
                <a:cs typeface="Cambria" pitchFamily="34" charset="-120"/>
              </a:rPr>
              <a:t>Identification problems</a:t>
            </a:r>
            <a:endParaRPr lang="en-US" sz="2100" dirty="0"/>
          </a:p>
        </p:txBody>
      </p:sp>
      <p:sp>
        <p:nvSpPr>
          <p:cNvPr id="12" name="Text 10"/>
          <p:cNvSpPr/>
          <p:nvPr/>
        </p:nvSpPr>
        <p:spPr>
          <a:xfrm>
            <a:off x="6537960" y="2148840"/>
            <a:ext cx="4754880" cy="274320"/>
          </a:xfrm>
          <a:prstGeom prst="rect">
            <a:avLst/>
          </a:prstGeom>
          <a:noFill/>
          <a:ln/>
        </p:spPr>
        <p:txBody>
          <a:bodyPr wrap="square" lIns="0" tIns="0" rIns="0" bIns="0" rtlCol="0" anchor="ctr"/>
          <a:lstStyle/>
          <a:p>
            <a:pPr indent="0" marL="0">
              <a:buNone/>
            </a:pPr>
            <a:r>
              <a:rPr lang="en-US" sz="1300" i="1" dirty="0">
                <a:solidFill>
                  <a:srgbClr val="CB132A"/>
                </a:solidFill>
                <a:latin typeface="Calibri" pitchFamily="34" charset="0"/>
                <a:ea typeface="Calibri" pitchFamily="34" charset="-122"/>
                <a:cs typeface="Calibri" pitchFamily="34" charset="-120"/>
              </a:rPr>
              <a:t>The final assignment is the answer.</a:t>
            </a:r>
            <a:endParaRPr lang="en-US" sz="1300" dirty="0"/>
          </a:p>
        </p:txBody>
      </p:sp>
      <p:sp>
        <p:nvSpPr>
          <p:cNvPr id="13" name="Text 11"/>
          <p:cNvSpPr/>
          <p:nvPr/>
        </p:nvSpPr>
        <p:spPr>
          <a:xfrm>
            <a:off x="6537960" y="2560320"/>
            <a:ext cx="4754880" cy="1737360"/>
          </a:xfrm>
          <a:prstGeom prst="rect">
            <a:avLst/>
          </a:prstGeom>
          <a:noFill/>
          <a:ln/>
        </p:spPr>
        <p:txBody>
          <a:bodyPr wrap="square" lIns="0" tIns="0" rIns="0" bIns="0" rtlCol="0" anchor="t"/>
          <a:lstStyle/>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Nobody cares how you found it or what you tried first</a:t>
            </a:r>
            <a:endParaRPr lang="en-US" sz="1400" dirty="0"/>
          </a:p>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Every solution sits at the same depth: every variable gets exactly one value</a:t>
            </a:r>
            <a:endParaRPr lang="en-US" sz="1400" dirty="0"/>
          </a:p>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Path cost is meaningless here; there is no path to hand anyone</a:t>
            </a:r>
            <a:endParaRPr lang="en-US" sz="1400" dirty="0"/>
          </a:p>
          <a:p>
            <a:pPr marL="177800" indent="-177800">
              <a:spcAft>
                <a:spcPts val="900"/>
              </a:spcAft>
              <a:buSzPct val="100000"/>
              <a:buChar char="•"/>
            </a:pPr>
            <a:r>
              <a:rPr lang="en-US" sz="1400" dirty="0">
                <a:solidFill>
                  <a:srgbClr val="1C1E21"/>
                </a:solidFill>
                <a:latin typeface="Calibri" pitchFamily="34" charset="0"/>
                <a:ea typeface="Calibri" pitchFamily="34" charset="-122"/>
                <a:cs typeface="Calibri" pitchFamily="34" charset="-120"/>
              </a:rPr>
              <a:t>CSPs are a structured special case of this</a:t>
            </a:r>
            <a:endParaRPr lang="en-US" sz="1400" dirty="0"/>
          </a:p>
        </p:txBody>
      </p:sp>
      <p:sp>
        <p:nvSpPr>
          <p:cNvPr id="14" name="Text 12"/>
          <p:cNvSpPr/>
          <p:nvPr/>
        </p:nvSpPr>
        <p:spPr>
          <a:xfrm>
            <a:off x="6537960" y="5074920"/>
            <a:ext cx="4754880" cy="320040"/>
          </a:xfrm>
          <a:prstGeom prst="rect">
            <a:avLst/>
          </a:prstGeom>
          <a:noFill/>
          <a:ln/>
        </p:spPr>
        <p:txBody>
          <a:bodyPr wrap="square" lIns="0" tIns="0" rIns="0" bIns="0" rtlCol="0" anchor="ctr"/>
          <a:lstStyle/>
          <a:p>
            <a:pPr indent="0" marL="0">
              <a:buNone/>
            </a:pPr>
            <a:r>
              <a:rPr lang="en-US" sz="1200" i="1" dirty="0">
                <a:solidFill>
                  <a:srgbClr val="7C8085"/>
                </a:solidFill>
                <a:latin typeface="Calibri" pitchFamily="34" charset="0"/>
                <a:ea typeface="Calibri" pitchFamily="34" charset="-122"/>
                <a:cs typeface="Calibri" pitchFamily="34" charset="-120"/>
              </a:rPr>
              <a:t>Scheduling, timetabling, assignment, configuration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2423160"/>
            <a:ext cx="3657600" cy="365760"/>
          </a:xfrm>
          <a:prstGeom prst="rect">
            <a:avLst/>
          </a:prstGeom>
          <a:noFill/>
          <a:ln/>
        </p:spPr>
        <p:txBody>
          <a:bodyPr wrap="square" lIns="0" tIns="0" rIns="0" bIns="0" rtlCol="0" anchor="ctr"/>
          <a:lstStyle/>
          <a:p>
            <a:pPr indent="0" marL="0">
              <a:buNone/>
            </a:pPr>
            <a:r>
              <a:rPr lang="en-US" sz="1400" b="1" spc="300" kern="0" dirty="0">
                <a:solidFill>
                  <a:srgbClr val="CB132A"/>
                </a:solidFill>
                <a:latin typeface="Calibri" pitchFamily="34" charset="0"/>
                <a:ea typeface="Calibri" pitchFamily="34" charset="-122"/>
                <a:cs typeface="Calibri" pitchFamily="34" charset="-120"/>
              </a:rPr>
              <a:t>Part 2</a:t>
            </a:r>
            <a:endParaRPr lang="en-US" sz="1400" dirty="0"/>
          </a:p>
        </p:txBody>
      </p:sp>
      <p:sp>
        <p:nvSpPr>
          <p:cNvPr id="3" name="Text 1"/>
          <p:cNvSpPr/>
          <p:nvPr/>
        </p:nvSpPr>
        <p:spPr>
          <a:xfrm>
            <a:off x="640080" y="278892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What a CSP actually is</a:t>
            </a:r>
            <a:endParaRPr lang="en-US" sz="4000" dirty="0"/>
          </a:p>
        </p:txBody>
      </p:sp>
      <p:sp>
        <p:nvSpPr>
          <p:cNvPr id="4" name="Text 2"/>
          <p:cNvSpPr/>
          <p:nvPr/>
        </p:nvSpPr>
        <p:spPr>
          <a:xfrm>
            <a:off x="640080" y="3703320"/>
            <a:ext cx="9144000" cy="411480"/>
          </a:xfrm>
          <a:prstGeom prst="rect">
            <a:avLst/>
          </a:prstGeom>
          <a:noFill/>
          <a:ln/>
        </p:spPr>
        <p:txBody>
          <a:bodyPr wrap="square" lIns="0" tIns="0" rIns="0" bIns="0" rtlCol="0" anchor="ctr"/>
          <a:lstStyle/>
          <a:p>
            <a:pPr indent="0" marL="0">
              <a:buNone/>
            </a:pPr>
            <a:r>
              <a:rPr lang="en-US" sz="1700" i="1" dirty="0">
                <a:solidFill>
                  <a:srgbClr val="9FA4A9"/>
                </a:solidFill>
                <a:latin typeface="Calibri" pitchFamily="34" charset="0"/>
                <a:ea typeface="Calibri" pitchFamily="34" charset="-122"/>
                <a:cs typeface="Calibri" pitchFamily="34" charset="-120"/>
              </a:rPr>
              <a:t>Opening up the black box</a:t>
            </a:r>
            <a:endParaRPr lang="en-US" sz="1700" dirty="0"/>
          </a:p>
        </p:txBody>
      </p:sp>
      <p:sp>
        <p:nvSpPr>
          <p:cNvPr id="5" name="Shape 3"/>
          <p:cNvSpPr/>
          <p:nvPr/>
        </p:nvSpPr>
        <p:spPr>
          <a:xfrm>
            <a:off x="640080" y="4572000"/>
            <a:ext cx="347472" cy="347472"/>
          </a:xfrm>
          <a:prstGeom prst="rect">
            <a:avLst/>
          </a:prstGeom>
          <a:solidFill>
            <a:srgbClr val="C0392B"/>
          </a:solidFill>
          <a:ln w="12700">
            <a:solidFill>
              <a:srgbClr val="333333"/>
            </a:solidFill>
            <a:prstDash val="solid"/>
          </a:ln>
        </p:spPr>
      </p:sp>
      <p:sp>
        <p:nvSpPr>
          <p:cNvPr id="6" name="Shape 4"/>
          <p:cNvSpPr/>
          <p:nvPr/>
        </p:nvSpPr>
        <p:spPr>
          <a:xfrm>
            <a:off x="1097280" y="4572000"/>
            <a:ext cx="347472" cy="347472"/>
          </a:xfrm>
          <a:prstGeom prst="rect">
            <a:avLst/>
          </a:prstGeom>
          <a:solidFill>
            <a:srgbClr val="2E8B45"/>
          </a:solidFill>
          <a:ln w="12700">
            <a:solidFill>
              <a:srgbClr val="333333"/>
            </a:solidFill>
            <a:prstDash val="solid"/>
          </a:ln>
        </p:spPr>
      </p:sp>
      <p:sp>
        <p:nvSpPr>
          <p:cNvPr id="7" name="Shape 5"/>
          <p:cNvSpPr/>
          <p:nvPr/>
        </p:nvSpPr>
        <p:spPr>
          <a:xfrm>
            <a:off x="1554480" y="4572000"/>
            <a:ext cx="347472" cy="347472"/>
          </a:xfrm>
          <a:prstGeom prst="rect">
            <a:avLst/>
          </a:prstGeom>
          <a:solidFill>
            <a:srgbClr val="2A62C4"/>
          </a:solidFill>
          <a:ln w="12700">
            <a:solidFill>
              <a:srgbClr val="333333"/>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8</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The black box, and what replaces it</a:t>
            </a:r>
            <a:endParaRPr lang="en-US" sz="3200" dirty="0"/>
          </a:p>
        </p:txBody>
      </p:sp>
      <p:sp>
        <p:nvSpPr>
          <p:cNvPr id="5" name="Shape 3"/>
          <p:cNvSpPr/>
          <p:nvPr/>
        </p:nvSpPr>
        <p:spPr>
          <a:xfrm>
            <a:off x="640080" y="1554480"/>
            <a:ext cx="5349240" cy="4114800"/>
          </a:xfrm>
          <a:prstGeom prst="roundRect">
            <a:avLst>
              <a:gd name="adj" fmla="val 1333"/>
            </a:avLst>
          </a:prstGeom>
          <a:solidFill>
            <a:srgbClr val="F6F7F8"/>
          </a:solidFill>
          <a:ln w="9525">
            <a:solidFill>
              <a:srgbClr val="D3D6D9"/>
            </a:solidFill>
            <a:prstDash val="solid"/>
          </a:ln>
        </p:spPr>
      </p:sp>
      <p:sp>
        <p:nvSpPr>
          <p:cNvPr id="6" name="Text 4"/>
          <p:cNvSpPr/>
          <p:nvPr/>
        </p:nvSpPr>
        <p:spPr>
          <a:xfrm>
            <a:off x="914400" y="1737360"/>
            <a:ext cx="4754880" cy="365760"/>
          </a:xfrm>
          <a:prstGeom prst="rect">
            <a:avLst/>
          </a:prstGeom>
          <a:noFill/>
          <a:ln/>
        </p:spPr>
        <p:txBody>
          <a:bodyPr wrap="square" lIns="0" tIns="0" rIns="0" bIns="0" rtlCol="0" anchor="ctr"/>
          <a:lstStyle/>
          <a:p>
            <a:pPr indent="0" marL="0">
              <a:buNone/>
            </a:pPr>
            <a:r>
              <a:rPr lang="en-US" sz="1900" b="1" dirty="0">
                <a:solidFill>
                  <a:srgbClr val="53565A"/>
                </a:solidFill>
                <a:latin typeface="Cambria" pitchFamily="34" charset="0"/>
                <a:ea typeface="Cambria" pitchFamily="34" charset="-122"/>
                <a:cs typeface="Cambria" pitchFamily="34" charset="-120"/>
              </a:rPr>
              <a:t>Standard search problem</a:t>
            </a:r>
            <a:endParaRPr lang="en-US" sz="1900" dirty="0"/>
          </a:p>
        </p:txBody>
      </p:sp>
      <p:sp>
        <p:nvSpPr>
          <p:cNvPr id="7" name="Text 5"/>
          <p:cNvSpPr/>
          <p:nvPr/>
        </p:nvSpPr>
        <p:spPr>
          <a:xfrm>
            <a:off x="914400" y="2194560"/>
            <a:ext cx="4800600" cy="3017520"/>
          </a:xfrm>
          <a:prstGeom prst="rect">
            <a:avLst/>
          </a:prstGeom>
          <a:noFill/>
          <a:ln/>
        </p:spPr>
        <p:txBody>
          <a:bodyPr wrap="square" lIns="0" tIns="0" rIns="0" bIns="0" rtlCol="0" anchor="t"/>
          <a:lstStyle/>
          <a:p>
            <a:pPr marL="177800" indent="-177800">
              <a:spcAft>
                <a:spcPts val="600"/>
              </a:spcAft>
              <a:buSzPct val="100000"/>
              <a:buChar char="•"/>
            </a:pPr>
            <a:r>
              <a:rPr lang="en-US" sz="1450" b="1" dirty="0">
                <a:solidFill>
                  <a:srgbClr val="1C1E21"/>
                </a:solidFill>
                <a:latin typeface="Calibri" pitchFamily="34" charset="0"/>
                <a:ea typeface="Calibri" pitchFamily="34" charset="-122"/>
                <a:cs typeface="Calibri" pitchFamily="34" charset="-120"/>
              </a:rPr>
              <a:t>State: an arbitrary data structure</a:t>
            </a:r>
            <a:endParaRPr lang="en-US" sz="1450" dirty="0"/>
          </a:p>
          <a:p>
            <a:pPr lvl="1" marL="355600" indent="-177800">
              <a:spcAft>
                <a:spcPts val="600"/>
              </a:spcAft>
              <a:buSzPct val="100000"/>
              <a:buChar char="•"/>
            </a:pPr>
            <a:r>
              <a:rPr lang="en-US" sz="1300" dirty="0">
                <a:solidFill>
                  <a:srgbClr val="53565A"/>
                </a:solidFill>
                <a:latin typeface="Calibri" pitchFamily="34" charset="0"/>
                <a:ea typeface="Calibri" pitchFamily="34" charset="-122"/>
                <a:cs typeface="Calibri" pitchFamily="34" charset="-120"/>
              </a:rPr>
              <a:t>You cannot look inside it. All you can do is call two functions on it.</a:t>
            </a:r>
            <a:endParaRPr lang="en-US" sz="1450" dirty="0"/>
          </a:p>
          <a:p>
            <a:pPr marL="177800" indent="-177800">
              <a:spcAft>
                <a:spcPts val="600"/>
              </a:spcAft>
              <a:buSzPct val="100000"/>
              <a:buChar char="•"/>
            </a:pPr>
            <a:r>
              <a:rPr lang="en-US" sz="1450" b="1" dirty="0">
                <a:solidFill>
                  <a:srgbClr val="1C1E21"/>
                </a:solidFill>
                <a:latin typeface="Calibri" pitchFamily="34" charset="0"/>
                <a:ea typeface="Calibri" pitchFamily="34" charset="-122"/>
                <a:cs typeface="Calibri" pitchFamily="34" charset="-120"/>
              </a:rPr>
              <a:t>Goal test: any function over states</a:t>
            </a:r>
            <a:endParaRPr lang="en-US" sz="1450" dirty="0"/>
          </a:p>
          <a:p>
            <a:pPr lvl="1" marL="355600" indent="-177800">
              <a:spcAft>
                <a:spcPts val="600"/>
              </a:spcAft>
              <a:buSzPct val="100000"/>
              <a:buChar char="•"/>
            </a:pPr>
            <a:r>
              <a:rPr lang="en-US" sz="1300" dirty="0">
                <a:solidFill>
                  <a:srgbClr val="53565A"/>
                </a:solidFill>
                <a:latin typeface="Calibri" pitchFamily="34" charset="0"/>
                <a:ea typeface="Calibri" pitchFamily="34" charset="-122"/>
                <a:cs typeface="Calibri" pitchFamily="34" charset="-120"/>
              </a:rPr>
              <a:t>A judge who looks at a candidate and says goal or not-goal, with no explanation and no partial credit.</a:t>
            </a:r>
            <a:endParaRPr lang="en-US" sz="1450" dirty="0"/>
          </a:p>
          <a:p>
            <a:pPr marL="177800" indent="-177800">
              <a:spcAft>
                <a:spcPts val="600"/>
              </a:spcAft>
              <a:buSzPct val="100000"/>
              <a:buChar char="•"/>
            </a:pPr>
            <a:r>
              <a:rPr lang="en-US" sz="1450" b="1" dirty="0">
                <a:solidFill>
                  <a:srgbClr val="1C1E21"/>
                </a:solidFill>
                <a:latin typeface="Calibri" pitchFamily="34" charset="0"/>
                <a:ea typeface="Calibri" pitchFamily="34" charset="-122"/>
                <a:cs typeface="Calibri" pitchFamily="34" charset="-120"/>
              </a:rPr>
              <a:t>Successor function: anything at all</a:t>
            </a:r>
            <a:endParaRPr lang="en-US" sz="1450" dirty="0"/>
          </a:p>
          <a:p>
            <a:pPr lvl="1" marL="355600" indent="-177800">
              <a:spcAft>
                <a:spcPts val="600"/>
              </a:spcAft>
              <a:buSzPct val="100000"/>
              <a:buChar char="•"/>
            </a:pPr>
            <a:r>
              <a:rPr lang="en-US" sz="1300" dirty="0">
                <a:solidFill>
                  <a:srgbClr val="53565A"/>
                </a:solidFill>
                <a:latin typeface="Calibri" pitchFamily="34" charset="0"/>
                <a:ea typeface="Calibri" pitchFamily="34" charset="-122"/>
                <a:cs typeface="Calibri" pitchFamily="34" charset="-120"/>
              </a:rPr>
              <a:t>Whatever the problem author decided.</a:t>
            </a:r>
            <a:endParaRPr lang="en-US" sz="1450" dirty="0"/>
          </a:p>
        </p:txBody>
      </p:sp>
      <p:sp>
        <p:nvSpPr>
          <p:cNvPr id="8" name="Text 6"/>
          <p:cNvSpPr/>
          <p:nvPr/>
        </p:nvSpPr>
        <p:spPr>
          <a:xfrm>
            <a:off x="914400" y="5120640"/>
            <a:ext cx="4754880" cy="365760"/>
          </a:xfrm>
          <a:prstGeom prst="rect">
            <a:avLst/>
          </a:prstGeom>
          <a:noFill/>
          <a:ln/>
        </p:spPr>
        <p:txBody>
          <a:bodyPr wrap="square" lIns="0" tIns="0" rIns="0" bIns="0" rtlCol="0" anchor="ctr"/>
          <a:lstStyle/>
          <a:p>
            <a:pPr indent="0" marL="0">
              <a:buNone/>
            </a:pPr>
            <a:r>
              <a:rPr lang="en-US" sz="1250" i="1" dirty="0">
                <a:solidFill>
                  <a:srgbClr val="7C8085"/>
                </a:solidFill>
                <a:latin typeface="Calibri" pitchFamily="34" charset="0"/>
                <a:ea typeface="Calibri" pitchFamily="34" charset="-122"/>
                <a:cs typeface="Calibri" pitchFamily="34" charset="-120"/>
              </a:rPr>
              <a:t>Generic in, generic out. Nothing to exploit.</a:t>
            </a:r>
            <a:endParaRPr lang="en-US" sz="1250" dirty="0"/>
          </a:p>
        </p:txBody>
      </p:sp>
      <p:sp>
        <p:nvSpPr>
          <p:cNvPr id="9" name="Shape 7"/>
          <p:cNvSpPr/>
          <p:nvPr/>
        </p:nvSpPr>
        <p:spPr>
          <a:xfrm>
            <a:off x="6263640" y="1554480"/>
            <a:ext cx="5285232" cy="4114800"/>
          </a:xfrm>
          <a:prstGeom prst="roundRect">
            <a:avLst>
              <a:gd name="adj" fmla="val 1333"/>
            </a:avLst>
          </a:prstGeom>
          <a:solidFill>
            <a:srgbClr val="FBEDEF"/>
          </a:solidFill>
          <a:ln w="9525">
            <a:solidFill>
              <a:srgbClr val="E8B5BC"/>
            </a:solidFill>
            <a:prstDash val="solid"/>
          </a:ln>
        </p:spPr>
      </p:sp>
      <p:sp>
        <p:nvSpPr>
          <p:cNvPr id="10" name="Text 8"/>
          <p:cNvSpPr/>
          <p:nvPr/>
        </p:nvSpPr>
        <p:spPr>
          <a:xfrm>
            <a:off x="6537960" y="1737360"/>
            <a:ext cx="475488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Constraint satisfaction problem</a:t>
            </a:r>
            <a:endParaRPr lang="en-US" sz="1900" dirty="0"/>
          </a:p>
        </p:txBody>
      </p:sp>
      <p:sp>
        <p:nvSpPr>
          <p:cNvPr id="11" name="Text 9"/>
          <p:cNvSpPr/>
          <p:nvPr/>
        </p:nvSpPr>
        <p:spPr>
          <a:xfrm>
            <a:off x="6537960" y="2194560"/>
            <a:ext cx="4754880" cy="3017520"/>
          </a:xfrm>
          <a:prstGeom prst="rect">
            <a:avLst/>
          </a:prstGeom>
          <a:noFill/>
          <a:ln/>
        </p:spPr>
        <p:txBody>
          <a:bodyPr wrap="square" lIns="0" tIns="0" rIns="0" bIns="0" rtlCol="0" anchor="t"/>
          <a:lstStyle/>
          <a:p>
            <a:pPr marL="177800" indent="-177800">
              <a:spcAft>
                <a:spcPts val="600"/>
              </a:spcAft>
              <a:buSzPct val="100000"/>
              <a:buChar char="•"/>
            </a:pPr>
            <a:r>
              <a:rPr lang="en-US" sz="1450" b="1" dirty="0">
                <a:solidFill>
                  <a:srgbClr val="1C1E21"/>
                </a:solidFill>
                <a:latin typeface="Calibri" pitchFamily="34" charset="0"/>
                <a:ea typeface="Calibri" pitchFamily="34" charset="-122"/>
                <a:cs typeface="Calibri" pitchFamily="34" charset="-120"/>
              </a:rPr>
              <a:t>State: an assignment of values to variables</a:t>
            </a:r>
            <a:endParaRPr lang="en-US" sz="1450" dirty="0"/>
          </a:p>
          <a:p>
            <a:pPr lvl="1" marL="355600" indent="-177800">
              <a:spcAft>
                <a:spcPts val="600"/>
              </a:spcAft>
              <a:buSzPct val="100000"/>
              <a:buChar char="•"/>
            </a:pPr>
            <a:r>
              <a:rPr lang="en-US" sz="1300" dirty="0">
                <a:solidFill>
                  <a:srgbClr val="53565A"/>
                </a:solidFill>
                <a:latin typeface="Calibri" pitchFamily="34" charset="0"/>
                <a:ea typeface="Calibri" pitchFamily="34" charset="-122"/>
                <a:cs typeface="Calibri" pitchFamily="34" charset="-120"/>
              </a:rPr>
              <a:t>You can read it, inspect it, and reason about the parts you have filled in so far.</a:t>
            </a:r>
            <a:endParaRPr lang="en-US" sz="1450" dirty="0"/>
          </a:p>
          <a:p>
            <a:pPr marL="177800" indent="-177800">
              <a:spcAft>
                <a:spcPts val="600"/>
              </a:spcAft>
              <a:buSzPct val="100000"/>
              <a:buChar char="•"/>
            </a:pPr>
            <a:r>
              <a:rPr lang="en-US" sz="1450" b="1" dirty="0">
                <a:solidFill>
                  <a:srgbClr val="1C1E21"/>
                </a:solidFill>
                <a:latin typeface="Calibri" pitchFamily="34" charset="0"/>
                <a:ea typeface="Calibri" pitchFamily="34" charset="-122"/>
                <a:cs typeface="Calibri" pitchFamily="34" charset="-120"/>
              </a:rPr>
              <a:t>Goal test: a written-down set of constraints</a:t>
            </a:r>
            <a:endParaRPr lang="en-US" sz="1450" dirty="0"/>
          </a:p>
          <a:p>
            <a:pPr lvl="1" marL="355600" indent="-177800">
              <a:spcAft>
                <a:spcPts val="600"/>
              </a:spcAft>
              <a:buSzPct val="100000"/>
              <a:buChar char="•"/>
            </a:pPr>
            <a:r>
              <a:rPr lang="en-US" sz="1300" dirty="0">
                <a:solidFill>
                  <a:srgbClr val="53565A"/>
                </a:solidFill>
                <a:latin typeface="Calibri" pitchFamily="34" charset="0"/>
                <a:ea typeface="Calibri" pitchFamily="34" charset="-122"/>
                <a:cs typeface="Calibri" pitchFamily="34" charset="-120"/>
              </a:rPr>
              <a:t>Not a judge - the actual statute. You can check whether you are breaking a rule right now.</a:t>
            </a:r>
            <a:endParaRPr lang="en-US" sz="1450" dirty="0"/>
          </a:p>
          <a:p>
            <a:pPr marL="177800" indent="-177800">
              <a:spcAft>
                <a:spcPts val="600"/>
              </a:spcAft>
              <a:buSzPct val="100000"/>
              <a:buChar char="•"/>
            </a:pPr>
            <a:r>
              <a:rPr lang="en-US" sz="1450" b="1" dirty="0">
                <a:solidFill>
                  <a:srgbClr val="1C1E21"/>
                </a:solidFill>
                <a:latin typeface="Calibri" pitchFamily="34" charset="0"/>
                <a:ea typeface="Calibri" pitchFamily="34" charset="-122"/>
                <a:cs typeface="Calibri" pitchFamily="34" charset="-120"/>
              </a:rPr>
              <a:t>Successor function: assign one more variable</a:t>
            </a:r>
            <a:endParaRPr lang="en-US" sz="1450" dirty="0"/>
          </a:p>
          <a:p>
            <a:pPr lvl="1" marL="355600" indent="-177800">
              <a:spcAft>
                <a:spcPts val="600"/>
              </a:spcAft>
              <a:buSzPct val="100000"/>
              <a:buChar char="•"/>
            </a:pPr>
            <a:r>
              <a:rPr lang="en-US" sz="1300" dirty="0">
                <a:solidFill>
                  <a:srgbClr val="53565A"/>
                </a:solidFill>
                <a:latin typeface="Calibri" pitchFamily="34" charset="0"/>
                <a:ea typeface="Calibri" pitchFamily="34" charset="-122"/>
                <a:cs typeface="Calibri" pitchFamily="34" charset="-120"/>
              </a:rPr>
              <a:t>Fixed, known, and the same for every CSP.</a:t>
            </a:r>
            <a:endParaRPr lang="en-US" sz="1450" dirty="0"/>
          </a:p>
        </p:txBody>
      </p:sp>
      <p:sp>
        <p:nvSpPr>
          <p:cNvPr id="12" name="Text 10"/>
          <p:cNvSpPr/>
          <p:nvPr/>
        </p:nvSpPr>
        <p:spPr>
          <a:xfrm>
            <a:off x="6537960" y="5120640"/>
            <a:ext cx="4754880" cy="365760"/>
          </a:xfrm>
          <a:prstGeom prst="rect">
            <a:avLst/>
          </a:prstGeom>
          <a:noFill/>
          <a:ln/>
        </p:spPr>
        <p:txBody>
          <a:bodyPr wrap="square" lIns="0" tIns="0" rIns="0" bIns="0" rtlCol="0" anchor="ctr"/>
          <a:lstStyle/>
          <a:p>
            <a:pPr indent="0" marL="0">
              <a:buNone/>
            </a:pPr>
            <a:r>
              <a:rPr lang="en-US" sz="1250" i="1" dirty="0">
                <a:solidFill>
                  <a:srgbClr val="CB132A"/>
                </a:solidFill>
                <a:latin typeface="Calibri" pitchFamily="34" charset="0"/>
                <a:ea typeface="Calibri" pitchFamily="34" charset="-122"/>
                <a:cs typeface="Calibri" pitchFamily="34" charset="-120"/>
              </a:rPr>
              <a:t>A formal representation language a general solver can exploit.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9</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Definition</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 CSP is a triple. That is the whole formalism.</a:t>
            </a:r>
            <a:endParaRPr lang="en-US" sz="1400" dirty="0"/>
          </a:p>
        </p:txBody>
      </p:sp>
      <p:sp>
        <p:nvSpPr>
          <p:cNvPr id="6" name="Shape 4"/>
          <p:cNvSpPr/>
          <p:nvPr/>
        </p:nvSpPr>
        <p:spPr>
          <a:xfrm>
            <a:off x="640080" y="1691640"/>
            <a:ext cx="10908792" cy="1170432"/>
          </a:xfrm>
          <a:prstGeom prst="roundRect">
            <a:avLst>
              <a:gd name="adj" fmla="val 4688"/>
            </a:avLst>
          </a:prstGeom>
          <a:solidFill>
            <a:srgbClr val="F6F7F8"/>
          </a:solidFill>
          <a:ln w="9525">
            <a:solidFill>
              <a:srgbClr val="D3D6D9"/>
            </a:solidFill>
            <a:prstDash val="solid"/>
          </a:ln>
        </p:spPr>
      </p:sp>
      <p:sp>
        <p:nvSpPr>
          <p:cNvPr id="7" name="Shape 5"/>
          <p:cNvSpPr/>
          <p:nvPr/>
        </p:nvSpPr>
        <p:spPr>
          <a:xfrm>
            <a:off x="896112" y="1956816"/>
            <a:ext cx="640080" cy="640080"/>
          </a:xfrm>
          <a:prstGeom prst="ellipse">
            <a:avLst/>
          </a:prstGeom>
          <a:solidFill>
            <a:srgbClr val="1C1E21"/>
          </a:solidFill>
          <a:ln w="12700">
            <a:solidFill>
              <a:srgbClr val="333333"/>
            </a:solidFill>
            <a:prstDash val="solid"/>
          </a:ln>
        </p:spPr>
      </p:sp>
      <p:sp>
        <p:nvSpPr>
          <p:cNvPr id="8" name="Text 6"/>
          <p:cNvSpPr/>
          <p:nvPr/>
        </p:nvSpPr>
        <p:spPr>
          <a:xfrm>
            <a:off x="896112" y="1956816"/>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X</a:t>
            </a:r>
            <a:endParaRPr lang="en-US" sz="2400" dirty="0"/>
          </a:p>
        </p:txBody>
      </p:sp>
      <p:sp>
        <p:nvSpPr>
          <p:cNvPr id="9" name="Text 7"/>
          <p:cNvSpPr/>
          <p:nvPr/>
        </p:nvSpPr>
        <p:spPr>
          <a:xfrm>
            <a:off x="1737360" y="1874520"/>
            <a:ext cx="2194560" cy="347472"/>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Variables</a:t>
            </a:r>
            <a:endParaRPr lang="en-US" sz="1900" dirty="0"/>
          </a:p>
        </p:txBody>
      </p:sp>
      <p:sp>
        <p:nvSpPr>
          <p:cNvPr id="10" name="Text 8"/>
          <p:cNvSpPr/>
          <p:nvPr/>
        </p:nvSpPr>
        <p:spPr>
          <a:xfrm>
            <a:off x="1737360" y="2258568"/>
            <a:ext cx="2377440" cy="365760"/>
          </a:xfrm>
          <a:prstGeom prst="rect">
            <a:avLst/>
          </a:prstGeom>
          <a:noFill/>
          <a:ln/>
        </p:spPr>
        <p:txBody>
          <a:bodyPr wrap="square" lIns="0" tIns="0" rIns="0" bIns="0" rtlCol="0" anchor="ctr"/>
          <a:lstStyle/>
          <a:p>
            <a:pPr indent="0" marL="0">
              <a:buNone/>
            </a:pPr>
            <a:r>
              <a:rPr lang="en-US" sz="1300" dirty="0">
                <a:solidFill>
                  <a:srgbClr val="1C1E21"/>
                </a:solidFill>
                <a:latin typeface="Courier New" pitchFamily="34" charset="0"/>
                <a:ea typeface="Courier New" pitchFamily="34" charset="-122"/>
                <a:cs typeface="Courier New" pitchFamily="34" charset="-120"/>
              </a:rPr>
              <a:t>X = {X1, ..., Xn}</a:t>
            </a:r>
            <a:endParaRPr lang="en-US" sz="1300" dirty="0"/>
          </a:p>
        </p:txBody>
      </p:sp>
      <p:sp>
        <p:nvSpPr>
          <p:cNvPr id="11" name="Text 9"/>
          <p:cNvSpPr/>
          <p:nvPr/>
        </p:nvSpPr>
        <p:spPr>
          <a:xfrm>
            <a:off x="4297680" y="1920240"/>
            <a:ext cx="6858000" cy="77724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One per decision the problem forces you to make.</a:t>
            </a:r>
            <a:endParaRPr lang="en-US" sz="1400" dirty="0"/>
          </a:p>
        </p:txBody>
      </p:sp>
      <p:sp>
        <p:nvSpPr>
          <p:cNvPr id="12" name="Shape 10"/>
          <p:cNvSpPr/>
          <p:nvPr/>
        </p:nvSpPr>
        <p:spPr>
          <a:xfrm>
            <a:off x="640080" y="2990088"/>
            <a:ext cx="10908792" cy="1170432"/>
          </a:xfrm>
          <a:prstGeom prst="roundRect">
            <a:avLst>
              <a:gd name="adj" fmla="val 4688"/>
            </a:avLst>
          </a:prstGeom>
          <a:solidFill>
            <a:srgbClr val="F6F7F8"/>
          </a:solidFill>
          <a:ln w="9525">
            <a:solidFill>
              <a:srgbClr val="D3D6D9"/>
            </a:solidFill>
            <a:prstDash val="solid"/>
          </a:ln>
        </p:spPr>
      </p:sp>
      <p:sp>
        <p:nvSpPr>
          <p:cNvPr id="13" name="Shape 11"/>
          <p:cNvSpPr/>
          <p:nvPr/>
        </p:nvSpPr>
        <p:spPr>
          <a:xfrm>
            <a:off x="896112" y="3255264"/>
            <a:ext cx="640080" cy="640080"/>
          </a:xfrm>
          <a:prstGeom prst="ellipse">
            <a:avLst/>
          </a:prstGeom>
          <a:solidFill>
            <a:srgbClr val="1C1E21"/>
          </a:solidFill>
          <a:ln w="12700">
            <a:solidFill>
              <a:srgbClr val="333333"/>
            </a:solidFill>
            <a:prstDash val="solid"/>
          </a:ln>
        </p:spPr>
      </p:sp>
      <p:sp>
        <p:nvSpPr>
          <p:cNvPr id="14" name="Text 12"/>
          <p:cNvSpPr/>
          <p:nvPr/>
        </p:nvSpPr>
        <p:spPr>
          <a:xfrm>
            <a:off x="896112" y="3255264"/>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D</a:t>
            </a:r>
            <a:endParaRPr lang="en-US" sz="2400" dirty="0"/>
          </a:p>
        </p:txBody>
      </p:sp>
      <p:sp>
        <p:nvSpPr>
          <p:cNvPr id="15" name="Text 13"/>
          <p:cNvSpPr/>
          <p:nvPr/>
        </p:nvSpPr>
        <p:spPr>
          <a:xfrm>
            <a:off x="1737360" y="3172968"/>
            <a:ext cx="2194560" cy="347472"/>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Domains</a:t>
            </a:r>
            <a:endParaRPr lang="en-US" sz="1900" dirty="0"/>
          </a:p>
        </p:txBody>
      </p:sp>
      <p:sp>
        <p:nvSpPr>
          <p:cNvPr id="16" name="Text 14"/>
          <p:cNvSpPr/>
          <p:nvPr/>
        </p:nvSpPr>
        <p:spPr>
          <a:xfrm>
            <a:off x="1737360" y="3557016"/>
            <a:ext cx="2377440" cy="365760"/>
          </a:xfrm>
          <a:prstGeom prst="rect">
            <a:avLst/>
          </a:prstGeom>
          <a:noFill/>
          <a:ln/>
        </p:spPr>
        <p:txBody>
          <a:bodyPr wrap="square" lIns="0" tIns="0" rIns="0" bIns="0" rtlCol="0" anchor="ctr"/>
          <a:lstStyle/>
          <a:p>
            <a:pPr indent="0" marL="0">
              <a:buNone/>
            </a:pPr>
            <a:r>
              <a:rPr lang="en-US" sz="1300" dirty="0">
                <a:solidFill>
                  <a:srgbClr val="1C1E21"/>
                </a:solidFill>
                <a:latin typeface="Courier New" pitchFamily="34" charset="0"/>
                <a:ea typeface="Courier New" pitchFamily="34" charset="-122"/>
                <a:cs typeface="Courier New" pitchFamily="34" charset="-120"/>
              </a:rPr>
              <a:t>D = {D1, ..., Dn}</a:t>
            </a:r>
            <a:endParaRPr lang="en-US" sz="1300" dirty="0"/>
          </a:p>
        </p:txBody>
      </p:sp>
      <p:sp>
        <p:nvSpPr>
          <p:cNvPr id="17" name="Text 15"/>
          <p:cNvSpPr/>
          <p:nvPr/>
        </p:nvSpPr>
        <p:spPr>
          <a:xfrm>
            <a:off x="4297680" y="3218688"/>
            <a:ext cx="6858000" cy="77724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Di is the set of values Xi may take. Domains may differ per variable.</a:t>
            </a:r>
            <a:endParaRPr lang="en-US" sz="1400" dirty="0"/>
          </a:p>
        </p:txBody>
      </p:sp>
      <p:sp>
        <p:nvSpPr>
          <p:cNvPr id="18" name="Shape 16"/>
          <p:cNvSpPr/>
          <p:nvPr/>
        </p:nvSpPr>
        <p:spPr>
          <a:xfrm>
            <a:off x="640080" y="4288536"/>
            <a:ext cx="10908792" cy="1170432"/>
          </a:xfrm>
          <a:prstGeom prst="roundRect">
            <a:avLst>
              <a:gd name="adj" fmla="val 4688"/>
            </a:avLst>
          </a:prstGeom>
          <a:solidFill>
            <a:srgbClr val="F6F7F8"/>
          </a:solidFill>
          <a:ln w="9525">
            <a:solidFill>
              <a:srgbClr val="D3D6D9"/>
            </a:solidFill>
            <a:prstDash val="solid"/>
          </a:ln>
        </p:spPr>
      </p:sp>
      <p:sp>
        <p:nvSpPr>
          <p:cNvPr id="19" name="Shape 17"/>
          <p:cNvSpPr/>
          <p:nvPr/>
        </p:nvSpPr>
        <p:spPr>
          <a:xfrm>
            <a:off x="896112" y="4553712"/>
            <a:ext cx="640080" cy="640080"/>
          </a:xfrm>
          <a:prstGeom prst="ellipse">
            <a:avLst/>
          </a:prstGeom>
          <a:solidFill>
            <a:srgbClr val="1C1E21"/>
          </a:solidFill>
          <a:ln w="12700">
            <a:solidFill>
              <a:srgbClr val="333333"/>
            </a:solidFill>
            <a:prstDash val="solid"/>
          </a:ln>
        </p:spPr>
      </p:sp>
      <p:sp>
        <p:nvSpPr>
          <p:cNvPr id="20" name="Text 18"/>
          <p:cNvSpPr/>
          <p:nvPr/>
        </p:nvSpPr>
        <p:spPr>
          <a:xfrm>
            <a:off x="896112" y="4553712"/>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a:t>
            </a:r>
            <a:endParaRPr lang="en-US" sz="2400" dirty="0"/>
          </a:p>
        </p:txBody>
      </p:sp>
      <p:sp>
        <p:nvSpPr>
          <p:cNvPr id="21" name="Text 19"/>
          <p:cNvSpPr/>
          <p:nvPr/>
        </p:nvSpPr>
        <p:spPr>
          <a:xfrm>
            <a:off x="1737360" y="4471416"/>
            <a:ext cx="2194560" cy="347472"/>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Constraints</a:t>
            </a:r>
            <a:endParaRPr lang="en-US" sz="1900" dirty="0"/>
          </a:p>
        </p:txBody>
      </p:sp>
      <p:sp>
        <p:nvSpPr>
          <p:cNvPr id="22" name="Text 20"/>
          <p:cNvSpPr/>
          <p:nvPr/>
        </p:nvSpPr>
        <p:spPr>
          <a:xfrm>
            <a:off x="1737360" y="4855464"/>
            <a:ext cx="2377440" cy="365760"/>
          </a:xfrm>
          <a:prstGeom prst="rect">
            <a:avLst/>
          </a:prstGeom>
          <a:noFill/>
          <a:ln/>
        </p:spPr>
        <p:txBody>
          <a:bodyPr wrap="square" lIns="0" tIns="0" rIns="0" bIns="0" rtlCol="0" anchor="ctr"/>
          <a:lstStyle/>
          <a:p>
            <a:pPr indent="0" marL="0">
              <a:buNone/>
            </a:pPr>
            <a:r>
              <a:rPr lang="en-US" sz="1300" dirty="0">
                <a:solidFill>
                  <a:srgbClr val="1C1E21"/>
                </a:solidFill>
                <a:latin typeface="Courier New" pitchFamily="34" charset="0"/>
                <a:ea typeface="Courier New" pitchFamily="34" charset="-122"/>
                <a:cs typeface="Courier New" pitchFamily="34" charset="-120"/>
              </a:rPr>
              <a:t>C = {C1, ..., Cm}</a:t>
            </a:r>
            <a:endParaRPr lang="en-US" sz="1300" dirty="0"/>
          </a:p>
        </p:txBody>
      </p:sp>
      <p:sp>
        <p:nvSpPr>
          <p:cNvPr id="23" name="Text 21"/>
          <p:cNvSpPr/>
          <p:nvPr/>
        </p:nvSpPr>
        <p:spPr>
          <a:xfrm>
            <a:off x="4297680" y="4517136"/>
            <a:ext cx="6858000" cy="77724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Each Cj = (scope, relation): which variables it touches, and which combinations of their values are legal.</a:t>
            </a:r>
            <a:endParaRPr lang="en-US" sz="1400" dirty="0"/>
          </a:p>
        </p:txBody>
      </p:sp>
      <p:sp>
        <p:nvSpPr>
          <p:cNvPr id="24" name="Shape 22"/>
          <p:cNvSpPr/>
          <p:nvPr/>
        </p:nvSpPr>
        <p:spPr>
          <a:xfrm>
            <a:off x="640080" y="5596128"/>
            <a:ext cx="10908792" cy="658368"/>
          </a:xfrm>
          <a:prstGeom prst="roundRect">
            <a:avLst>
              <a:gd name="adj" fmla="val 8333"/>
            </a:avLst>
          </a:prstGeom>
          <a:solidFill>
            <a:srgbClr val="FBEDEF"/>
          </a:solidFill>
          <a:ln w="9525">
            <a:solidFill>
              <a:srgbClr val="E8B5BC"/>
            </a:solidFill>
            <a:prstDash val="solid"/>
          </a:ln>
        </p:spPr>
      </p:sp>
      <p:sp>
        <p:nvSpPr>
          <p:cNvPr id="25" name="Text 23"/>
          <p:cNvSpPr/>
          <p:nvPr/>
        </p:nvSpPr>
        <p:spPr>
          <a:xfrm>
            <a:off x="896112" y="5596128"/>
            <a:ext cx="10396728" cy="658368"/>
          </a:xfrm>
          <a:prstGeom prst="rect">
            <a:avLst/>
          </a:prstGeom>
          <a:noFill/>
          <a:ln/>
        </p:spPr>
        <p:txBody>
          <a:bodyPr wrap="square" lIns="0" tIns="0" rIns="0" bIns="0" rtlCol="0" anchor="ctr"/>
          <a:lstStyle/>
          <a:p>
            <a:pPr indent="0" marL="0">
              <a:buNone/>
            </a:pPr>
            <a:r>
              <a:rPr lang="en-US" sz="1350" b="1" dirty="0">
                <a:solidFill>
                  <a:srgbClr val="CB132A"/>
                </a:solidFill>
                <a:latin typeface="Calibri" pitchFamily="34" charset="0"/>
                <a:ea typeface="Calibri" pitchFamily="34" charset="-122"/>
                <a:cs typeface="Calibri" pitchFamily="34" charset="-120"/>
              </a:rPr>
              <a:t>Note: </a:t>
            </a:r>
            <a:pPr indent="0" marL="0">
              <a:buNone/>
            </a:pPr>
            <a:r>
              <a:rPr lang="en-US" sz="1350" dirty="0">
                <a:solidFill>
                  <a:srgbClr val="1C1E21"/>
                </a:solidFill>
                <a:latin typeface="Calibri" pitchFamily="34" charset="0"/>
                <a:ea typeface="Calibri" pitchFamily="34" charset="-122"/>
                <a:cs typeface="Calibri" pitchFamily="34" charset="-120"/>
              </a:rPr>
              <a:t>the successor function is not part of the definition. It is the same for every CSP, which is exactly why one solver can handle all of them.</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10</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Assignments: the vocabulary you need to be precise about</a:t>
            </a:r>
            <a:endParaRPr lang="en-US" sz="3200" dirty="0"/>
          </a:p>
        </p:txBody>
      </p:sp>
      <p:sp>
        <p:nvSpPr>
          <p:cNvPr id="5" name="Shape 3"/>
          <p:cNvSpPr/>
          <p:nvPr/>
        </p:nvSpPr>
        <p:spPr>
          <a:xfrm>
            <a:off x="640080" y="1645920"/>
            <a:ext cx="10908792" cy="960120"/>
          </a:xfrm>
          <a:prstGeom prst="roundRect">
            <a:avLst>
              <a:gd name="adj" fmla="val 5714"/>
            </a:avLst>
          </a:prstGeom>
          <a:solidFill>
            <a:srgbClr val="F6F7F8"/>
          </a:solidFill>
          <a:ln w="9525">
            <a:solidFill>
              <a:srgbClr val="D3D6D9"/>
            </a:solidFill>
            <a:prstDash val="solid"/>
          </a:ln>
        </p:spPr>
      </p:sp>
      <p:sp>
        <p:nvSpPr>
          <p:cNvPr id="6" name="Text 4"/>
          <p:cNvSpPr/>
          <p:nvPr/>
        </p:nvSpPr>
        <p:spPr>
          <a:xfrm>
            <a:off x="914400" y="1792224"/>
            <a:ext cx="3017520"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Partial assignment</a:t>
            </a:r>
            <a:endParaRPr lang="en-US" sz="1700" dirty="0"/>
          </a:p>
        </p:txBody>
      </p:sp>
      <p:sp>
        <p:nvSpPr>
          <p:cNvPr id="7" name="Text 5"/>
          <p:cNvSpPr/>
          <p:nvPr/>
        </p:nvSpPr>
        <p:spPr>
          <a:xfrm>
            <a:off x="4023360" y="1773936"/>
            <a:ext cx="4663440" cy="73152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Some variables have values, the rest do not.</a:t>
            </a:r>
            <a:endParaRPr lang="en-US" sz="1300" dirty="0"/>
          </a:p>
        </p:txBody>
      </p:sp>
      <p:sp>
        <p:nvSpPr>
          <p:cNvPr id="8" name="Text 6"/>
          <p:cNvSpPr/>
          <p:nvPr/>
        </p:nvSpPr>
        <p:spPr>
          <a:xfrm>
            <a:off x="8823960" y="1773936"/>
            <a:ext cx="2468880" cy="731520"/>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{WA=red}</a:t>
            </a:r>
            <a:endParaRPr lang="en-US" sz="1050" dirty="0"/>
          </a:p>
        </p:txBody>
      </p:sp>
      <p:sp>
        <p:nvSpPr>
          <p:cNvPr id="9" name="Shape 7"/>
          <p:cNvSpPr/>
          <p:nvPr/>
        </p:nvSpPr>
        <p:spPr>
          <a:xfrm>
            <a:off x="640080" y="2724912"/>
            <a:ext cx="10908792" cy="960120"/>
          </a:xfrm>
          <a:prstGeom prst="roundRect">
            <a:avLst>
              <a:gd name="adj" fmla="val 5714"/>
            </a:avLst>
          </a:prstGeom>
          <a:solidFill>
            <a:srgbClr val="F6F7F8"/>
          </a:solidFill>
          <a:ln w="9525">
            <a:solidFill>
              <a:srgbClr val="D3D6D9"/>
            </a:solidFill>
            <a:prstDash val="solid"/>
          </a:ln>
        </p:spPr>
      </p:sp>
      <p:sp>
        <p:nvSpPr>
          <p:cNvPr id="10" name="Text 8"/>
          <p:cNvSpPr/>
          <p:nvPr/>
        </p:nvSpPr>
        <p:spPr>
          <a:xfrm>
            <a:off x="914400" y="2871216"/>
            <a:ext cx="3017520"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Complete assignment</a:t>
            </a:r>
            <a:endParaRPr lang="en-US" sz="1700" dirty="0"/>
          </a:p>
        </p:txBody>
      </p:sp>
      <p:sp>
        <p:nvSpPr>
          <p:cNvPr id="11" name="Text 9"/>
          <p:cNvSpPr/>
          <p:nvPr/>
        </p:nvSpPr>
        <p:spPr>
          <a:xfrm>
            <a:off x="4023360" y="2852928"/>
            <a:ext cx="4663440" cy="73152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Every variable has exactly one value from its domain.</a:t>
            </a:r>
            <a:endParaRPr lang="en-US" sz="1300" dirty="0"/>
          </a:p>
        </p:txBody>
      </p:sp>
      <p:sp>
        <p:nvSpPr>
          <p:cNvPr id="12" name="Text 10"/>
          <p:cNvSpPr/>
          <p:nvPr/>
        </p:nvSpPr>
        <p:spPr>
          <a:xfrm>
            <a:off x="8823960" y="2852928"/>
            <a:ext cx="2468880" cy="731520"/>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{WA=red, NT=green, ... , T=green}</a:t>
            </a:r>
            <a:endParaRPr lang="en-US" sz="1050" dirty="0"/>
          </a:p>
        </p:txBody>
      </p:sp>
      <p:sp>
        <p:nvSpPr>
          <p:cNvPr id="13" name="Shape 11"/>
          <p:cNvSpPr/>
          <p:nvPr/>
        </p:nvSpPr>
        <p:spPr>
          <a:xfrm>
            <a:off x="640080" y="3803904"/>
            <a:ext cx="10908792" cy="960120"/>
          </a:xfrm>
          <a:prstGeom prst="roundRect">
            <a:avLst>
              <a:gd name="adj" fmla="val 5714"/>
            </a:avLst>
          </a:prstGeom>
          <a:solidFill>
            <a:srgbClr val="F6F7F8"/>
          </a:solidFill>
          <a:ln w="9525">
            <a:solidFill>
              <a:srgbClr val="D3D6D9"/>
            </a:solidFill>
            <a:prstDash val="solid"/>
          </a:ln>
        </p:spPr>
      </p:sp>
      <p:sp>
        <p:nvSpPr>
          <p:cNvPr id="14" name="Text 12"/>
          <p:cNvSpPr/>
          <p:nvPr/>
        </p:nvSpPr>
        <p:spPr>
          <a:xfrm>
            <a:off x="914400" y="3950208"/>
            <a:ext cx="3017520"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Consistent assignment</a:t>
            </a:r>
            <a:endParaRPr lang="en-US" sz="1700" dirty="0"/>
          </a:p>
        </p:txBody>
      </p:sp>
      <p:sp>
        <p:nvSpPr>
          <p:cNvPr id="15" name="Text 13"/>
          <p:cNvSpPr/>
          <p:nvPr/>
        </p:nvSpPr>
        <p:spPr>
          <a:xfrm>
            <a:off x="4023360" y="3931920"/>
            <a:ext cx="4663440" cy="73152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Violates no constraint among the variables that are assigned. A partial assignment can be consistent.</a:t>
            </a:r>
            <a:endParaRPr lang="en-US" sz="1300" dirty="0"/>
          </a:p>
        </p:txBody>
      </p:sp>
      <p:sp>
        <p:nvSpPr>
          <p:cNvPr id="16" name="Text 14"/>
          <p:cNvSpPr/>
          <p:nvPr/>
        </p:nvSpPr>
        <p:spPr>
          <a:xfrm>
            <a:off x="8823960" y="3931920"/>
            <a:ext cx="2468880" cy="731520"/>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{WA=red, NT=green} is consistent</a:t>
            </a:r>
            <a:endParaRPr lang="en-US" sz="1050" dirty="0"/>
          </a:p>
        </p:txBody>
      </p:sp>
      <p:sp>
        <p:nvSpPr>
          <p:cNvPr id="17" name="Shape 15"/>
          <p:cNvSpPr/>
          <p:nvPr/>
        </p:nvSpPr>
        <p:spPr>
          <a:xfrm>
            <a:off x="640080" y="4882896"/>
            <a:ext cx="10908792" cy="960120"/>
          </a:xfrm>
          <a:prstGeom prst="roundRect">
            <a:avLst>
              <a:gd name="adj" fmla="val 5714"/>
            </a:avLst>
          </a:prstGeom>
          <a:solidFill>
            <a:srgbClr val="FBEDEF"/>
          </a:solidFill>
          <a:ln w="9525">
            <a:solidFill>
              <a:srgbClr val="E8B5BC"/>
            </a:solidFill>
            <a:prstDash val="solid"/>
          </a:ln>
        </p:spPr>
      </p:sp>
      <p:sp>
        <p:nvSpPr>
          <p:cNvPr id="18" name="Text 16"/>
          <p:cNvSpPr/>
          <p:nvPr/>
        </p:nvSpPr>
        <p:spPr>
          <a:xfrm>
            <a:off x="914400" y="5029200"/>
            <a:ext cx="3017520" cy="36576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Solution</a:t>
            </a:r>
            <a:endParaRPr lang="en-US" sz="1700" dirty="0"/>
          </a:p>
        </p:txBody>
      </p:sp>
      <p:sp>
        <p:nvSpPr>
          <p:cNvPr id="19" name="Text 17"/>
          <p:cNvSpPr/>
          <p:nvPr/>
        </p:nvSpPr>
        <p:spPr>
          <a:xfrm>
            <a:off x="4023360" y="5010912"/>
            <a:ext cx="4663440" cy="73152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Complete and consistent. Both words are load-bearing.</a:t>
            </a:r>
            <a:endParaRPr lang="en-US" sz="1300" dirty="0"/>
          </a:p>
        </p:txBody>
      </p:sp>
      <p:sp>
        <p:nvSpPr>
          <p:cNvPr id="20" name="Text 18"/>
          <p:cNvSpPr/>
          <p:nvPr/>
        </p:nvSpPr>
        <p:spPr>
          <a:xfrm>
            <a:off x="8823960" y="5010912"/>
            <a:ext cx="2468880" cy="731520"/>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all seven regions colored, no clash</a:t>
            </a:r>
            <a:endParaRPr lang="en-US" sz="1050" dirty="0"/>
          </a:p>
        </p:txBody>
      </p:sp>
      <p:sp>
        <p:nvSpPr>
          <p:cNvPr id="21" name="Text 19"/>
          <p:cNvSpPr/>
          <p:nvPr/>
        </p:nvSpPr>
        <p:spPr>
          <a:xfrm>
            <a:off x="640080" y="5989320"/>
            <a:ext cx="10908792" cy="365760"/>
          </a:xfrm>
          <a:prstGeom prst="rect">
            <a:avLst/>
          </a:prstGeom>
          <a:noFill/>
          <a:ln/>
        </p:spPr>
        <p:txBody>
          <a:bodyPr wrap="square" lIns="0" tIns="0" rIns="0" bIns="0" rtlCol="0" anchor="ctr"/>
          <a:lstStyle/>
          <a:p>
            <a:pPr indent="0" marL="0">
              <a:buNone/>
            </a:pPr>
            <a:r>
              <a:rPr lang="en-US" sz="1350" i="1" dirty="0">
                <a:solidFill>
                  <a:srgbClr val="53565A"/>
                </a:solidFill>
                <a:latin typeface="Calibri" pitchFamily="34" charset="0"/>
                <a:ea typeface="Calibri" pitchFamily="34" charset="-122"/>
                <a:cs typeface="Calibri" pitchFamily="34" charset="-120"/>
              </a:rPr>
              <a:t>If a CSP has one solution it usually has many - often exponentially many. We are looking for any one of them.</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2423160"/>
            <a:ext cx="3657600" cy="365760"/>
          </a:xfrm>
          <a:prstGeom prst="rect">
            <a:avLst/>
          </a:prstGeom>
          <a:noFill/>
          <a:ln/>
        </p:spPr>
        <p:txBody>
          <a:bodyPr wrap="square" lIns="0" tIns="0" rIns="0" bIns="0" rtlCol="0" anchor="ctr"/>
          <a:lstStyle/>
          <a:p>
            <a:pPr indent="0" marL="0">
              <a:buNone/>
            </a:pPr>
            <a:r>
              <a:rPr lang="en-US" sz="1400" b="1" spc="300" kern="0" dirty="0">
                <a:solidFill>
                  <a:srgbClr val="CB132A"/>
                </a:solidFill>
                <a:latin typeface="Calibri" pitchFamily="34" charset="0"/>
                <a:ea typeface="Calibri" pitchFamily="34" charset="-122"/>
                <a:cs typeface="Calibri" pitchFamily="34" charset="-120"/>
              </a:rPr>
              <a:t>Part 3</a:t>
            </a:r>
            <a:endParaRPr lang="en-US" sz="1400" dirty="0"/>
          </a:p>
        </p:txBody>
      </p:sp>
      <p:sp>
        <p:nvSpPr>
          <p:cNvPr id="3" name="Text 1"/>
          <p:cNvSpPr/>
          <p:nvPr/>
        </p:nvSpPr>
        <p:spPr>
          <a:xfrm>
            <a:off x="640080" y="278892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Five problems, modeled</a:t>
            </a:r>
            <a:endParaRPr lang="en-US" sz="4000" dirty="0"/>
          </a:p>
        </p:txBody>
      </p:sp>
      <p:sp>
        <p:nvSpPr>
          <p:cNvPr id="4" name="Text 2"/>
          <p:cNvSpPr/>
          <p:nvPr/>
        </p:nvSpPr>
        <p:spPr>
          <a:xfrm>
            <a:off x="640080" y="3703320"/>
            <a:ext cx="10058400" cy="411480"/>
          </a:xfrm>
          <a:prstGeom prst="rect">
            <a:avLst/>
          </a:prstGeom>
          <a:noFill/>
          <a:ln/>
        </p:spPr>
        <p:txBody>
          <a:bodyPr wrap="square" lIns="0" tIns="0" rIns="0" bIns="0" rtlCol="0" anchor="ctr"/>
          <a:lstStyle/>
          <a:p>
            <a:pPr indent="0" marL="0">
              <a:buNone/>
            </a:pPr>
            <a:r>
              <a:rPr lang="en-US" sz="1600" i="1" dirty="0">
                <a:solidFill>
                  <a:srgbClr val="9FA4A9"/>
                </a:solidFill>
                <a:latin typeface="Calibri" pitchFamily="34" charset="0"/>
                <a:ea typeface="Calibri" pitchFamily="34" charset="-122"/>
                <a:cs typeface="Calibri" pitchFamily="34" charset="-120"/>
              </a:rPr>
              <a:t>Map coloring  ·  N-Queens  ·  Cryptarithmetic  ·  Sudoku  ·  Waltz line labeling</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12</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Example 1: map coloring</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Color Australia so that no two adjacent regions share a color</a:t>
            </a:r>
            <a:endParaRPr lang="en-US" sz="1400" dirty="0"/>
          </a:p>
        </p:txBody>
      </p:sp>
      <p:sp>
        <p:nvSpPr>
          <p:cNvPr id="6" name="Shape 4"/>
          <p:cNvSpPr/>
          <p:nvPr/>
        </p:nvSpPr>
        <p:spPr>
          <a:xfrm flipH="1">
            <a:off x="8138160" y="2331720"/>
            <a:ext cx="960120" cy="640080"/>
          </a:xfrm>
          <a:prstGeom prst="line">
            <a:avLst/>
          </a:prstGeom>
          <a:noFill/>
          <a:ln w="15875">
            <a:solidFill>
              <a:srgbClr val="53565A"/>
            </a:solidFill>
            <a:prstDash val="solid"/>
          </a:ln>
        </p:spPr>
      </p:sp>
      <p:sp>
        <p:nvSpPr>
          <p:cNvPr id="7" name="Shape 5"/>
          <p:cNvSpPr/>
          <p:nvPr/>
        </p:nvSpPr>
        <p:spPr>
          <a:xfrm>
            <a:off x="8138160" y="2971800"/>
            <a:ext cx="1024128" cy="704088"/>
          </a:xfrm>
          <a:prstGeom prst="line">
            <a:avLst/>
          </a:prstGeom>
          <a:noFill/>
          <a:ln w="15875">
            <a:solidFill>
              <a:srgbClr val="53565A"/>
            </a:solidFill>
            <a:prstDash val="solid"/>
          </a:ln>
        </p:spPr>
      </p:sp>
      <p:sp>
        <p:nvSpPr>
          <p:cNvPr id="8" name="Shape 6"/>
          <p:cNvSpPr/>
          <p:nvPr/>
        </p:nvSpPr>
        <p:spPr>
          <a:xfrm>
            <a:off x="9098280" y="2331720"/>
            <a:ext cx="64008" cy="1344168"/>
          </a:xfrm>
          <a:prstGeom prst="line">
            <a:avLst/>
          </a:prstGeom>
          <a:noFill/>
          <a:ln w="15875">
            <a:solidFill>
              <a:srgbClr val="53565A"/>
            </a:solidFill>
            <a:prstDash val="solid"/>
          </a:ln>
        </p:spPr>
      </p:sp>
      <p:sp>
        <p:nvSpPr>
          <p:cNvPr id="9" name="Shape 7"/>
          <p:cNvSpPr/>
          <p:nvPr/>
        </p:nvSpPr>
        <p:spPr>
          <a:xfrm>
            <a:off x="9098280" y="2331720"/>
            <a:ext cx="1024128" cy="288036"/>
          </a:xfrm>
          <a:prstGeom prst="line">
            <a:avLst/>
          </a:prstGeom>
          <a:noFill/>
          <a:ln w="15875">
            <a:solidFill>
              <a:srgbClr val="53565A"/>
            </a:solidFill>
            <a:prstDash val="solid"/>
          </a:ln>
        </p:spPr>
      </p:sp>
      <p:sp>
        <p:nvSpPr>
          <p:cNvPr id="10" name="Shape 8"/>
          <p:cNvSpPr/>
          <p:nvPr/>
        </p:nvSpPr>
        <p:spPr>
          <a:xfrm flipH="1">
            <a:off x="9162288" y="2619756"/>
            <a:ext cx="960120" cy="1056132"/>
          </a:xfrm>
          <a:prstGeom prst="line">
            <a:avLst/>
          </a:prstGeom>
          <a:noFill/>
          <a:ln w="15875">
            <a:solidFill>
              <a:srgbClr val="53565A"/>
            </a:solidFill>
            <a:prstDash val="solid"/>
          </a:ln>
        </p:spPr>
      </p:sp>
      <p:sp>
        <p:nvSpPr>
          <p:cNvPr id="11" name="Shape 9"/>
          <p:cNvSpPr/>
          <p:nvPr/>
        </p:nvSpPr>
        <p:spPr>
          <a:xfrm flipH="1">
            <a:off x="9162288" y="3643884"/>
            <a:ext cx="1216152" cy="32004"/>
          </a:xfrm>
          <a:prstGeom prst="line">
            <a:avLst/>
          </a:prstGeom>
          <a:noFill/>
          <a:ln w="15875">
            <a:solidFill>
              <a:srgbClr val="53565A"/>
            </a:solidFill>
            <a:prstDash val="solid"/>
          </a:ln>
        </p:spPr>
      </p:sp>
      <p:sp>
        <p:nvSpPr>
          <p:cNvPr id="12" name="Shape 10"/>
          <p:cNvSpPr/>
          <p:nvPr/>
        </p:nvSpPr>
        <p:spPr>
          <a:xfrm>
            <a:off x="9162288" y="3675888"/>
            <a:ext cx="640080" cy="768096"/>
          </a:xfrm>
          <a:prstGeom prst="line">
            <a:avLst/>
          </a:prstGeom>
          <a:noFill/>
          <a:ln w="15875">
            <a:solidFill>
              <a:srgbClr val="53565A"/>
            </a:solidFill>
            <a:prstDash val="solid"/>
          </a:ln>
        </p:spPr>
      </p:sp>
      <p:sp>
        <p:nvSpPr>
          <p:cNvPr id="13" name="Shape 11"/>
          <p:cNvSpPr/>
          <p:nvPr/>
        </p:nvSpPr>
        <p:spPr>
          <a:xfrm>
            <a:off x="10122408" y="2619756"/>
            <a:ext cx="256032" cy="1024128"/>
          </a:xfrm>
          <a:prstGeom prst="line">
            <a:avLst/>
          </a:prstGeom>
          <a:noFill/>
          <a:ln w="15875">
            <a:solidFill>
              <a:srgbClr val="53565A"/>
            </a:solidFill>
            <a:prstDash val="solid"/>
          </a:ln>
        </p:spPr>
      </p:sp>
      <p:sp>
        <p:nvSpPr>
          <p:cNvPr id="14" name="Shape 12"/>
          <p:cNvSpPr/>
          <p:nvPr/>
        </p:nvSpPr>
        <p:spPr>
          <a:xfrm flipH="1">
            <a:off x="9802368" y="3643884"/>
            <a:ext cx="576072" cy="800100"/>
          </a:xfrm>
          <a:prstGeom prst="line">
            <a:avLst/>
          </a:prstGeom>
          <a:noFill/>
          <a:ln w="15875">
            <a:solidFill>
              <a:srgbClr val="53565A"/>
            </a:solidFill>
            <a:prstDash val="solid"/>
          </a:ln>
        </p:spPr>
      </p:sp>
      <p:sp>
        <p:nvSpPr>
          <p:cNvPr id="15" name="Shape 13"/>
          <p:cNvSpPr/>
          <p:nvPr/>
        </p:nvSpPr>
        <p:spPr>
          <a:xfrm>
            <a:off x="8887968" y="2121408"/>
            <a:ext cx="420624" cy="420624"/>
          </a:xfrm>
          <a:prstGeom prst="ellipse">
            <a:avLst/>
          </a:prstGeom>
          <a:solidFill>
            <a:srgbClr val="2E8B45"/>
          </a:solidFill>
          <a:ln w="17780">
            <a:solidFill>
              <a:srgbClr val="2E8B45"/>
            </a:solidFill>
            <a:prstDash val="solid"/>
          </a:ln>
        </p:spPr>
      </p:sp>
      <p:sp>
        <p:nvSpPr>
          <p:cNvPr id="16" name="Text 14"/>
          <p:cNvSpPr/>
          <p:nvPr/>
        </p:nvSpPr>
        <p:spPr>
          <a:xfrm>
            <a:off x="8887968" y="212140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NT</a:t>
            </a:r>
            <a:endParaRPr lang="en-US" sz="1000" dirty="0"/>
          </a:p>
        </p:txBody>
      </p:sp>
      <p:sp>
        <p:nvSpPr>
          <p:cNvPr id="17" name="Shape 15"/>
          <p:cNvSpPr/>
          <p:nvPr/>
        </p:nvSpPr>
        <p:spPr>
          <a:xfrm>
            <a:off x="9912096" y="2409444"/>
            <a:ext cx="420624" cy="420624"/>
          </a:xfrm>
          <a:prstGeom prst="ellipse">
            <a:avLst/>
          </a:prstGeom>
          <a:solidFill>
            <a:srgbClr val="C0392B"/>
          </a:solidFill>
          <a:ln w="17780">
            <a:solidFill>
              <a:srgbClr val="C0392B"/>
            </a:solidFill>
            <a:prstDash val="solid"/>
          </a:ln>
        </p:spPr>
      </p:sp>
      <p:sp>
        <p:nvSpPr>
          <p:cNvPr id="18" name="Text 16"/>
          <p:cNvSpPr/>
          <p:nvPr/>
        </p:nvSpPr>
        <p:spPr>
          <a:xfrm>
            <a:off x="9912096" y="2409444"/>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a:t>
            </a:r>
            <a:endParaRPr lang="en-US" sz="1000" dirty="0"/>
          </a:p>
        </p:txBody>
      </p:sp>
      <p:sp>
        <p:nvSpPr>
          <p:cNvPr id="19" name="Shape 17"/>
          <p:cNvSpPr/>
          <p:nvPr/>
        </p:nvSpPr>
        <p:spPr>
          <a:xfrm>
            <a:off x="7927848" y="2761488"/>
            <a:ext cx="420624" cy="420624"/>
          </a:xfrm>
          <a:prstGeom prst="ellipse">
            <a:avLst/>
          </a:prstGeom>
          <a:solidFill>
            <a:srgbClr val="C0392B"/>
          </a:solidFill>
          <a:ln w="17780">
            <a:solidFill>
              <a:srgbClr val="C0392B"/>
            </a:solidFill>
            <a:prstDash val="solid"/>
          </a:ln>
        </p:spPr>
      </p:sp>
      <p:sp>
        <p:nvSpPr>
          <p:cNvPr id="20" name="Text 18"/>
          <p:cNvSpPr/>
          <p:nvPr/>
        </p:nvSpPr>
        <p:spPr>
          <a:xfrm>
            <a:off x="7927848" y="276148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a:t>
            </a:r>
            <a:endParaRPr lang="en-US" sz="1000" dirty="0"/>
          </a:p>
        </p:txBody>
      </p:sp>
      <p:sp>
        <p:nvSpPr>
          <p:cNvPr id="21" name="Shape 19"/>
          <p:cNvSpPr/>
          <p:nvPr/>
        </p:nvSpPr>
        <p:spPr>
          <a:xfrm>
            <a:off x="8951976" y="3465576"/>
            <a:ext cx="420624" cy="420624"/>
          </a:xfrm>
          <a:prstGeom prst="ellipse">
            <a:avLst/>
          </a:prstGeom>
          <a:solidFill>
            <a:srgbClr val="2A62C4"/>
          </a:solidFill>
          <a:ln w="17780">
            <a:solidFill>
              <a:srgbClr val="2A62C4"/>
            </a:solidFill>
            <a:prstDash val="solid"/>
          </a:ln>
        </p:spPr>
      </p:sp>
      <p:sp>
        <p:nvSpPr>
          <p:cNvPr id="22" name="Text 20"/>
          <p:cNvSpPr/>
          <p:nvPr/>
        </p:nvSpPr>
        <p:spPr>
          <a:xfrm>
            <a:off x="8951976" y="3465576"/>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a:t>
            </a:r>
            <a:endParaRPr lang="en-US" sz="1000" dirty="0"/>
          </a:p>
        </p:txBody>
      </p:sp>
      <p:sp>
        <p:nvSpPr>
          <p:cNvPr id="23" name="Shape 21"/>
          <p:cNvSpPr/>
          <p:nvPr/>
        </p:nvSpPr>
        <p:spPr>
          <a:xfrm>
            <a:off x="10168128" y="3433572"/>
            <a:ext cx="420624" cy="420624"/>
          </a:xfrm>
          <a:prstGeom prst="ellipse">
            <a:avLst/>
          </a:prstGeom>
          <a:solidFill>
            <a:srgbClr val="2E8B45"/>
          </a:solidFill>
          <a:ln w="17780">
            <a:solidFill>
              <a:srgbClr val="2E8B45"/>
            </a:solidFill>
            <a:prstDash val="solid"/>
          </a:ln>
        </p:spPr>
      </p:sp>
      <p:sp>
        <p:nvSpPr>
          <p:cNvPr id="24" name="Text 22"/>
          <p:cNvSpPr/>
          <p:nvPr/>
        </p:nvSpPr>
        <p:spPr>
          <a:xfrm>
            <a:off x="10168128" y="3433572"/>
            <a:ext cx="420624" cy="42062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NSW</a:t>
            </a:r>
            <a:endParaRPr lang="en-US" sz="850" dirty="0"/>
          </a:p>
        </p:txBody>
      </p:sp>
      <p:sp>
        <p:nvSpPr>
          <p:cNvPr id="25" name="Shape 23"/>
          <p:cNvSpPr/>
          <p:nvPr/>
        </p:nvSpPr>
        <p:spPr>
          <a:xfrm>
            <a:off x="9592056" y="4233672"/>
            <a:ext cx="420624" cy="420624"/>
          </a:xfrm>
          <a:prstGeom prst="ellipse">
            <a:avLst/>
          </a:prstGeom>
          <a:solidFill>
            <a:srgbClr val="C0392B"/>
          </a:solidFill>
          <a:ln w="17780">
            <a:solidFill>
              <a:srgbClr val="C0392B"/>
            </a:solidFill>
            <a:prstDash val="solid"/>
          </a:ln>
        </p:spPr>
      </p:sp>
      <p:sp>
        <p:nvSpPr>
          <p:cNvPr id="26" name="Text 24"/>
          <p:cNvSpPr/>
          <p:nvPr/>
        </p:nvSpPr>
        <p:spPr>
          <a:xfrm>
            <a:off x="9592056" y="4233672"/>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V</a:t>
            </a:r>
            <a:endParaRPr lang="en-US" sz="1000" dirty="0"/>
          </a:p>
        </p:txBody>
      </p:sp>
      <p:sp>
        <p:nvSpPr>
          <p:cNvPr id="27" name="Shape 25"/>
          <p:cNvSpPr/>
          <p:nvPr/>
        </p:nvSpPr>
        <p:spPr>
          <a:xfrm>
            <a:off x="9528048" y="5001768"/>
            <a:ext cx="420624" cy="420624"/>
          </a:xfrm>
          <a:prstGeom prst="ellipse">
            <a:avLst/>
          </a:prstGeom>
          <a:solidFill>
            <a:srgbClr val="2E8B45"/>
          </a:solidFill>
          <a:ln w="17780">
            <a:solidFill>
              <a:srgbClr val="2E8B45"/>
            </a:solidFill>
            <a:prstDash val="solid"/>
          </a:ln>
        </p:spPr>
      </p:sp>
      <p:sp>
        <p:nvSpPr>
          <p:cNvPr id="28" name="Text 26"/>
          <p:cNvSpPr/>
          <p:nvPr/>
        </p:nvSpPr>
        <p:spPr>
          <a:xfrm>
            <a:off x="9528048" y="5001768"/>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a:t>
            </a:r>
            <a:endParaRPr lang="en-US" sz="1000" dirty="0"/>
          </a:p>
        </p:txBody>
      </p:sp>
      <p:sp>
        <p:nvSpPr>
          <p:cNvPr id="29" name="Text 27"/>
          <p:cNvSpPr/>
          <p:nvPr/>
        </p:nvSpPr>
        <p:spPr>
          <a:xfrm>
            <a:off x="7772400" y="5486400"/>
            <a:ext cx="3291840" cy="274320"/>
          </a:xfrm>
          <a:prstGeom prst="rect">
            <a:avLst/>
          </a:prstGeom>
          <a:noFill/>
          <a:ln/>
        </p:spPr>
        <p:txBody>
          <a:bodyPr wrap="square" lIns="0" tIns="0" rIns="0" bIns="0" rtlCol="0" anchor="ctr"/>
          <a:lstStyle/>
          <a:p>
            <a:pPr algn="ctr" indent="0" marL="0">
              <a:buNone/>
            </a:pPr>
            <a:r>
              <a:rPr lang="en-US" sz="1100" i="1" dirty="0">
                <a:solidFill>
                  <a:srgbClr val="7C8085"/>
                </a:solidFill>
                <a:latin typeface="Calibri" pitchFamily="34" charset="0"/>
                <a:ea typeface="Calibri" pitchFamily="34" charset="-122"/>
                <a:cs typeface="Calibri" pitchFamily="34" charset="-120"/>
              </a:rPr>
              <a:t>a solution</a:t>
            </a:r>
            <a:endParaRPr lang="en-US" sz="1100" dirty="0"/>
          </a:p>
        </p:txBody>
      </p:sp>
      <p:sp>
        <p:nvSpPr>
          <p:cNvPr id="30" name="Shape 28"/>
          <p:cNvSpPr/>
          <p:nvPr/>
        </p:nvSpPr>
        <p:spPr>
          <a:xfrm>
            <a:off x="640080" y="1828800"/>
            <a:ext cx="6812280" cy="1207008"/>
          </a:xfrm>
          <a:prstGeom prst="roundRect">
            <a:avLst>
              <a:gd name="adj" fmla="val 4545"/>
            </a:avLst>
          </a:prstGeom>
          <a:solidFill>
            <a:srgbClr val="F6F7F8"/>
          </a:solidFill>
          <a:ln w="9525">
            <a:solidFill>
              <a:srgbClr val="D3D6D9"/>
            </a:solidFill>
            <a:prstDash val="solid"/>
          </a:ln>
        </p:spPr>
      </p:sp>
      <p:sp>
        <p:nvSpPr>
          <p:cNvPr id="31" name="Text 29"/>
          <p:cNvSpPr/>
          <p:nvPr/>
        </p:nvSpPr>
        <p:spPr>
          <a:xfrm>
            <a:off x="896112" y="1975104"/>
            <a:ext cx="182880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Variables</a:t>
            </a:r>
            <a:endParaRPr lang="en-US" sz="1700" dirty="0"/>
          </a:p>
        </p:txBody>
      </p:sp>
      <p:sp>
        <p:nvSpPr>
          <p:cNvPr id="32" name="Text 30"/>
          <p:cNvSpPr/>
          <p:nvPr/>
        </p:nvSpPr>
        <p:spPr>
          <a:xfrm>
            <a:off x="2788920" y="1975104"/>
            <a:ext cx="4434840" cy="320040"/>
          </a:xfrm>
          <a:prstGeom prst="rect">
            <a:avLst/>
          </a:prstGeom>
          <a:noFill/>
          <a:ln/>
        </p:spPr>
        <p:txBody>
          <a:bodyPr wrap="square" lIns="0" tIns="0" rIns="0" bIns="0" rtlCol="0" anchor="ctr"/>
          <a:lstStyle/>
          <a:p>
            <a:pPr indent="0" marL="0">
              <a:buNone/>
            </a:pPr>
            <a:r>
              <a:rPr lang="en-US" sz="1200" dirty="0">
                <a:solidFill>
                  <a:srgbClr val="1C1E21"/>
                </a:solidFill>
                <a:latin typeface="Courier New" pitchFamily="34" charset="0"/>
                <a:ea typeface="Courier New" pitchFamily="34" charset="-122"/>
                <a:cs typeface="Courier New" pitchFamily="34" charset="-120"/>
              </a:rPr>
              <a:t>WA, NT, Q, NSW, V, SA, T</a:t>
            </a:r>
            <a:endParaRPr lang="en-US" sz="1200" dirty="0"/>
          </a:p>
        </p:txBody>
      </p:sp>
      <p:sp>
        <p:nvSpPr>
          <p:cNvPr id="33" name="Text 31"/>
          <p:cNvSpPr/>
          <p:nvPr/>
        </p:nvSpPr>
        <p:spPr>
          <a:xfrm>
            <a:off x="896112" y="2359152"/>
            <a:ext cx="6309360" cy="566928"/>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One per region. Seven of them.</a:t>
            </a:r>
            <a:endParaRPr lang="en-US" sz="1250" dirty="0"/>
          </a:p>
        </p:txBody>
      </p:sp>
      <p:sp>
        <p:nvSpPr>
          <p:cNvPr id="34" name="Shape 32"/>
          <p:cNvSpPr/>
          <p:nvPr/>
        </p:nvSpPr>
        <p:spPr>
          <a:xfrm>
            <a:off x="640080" y="3154680"/>
            <a:ext cx="6812280" cy="1207008"/>
          </a:xfrm>
          <a:prstGeom prst="roundRect">
            <a:avLst>
              <a:gd name="adj" fmla="val 4545"/>
            </a:avLst>
          </a:prstGeom>
          <a:solidFill>
            <a:srgbClr val="F6F7F8"/>
          </a:solidFill>
          <a:ln w="9525">
            <a:solidFill>
              <a:srgbClr val="D3D6D9"/>
            </a:solidFill>
            <a:prstDash val="solid"/>
          </a:ln>
        </p:spPr>
      </p:sp>
      <p:sp>
        <p:nvSpPr>
          <p:cNvPr id="35" name="Text 33"/>
          <p:cNvSpPr/>
          <p:nvPr/>
        </p:nvSpPr>
        <p:spPr>
          <a:xfrm>
            <a:off x="896112" y="3300984"/>
            <a:ext cx="182880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Domains</a:t>
            </a:r>
            <a:endParaRPr lang="en-US" sz="1700" dirty="0"/>
          </a:p>
        </p:txBody>
      </p:sp>
      <p:sp>
        <p:nvSpPr>
          <p:cNvPr id="36" name="Text 34"/>
          <p:cNvSpPr/>
          <p:nvPr/>
        </p:nvSpPr>
        <p:spPr>
          <a:xfrm>
            <a:off x="2788920" y="3300984"/>
            <a:ext cx="4434840" cy="320040"/>
          </a:xfrm>
          <a:prstGeom prst="rect">
            <a:avLst/>
          </a:prstGeom>
          <a:noFill/>
          <a:ln/>
        </p:spPr>
        <p:txBody>
          <a:bodyPr wrap="square" lIns="0" tIns="0" rIns="0" bIns="0" rtlCol="0" anchor="ctr"/>
          <a:lstStyle/>
          <a:p>
            <a:pPr indent="0" marL="0">
              <a:buNone/>
            </a:pPr>
            <a:r>
              <a:rPr lang="en-US" sz="1200" dirty="0">
                <a:solidFill>
                  <a:srgbClr val="1C1E21"/>
                </a:solidFill>
                <a:latin typeface="Courier New" pitchFamily="34" charset="0"/>
                <a:ea typeface="Courier New" pitchFamily="34" charset="-122"/>
                <a:cs typeface="Courier New" pitchFamily="34" charset="-120"/>
              </a:rPr>
              <a:t>Di = { red, green, blue }</a:t>
            </a:r>
            <a:endParaRPr lang="en-US" sz="1200" dirty="0"/>
          </a:p>
        </p:txBody>
      </p:sp>
      <p:sp>
        <p:nvSpPr>
          <p:cNvPr id="37" name="Text 35"/>
          <p:cNvSpPr/>
          <p:nvPr/>
        </p:nvSpPr>
        <p:spPr>
          <a:xfrm>
            <a:off x="896112" y="3685032"/>
            <a:ext cx="6309360" cy="566928"/>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Same domain for every variable here. That is a convenience, not a requirement.</a:t>
            </a:r>
            <a:endParaRPr lang="en-US" sz="1250" dirty="0"/>
          </a:p>
        </p:txBody>
      </p:sp>
      <p:sp>
        <p:nvSpPr>
          <p:cNvPr id="38" name="Shape 36"/>
          <p:cNvSpPr/>
          <p:nvPr/>
        </p:nvSpPr>
        <p:spPr>
          <a:xfrm>
            <a:off x="640080" y="4480560"/>
            <a:ext cx="6812280" cy="1207008"/>
          </a:xfrm>
          <a:prstGeom prst="roundRect">
            <a:avLst>
              <a:gd name="adj" fmla="val 4545"/>
            </a:avLst>
          </a:prstGeom>
          <a:solidFill>
            <a:srgbClr val="F6F7F8"/>
          </a:solidFill>
          <a:ln w="9525">
            <a:solidFill>
              <a:srgbClr val="D3D6D9"/>
            </a:solidFill>
            <a:prstDash val="solid"/>
          </a:ln>
        </p:spPr>
      </p:sp>
      <p:sp>
        <p:nvSpPr>
          <p:cNvPr id="39" name="Text 37"/>
          <p:cNvSpPr/>
          <p:nvPr/>
        </p:nvSpPr>
        <p:spPr>
          <a:xfrm>
            <a:off x="896112" y="4626864"/>
            <a:ext cx="182880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Constraints</a:t>
            </a:r>
            <a:endParaRPr lang="en-US" sz="1700" dirty="0"/>
          </a:p>
        </p:txBody>
      </p:sp>
      <p:sp>
        <p:nvSpPr>
          <p:cNvPr id="40" name="Text 38"/>
          <p:cNvSpPr/>
          <p:nvPr/>
        </p:nvSpPr>
        <p:spPr>
          <a:xfrm>
            <a:off x="2788920" y="4626864"/>
            <a:ext cx="4434840" cy="320040"/>
          </a:xfrm>
          <a:prstGeom prst="rect">
            <a:avLst/>
          </a:prstGeom>
          <a:noFill/>
          <a:ln/>
        </p:spPr>
        <p:txBody>
          <a:bodyPr wrap="square" lIns="0" tIns="0" rIns="0" bIns="0" rtlCol="0" anchor="ctr"/>
          <a:lstStyle/>
          <a:p>
            <a:pPr indent="0" marL="0">
              <a:buNone/>
            </a:pPr>
            <a:r>
              <a:rPr lang="en-US" sz="1200" dirty="0">
                <a:solidFill>
                  <a:srgbClr val="1C1E21"/>
                </a:solidFill>
                <a:latin typeface="Courier New" pitchFamily="34" charset="0"/>
                <a:ea typeface="Courier New" pitchFamily="34" charset="-122"/>
                <a:cs typeface="Courier New" pitchFamily="34" charset="-120"/>
              </a:rPr>
              <a:t>adjacent regions differ</a:t>
            </a:r>
            <a:endParaRPr lang="en-US" sz="1200" dirty="0"/>
          </a:p>
        </p:txBody>
      </p:sp>
      <p:sp>
        <p:nvSpPr>
          <p:cNvPr id="41" name="Text 39"/>
          <p:cNvSpPr/>
          <p:nvPr/>
        </p:nvSpPr>
        <p:spPr>
          <a:xfrm>
            <a:off x="896112" y="5010912"/>
            <a:ext cx="6309360" cy="566928"/>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WA != NT, WA != SA, NT != SA, NT != Q, SA != Q, SA != NSW, SA != V, Q != NSW, NSW != V</a:t>
            </a:r>
            <a:endParaRPr lang="en-US" sz="1250" dirty="0"/>
          </a:p>
        </p:txBody>
      </p:sp>
      <p:sp>
        <p:nvSpPr>
          <p:cNvPr id="42" name="Text 40"/>
          <p:cNvSpPr/>
          <p:nvPr/>
        </p:nvSpPr>
        <p:spPr>
          <a:xfrm>
            <a:off x="640080" y="5779008"/>
            <a:ext cx="6949440" cy="365760"/>
          </a:xfrm>
          <a:prstGeom prst="rect">
            <a:avLst/>
          </a:prstGeom>
          <a:noFill/>
          <a:ln/>
        </p:spPr>
        <p:txBody>
          <a:bodyPr wrap="square" lIns="0" tIns="0" rIns="0" bIns="0" rtlCol="0" anchor="ctr"/>
          <a:lstStyle/>
          <a:p>
            <a:pPr indent="0" marL="0">
              <a:buNone/>
            </a:pPr>
            <a:r>
              <a:rPr lang="en-US" sz="1250" i="1" dirty="0">
                <a:solidFill>
                  <a:srgbClr val="1C1E21"/>
                </a:solidFill>
                <a:latin typeface="Calibri" pitchFamily="34" charset="0"/>
                <a:ea typeface="Calibri" pitchFamily="34" charset="-122"/>
                <a:cs typeface="Calibri" pitchFamily="34" charset="-120"/>
              </a:rPr>
              <a:t>Tasmania touches nothing. Hold on to that - it becomes the whole point in the next lecture.</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13</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Two ways to write the same constraint</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Same relation, very different engineering properties</a:t>
            </a:r>
            <a:endParaRPr lang="en-US" sz="1400" dirty="0"/>
          </a:p>
        </p:txBody>
      </p:sp>
      <p:sp>
        <p:nvSpPr>
          <p:cNvPr id="6" name="Shape 4"/>
          <p:cNvSpPr/>
          <p:nvPr/>
        </p:nvSpPr>
        <p:spPr>
          <a:xfrm>
            <a:off x="640080" y="1645920"/>
            <a:ext cx="5349240" cy="3200400"/>
          </a:xfrm>
          <a:prstGeom prst="roundRect">
            <a:avLst>
              <a:gd name="adj" fmla="val 1714"/>
            </a:avLst>
          </a:prstGeom>
          <a:solidFill>
            <a:srgbClr val="F6F7F8"/>
          </a:solidFill>
          <a:ln w="9525">
            <a:solidFill>
              <a:srgbClr val="D3D6D9"/>
            </a:solidFill>
            <a:prstDash val="solid"/>
          </a:ln>
        </p:spPr>
      </p:sp>
      <p:sp>
        <p:nvSpPr>
          <p:cNvPr id="7" name="Text 5"/>
          <p:cNvSpPr/>
          <p:nvPr/>
        </p:nvSpPr>
        <p:spPr>
          <a:xfrm>
            <a:off x="914400" y="1828800"/>
            <a:ext cx="4754880" cy="365760"/>
          </a:xfrm>
          <a:prstGeom prst="rect">
            <a:avLst/>
          </a:prstGeom>
          <a:noFill/>
          <a:ln/>
        </p:spPr>
        <p:txBody>
          <a:bodyPr wrap="square" lIns="0" tIns="0" rIns="0" bIns="0" rtlCol="0" anchor="ctr"/>
          <a:lstStyle/>
          <a:p>
            <a:pPr indent="0" marL="0">
              <a:buNone/>
            </a:pPr>
            <a:r>
              <a:rPr lang="en-US" sz="2100" b="1" dirty="0">
                <a:solidFill>
                  <a:srgbClr val="1C1E21"/>
                </a:solidFill>
                <a:latin typeface="Cambria" pitchFamily="34" charset="0"/>
                <a:ea typeface="Cambria" pitchFamily="34" charset="-122"/>
                <a:cs typeface="Cambria" pitchFamily="34" charset="-120"/>
              </a:rPr>
              <a:t>Implicit</a:t>
            </a:r>
            <a:endParaRPr lang="en-US" sz="2100" dirty="0"/>
          </a:p>
        </p:txBody>
      </p:sp>
      <p:sp>
        <p:nvSpPr>
          <p:cNvPr id="8" name="Text 6"/>
          <p:cNvSpPr/>
          <p:nvPr/>
        </p:nvSpPr>
        <p:spPr>
          <a:xfrm>
            <a:off x="914400" y="2194560"/>
            <a:ext cx="4754880" cy="274320"/>
          </a:xfrm>
          <a:prstGeom prst="rect">
            <a:avLst/>
          </a:prstGeom>
          <a:noFill/>
          <a:ln/>
        </p:spPr>
        <p:txBody>
          <a:bodyPr wrap="square" lIns="0" tIns="0" rIns="0" bIns="0" rtlCol="0" anchor="ctr"/>
          <a:lstStyle/>
          <a:p>
            <a:pPr indent="0" marL="0">
              <a:buNone/>
            </a:pPr>
            <a:r>
              <a:rPr lang="en-US" sz="1300" i="1" dirty="0">
                <a:solidFill>
                  <a:srgbClr val="53565A"/>
                </a:solidFill>
                <a:latin typeface="Calibri" pitchFamily="34" charset="0"/>
                <a:ea typeface="Calibri" pitchFamily="34" charset="-122"/>
                <a:cs typeface="Calibri" pitchFamily="34" charset="-120"/>
              </a:rPr>
              <a:t>A piece of code you run to test legality.</a:t>
            </a:r>
            <a:endParaRPr lang="en-US" sz="1300" dirty="0"/>
          </a:p>
        </p:txBody>
      </p:sp>
      <p:sp>
        <p:nvSpPr>
          <p:cNvPr id="9" name="Shape 7"/>
          <p:cNvSpPr/>
          <p:nvPr/>
        </p:nvSpPr>
        <p:spPr>
          <a:xfrm>
            <a:off x="914400" y="2542032"/>
            <a:ext cx="4800600" cy="685800"/>
          </a:xfrm>
          <a:prstGeom prst="roundRect">
            <a:avLst>
              <a:gd name="adj" fmla="val 6667"/>
            </a:avLst>
          </a:prstGeom>
          <a:solidFill>
            <a:srgbClr val="F4F5F6"/>
          </a:solidFill>
          <a:ln w="9525">
            <a:solidFill>
              <a:srgbClr val="D3D6D9"/>
            </a:solidFill>
            <a:prstDash val="solid"/>
          </a:ln>
        </p:spPr>
      </p:sp>
      <p:sp>
        <p:nvSpPr>
          <p:cNvPr id="10" name="Text 8"/>
          <p:cNvSpPr/>
          <p:nvPr/>
        </p:nvSpPr>
        <p:spPr>
          <a:xfrm>
            <a:off x="1060704" y="2651760"/>
            <a:ext cx="4507992" cy="466344"/>
          </a:xfrm>
          <a:prstGeom prst="rect">
            <a:avLst/>
          </a:prstGeom>
          <a:noFill/>
          <a:ln/>
        </p:spPr>
        <p:txBody>
          <a:bodyPr wrap="square" lIns="0" tIns="0" rIns="0" bIns="0" rtlCol="0" anchor="t"/>
          <a:lstStyle/>
          <a:p>
            <a:pPr indent="0" marL="0">
              <a:lnSpc>
                <a:spcPct val="112000"/>
              </a:lnSpc>
              <a:buNone/>
            </a:pPr>
            <a:r>
              <a:rPr lang="en-US" sz="1500" dirty="0">
                <a:solidFill>
                  <a:srgbClr val="1C1E21"/>
                </a:solidFill>
                <a:latin typeface="Courier New" pitchFamily="34" charset="0"/>
                <a:ea typeface="Courier New" pitchFamily="34" charset="-122"/>
                <a:cs typeface="Courier New" pitchFamily="34" charset="-120"/>
              </a:rPr>
              <a:t>WA != NT</a:t>
            </a:r>
            <a:endParaRPr lang="en-US" sz="1500" dirty="0"/>
          </a:p>
        </p:txBody>
      </p:sp>
      <p:sp>
        <p:nvSpPr>
          <p:cNvPr id="11" name="Text 9"/>
          <p:cNvSpPr/>
          <p:nvPr/>
        </p:nvSpPr>
        <p:spPr>
          <a:xfrm>
            <a:off x="914400" y="3401568"/>
            <a:ext cx="4754880" cy="11887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Compact, and the only practical option for something like a sum over 64 squares</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Costs a function call every time you check it</a:t>
            </a:r>
            <a:endParaRPr lang="en-US" sz="1350" dirty="0"/>
          </a:p>
        </p:txBody>
      </p:sp>
      <p:sp>
        <p:nvSpPr>
          <p:cNvPr id="12" name="Shape 10"/>
          <p:cNvSpPr/>
          <p:nvPr/>
        </p:nvSpPr>
        <p:spPr>
          <a:xfrm>
            <a:off x="6263640" y="1645920"/>
            <a:ext cx="5285232" cy="3200400"/>
          </a:xfrm>
          <a:prstGeom prst="roundRect">
            <a:avLst>
              <a:gd name="adj" fmla="val 1714"/>
            </a:avLst>
          </a:prstGeom>
          <a:solidFill>
            <a:srgbClr val="F6F7F8"/>
          </a:solidFill>
          <a:ln w="9525">
            <a:solidFill>
              <a:srgbClr val="D3D6D9"/>
            </a:solidFill>
            <a:prstDash val="solid"/>
          </a:ln>
        </p:spPr>
      </p:sp>
      <p:sp>
        <p:nvSpPr>
          <p:cNvPr id="13" name="Text 11"/>
          <p:cNvSpPr/>
          <p:nvPr/>
        </p:nvSpPr>
        <p:spPr>
          <a:xfrm>
            <a:off x="6537960" y="1828800"/>
            <a:ext cx="4754880" cy="365760"/>
          </a:xfrm>
          <a:prstGeom prst="rect">
            <a:avLst/>
          </a:prstGeom>
          <a:noFill/>
          <a:ln/>
        </p:spPr>
        <p:txBody>
          <a:bodyPr wrap="square" lIns="0" tIns="0" rIns="0" bIns="0" rtlCol="0" anchor="ctr"/>
          <a:lstStyle/>
          <a:p>
            <a:pPr indent="0" marL="0">
              <a:buNone/>
            </a:pPr>
            <a:r>
              <a:rPr lang="en-US" sz="2100" b="1" dirty="0">
                <a:solidFill>
                  <a:srgbClr val="1C1E21"/>
                </a:solidFill>
                <a:latin typeface="Cambria" pitchFamily="34" charset="0"/>
                <a:ea typeface="Cambria" pitchFamily="34" charset="-122"/>
                <a:cs typeface="Cambria" pitchFamily="34" charset="-120"/>
              </a:rPr>
              <a:t>Explicit</a:t>
            </a:r>
            <a:endParaRPr lang="en-US" sz="2100" dirty="0"/>
          </a:p>
        </p:txBody>
      </p:sp>
      <p:sp>
        <p:nvSpPr>
          <p:cNvPr id="14" name="Text 12"/>
          <p:cNvSpPr/>
          <p:nvPr/>
        </p:nvSpPr>
        <p:spPr>
          <a:xfrm>
            <a:off x="6537960" y="2194560"/>
            <a:ext cx="4754880" cy="274320"/>
          </a:xfrm>
          <a:prstGeom prst="rect">
            <a:avLst/>
          </a:prstGeom>
          <a:noFill/>
          <a:ln/>
        </p:spPr>
        <p:txBody>
          <a:bodyPr wrap="square" lIns="0" tIns="0" rIns="0" bIns="0" rtlCol="0" anchor="ctr"/>
          <a:lstStyle/>
          <a:p>
            <a:pPr indent="0" marL="0">
              <a:buNone/>
            </a:pPr>
            <a:r>
              <a:rPr lang="en-US" sz="1300" i="1" dirty="0">
                <a:solidFill>
                  <a:srgbClr val="53565A"/>
                </a:solidFill>
                <a:latin typeface="Calibri" pitchFamily="34" charset="0"/>
                <a:ea typeface="Calibri" pitchFamily="34" charset="-122"/>
                <a:cs typeface="Calibri" pitchFamily="34" charset="-120"/>
              </a:rPr>
              <a:t>An enumerated list of the legal tuples.</a:t>
            </a:r>
            <a:endParaRPr lang="en-US" sz="1300" dirty="0"/>
          </a:p>
        </p:txBody>
      </p:sp>
      <p:sp>
        <p:nvSpPr>
          <p:cNvPr id="15" name="Shape 13"/>
          <p:cNvSpPr/>
          <p:nvPr/>
        </p:nvSpPr>
        <p:spPr>
          <a:xfrm>
            <a:off x="6537960" y="2542032"/>
            <a:ext cx="4754880" cy="685800"/>
          </a:xfrm>
          <a:prstGeom prst="roundRect">
            <a:avLst>
              <a:gd name="adj" fmla="val 6667"/>
            </a:avLst>
          </a:prstGeom>
          <a:solidFill>
            <a:srgbClr val="F4F5F6"/>
          </a:solidFill>
          <a:ln w="9525">
            <a:solidFill>
              <a:srgbClr val="D3D6D9"/>
            </a:solidFill>
            <a:prstDash val="solid"/>
          </a:ln>
        </p:spPr>
      </p:sp>
      <p:sp>
        <p:nvSpPr>
          <p:cNvPr id="16" name="Text 14"/>
          <p:cNvSpPr/>
          <p:nvPr/>
        </p:nvSpPr>
        <p:spPr>
          <a:xfrm>
            <a:off x="6684264" y="2651760"/>
            <a:ext cx="4462272" cy="466344"/>
          </a:xfrm>
          <a:prstGeom prst="rect">
            <a:avLst/>
          </a:prstGeom>
          <a:noFill/>
          <a:ln/>
        </p:spPr>
        <p:txBody>
          <a:bodyPr wrap="square" lIns="0" tIns="0" rIns="0" bIns="0" rtlCol="0" anchor="t"/>
          <a:lstStyle/>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(WA, NT) in { (red,green), (red,blue),</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(green,red), ... }</a:t>
            </a:r>
            <a:endParaRPr lang="en-US" sz="1150" dirty="0"/>
          </a:p>
        </p:txBody>
      </p:sp>
      <p:sp>
        <p:nvSpPr>
          <p:cNvPr id="17" name="Text 15"/>
          <p:cNvSpPr/>
          <p:nvPr/>
        </p:nvSpPr>
        <p:spPr>
          <a:xfrm>
            <a:off x="6537960" y="3401568"/>
            <a:ext cx="4754880" cy="118872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A table the solver can index into, with no user code in the inner loop</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Blows up: |Di| x |Dj| rows per constraint, and worse for higher arity</a:t>
            </a:r>
            <a:endParaRPr lang="en-US" sz="1350" dirty="0"/>
          </a:p>
        </p:txBody>
      </p:sp>
      <p:sp>
        <p:nvSpPr>
          <p:cNvPr id="18" name="Shape 16"/>
          <p:cNvSpPr/>
          <p:nvPr/>
        </p:nvSpPr>
        <p:spPr>
          <a:xfrm>
            <a:off x="640080" y="5029200"/>
            <a:ext cx="10908792" cy="868680"/>
          </a:xfrm>
          <a:prstGeom prst="roundRect">
            <a:avLst>
              <a:gd name="adj" fmla="val 6316"/>
            </a:avLst>
          </a:prstGeom>
          <a:solidFill>
            <a:srgbClr val="FBEDEF"/>
          </a:solidFill>
          <a:ln w="9525">
            <a:solidFill>
              <a:srgbClr val="E8B5BC"/>
            </a:solidFill>
            <a:prstDash val="solid"/>
          </a:ln>
        </p:spPr>
      </p:sp>
      <p:sp>
        <p:nvSpPr>
          <p:cNvPr id="19" name="Text 17"/>
          <p:cNvSpPr/>
          <p:nvPr/>
        </p:nvSpPr>
        <p:spPr>
          <a:xfrm>
            <a:off x="914400" y="5029200"/>
            <a:ext cx="10360152" cy="868680"/>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The pair (red, red) never appears in the explicit list. </a:t>
            </a:r>
            <a:pPr indent="0" marL="0">
              <a:buNone/>
            </a:pPr>
            <a:r>
              <a:rPr lang="en-US" sz="1400" dirty="0">
                <a:solidFill>
                  <a:srgbClr val="1C1E21"/>
                </a:solidFill>
                <a:latin typeface="Calibri" pitchFamily="34" charset="0"/>
                <a:ea typeface="Calibri" pitchFamily="34" charset="-122"/>
                <a:cs typeface="Calibri" pitchFamily="34" charset="-120"/>
              </a:rPr>
              <a:t>That absence is the constraint. A constraint is nothing more than a subset of the cross product of the domains in its scope - everything else is notation.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Constraint graphs</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One node per variable, one edge per binary constraint</a:t>
            </a:r>
            <a:endParaRPr lang="en-US" sz="1400" dirty="0"/>
          </a:p>
        </p:txBody>
      </p:sp>
      <p:sp>
        <p:nvSpPr>
          <p:cNvPr id="6" name="Shape 4"/>
          <p:cNvSpPr/>
          <p:nvPr/>
        </p:nvSpPr>
        <p:spPr>
          <a:xfrm flipH="1">
            <a:off x="7927848" y="2304288"/>
            <a:ext cx="1014984" cy="676656"/>
          </a:xfrm>
          <a:prstGeom prst="line">
            <a:avLst/>
          </a:prstGeom>
          <a:noFill/>
          <a:ln w="15875">
            <a:solidFill>
              <a:srgbClr val="53565A"/>
            </a:solidFill>
            <a:prstDash val="solid"/>
          </a:ln>
        </p:spPr>
      </p:sp>
      <p:sp>
        <p:nvSpPr>
          <p:cNvPr id="7" name="Shape 5"/>
          <p:cNvSpPr/>
          <p:nvPr/>
        </p:nvSpPr>
        <p:spPr>
          <a:xfrm>
            <a:off x="7927848" y="2980944"/>
            <a:ext cx="1082650" cy="744322"/>
          </a:xfrm>
          <a:prstGeom prst="line">
            <a:avLst/>
          </a:prstGeom>
          <a:noFill/>
          <a:ln w="15875">
            <a:solidFill>
              <a:srgbClr val="53565A"/>
            </a:solidFill>
            <a:prstDash val="solid"/>
          </a:ln>
        </p:spPr>
      </p:sp>
      <p:sp>
        <p:nvSpPr>
          <p:cNvPr id="8" name="Shape 6"/>
          <p:cNvSpPr/>
          <p:nvPr/>
        </p:nvSpPr>
        <p:spPr>
          <a:xfrm>
            <a:off x="8942832" y="2304288"/>
            <a:ext cx="67666" cy="1420978"/>
          </a:xfrm>
          <a:prstGeom prst="line">
            <a:avLst/>
          </a:prstGeom>
          <a:noFill/>
          <a:ln w="15875">
            <a:solidFill>
              <a:srgbClr val="53565A"/>
            </a:solidFill>
            <a:prstDash val="solid"/>
          </a:ln>
        </p:spPr>
      </p:sp>
      <p:sp>
        <p:nvSpPr>
          <p:cNvPr id="9" name="Shape 7"/>
          <p:cNvSpPr/>
          <p:nvPr/>
        </p:nvSpPr>
        <p:spPr>
          <a:xfrm>
            <a:off x="8942832" y="2304288"/>
            <a:ext cx="1082650" cy="304495"/>
          </a:xfrm>
          <a:prstGeom prst="line">
            <a:avLst/>
          </a:prstGeom>
          <a:noFill/>
          <a:ln w="15875">
            <a:solidFill>
              <a:srgbClr val="53565A"/>
            </a:solidFill>
            <a:prstDash val="solid"/>
          </a:ln>
        </p:spPr>
      </p:sp>
      <p:sp>
        <p:nvSpPr>
          <p:cNvPr id="10" name="Shape 8"/>
          <p:cNvSpPr/>
          <p:nvPr/>
        </p:nvSpPr>
        <p:spPr>
          <a:xfrm flipH="1">
            <a:off x="9010498" y="2608783"/>
            <a:ext cx="1014984" cy="1116482"/>
          </a:xfrm>
          <a:prstGeom prst="line">
            <a:avLst/>
          </a:prstGeom>
          <a:noFill/>
          <a:ln w="15875">
            <a:solidFill>
              <a:srgbClr val="53565A"/>
            </a:solidFill>
            <a:prstDash val="solid"/>
          </a:ln>
        </p:spPr>
      </p:sp>
      <p:sp>
        <p:nvSpPr>
          <p:cNvPr id="11" name="Shape 9"/>
          <p:cNvSpPr/>
          <p:nvPr/>
        </p:nvSpPr>
        <p:spPr>
          <a:xfrm flipH="1">
            <a:off x="9010498" y="3691433"/>
            <a:ext cx="1285646" cy="33833"/>
          </a:xfrm>
          <a:prstGeom prst="line">
            <a:avLst/>
          </a:prstGeom>
          <a:noFill/>
          <a:ln w="15875">
            <a:solidFill>
              <a:srgbClr val="53565A"/>
            </a:solidFill>
            <a:prstDash val="solid"/>
          </a:ln>
        </p:spPr>
      </p:sp>
      <p:sp>
        <p:nvSpPr>
          <p:cNvPr id="12" name="Shape 10"/>
          <p:cNvSpPr/>
          <p:nvPr/>
        </p:nvSpPr>
        <p:spPr>
          <a:xfrm>
            <a:off x="9010498" y="3725266"/>
            <a:ext cx="676656" cy="811987"/>
          </a:xfrm>
          <a:prstGeom prst="line">
            <a:avLst/>
          </a:prstGeom>
          <a:noFill/>
          <a:ln w="15875">
            <a:solidFill>
              <a:srgbClr val="53565A"/>
            </a:solidFill>
            <a:prstDash val="solid"/>
          </a:ln>
        </p:spPr>
      </p:sp>
      <p:sp>
        <p:nvSpPr>
          <p:cNvPr id="13" name="Shape 11"/>
          <p:cNvSpPr/>
          <p:nvPr/>
        </p:nvSpPr>
        <p:spPr>
          <a:xfrm>
            <a:off x="10025482" y="2608783"/>
            <a:ext cx="270662" cy="1082650"/>
          </a:xfrm>
          <a:prstGeom prst="line">
            <a:avLst/>
          </a:prstGeom>
          <a:noFill/>
          <a:ln w="15875">
            <a:solidFill>
              <a:srgbClr val="53565A"/>
            </a:solidFill>
            <a:prstDash val="solid"/>
          </a:ln>
        </p:spPr>
      </p:sp>
      <p:sp>
        <p:nvSpPr>
          <p:cNvPr id="14" name="Shape 12"/>
          <p:cNvSpPr/>
          <p:nvPr/>
        </p:nvSpPr>
        <p:spPr>
          <a:xfrm flipH="1">
            <a:off x="9687154" y="3691433"/>
            <a:ext cx="608990" cy="845820"/>
          </a:xfrm>
          <a:prstGeom prst="line">
            <a:avLst/>
          </a:prstGeom>
          <a:noFill/>
          <a:ln w="15875">
            <a:solidFill>
              <a:srgbClr val="53565A"/>
            </a:solidFill>
            <a:prstDash val="solid"/>
          </a:ln>
        </p:spPr>
      </p:sp>
      <p:sp>
        <p:nvSpPr>
          <p:cNvPr id="15" name="Shape 13"/>
          <p:cNvSpPr/>
          <p:nvPr/>
        </p:nvSpPr>
        <p:spPr>
          <a:xfrm>
            <a:off x="8732520" y="2093976"/>
            <a:ext cx="420624" cy="420624"/>
          </a:xfrm>
          <a:prstGeom prst="ellipse">
            <a:avLst/>
          </a:prstGeom>
          <a:solidFill>
            <a:srgbClr val="FFFFFF"/>
          </a:solidFill>
          <a:ln w="17780">
            <a:solidFill>
              <a:srgbClr val="1C1E21"/>
            </a:solidFill>
            <a:prstDash val="solid"/>
          </a:ln>
        </p:spPr>
      </p:sp>
      <p:sp>
        <p:nvSpPr>
          <p:cNvPr id="16" name="Text 14"/>
          <p:cNvSpPr/>
          <p:nvPr/>
        </p:nvSpPr>
        <p:spPr>
          <a:xfrm>
            <a:off x="8732520" y="2093976"/>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NT</a:t>
            </a:r>
            <a:endParaRPr lang="en-US" sz="1000" dirty="0"/>
          </a:p>
        </p:txBody>
      </p:sp>
      <p:sp>
        <p:nvSpPr>
          <p:cNvPr id="17" name="Shape 15"/>
          <p:cNvSpPr/>
          <p:nvPr/>
        </p:nvSpPr>
        <p:spPr>
          <a:xfrm>
            <a:off x="9815170" y="2398471"/>
            <a:ext cx="420624" cy="420624"/>
          </a:xfrm>
          <a:prstGeom prst="ellipse">
            <a:avLst/>
          </a:prstGeom>
          <a:solidFill>
            <a:srgbClr val="FFFFFF"/>
          </a:solidFill>
          <a:ln w="17780">
            <a:solidFill>
              <a:srgbClr val="1C1E21"/>
            </a:solidFill>
            <a:prstDash val="solid"/>
          </a:ln>
        </p:spPr>
      </p:sp>
      <p:sp>
        <p:nvSpPr>
          <p:cNvPr id="18" name="Text 16"/>
          <p:cNvSpPr/>
          <p:nvPr/>
        </p:nvSpPr>
        <p:spPr>
          <a:xfrm>
            <a:off x="9815170" y="2398471"/>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Q</a:t>
            </a:r>
            <a:endParaRPr lang="en-US" sz="1000" dirty="0"/>
          </a:p>
        </p:txBody>
      </p:sp>
      <p:sp>
        <p:nvSpPr>
          <p:cNvPr id="19" name="Shape 17"/>
          <p:cNvSpPr/>
          <p:nvPr/>
        </p:nvSpPr>
        <p:spPr>
          <a:xfrm>
            <a:off x="7717536" y="2770632"/>
            <a:ext cx="420624" cy="420624"/>
          </a:xfrm>
          <a:prstGeom prst="ellipse">
            <a:avLst/>
          </a:prstGeom>
          <a:solidFill>
            <a:srgbClr val="FFFFFF"/>
          </a:solidFill>
          <a:ln w="17780">
            <a:solidFill>
              <a:srgbClr val="1C1E21"/>
            </a:solidFill>
            <a:prstDash val="solid"/>
          </a:ln>
        </p:spPr>
      </p:sp>
      <p:sp>
        <p:nvSpPr>
          <p:cNvPr id="20" name="Text 18"/>
          <p:cNvSpPr/>
          <p:nvPr/>
        </p:nvSpPr>
        <p:spPr>
          <a:xfrm>
            <a:off x="7717536" y="2770632"/>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WA</a:t>
            </a:r>
            <a:endParaRPr lang="en-US" sz="1000" dirty="0"/>
          </a:p>
        </p:txBody>
      </p:sp>
      <p:sp>
        <p:nvSpPr>
          <p:cNvPr id="21" name="Shape 19"/>
          <p:cNvSpPr/>
          <p:nvPr/>
        </p:nvSpPr>
        <p:spPr>
          <a:xfrm>
            <a:off x="8800186" y="3514954"/>
            <a:ext cx="420624" cy="420624"/>
          </a:xfrm>
          <a:prstGeom prst="ellipse">
            <a:avLst/>
          </a:prstGeom>
          <a:solidFill>
            <a:srgbClr val="FFFFFF"/>
          </a:solidFill>
          <a:ln w="17780">
            <a:solidFill>
              <a:srgbClr val="1C1E21"/>
            </a:solidFill>
            <a:prstDash val="solid"/>
          </a:ln>
        </p:spPr>
      </p:sp>
      <p:sp>
        <p:nvSpPr>
          <p:cNvPr id="22" name="Text 20"/>
          <p:cNvSpPr/>
          <p:nvPr/>
        </p:nvSpPr>
        <p:spPr>
          <a:xfrm>
            <a:off x="8800186" y="3514954"/>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SA</a:t>
            </a:r>
            <a:endParaRPr lang="en-US" sz="1000" dirty="0"/>
          </a:p>
        </p:txBody>
      </p:sp>
      <p:sp>
        <p:nvSpPr>
          <p:cNvPr id="23" name="Shape 21"/>
          <p:cNvSpPr/>
          <p:nvPr/>
        </p:nvSpPr>
        <p:spPr>
          <a:xfrm>
            <a:off x="10085832" y="3481121"/>
            <a:ext cx="420624" cy="420624"/>
          </a:xfrm>
          <a:prstGeom prst="ellipse">
            <a:avLst/>
          </a:prstGeom>
          <a:solidFill>
            <a:srgbClr val="FFFFFF"/>
          </a:solidFill>
          <a:ln w="17780">
            <a:solidFill>
              <a:srgbClr val="1C1E21"/>
            </a:solidFill>
            <a:prstDash val="solid"/>
          </a:ln>
        </p:spPr>
      </p:sp>
      <p:sp>
        <p:nvSpPr>
          <p:cNvPr id="24" name="Text 22"/>
          <p:cNvSpPr/>
          <p:nvPr/>
        </p:nvSpPr>
        <p:spPr>
          <a:xfrm>
            <a:off x="10085832" y="3481121"/>
            <a:ext cx="420624" cy="420624"/>
          </a:xfrm>
          <a:prstGeom prst="rect">
            <a:avLst/>
          </a:prstGeom>
          <a:noFill/>
          <a:ln/>
        </p:spPr>
        <p:txBody>
          <a:bodyPr wrap="square" lIns="0" tIns="0" rIns="0" bIns="0" rtlCol="0" anchor="ctr"/>
          <a:lstStyle/>
          <a:p>
            <a:pPr algn="ctr" indent="0" marL="0">
              <a:buNone/>
            </a:pPr>
            <a:r>
              <a:rPr lang="en-US" sz="850" b="1" dirty="0">
                <a:solidFill>
                  <a:srgbClr val="1C1E21"/>
                </a:solidFill>
                <a:latin typeface="Calibri" pitchFamily="34" charset="0"/>
                <a:ea typeface="Calibri" pitchFamily="34" charset="-122"/>
                <a:cs typeface="Calibri" pitchFamily="34" charset="-120"/>
              </a:rPr>
              <a:t>NSW</a:t>
            </a:r>
            <a:endParaRPr lang="en-US" sz="850" dirty="0"/>
          </a:p>
        </p:txBody>
      </p:sp>
      <p:sp>
        <p:nvSpPr>
          <p:cNvPr id="25" name="Shape 23"/>
          <p:cNvSpPr/>
          <p:nvPr/>
        </p:nvSpPr>
        <p:spPr>
          <a:xfrm>
            <a:off x="9476842" y="4326941"/>
            <a:ext cx="420624" cy="420624"/>
          </a:xfrm>
          <a:prstGeom prst="ellipse">
            <a:avLst/>
          </a:prstGeom>
          <a:solidFill>
            <a:srgbClr val="FFFFFF"/>
          </a:solidFill>
          <a:ln w="17780">
            <a:solidFill>
              <a:srgbClr val="1C1E21"/>
            </a:solidFill>
            <a:prstDash val="solid"/>
          </a:ln>
        </p:spPr>
      </p:sp>
      <p:sp>
        <p:nvSpPr>
          <p:cNvPr id="26" name="Text 24"/>
          <p:cNvSpPr/>
          <p:nvPr/>
        </p:nvSpPr>
        <p:spPr>
          <a:xfrm>
            <a:off x="9476842" y="4326941"/>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V</a:t>
            </a:r>
            <a:endParaRPr lang="en-US" sz="1000" dirty="0"/>
          </a:p>
        </p:txBody>
      </p:sp>
      <p:sp>
        <p:nvSpPr>
          <p:cNvPr id="27" name="Shape 25"/>
          <p:cNvSpPr/>
          <p:nvPr/>
        </p:nvSpPr>
        <p:spPr>
          <a:xfrm>
            <a:off x="9409176" y="5138928"/>
            <a:ext cx="420624" cy="420624"/>
          </a:xfrm>
          <a:prstGeom prst="ellipse">
            <a:avLst/>
          </a:prstGeom>
          <a:solidFill>
            <a:srgbClr val="FFFFFF"/>
          </a:solidFill>
          <a:ln w="17780">
            <a:solidFill>
              <a:srgbClr val="1C1E21"/>
            </a:solidFill>
            <a:prstDash val="solid"/>
          </a:ln>
        </p:spPr>
      </p:sp>
      <p:sp>
        <p:nvSpPr>
          <p:cNvPr id="28" name="Text 26"/>
          <p:cNvSpPr/>
          <p:nvPr/>
        </p:nvSpPr>
        <p:spPr>
          <a:xfrm>
            <a:off x="9409176" y="5138928"/>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T</a:t>
            </a:r>
            <a:endParaRPr lang="en-US" sz="1000" dirty="0"/>
          </a:p>
        </p:txBody>
      </p:sp>
      <p:sp>
        <p:nvSpPr>
          <p:cNvPr id="29" name="Shape 27"/>
          <p:cNvSpPr/>
          <p:nvPr/>
        </p:nvSpPr>
        <p:spPr>
          <a:xfrm>
            <a:off x="640080" y="1645920"/>
            <a:ext cx="6583680" cy="1417320"/>
          </a:xfrm>
          <a:prstGeom prst="roundRect">
            <a:avLst>
              <a:gd name="adj" fmla="val 3871"/>
            </a:avLst>
          </a:prstGeom>
          <a:solidFill>
            <a:srgbClr val="F6F7F8"/>
          </a:solidFill>
          <a:ln w="9525">
            <a:solidFill>
              <a:srgbClr val="D3D6D9"/>
            </a:solidFill>
            <a:prstDash val="solid"/>
          </a:ln>
        </p:spPr>
      </p:sp>
      <p:sp>
        <p:nvSpPr>
          <p:cNvPr id="30" name="Text 28"/>
          <p:cNvSpPr/>
          <p:nvPr/>
        </p:nvSpPr>
        <p:spPr>
          <a:xfrm>
            <a:off x="896112" y="1810512"/>
            <a:ext cx="612648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What the graph tells you</a:t>
            </a:r>
            <a:endParaRPr lang="en-US" sz="1700" dirty="0"/>
          </a:p>
        </p:txBody>
      </p:sp>
      <p:sp>
        <p:nvSpPr>
          <p:cNvPr id="31" name="Text 29"/>
          <p:cNvSpPr/>
          <p:nvPr/>
        </p:nvSpPr>
        <p:spPr>
          <a:xfrm>
            <a:off x="896112" y="2157984"/>
            <a:ext cx="6080760" cy="77724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Where the constraints are - not what they say. To learn that an edge means not-equal rather than less-than, you still have to look inside it.</a:t>
            </a:r>
            <a:endParaRPr lang="en-US" sz="1350" dirty="0"/>
          </a:p>
        </p:txBody>
      </p:sp>
      <p:sp>
        <p:nvSpPr>
          <p:cNvPr id="32" name="Text 30"/>
          <p:cNvSpPr/>
          <p:nvPr/>
        </p:nvSpPr>
        <p:spPr>
          <a:xfrm>
            <a:off x="640080" y="3291840"/>
            <a:ext cx="6720840" cy="2743200"/>
          </a:xfrm>
          <a:prstGeom prst="rect">
            <a:avLst/>
          </a:prstGeom>
          <a:noFill/>
          <a:ln/>
        </p:spPr>
        <p:txBody>
          <a:bodyPr wrap="square" lIns="0" tIns="0" rIns="0" bIns="0" rtlCol="0" anchor="t"/>
          <a:lstStyle/>
          <a:p>
            <a:pPr marL="177800" indent="-177800">
              <a:spcAft>
                <a:spcPts val="900"/>
              </a:spcAft>
              <a:buSzPct val="100000"/>
              <a:buChar char="•"/>
            </a:pPr>
            <a:r>
              <a:rPr lang="en-US" sz="1400" b="1" dirty="0">
                <a:solidFill>
                  <a:srgbClr val="1C1E21"/>
                </a:solidFill>
                <a:latin typeface="Calibri" pitchFamily="34" charset="0"/>
                <a:ea typeface="Calibri" pitchFamily="34" charset="-122"/>
                <a:cs typeface="Calibri" pitchFamily="34" charset="-120"/>
              </a:rPr>
              <a:t>Binary CSP: every constraint touches at most two variables, so every constraint is drawable as an ordinary edge</a:t>
            </a:r>
            <a:endParaRPr lang="en-US" sz="1400" dirty="0"/>
          </a:p>
          <a:p>
            <a:pPr marL="177800" indent="-177800">
              <a:spcAft>
                <a:spcPts val="900"/>
              </a:spcAft>
              <a:buSzPct val="100000"/>
              <a:buChar char="•"/>
            </a:pPr>
            <a:r>
              <a:rPr lang="en-US" sz="1400" b="1" dirty="0">
                <a:solidFill>
                  <a:srgbClr val="1C1E21"/>
                </a:solidFill>
                <a:latin typeface="Calibri" pitchFamily="34" charset="0"/>
                <a:ea typeface="Calibri" pitchFamily="34" charset="-122"/>
                <a:cs typeface="Calibri" pitchFamily="34" charset="-120"/>
              </a:rPr>
              <a:t>Unary constraints are not drawn - a restriction on one variable is just a smaller domain</a:t>
            </a:r>
            <a:endParaRPr lang="en-US" sz="1400" dirty="0"/>
          </a:p>
          <a:p>
            <a:pPr marL="177800" indent="-177800">
              <a:spcAft>
                <a:spcPts val="900"/>
              </a:spcAft>
              <a:buSzPct val="100000"/>
              <a:buChar char="•"/>
            </a:pPr>
            <a:r>
              <a:rPr lang="en-US" sz="1400" b="1" dirty="0">
                <a:solidFill>
                  <a:srgbClr val="1C1E21"/>
                </a:solidFill>
                <a:latin typeface="Calibri" pitchFamily="34" charset="0"/>
                <a:ea typeface="Calibri" pitchFamily="34" charset="-122"/>
                <a:cs typeface="Calibri" pitchFamily="34" charset="-120"/>
              </a:rPr>
              <a:t>Graph structure is exploitable</a:t>
            </a:r>
            <a:endParaRPr lang="en-US" sz="1400" dirty="0"/>
          </a:p>
          <a:p>
            <a:pPr lvl="1" marL="355600" indent="-177800">
              <a:spcAft>
                <a:spcPts val="900"/>
              </a:spcAft>
              <a:buSzPct val="100000"/>
              <a:buChar char="•"/>
            </a:pPr>
            <a:r>
              <a:rPr lang="en-US" sz="1300" dirty="0">
                <a:solidFill>
                  <a:srgbClr val="53565A"/>
                </a:solidFill>
                <a:latin typeface="Calibri" pitchFamily="34" charset="0"/>
                <a:ea typeface="Calibri" pitchFamily="34" charset="-122"/>
                <a:cs typeface="Calibri" pitchFamily="34" charset="-120"/>
              </a:rPr>
              <a:t>Tasmania is a disconnected component: an independent subproblem you can solve separately, and its 3 colorings multiply the mainland's count rather than adding to the search.</a:t>
            </a:r>
            <a:endParaRPr lang="en-US" sz="1400" dirty="0"/>
          </a:p>
          <a:p>
            <a:pPr lvl="1" marL="355600" indent="-177800">
              <a:spcAft>
                <a:spcPts val="900"/>
              </a:spcAft>
              <a:buSzPct val="100000"/>
              <a:buChar char="•"/>
            </a:pPr>
            <a:r>
              <a:rPr lang="en-US" sz="1300" dirty="0">
                <a:solidFill>
                  <a:srgbClr val="53565A"/>
                </a:solidFill>
                <a:latin typeface="Calibri" pitchFamily="34" charset="0"/>
                <a:ea typeface="Calibri" pitchFamily="34" charset="-122"/>
                <a:cs typeface="Calibri" pitchFamily="34" charset="-120"/>
              </a:rPr>
              <a:t>Trees admit a linear-time algorithm. Nearly-trees admit cutset conditioning. That is the entire next lecture.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15</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Example 2: N-Queens, first formulation</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One variable per square</a:t>
            </a:r>
            <a:endParaRPr lang="en-US" sz="1400" dirty="0"/>
          </a:p>
        </p:txBody>
      </p:sp>
      <p:sp>
        <p:nvSpPr>
          <p:cNvPr id="6" name="Shape 4"/>
          <p:cNvSpPr/>
          <p:nvPr/>
        </p:nvSpPr>
        <p:spPr>
          <a:xfrm>
            <a:off x="8732520" y="2103120"/>
            <a:ext cx="566928" cy="566928"/>
          </a:xfrm>
          <a:prstGeom prst="rect">
            <a:avLst/>
          </a:prstGeom>
          <a:solidFill>
            <a:srgbClr val="FFFFFF"/>
          </a:solidFill>
          <a:ln w="9525">
            <a:solidFill>
              <a:srgbClr val="53565A"/>
            </a:solidFill>
            <a:prstDash val="solid"/>
          </a:ln>
        </p:spPr>
      </p:sp>
      <p:sp>
        <p:nvSpPr>
          <p:cNvPr id="7" name="Shape 5"/>
          <p:cNvSpPr/>
          <p:nvPr/>
        </p:nvSpPr>
        <p:spPr>
          <a:xfrm>
            <a:off x="9299448" y="2103120"/>
            <a:ext cx="566928" cy="566928"/>
          </a:xfrm>
          <a:prstGeom prst="rect">
            <a:avLst/>
          </a:prstGeom>
          <a:solidFill>
            <a:srgbClr val="DCDEE0"/>
          </a:solidFill>
          <a:ln w="9525">
            <a:solidFill>
              <a:srgbClr val="53565A"/>
            </a:solidFill>
            <a:prstDash val="solid"/>
          </a:ln>
        </p:spPr>
      </p:sp>
      <p:sp>
        <p:nvSpPr>
          <p:cNvPr id="8" name="Shape 6"/>
          <p:cNvSpPr/>
          <p:nvPr/>
        </p:nvSpPr>
        <p:spPr>
          <a:xfrm>
            <a:off x="9866376" y="2103120"/>
            <a:ext cx="566928" cy="566928"/>
          </a:xfrm>
          <a:prstGeom prst="rect">
            <a:avLst/>
          </a:prstGeom>
          <a:solidFill>
            <a:srgbClr val="FFFFFF"/>
          </a:solidFill>
          <a:ln w="9525">
            <a:solidFill>
              <a:srgbClr val="53565A"/>
            </a:solidFill>
            <a:prstDash val="solid"/>
          </a:ln>
        </p:spPr>
      </p:sp>
      <p:sp>
        <p:nvSpPr>
          <p:cNvPr id="9" name="Shape 7"/>
          <p:cNvSpPr/>
          <p:nvPr/>
        </p:nvSpPr>
        <p:spPr>
          <a:xfrm>
            <a:off x="10433304" y="2103120"/>
            <a:ext cx="566928" cy="566928"/>
          </a:xfrm>
          <a:prstGeom prst="rect">
            <a:avLst/>
          </a:prstGeom>
          <a:solidFill>
            <a:srgbClr val="DCDEE0"/>
          </a:solidFill>
          <a:ln w="9525">
            <a:solidFill>
              <a:srgbClr val="53565A"/>
            </a:solidFill>
            <a:prstDash val="solid"/>
          </a:ln>
        </p:spPr>
      </p:sp>
      <p:sp>
        <p:nvSpPr>
          <p:cNvPr id="10" name="Shape 8"/>
          <p:cNvSpPr/>
          <p:nvPr/>
        </p:nvSpPr>
        <p:spPr>
          <a:xfrm>
            <a:off x="8732520" y="2670048"/>
            <a:ext cx="566928" cy="566928"/>
          </a:xfrm>
          <a:prstGeom prst="rect">
            <a:avLst/>
          </a:prstGeom>
          <a:solidFill>
            <a:srgbClr val="DCDEE0"/>
          </a:solidFill>
          <a:ln w="9525">
            <a:solidFill>
              <a:srgbClr val="53565A"/>
            </a:solidFill>
            <a:prstDash val="solid"/>
          </a:ln>
        </p:spPr>
      </p:sp>
      <p:sp>
        <p:nvSpPr>
          <p:cNvPr id="11" name="Shape 9"/>
          <p:cNvSpPr/>
          <p:nvPr/>
        </p:nvSpPr>
        <p:spPr>
          <a:xfrm>
            <a:off x="9299448" y="2670048"/>
            <a:ext cx="566928" cy="566928"/>
          </a:xfrm>
          <a:prstGeom prst="rect">
            <a:avLst/>
          </a:prstGeom>
          <a:solidFill>
            <a:srgbClr val="FFFFFF"/>
          </a:solidFill>
          <a:ln w="9525">
            <a:solidFill>
              <a:srgbClr val="53565A"/>
            </a:solidFill>
            <a:prstDash val="solid"/>
          </a:ln>
        </p:spPr>
      </p:sp>
      <p:sp>
        <p:nvSpPr>
          <p:cNvPr id="12" name="Shape 10"/>
          <p:cNvSpPr/>
          <p:nvPr/>
        </p:nvSpPr>
        <p:spPr>
          <a:xfrm>
            <a:off x="9866376" y="2670048"/>
            <a:ext cx="566928" cy="566928"/>
          </a:xfrm>
          <a:prstGeom prst="rect">
            <a:avLst/>
          </a:prstGeom>
          <a:solidFill>
            <a:srgbClr val="DCDEE0"/>
          </a:solidFill>
          <a:ln w="9525">
            <a:solidFill>
              <a:srgbClr val="53565A"/>
            </a:solidFill>
            <a:prstDash val="solid"/>
          </a:ln>
        </p:spPr>
      </p:sp>
      <p:sp>
        <p:nvSpPr>
          <p:cNvPr id="13" name="Shape 11"/>
          <p:cNvSpPr/>
          <p:nvPr/>
        </p:nvSpPr>
        <p:spPr>
          <a:xfrm>
            <a:off x="10433304" y="2670048"/>
            <a:ext cx="566928" cy="566928"/>
          </a:xfrm>
          <a:prstGeom prst="rect">
            <a:avLst/>
          </a:prstGeom>
          <a:solidFill>
            <a:srgbClr val="FFFFFF"/>
          </a:solidFill>
          <a:ln w="9525">
            <a:solidFill>
              <a:srgbClr val="53565A"/>
            </a:solidFill>
            <a:prstDash val="solid"/>
          </a:ln>
        </p:spPr>
      </p:sp>
      <p:sp>
        <p:nvSpPr>
          <p:cNvPr id="14" name="Shape 12"/>
          <p:cNvSpPr/>
          <p:nvPr/>
        </p:nvSpPr>
        <p:spPr>
          <a:xfrm>
            <a:off x="8732520" y="3236976"/>
            <a:ext cx="566928" cy="566928"/>
          </a:xfrm>
          <a:prstGeom prst="rect">
            <a:avLst/>
          </a:prstGeom>
          <a:solidFill>
            <a:srgbClr val="FFFFFF"/>
          </a:solidFill>
          <a:ln w="9525">
            <a:solidFill>
              <a:srgbClr val="53565A"/>
            </a:solidFill>
            <a:prstDash val="solid"/>
          </a:ln>
        </p:spPr>
      </p:sp>
      <p:sp>
        <p:nvSpPr>
          <p:cNvPr id="15" name="Shape 13"/>
          <p:cNvSpPr/>
          <p:nvPr/>
        </p:nvSpPr>
        <p:spPr>
          <a:xfrm>
            <a:off x="9299448" y="3236976"/>
            <a:ext cx="566928" cy="566928"/>
          </a:xfrm>
          <a:prstGeom prst="rect">
            <a:avLst/>
          </a:prstGeom>
          <a:solidFill>
            <a:srgbClr val="DCDEE0"/>
          </a:solidFill>
          <a:ln w="9525">
            <a:solidFill>
              <a:srgbClr val="53565A"/>
            </a:solidFill>
            <a:prstDash val="solid"/>
          </a:ln>
        </p:spPr>
      </p:sp>
      <p:sp>
        <p:nvSpPr>
          <p:cNvPr id="16" name="Shape 14"/>
          <p:cNvSpPr/>
          <p:nvPr/>
        </p:nvSpPr>
        <p:spPr>
          <a:xfrm>
            <a:off x="9866376" y="3236976"/>
            <a:ext cx="566928" cy="566928"/>
          </a:xfrm>
          <a:prstGeom prst="rect">
            <a:avLst/>
          </a:prstGeom>
          <a:solidFill>
            <a:srgbClr val="FFFFFF"/>
          </a:solidFill>
          <a:ln w="9525">
            <a:solidFill>
              <a:srgbClr val="53565A"/>
            </a:solidFill>
            <a:prstDash val="solid"/>
          </a:ln>
        </p:spPr>
      </p:sp>
      <p:sp>
        <p:nvSpPr>
          <p:cNvPr id="17" name="Shape 15"/>
          <p:cNvSpPr/>
          <p:nvPr/>
        </p:nvSpPr>
        <p:spPr>
          <a:xfrm>
            <a:off x="10433304" y="3236976"/>
            <a:ext cx="566928" cy="566928"/>
          </a:xfrm>
          <a:prstGeom prst="rect">
            <a:avLst/>
          </a:prstGeom>
          <a:solidFill>
            <a:srgbClr val="DCDEE0"/>
          </a:solidFill>
          <a:ln w="9525">
            <a:solidFill>
              <a:srgbClr val="53565A"/>
            </a:solidFill>
            <a:prstDash val="solid"/>
          </a:ln>
        </p:spPr>
      </p:sp>
      <p:sp>
        <p:nvSpPr>
          <p:cNvPr id="18" name="Shape 16"/>
          <p:cNvSpPr/>
          <p:nvPr/>
        </p:nvSpPr>
        <p:spPr>
          <a:xfrm>
            <a:off x="8732520" y="3803904"/>
            <a:ext cx="566928" cy="566928"/>
          </a:xfrm>
          <a:prstGeom prst="rect">
            <a:avLst/>
          </a:prstGeom>
          <a:solidFill>
            <a:srgbClr val="DCDEE0"/>
          </a:solidFill>
          <a:ln w="9525">
            <a:solidFill>
              <a:srgbClr val="53565A"/>
            </a:solidFill>
            <a:prstDash val="solid"/>
          </a:ln>
        </p:spPr>
      </p:sp>
      <p:sp>
        <p:nvSpPr>
          <p:cNvPr id="19" name="Shape 17"/>
          <p:cNvSpPr/>
          <p:nvPr/>
        </p:nvSpPr>
        <p:spPr>
          <a:xfrm>
            <a:off x="9299448" y="3803904"/>
            <a:ext cx="566928" cy="566928"/>
          </a:xfrm>
          <a:prstGeom prst="rect">
            <a:avLst/>
          </a:prstGeom>
          <a:solidFill>
            <a:srgbClr val="FFFFFF"/>
          </a:solidFill>
          <a:ln w="9525">
            <a:solidFill>
              <a:srgbClr val="53565A"/>
            </a:solidFill>
            <a:prstDash val="solid"/>
          </a:ln>
        </p:spPr>
      </p:sp>
      <p:sp>
        <p:nvSpPr>
          <p:cNvPr id="20" name="Shape 18"/>
          <p:cNvSpPr/>
          <p:nvPr/>
        </p:nvSpPr>
        <p:spPr>
          <a:xfrm>
            <a:off x="9866376" y="3803904"/>
            <a:ext cx="566928" cy="566928"/>
          </a:xfrm>
          <a:prstGeom prst="rect">
            <a:avLst/>
          </a:prstGeom>
          <a:solidFill>
            <a:srgbClr val="DCDEE0"/>
          </a:solidFill>
          <a:ln w="9525">
            <a:solidFill>
              <a:srgbClr val="53565A"/>
            </a:solidFill>
            <a:prstDash val="solid"/>
          </a:ln>
        </p:spPr>
      </p:sp>
      <p:sp>
        <p:nvSpPr>
          <p:cNvPr id="21" name="Shape 19"/>
          <p:cNvSpPr/>
          <p:nvPr/>
        </p:nvSpPr>
        <p:spPr>
          <a:xfrm>
            <a:off x="10433304" y="3803904"/>
            <a:ext cx="566928" cy="566928"/>
          </a:xfrm>
          <a:prstGeom prst="rect">
            <a:avLst/>
          </a:prstGeom>
          <a:solidFill>
            <a:srgbClr val="FFFFFF"/>
          </a:solidFill>
          <a:ln w="9525">
            <a:solidFill>
              <a:srgbClr val="53565A"/>
            </a:solidFill>
            <a:prstDash val="solid"/>
          </a:ln>
        </p:spPr>
      </p:sp>
      <p:sp>
        <p:nvSpPr>
          <p:cNvPr id="22" name="Text 20"/>
          <p:cNvSpPr/>
          <p:nvPr/>
        </p:nvSpPr>
        <p:spPr>
          <a:xfrm>
            <a:off x="9299448" y="2103120"/>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3" name="Text 21"/>
          <p:cNvSpPr/>
          <p:nvPr/>
        </p:nvSpPr>
        <p:spPr>
          <a:xfrm>
            <a:off x="10433304" y="2670048"/>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4" name="Text 22"/>
          <p:cNvSpPr/>
          <p:nvPr/>
        </p:nvSpPr>
        <p:spPr>
          <a:xfrm>
            <a:off x="8732520" y="3236976"/>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5" name="Text 23"/>
          <p:cNvSpPr/>
          <p:nvPr/>
        </p:nvSpPr>
        <p:spPr>
          <a:xfrm>
            <a:off x="9866376" y="3803904"/>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6" name="Text 24"/>
          <p:cNvSpPr/>
          <p:nvPr/>
        </p:nvSpPr>
        <p:spPr>
          <a:xfrm>
            <a:off x="8732520" y="4480560"/>
            <a:ext cx="2267712" cy="274320"/>
          </a:xfrm>
          <a:prstGeom prst="rect">
            <a:avLst/>
          </a:prstGeom>
          <a:noFill/>
          <a:ln/>
        </p:spPr>
        <p:txBody>
          <a:bodyPr wrap="square" lIns="0" tIns="0" rIns="0" bIns="0" rtlCol="0" anchor="ctr"/>
          <a:lstStyle/>
          <a:p>
            <a:pPr algn="ctr" indent="0" marL="0">
              <a:buNone/>
            </a:pPr>
            <a:r>
              <a:rPr lang="en-US" sz="1100" i="1" dirty="0">
                <a:solidFill>
                  <a:srgbClr val="7C8085"/>
                </a:solidFill>
                <a:latin typeface="Calibri" pitchFamily="34" charset="0"/>
                <a:ea typeface="Calibri" pitchFamily="34" charset="-122"/>
                <a:cs typeface="Calibri" pitchFamily="34" charset="-120"/>
              </a:rPr>
              <a:t>N = 4</a:t>
            </a:r>
            <a:endParaRPr lang="en-US" sz="1100" dirty="0"/>
          </a:p>
        </p:txBody>
      </p:sp>
      <p:sp>
        <p:nvSpPr>
          <p:cNvPr id="27" name="Shape 25"/>
          <p:cNvSpPr/>
          <p:nvPr/>
        </p:nvSpPr>
        <p:spPr>
          <a:xfrm>
            <a:off x="640080" y="1645920"/>
            <a:ext cx="7680960" cy="2286000"/>
          </a:xfrm>
          <a:prstGeom prst="roundRect">
            <a:avLst>
              <a:gd name="adj" fmla="val 2400"/>
            </a:avLst>
          </a:prstGeom>
          <a:solidFill>
            <a:srgbClr val="F6F7F8"/>
          </a:solidFill>
          <a:ln w="9525">
            <a:solidFill>
              <a:srgbClr val="D3D6D9"/>
            </a:solidFill>
            <a:prstDash val="solid"/>
          </a:ln>
        </p:spPr>
      </p:sp>
      <p:sp>
        <p:nvSpPr>
          <p:cNvPr id="28" name="Text 26"/>
          <p:cNvSpPr/>
          <p:nvPr/>
        </p:nvSpPr>
        <p:spPr>
          <a:xfrm>
            <a:off x="896112" y="1828800"/>
            <a:ext cx="7223760" cy="1005840"/>
          </a:xfrm>
          <a:prstGeom prst="rect">
            <a:avLst/>
          </a:prstGeom>
          <a:noFill/>
          <a:ln/>
        </p:spPr>
        <p:txBody>
          <a:bodyPr wrap="square" lIns="0" tIns="0" rIns="0" bIns="0" rtlCol="0" anchor="t"/>
          <a:lstStyle/>
          <a:p>
            <a:pPr marL="177800" indent="-177800">
              <a:spcAft>
                <a:spcPts val="700"/>
              </a:spcAft>
              <a:buSzPct val="100000"/>
              <a:buChar char="•"/>
            </a:pPr>
            <a:r>
              <a:rPr lang="en-US" sz="1450" b="1" dirty="0">
                <a:solidFill>
                  <a:srgbClr val="1C1E21"/>
                </a:solidFill>
                <a:latin typeface="Calibri" pitchFamily="34" charset="0"/>
                <a:ea typeface="Calibri" pitchFamily="34" charset="-122"/>
                <a:cs typeface="Calibri" pitchFamily="34" charset="-120"/>
              </a:rPr>
              <a:t>Variables: Xij, one per square - N^2 of them</a:t>
            </a:r>
            <a:endParaRPr lang="en-US" sz="1450" dirty="0"/>
          </a:p>
          <a:p>
            <a:pPr marL="177800" indent="-177800">
              <a:spcAft>
                <a:spcPts val="700"/>
              </a:spcAft>
              <a:buSzPct val="100000"/>
              <a:buChar char="•"/>
            </a:pPr>
            <a:r>
              <a:rPr lang="en-US" sz="1450" b="1" dirty="0">
                <a:solidFill>
                  <a:srgbClr val="1C1E21"/>
                </a:solidFill>
                <a:latin typeface="Calibri" pitchFamily="34" charset="0"/>
                <a:ea typeface="Calibri" pitchFamily="34" charset="-122"/>
                <a:cs typeface="Calibri" pitchFamily="34" charset="-120"/>
              </a:rPr>
              <a:t>Domains: { 0, 1 } - empty or occupied</a:t>
            </a:r>
            <a:endParaRPr lang="en-US" sz="1450" dirty="0"/>
          </a:p>
          <a:p>
            <a:pPr marL="177800" indent="-177800">
              <a:spcAft>
                <a:spcPts val="700"/>
              </a:spcAft>
              <a:buSzPct val="100000"/>
              <a:buChar char="•"/>
            </a:pPr>
            <a:r>
              <a:rPr lang="en-US" sz="1450" b="1" dirty="0">
                <a:solidFill>
                  <a:srgbClr val="1C1E21"/>
                </a:solidFill>
                <a:latin typeface="Calibri" pitchFamily="34" charset="0"/>
                <a:ea typeface="Calibri" pitchFamily="34" charset="-122"/>
                <a:cs typeface="Calibri" pitchFamily="34" charset="-120"/>
              </a:rPr>
              <a:t>Constraints: for any two squares sharing a row, column, or diagonal, forbid both being 1</a:t>
            </a:r>
            <a:endParaRPr lang="en-US" sz="1450" dirty="0"/>
          </a:p>
        </p:txBody>
      </p:sp>
      <p:sp>
        <p:nvSpPr>
          <p:cNvPr id="29" name="Shape 27"/>
          <p:cNvSpPr/>
          <p:nvPr/>
        </p:nvSpPr>
        <p:spPr>
          <a:xfrm>
            <a:off x="896112" y="2788920"/>
            <a:ext cx="7178040" cy="960120"/>
          </a:xfrm>
          <a:prstGeom prst="roundRect">
            <a:avLst>
              <a:gd name="adj" fmla="val 4762"/>
            </a:avLst>
          </a:prstGeom>
          <a:solidFill>
            <a:srgbClr val="F4F5F6"/>
          </a:solidFill>
          <a:ln w="9525">
            <a:solidFill>
              <a:srgbClr val="D3D6D9"/>
            </a:solidFill>
            <a:prstDash val="solid"/>
          </a:ln>
        </p:spPr>
      </p:sp>
      <p:sp>
        <p:nvSpPr>
          <p:cNvPr id="30" name="Text 28"/>
          <p:cNvSpPr/>
          <p:nvPr/>
        </p:nvSpPr>
        <p:spPr>
          <a:xfrm>
            <a:off x="1042416" y="2898648"/>
            <a:ext cx="6885432" cy="740664"/>
          </a:xfrm>
          <a:prstGeom prst="rect">
            <a:avLst/>
          </a:prstGeom>
          <a:noFill/>
          <a:ln/>
        </p:spPr>
        <p:txBody>
          <a:bodyPr wrap="square" lIns="0" tIns="0" rIns="0" bIns="0" rtlCol="0" anchor="t"/>
          <a:lstStyle/>
          <a:p>
            <a:pPr indent="0" marL="0">
              <a:lnSpc>
                <a:spcPct val="112000"/>
              </a:lnSpc>
              <a:buNone/>
            </a:pPr>
            <a:r>
              <a:rPr lang="en-US" sz="1050" dirty="0">
                <a:solidFill>
                  <a:srgbClr val="1C1E21"/>
                </a:solidFill>
                <a:latin typeface="Courier New" pitchFamily="34" charset="0"/>
                <a:ea typeface="Courier New" pitchFamily="34" charset="-122"/>
                <a:cs typeface="Courier New" pitchFamily="34" charset="-120"/>
              </a:rPr>
              <a:t>for all i,j,k   (Xij, Xik) in { (0,0), (0,1), (1,0) }      row</a:t>
            </a:r>
            <a:endParaRPr lang="en-US" sz="1050" dirty="0"/>
          </a:p>
          <a:p>
            <a:pPr indent="0" marL="0">
              <a:lnSpc>
                <a:spcPct val="112000"/>
              </a:lnSpc>
              <a:buNone/>
            </a:pPr>
            <a:r>
              <a:rPr lang="en-US" sz="1050" dirty="0">
                <a:solidFill>
                  <a:srgbClr val="1C1E21"/>
                </a:solidFill>
                <a:latin typeface="Courier New" pitchFamily="34" charset="0"/>
                <a:ea typeface="Courier New" pitchFamily="34" charset="-122"/>
                <a:cs typeface="Courier New" pitchFamily="34" charset="-120"/>
              </a:rPr>
              <a:t>for all i,j,k   (Xij, Xkj) in { (0,0), (0,1), (1,0) }      column</a:t>
            </a:r>
            <a:endParaRPr lang="en-US" sz="1050" dirty="0"/>
          </a:p>
          <a:p>
            <a:pPr indent="0" marL="0">
              <a:lnSpc>
                <a:spcPct val="112000"/>
              </a:lnSpc>
              <a:buNone/>
            </a:pPr>
            <a:r>
              <a:rPr lang="en-US" sz="1050" dirty="0">
                <a:solidFill>
                  <a:srgbClr val="1C1E21"/>
                </a:solidFill>
                <a:latin typeface="Courier New" pitchFamily="34" charset="0"/>
                <a:ea typeface="Courier New" pitchFamily="34" charset="-122"/>
                <a:cs typeface="Courier New" pitchFamily="34" charset="-120"/>
              </a:rPr>
              <a:t>for all i,j,k   (Xij, Xi+k,j+k) in { (0,0), (0,1), (1,0) }  diagonal</a:t>
            </a:r>
            <a:endParaRPr lang="en-US" sz="1050" dirty="0"/>
          </a:p>
        </p:txBody>
      </p:sp>
      <p:sp>
        <p:nvSpPr>
          <p:cNvPr id="31" name="Shape 29"/>
          <p:cNvSpPr/>
          <p:nvPr/>
        </p:nvSpPr>
        <p:spPr>
          <a:xfrm>
            <a:off x="640080" y="4114800"/>
            <a:ext cx="7680960" cy="1783080"/>
          </a:xfrm>
          <a:prstGeom prst="roundRect">
            <a:avLst>
              <a:gd name="adj" fmla="val 3077"/>
            </a:avLst>
          </a:prstGeom>
          <a:solidFill>
            <a:srgbClr val="FBEDEF"/>
          </a:solidFill>
          <a:ln w="9525">
            <a:solidFill>
              <a:srgbClr val="E8B5BC"/>
            </a:solidFill>
            <a:prstDash val="solid"/>
          </a:ln>
        </p:spPr>
      </p:sp>
      <p:sp>
        <p:nvSpPr>
          <p:cNvPr id="32" name="Text 30"/>
          <p:cNvSpPr/>
          <p:nvPr/>
        </p:nvSpPr>
        <p:spPr>
          <a:xfrm>
            <a:off x="896112" y="4279392"/>
            <a:ext cx="722376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The bug in this formulation</a:t>
            </a:r>
            <a:endParaRPr lang="en-US" sz="1700" dirty="0"/>
          </a:p>
        </p:txBody>
      </p:sp>
      <p:sp>
        <p:nvSpPr>
          <p:cNvPr id="33" name="Text 31"/>
          <p:cNvSpPr/>
          <p:nvPr/>
        </p:nvSpPr>
        <p:spPr>
          <a:xfrm>
            <a:off x="896112" y="4617720"/>
            <a:ext cx="7178040" cy="68580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Nothing above forces any queen to be placed. The empty board satisfies every one of those constraints. You have to bolt on one more - and it has to be implicit, because you cannot enumerate it as a table:</a:t>
            </a:r>
            <a:endParaRPr lang="en-US" sz="1300" dirty="0"/>
          </a:p>
        </p:txBody>
      </p:sp>
      <p:sp>
        <p:nvSpPr>
          <p:cNvPr id="34" name="Shape 32"/>
          <p:cNvSpPr/>
          <p:nvPr/>
        </p:nvSpPr>
        <p:spPr>
          <a:xfrm>
            <a:off x="896112" y="5321808"/>
            <a:ext cx="2834640" cy="411480"/>
          </a:xfrm>
          <a:prstGeom prst="roundRect">
            <a:avLst>
              <a:gd name="adj" fmla="val 11111"/>
            </a:avLst>
          </a:prstGeom>
          <a:solidFill>
            <a:srgbClr val="FFFFFF"/>
          </a:solidFill>
          <a:ln w="9525">
            <a:solidFill>
              <a:srgbClr val="D3D6D9"/>
            </a:solidFill>
            <a:prstDash val="solid"/>
          </a:ln>
        </p:spPr>
      </p:sp>
      <p:sp>
        <p:nvSpPr>
          <p:cNvPr id="35" name="Text 33"/>
          <p:cNvSpPr/>
          <p:nvPr/>
        </p:nvSpPr>
        <p:spPr>
          <a:xfrm>
            <a:off x="1042416" y="5431536"/>
            <a:ext cx="2542032" cy="192024"/>
          </a:xfrm>
          <a:prstGeom prst="rect">
            <a:avLst/>
          </a:prstGeom>
          <a:noFill/>
          <a:ln/>
        </p:spPr>
        <p:txBody>
          <a:bodyPr wrap="square" lIns="0" tIns="0" rIns="0" bIns="0" rtlCol="0" anchor="t"/>
          <a:lstStyle/>
          <a:p>
            <a:pPr indent="0" marL="0">
              <a:lnSpc>
                <a:spcPct val="112000"/>
              </a:lnSpc>
              <a:buNone/>
            </a:pPr>
            <a:r>
              <a:rPr lang="en-US" sz="1250" dirty="0">
                <a:solidFill>
                  <a:srgbClr val="1C1E21"/>
                </a:solidFill>
                <a:latin typeface="Courier New" pitchFamily="34" charset="0"/>
                <a:ea typeface="Courier New" pitchFamily="34" charset="-122"/>
                <a:cs typeface="Courier New" pitchFamily="34" charset="-120"/>
              </a:rPr>
              <a:t>sum of all Xij = N</a:t>
            </a:r>
            <a:endParaRPr lang="en-US" sz="1250" dirty="0"/>
          </a:p>
        </p:txBody>
      </p:sp>
      <p:sp>
        <p:nvSpPr>
          <p:cNvPr id="36" name="Text 34"/>
          <p:cNvSpPr/>
          <p:nvPr/>
        </p:nvSpPr>
        <p:spPr>
          <a:xfrm>
            <a:off x="8595360" y="5394960"/>
            <a:ext cx="2926080" cy="365760"/>
          </a:xfrm>
          <a:prstGeom prst="rect">
            <a:avLst/>
          </a:prstGeom>
          <a:noFill/>
          <a:ln/>
        </p:spPr>
        <p:txBody>
          <a:bodyPr wrap="square" lIns="0" tIns="0" rIns="0" bIns="0" rtlCol="0" anchor="ctr"/>
          <a:lstStyle/>
          <a:p>
            <a:pPr algn="ctr" indent="0" marL="0">
              <a:buNone/>
            </a:pPr>
            <a:r>
              <a:rPr lang="en-US" sz="1300" b="1" dirty="0">
                <a:solidFill>
                  <a:srgbClr val="CB132A"/>
                </a:solidFill>
                <a:latin typeface="Calibri" pitchFamily="34" charset="0"/>
                <a:ea typeface="Calibri" pitchFamily="34" charset="-122"/>
                <a:cs typeface="Calibri" pitchFamily="34" charset="-120"/>
              </a:rPr>
              <a:t>2^(N^2) complete assignments</a:t>
            </a:r>
            <a:endParaRPr lang="en-US" sz="1300" dirty="0"/>
          </a:p>
        </p:txBody>
      </p:sp>
      <p:sp>
        <p:nvSpPr>
          <p:cNvPr id="37" name="Text 35"/>
          <p:cNvSpPr/>
          <p:nvPr/>
        </p:nvSpPr>
        <p:spPr>
          <a:xfrm>
            <a:off x="8595360" y="5687568"/>
            <a:ext cx="2926080" cy="274320"/>
          </a:xfrm>
          <a:prstGeom prst="rect">
            <a:avLst/>
          </a:prstGeom>
          <a:noFill/>
          <a:ln/>
        </p:spPr>
        <p:txBody>
          <a:bodyPr wrap="square" lIns="0" tIns="0" rIns="0" bIns="0" rtlCol="0" anchor="ctr"/>
          <a:lstStyle/>
          <a:p>
            <a:pPr algn="ctr" indent="0" marL="0">
              <a:buNone/>
            </a:pPr>
            <a:r>
              <a:rPr lang="en-US" sz="1100" i="1" dirty="0">
                <a:solidFill>
                  <a:srgbClr val="7C8085"/>
                </a:solidFill>
                <a:latin typeface="Calibri" pitchFamily="34" charset="0"/>
                <a:ea typeface="Calibri" pitchFamily="34" charset="-122"/>
                <a:cs typeface="Calibri" pitchFamily="34" charset="-120"/>
              </a:rPr>
              <a:t>N=8: about 1.8 x 10^19</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16</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Example 2 again: one variable per row</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Same problem, a fundamentally smaller search space</a:t>
            </a:r>
            <a:endParaRPr lang="en-US" sz="1400" dirty="0"/>
          </a:p>
        </p:txBody>
      </p:sp>
      <p:sp>
        <p:nvSpPr>
          <p:cNvPr id="6" name="Shape 4"/>
          <p:cNvSpPr/>
          <p:nvPr/>
        </p:nvSpPr>
        <p:spPr>
          <a:xfrm>
            <a:off x="9006840" y="2057400"/>
            <a:ext cx="566928" cy="566928"/>
          </a:xfrm>
          <a:prstGeom prst="rect">
            <a:avLst/>
          </a:prstGeom>
          <a:solidFill>
            <a:srgbClr val="FFFFFF"/>
          </a:solidFill>
          <a:ln w="9525">
            <a:solidFill>
              <a:srgbClr val="53565A"/>
            </a:solidFill>
            <a:prstDash val="solid"/>
          </a:ln>
        </p:spPr>
      </p:sp>
      <p:sp>
        <p:nvSpPr>
          <p:cNvPr id="7" name="Shape 5"/>
          <p:cNvSpPr/>
          <p:nvPr/>
        </p:nvSpPr>
        <p:spPr>
          <a:xfrm>
            <a:off x="9573768" y="2057400"/>
            <a:ext cx="566928" cy="566928"/>
          </a:xfrm>
          <a:prstGeom prst="rect">
            <a:avLst/>
          </a:prstGeom>
          <a:solidFill>
            <a:srgbClr val="DCDEE0"/>
          </a:solidFill>
          <a:ln w="9525">
            <a:solidFill>
              <a:srgbClr val="53565A"/>
            </a:solidFill>
            <a:prstDash val="solid"/>
          </a:ln>
        </p:spPr>
      </p:sp>
      <p:sp>
        <p:nvSpPr>
          <p:cNvPr id="8" name="Shape 6"/>
          <p:cNvSpPr/>
          <p:nvPr/>
        </p:nvSpPr>
        <p:spPr>
          <a:xfrm>
            <a:off x="10140696" y="2057400"/>
            <a:ext cx="566928" cy="566928"/>
          </a:xfrm>
          <a:prstGeom prst="rect">
            <a:avLst/>
          </a:prstGeom>
          <a:solidFill>
            <a:srgbClr val="FFFFFF"/>
          </a:solidFill>
          <a:ln w="9525">
            <a:solidFill>
              <a:srgbClr val="53565A"/>
            </a:solidFill>
            <a:prstDash val="solid"/>
          </a:ln>
        </p:spPr>
      </p:sp>
      <p:sp>
        <p:nvSpPr>
          <p:cNvPr id="9" name="Shape 7"/>
          <p:cNvSpPr/>
          <p:nvPr/>
        </p:nvSpPr>
        <p:spPr>
          <a:xfrm>
            <a:off x="10707624" y="2057400"/>
            <a:ext cx="566928" cy="566928"/>
          </a:xfrm>
          <a:prstGeom prst="rect">
            <a:avLst/>
          </a:prstGeom>
          <a:solidFill>
            <a:srgbClr val="DCDEE0"/>
          </a:solidFill>
          <a:ln w="9525">
            <a:solidFill>
              <a:srgbClr val="53565A"/>
            </a:solidFill>
            <a:prstDash val="solid"/>
          </a:ln>
        </p:spPr>
      </p:sp>
      <p:sp>
        <p:nvSpPr>
          <p:cNvPr id="10" name="Shape 8"/>
          <p:cNvSpPr/>
          <p:nvPr/>
        </p:nvSpPr>
        <p:spPr>
          <a:xfrm>
            <a:off x="9006840" y="2624328"/>
            <a:ext cx="566928" cy="566928"/>
          </a:xfrm>
          <a:prstGeom prst="rect">
            <a:avLst/>
          </a:prstGeom>
          <a:solidFill>
            <a:srgbClr val="DCDEE0"/>
          </a:solidFill>
          <a:ln w="9525">
            <a:solidFill>
              <a:srgbClr val="53565A"/>
            </a:solidFill>
            <a:prstDash val="solid"/>
          </a:ln>
        </p:spPr>
      </p:sp>
      <p:sp>
        <p:nvSpPr>
          <p:cNvPr id="11" name="Shape 9"/>
          <p:cNvSpPr/>
          <p:nvPr/>
        </p:nvSpPr>
        <p:spPr>
          <a:xfrm>
            <a:off x="9573768" y="2624328"/>
            <a:ext cx="566928" cy="566928"/>
          </a:xfrm>
          <a:prstGeom prst="rect">
            <a:avLst/>
          </a:prstGeom>
          <a:solidFill>
            <a:srgbClr val="FFFFFF"/>
          </a:solidFill>
          <a:ln w="9525">
            <a:solidFill>
              <a:srgbClr val="53565A"/>
            </a:solidFill>
            <a:prstDash val="solid"/>
          </a:ln>
        </p:spPr>
      </p:sp>
      <p:sp>
        <p:nvSpPr>
          <p:cNvPr id="12" name="Shape 10"/>
          <p:cNvSpPr/>
          <p:nvPr/>
        </p:nvSpPr>
        <p:spPr>
          <a:xfrm>
            <a:off x="10140696" y="2624328"/>
            <a:ext cx="566928" cy="566928"/>
          </a:xfrm>
          <a:prstGeom prst="rect">
            <a:avLst/>
          </a:prstGeom>
          <a:solidFill>
            <a:srgbClr val="DCDEE0"/>
          </a:solidFill>
          <a:ln w="9525">
            <a:solidFill>
              <a:srgbClr val="53565A"/>
            </a:solidFill>
            <a:prstDash val="solid"/>
          </a:ln>
        </p:spPr>
      </p:sp>
      <p:sp>
        <p:nvSpPr>
          <p:cNvPr id="13" name="Shape 11"/>
          <p:cNvSpPr/>
          <p:nvPr/>
        </p:nvSpPr>
        <p:spPr>
          <a:xfrm>
            <a:off x="10707624" y="2624328"/>
            <a:ext cx="566928" cy="566928"/>
          </a:xfrm>
          <a:prstGeom prst="rect">
            <a:avLst/>
          </a:prstGeom>
          <a:solidFill>
            <a:srgbClr val="FFFFFF"/>
          </a:solidFill>
          <a:ln w="9525">
            <a:solidFill>
              <a:srgbClr val="53565A"/>
            </a:solidFill>
            <a:prstDash val="solid"/>
          </a:ln>
        </p:spPr>
      </p:sp>
      <p:sp>
        <p:nvSpPr>
          <p:cNvPr id="14" name="Shape 12"/>
          <p:cNvSpPr/>
          <p:nvPr/>
        </p:nvSpPr>
        <p:spPr>
          <a:xfrm>
            <a:off x="9006840" y="3191256"/>
            <a:ext cx="566928" cy="566928"/>
          </a:xfrm>
          <a:prstGeom prst="rect">
            <a:avLst/>
          </a:prstGeom>
          <a:solidFill>
            <a:srgbClr val="FFFFFF"/>
          </a:solidFill>
          <a:ln w="9525">
            <a:solidFill>
              <a:srgbClr val="53565A"/>
            </a:solidFill>
            <a:prstDash val="solid"/>
          </a:ln>
        </p:spPr>
      </p:sp>
      <p:sp>
        <p:nvSpPr>
          <p:cNvPr id="15" name="Shape 13"/>
          <p:cNvSpPr/>
          <p:nvPr/>
        </p:nvSpPr>
        <p:spPr>
          <a:xfrm>
            <a:off x="9573768" y="3191256"/>
            <a:ext cx="566928" cy="566928"/>
          </a:xfrm>
          <a:prstGeom prst="rect">
            <a:avLst/>
          </a:prstGeom>
          <a:solidFill>
            <a:srgbClr val="DCDEE0"/>
          </a:solidFill>
          <a:ln w="9525">
            <a:solidFill>
              <a:srgbClr val="53565A"/>
            </a:solidFill>
            <a:prstDash val="solid"/>
          </a:ln>
        </p:spPr>
      </p:sp>
      <p:sp>
        <p:nvSpPr>
          <p:cNvPr id="16" name="Shape 14"/>
          <p:cNvSpPr/>
          <p:nvPr/>
        </p:nvSpPr>
        <p:spPr>
          <a:xfrm>
            <a:off x="10140696" y="3191256"/>
            <a:ext cx="566928" cy="566928"/>
          </a:xfrm>
          <a:prstGeom prst="rect">
            <a:avLst/>
          </a:prstGeom>
          <a:solidFill>
            <a:srgbClr val="FFFFFF"/>
          </a:solidFill>
          <a:ln w="9525">
            <a:solidFill>
              <a:srgbClr val="53565A"/>
            </a:solidFill>
            <a:prstDash val="solid"/>
          </a:ln>
        </p:spPr>
      </p:sp>
      <p:sp>
        <p:nvSpPr>
          <p:cNvPr id="17" name="Shape 15"/>
          <p:cNvSpPr/>
          <p:nvPr/>
        </p:nvSpPr>
        <p:spPr>
          <a:xfrm>
            <a:off x="10707624" y="3191256"/>
            <a:ext cx="566928" cy="566928"/>
          </a:xfrm>
          <a:prstGeom prst="rect">
            <a:avLst/>
          </a:prstGeom>
          <a:solidFill>
            <a:srgbClr val="DCDEE0"/>
          </a:solidFill>
          <a:ln w="9525">
            <a:solidFill>
              <a:srgbClr val="53565A"/>
            </a:solidFill>
            <a:prstDash val="solid"/>
          </a:ln>
        </p:spPr>
      </p:sp>
      <p:sp>
        <p:nvSpPr>
          <p:cNvPr id="18" name="Shape 16"/>
          <p:cNvSpPr/>
          <p:nvPr/>
        </p:nvSpPr>
        <p:spPr>
          <a:xfrm>
            <a:off x="9006840" y="3758184"/>
            <a:ext cx="566928" cy="566928"/>
          </a:xfrm>
          <a:prstGeom prst="rect">
            <a:avLst/>
          </a:prstGeom>
          <a:solidFill>
            <a:srgbClr val="DCDEE0"/>
          </a:solidFill>
          <a:ln w="9525">
            <a:solidFill>
              <a:srgbClr val="53565A"/>
            </a:solidFill>
            <a:prstDash val="solid"/>
          </a:ln>
        </p:spPr>
      </p:sp>
      <p:sp>
        <p:nvSpPr>
          <p:cNvPr id="19" name="Shape 17"/>
          <p:cNvSpPr/>
          <p:nvPr/>
        </p:nvSpPr>
        <p:spPr>
          <a:xfrm>
            <a:off x="9573768" y="3758184"/>
            <a:ext cx="566928" cy="566928"/>
          </a:xfrm>
          <a:prstGeom prst="rect">
            <a:avLst/>
          </a:prstGeom>
          <a:solidFill>
            <a:srgbClr val="FFFFFF"/>
          </a:solidFill>
          <a:ln w="9525">
            <a:solidFill>
              <a:srgbClr val="53565A"/>
            </a:solidFill>
            <a:prstDash val="solid"/>
          </a:ln>
        </p:spPr>
      </p:sp>
      <p:sp>
        <p:nvSpPr>
          <p:cNvPr id="20" name="Shape 18"/>
          <p:cNvSpPr/>
          <p:nvPr/>
        </p:nvSpPr>
        <p:spPr>
          <a:xfrm>
            <a:off x="10140696" y="3758184"/>
            <a:ext cx="566928" cy="566928"/>
          </a:xfrm>
          <a:prstGeom prst="rect">
            <a:avLst/>
          </a:prstGeom>
          <a:solidFill>
            <a:srgbClr val="DCDEE0"/>
          </a:solidFill>
          <a:ln w="9525">
            <a:solidFill>
              <a:srgbClr val="53565A"/>
            </a:solidFill>
            <a:prstDash val="solid"/>
          </a:ln>
        </p:spPr>
      </p:sp>
      <p:sp>
        <p:nvSpPr>
          <p:cNvPr id="21" name="Shape 19"/>
          <p:cNvSpPr/>
          <p:nvPr/>
        </p:nvSpPr>
        <p:spPr>
          <a:xfrm>
            <a:off x="10707624" y="3758184"/>
            <a:ext cx="566928" cy="566928"/>
          </a:xfrm>
          <a:prstGeom prst="rect">
            <a:avLst/>
          </a:prstGeom>
          <a:solidFill>
            <a:srgbClr val="FFFFFF"/>
          </a:solidFill>
          <a:ln w="9525">
            <a:solidFill>
              <a:srgbClr val="53565A"/>
            </a:solidFill>
            <a:prstDash val="solid"/>
          </a:ln>
        </p:spPr>
      </p:sp>
      <p:sp>
        <p:nvSpPr>
          <p:cNvPr id="22" name="Text 20"/>
          <p:cNvSpPr/>
          <p:nvPr/>
        </p:nvSpPr>
        <p:spPr>
          <a:xfrm>
            <a:off x="9573768" y="2057400"/>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3" name="Text 21"/>
          <p:cNvSpPr/>
          <p:nvPr/>
        </p:nvSpPr>
        <p:spPr>
          <a:xfrm>
            <a:off x="10707624" y="2624328"/>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4" name="Text 22"/>
          <p:cNvSpPr/>
          <p:nvPr/>
        </p:nvSpPr>
        <p:spPr>
          <a:xfrm>
            <a:off x="9006840" y="3191256"/>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5" name="Text 23"/>
          <p:cNvSpPr/>
          <p:nvPr/>
        </p:nvSpPr>
        <p:spPr>
          <a:xfrm>
            <a:off x="10140696" y="3758184"/>
            <a:ext cx="566928" cy="566928"/>
          </a:xfrm>
          <a:prstGeom prst="rect">
            <a:avLst/>
          </a:prstGeom>
          <a:noFill/>
          <a:ln/>
        </p:spPr>
        <p:txBody>
          <a:bodyPr wrap="square" lIns="0" tIns="0" rIns="0" bIns="0" rtlCol="0" anchor="ctr"/>
          <a:lstStyle/>
          <a:p>
            <a:pPr algn="ctr" indent="0" marL="0">
              <a:buNone/>
            </a:pPr>
            <a:r>
              <a:rPr lang="en-US" sz="1700" b="1" dirty="0">
                <a:solidFill>
                  <a:srgbClr val="CB132A"/>
                </a:solidFill>
                <a:latin typeface="Cambria" pitchFamily="34" charset="0"/>
                <a:ea typeface="Cambria" pitchFamily="34" charset="-122"/>
                <a:cs typeface="Cambria" pitchFamily="34" charset="-120"/>
              </a:rPr>
              <a:t>Q</a:t>
            </a:r>
            <a:endParaRPr lang="en-US" sz="1700" dirty="0"/>
          </a:p>
        </p:txBody>
      </p:sp>
      <p:sp>
        <p:nvSpPr>
          <p:cNvPr id="26" name="Text 24"/>
          <p:cNvSpPr/>
          <p:nvPr/>
        </p:nvSpPr>
        <p:spPr>
          <a:xfrm>
            <a:off x="8503920" y="2057400"/>
            <a:ext cx="457200" cy="566928"/>
          </a:xfrm>
          <a:prstGeom prst="rect">
            <a:avLst/>
          </a:prstGeom>
          <a:noFill/>
          <a:ln/>
        </p:spPr>
        <p:txBody>
          <a:bodyPr wrap="square" lIns="0" tIns="0" rIns="0" bIns="0" rtlCol="0" anchor="ctr"/>
          <a:lstStyle/>
          <a:p>
            <a:pPr algn="r" indent="0" marL="0">
              <a:buNone/>
            </a:pPr>
            <a:r>
              <a:rPr lang="en-US" sz="1100" dirty="0">
                <a:solidFill>
                  <a:srgbClr val="53565A"/>
                </a:solidFill>
                <a:latin typeface="Calibri" pitchFamily="34" charset="0"/>
                <a:ea typeface="Calibri" pitchFamily="34" charset="-122"/>
                <a:cs typeface="Calibri" pitchFamily="34" charset="-120"/>
              </a:rPr>
              <a:t>Q1</a:t>
            </a:r>
            <a:endParaRPr lang="en-US" sz="1100" dirty="0"/>
          </a:p>
        </p:txBody>
      </p:sp>
      <p:sp>
        <p:nvSpPr>
          <p:cNvPr id="27" name="Text 25"/>
          <p:cNvSpPr/>
          <p:nvPr/>
        </p:nvSpPr>
        <p:spPr>
          <a:xfrm>
            <a:off x="8503920" y="2624328"/>
            <a:ext cx="457200" cy="566928"/>
          </a:xfrm>
          <a:prstGeom prst="rect">
            <a:avLst/>
          </a:prstGeom>
          <a:noFill/>
          <a:ln/>
        </p:spPr>
        <p:txBody>
          <a:bodyPr wrap="square" lIns="0" tIns="0" rIns="0" bIns="0" rtlCol="0" anchor="ctr"/>
          <a:lstStyle/>
          <a:p>
            <a:pPr algn="r" indent="0" marL="0">
              <a:buNone/>
            </a:pPr>
            <a:r>
              <a:rPr lang="en-US" sz="1100" dirty="0">
                <a:solidFill>
                  <a:srgbClr val="53565A"/>
                </a:solidFill>
                <a:latin typeface="Calibri" pitchFamily="34" charset="0"/>
                <a:ea typeface="Calibri" pitchFamily="34" charset="-122"/>
                <a:cs typeface="Calibri" pitchFamily="34" charset="-120"/>
              </a:rPr>
              <a:t>Q2</a:t>
            </a:r>
            <a:endParaRPr lang="en-US" sz="1100" dirty="0"/>
          </a:p>
        </p:txBody>
      </p:sp>
      <p:sp>
        <p:nvSpPr>
          <p:cNvPr id="28" name="Text 26"/>
          <p:cNvSpPr/>
          <p:nvPr/>
        </p:nvSpPr>
        <p:spPr>
          <a:xfrm>
            <a:off x="8503920" y="3191256"/>
            <a:ext cx="457200" cy="566928"/>
          </a:xfrm>
          <a:prstGeom prst="rect">
            <a:avLst/>
          </a:prstGeom>
          <a:noFill/>
          <a:ln/>
        </p:spPr>
        <p:txBody>
          <a:bodyPr wrap="square" lIns="0" tIns="0" rIns="0" bIns="0" rtlCol="0" anchor="ctr"/>
          <a:lstStyle/>
          <a:p>
            <a:pPr algn="r" indent="0" marL="0">
              <a:buNone/>
            </a:pPr>
            <a:r>
              <a:rPr lang="en-US" sz="1100" dirty="0">
                <a:solidFill>
                  <a:srgbClr val="53565A"/>
                </a:solidFill>
                <a:latin typeface="Calibri" pitchFamily="34" charset="0"/>
                <a:ea typeface="Calibri" pitchFamily="34" charset="-122"/>
                <a:cs typeface="Calibri" pitchFamily="34" charset="-120"/>
              </a:rPr>
              <a:t>Q3</a:t>
            </a:r>
            <a:endParaRPr lang="en-US" sz="1100" dirty="0"/>
          </a:p>
        </p:txBody>
      </p:sp>
      <p:sp>
        <p:nvSpPr>
          <p:cNvPr id="29" name="Text 27"/>
          <p:cNvSpPr/>
          <p:nvPr/>
        </p:nvSpPr>
        <p:spPr>
          <a:xfrm>
            <a:off x="8503920" y="3758184"/>
            <a:ext cx="457200" cy="566928"/>
          </a:xfrm>
          <a:prstGeom prst="rect">
            <a:avLst/>
          </a:prstGeom>
          <a:noFill/>
          <a:ln/>
        </p:spPr>
        <p:txBody>
          <a:bodyPr wrap="square" lIns="0" tIns="0" rIns="0" bIns="0" rtlCol="0" anchor="ctr"/>
          <a:lstStyle/>
          <a:p>
            <a:pPr algn="r" indent="0" marL="0">
              <a:buNone/>
            </a:pPr>
            <a:r>
              <a:rPr lang="en-US" sz="1100" dirty="0">
                <a:solidFill>
                  <a:srgbClr val="53565A"/>
                </a:solidFill>
                <a:latin typeface="Calibri" pitchFamily="34" charset="0"/>
                <a:ea typeface="Calibri" pitchFamily="34" charset="-122"/>
                <a:cs typeface="Calibri" pitchFamily="34" charset="-120"/>
              </a:rPr>
              <a:t>Q4</a:t>
            </a:r>
            <a:endParaRPr lang="en-US" sz="1100" dirty="0"/>
          </a:p>
        </p:txBody>
      </p:sp>
      <p:sp>
        <p:nvSpPr>
          <p:cNvPr id="30" name="Text 28"/>
          <p:cNvSpPr/>
          <p:nvPr/>
        </p:nvSpPr>
        <p:spPr>
          <a:xfrm>
            <a:off x="8503920" y="4434840"/>
            <a:ext cx="3017520" cy="274320"/>
          </a:xfrm>
          <a:prstGeom prst="rect">
            <a:avLst/>
          </a:prstGeom>
          <a:noFill/>
          <a:ln/>
        </p:spPr>
        <p:txBody>
          <a:bodyPr wrap="square" lIns="0" tIns="0" rIns="0" bIns="0" rtlCol="0" anchor="ctr"/>
          <a:lstStyle/>
          <a:p>
            <a:pPr algn="ctr" indent="0" marL="0">
              <a:buNone/>
            </a:pPr>
            <a:r>
              <a:rPr lang="en-US" sz="1100" dirty="0">
                <a:solidFill>
                  <a:srgbClr val="53565A"/>
                </a:solidFill>
                <a:latin typeface="Courier New" pitchFamily="34" charset="0"/>
                <a:ea typeface="Courier New" pitchFamily="34" charset="-122"/>
                <a:cs typeface="Courier New" pitchFamily="34" charset="-120"/>
              </a:rPr>
              <a:t>Q1=2, Q2=4, Q3=1, Q4=3</a:t>
            </a:r>
            <a:endParaRPr lang="en-US" sz="1100" dirty="0"/>
          </a:p>
        </p:txBody>
      </p:sp>
      <p:sp>
        <p:nvSpPr>
          <p:cNvPr id="31" name="Shape 29"/>
          <p:cNvSpPr/>
          <p:nvPr/>
        </p:nvSpPr>
        <p:spPr>
          <a:xfrm>
            <a:off x="640080" y="1645920"/>
            <a:ext cx="7589520" cy="2148840"/>
          </a:xfrm>
          <a:prstGeom prst="roundRect">
            <a:avLst>
              <a:gd name="adj" fmla="val 2553"/>
            </a:avLst>
          </a:prstGeom>
          <a:solidFill>
            <a:srgbClr val="F6F7F8"/>
          </a:solidFill>
          <a:ln w="9525">
            <a:solidFill>
              <a:srgbClr val="D3D6D9"/>
            </a:solidFill>
            <a:prstDash val="solid"/>
          </a:ln>
        </p:spPr>
      </p:sp>
      <p:sp>
        <p:nvSpPr>
          <p:cNvPr id="32" name="Text 30"/>
          <p:cNvSpPr/>
          <p:nvPr/>
        </p:nvSpPr>
        <p:spPr>
          <a:xfrm>
            <a:off x="896112" y="1828800"/>
            <a:ext cx="7132320" cy="960120"/>
          </a:xfrm>
          <a:prstGeom prst="rect">
            <a:avLst/>
          </a:prstGeom>
          <a:noFill/>
          <a:ln/>
        </p:spPr>
        <p:txBody>
          <a:bodyPr wrap="square" lIns="0" tIns="0" rIns="0" bIns="0" rtlCol="0" anchor="t"/>
          <a:lstStyle/>
          <a:p>
            <a:pPr marL="177800" indent="-177800">
              <a:spcAft>
                <a:spcPts val="700"/>
              </a:spcAft>
              <a:buSzPct val="100000"/>
              <a:buChar char="•"/>
            </a:pPr>
            <a:r>
              <a:rPr lang="en-US" sz="1450" b="1" dirty="0">
                <a:solidFill>
                  <a:srgbClr val="1C1E21"/>
                </a:solidFill>
                <a:latin typeface="Calibri" pitchFamily="34" charset="0"/>
                <a:ea typeface="Calibri" pitchFamily="34" charset="-122"/>
                <a:cs typeface="Calibri" pitchFamily="34" charset="-120"/>
              </a:rPr>
              <a:t>Variables: Qk, one per row - N of them</a:t>
            </a:r>
            <a:endParaRPr lang="en-US" sz="1450" dirty="0"/>
          </a:p>
          <a:p>
            <a:pPr marL="177800" indent="-177800">
              <a:spcAft>
                <a:spcPts val="700"/>
              </a:spcAft>
              <a:buSzPct val="100000"/>
              <a:buChar char="•"/>
            </a:pPr>
            <a:r>
              <a:rPr lang="en-US" sz="1450" b="1" dirty="0">
                <a:solidFill>
                  <a:srgbClr val="1C1E21"/>
                </a:solidFill>
                <a:latin typeface="Calibri" pitchFamily="34" charset="0"/>
                <a:ea typeface="Calibri" pitchFamily="34" charset="-122"/>
                <a:cs typeface="Calibri" pitchFamily="34" charset="-120"/>
              </a:rPr>
              <a:t>Domains: { 1, 2, ..., N } - which column that row's queen occupies</a:t>
            </a:r>
            <a:endParaRPr lang="en-US" sz="1450" dirty="0"/>
          </a:p>
          <a:p>
            <a:pPr marL="177800" indent="-177800">
              <a:spcAft>
                <a:spcPts val="700"/>
              </a:spcAft>
              <a:buSzPct val="100000"/>
              <a:buChar char="•"/>
            </a:pPr>
            <a:r>
              <a:rPr lang="en-US" sz="1450" b="1" dirty="0">
                <a:solidFill>
                  <a:srgbClr val="1C1E21"/>
                </a:solidFill>
                <a:latin typeface="Calibri" pitchFamily="34" charset="0"/>
                <a:ea typeface="Calibri" pitchFamily="34" charset="-122"/>
                <a:cs typeface="Calibri" pitchFamily="34" charset="-120"/>
              </a:rPr>
              <a:t>Constraints: for every pair, no shared column and no shared diagonal</a:t>
            </a:r>
            <a:endParaRPr lang="en-US" sz="1450" dirty="0"/>
          </a:p>
        </p:txBody>
      </p:sp>
      <p:sp>
        <p:nvSpPr>
          <p:cNvPr id="33" name="Shape 31"/>
          <p:cNvSpPr/>
          <p:nvPr/>
        </p:nvSpPr>
        <p:spPr>
          <a:xfrm>
            <a:off x="896112" y="2743200"/>
            <a:ext cx="7086600" cy="914400"/>
          </a:xfrm>
          <a:prstGeom prst="roundRect">
            <a:avLst>
              <a:gd name="adj" fmla="val 5000"/>
            </a:avLst>
          </a:prstGeom>
          <a:solidFill>
            <a:srgbClr val="F4F5F6"/>
          </a:solidFill>
          <a:ln w="9525">
            <a:solidFill>
              <a:srgbClr val="D3D6D9"/>
            </a:solidFill>
            <a:prstDash val="solid"/>
          </a:ln>
        </p:spPr>
      </p:sp>
      <p:sp>
        <p:nvSpPr>
          <p:cNvPr id="34" name="Text 32"/>
          <p:cNvSpPr/>
          <p:nvPr/>
        </p:nvSpPr>
        <p:spPr>
          <a:xfrm>
            <a:off x="1042416" y="2852928"/>
            <a:ext cx="6793992" cy="694944"/>
          </a:xfrm>
          <a:prstGeom prst="rect">
            <a:avLst/>
          </a:prstGeom>
          <a:noFill/>
          <a:ln/>
        </p:spPr>
        <p:txBody>
          <a:bodyPr wrap="square" lIns="0" tIns="0" rIns="0" bIns="0" rtlCol="0" anchor="t"/>
          <a:lstStyle/>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implicit:  for all i,j   non-threatening(Qi, Qj)</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explicit:  (Q1, Q2) in { (1,3), (1,4), (2,4), ... }</a:t>
            </a:r>
            <a:endParaRPr lang="en-US" sz="1150" dirty="0"/>
          </a:p>
        </p:txBody>
      </p:sp>
      <p:sp>
        <p:nvSpPr>
          <p:cNvPr id="35" name="Shape 33"/>
          <p:cNvSpPr/>
          <p:nvPr/>
        </p:nvSpPr>
        <p:spPr>
          <a:xfrm>
            <a:off x="640080" y="3977640"/>
            <a:ext cx="7589520" cy="1874520"/>
          </a:xfrm>
          <a:prstGeom prst="roundRect">
            <a:avLst>
              <a:gd name="adj" fmla="val 2927"/>
            </a:avLst>
          </a:prstGeom>
          <a:solidFill>
            <a:srgbClr val="FBEDEF"/>
          </a:solidFill>
          <a:ln w="9525">
            <a:solidFill>
              <a:srgbClr val="E8B5BC"/>
            </a:solidFill>
            <a:prstDash val="solid"/>
          </a:ln>
        </p:spPr>
      </p:sp>
      <p:sp>
        <p:nvSpPr>
          <p:cNvPr id="36" name="Text 34"/>
          <p:cNvSpPr/>
          <p:nvPr/>
        </p:nvSpPr>
        <p:spPr>
          <a:xfrm>
            <a:off x="896112" y="4142232"/>
            <a:ext cx="713232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What the formulation bought you</a:t>
            </a:r>
            <a:endParaRPr lang="en-US" sz="1700" dirty="0"/>
          </a:p>
        </p:txBody>
      </p:sp>
      <p:sp>
        <p:nvSpPr>
          <p:cNvPr id="37" name="Text 35"/>
          <p:cNvSpPr/>
          <p:nvPr/>
        </p:nvSpPr>
        <p:spPr>
          <a:xfrm>
            <a:off x="896112" y="4480560"/>
            <a:ext cx="7132320" cy="1280160"/>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rgbClr val="1C1E21"/>
                </a:solidFill>
                <a:latin typeface="Calibri" pitchFamily="34" charset="0"/>
                <a:ea typeface="Calibri" pitchFamily="34" charset="-122"/>
                <a:cs typeface="Calibri" pitchFamily="34" charset="-120"/>
              </a:rPr>
              <a:t>One queen per row is now structurally impossible to violate - it is baked into the variable set, so the sum constraint disappears entirely</a:t>
            </a:r>
            <a:endParaRPr lang="en-US" sz="1300" dirty="0"/>
          </a:p>
          <a:p>
            <a:pPr marL="177800" indent="-177800">
              <a:spcAft>
                <a:spcPts val="900"/>
              </a:spcAft>
              <a:buSzPct val="100000"/>
              <a:buChar char="•"/>
            </a:pPr>
            <a:r>
              <a:rPr lang="en-US" sz="1300" dirty="0">
                <a:solidFill>
                  <a:srgbClr val="1C1E21"/>
                </a:solidFill>
                <a:latin typeface="Calibri" pitchFamily="34" charset="0"/>
                <a:ea typeface="Calibri" pitchFamily="34" charset="-122"/>
                <a:cs typeface="Calibri" pitchFamily="34" charset="-120"/>
              </a:rPr>
              <a:t>One column-collision constraint per pair replaces the row, column, and diagonal families</a:t>
            </a:r>
            <a:endParaRPr lang="en-US" sz="1300" dirty="0"/>
          </a:p>
          <a:p>
            <a:pPr marL="177800" indent="-177800">
              <a:spcAft>
                <a:spcPts val="900"/>
              </a:spcAft>
              <a:buSzPct val="100000"/>
              <a:buChar char="•"/>
            </a:pPr>
            <a:r>
              <a:rPr lang="en-US" sz="1300" dirty="0">
                <a:solidFill>
                  <a:srgbClr val="1C1E21"/>
                </a:solidFill>
                <a:latin typeface="Calibri" pitchFamily="34" charset="0"/>
                <a:ea typeface="Calibri" pitchFamily="34" charset="-122"/>
                <a:cs typeface="Calibri" pitchFamily="34" charset="-120"/>
              </a:rPr>
              <a:t>The space drops from 2^(N^2) to N^N. For N = 8: 1.8 x 10^19 becomes 1.7 x 10^7</a:t>
            </a:r>
            <a:endParaRPr lang="en-US" sz="1300" dirty="0"/>
          </a:p>
        </p:txBody>
      </p:sp>
      <p:sp>
        <p:nvSpPr>
          <p:cNvPr id="38" name="Text 36"/>
          <p:cNvSpPr/>
          <p:nvPr/>
        </p:nvSpPr>
        <p:spPr>
          <a:xfrm>
            <a:off x="8229600" y="5074920"/>
            <a:ext cx="3383280" cy="731520"/>
          </a:xfrm>
          <a:prstGeom prst="rect">
            <a:avLst/>
          </a:prstGeom>
          <a:noFill/>
          <a:ln/>
        </p:spPr>
        <p:txBody>
          <a:bodyPr wrap="square" lIns="0" tIns="0" rIns="0" bIns="0" rtlCol="0" anchor="ctr"/>
          <a:lstStyle/>
          <a:p>
            <a:pPr indent="0" marL="0">
              <a:buNone/>
            </a:pPr>
            <a:r>
              <a:rPr lang="en-US" sz="1600" i="1" dirty="0">
                <a:solidFill>
                  <a:srgbClr val="1C1E21"/>
                </a:solidFill>
                <a:latin typeface="Cambria" pitchFamily="34" charset="0"/>
                <a:ea typeface="Cambria" pitchFamily="34" charset="-122"/>
                <a:cs typeface="Cambria" pitchFamily="34" charset="-120"/>
              </a:rPr>
              <a:t>Nothing about the puzzle changed. Only the model did.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17</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Example 3: cryptarithmetic</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Each letter is a distinct digit, and the arithmetic has to work</a:t>
            </a:r>
            <a:endParaRPr lang="en-US" sz="1400" dirty="0"/>
          </a:p>
        </p:txBody>
      </p:sp>
      <p:sp>
        <p:nvSpPr>
          <p:cNvPr id="6" name="Shape 4"/>
          <p:cNvSpPr/>
          <p:nvPr/>
        </p:nvSpPr>
        <p:spPr>
          <a:xfrm>
            <a:off x="8686800" y="1783080"/>
            <a:ext cx="2286000" cy="1371600"/>
          </a:xfrm>
          <a:prstGeom prst="roundRect">
            <a:avLst>
              <a:gd name="adj" fmla="val 3333"/>
            </a:avLst>
          </a:prstGeom>
          <a:solidFill>
            <a:srgbClr val="FFFFFF"/>
          </a:solidFill>
          <a:ln w="9525">
            <a:solidFill>
              <a:srgbClr val="D3D6D9"/>
            </a:solidFill>
            <a:prstDash val="solid"/>
          </a:ln>
        </p:spPr>
      </p:sp>
      <p:sp>
        <p:nvSpPr>
          <p:cNvPr id="7" name="Text 5"/>
          <p:cNvSpPr/>
          <p:nvPr/>
        </p:nvSpPr>
        <p:spPr>
          <a:xfrm>
            <a:off x="8833104" y="1892808"/>
            <a:ext cx="1993392" cy="1152144"/>
          </a:xfrm>
          <a:prstGeom prst="rect">
            <a:avLst/>
          </a:prstGeom>
          <a:noFill/>
          <a:ln/>
        </p:spPr>
        <p:txBody>
          <a:bodyPr wrap="square" lIns="0" tIns="0" rIns="0" bIns="0" rtlCol="0" anchor="t"/>
          <a:lstStyle/>
          <a:p>
            <a:pPr indent="0" marL="0">
              <a:lnSpc>
                <a:spcPct val="112000"/>
              </a:lnSpc>
              <a:buNone/>
            </a:pPr>
            <a:r>
              <a:rPr lang="en-US" sz="1500" b="1" dirty="0">
                <a:solidFill>
                  <a:srgbClr val="1C1E21"/>
                </a:solidFill>
                <a:latin typeface="Courier New" pitchFamily="34" charset="0"/>
                <a:ea typeface="Courier New" pitchFamily="34" charset="-122"/>
                <a:cs typeface="Courier New" pitchFamily="34" charset="-120"/>
              </a:rPr>
              <a:t>    T W O</a:t>
            </a:r>
            <a:endParaRPr lang="en-US" sz="1500" dirty="0"/>
          </a:p>
          <a:p>
            <a:pPr indent="0" marL="0">
              <a:lnSpc>
                <a:spcPct val="112000"/>
              </a:lnSpc>
              <a:buNone/>
            </a:pPr>
            <a:r>
              <a:rPr lang="en-US" sz="1500" b="1" dirty="0">
                <a:solidFill>
                  <a:srgbClr val="1C1E21"/>
                </a:solidFill>
                <a:latin typeface="Courier New" pitchFamily="34" charset="0"/>
                <a:ea typeface="Courier New" pitchFamily="34" charset="-122"/>
                <a:cs typeface="Courier New" pitchFamily="34" charset="-120"/>
              </a:rPr>
              <a:t>  + T W O</a:t>
            </a:r>
            <a:endParaRPr lang="en-US" sz="1500" dirty="0"/>
          </a:p>
          <a:p>
            <a:pPr indent="0" marL="0">
              <a:lnSpc>
                <a:spcPct val="112000"/>
              </a:lnSpc>
              <a:buNone/>
            </a:pPr>
            <a:r>
              <a:rPr lang="en-US" sz="1500" dirty="0">
                <a:solidFill>
                  <a:srgbClr val="1C1E21"/>
                </a:solidFill>
                <a:latin typeface="Courier New" pitchFamily="34" charset="0"/>
                <a:ea typeface="Courier New" pitchFamily="34" charset="-122"/>
                <a:cs typeface="Courier New" pitchFamily="34" charset="-120"/>
              </a:rPr>
              <a:t>  --------</a:t>
            </a:r>
            <a:endParaRPr lang="en-US" sz="1500" dirty="0"/>
          </a:p>
          <a:p>
            <a:pPr indent="0" marL="0">
              <a:lnSpc>
                <a:spcPct val="112000"/>
              </a:lnSpc>
              <a:buNone/>
            </a:pPr>
            <a:r>
              <a:rPr lang="en-US" sz="1500" b="1" dirty="0">
                <a:solidFill>
                  <a:srgbClr val="1C1E21"/>
                </a:solidFill>
                <a:latin typeface="Courier New" pitchFamily="34" charset="0"/>
                <a:ea typeface="Courier New" pitchFamily="34" charset="-122"/>
                <a:cs typeface="Courier New" pitchFamily="34" charset="-120"/>
              </a:rPr>
              <a:t>  F O U R</a:t>
            </a:r>
            <a:endParaRPr lang="en-US" sz="1500" dirty="0"/>
          </a:p>
        </p:txBody>
      </p:sp>
      <p:sp>
        <p:nvSpPr>
          <p:cNvPr id="8" name="Shape 6"/>
          <p:cNvSpPr/>
          <p:nvPr/>
        </p:nvSpPr>
        <p:spPr>
          <a:xfrm>
            <a:off x="640080" y="1737360"/>
            <a:ext cx="7680960" cy="3154680"/>
          </a:xfrm>
          <a:prstGeom prst="roundRect">
            <a:avLst>
              <a:gd name="adj" fmla="val 1739"/>
            </a:avLst>
          </a:prstGeom>
          <a:solidFill>
            <a:srgbClr val="F6F7F8"/>
          </a:solidFill>
          <a:ln w="9525">
            <a:solidFill>
              <a:srgbClr val="D3D6D9"/>
            </a:solidFill>
            <a:prstDash val="solid"/>
          </a:ln>
        </p:spPr>
      </p:sp>
      <p:sp>
        <p:nvSpPr>
          <p:cNvPr id="9" name="Text 7"/>
          <p:cNvSpPr/>
          <p:nvPr/>
        </p:nvSpPr>
        <p:spPr>
          <a:xfrm>
            <a:off x="896112" y="1920240"/>
            <a:ext cx="7223760" cy="14630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rgbClr val="1C1E21"/>
                </a:solidFill>
                <a:latin typeface="Calibri" pitchFamily="34" charset="0"/>
                <a:ea typeface="Calibri" pitchFamily="34" charset="-122"/>
                <a:cs typeface="Calibri" pitchFamily="34" charset="-120"/>
              </a:rPr>
              <a:t>Variables: F, T, U, W, R, O plus carry variables X1, X2, X3</a:t>
            </a:r>
            <a:endParaRPr lang="en-US" sz="1400" dirty="0"/>
          </a:p>
          <a:p>
            <a:pPr lvl="1" marL="355600" indent="-177800">
              <a:spcAft>
                <a:spcPts val="600"/>
              </a:spcAft>
              <a:buSzPct val="100000"/>
              <a:buChar char="•"/>
            </a:pPr>
            <a:r>
              <a:rPr lang="en-US" sz="1250" dirty="0">
                <a:solidFill>
                  <a:srgbClr val="53565A"/>
                </a:solidFill>
                <a:latin typeface="Calibri" pitchFamily="34" charset="0"/>
                <a:ea typeface="Calibri" pitchFamily="34" charset="-122"/>
                <a:cs typeface="Calibri" pitchFamily="34" charset="-120"/>
              </a:rPr>
              <a:t>The carries are not in the puzzle statement. You introduce them so that each column becomes a local constraint instead of one giant global one.</a:t>
            </a:r>
            <a:endParaRPr lang="en-US" sz="1400" dirty="0"/>
          </a:p>
          <a:p>
            <a:pPr marL="177800" indent="-177800">
              <a:spcAft>
                <a:spcPts val="600"/>
              </a:spcAft>
              <a:buSzPct val="100000"/>
              <a:buChar char="•"/>
            </a:pPr>
            <a:r>
              <a:rPr lang="en-US" sz="1400" b="1" dirty="0">
                <a:solidFill>
                  <a:srgbClr val="1C1E21"/>
                </a:solidFill>
                <a:latin typeface="Calibri" pitchFamily="34" charset="0"/>
                <a:ea typeface="Calibri" pitchFamily="34" charset="-122"/>
                <a:cs typeface="Calibri" pitchFamily="34" charset="-120"/>
              </a:rPr>
              <a:t>Domains: { 0, ..., 9 } for letters, { 0, 1 } for carries</a:t>
            </a:r>
            <a:endParaRPr lang="en-US" sz="1400" dirty="0"/>
          </a:p>
          <a:p>
            <a:pPr marL="177800" indent="-177800">
              <a:spcAft>
                <a:spcPts val="600"/>
              </a:spcAft>
              <a:buSzPct val="100000"/>
              <a:buChar char="•"/>
            </a:pPr>
            <a:r>
              <a:rPr lang="en-US" sz="1400" b="1" dirty="0">
                <a:solidFill>
                  <a:srgbClr val="1C1E21"/>
                </a:solidFill>
                <a:latin typeface="Calibri" pitchFamily="34" charset="0"/>
                <a:ea typeface="Calibri" pitchFamily="34" charset="-122"/>
                <a:cs typeface="Calibri" pitchFamily="34" charset="-120"/>
              </a:rPr>
              <a:t>Constraints</a:t>
            </a:r>
            <a:endParaRPr lang="en-US" sz="1400" dirty="0"/>
          </a:p>
        </p:txBody>
      </p:sp>
      <p:sp>
        <p:nvSpPr>
          <p:cNvPr id="10" name="Shape 8"/>
          <p:cNvSpPr/>
          <p:nvPr/>
        </p:nvSpPr>
        <p:spPr>
          <a:xfrm>
            <a:off x="960120" y="3429000"/>
            <a:ext cx="7040880" cy="1234440"/>
          </a:xfrm>
          <a:prstGeom prst="roundRect">
            <a:avLst>
              <a:gd name="adj" fmla="val 3704"/>
            </a:avLst>
          </a:prstGeom>
          <a:solidFill>
            <a:srgbClr val="F4F5F6"/>
          </a:solidFill>
          <a:ln w="9525">
            <a:solidFill>
              <a:srgbClr val="D3D6D9"/>
            </a:solidFill>
            <a:prstDash val="solid"/>
          </a:ln>
        </p:spPr>
      </p:sp>
      <p:sp>
        <p:nvSpPr>
          <p:cNvPr id="11" name="Text 9"/>
          <p:cNvSpPr/>
          <p:nvPr/>
        </p:nvSpPr>
        <p:spPr>
          <a:xfrm>
            <a:off x="1106424" y="3538728"/>
            <a:ext cx="6748272" cy="1014984"/>
          </a:xfrm>
          <a:prstGeom prst="rect">
            <a:avLst/>
          </a:prstGeom>
          <a:noFill/>
          <a:ln/>
        </p:spPr>
        <p:txBody>
          <a:bodyPr wrap="square" lIns="0" tIns="0" rIns="0" bIns="0" rtlCol="0" anchor="t"/>
          <a:lstStyle/>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alldiff(F, T, U, W, R, O)</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O + O = R + 10 * X1        W + W + X1 = U + 10 * X2</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T + T + X2 = O + 10 * X3   X3 = F</a:t>
            </a:r>
            <a:endParaRPr lang="en-US" sz="1150" dirty="0"/>
          </a:p>
        </p:txBody>
      </p:sp>
      <p:sp>
        <p:nvSpPr>
          <p:cNvPr id="12" name="Shape 10"/>
          <p:cNvSpPr/>
          <p:nvPr/>
        </p:nvSpPr>
        <p:spPr>
          <a:xfrm>
            <a:off x="640080" y="5074920"/>
            <a:ext cx="10908792" cy="1051560"/>
          </a:xfrm>
          <a:prstGeom prst="roundRect">
            <a:avLst>
              <a:gd name="adj" fmla="val 5217"/>
            </a:avLst>
          </a:prstGeom>
          <a:solidFill>
            <a:srgbClr val="FBEDEF"/>
          </a:solidFill>
          <a:ln w="9525">
            <a:solidFill>
              <a:srgbClr val="E8B5BC"/>
            </a:solidFill>
            <a:prstDash val="solid"/>
          </a:ln>
        </p:spPr>
      </p:sp>
      <p:sp>
        <p:nvSpPr>
          <p:cNvPr id="13" name="Text 11"/>
          <p:cNvSpPr/>
          <p:nvPr/>
        </p:nvSpPr>
        <p:spPr>
          <a:xfrm>
            <a:off x="896112" y="5193792"/>
            <a:ext cx="676656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Drawing constraints that touch three or more variables</a:t>
            </a:r>
            <a:endParaRPr lang="en-US" sz="1600" dirty="0"/>
          </a:p>
        </p:txBody>
      </p:sp>
      <p:sp>
        <p:nvSpPr>
          <p:cNvPr id="14" name="Text 12"/>
          <p:cNvSpPr/>
          <p:nvPr/>
        </p:nvSpPr>
        <p:spPr>
          <a:xfrm>
            <a:off x="896112" y="5504688"/>
            <a:ext cx="7863840" cy="54864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You cannot draw alldiff as an edge. Convention: draw the constraint as a square node with a line to every variable in its scope. An ordinary edge is just the two-variable special case of that square.</a:t>
            </a:r>
            <a:endParaRPr lang="en-US" sz="1250" dirty="0"/>
          </a:p>
        </p:txBody>
      </p:sp>
      <p:sp>
        <p:nvSpPr>
          <p:cNvPr id="15" name="Shape 13"/>
          <p:cNvSpPr/>
          <p:nvPr/>
        </p:nvSpPr>
        <p:spPr>
          <a:xfrm>
            <a:off x="9738360" y="3703320"/>
            <a:ext cx="384048" cy="384048"/>
          </a:xfrm>
          <a:prstGeom prst="rect">
            <a:avLst/>
          </a:prstGeom>
          <a:solidFill>
            <a:srgbClr val="1C1E21"/>
          </a:solidFill>
          <a:ln w="12700">
            <a:solidFill>
              <a:srgbClr val="333333"/>
            </a:solidFill>
            <a:prstDash val="solid"/>
          </a:ln>
        </p:spPr>
      </p:sp>
      <p:sp>
        <p:nvSpPr>
          <p:cNvPr id="16" name="Shape 14"/>
          <p:cNvSpPr/>
          <p:nvPr/>
        </p:nvSpPr>
        <p:spPr>
          <a:xfrm flipH="1">
            <a:off x="8906256" y="4087368"/>
            <a:ext cx="1024128" cy="502920"/>
          </a:xfrm>
          <a:prstGeom prst="line">
            <a:avLst/>
          </a:prstGeom>
          <a:noFill/>
          <a:ln w="13970">
            <a:solidFill>
              <a:srgbClr val="53565A"/>
            </a:solidFill>
            <a:prstDash val="solid"/>
          </a:ln>
        </p:spPr>
      </p:sp>
      <p:sp>
        <p:nvSpPr>
          <p:cNvPr id="17" name="Shape 15"/>
          <p:cNvSpPr/>
          <p:nvPr/>
        </p:nvSpPr>
        <p:spPr>
          <a:xfrm>
            <a:off x="8732520" y="4590288"/>
            <a:ext cx="347472" cy="347472"/>
          </a:xfrm>
          <a:prstGeom prst="ellipse">
            <a:avLst/>
          </a:prstGeom>
          <a:solidFill>
            <a:srgbClr val="FFFFFF"/>
          </a:solidFill>
          <a:ln w="15240">
            <a:solidFill>
              <a:srgbClr val="1C1E21"/>
            </a:solidFill>
            <a:prstDash val="solid"/>
          </a:ln>
        </p:spPr>
      </p:sp>
      <p:sp>
        <p:nvSpPr>
          <p:cNvPr id="18" name="Text 16"/>
          <p:cNvSpPr/>
          <p:nvPr/>
        </p:nvSpPr>
        <p:spPr>
          <a:xfrm>
            <a:off x="8732520" y="4590288"/>
            <a:ext cx="347472" cy="347472"/>
          </a:xfrm>
          <a:prstGeom prst="rect">
            <a:avLst/>
          </a:prstGeom>
          <a:noFill/>
          <a:ln/>
        </p:spPr>
        <p:txBody>
          <a:bodyPr wrap="square" lIns="0" tIns="0" rIns="0" bIns="0" rtlCol="0" anchor="ctr"/>
          <a:lstStyle/>
          <a:p>
            <a:pPr algn="ctr" indent="0" marL="0">
              <a:buNone/>
            </a:pPr>
            <a:r>
              <a:rPr lang="en-US" sz="900" b="1" dirty="0">
                <a:solidFill>
                  <a:srgbClr val="1C1E21"/>
                </a:solidFill>
                <a:latin typeface="Calibri" pitchFamily="34" charset="0"/>
                <a:ea typeface="Calibri" pitchFamily="34" charset="-122"/>
                <a:cs typeface="Calibri" pitchFamily="34" charset="-120"/>
              </a:rPr>
              <a:t>T</a:t>
            </a:r>
            <a:endParaRPr lang="en-US" sz="900" dirty="0"/>
          </a:p>
        </p:txBody>
      </p:sp>
      <p:sp>
        <p:nvSpPr>
          <p:cNvPr id="19" name="Shape 17"/>
          <p:cNvSpPr/>
          <p:nvPr/>
        </p:nvSpPr>
        <p:spPr>
          <a:xfrm flipH="1">
            <a:off x="9637776" y="4087368"/>
            <a:ext cx="292608" cy="502920"/>
          </a:xfrm>
          <a:prstGeom prst="line">
            <a:avLst/>
          </a:prstGeom>
          <a:noFill/>
          <a:ln w="13970">
            <a:solidFill>
              <a:srgbClr val="53565A"/>
            </a:solidFill>
            <a:prstDash val="solid"/>
          </a:ln>
        </p:spPr>
      </p:sp>
      <p:sp>
        <p:nvSpPr>
          <p:cNvPr id="20" name="Shape 18"/>
          <p:cNvSpPr/>
          <p:nvPr/>
        </p:nvSpPr>
        <p:spPr>
          <a:xfrm>
            <a:off x="9464040" y="4590288"/>
            <a:ext cx="347472" cy="347472"/>
          </a:xfrm>
          <a:prstGeom prst="ellipse">
            <a:avLst/>
          </a:prstGeom>
          <a:solidFill>
            <a:srgbClr val="FFFFFF"/>
          </a:solidFill>
          <a:ln w="15240">
            <a:solidFill>
              <a:srgbClr val="1C1E21"/>
            </a:solidFill>
            <a:prstDash val="solid"/>
          </a:ln>
        </p:spPr>
      </p:sp>
      <p:sp>
        <p:nvSpPr>
          <p:cNvPr id="21" name="Text 19"/>
          <p:cNvSpPr/>
          <p:nvPr/>
        </p:nvSpPr>
        <p:spPr>
          <a:xfrm>
            <a:off x="9464040" y="4590288"/>
            <a:ext cx="347472" cy="347472"/>
          </a:xfrm>
          <a:prstGeom prst="rect">
            <a:avLst/>
          </a:prstGeom>
          <a:noFill/>
          <a:ln/>
        </p:spPr>
        <p:txBody>
          <a:bodyPr wrap="square" lIns="0" tIns="0" rIns="0" bIns="0" rtlCol="0" anchor="ctr"/>
          <a:lstStyle/>
          <a:p>
            <a:pPr algn="ctr" indent="0" marL="0">
              <a:buNone/>
            </a:pPr>
            <a:r>
              <a:rPr lang="en-US" sz="900" b="1" dirty="0">
                <a:solidFill>
                  <a:srgbClr val="1C1E21"/>
                </a:solidFill>
                <a:latin typeface="Calibri" pitchFamily="34" charset="0"/>
                <a:ea typeface="Calibri" pitchFamily="34" charset="-122"/>
                <a:cs typeface="Calibri" pitchFamily="34" charset="-120"/>
              </a:rPr>
              <a:t>W</a:t>
            </a:r>
            <a:endParaRPr lang="en-US" sz="900" dirty="0"/>
          </a:p>
        </p:txBody>
      </p:sp>
      <p:sp>
        <p:nvSpPr>
          <p:cNvPr id="22" name="Shape 20"/>
          <p:cNvSpPr/>
          <p:nvPr/>
        </p:nvSpPr>
        <p:spPr>
          <a:xfrm>
            <a:off x="9930384" y="4087368"/>
            <a:ext cx="438912" cy="502920"/>
          </a:xfrm>
          <a:prstGeom prst="line">
            <a:avLst/>
          </a:prstGeom>
          <a:noFill/>
          <a:ln w="13970">
            <a:solidFill>
              <a:srgbClr val="53565A"/>
            </a:solidFill>
            <a:prstDash val="solid"/>
          </a:ln>
        </p:spPr>
      </p:sp>
      <p:sp>
        <p:nvSpPr>
          <p:cNvPr id="23" name="Shape 21"/>
          <p:cNvSpPr/>
          <p:nvPr/>
        </p:nvSpPr>
        <p:spPr>
          <a:xfrm>
            <a:off x="10195560" y="4590288"/>
            <a:ext cx="347472" cy="347472"/>
          </a:xfrm>
          <a:prstGeom prst="ellipse">
            <a:avLst/>
          </a:prstGeom>
          <a:solidFill>
            <a:srgbClr val="FFFFFF"/>
          </a:solidFill>
          <a:ln w="15240">
            <a:solidFill>
              <a:srgbClr val="1C1E21"/>
            </a:solidFill>
            <a:prstDash val="solid"/>
          </a:ln>
        </p:spPr>
      </p:sp>
      <p:sp>
        <p:nvSpPr>
          <p:cNvPr id="24" name="Text 22"/>
          <p:cNvSpPr/>
          <p:nvPr/>
        </p:nvSpPr>
        <p:spPr>
          <a:xfrm>
            <a:off x="10195560" y="4590288"/>
            <a:ext cx="347472" cy="347472"/>
          </a:xfrm>
          <a:prstGeom prst="rect">
            <a:avLst/>
          </a:prstGeom>
          <a:noFill/>
          <a:ln/>
        </p:spPr>
        <p:txBody>
          <a:bodyPr wrap="square" lIns="0" tIns="0" rIns="0" bIns="0" rtlCol="0" anchor="ctr"/>
          <a:lstStyle/>
          <a:p>
            <a:pPr algn="ctr" indent="0" marL="0">
              <a:buNone/>
            </a:pPr>
            <a:r>
              <a:rPr lang="en-US" sz="900" b="1" dirty="0">
                <a:solidFill>
                  <a:srgbClr val="1C1E21"/>
                </a:solidFill>
                <a:latin typeface="Calibri" pitchFamily="34" charset="0"/>
                <a:ea typeface="Calibri" pitchFamily="34" charset="-122"/>
                <a:cs typeface="Calibri" pitchFamily="34" charset="-120"/>
              </a:rPr>
              <a:t>O</a:t>
            </a:r>
            <a:endParaRPr lang="en-US" sz="900" dirty="0"/>
          </a:p>
        </p:txBody>
      </p:sp>
      <p:sp>
        <p:nvSpPr>
          <p:cNvPr id="25" name="Shape 23"/>
          <p:cNvSpPr/>
          <p:nvPr/>
        </p:nvSpPr>
        <p:spPr>
          <a:xfrm>
            <a:off x="9930384" y="4087368"/>
            <a:ext cx="1170432" cy="502920"/>
          </a:xfrm>
          <a:prstGeom prst="line">
            <a:avLst/>
          </a:prstGeom>
          <a:noFill/>
          <a:ln w="13970">
            <a:solidFill>
              <a:srgbClr val="53565A"/>
            </a:solidFill>
            <a:prstDash val="solid"/>
          </a:ln>
        </p:spPr>
      </p:sp>
      <p:sp>
        <p:nvSpPr>
          <p:cNvPr id="26" name="Shape 24"/>
          <p:cNvSpPr/>
          <p:nvPr/>
        </p:nvSpPr>
        <p:spPr>
          <a:xfrm>
            <a:off x="10927080" y="4590288"/>
            <a:ext cx="347472" cy="347472"/>
          </a:xfrm>
          <a:prstGeom prst="ellipse">
            <a:avLst/>
          </a:prstGeom>
          <a:solidFill>
            <a:srgbClr val="FFFFFF"/>
          </a:solidFill>
          <a:ln w="15240">
            <a:solidFill>
              <a:srgbClr val="1C1E21"/>
            </a:solidFill>
            <a:prstDash val="solid"/>
          </a:ln>
        </p:spPr>
      </p:sp>
      <p:sp>
        <p:nvSpPr>
          <p:cNvPr id="27" name="Text 25"/>
          <p:cNvSpPr/>
          <p:nvPr/>
        </p:nvSpPr>
        <p:spPr>
          <a:xfrm>
            <a:off x="10927080" y="4590288"/>
            <a:ext cx="347472" cy="347472"/>
          </a:xfrm>
          <a:prstGeom prst="rect">
            <a:avLst/>
          </a:prstGeom>
          <a:noFill/>
          <a:ln/>
        </p:spPr>
        <p:txBody>
          <a:bodyPr wrap="square" lIns="0" tIns="0" rIns="0" bIns="0" rtlCol="0" anchor="ctr"/>
          <a:lstStyle/>
          <a:p>
            <a:pPr algn="ctr" indent="0" marL="0">
              <a:buNone/>
            </a:pPr>
            <a:r>
              <a:rPr lang="en-US" sz="900" b="1" dirty="0">
                <a:solidFill>
                  <a:srgbClr val="1C1E21"/>
                </a:solidFill>
                <a:latin typeface="Calibri" pitchFamily="34" charset="0"/>
                <a:ea typeface="Calibri" pitchFamily="34" charset="-122"/>
                <a:cs typeface="Calibri" pitchFamily="34" charset="-120"/>
              </a:rPr>
              <a:t>X1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18</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Example 4: Sudoku</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You have solved thousands of these. Here is what you were actually doing.</a:t>
            </a:r>
            <a:endParaRPr lang="en-US" sz="1400" dirty="0"/>
          </a:p>
        </p:txBody>
      </p:sp>
      <p:sp>
        <p:nvSpPr>
          <p:cNvPr id="6" name="Shape 4"/>
          <p:cNvSpPr/>
          <p:nvPr/>
        </p:nvSpPr>
        <p:spPr>
          <a:xfrm>
            <a:off x="8001000" y="1783080"/>
            <a:ext cx="384048" cy="384048"/>
          </a:xfrm>
          <a:prstGeom prst="rect">
            <a:avLst/>
          </a:prstGeom>
          <a:solidFill>
            <a:srgbClr val="FFFFFF"/>
          </a:solidFill>
          <a:ln w="7620">
            <a:solidFill>
              <a:srgbClr val="BFC3C7"/>
            </a:solidFill>
            <a:prstDash val="solid"/>
          </a:ln>
        </p:spPr>
      </p:sp>
      <p:sp>
        <p:nvSpPr>
          <p:cNvPr id="7" name="Shape 5"/>
          <p:cNvSpPr/>
          <p:nvPr/>
        </p:nvSpPr>
        <p:spPr>
          <a:xfrm>
            <a:off x="8385048" y="1783080"/>
            <a:ext cx="384048" cy="384048"/>
          </a:xfrm>
          <a:prstGeom prst="rect">
            <a:avLst/>
          </a:prstGeom>
          <a:solidFill>
            <a:srgbClr val="FFFFFF"/>
          </a:solidFill>
          <a:ln w="7620">
            <a:solidFill>
              <a:srgbClr val="BFC3C7"/>
            </a:solidFill>
            <a:prstDash val="solid"/>
          </a:ln>
        </p:spPr>
      </p:sp>
      <p:sp>
        <p:nvSpPr>
          <p:cNvPr id="8" name="Shape 6"/>
          <p:cNvSpPr/>
          <p:nvPr/>
        </p:nvSpPr>
        <p:spPr>
          <a:xfrm>
            <a:off x="8769096" y="1783080"/>
            <a:ext cx="384048" cy="384048"/>
          </a:xfrm>
          <a:prstGeom prst="rect">
            <a:avLst/>
          </a:prstGeom>
          <a:solidFill>
            <a:srgbClr val="FFFFFF"/>
          </a:solidFill>
          <a:ln w="7620">
            <a:solidFill>
              <a:srgbClr val="BFC3C7"/>
            </a:solidFill>
            <a:prstDash val="solid"/>
          </a:ln>
        </p:spPr>
      </p:sp>
      <p:sp>
        <p:nvSpPr>
          <p:cNvPr id="9" name="Shape 7"/>
          <p:cNvSpPr/>
          <p:nvPr/>
        </p:nvSpPr>
        <p:spPr>
          <a:xfrm>
            <a:off x="9153144" y="1783080"/>
            <a:ext cx="384048" cy="384048"/>
          </a:xfrm>
          <a:prstGeom prst="rect">
            <a:avLst/>
          </a:prstGeom>
          <a:solidFill>
            <a:srgbClr val="FFFFFF"/>
          </a:solidFill>
          <a:ln w="7620">
            <a:solidFill>
              <a:srgbClr val="BFC3C7"/>
            </a:solidFill>
            <a:prstDash val="solid"/>
          </a:ln>
        </p:spPr>
      </p:sp>
      <p:sp>
        <p:nvSpPr>
          <p:cNvPr id="10" name="Text 8"/>
          <p:cNvSpPr/>
          <p:nvPr/>
        </p:nvSpPr>
        <p:spPr>
          <a:xfrm>
            <a:off x="9153144" y="1783080"/>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8</a:t>
            </a:r>
            <a:endParaRPr lang="en-US" sz="1200" dirty="0"/>
          </a:p>
        </p:txBody>
      </p:sp>
      <p:sp>
        <p:nvSpPr>
          <p:cNvPr id="11" name="Shape 9"/>
          <p:cNvSpPr/>
          <p:nvPr/>
        </p:nvSpPr>
        <p:spPr>
          <a:xfrm>
            <a:off x="9537192" y="1783080"/>
            <a:ext cx="384048" cy="384048"/>
          </a:xfrm>
          <a:prstGeom prst="rect">
            <a:avLst/>
          </a:prstGeom>
          <a:solidFill>
            <a:srgbClr val="FFFFFF"/>
          </a:solidFill>
          <a:ln w="7620">
            <a:solidFill>
              <a:srgbClr val="BFC3C7"/>
            </a:solidFill>
            <a:prstDash val="solid"/>
          </a:ln>
        </p:spPr>
      </p:sp>
      <p:sp>
        <p:nvSpPr>
          <p:cNvPr id="12" name="Shape 10"/>
          <p:cNvSpPr/>
          <p:nvPr/>
        </p:nvSpPr>
        <p:spPr>
          <a:xfrm>
            <a:off x="9921240" y="1783080"/>
            <a:ext cx="384048" cy="384048"/>
          </a:xfrm>
          <a:prstGeom prst="rect">
            <a:avLst/>
          </a:prstGeom>
          <a:solidFill>
            <a:srgbClr val="FFFFFF"/>
          </a:solidFill>
          <a:ln w="7620">
            <a:solidFill>
              <a:srgbClr val="BFC3C7"/>
            </a:solidFill>
            <a:prstDash val="solid"/>
          </a:ln>
        </p:spPr>
      </p:sp>
      <p:sp>
        <p:nvSpPr>
          <p:cNvPr id="13" name="Shape 11"/>
          <p:cNvSpPr/>
          <p:nvPr/>
        </p:nvSpPr>
        <p:spPr>
          <a:xfrm>
            <a:off x="10305288" y="1783080"/>
            <a:ext cx="384048" cy="384048"/>
          </a:xfrm>
          <a:prstGeom prst="rect">
            <a:avLst/>
          </a:prstGeom>
          <a:solidFill>
            <a:srgbClr val="FFFFFF"/>
          </a:solidFill>
          <a:ln w="7620">
            <a:solidFill>
              <a:srgbClr val="BFC3C7"/>
            </a:solidFill>
            <a:prstDash val="solid"/>
          </a:ln>
        </p:spPr>
      </p:sp>
      <p:sp>
        <p:nvSpPr>
          <p:cNvPr id="14" name="Shape 12"/>
          <p:cNvSpPr/>
          <p:nvPr/>
        </p:nvSpPr>
        <p:spPr>
          <a:xfrm>
            <a:off x="10689336" y="1783080"/>
            <a:ext cx="384048" cy="384048"/>
          </a:xfrm>
          <a:prstGeom prst="rect">
            <a:avLst/>
          </a:prstGeom>
          <a:solidFill>
            <a:srgbClr val="FFFFFF"/>
          </a:solidFill>
          <a:ln w="7620">
            <a:solidFill>
              <a:srgbClr val="BFC3C7"/>
            </a:solidFill>
            <a:prstDash val="solid"/>
          </a:ln>
        </p:spPr>
      </p:sp>
      <p:sp>
        <p:nvSpPr>
          <p:cNvPr id="15" name="Shape 13"/>
          <p:cNvSpPr/>
          <p:nvPr/>
        </p:nvSpPr>
        <p:spPr>
          <a:xfrm>
            <a:off x="11073384" y="1783080"/>
            <a:ext cx="384048" cy="384048"/>
          </a:xfrm>
          <a:prstGeom prst="rect">
            <a:avLst/>
          </a:prstGeom>
          <a:solidFill>
            <a:srgbClr val="FFFFFF"/>
          </a:solidFill>
          <a:ln w="7620">
            <a:solidFill>
              <a:srgbClr val="BFC3C7"/>
            </a:solidFill>
            <a:prstDash val="solid"/>
          </a:ln>
        </p:spPr>
      </p:sp>
      <p:sp>
        <p:nvSpPr>
          <p:cNvPr id="16" name="Text 14"/>
          <p:cNvSpPr/>
          <p:nvPr/>
        </p:nvSpPr>
        <p:spPr>
          <a:xfrm>
            <a:off x="11073384" y="1783080"/>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4</a:t>
            </a:r>
            <a:endParaRPr lang="en-US" sz="1200" dirty="0"/>
          </a:p>
        </p:txBody>
      </p:sp>
      <p:sp>
        <p:nvSpPr>
          <p:cNvPr id="17" name="Shape 15"/>
          <p:cNvSpPr/>
          <p:nvPr/>
        </p:nvSpPr>
        <p:spPr>
          <a:xfrm>
            <a:off x="8001000" y="2167128"/>
            <a:ext cx="384048" cy="384048"/>
          </a:xfrm>
          <a:prstGeom prst="rect">
            <a:avLst/>
          </a:prstGeom>
          <a:solidFill>
            <a:srgbClr val="FFFFFF"/>
          </a:solidFill>
          <a:ln w="7620">
            <a:solidFill>
              <a:srgbClr val="BFC3C7"/>
            </a:solidFill>
            <a:prstDash val="solid"/>
          </a:ln>
        </p:spPr>
      </p:sp>
      <p:sp>
        <p:nvSpPr>
          <p:cNvPr id="18" name="Shape 16"/>
          <p:cNvSpPr/>
          <p:nvPr/>
        </p:nvSpPr>
        <p:spPr>
          <a:xfrm>
            <a:off x="8385048" y="2167128"/>
            <a:ext cx="384048" cy="384048"/>
          </a:xfrm>
          <a:prstGeom prst="rect">
            <a:avLst/>
          </a:prstGeom>
          <a:solidFill>
            <a:srgbClr val="FFFFFF"/>
          </a:solidFill>
          <a:ln w="7620">
            <a:solidFill>
              <a:srgbClr val="BFC3C7"/>
            </a:solidFill>
            <a:prstDash val="solid"/>
          </a:ln>
        </p:spPr>
      </p:sp>
      <p:sp>
        <p:nvSpPr>
          <p:cNvPr id="19" name="Text 17"/>
          <p:cNvSpPr/>
          <p:nvPr/>
        </p:nvSpPr>
        <p:spPr>
          <a:xfrm>
            <a:off x="8385048" y="2167128"/>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8</a:t>
            </a:r>
            <a:endParaRPr lang="en-US" sz="1200" dirty="0"/>
          </a:p>
        </p:txBody>
      </p:sp>
      <p:sp>
        <p:nvSpPr>
          <p:cNvPr id="20" name="Shape 18"/>
          <p:cNvSpPr/>
          <p:nvPr/>
        </p:nvSpPr>
        <p:spPr>
          <a:xfrm>
            <a:off x="8769096" y="2167128"/>
            <a:ext cx="384048" cy="384048"/>
          </a:xfrm>
          <a:prstGeom prst="rect">
            <a:avLst/>
          </a:prstGeom>
          <a:solidFill>
            <a:srgbClr val="FFFFFF"/>
          </a:solidFill>
          <a:ln w="7620">
            <a:solidFill>
              <a:srgbClr val="BFC3C7"/>
            </a:solidFill>
            <a:prstDash val="solid"/>
          </a:ln>
        </p:spPr>
      </p:sp>
      <p:sp>
        <p:nvSpPr>
          <p:cNvPr id="21" name="Text 19"/>
          <p:cNvSpPr/>
          <p:nvPr/>
        </p:nvSpPr>
        <p:spPr>
          <a:xfrm>
            <a:off x="8769096" y="2167128"/>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4</a:t>
            </a:r>
            <a:endParaRPr lang="en-US" sz="1200" dirty="0"/>
          </a:p>
        </p:txBody>
      </p:sp>
      <p:sp>
        <p:nvSpPr>
          <p:cNvPr id="22" name="Shape 20"/>
          <p:cNvSpPr/>
          <p:nvPr/>
        </p:nvSpPr>
        <p:spPr>
          <a:xfrm>
            <a:off x="9153144" y="2167128"/>
            <a:ext cx="384048" cy="384048"/>
          </a:xfrm>
          <a:prstGeom prst="rect">
            <a:avLst/>
          </a:prstGeom>
          <a:solidFill>
            <a:srgbClr val="FFFFFF"/>
          </a:solidFill>
          <a:ln w="7620">
            <a:solidFill>
              <a:srgbClr val="BFC3C7"/>
            </a:solidFill>
            <a:prstDash val="solid"/>
          </a:ln>
        </p:spPr>
      </p:sp>
      <p:sp>
        <p:nvSpPr>
          <p:cNvPr id="23" name="Shape 21"/>
          <p:cNvSpPr/>
          <p:nvPr/>
        </p:nvSpPr>
        <p:spPr>
          <a:xfrm>
            <a:off x="9537192" y="2167128"/>
            <a:ext cx="384048" cy="384048"/>
          </a:xfrm>
          <a:prstGeom prst="rect">
            <a:avLst/>
          </a:prstGeom>
          <a:solidFill>
            <a:srgbClr val="FFFFFF"/>
          </a:solidFill>
          <a:ln w="7620">
            <a:solidFill>
              <a:srgbClr val="BFC3C7"/>
            </a:solidFill>
            <a:prstDash val="solid"/>
          </a:ln>
        </p:spPr>
      </p:sp>
      <p:sp>
        <p:nvSpPr>
          <p:cNvPr id="24" name="Text 22"/>
          <p:cNvSpPr/>
          <p:nvPr/>
        </p:nvSpPr>
        <p:spPr>
          <a:xfrm>
            <a:off x="9537192" y="2167128"/>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1</a:t>
            </a:r>
            <a:endParaRPr lang="en-US" sz="1200" dirty="0"/>
          </a:p>
        </p:txBody>
      </p:sp>
      <p:sp>
        <p:nvSpPr>
          <p:cNvPr id="25" name="Shape 23"/>
          <p:cNvSpPr/>
          <p:nvPr/>
        </p:nvSpPr>
        <p:spPr>
          <a:xfrm>
            <a:off x="9921240" y="2167128"/>
            <a:ext cx="384048" cy="384048"/>
          </a:xfrm>
          <a:prstGeom prst="rect">
            <a:avLst/>
          </a:prstGeom>
          <a:solidFill>
            <a:srgbClr val="FFFFFF"/>
          </a:solidFill>
          <a:ln w="7620">
            <a:solidFill>
              <a:srgbClr val="BFC3C7"/>
            </a:solidFill>
            <a:prstDash val="solid"/>
          </a:ln>
        </p:spPr>
      </p:sp>
      <p:sp>
        <p:nvSpPr>
          <p:cNvPr id="26" name="Text 24"/>
          <p:cNvSpPr/>
          <p:nvPr/>
        </p:nvSpPr>
        <p:spPr>
          <a:xfrm>
            <a:off x="9921240" y="2167128"/>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6</a:t>
            </a:r>
            <a:endParaRPr lang="en-US" sz="1200" dirty="0"/>
          </a:p>
        </p:txBody>
      </p:sp>
      <p:sp>
        <p:nvSpPr>
          <p:cNvPr id="27" name="Shape 25"/>
          <p:cNvSpPr/>
          <p:nvPr/>
        </p:nvSpPr>
        <p:spPr>
          <a:xfrm>
            <a:off x="10305288" y="2167128"/>
            <a:ext cx="384048" cy="384048"/>
          </a:xfrm>
          <a:prstGeom prst="rect">
            <a:avLst/>
          </a:prstGeom>
          <a:solidFill>
            <a:srgbClr val="FFFFFF"/>
          </a:solidFill>
          <a:ln w="7620">
            <a:solidFill>
              <a:srgbClr val="BFC3C7"/>
            </a:solidFill>
            <a:prstDash val="solid"/>
          </a:ln>
        </p:spPr>
      </p:sp>
      <p:sp>
        <p:nvSpPr>
          <p:cNvPr id="28" name="Shape 26"/>
          <p:cNvSpPr/>
          <p:nvPr/>
        </p:nvSpPr>
        <p:spPr>
          <a:xfrm>
            <a:off x="10689336" y="2167128"/>
            <a:ext cx="384048" cy="384048"/>
          </a:xfrm>
          <a:prstGeom prst="rect">
            <a:avLst/>
          </a:prstGeom>
          <a:solidFill>
            <a:srgbClr val="FFFFFF"/>
          </a:solidFill>
          <a:ln w="7620">
            <a:solidFill>
              <a:srgbClr val="BFC3C7"/>
            </a:solidFill>
            <a:prstDash val="solid"/>
          </a:ln>
        </p:spPr>
      </p:sp>
      <p:sp>
        <p:nvSpPr>
          <p:cNvPr id="29" name="Shape 27"/>
          <p:cNvSpPr/>
          <p:nvPr/>
        </p:nvSpPr>
        <p:spPr>
          <a:xfrm>
            <a:off x="11073384" y="2167128"/>
            <a:ext cx="384048" cy="384048"/>
          </a:xfrm>
          <a:prstGeom prst="rect">
            <a:avLst/>
          </a:prstGeom>
          <a:solidFill>
            <a:srgbClr val="FFFFFF"/>
          </a:solidFill>
          <a:ln w="7620">
            <a:solidFill>
              <a:srgbClr val="BFC3C7"/>
            </a:solidFill>
            <a:prstDash val="solid"/>
          </a:ln>
        </p:spPr>
      </p:sp>
      <p:sp>
        <p:nvSpPr>
          <p:cNvPr id="30" name="Shape 28"/>
          <p:cNvSpPr/>
          <p:nvPr/>
        </p:nvSpPr>
        <p:spPr>
          <a:xfrm>
            <a:off x="8001000" y="2551176"/>
            <a:ext cx="384048" cy="384048"/>
          </a:xfrm>
          <a:prstGeom prst="rect">
            <a:avLst/>
          </a:prstGeom>
          <a:solidFill>
            <a:srgbClr val="FFFFFF"/>
          </a:solidFill>
          <a:ln w="7620">
            <a:solidFill>
              <a:srgbClr val="BFC3C7"/>
            </a:solidFill>
            <a:prstDash val="solid"/>
          </a:ln>
        </p:spPr>
      </p:sp>
      <p:sp>
        <p:nvSpPr>
          <p:cNvPr id="31" name="Shape 29"/>
          <p:cNvSpPr/>
          <p:nvPr/>
        </p:nvSpPr>
        <p:spPr>
          <a:xfrm>
            <a:off x="8385048" y="2551176"/>
            <a:ext cx="384048" cy="384048"/>
          </a:xfrm>
          <a:prstGeom prst="rect">
            <a:avLst/>
          </a:prstGeom>
          <a:solidFill>
            <a:srgbClr val="FFFFFF"/>
          </a:solidFill>
          <a:ln w="7620">
            <a:solidFill>
              <a:srgbClr val="BFC3C7"/>
            </a:solidFill>
            <a:prstDash val="solid"/>
          </a:ln>
        </p:spPr>
      </p:sp>
      <p:sp>
        <p:nvSpPr>
          <p:cNvPr id="32" name="Shape 30"/>
          <p:cNvSpPr/>
          <p:nvPr/>
        </p:nvSpPr>
        <p:spPr>
          <a:xfrm>
            <a:off x="8769096" y="2551176"/>
            <a:ext cx="384048" cy="384048"/>
          </a:xfrm>
          <a:prstGeom prst="rect">
            <a:avLst/>
          </a:prstGeom>
          <a:solidFill>
            <a:srgbClr val="FFFFFF"/>
          </a:solidFill>
          <a:ln w="7620">
            <a:solidFill>
              <a:srgbClr val="BFC3C7"/>
            </a:solidFill>
            <a:prstDash val="solid"/>
          </a:ln>
        </p:spPr>
      </p:sp>
      <p:sp>
        <p:nvSpPr>
          <p:cNvPr id="33" name="Shape 31"/>
          <p:cNvSpPr/>
          <p:nvPr/>
        </p:nvSpPr>
        <p:spPr>
          <a:xfrm>
            <a:off x="9153144" y="2551176"/>
            <a:ext cx="384048" cy="384048"/>
          </a:xfrm>
          <a:prstGeom prst="rect">
            <a:avLst/>
          </a:prstGeom>
          <a:solidFill>
            <a:srgbClr val="FFFFFF"/>
          </a:solidFill>
          <a:ln w="7620">
            <a:solidFill>
              <a:srgbClr val="BFC3C7"/>
            </a:solidFill>
            <a:prstDash val="solid"/>
          </a:ln>
        </p:spPr>
      </p:sp>
      <p:sp>
        <p:nvSpPr>
          <p:cNvPr id="34" name="Text 32"/>
          <p:cNvSpPr/>
          <p:nvPr/>
        </p:nvSpPr>
        <p:spPr>
          <a:xfrm>
            <a:off x="9153144" y="2551176"/>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5</a:t>
            </a:r>
            <a:endParaRPr lang="en-US" sz="1200" dirty="0"/>
          </a:p>
        </p:txBody>
      </p:sp>
      <p:sp>
        <p:nvSpPr>
          <p:cNvPr id="35" name="Shape 33"/>
          <p:cNvSpPr/>
          <p:nvPr/>
        </p:nvSpPr>
        <p:spPr>
          <a:xfrm>
            <a:off x="9537192" y="2551176"/>
            <a:ext cx="384048" cy="384048"/>
          </a:xfrm>
          <a:prstGeom prst="rect">
            <a:avLst/>
          </a:prstGeom>
          <a:solidFill>
            <a:srgbClr val="FFFFFF"/>
          </a:solidFill>
          <a:ln w="7620">
            <a:solidFill>
              <a:srgbClr val="BFC3C7"/>
            </a:solidFill>
            <a:prstDash val="solid"/>
          </a:ln>
        </p:spPr>
      </p:sp>
      <p:sp>
        <p:nvSpPr>
          <p:cNvPr id="36" name="Shape 34"/>
          <p:cNvSpPr/>
          <p:nvPr/>
        </p:nvSpPr>
        <p:spPr>
          <a:xfrm>
            <a:off x="9921240" y="2551176"/>
            <a:ext cx="384048" cy="384048"/>
          </a:xfrm>
          <a:prstGeom prst="rect">
            <a:avLst/>
          </a:prstGeom>
          <a:solidFill>
            <a:srgbClr val="FFFFFF"/>
          </a:solidFill>
          <a:ln w="7620">
            <a:solidFill>
              <a:srgbClr val="BFC3C7"/>
            </a:solidFill>
            <a:prstDash val="solid"/>
          </a:ln>
        </p:spPr>
      </p:sp>
      <p:sp>
        <p:nvSpPr>
          <p:cNvPr id="37" name="Shape 35"/>
          <p:cNvSpPr/>
          <p:nvPr/>
        </p:nvSpPr>
        <p:spPr>
          <a:xfrm>
            <a:off x="10305288" y="2551176"/>
            <a:ext cx="384048" cy="384048"/>
          </a:xfrm>
          <a:prstGeom prst="rect">
            <a:avLst/>
          </a:prstGeom>
          <a:solidFill>
            <a:srgbClr val="FFFFFF"/>
          </a:solidFill>
          <a:ln w="7620">
            <a:solidFill>
              <a:srgbClr val="BFC3C7"/>
            </a:solidFill>
            <a:prstDash val="solid"/>
          </a:ln>
        </p:spPr>
      </p:sp>
      <p:sp>
        <p:nvSpPr>
          <p:cNvPr id="38" name="Text 36"/>
          <p:cNvSpPr/>
          <p:nvPr/>
        </p:nvSpPr>
        <p:spPr>
          <a:xfrm>
            <a:off x="10305288" y="2551176"/>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1</a:t>
            </a:r>
            <a:endParaRPr lang="en-US" sz="1200" dirty="0"/>
          </a:p>
        </p:txBody>
      </p:sp>
      <p:sp>
        <p:nvSpPr>
          <p:cNvPr id="39" name="Shape 37"/>
          <p:cNvSpPr/>
          <p:nvPr/>
        </p:nvSpPr>
        <p:spPr>
          <a:xfrm>
            <a:off x="10689336" y="2551176"/>
            <a:ext cx="384048" cy="384048"/>
          </a:xfrm>
          <a:prstGeom prst="rect">
            <a:avLst/>
          </a:prstGeom>
          <a:solidFill>
            <a:srgbClr val="FFFFFF"/>
          </a:solidFill>
          <a:ln w="7620">
            <a:solidFill>
              <a:srgbClr val="BFC3C7"/>
            </a:solidFill>
            <a:prstDash val="solid"/>
          </a:ln>
        </p:spPr>
      </p:sp>
      <p:sp>
        <p:nvSpPr>
          <p:cNvPr id="40" name="Shape 38"/>
          <p:cNvSpPr/>
          <p:nvPr/>
        </p:nvSpPr>
        <p:spPr>
          <a:xfrm>
            <a:off x="11073384" y="2551176"/>
            <a:ext cx="384048" cy="384048"/>
          </a:xfrm>
          <a:prstGeom prst="rect">
            <a:avLst/>
          </a:prstGeom>
          <a:solidFill>
            <a:srgbClr val="FFFFFF"/>
          </a:solidFill>
          <a:ln w="7620">
            <a:solidFill>
              <a:srgbClr val="BFC3C7"/>
            </a:solidFill>
            <a:prstDash val="solid"/>
          </a:ln>
        </p:spPr>
      </p:sp>
      <p:sp>
        <p:nvSpPr>
          <p:cNvPr id="41" name="Shape 39"/>
          <p:cNvSpPr/>
          <p:nvPr/>
        </p:nvSpPr>
        <p:spPr>
          <a:xfrm>
            <a:off x="8001000" y="2935224"/>
            <a:ext cx="384048" cy="384048"/>
          </a:xfrm>
          <a:prstGeom prst="rect">
            <a:avLst/>
          </a:prstGeom>
          <a:solidFill>
            <a:srgbClr val="FFFFFF"/>
          </a:solidFill>
          <a:ln w="7620">
            <a:solidFill>
              <a:srgbClr val="BFC3C7"/>
            </a:solidFill>
            <a:prstDash val="solid"/>
          </a:ln>
        </p:spPr>
      </p:sp>
      <p:sp>
        <p:nvSpPr>
          <p:cNvPr id="42" name="Text 40"/>
          <p:cNvSpPr/>
          <p:nvPr/>
        </p:nvSpPr>
        <p:spPr>
          <a:xfrm>
            <a:off x="8001000" y="2935224"/>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1</a:t>
            </a:r>
            <a:endParaRPr lang="en-US" sz="1200" dirty="0"/>
          </a:p>
        </p:txBody>
      </p:sp>
      <p:sp>
        <p:nvSpPr>
          <p:cNvPr id="43" name="Shape 41"/>
          <p:cNvSpPr/>
          <p:nvPr/>
        </p:nvSpPr>
        <p:spPr>
          <a:xfrm>
            <a:off x="8385048" y="2935224"/>
            <a:ext cx="384048" cy="384048"/>
          </a:xfrm>
          <a:prstGeom prst="rect">
            <a:avLst/>
          </a:prstGeom>
          <a:solidFill>
            <a:srgbClr val="FFFFFF"/>
          </a:solidFill>
          <a:ln w="7620">
            <a:solidFill>
              <a:srgbClr val="BFC3C7"/>
            </a:solidFill>
            <a:prstDash val="solid"/>
          </a:ln>
        </p:spPr>
      </p:sp>
      <p:sp>
        <p:nvSpPr>
          <p:cNvPr id="44" name="Shape 42"/>
          <p:cNvSpPr/>
          <p:nvPr/>
        </p:nvSpPr>
        <p:spPr>
          <a:xfrm>
            <a:off x="8769096" y="2935224"/>
            <a:ext cx="384048" cy="384048"/>
          </a:xfrm>
          <a:prstGeom prst="rect">
            <a:avLst/>
          </a:prstGeom>
          <a:solidFill>
            <a:srgbClr val="FFFFFF"/>
          </a:solidFill>
          <a:ln w="7620">
            <a:solidFill>
              <a:srgbClr val="BFC3C7"/>
            </a:solidFill>
            <a:prstDash val="solid"/>
          </a:ln>
        </p:spPr>
      </p:sp>
      <p:sp>
        <p:nvSpPr>
          <p:cNvPr id="45" name="Text 43"/>
          <p:cNvSpPr/>
          <p:nvPr/>
        </p:nvSpPr>
        <p:spPr>
          <a:xfrm>
            <a:off x="8769096" y="2935224"/>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3</a:t>
            </a:r>
            <a:endParaRPr lang="en-US" sz="1200" dirty="0"/>
          </a:p>
        </p:txBody>
      </p:sp>
      <p:sp>
        <p:nvSpPr>
          <p:cNvPr id="46" name="Shape 44"/>
          <p:cNvSpPr/>
          <p:nvPr/>
        </p:nvSpPr>
        <p:spPr>
          <a:xfrm>
            <a:off x="9153144" y="2935224"/>
            <a:ext cx="384048" cy="384048"/>
          </a:xfrm>
          <a:prstGeom prst="rect">
            <a:avLst/>
          </a:prstGeom>
          <a:solidFill>
            <a:srgbClr val="FFFFFF"/>
          </a:solidFill>
          <a:ln w="7620">
            <a:solidFill>
              <a:srgbClr val="BFC3C7"/>
            </a:solidFill>
            <a:prstDash val="solid"/>
          </a:ln>
        </p:spPr>
      </p:sp>
      <p:sp>
        <p:nvSpPr>
          <p:cNvPr id="47" name="Text 45"/>
          <p:cNvSpPr/>
          <p:nvPr/>
        </p:nvSpPr>
        <p:spPr>
          <a:xfrm>
            <a:off x="9153144" y="2935224"/>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8</a:t>
            </a:r>
            <a:endParaRPr lang="en-US" sz="1200" dirty="0"/>
          </a:p>
        </p:txBody>
      </p:sp>
      <p:sp>
        <p:nvSpPr>
          <p:cNvPr id="48" name="Shape 46"/>
          <p:cNvSpPr/>
          <p:nvPr/>
        </p:nvSpPr>
        <p:spPr>
          <a:xfrm>
            <a:off x="9537192" y="2935224"/>
            <a:ext cx="384048" cy="384048"/>
          </a:xfrm>
          <a:prstGeom prst="rect">
            <a:avLst/>
          </a:prstGeom>
          <a:solidFill>
            <a:srgbClr val="FFFFFF"/>
          </a:solidFill>
          <a:ln w="7620">
            <a:solidFill>
              <a:srgbClr val="BFC3C7"/>
            </a:solidFill>
            <a:prstDash val="solid"/>
          </a:ln>
        </p:spPr>
      </p:sp>
      <p:sp>
        <p:nvSpPr>
          <p:cNvPr id="49" name="Shape 47"/>
          <p:cNvSpPr/>
          <p:nvPr/>
        </p:nvSpPr>
        <p:spPr>
          <a:xfrm>
            <a:off x="9921240" y="2935224"/>
            <a:ext cx="384048" cy="384048"/>
          </a:xfrm>
          <a:prstGeom prst="rect">
            <a:avLst/>
          </a:prstGeom>
          <a:solidFill>
            <a:srgbClr val="FFFFFF"/>
          </a:solidFill>
          <a:ln w="7620">
            <a:solidFill>
              <a:srgbClr val="BFC3C7"/>
            </a:solidFill>
            <a:prstDash val="solid"/>
          </a:ln>
        </p:spPr>
      </p:sp>
      <p:sp>
        <p:nvSpPr>
          <p:cNvPr id="50" name="Shape 48"/>
          <p:cNvSpPr/>
          <p:nvPr/>
        </p:nvSpPr>
        <p:spPr>
          <a:xfrm>
            <a:off x="10305288" y="2935224"/>
            <a:ext cx="384048" cy="384048"/>
          </a:xfrm>
          <a:prstGeom prst="rect">
            <a:avLst/>
          </a:prstGeom>
          <a:solidFill>
            <a:srgbClr val="FFFFFF"/>
          </a:solidFill>
          <a:ln w="7620">
            <a:solidFill>
              <a:srgbClr val="BFC3C7"/>
            </a:solidFill>
            <a:prstDash val="solid"/>
          </a:ln>
        </p:spPr>
      </p:sp>
      <p:sp>
        <p:nvSpPr>
          <p:cNvPr id="51" name="Text 49"/>
          <p:cNvSpPr/>
          <p:nvPr/>
        </p:nvSpPr>
        <p:spPr>
          <a:xfrm>
            <a:off x="10305288" y="2935224"/>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9</a:t>
            </a:r>
            <a:endParaRPr lang="en-US" sz="1200" dirty="0"/>
          </a:p>
        </p:txBody>
      </p:sp>
      <p:sp>
        <p:nvSpPr>
          <p:cNvPr id="52" name="Shape 50"/>
          <p:cNvSpPr/>
          <p:nvPr/>
        </p:nvSpPr>
        <p:spPr>
          <a:xfrm>
            <a:off x="10689336" y="2935224"/>
            <a:ext cx="384048" cy="384048"/>
          </a:xfrm>
          <a:prstGeom prst="rect">
            <a:avLst/>
          </a:prstGeom>
          <a:solidFill>
            <a:srgbClr val="FFFFFF"/>
          </a:solidFill>
          <a:ln w="7620">
            <a:solidFill>
              <a:srgbClr val="BFC3C7"/>
            </a:solidFill>
            <a:prstDash val="solid"/>
          </a:ln>
        </p:spPr>
      </p:sp>
      <p:sp>
        <p:nvSpPr>
          <p:cNvPr id="53" name="Shape 51"/>
          <p:cNvSpPr/>
          <p:nvPr/>
        </p:nvSpPr>
        <p:spPr>
          <a:xfrm>
            <a:off x="11073384" y="2935224"/>
            <a:ext cx="384048" cy="384048"/>
          </a:xfrm>
          <a:prstGeom prst="rect">
            <a:avLst/>
          </a:prstGeom>
          <a:solidFill>
            <a:srgbClr val="FFFFFF"/>
          </a:solidFill>
          <a:ln w="7620">
            <a:solidFill>
              <a:srgbClr val="BFC3C7"/>
            </a:solidFill>
            <a:prstDash val="solid"/>
          </a:ln>
        </p:spPr>
      </p:sp>
      <p:sp>
        <p:nvSpPr>
          <p:cNvPr id="54" name="Shape 52"/>
          <p:cNvSpPr/>
          <p:nvPr/>
        </p:nvSpPr>
        <p:spPr>
          <a:xfrm>
            <a:off x="8001000" y="3319272"/>
            <a:ext cx="384048" cy="384048"/>
          </a:xfrm>
          <a:prstGeom prst="rect">
            <a:avLst/>
          </a:prstGeom>
          <a:solidFill>
            <a:srgbClr val="FFFFFF"/>
          </a:solidFill>
          <a:ln w="7620">
            <a:solidFill>
              <a:srgbClr val="BFC3C7"/>
            </a:solidFill>
            <a:prstDash val="solid"/>
          </a:ln>
        </p:spPr>
      </p:sp>
      <p:sp>
        <p:nvSpPr>
          <p:cNvPr id="55" name="Text 53"/>
          <p:cNvSpPr/>
          <p:nvPr/>
        </p:nvSpPr>
        <p:spPr>
          <a:xfrm>
            <a:off x="8001000" y="3319272"/>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6</a:t>
            </a:r>
            <a:endParaRPr lang="en-US" sz="1200" dirty="0"/>
          </a:p>
        </p:txBody>
      </p:sp>
      <p:sp>
        <p:nvSpPr>
          <p:cNvPr id="56" name="Shape 54"/>
          <p:cNvSpPr/>
          <p:nvPr/>
        </p:nvSpPr>
        <p:spPr>
          <a:xfrm>
            <a:off x="8385048" y="3319272"/>
            <a:ext cx="384048" cy="384048"/>
          </a:xfrm>
          <a:prstGeom prst="rect">
            <a:avLst/>
          </a:prstGeom>
          <a:solidFill>
            <a:srgbClr val="FFFFFF"/>
          </a:solidFill>
          <a:ln w="7620">
            <a:solidFill>
              <a:srgbClr val="BFC3C7"/>
            </a:solidFill>
            <a:prstDash val="solid"/>
          </a:ln>
        </p:spPr>
      </p:sp>
      <p:sp>
        <p:nvSpPr>
          <p:cNvPr id="57" name="Shape 55"/>
          <p:cNvSpPr/>
          <p:nvPr/>
        </p:nvSpPr>
        <p:spPr>
          <a:xfrm>
            <a:off x="8769096" y="3319272"/>
            <a:ext cx="384048" cy="384048"/>
          </a:xfrm>
          <a:prstGeom prst="rect">
            <a:avLst/>
          </a:prstGeom>
          <a:solidFill>
            <a:srgbClr val="FFFFFF"/>
          </a:solidFill>
          <a:ln w="7620">
            <a:solidFill>
              <a:srgbClr val="BFC3C7"/>
            </a:solidFill>
            <a:prstDash val="solid"/>
          </a:ln>
        </p:spPr>
      </p:sp>
      <p:sp>
        <p:nvSpPr>
          <p:cNvPr id="58" name="Text 56"/>
          <p:cNvSpPr/>
          <p:nvPr/>
        </p:nvSpPr>
        <p:spPr>
          <a:xfrm>
            <a:off x="8769096" y="3319272"/>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8</a:t>
            </a:r>
            <a:endParaRPr lang="en-US" sz="1200" dirty="0"/>
          </a:p>
        </p:txBody>
      </p:sp>
      <p:sp>
        <p:nvSpPr>
          <p:cNvPr id="59" name="Shape 57"/>
          <p:cNvSpPr/>
          <p:nvPr/>
        </p:nvSpPr>
        <p:spPr>
          <a:xfrm>
            <a:off x="9153144" y="3319272"/>
            <a:ext cx="384048" cy="384048"/>
          </a:xfrm>
          <a:prstGeom prst="rect">
            <a:avLst/>
          </a:prstGeom>
          <a:solidFill>
            <a:srgbClr val="FFFFFF"/>
          </a:solidFill>
          <a:ln w="7620">
            <a:solidFill>
              <a:srgbClr val="BFC3C7"/>
            </a:solidFill>
            <a:prstDash val="solid"/>
          </a:ln>
        </p:spPr>
      </p:sp>
      <p:sp>
        <p:nvSpPr>
          <p:cNvPr id="60" name="Shape 58"/>
          <p:cNvSpPr/>
          <p:nvPr/>
        </p:nvSpPr>
        <p:spPr>
          <a:xfrm>
            <a:off x="9537192" y="3319272"/>
            <a:ext cx="384048" cy="384048"/>
          </a:xfrm>
          <a:prstGeom prst="rect">
            <a:avLst/>
          </a:prstGeom>
          <a:solidFill>
            <a:srgbClr val="FFFFFF"/>
          </a:solidFill>
          <a:ln w="7620">
            <a:solidFill>
              <a:srgbClr val="BFC3C7"/>
            </a:solidFill>
            <a:prstDash val="solid"/>
          </a:ln>
        </p:spPr>
      </p:sp>
      <p:sp>
        <p:nvSpPr>
          <p:cNvPr id="61" name="Shape 59"/>
          <p:cNvSpPr/>
          <p:nvPr/>
        </p:nvSpPr>
        <p:spPr>
          <a:xfrm>
            <a:off x="9921240" y="3319272"/>
            <a:ext cx="384048" cy="384048"/>
          </a:xfrm>
          <a:prstGeom prst="rect">
            <a:avLst/>
          </a:prstGeom>
          <a:solidFill>
            <a:srgbClr val="FFFFFF"/>
          </a:solidFill>
          <a:ln w="7620">
            <a:solidFill>
              <a:srgbClr val="BFC3C7"/>
            </a:solidFill>
            <a:prstDash val="solid"/>
          </a:ln>
        </p:spPr>
      </p:sp>
      <p:sp>
        <p:nvSpPr>
          <p:cNvPr id="62" name="Shape 60"/>
          <p:cNvSpPr/>
          <p:nvPr/>
        </p:nvSpPr>
        <p:spPr>
          <a:xfrm>
            <a:off x="10305288" y="3319272"/>
            <a:ext cx="384048" cy="384048"/>
          </a:xfrm>
          <a:prstGeom prst="rect">
            <a:avLst/>
          </a:prstGeom>
          <a:solidFill>
            <a:srgbClr val="FFFFFF"/>
          </a:solidFill>
          <a:ln w="7620">
            <a:solidFill>
              <a:srgbClr val="BFC3C7"/>
            </a:solidFill>
            <a:prstDash val="solid"/>
          </a:ln>
        </p:spPr>
      </p:sp>
      <p:sp>
        <p:nvSpPr>
          <p:cNvPr id="63" name="Text 61"/>
          <p:cNvSpPr/>
          <p:nvPr/>
        </p:nvSpPr>
        <p:spPr>
          <a:xfrm>
            <a:off x="10305288" y="3319272"/>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4</a:t>
            </a:r>
            <a:endParaRPr lang="en-US" sz="1200" dirty="0"/>
          </a:p>
        </p:txBody>
      </p:sp>
      <p:sp>
        <p:nvSpPr>
          <p:cNvPr id="64" name="Shape 62"/>
          <p:cNvSpPr/>
          <p:nvPr/>
        </p:nvSpPr>
        <p:spPr>
          <a:xfrm>
            <a:off x="10689336" y="3319272"/>
            <a:ext cx="384048" cy="384048"/>
          </a:xfrm>
          <a:prstGeom prst="rect">
            <a:avLst/>
          </a:prstGeom>
          <a:solidFill>
            <a:srgbClr val="FFFFFF"/>
          </a:solidFill>
          <a:ln w="7620">
            <a:solidFill>
              <a:srgbClr val="BFC3C7"/>
            </a:solidFill>
            <a:prstDash val="solid"/>
          </a:ln>
        </p:spPr>
      </p:sp>
      <p:sp>
        <p:nvSpPr>
          <p:cNvPr id="65" name="Shape 63"/>
          <p:cNvSpPr/>
          <p:nvPr/>
        </p:nvSpPr>
        <p:spPr>
          <a:xfrm>
            <a:off x="11073384" y="3319272"/>
            <a:ext cx="384048" cy="384048"/>
          </a:xfrm>
          <a:prstGeom prst="rect">
            <a:avLst/>
          </a:prstGeom>
          <a:solidFill>
            <a:srgbClr val="FFFFFF"/>
          </a:solidFill>
          <a:ln w="7620">
            <a:solidFill>
              <a:srgbClr val="BFC3C7"/>
            </a:solidFill>
            <a:prstDash val="solid"/>
          </a:ln>
        </p:spPr>
      </p:sp>
      <p:sp>
        <p:nvSpPr>
          <p:cNvPr id="66" name="Text 64"/>
          <p:cNvSpPr/>
          <p:nvPr/>
        </p:nvSpPr>
        <p:spPr>
          <a:xfrm>
            <a:off x="11073384" y="3319272"/>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3</a:t>
            </a:r>
            <a:endParaRPr lang="en-US" sz="1200" dirty="0"/>
          </a:p>
        </p:txBody>
      </p:sp>
      <p:sp>
        <p:nvSpPr>
          <p:cNvPr id="67" name="Shape 65"/>
          <p:cNvSpPr/>
          <p:nvPr/>
        </p:nvSpPr>
        <p:spPr>
          <a:xfrm>
            <a:off x="8001000" y="3703320"/>
            <a:ext cx="384048" cy="384048"/>
          </a:xfrm>
          <a:prstGeom prst="rect">
            <a:avLst/>
          </a:prstGeom>
          <a:solidFill>
            <a:srgbClr val="FFFFFF"/>
          </a:solidFill>
          <a:ln w="7620">
            <a:solidFill>
              <a:srgbClr val="BFC3C7"/>
            </a:solidFill>
            <a:prstDash val="solid"/>
          </a:ln>
        </p:spPr>
      </p:sp>
      <p:sp>
        <p:nvSpPr>
          <p:cNvPr id="68" name="Shape 66"/>
          <p:cNvSpPr/>
          <p:nvPr/>
        </p:nvSpPr>
        <p:spPr>
          <a:xfrm>
            <a:off x="8385048" y="3703320"/>
            <a:ext cx="384048" cy="384048"/>
          </a:xfrm>
          <a:prstGeom prst="rect">
            <a:avLst/>
          </a:prstGeom>
          <a:solidFill>
            <a:srgbClr val="FFFFFF"/>
          </a:solidFill>
          <a:ln w="7620">
            <a:solidFill>
              <a:srgbClr val="BFC3C7"/>
            </a:solidFill>
            <a:prstDash val="solid"/>
          </a:ln>
        </p:spPr>
      </p:sp>
      <p:sp>
        <p:nvSpPr>
          <p:cNvPr id="69" name="Shape 67"/>
          <p:cNvSpPr/>
          <p:nvPr/>
        </p:nvSpPr>
        <p:spPr>
          <a:xfrm>
            <a:off x="8769096" y="3703320"/>
            <a:ext cx="384048" cy="384048"/>
          </a:xfrm>
          <a:prstGeom prst="rect">
            <a:avLst/>
          </a:prstGeom>
          <a:solidFill>
            <a:srgbClr val="FFFFFF"/>
          </a:solidFill>
          <a:ln w="7620">
            <a:solidFill>
              <a:srgbClr val="BFC3C7"/>
            </a:solidFill>
            <a:prstDash val="solid"/>
          </a:ln>
        </p:spPr>
      </p:sp>
      <p:sp>
        <p:nvSpPr>
          <p:cNvPr id="70" name="Text 68"/>
          <p:cNvSpPr/>
          <p:nvPr/>
        </p:nvSpPr>
        <p:spPr>
          <a:xfrm>
            <a:off x="8769096" y="3703320"/>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2</a:t>
            </a:r>
            <a:endParaRPr lang="en-US" sz="1200" dirty="0"/>
          </a:p>
        </p:txBody>
      </p:sp>
      <p:sp>
        <p:nvSpPr>
          <p:cNvPr id="71" name="Shape 69"/>
          <p:cNvSpPr/>
          <p:nvPr/>
        </p:nvSpPr>
        <p:spPr>
          <a:xfrm>
            <a:off x="9153144" y="3703320"/>
            <a:ext cx="384048" cy="384048"/>
          </a:xfrm>
          <a:prstGeom prst="rect">
            <a:avLst/>
          </a:prstGeom>
          <a:solidFill>
            <a:srgbClr val="FFFFFF"/>
          </a:solidFill>
          <a:ln w="7620">
            <a:solidFill>
              <a:srgbClr val="BFC3C7"/>
            </a:solidFill>
            <a:prstDash val="solid"/>
          </a:ln>
        </p:spPr>
      </p:sp>
      <p:sp>
        <p:nvSpPr>
          <p:cNvPr id="72" name="Shape 70"/>
          <p:cNvSpPr/>
          <p:nvPr/>
        </p:nvSpPr>
        <p:spPr>
          <a:xfrm>
            <a:off x="9537192" y="3703320"/>
            <a:ext cx="384048" cy="384048"/>
          </a:xfrm>
          <a:prstGeom prst="rect">
            <a:avLst/>
          </a:prstGeom>
          <a:solidFill>
            <a:srgbClr val="FFFFFF"/>
          </a:solidFill>
          <a:ln w="7620">
            <a:solidFill>
              <a:srgbClr val="BFC3C7"/>
            </a:solidFill>
            <a:prstDash val="solid"/>
          </a:ln>
        </p:spPr>
      </p:sp>
      <p:sp>
        <p:nvSpPr>
          <p:cNvPr id="73" name="Shape 71"/>
          <p:cNvSpPr/>
          <p:nvPr/>
        </p:nvSpPr>
        <p:spPr>
          <a:xfrm>
            <a:off x="9921240" y="3703320"/>
            <a:ext cx="384048" cy="384048"/>
          </a:xfrm>
          <a:prstGeom prst="rect">
            <a:avLst/>
          </a:prstGeom>
          <a:solidFill>
            <a:srgbClr val="FFFFFF"/>
          </a:solidFill>
          <a:ln w="7620">
            <a:solidFill>
              <a:srgbClr val="BFC3C7"/>
            </a:solidFill>
            <a:prstDash val="solid"/>
          </a:ln>
        </p:spPr>
      </p:sp>
      <p:sp>
        <p:nvSpPr>
          <p:cNvPr id="74" name="Text 72"/>
          <p:cNvSpPr/>
          <p:nvPr/>
        </p:nvSpPr>
        <p:spPr>
          <a:xfrm>
            <a:off x="9921240" y="3703320"/>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9</a:t>
            </a:r>
            <a:endParaRPr lang="en-US" sz="1200" dirty="0"/>
          </a:p>
        </p:txBody>
      </p:sp>
      <p:sp>
        <p:nvSpPr>
          <p:cNvPr id="75" name="Shape 73"/>
          <p:cNvSpPr/>
          <p:nvPr/>
        </p:nvSpPr>
        <p:spPr>
          <a:xfrm>
            <a:off x="10305288" y="3703320"/>
            <a:ext cx="384048" cy="384048"/>
          </a:xfrm>
          <a:prstGeom prst="rect">
            <a:avLst/>
          </a:prstGeom>
          <a:solidFill>
            <a:srgbClr val="FFFFFF"/>
          </a:solidFill>
          <a:ln w="7620">
            <a:solidFill>
              <a:srgbClr val="BFC3C7"/>
            </a:solidFill>
            <a:prstDash val="solid"/>
          </a:ln>
        </p:spPr>
      </p:sp>
      <p:sp>
        <p:nvSpPr>
          <p:cNvPr id="76" name="Text 74"/>
          <p:cNvSpPr/>
          <p:nvPr/>
        </p:nvSpPr>
        <p:spPr>
          <a:xfrm>
            <a:off x="10305288" y="3703320"/>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5</a:t>
            </a:r>
            <a:endParaRPr lang="en-US" sz="1200" dirty="0"/>
          </a:p>
        </p:txBody>
      </p:sp>
      <p:sp>
        <p:nvSpPr>
          <p:cNvPr id="77" name="Shape 75"/>
          <p:cNvSpPr/>
          <p:nvPr/>
        </p:nvSpPr>
        <p:spPr>
          <a:xfrm>
            <a:off x="10689336" y="3703320"/>
            <a:ext cx="384048" cy="384048"/>
          </a:xfrm>
          <a:prstGeom prst="rect">
            <a:avLst/>
          </a:prstGeom>
          <a:solidFill>
            <a:srgbClr val="FFFFFF"/>
          </a:solidFill>
          <a:ln w="7620">
            <a:solidFill>
              <a:srgbClr val="BFC3C7"/>
            </a:solidFill>
            <a:prstDash val="solid"/>
          </a:ln>
        </p:spPr>
      </p:sp>
      <p:sp>
        <p:nvSpPr>
          <p:cNvPr id="78" name="Shape 76"/>
          <p:cNvSpPr/>
          <p:nvPr/>
        </p:nvSpPr>
        <p:spPr>
          <a:xfrm>
            <a:off x="11073384" y="3703320"/>
            <a:ext cx="384048" cy="384048"/>
          </a:xfrm>
          <a:prstGeom prst="rect">
            <a:avLst/>
          </a:prstGeom>
          <a:solidFill>
            <a:srgbClr val="FFFFFF"/>
          </a:solidFill>
          <a:ln w="7620">
            <a:solidFill>
              <a:srgbClr val="BFC3C7"/>
            </a:solidFill>
            <a:prstDash val="solid"/>
          </a:ln>
        </p:spPr>
      </p:sp>
      <p:sp>
        <p:nvSpPr>
          <p:cNvPr id="79" name="Text 77"/>
          <p:cNvSpPr/>
          <p:nvPr/>
        </p:nvSpPr>
        <p:spPr>
          <a:xfrm>
            <a:off x="11073384" y="3703320"/>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1</a:t>
            </a:r>
            <a:endParaRPr lang="en-US" sz="1200" dirty="0"/>
          </a:p>
        </p:txBody>
      </p:sp>
      <p:sp>
        <p:nvSpPr>
          <p:cNvPr id="80" name="Shape 78"/>
          <p:cNvSpPr/>
          <p:nvPr/>
        </p:nvSpPr>
        <p:spPr>
          <a:xfrm>
            <a:off x="8001000" y="4087368"/>
            <a:ext cx="384048" cy="384048"/>
          </a:xfrm>
          <a:prstGeom prst="rect">
            <a:avLst/>
          </a:prstGeom>
          <a:solidFill>
            <a:srgbClr val="FFFFFF"/>
          </a:solidFill>
          <a:ln w="7620">
            <a:solidFill>
              <a:srgbClr val="BFC3C7"/>
            </a:solidFill>
            <a:prstDash val="solid"/>
          </a:ln>
        </p:spPr>
      </p:sp>
      <p:sp>
        <p:nvSpPr>
          <p:cNvPr id="81" name="Shape 79"/>
          <p:cNvSpPr/>
          <p:nvPr/>
        </p:nvSpPr>
        <p:spPr>
          <a:xfrm>
            <a:off x="8385048" y="4087368"/>
            <a:ext cx="384048" cy="384048"/>
          </a:xfrm>
          <a:prstGeom prst="rect">
            <a:avLst/>
          </a:prstGeom>
          <a:solidFill>
            <a:srgbClr val="FFFFFF"/>
          </a:solidFill>
          <a:ln w="7620">
            <a:solidFill>
              <a:srgbClr val="BFC3C7"/>
            </a:solidFill>
            <a:prstDash val="solid"/>
          </a:ln>
        </p:spPr>
      </p:sp>
      <p:sp>
        <p:nvSpPr>
          <p:cNvPr id="82" name="Shape 80"/>
          <p:cNvSpPr/>
          <p:nvPr/>
        </p:nvSpPr>
        <p:spPr>
          <a:xfrm>
            <a:off x="8769096" y="4087368"/>
            <a:ext cx="384048" cy="384048"/>
          </a:xfrm>
          <a:prstGeom prst="rect">
            <a:avLst/>
          </a:prstGeom>
          <a:solidFill>
            <a:srgbClr val="FFFFFF"/>
          </a:solidFill>
          <a:ln w="7620">
            <a:solidFill>
              <a:srgbClr val="BFC3C7"/>
            </a:solidFill>
            <a:prstDash val="solid"/>
          </a:ln>
        </p:spPr>
      </p:sp>
      <p:sp>
        <p:nvSpPr>
          <p:cNvPr id="83" name="Text 81"/>
          <p:cNvSpPr/>
          <p:nvPr/>
        </p:nvSpPr>
        <p:spPr>
          <a:xfrm>
            <a:off x="8769096" y="4087368"/>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7</a:t>
            </a:r>
            <a:endParaRPr lang="en-US" sz="1200" dirty="0"/>
          </a:p>
        </p:txBody>
      </p:sp>
      <p:sp>
        <p:nvSpPr>
          <p:cNvPr id="84" name="Shape 82"/>
          <p:cNvSpPr/>
          <p:nvPr/>
        </p:nvSpPr>
        <p:spPr>
          <a:xfrm>
            <a:off x="9153144" y="4087368"/>
            <a:ext cx="384048" cy="384048"/>
          </a:xfrm>
          <a:prstGeom prst="rect">
            <a:avLst/>
          </a:prstGeom>
          <a:solidFill>
            <a:srgbClr val="FFFFFF"/>
          </a:solidFill>
          <a:ln w="7620">
            <a:solidFill>
              <a:srgbClr val="BFC3C7"/>
            </a:solidFill>
            <a:prstDash val="solid"/>
          </a:ln>
        </p:spPr>
      </p:sp>
      <p:sp>
        <p:nvSpPr>
          <p:cNvPr id="85" name="Shape 83"/>
          <p:cNvSpPr/>
          <p:nvPr/>
        </p:nvSpPr>
        <p:spPr>
          <a:xfrm>
            <a:off x="9537192" y="4087368"/>
            <a:ext cx="384048" cy="384048"/>
          </a:xfrm>
          <a:prstGeom prst="rect">
            <a:avLst/>
          </a:prstGeom>
          <a:solidFill>
            <a:srgbClr val="FFFFFF"/>
          </a:solidFill>
          <a:ln w="7620">
            <a:solidFill>
              <a:srgbClr val="BFC3C7"/>
            </a:solidFill>
            <a:prstDash val="solid"/>
          </a:ln>
        </p:spPr>
      </p:sp>
      <p:sp>
        <p:nvSpPr>
          <p:cNvPr id="86" name="Shape 84"/>
          <p:cNvSpPr/>
          <p:nvPr/>
        </p:nvSpPr>
        <p:spPr>
          <a:xfrm>
            <a:off x="9921240" y="4087368"/>
            <a:ext cx="384048" cy="384048"/>
          </a:xfrm>
          <a:prstGeom prst="rect">
            <a:avLst/>
          </a:prstGeom>
          <a:solidFill>
            <a:srgbClr val="FFFFFF"/>
          </a:solidFill>
          <a:ln w="7620">
            <a:solidFill>
              <a:srgbClr val="BFC3C7"/>
            </a:solidFill>
            <a:prstDash val="solid"/>
          </a:ln>
        </p:spPr>
      </p:sp>
      <p:sp>
        <p:nvSpPr>
          <p:cNvPr id="87" name="Text 85"/>
          <p:cNvSpPr/>
          <p:nvPr/>
        </p:nvSpPr>
        <p:spPr>
          <a:xfrm>
            <a:off x="9921240" y="4087368"/>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2</a:t>
            </a:r>
            <a:endParaRPr lang="en-US" sz="1200" dirty="0"/>
          </a:p>
        </p:txBody>
      </p:sp>
      <p:sp>
        <p:nvSpPr>
          <p:cNvPr id="88" name="Shape 86"/>
          <p:cNvSpPr/>
          <p:nvPr/>
        </p:nvSpPr>
        <p:spPr>
          <a:xfrm>
            <a:off x="10305288" y="4087368"/>
            <a:ext cx="384048" cy="384048"/>
          </a:xfrm>
          <a:prstGeom prst="rect">
            <a:avLst/>
          </a:prstGeom>
          <a:solidFill>
            <a:srgbClr val="FFFFFF"/>
          </a:solidFill>
          <a:ln w="7620">
            <a:solidFill>
              <a:srgbClr val="BFC3C7"/>
            </a:solidFill>
            <a:prstDash val="solid"/>
          </a:ln>
        </p:spPr>
      </p:sp>
      <p:sp>
        <p:nvSpPr>
          <p:cNvPr id="89" name="Shape 87"/>
          <p:cNvSpPr/>
          <p:nvPr/>
        </p:nvSpPr>
        <p:spPr>
          <a:xfrm>
            <a:off x="10689336" y="4087368"/>
            <a:ext cx="384048" cy="384048"/>
          </a:xfrm>
          <a:prstGeom prst="rect">
            <a:avLst/>
          </a:prstGeom>
          <a:solidFill>
            <a:srgbClr val="FFFFFF"/>
          </a:solidFill>
          <a:ln w="7620">
            <a:solidFill>
              <a:srgbClr val="BFC3C7"/>
            </a:solidFill>
            <a:prstDash val="solid"/>
          </a:ln>
        </p:spPr>
      </p:sp>
      <p:sp>
        <p:nvSpPr>
          <p:cNvPr id="90" name="Shape 88"/>
          <p:cNvSpPr/>
          <p:nvPr/>
        </p:nvSpPr>
        <p:spPr>
          <a:xfrm>
            <a:off x="11073384" y="4087368"/>
            <a:ext cx="384048" cy="384048"/>
          </a:xfrm>
          <a:prstGeom prst="rect">
            <a:avLst/>
          </a:prstGeom>
          <a:solidFill>
            <a:srgbClr val="FFFFFF"/>
          </a:solidFill>
          <a:ln w="7620">
            <a:solidFill>
              <a:srgbClr val="BFC3C7"/>
            </a:solidFill>
            <a:prstDash val="solid"/>
          </a:ln>
        </p:spPr>
      </p:sp>
      <p:sp>
        <p:nvSpPr>
          <p:cNvPr id="91" name="Shape 89"/>
          <p:cNvSpPr/>
          <p:nvPr/>
        </p:nvSpPr>
        <p:spPr>
          <a:xfrm>
            <a:off x="8001000" y="4471416"/>
            <a:ext cx="384048" cy="384048"/>
          </a:xfrm>
          <a:prstGeom prst="rect">
            <a:avLst/>
          </a:prstGeom>
          <a:solidFill>
            <a:srgbClr val="FFFFFF"/>
          </a:solidFill>
          <a:ln w="7620">
            <a:solidFill>
              <a:srgbClr val="BFC3C7"/>
            </a:solidFill>
            <a:prstDash val="solid"/>
          </a:ln>
        </p:spPr>
      </p:sp>
      <p:sp>
        <p:nvSpPr>
          <p:cNvPr id="92" name="Shape 90"/>
          <p:cNvSpPr/>
          <p:nvPr/>
        </p:nvSpPr>
        <p:spPr>
          <a:xfrm>
            <a:off x="8385048" y="4471416"/>
            <a:ext cx="384048" cy="384048"/>
          </a:xfrm>
          <a:prstGeom prst="rect">
            <a:avLst/>
          </a:prstGeom>
          <a:solidFill>
            <a:srgbClr val="FFFFFF"/>
          </a:solidFill>
          <a:ln w="7620">
            <a:solidFill>
              <a:srgbClr val="BFC3C7"/>
            </a:solidFill>
            <a:prstDash val="solid"/>
          </a:ln>
        </p:spPr>
      </p:sp>
      <p:sp>
        <p:nvSpPr>
          <p:cNvPr id="93" name="Shape 91"/>
          <p:cNvSpPr/>
          <p:nvPr/>
        </p:nvSpPr>
        <p:spPr>
          <a:xfrm>
            <a:off x="8769096" y="4471416"/>
            <a:ext cx="384048" cy="384048"/>
          </a:xfrm>
          <a:prstGeom prst="rect">
            <a:avLst/>
          </a:prstGeom>
          <a:solidFill>
            <a:srgbClr val="FFFFFF"/>
          </a:solidFill>
          <a:ln w="7620">
            <a:solidFill>
              <a:srgbClr val="BFC3C7"/>
            </a:solidFill>
            <a:prstDash val="solid"/>
          </a:ln>
        </p:spPr>
      </p:sp>
      <p:sp>
        <p:nvSpPr>
          <p:cNvPr id="94" name="Shape 92"/>
          <p:cNvSpPr/>
          <p:nvPr/>
        </p:nvSpPr>
        <p:spPr>
          <a:xfrm>
            <a:off x="9153144" y="4471416"/>
            <a:ext cx="384048" cy="384048"/>
          </a:xfrm>
          <a:prstGeom prst="rect">
            <a:avLst/>
          </a:prstGeom>
          <a:solidFill>
            <a:srgbClr val="FFFFFF"/>
          </a:solidFill>
          <a:ln w="7620">
            <a:solidFill>
              <a:srgbClr val="BFC3C7"/>
            </a:solidFill>
            <a:prstDash val="solid"/>
          </a:ln>
        </p:spPr>
      </p:sp>
      <p:sp>
        <p:nvSpPr>
          <p:cNvPr id="95" name="Text 93"/>
          <p:cNvSpPr/>
          <p:nvPr/>
        </p:nvSpPr>
        <p:spPr>
          <a:xfrm>
            <a:off x="9153144" y="4471416"/>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7</a:t>
            </a:r>
            <a:endParaRPr lang="en-US" sz="1200" dirty="0"/>
          </a:p>
        </p:txBody>
      </p:sp>
      <p:sp>
        <p:nvSpPr>
          <p:cNvPr id="96" name="Shape 94"/>
          <p:cNvSpPr/>
          <p:nvPr/>
        </p:nvSpPr>
        <p:spPr>
          <a:xfrm>
            <a:off x="9537192" y="4471416"/>
            <a:ext cx="384048" cy="384048"/>
          </a:xfrm>
          <a:prstGeom prst="rect">
            <a:avLst/>
          </a:prstGeom>
          <a:solidFill>
            <a:srgbClr val="FFFFFF"/>
          </a:solidFill>
          <a:ln w="7620">
            <a:solidFill>
              <a:srgbClr val="BFC3C7"/>
            </a:solidFill>
            <a:prstDash val="solid"/>
          </a:ln>
        </p:spPr>
      </p:sp>
      <p:sp>
        <p:nvSpPr>
          <p:cNvPr id="97" name="Text 95"/>
          <p:cNvSpPr/>
          <p:nvPr/>
        </p:nvSpPr>
        <p:spPr>
          <a:xfrm>
            <a:off x="9537192" y="4471416"/>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8</a:t>
            </a:r>
            <a:endParaRPr lang="en-US" sz="1200" dirty="0"/>
          </a:p>
        </p:txBody>
      </p:sp>
      <p:sp>
        <p:nvSpPr>
          <p:cNvPr id="98" name="Shape 96"/>
          <p:cNvSpPr/>
          <p:nvPr/>
        </p:nvSpPr>
        <p:spPr>
          <a:xfrm>
            <a:off x="9921240" y="4471416"/>
            <a:ext cx="384048" cy="384048"/>
          </a:xfrm>
          <a:prstGeom prst="rect">
            <a:avLst/>
          </a:prstGeom>
          <a:solidFill>
            <a:srgbClr val="FFFFFF"/>
          </a:solidFill>
          <a:ln w="7620">
            <a:solidFill>
              <a:srgbClr val="BFC3C7"/>
            </a:solidFill>
            <a:prstDash val="solid"/>
          </a:ln>
        </p:spPr>
      </p:sp>
      <p:sp>
        <p:nvSpPr>
          <p:cNvPr id="99" name="Shape 97"/>
          <p:cNvSpPr/>
          <p:nvPr/>
        </p:nvSpPr>
        <p:spPr>
          <a:xfrm>
            <a:off x="10305288" y="4471416"/>
            <a:ext cx="384048" cy="384048"/>
          </a:xfrm>
          <a:prstGeom prst="rect">
            <a:avLst/>
          </a:prstGeom>
          <a:solidFill>
            <a:srgbClr val="FFFFFF"/>
          </a:solidFill>
          <a:ln w="7620">
            <a:solidFill>
              <a:srgbClr val="BFC3C7"/>
            </a:solidFill>
            <a:prstDash val="solid"/>
          </a:ln>
        </p:spPr>
      </p:sp>
      <p:sp>
        <p:nvSpPr>
          <p:cNvPr id="100" name="Text 98"/>
          <p:cNvSpPr/>
          <p:nvPr/>
        </p:nvSpPr>
        <p:spPr>
          <a:xfrm>
            <a:off x="10305288" y="4471416"/>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2</a:t>
            </a:r>
            <a:endParaRPr lang="en-US" sz="1200" dirty="0"/>
          </a:p>
        </p:txBody>
      </p:sp>
      <p:sp>
        <p:nvSpPr>
          <p:cNvPr id="101" name="Shape 99"/>
          <p:cNvSpPr/>
          <p:nvPr/>
        </p:nvSpPr>
        <p:spPr>
          <a:xfrm>
            <a:off x="10689336" y="4471416"/>
            <a:ext cx="384048" cy="384048"/>
          </a:xfrm>
          <a:prstGeom prst="rect">
            <a:avLst/>
          </a:prstGeom>
          <a:solidFill>
            <a:srgbClr val="FFFFFF"/>
          </a:solidFill>
          <a:ln w="7620">
            <a:solidFill>
              <a:srgbClr val="BFC3C7"/>
            </a:solidFill>
            <a:prstDash val="solid"/>
          </a:ln>
        </p:spPr>
      </p:sp>
      <p:sp>
        <p:nvSpPr>
          <p:cNvPr id="102" name="Text 100"/>
          <p:cNvSpPr/>
          <p:nvPr/>
        </p:nvSpPr>
        <p:spPr>
          <a:xfrm>
            <a:off x="10689336" y="4471416"/>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6</a:t>
            </a:r>
            <a:endParaRPr lang="en-US" sz="1200" dirty="0"/>
          </a:p>
        </p:txBody>
      </p:sp>
      <p:sp>
        <p:nvSpPr>
          <p:cNvPr id="103" name="Shape 101"/>
          <p:cNvSpPr/>
          <p:nvPr/>
        </p:nvSpPr>
        <p:spPr>
          <a:xfrm>
            <a:off x="11073384" y="4471416"/>
            <a:ext cx="384048" cy="384048"/>
          </a:xfrm>
          <a:prstGeom prst="rect">
            <a:avLst/>
          </a:prstGeom>
          <a:solidFill>
            <a:srgbClr val="FFFFFF"/>
          </a:solidFill>
          <a:ln w="7620">
            <a:solidFill>
              <a:srgbClr val="BFC3C7"/>
            </a:solidFill>
            <a:prstDash val="solid"/>
          </a:ln>
        </p:spPr>
      </p:sp>
      <p:sp>
        <p:nvSpPr>
          <p:cNvPr id="104" name="Shape 102"/>
          <p:cNvSpPr/>
          <p:nvPr/>
        </p:nvSpPr>
        <p:spPr>
          <a:xfrm>
            <a:off x="8001000" y="4855464"/>
            <a:ext cx="384048" cy="384048"/>
          </a:xfrm>
          <a:prstGeom prst="rect">
            <a:avLst/>
          </a:prstGeom>
          <a:solidFill>
            <a:srgbClr val="FFFFFF"/>
          </a:solidFill>
          <a:ln w="7620">
            <a:solidFill>
              <a:srgbClr val="BFC3C7"/>
            </a:solidFill>
            <a:prstDash val="solid"/>
          </a:ln>
        </p:spPr>
      </p:sp>
      <p:sp>
        <p:nvSpPr>
          <p:cNvPr id="105" name="Text 103"/>
          <p:cNvSpPr/>
          <p:nvPr/>
        </p:nvSpPr>
        <p:spPr>
          <a:xfrm>
            <a:off x="8001000" y="4855464"/>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2</a:t>
            </a:r>
            <a:endParaRPr lang="en-US" sz="1200" dirty="0"/>
          </a:p>
        </p:txBody>
      </p:sp>
      <p:sp>
        <p:nvSpPr>
          <p:cNvPr id="106" name="Shape 104"/>
          <p:cNvSpPr/>
          <p:nvPr/>
        </p:nvSpPr>
        <p:spPr>
          <a:xfrm>
            <a:off x="8385048" y="4855464"/>
            <a:ext cx="384048" cy="384048"/>
          </a:xfrm>
          <a:prstGeom prst="rect">
            <a:avLst/>
          </a:prstGeom>
          <a:solidFill>
            <a:srgbClr val="FFFFFF"/>
          </a:solidFill>
          <a:ln w="7620">
            <a:solidFill>
              <a:srgbClr val="BFC3C7"/>
            </a:solidFill>
            <a:prstDash val="solid"/>
          </a:ln>
        </p:spPr>
      </p:sp>
      <p:sp>
        <p:nvSpPr>
          <p:cNvPr id="107" name="Shape 105"/>
          <p:cNvSpPr/>
          <p:nvPr/>
        </p:nvSpPr>
        <p:spPr>
          <a:xfrm>
            <a:off x="8769096" y="4855464"/>
            <a:ext cx="384048" cy="384048"/>
          </a:xfrm>
          <a:prstGeom prst="rect">
            <a:avLst/>
          </a:prstGeom>
          <a:solidFill>
            <a:srgbClr val="FFFFFF"/>
          </a:solidFill>
          <a:ln w="7620">
            <a:solidFill>
              <a:srgbClr val="BFC3C7"/>
            </a:solidFill>
            <a:prstDash val="solid"/>
          </a:ln>
        </p:spPr>
      </p:sp>
      <p:sp>
        <p:nvSpPr>
          <p:cNvPr id="108" name="Shape 106"/>
          <p:cNvSpPr/>
          <p:nvPr/>
        </p:nvSpPr>
        <p:spPr>
          <a:xfrm>
            <a:off x="9153144" y="4855464"/>
            <a:ext cx="384048" cy="384048"/>
          </a:xfrm>
          <a:prstGeom prst="rect">
            <a:avLst/>
          </a:prstGeom>
          <a:solidFill>
            <a:srgbClr val="FFFFFF"/>
          </a:solidFill>
          <a:ln w="7620">
            <a:solidFill>
              <a:srgbClr val="BFC3C7"/>
            </a:solidFill>
            <a:prstDash val="solid"/>
          </a:ln>
        </p:spPr>
      </p:sp>
      <p:sp>
        <p:nvSpPr>
          <p:cNvPr id="109" name="Text 107"/>
          <p:cNvSpPr/>
          <p:nvPr/>
        </p:nvSpPr>
        <p:spPr>
          <a:xfrm>
            <a:off x="9153144" y="4855464"/>
            <a:ext cx="384048" cy="384048"/>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3</a:t>
            </a:r>
            <a:endParaRPr lang="en-US" sz="1200" dirty="0"/>
          </a:p>
        </p:txBody>
      </p:sp>
      <p:sp>
        <p:nvSpPr>
          <p:cNvPr id="110" name="Shape 108"/>
          <p:cNvSpPr/>
          <p:nvPr/>
        </p:nvSpPr>
        <p:spPr>
          <a:xfrm>
            <a:off x="9537192" y="4855464"/>
            <a:ext cx="384048" cy="384048"/>
          </a:xfrm>
          <a:prstGeom prst="rect">
            <a:avLst/>
          </a:prstGeom>
          <a:solidFill>
            <a:srgbClr val="FFFFFF"/>
          </a:solidFill>
          <a:ln w="7620">
            <a:solidFill>
              <a:srgbClr val="BFC3C7"/>
            </a:solidFill>
            <a:prstDash val="solid"/>
          </a:ln>
        </p:spPr>
      </p:sp>
      <p:sp>
        <p:nvSpPr>
          <p:cNvPr id="111" name="Shape 109"/>
          <p:cNvSpPr/>
          <p:nvPr/>
        </p:nvSpPr>
        <p:spPr>
          <a:xfrm>
            <a:off x="9921240" y="4855464"/>
            <a:ext cx="384048" cy="384048"/>
          </a:xfrm>
          <a:prstGeom prst="rect">
            <a:avLst/>
          </a:prstGeom>
          <a:solidFill>
            <a:srgbClr val="FFFFFF"/>
          </a:solidFill>
          <a:ln w="7620">
            <a:solidFill>
              <a:srgbClr val="BFC3C7"/>
            </a:solidFill>
            <a:prstDash val="solid"/>
          </a:ln>
        </p:spPr>
      </p:sp>
      <p:sp>
        <p:nvSpPr>
          <p:cNvPr id="112" name="Shape 110"/>
          <p:cNvSpPr/>
          <p:nvPr/>
        </p:nvSpPr>
        <p:spPr>
          <a:xfrm>
            <a:off x="10305288" y="4855464"/>
            <a:ext cx="384048" cy="384048"/>
          </a:xfrm>
          <a:prstGeom prst="rect">
            <a:avLst/>
          </a:prstGeom>
          <a:solidFill>
            <a:srgbClr val="FFFFFF"/>
          </a:solidFill>
          <a:ln w="7620">
            <a:solidFill>
              <a:srgbClr val="BFC3C7"/>
            </a:solidFill>
            <a:prstDash val="solid"/>
          </a:ln>
        </p:spPr>
      </p:sp>
      <p:sp>
        <p:nvSpPr>
          <p:cNvPr id="113" name="Shape 111"/>
          <p:cNvSpPr/>
          <p:nvPr/>
        </p:nvSpPr>
        <p:spPr>
          <a:xfrm>
            <a:off x="10689336" y="4855464"/>
            <a:ext cx="384048" cy="384048"/>
          </a:xfrm>
          <a:prstGeom prst="rect">
            <a:avLst/>
          </a:prstGeom>
          <a:solidFill>
            <a:srgbClr val="FFFFFF"/>
          </a:solidFill>
          <a:ln w="7620">
            <a:solidFill>
              <a:srgbClr val="BFC3C7"/>
            </a:solidFill>
            <a:prstDash val="solid"/>
          </a:ln>
        </p:spPr>
      </p:sp>
      <p:sp>
        <p:nvSpPr>
          <p:cNvPr id="114" name="Shape 112"/>
          <p:cNvSpPr/>
          <p:nvPr/>
        </p:nvSpPr>
        <p:spPr>
          <a:xfrm>
            <a:off x="11073384" y="4855464"/>
            <a:ext cx="384048" cy="384048"/>
          </a:xfrm>
          <a:prstGeom prst="rect">
            <a:avLst/>
          </a:prstGeom>
          <a:solidFill>
            <a:srgbClr val="FFFFFF"/>
          </a:solidFill>
          <a:ln w="7620">
            <a:solidFill>
              <a:srgbClr val="BFC3C7"/>
            </a:solidFill>
            <a:prstDash val="solid"/>
          </a:ln>
        </p:spPr>
      </p:sp>
      <p:sp>
        <p:nvSpPr>
          <p:cNvPr id="115" name="Shape 113"/>
          <p:cNvSpPr/>
          <p:nvPr/>
        </p:nvSpPr>
        <p:spPr>
          <a:xfrm>
            <a:off x="8001000" y="1783080"/>
            <a:ext cx="914" cy="3456432"/>
          </a:xfrm>
          <a:prstGeom prst="line">
            <a:avLst/>
          </a:prstGeom>
          <a:noFill/>
          <a:ln w="20320">
            <a:solidFill>
              <a:srgbClr val="1C1E21"/>
            </a:solidFill>
            <a:prstDash val="solid"/>
          </a:ln>
        </p:spPr>
      </p:sp>
      <p:sp>
        <p:nvSpPr>
          <p:cNvPr id="116" name="Shape 114"/>
          <p:cNvSpPr/>
          <p:nvPr/>
        </p:nvSpPr>
        <p:spPr>
          <a:xfrm>
            <a:off x="8001000" y="1783080"/>
            <a:ext cx="3456432" cy="914"/>
          </a:xfrm>
          <a:prstGeom prst="line">
            <a:avLst/>
          </a:prstGeom>
          <a:noFill/>
          <a:ln w="20320">
            <a:solidFill>
              <a:srgbClr val="1C1E21"/>
            </a:solidFill>
            <a:prstDash val="solid"/>
          </a:ln>
        </p:spPr>
      </p:sp>
      <p:sp>
        <p:nvSpPr>
          <p:cNvPr id="117" name="Shape 115"/>
          <p:cNvSpPr/>
          <p:nvPr/>
        </p:nvSpPr>
        <p:spPr>
          <a:xfrm>
            <a:off x="9153144" y="1783080"/>
            <a:ext cx="914" cy="3456432"/>
          </a:xfrm>
          <a:prstGeom prst="line">
            <a:avLst/>
          </a:prstGeom>
          <a:noFill/>
          <a:ln w="20320">
            <a:solidFill>
              <a:srgbClr val="1C1E21"/>
            </a:solidFill>
            <a:prstDash val="solid"/>
          </a:ln>
        </p:spPr>
      </p:sp>
      <p:sp>
        <p:nvSpPr>
          <p:cNvPr id="118" name="Shape 116"/>
          <p:cNvSpPr/>
          <p:nvPr/>
        </p:nvSpPr>
        <p:spPr>
          <a:xfrm>
            <a:off x="8001000" y="2935224"/>
            <a:ext cx="3456432" cy="914"/>
          </a:xfrm>
          <a:prstGeom prst="line">
            <a:avLst/>
          </a:prstGeom>
          <a:noFill/>
          <a:ln w="20320">
            <a:solidFill>
              <a:srgbClr val="1C1E21"/>
            </a:solidFill>
            <a:prstDash val="solid"/>
          </a:ln>
        </p:spPr>
      </p:sp>
      <p:sp>
        <p:nvSpPr>
          <p:cNvPr id="119" name="Shape 117"/>
          <p:cNvSpPr/>
          <p:nvPr/>
        </p:nvSpPr>
        <p:spPr>
          <a:xfrm>
            <a:off x="10305288" y="1783080"/>
            <a:ext cx="914" cy="3456432"/>
          </a:xfrm>
          <a:prstGeom prst="line">
            <a:avLst/>
          </a:prstGeom>
          <a:noFill/>
          <a:ln w="20320">
            <a:solidFill>
              <a:srgbClr val="1C1E21"/>
            </a:solidFill>
            <a:prstDash val="solid"/>
          </a:ln>
        </p:spPr>
      </p:sp>
      <p:sp>
        <p:nvSpPr>
          <p:cNvPr id="120" name="Shape 118"/>
          <p:cNvSpPr/>
          <p:nvPr/>
        </p:nvSpPr>
        <p:spPr>
          <a:xfrm>
            <a:off x="8001000" y="4087368"/>
            <a:ext cx="3456432" cy="914"/>
          </a:xfrm>
          <a:prstGeom prst="line">
            <a:avLst/>
          </a:prstGeom>
          <a:noFill/>
          <a:ln w="20320">
            <a:solidFill>
              <a:srgbClr val="1C1E21"/>
            </a:solidFill>
            <a:prstDash val="solid"/>
          </a:ln>
        </p:spPr>
      </p:sp>
      <p:sp>
        <p:nvSpPr>
          <p:cNvPr id="121" name="Shape 119"/>
          <p:cNvSpPr/>
          <p:nvPr/>
        </p:nvSpPr>
        <p:spPr>
          <a:xfrm>
            <a:off x="11457432" y="1783080"/>
            <a:ext cx="914" cy="3456432"/>
          </a:xfrm>
          <a:prstGeom prst="line">
            <a:avLst/>
          </a:prstGeom>
          <a:noFill/>
          <a:ln w="20320">
            <a:solidFill>
              <a:srgbClr val="1C1E21"/>
            </a:solidFill>
            <a:prstDash val="solid"/>
          </a:ln>
        </p:spPr>
      </p:sp>
      <p:sp>
        <p:nvSpPr>
          <p:cNvPr id="122" name="Shape 120"/>
          <p:cNvSpPr/>
          <p:nvPr/>
        </p:nvSpPr>
        <p:spPr>
          <a:xfrm>
            <a:off x="8001000" y="5239512"/>
            <a:ext cx="3456432" cy="914"/>
          </a:xfrm>
          <a:prstGeom prst="line">
            <a:avLst/>
          </a:prstGeom>
          <a:noFill/>
          <a:ln w="20320">
            <a:solidFill>
              <a:srgbClr val="1C1E21"/>
            </a:solidFill>
            <a:prstDash val="solid"/>
          </a:ln>
        </p:spPr>
      </p:sp>
      <p:sp>
        <p:nvSpPr>
          <p:cNvPr id="123" name="Shape 121"/>
          <p:cNvSpPr/>
          <p:nvPr/>
        </p:nvSpPr>
        <p:spPr>
          <a:xfrm>
            <a:off x="640080" y="1737360"/>
            <a:ext cx="6949440" cy="2331720"/>
          </a:xfrm>
          <a:prstGeom prst="roundRect">
            <a:avLst>
              <a:gd name="adj" fmla="val 2353"/>
            </a:avLst>
          </a:prstGeom>
          <a:solidFill>
            <a:srgbClr val="F6F7F8"/>
          </a:solidFill>
          <a:ln w="9525">
            <a:solidFill>
              <a:srgbClr val="D3D6D9"/>
            </a:solidFill>
            <a:prstDash val="solid"/>
          </a:ln>
        </p:spPr>
      </p:sp>
      <p:sp>
        <p:nvSpPr>
          <p:cNvPr id="124" name="Text 122"/>
          <p:cNvSpPr/>
          <p:nvPr/>
        </p:nvSpPr>
        <p:spPr>
          <a:xfrm>
            <a:off x="896112" y="1920240"/>
            <a:ext cx="6492240" cy="201168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Variables: every open square (up to 81)</a:t>
            </a:r>
            <a:endParaRPr lang="en-US" sz="1400" dirty="0"/>
          </a:p>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Domains: { 1, ..., 9 }</a:t>
            </a:r>
            <a:endParaRPr lang="en-US" sz="1400" dirty="0"/>
          </a:p>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Constraints: 9-way alldiff on each of the 9 rows, 9 columns, and 9 boxes - 27 of them</a:t>
            </a:r>
            <a:endParaRPr lang="en-US" sz="1400" dirty="0"/>
          </a:p>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Givens: unary constraints. This square is a 7 - equivalently, its domain is { 7 }.</a:t>
            </a:r>
            <a:endParaRPr lang="en-US" sz="1400" dirty="0"/>
          </a:p>
        </p:txBody>
      </p:sp>
      <p:sp>
        <p:nvSpPr>
          <p:cNvPr id="125" name="Shape 123"/>
          <p:cNvSpPr/>
          <p:nvPr/>
        </p:nvSpPr>
        <p:spPr>
          <a:xfrm>
            <a:off x="640080" y="4251960"/>
            <a:ext cx="6949440" cy="1874520"/>
          </a:xfrm>
          <a:prstGeom prst="roundRect">
            <a:avLst>
              <a:gd name="adj" fmla="val 2927"/>
            </a:avLst>
          </a:prstGeom>
          <a:solidFill>
            <a:srgbClr val="FBEDEF"/>
          </a:solidFill>
          <a:ln w="9525">
            <a:solidFill>
              <a:srgbClr val="E8B5BC"/>
            </a:solidFill>
            <a:prstDash val="solid"/>
          </a:ln>
        </p:spPr>
      </p:sp>
      <p:sp>
        <p:nvSpPr>
          <p:cNvPr id="126" name="Text 124"/>
          <p:cNvSpPr/>
          <p:nvPr/>
        </p:nvSpPr>
        <p:spPr>
          <a:xfrm>
            <a:off x="896112" y="4407408"/>
            <a:ext cx="6492240" cy="320040"/>
          </a:xfrm>
          <a:prstGeom prst="rect">
            <a:avLst/>
          </a:prstGeom>
          <a:noFill/>
          <a:ln/>
        </p:spPr>
        <p:txBody>
          <a:bodyPr wrap="square" lIns="0" tIns="0" rIns="0" bIns="0" rtlCol="0" anchor="ctr"/>
          <a:lstStyle/>
          <a:p>
            <a:pPr indent="0" marL="0">
              <a:buNone/>
            </a:pPr>
            <a:r>
              <a:rPr lang="en-US" sz="1650" b="1" dirty="0">
                <a:solidFill>
                  <a:srgbClr val="CB132A"/>
                </a:solidFill>
                <a:latin typeface="Cambria" pitchFamily="34" charset="0"/>
                <a:ea typeface="Cambria" pitchFamily="34" charset="-122"/>
                <a:cs typeface="Cambria" pitchFamily="34" charset="-120"/>
              </a:rPr>
              <a:t>Why some puzzles feel easy and others do not</a:t>
            </a:r>
            <a:endParaRPr lang="en-US" sz="1650" dirty="0"/>
          </a:p>
        </p:txBody>
      </p:sp>
      <p:sp>
        <p:nvSpPr>
          <p:cNvPr id="127" name="Text 125"/>
          <p:cNvSpPr/>
          <p:nvPr/>
        </p:nvSpPr>
        <p:spPr>
          <a:xfrm>
            <a:off x="896112" y="4736592"/>
            <a:ext cx="6492240" cy="128016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An easy puzzle solves by pure propagation: pin one square, that pins another, and it unravels with no guessing. A hard one hits a point where propagation stalls and you have to guess, hit a contradiction, and back out.</a:t>
            </a:r>
            <a:endParaRPr lang="en-US" sz="1250" dirty="0"/>
          </a:p>
          <a:p>
            <a:pPr indent="0" marL="0">
              <a:buNone/>
            </a:pPr>
            <a:endParaRPr lang="en-US" sz="1250" dirty="0"/>
          </a:p>
          <a:p>
            <a:pPr indent="0" marL="0">
              <a:buNone/>
            </a:pPr>
            <a:r>
              <a:rPr lang="en-US" sz="1250" dirty="0">
                <a:solidFill>
                  <a:srgbClr val="1C1E21"/>
                </a:solidFill>
                <a:latin typeface="Calibri" pitchFamily="34" charset="0"/>
                <a:ea typeface="Calibri" pitchFamily="34" charset="-122"/>
                <a:cs typeface="Calibri" pitchFamily="34" charset="-120"/>
              </a:rPr>
              <a:t>That is exactly the gap between filtering and backtracking - both of which we cover after the break.</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19</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Example 5: the Waltz algorithm</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1972. Interpreting a 2D line drawing as a 3D object - as a CSP.</a:t>
            </a:r>
            <a:endParaRPr lang="en-US" sz="1400" dirty="0"/>
          </a:p>
        </p:txBody>
      </p:sp>
      <p:sp>
        <p:nvSpPr>
          <p:cNvPr id="6" name="Shape 4"/>
          <p:cNvSpPr/>
          <p:nvPr/>
        </p:nvSpPr>
        <p:spPr>
          <a:xfrm>
            <a:off x="8138160" y="2487168"/>
            <a:ext cx="1700784" cy="914"/>
          </a:xfrm>
          <a:prstGeom prst="line">
            <a:avLst/>
          </a:prstGeom>
          <a:noFill/>
          <a:ln w="19050">
            <a:solidFill>
              <a:srgbClr val="1C1E21"/>
            </a:solidFill>
            <a:prstDash val="solid"/>
          </a:ln>
        </p:spPr>
      </p:sp>
      <p:sp>
        <p:nvSpPr>
          <p:cNvPr id="7" name="Shape 5"/>
          <p:cNvSpPr/>
          <p:nvPr/>
        </p:nvSpPr>
        <p:spPr>
          <a:xfrm flipH="1">
            <a:off x="9838944" y="1920240"/>
            <a:ext cx="566928" cy="566928"/>
          </a:xfrm>
          <a:prstGeom prst="line">
            <a:avLst/>
          </a:prstGeom>
          <a:noFill/>
          <a:ln w="19050">
            <a:solidFill>
              <a:srgbClr val="1C1E21"/>
            </a:solidFill>
            <a:prstDash val="solid"/>
          </a:ln>
        </p:spPr>
      </p:sp>
      <p:sp>
        <p:nvSpPr>
          <p:cNvPr id="8" name="Shape 6"/>
          <p:cNvSpPr/>
          <p:nvPr/>
        </p:nvSpPr>
        <p:spPr>
          <a:xfrm>
            <a:off x="8705088" y="1920240"/>
            <a:ext cx="1700784" cy="914"/>
          </a:xfrm>
          <a:prstGeom prst="line">
            <a:avLst/>
          </a:prstGeom>
          <a:noFill/>
          <a:ln w="19050">
            <a:solidFill>
              <a:srgbClr val="1C1E21"/>
            </a:solidFill>
            <a:prstDash val="solid"/>
          </a:ln>
        </p:spPr>
      </p:sp>
      <p:sp>
        <p:nvSpPr>
          <p:cNvPr id="9" name="Shape 7"/>
          <p:cNvSpPr/>
          <p:nvPr/>
        </p:nvSpPr>
        <p:spPr>
          <a:xfrm flipH="1">
            <a:off x="8138160" y="1920240"/>
            <a:ext cx="566928" cy="566928"/>
          </a:xfrm>
          <a:prstGeom prst="line">
            <a:avLst/>
          </a:prstGeom>
          <a:noFill/>
          <a:ln w="19050">
            <a:solidFill>
              <a:srgbClr val="1C1E21"/>
            </a:solidFill>
            <a:prstDash val="solid"/>
          </a:ln>
        </p:spPr>
      </p:sp>
      <p:sp>
        <p:nvSpPr>
          <p:cNvPr id="10" name="Shape 8"/>
          <p:cNvSpPr/>
          <p:nvPr/>
        </p:nvSpPr>
        <p:spPr>
          <a:xfrm>
            <a:off x="8138160" y="2487168"/>
            <a:ext cx="914" cy="1700784"/>
          </a:xfrm>
          <a:prstGeom prst="line">
            <a:avLst/>
          </a:prstGeom>
          <a:noFill/>
          <a:ln w="19050">
            <a:solidFill>
              <a:srgbClr val="1C1E21"/>
            </a:solidFill>
            <a:prstDash val="solid"/>
          </a:ln>
        </p:spPr>
      </p:sp>
      <p:sp>
        <p:nvSpPr>
          <p:cNvPr id="11" name="Shape 9"/>
          <p:cNvSpPr/>
          <p:nvPr/>
        </p:nvSpPr>
        <p:spPr>
          <a:xfrm>
            <a:off x="9838944" y="2487168"/>
            <a:ext cx="914" cy="1700784"/>
          </a:xfrm>
          <a:prstGeom prst="line">
            <a:avLst/>
          </a:prstGeom>
          <a:noFill/>
          <a:ln w="19050">
            <a:solidFill>
              <a:srgbClr val="1C1E21"/>
            </a:solidFill>
            <a:prstDash val="solid"/>
          </a:ln>
        </p:spPr>
      </p:sp>
      <p:sp>
        <p:nvSpPr>
          <p:cNvPr id="12" name="Shape 10"/>
          <p:cNvSpPr/>
          <p:nvPr/>
        </p:nvSpPr>
        <p:spPr>
          <a:xfrm>
            <a:off x="10405872" y="1920240"/>
            <a:ext cx="914" cy="1700784"/>
          </a:xfrm>
          <a:prstGeom prst="line">
            <a:avLst/>
          </a:prstGeom>
          <a:noFill/>
          <a:ln w="19050">
            <a:solidFill>
              <a:srgbClr val="1C1E21"/>
            </a:solidFill>
            <a:prstDash val="solid"/>
          </a:ln>
        </p:spPr>
      </p:sp>
      <p:sp>
        <p:nvSpPr>
          <p:cNvPr id="13" name="Shape 11"/>
          <p:cNvSpPr/>
          <p:nvPr/>
        </p:nvSpPr>
        <p:spPr>
          <a:xfrm>
            <a:off x="8138160" y="4187952"/>
            <a:ext cx="1700784" cy="914"/>
          </a:xfrm>
          <a:prstGeom prst="line">
            <a:avLst/>
          </a:prstGeom>
          <a:noFill/>
          <a:ln w="19050">
            <a:solidFill>
              <a:srgbClr val="1C1E21"/>
            </a:solidFill>
            <a:prstDash val="solid"/>
          </a:ln>
        </p:spPr>
      </p:sp>
      <p:sp>
        <p:nvSpPr>
          <p:cNvPr id="14" name="Shape 12"/>
          <p:cNvSpPr/>
          <p:nvPr/>
        </p:nvSpPr>
        <p:spPr>
          <a:xfrm flipH="1">
            <a:off x="9838944" y="3621024"/>
            <a:ext cx="566928" cy="566928"/>
          </a:xfrm>
          <a:prstGeom prst="line">
            <a:avLst/>
          </a:prstGeom>
          <a:noFill/>
          <a:ln w="19050">
            <a:solidFill>
              <a:srgbClr val="1C1E21"/>
            </a:solidFill>
            <a:prstDash val="solid"/>
          </a:ln>
        </p:spPr>
      </p:sp>
      <p:sp>
        <p:nvSpPr>
          <p:cNvPr id="15" name="Shape 13"/>
          <p:cNvSpPr/>
          <p:nvPr/>
        </p:nvSpPr>
        <p:spPr>
          <a:xfrm>
            <a:off x="8705088" y="1920240"/>
            <a:ext cx="914" cy="1700784"/>
          </a:xfrm>
          <a:prstGeom prst="line">
            <a:avLst/>
          </a:prstGeom>
          <a:noFill/>
          <a:ln w="19050">
            <a:solidFill>
              <a:srgbClr val="1C1E21"/>
            </a:solidFill>
            <a:prstDash val="solid"/>
          </a:ln>
        </p:spPr>
      </p:sp>
      <p:sp>
        <p:nvSpPr>
          <p:cNvPr id="16" name="Shape 14"/>
          <p:cNvSpPr/>
          <p:nvPr/>
        </p:nvSpPr>
        <p:spPr>
          <a:xfrm flipH="1">
            <a:off x="8138160" y="3621024"/>
            <a:ext cx="566928" cy="566928"/>
          </a:xfrm>
          <a:prstGeom prst="line">
            <a:avLst/>
          </a:prstGeom>
          <a:noFill/>
          <a:ln w="19050">
            <a:solidFill>
              <a:srgbClr val="1C1E21"/>
            </a:solidFill>
            <a:prstDash val="solid"/>
          </a:ln>
        </p:spPr>
      </p:sp>
      <p:sp>
        <p:nvSpPr>
          <p:cNvPr id="17" name="Shape 15"/>
          <p:cNvSpPr/>
          <p:nvPr/>
        </p:nvSpPr>
        <p:spPr>
          <a:xfrm>
            <a:off x="8705088" y="3621024"/>
            <a:ext cx="1700784" cy="914"/>
          </a:xfrm>
          <a:prstGeom prst="line">
            <a:avLst/>
          </a:prstGeom>
          <a:noFill/>
          <a:ln w="19050">
            <a:solidFill>
              <a:srgbClr val="1C1E21"/>
            </a:solidFill>
            <a:prstDash val="solid"/>
          </a:ln>
        </p:spPr>
      </p:sp>
      <p:sp>
        <p:nvSpPr>
          <p:cNvPr id="18" name="Shape 16"/>
          <p:cNvSpPr/>
          <p:nvPr/>
        </p:nvSpPr>
        <p:spPr>
          <a:xfrm>
            <a:off x="8055864" y="2404872"/>
            <a:ext cx="164592" cy="164592"/>
          </a:xfrm>
          <a:prstGeom prst="ellipse">
            <a:avLst/>
          </a:prstGeom>
          <a:solidFill>
            <a:srgbClr val="CB132A"/>
          </a:solidFill>
          <a:ln w="12700">
            <a:solidFill>
              <a:srgbClr val="333333"/>
            </a:solidFill>
            <a:prstDash val="solid"/>
          </a:ln>
        </p:spPr>
      </p:sp>
      <p:sp>
        <p:nvSpPr>
          <p:cNvPr id="19" name="Shape 17"/>
          <p:cNvSpPr/>
          <p:nvPr/>
        </p:nvSpPr>
        <p:spPr>
          <a:xfrm>
            <a:off x="9756648" y="2404872"/>
            <a:ext cx="164592" cy="164592"/>
          </a:xfrm>
          <a:prstGeom prst="ellipse">
            <a:avLst/>
          </a:prstGeom>
          <a:solidFill>
            <a:srgbClr val="CB132A"/>
          </a:solidFill>
          <a:ln w="12700">
            <a:solidFill>
              <a:srgbClr val="333333"/>
            </a:solidFill>
            <a:prstDash val="solid"/>
          </a:ln>
        </p:spPr>
      </p:sp>
      <p:sp>
        <p:nvSpPr>
          <p:cNvPr id="20" name="Shape 18"/>
          <p:cNvSpPr/>
          <p:nvPr/>
        </p:nvSpPr>
        <p:spPr>
          <a:xfrm>
            <a:off x="10323576" y="1837944"/>
            <a:ext cx="164592" cy="164592"/>
          </a:xfrm>
          <a:prstGeom prst="ellipse">
            <a:avLst/>
          </a:prstGeom>
          <a:solidFill>
            <a:srgbClr val="CB132A"/>
          </a:solidFill>
          <a:ln w="12700">
            <a:solidFill>
              <a:srgbClr val="333333"/>
            </a:solidFill>
            <a:prstDash val="solid"/>
          </a:ln>
        </p:spPr>
      </p:sp>
      <p:sp>
        <p:nvSpPr>
          <p:cNvPr id="21" name="Shape 19"/>
          <p:cNvSpPr/>
          <p:nvPr/>
        </p:nvSpPr>
        <p:spPr>
          <a:xfrm>
            <a:off x="8622792" y="1837944"/>
            <a:ext cx="164592" cy="164592"/>
          </a:xfrm>
          <a:prstGeom prst="ellipse">
            <a:avLst/>
          </a:prstGeom>
          <a:solidFill>
            <a:srgbClr val="CB132A"/>
          </a:solidFill>
          <a:ln w="12700">
            <a:solidFill>
              <a:srgbClr val="333333"/>
            </a:solidFill>
            <a:prstDash val="solid"/>
          </a:ln>
        </p:spPr>
      </p:sp>
      <p:sp>
        <p:nvSpPr>
          <p:cNvPr id="22" name="Shape 20"/>
          <p:cNvSpPr/>
          <p:nvPr/>
        </p:nvSpPr>
        <p:spPr>
          <a:xfrm>
            <a:off x="8622792" y="3538728"/>
            <a:ext cx="164592" cy="164592"/>
          </a:xfrm>
          <a:prstGeom prst="ellipse">
            <a:avLst/>
          </a:prstGeom>
          <a:solidFill>
            <a:srgbClr val="CB132A"/>
          </a:solidFill>
          <a:ln w="12700">
            <a:solidFill>
              <a:srgbClr val="333333"/>
            </a:solidFill>
            <a:prstDash val="solid"/>
          </a:ln>
        </p:spPr>
      </p:sp>
      <p:sp>
        <p:nvSpPr>
          <p:cNvPr id="23" name="Text 21"/>
          <p:cNvSpPr/>
          <p:nvPr/>
        </p:nvSpPr>
        <p:spPr>
          <a:xfrm>
            <a:off x="7589520" y="4414723"/>
            <a:ext cx="3108960" cy="274320"/>
          </a:xfrm>
          <a:prstGeom prst="rect">
            <a:avLst/>
          </a:prstGeom>
          <a:noFill/>
          <a:ln/>
        </p:spPr>
        <p:txBody>
          <a:bodyPr wrap="square" lIns="0" tIns="0" rIns="0" bIns="0" rtlCol="0" anchor="ctr"/>
          <a:lstStyle/>
          <a:p>
            <a:pPr algn="ctr" indent="0" marL="0">
              <a:buNone/>
            </a:pPr>
            <a:r>
              <a:rPr lang="en-US" sz="1100" i="1" dirty="0">
                <a:solidFill>
                  <a:srgbClr val="7C8085"/>
                </a:solidFill>
                <a:latin typeface="Calibri" pitchFamily="34" charset="0"/>
                <a:ea typeface="Calibri" pitchFamily="34" charset="-122"/>
                <a:cs typeface="Calibri" pitchFamily="34" charset="-120"/>
              </a:rPr>
              <a:t>red dots are variables</a:t>
            </a:r>
            <a:endParaRPr lang="en-US" sz="1100" dirty="0"/>
          </a:p>
        </p:txBody>
      </p:sp>
      <p:sp>
        <p:nvSpPr>
          <p:cNvPr id="24" name="Shape 22"/>
          <p:cNvSpPr/>
          <p:nvPr/>
        </p:nvSpPr>
        <p:spPr>
          <a:xfrm>
            <a:off x="640080" y="1737360"/>
            <a:ext cx="7086600" cy="2377440"/>
          </a:xfrm>
          <a:prstGeom prst="roundRect">
            <a:avLst>
              <a:gd name="adj" fmla="val 2308"/>
            </a:avLst>
          </a:prstGeom>
          <a:solidFill>
            <a:srgbClr val="F6F7F8"/>
          </a:solidFill>
          <a:ln w="9525">
            <a:solidFill>
              <a:srgbClr val="D3D6D9"/>
            </a:solidFill>
            <a:prstDash val="solid"/>
          </a:ln>
        </p:spPr>
      </p:sp>
      <p:sp>
        <p:nvSpPr>
          <p:cNvPr id="25" name="Text 23"/>
          <p:cNvSpPr/>
          <p:nvPr/>
        </p:nvSpPr>
        <p:spPr>
          <a:xfrm>
            <a:off x="896112" y="1920240"/>
            <a:ext cx="6629400" cy="2057400"/>
          </a:xfrm>
          <a:prstGeom prst="rect">
            <a:avLst/>
          </a:prstGeom>
          <a:noFill/>
          <a:ln/>
        </p:spPr>
        <p:txBody>
          <a:bodyPr wrap="square" lIns="0" tIns="0" rIns="0" bIns="0" rtlCol="0" anchor="t"/>
          <a:lstStyle/>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Variables: each junction where lines meet in the drawing</a:t>
            </a:r>
            <a:endParaRPr lang="en-US" sz="1400" dirty="0"/>
          </a:p>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Domains: the local 3D interpretation at that junction - which incident edges are convex, concave, or occluding boundaries</a:t>
            </a:r>
            <a:endParaRPr lang="en-US" sz="1400" dirty="0"/>
          </a:p>
          <a:p>
            <a:pPr marL="177800" indent="-177800">
              <a:spcAft>
                <a:spcPts val="800"/>
              </a:spcAft>
              <a:buSzPct val="100000"/>
              <a:buChar char="•"/>
            </a:pPr>
            <a:r>
              <a:rPr lang="en-US" sz="1400" b="1" dirty="0">
                <a:solidFill>
                  <a:srgbClr val="1C1E21"/>
                </a:solidFill>
                <a:latin typeface="Calibri" pitchFamily="34" charset="0"/>
                <a:ea typeface="Calibri" pitchFamily="34" charset="-122"/>
                <a:cs typeface="Calibri" pitchFamily="34" charset="-120"/>
              </a:rPr>
              <a:t>Constraints: two junctions joined by a line must agree about that line. One end cannot call it convex while the other calls it concave.</a:t>
            </a:r>
            <a:endParaRPr lang="en-US" sz="1400" dirty="0"/>
          </a:p>
        </p:txBody>
      </p:sp>
      <p:sp>
        <p:nvSpPr>
          <p:cNvPr id="26" name="Shape 24"/>
          <p:cNvSpPr/>
          <p:nvPr/>
        </p:nvSpPr>
        <p:spPr>
          <a:xfrm>
            <a:off x="640080" y="4297680"/>
            <a:ext cx="7086600" cy="1691640"/>
          </a:xfrm>
          <a:prstGeom prst="roundRect">
            <a:avLst>
              <a:gd name="adj" fmla="val 3243"/>
            </a:avLst>
          </a:prstGeom>
          <a:solidFill>
            <a:srgbClr val="FBEDEF"/>
          </a:solidFill>
          <a:ln w="9525">
            <a:solidFill>
              <a:srgbClr val="E8B5BC"/>
            </a:solidFill>
            <a:prstDash val="solid"/>
          </a:ln>
        </p:spPr>
      </p:sp>
      <p:sp>
        <p:nvSpPr>
          <p:cNvPr id="27" name="Text 25"/>
          <p:cNvSpPr/>
          <p:nvPr/>
        </p:nvSpPr>
        <p:spPr>
          <a:xfrm>
            <a:off x="896112" y="4462272"/>
            <a:ext cx="6629400" cy="137160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Solutions are exactly the physically realizable 3D interpretations of the drawing. This is not how computer vision is done today - but it is a striking demonstration that something that feels like perception can fall out of pure constraint propagation, with no learning and no data.</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20</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Where you will actually meet these</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CSPs are one of the most widely deployed formalisms in the field</a:t>
            </a:r>
            <a:endParaRPr lang="en-US" sz="1400" dirty="0"/>
          </a:p>
        </p:txBody>
      </p:sp>
      <p:sp>
        <p:nvSpPr>
          <p:cNvPr id="6" name="Shape 4"/>
          <p:cNvSpPr/>
          <p:nvPr/>
        </p:nvSpPr>
        <p:spPr>
          <a:xfrm>
            <a:off x="640080" y="1691640"/>
            <a:ext cx="3538728" cy="3063240"/>
          </a:xfrm>
          <a:prstGeom prst="roundRect">
            <a:avLst>
              <a:gd name="adj" fmla="val 1791"/>
            </a:avLst>
          </a:prstGeom>
          <a:solidFill>
            <a:srgbClr val="F6F7F8"/>
          </a:solidFill>
          <a:ln w="9525">
            <a:solidFill>
              <a:srgbClr val="D3D6D9"/>
            </a:solidFill>
            <a:prstDash val="solid"/>
          </a:ln>
        </p:spPr>
      </p:sp>
      <p:sp>
        <p:nvSpPr>
          <p:cNvPr id="7" name="Shape 5"/>
          <p:cNvSpPr/>
          <p:nvPr/>
        </p:nvSpPr>
        <p:spPr>
          <a:xfrm>
            <a:off x="877824" y="1883664"/>
            <a:ext cx="329184" cy="329184"/>
          </a:xfrm>
          <a:prstGeom prst="ellipse">
            <a:avLst/>
          </a:prstGeom>
          <a:solidFill>
            <a:srgbClr val="CB132A"/>
          </a:solidFill>
          <a:ln w="12700">
            <a:solidFill>
              <a:srgbClr val="CB132A"/>
            </a:solidFill>
            <a:prstDash val="solid"/>
          </a:ln>
        </p:spPr>
      </p:sp>
      <p:sp>
        <p:nvSpPr>
          <p:cNvPr id="8" name="Text 6"/>
          <p:cNvSpPr/>
          <p:nvPr/>
        </p:nvSpPr>
        <p:spPr>
          <a:xfrm>
            <a:off x="877824" y="1883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98448" y="1828800"/>
            <a:ext cx="2670048" cy="384048"/>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Scheduling</a:t>
            </a:r>
            <a:endParaRPr lang="en-US" sz="1900" dirty="0"/>
          </a:p>
        </p:txBody>
      </p:sp>
      <p:sp>
        <p:nvSpPr>
          <p:cNvPr id="10" name="Text 8"/>
          <p:cNvSpPr/>
          <p:nvPr/>
        </p:nvSpPr>
        <p:spPr>
          <a:xfrm>
            <a:off x="877824" y="2377440"/>
            <a:ext cx="306324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When can all of us meet</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Nurse and physician shift rosters</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Operating room and radiation therapy slots</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Factory and transportation schedules</a:t>
            </a:r>
            <a:endParaRPr lang="en-US" sz="1250" dirty="0"/>
          </a:p>
        </p:txBody>
      </p:sp>
      <p:sp>
        <p:nvSpPr>
          <p:cNvPr id="11" name="Shape 9"/>
          <p:cNvSpPr/>
          <p:nvPr/>
        </p:nvSpPr>
        <p:spPr>
          <a:xfrm>
            <a:off x="4315968" y="1691640"/>
            <a:ext cx="3538728" cy="3063240"/>
          </a:xfrm>
          <a:prstGeom prst="roundRect">
            <a:avLst>
              <a:gd name="adj" fmla="val 1791"/>
            </a:avLst>
          </a:prstGeom>
          <a:solidFill>
            <a:srgbClr val="F6F7F8"/>
          </a:solidFill>
          <a:ln w="9525">
            <a:solidFill>
              <a:srgbClr val="D3D6D9"/>
            </a:solidFill>
            <a:prstDash val="solid"/>
          </a:ln>
        </p:spPr>
      </p:sp>
      <p:sp>
        <p:nvSpPr>
          <p:cNvPr id="12" name="Shape 10"/>
          <p:cNvSpPr/>
          <p:nvPr/>
        </p:nvSpPr>
        <p:spPr>
          <a:xfrm>
            <a:off x="4553712" y="1883664"/>
            <a:ext cx="329184" cy="329184"/>
          </a:xfrm>
          <a:prstGeom prst="ellipse">
            <a:avLst/>
          </a:prstGeom>
          <a:solidFill>
            <a:srgbClr val="CB132A"/>
          </a:solidFill>
          <a:ln w="12700">
            <a:solidFill>
              <a:srgbClr val="CB132A"/>
            </a:solidFill>
            <a:prstDash val="solid"/>
          </a:ln>
        </p:spPr>
      </p:sp>
      <p:sp>
        <p:nvSpPr>
          <p:cNvPr id="13" name="Text 11"/>
          <p:cNvSpPr/>
          <p:nvPr/>
        </p:nvSpPr>
        <p:spPr>
          <a:xfrm>
            <a:off x="4553712" y="1883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4974336" y="1828800"/>
            <a:ext cx="2670048" cy="384048"/>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Assignment</a:t>
            </a:r>
            <a:endParaRPr lang="en-US" sz="1900" dirty="0"/>
          </a:p>
        </p:txBody>
      </p:sp>
      <p:sp>
        <p:nvSpPr>
          <p:cNvPr id="15" name="Text 13"/>
          <p:cNvSpPr/>
          <p:nvPr/>
        </p:nvSpPr>
        <p:spPr>
          <a:xfrm>
            <a:off x="4553712" y="2377440"/>
            <a:ext cx="306324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Which instructor teaches which section</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Course timetabling: sections to rooms and time blocks</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Who sits at which table</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Exam scheduling with no student conflicts</a:t>
            </a:r>
            <a:endParaRPr lang="en-US" sz="1250" dirty="0"/>
          </a:p>
        </p:txBody>
      </p:sp>
      <p:sp>
        <p:nvSpPr>
          <p:cNvPr id="16" name="Shape 14"/>
          <p:cNvSpPr/>
          <p:nvPr/>
        </p:nvSpPr>
        <p:spPr>
          <a:xfrm>
            <a:off x="7991856" y="1691640"/>
            <a:ext cx="3538728" cy="3063240"/>
          </a:xfrm>
          <a:prstGeom prst="roundRect">
            <a:avLst>
              <a:gd name="adj" fmla="val 1791"/>
            </a:avLst>
          </a:prstGeom>
          <a:solidFill>
            <a:srgbClr val="F6F7F8"/>
          </a:solidFill>
          <a:ln w="9525">
            <a:solidFill>
              <a:srgbClr val="D3D6D9"/>
            </a:solidFill>
            <a:prstDash val="solid"/>
          </a:ln>
        </p:spPr>
      </p:sp>
      <p:sp>
        <p:nvSpPr>
          <p:cNvPr id="17" name="Shape 15"/>
          <p:cNvSpPr/>
          <p:nvPr/>
        </p:nvSpPr>
        <p:spPr>
          <a:xfrm>
            <a:off x="8229600" y="1883664"/>
            <a:ext cx="329184" cy="329184"/>
          </a:xfrm>
          <a:prstGeom prst="ellipse">
            <a:avLst/>
          </a:prstGeom>
          <a:solidFill>
            <a:srgbClr val="CB132A"/>
          </a:solidFill>
          <a:ln w="12700">
            <a:solidFill>
              <a:srgbClr val="CB132A"/>
            </a:solidFill>
            <a:prstDash val="solid"/>
          </a:ln>
        </p:spPr>
      </p:sp>
      <p:sp>
        <p:nvSpPr>
          <p:cNvPr id="18" name="Text 16"/>
          <p:cNvSpPr/>
          <p:nvPr/>
        </p:nvSpPr>
        <p:spPr>
          <a:xfrm>
            <a:off x="8229600" y="18836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8650224" y="1828800"/>
            <a:ext cx="2670048" cy="384048"/>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Configuration</a:t>
            </a:r>
            <a:endParaRPr lang="en-US" sz="1900" dirty="0"/>
          </a:p>
        </p:txBody>
      </p:sp>
      <p:sp>
        <p:nvSpPr>
          <p:cNvPr id="20" name="Text 18"/>
          <p:cNvSpPr/>
          <p:nvPr/>
        </p:nvSpPr>
        <p:spPr>
          <a:xfrm>
            <a:off x="8229600" y="2377440"/>
            <a:ext cx="3063240" cy="2194560"/>
          </a:xfrm>
          <a:prstGeom prst="rect">
            <a:avLst/>
          </a:prstGeom>
          <a:noFill/>
          <a:ln/>
        </p:spPr>
        <p:txBody>
          <a:bodyPr wrap="square" lIns="0" tIns="0" rIns="0" bIns="0" rtlCol="0" anchor="t"/>
          <a:lstStyle/>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Hardware and product configurators</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VLAN and subnet allocation across a campus</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Firewall and access-list rule ordering</a:t>
            </a:r>
            <a:endParaRPr lang="en-US" sz="1250" dirty="0"/>
          </a:p>
          <a:p>
            <a:pPr marL="177800" indent="-177800">
              <a:spcAft>
                <a:spcPts val="800"/>
              </a:spcAft>
              <a:buSzPct val="100000"/>
              <a:buChar char="•"/>
            </a:pPr>
            <a:r>
              <a:rPr lang="en-US" sz="1250" dirty="0">
                <a:solidFill>
                  <a:srgbClr val="1C1E21"/>
                </a:solidFill>
                <a:latin typeface="Calibri" pitchFamily="34" charset="0"/>
                <a:ea typeface="Calibri" pitchFamily="34" charset="-122"/>
                <a:cs typeface="Calibri" pitchFamily="34" charset="-120"/>
              </a:rPr>
              <a:t>Circuit layout and fault diagnosis</a:t>
            </a:r>
            <a:endParaRPr lang="en-US" sz="1250" dirty="0"/>
          </a:p>
        </p:txBody>
      </p:sp>
      <p:sp>
        <p:nvSpPr>
          <p:cNvPr id="21" name="Shape 19"/>
          <p:cNvSpPr/>
          <p:nvPr/>
        </p:nvSpPr>
        <p:spPr>
          <a:xfrm>
            <a:off x="640080" y="4956048"/>
            <a:ext cx="10908792" cy="960120"/>
          </a:xfrm>
          <a:prstGeom prst="roundRect">
            <a:avLst>
              <a:gd name="adj" fmla="val 5714"/>
            </a:avLst>
          </a:prstGeom>
          <a:solidFill>
            <a:srgbClr val="1C1E21"/>
          </a:solidFill>
          <a:ln w="9525">
            <a:solidFill>
              <a:srgbClr val="1C1E21"/>
            </a:solidFill>
            <a:prstDash val="solid"/>
          </a:ln>
        </p:spPr>
      </p:sp>
      <p:sp>
        <p:nvSpPr>
          <p:cNvPr id="22" name="Text 20"/>
          <p:cNvSpPr/>
          <p:nvPr/>
        </p:nvSpPr>
        <p:spPr>
          <a:xfrm>
            <a:off x="960120" y="4956048"/>
            <a:ext cx="10268712" cy="960120"/>
          </a:xfrm>
          <a:prstGeom prst="rect">
            <a:avLst/>
          </a:prstGeom>
          <a:noFill/>
          <a:ln/>
        </p:spPr>
        <p:txBody>
          <a:bodyPr wrap="square" lIns="0" tIns="0" rIns="0" bIns="0" rtlCol="0" anchor="ctr"/>
          <a:lstStyle/>
          <a:p>
            <a:pPr indent="0" marL="0">
              <a:buNone/>
            </a:pPr>
            <a:r>
              <a:rPr lang="en-US" sz="1350" b="1" dirty="0">
                <a:solidFill>
                  <a:srgbClr val="CB132A"/>
                </a:solidFill>
                <a:latin typeface="Calibri" pitchFamily="34" charset="0"/>
                <a:ea typeface="Calibri" pitchFamily="34" charset="-122"/>
                <a:cs typeface="Calibri" pitchFamily="34" charset="-120"/>
              </a:rPr>
              <a:t>Closer to home: </a:t>
            </a:r>
            <a:pPr indent="0" marL="0">
              <a:buNone/>
            </a:pPr>
            <a:r>
              <a:rPr lang="en-US" sz="1350" dirty="0">
                <a:solidFill>
                  <a:srgbClr val="FFFFFF"/>
                </a:solidFill>
                <a:latin typeface="Calibri" pitchFamily="34" charset="0"/>
                <a:ea typeface="Calibri" pitchFamily="34" charset="-122"/>
                <a:cs typeface="Calibri" pitchFamily="34" charset="-120"/>
              </a:rPr>
              <a:t>the schedule that put this class in this room at this hour is a CSP with a few thousand variables. So is the on-call rotation for a security operations team, and so is assigning non-overlapping address space to segmented networks.</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Varieties of CSPs</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This course lives in the top row. Know that the others exist.</a:t>
            </a:r>
            <a:endParaRPr lang="en-US" sz="1400" dirty="0"/>
          </a:p>
        </p:txBody>
      </p:sp>
      <p:sp>
        <p:nvSpPr>
          <p:cNvPr id="6" name="Shape 4"/>
          <p:cNvSpPr/>
          <p:nvPr/>
        </p:nvSpPr>
        <p:spPr>
          <a:xfrm>
            <a:off x="640080" y="1737360"/>
            <a:ext cx="10908792" cy="1207008"/>
          </a:xfrm>
          <a:prstGeom prst="roundRect">
            <a:avLst>
              <a:gd name="adj" fmla="val 4545"/>
            </a:avLst>
          </a:prstGeom>
          <a:solidFill>
            <a:srgbClr val="FBEDEF"/>
          </a:solidFill>
          <a:ln w="9525">
            <a:solidFill>
              <a:srgbClr val="E8B5BC"/>
            </a:solidFill>
            <a:prstDash val="solid"/>
          </a:ln>
        </p:spPr>
      </p:sp>
      <p:sp>
        <p:nvSpPr>
          <p:cNvPr id="7" name="Text 5"/>
          <p:cNvSpPr/>
          <p:nvPr/>
        </p:nvSpPr>
        <p:spPr>
          <a:xfrm>
            <a:off x="914400" y="1901952"/>
            <a:ext cx="3291840" cy="457200"/>
          </a:xfrm>
          <a:prstGeom prst="rect">
            <a:avLst/>
          </a:prstGeom>
          <a:noFill/>
          <a:ln/>
        </p:spPr>
        <p:txBody>
          <a:bodyPr wrap="square" lIns="0" tIns="0" rIns="0" bIns="0" rtlCol="0" anchor="ctr"/>
          <a:lstStyle/>
          <a:p>
            <a:pPr indent="0" marL="0">
              <a:buNone/>
            </a:pPr>
            <a:r>
              <a:rPr lang="en-US" sz="1800" b="1" dirty="0">
                <a:solidFill>
                  <a:srgbClr val="CB132A"/>
                </a:solidFill>
                <a:latin typeface="Cambria" pitchFamily="34" charset="0"/>
                <a:ea typeface="Cambria" pitchFamily="34" charset="-122"/>
                <a:cs typeface="Cambria" pitchFamily="34" charset="-120"/>
              </a:rPr>
              <a:t>Discrete, finite domains</a:t>
            </a:r>
            <a:endParaRPr lang="en-US" sz="1800" dirty="0"/>
          </a:p>
        </p:txBody>
      </p:sp>
      <p:sp>
        <p:nvSpPr>
          <p:cNvPr id="8" name="Text 6"/>
          <p:cNvSpPr/>
          <p:nvPr/>
        </p:nvSpPr>
        <p:spPr>
          <a:xfrm>
            <a:off x="914400" y="2423160"/>
            <a:ext cx="3291840" cy="320040"/>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our focus</a:t>
            </a:r>
            <a:endParaRPr lang="en-US" sz="1100" dirty="0"/>
          </a:p>
        </p:txBody>
      </p:sp>
      <p:sp>
        <p:nvSpPr>
          <p:cNvPr id="9" name="Text 7"/>
          <p:cNvSpPr/>
          <p:nvPr/>
        </p:nvSpPr>
        <p:spPr>
          <a:xfrm>
            <a:off x="4434840" y="1920240"/>
            <a:ext cx="6858000" cy="9144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d^n complete assignments for n variables of domain size d. Includes Boolean CSPs - and SAT, which is NP-complete.</a:t>
            </a:r>
            <a:endParaRPr lang="en-US" sz="1350" dirty="0"/>
          </a:p>
        </p:txBody>
      </p:sp>
      <p:sp>
        <p:nvSpPr>
          <p:cNvPr id="10" name="Shape 8"/>
          <p:cNvSpPr/>
          <p:nvPr/>
        </p:nvSpPr>
        <p:spPr>
          <a:xfrm>
            <a:off x="640080" y="3072384"/>
            <a:ext cx="10908792" cy="1207008"/>
          </a:xfrm>
          <a:prstGeom prst="roundRect">
            <a:avLst>
              <a:gd name="adj" fmla="val 4545"/>
            </a:avLst>
          </a:prstGeom>
          <a:solidFill>
            <a:srgbClr val="F6F7F8"/>
          </a:solidFill>
          <a:ln w="9525">
            <a:solidFill>
              <a:srgbClr val="D3D6D9"/>
            </a:solidFill>
            <a:prstDash val="solid"/>
          </a:ln>
        </p:spPr>
      </p:sp>
      <p:sp>
        <p:nvSpPr>
          <p:cNvPr id="11" name="Text 9"/>
          <p:cNvSpPr/>
          <p:nvPr/>
        </p:nvSpPr>
        <p:spPr>
          <a:xfrm>
            <a:off x="914400" y="3236976"/>
            <a:ext cx="3291840" cy="45720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Discrete, infinite domains</a:t>
            </a:r>
            <a:endParaRPr lang="en-US" sz="1800" dirty="0"/>
          </a:p>
        </p:txBody>
      </p:sp>
      <p:sp>
        <p:nvSpPr>
          <p:cNvPr id="12" name="Text 10"/>
          <p:cNvSpPr/>
          <p:nvPr/>
        </p:nvSpPr>
        <p:spPr>
          <a:xfrm>
            <a:off x="914400" y="3758184"/>
            <a:ext cx="3291840" cy="320040"/>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constraint languages</a:t>
            </a:r>
            <a:endParaRPr lang="en-US" sz="1100" dirty="0"/>
          </a:p>
        </p:txBody>
      </p:sp>
      <p:sp>
        <p:nvSpPr>
          <p:cNvPr id="13" name="Text 11"/>
          <p:cNvSpPr/>
          <p:nvPr/>
        </p:nvSpPr>
        <p:spPr>
          <a:xfrm>
            <a:off x="4434840" y="3255264"/>
            <a:ext cx="6858000" cy="9144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Integers or strings. Job scheduling where a start time is any nonnegative integer. Linear constraints are solvable; general nonlinear integer constraints are undecidable.</a:t>
            </a:r>
            <a:endParaRPr lang="en-US" sz="1350" dirty="0"/>
          </a:p>
        </p:txBody>
      </p:sp>
      <p:sp>
        <p:nvSpPr>
          <p:cNvPr id="14" name="Shape 12"/>
          <p:cNvSpPr/>
          <p:nvPr/>
        </p:nvSpPr>
        <p:spPr>
          <a:xfrm>
            <a:off x="640080" y="4407408"/>
            <a:ext cx="10908792" cy="1207008"/>
          </a:xfrm>
          <a:prstGeom prst="roundRect">
            <a:avLst>
              <a:gd name="adj" fmla="val 4545"/>
            </a:avLst>
          </a:prstGeom>
          <a:solidFill>
            <a:srgbClr val="F6F7F8"/>
          </a:solidFill>
          <a:ln w="9525">
            <a:solidFill>
              <a:srgbClr val="D3D6D9"/>
            </a:solidFill>
            <a:prstDash val="solid"/>
          </a:ln>
        </p:spPr>
      </p:sp>
      <p:sp>
        <p:nvSpPr>
          <p:cNvPr id="15" name="Text 13"/>
          <p:cNvSpPr/>
          <p:nvPr/>
        </p:nvSpPr>
        <p:spPr>
          <a:xfrm>
            <a:off x="914400" y="4572000"/>
            <a:ext cx="3291840" cy="45720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Continuous domains</a:t>
            </a:r>
            <a:endParaRPr lang="en-US" sz="1800" dirty="0"/>
          </a:p>
        </p:txBody>
      </p:sp>
      <p:sp>
        <p:nvSpPr>
          <p:cNvPr id="16" name="Text 14"/>
          <p:cNvSpPr/>
          <p:nvPr/>
        </p:nvSpPr>
        <p:spPr>
          <a:xfrm>
            <a:off x="914400" y="5093208"/>
            <a:ext cx="3291840" cy="320040"/>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see CS 170 / LP</a:t>
            </a:r>
            <a:endParaRPr lang="en-US" sz="1100" dirty="0"/>
          </a:p>
        </p:txBody>
      </p:sp>
      <p:sp>
        <p:nvSpPr>
          <p:cNvPr id="17" name="Text 15"/>
          <p:cNvSpPr/>
          <p:nvPr/>
        </p:nvSpPr>
        <p:spPr>
          <a:xfrm>
            <a:off x="4434840" y="4590288"/>
            <a:ext cx="6858000" cy="9144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Real-valued start and end times - Hubble telescope observation windows are the classic case. Linear constraints give a linear program, solvable in polynomial time.</a:t>
            </a:r>
            <a:endParaRPr lang="en-US" sz="1350" dirty="0"/>
          </a:p>
        </p:txBody>
      </p:sp>
      <p:sp>
        <p:nvSpPr>
          <p:cNvPr id="18" name="Shape 16"/>
          <p:cNvSpPr/>
          <p:nvPr/>
        </p:nvSpPr>
        <p:spPr>
          <a:xfrm>
            <a:off x="640080" y="5742432"/>
            <a:ext cx="10908792" cy="502920"/>
          </a:xfrm>
          <a:prstGeom prst="roundRect">
            <a:avLst>
              <a:gd name="adj" fmla="val 10909"/>
            </a:avLst>
          </a:prstGeom>
          <a:solidFill>
            <a:srgbClr val="1C1E21"/>
          </a:solidFill>
          <a:ln w="9525">
            <a:solidFill>
              <a:srgbClr val="1C1E21"/>
            </a:solidFill>
            <a:prstDash val="solid"/>
          </a:ln>
        </p:spPr>
      </p:sp>
      <p:sp>
        <p:nvSpPr>
          <p:cNvPr id="19" name="Text 17"/>
          <p:cNvSpPr/>
          <p:nvPr/>
        </p:nvSpPr>
        <p:spPr>
          <a:xfrm>
            <a:off x="960120" y="5742432"/>
            <a:ext cx="10268712" cy="50292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d^n is already exponential before any constraint is written down. Everything after the break is about not visiting most of it.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Varieties of constraints</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Arity, and then a category that is not really a constraint at all</a:t>
            </a:r>
            <a:endParaRPr lang="en-US" sz="1400" dirty="0"/>
          </a:p>
        </p:txBody>
      </p:sp>
      <p:sp>
        <p:nvSpPr>
          <p:cNvPr id="6" name="Shape 4"/>
          <p:cNvSpPr/>
          <p:nvPr/>
        </p:nvSpPr>
        <p:spPr>
          <a:xfrm>
            <a:off x="640080" y="1691640"/>
            <a:ext cx="10908792" cy="960120"/>
          </a:xfrm>
          <a:prstGeom prst="roundRect">
            <a:avLst>
              <a:gd name="adj" fmla="val 5714"/>
            </a:avLst>
          </a:prstGeom>
          <a:solidFill>
            <a:srgbClr val="F6F7F8"/>
          </a:solidFill>
          <a:ln w="9525">
            <a:solidFill>
              <a:srgbClr val="D3D6D9"/>
            </a:solidFill>
            <a:prstDash val="solid"/>
          </a:ln>
        </p:spPr>
      </p:sp>
      <p:sp>
        <p:nvSpPr>
          <p:cNvPr id="7" name="Text 5"/>
          <p:cNvSpPr/>
          <p:nvPr/>
        </p:nvSpPr>
        <p:spPr>
          <a:xfrm>
            <a:off x="914400" y="1801368"/>
            <a:ext cx="1920240" cy="36576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Unary</a:t>
            </a:r>
            <a:endParaRPr lang="en-US" sz="1800" dirty="0"/>
          </a:p>
        </p:txBody>
      </p:sp>
      <p:sp>
        <p:nvSpPr>
          <p:cNvPr id="8" name="Text 6"/>
          <p:cNvSpPr/>
          <p:nvPr/>
        </p:nvSpPr>
        <p:spPr>
          <a:xfrm>
            <a:off x="914400" y="2203704"/>
            <a:ext cx="1920240" cy="292608"/>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One variable</a:t>
            </a:r>
            <a:endParaRPr lang="en-US" sz="1100" dirty="0"/>
          </a:p>
        </p:txBody>
      </p:sp>
      <p:sp>
        <p:nvSpPr>
          <p:cNvPr id="9" name="Text 7"/>
          <p:cNvSpPr/>
          <p:nvPr/>
        </p:nvSpPr>
        <p:spPr>
          <a:xfrm>
            <a:off x="2926080" y="1801368"/>
            <a:ext cx="2743200" cy="731520"/>
          </a:xfrm>
          <a:prstGeom prst="rect">
            <a:avLst/>
          </a:prstGeom>
          <a:noFill/>
          <a:ln/>
        </p:spPr>
        <p:txBody>
          <a:bodyPr wrap="square" lIns="0" tIns="0" rIns="0" bIns="0" rtlCol="0" anchor="ctr"/>
          <a:lstStyle/>
          <a:p>
            <a:pPr indent="0" marL="0">
              <a:buNone/>
            </a:pPr>
            <a:r>
              <a:rPr lang="en-US" sz="1250" dirty="0">
                <a:solidFill>
                  <a:srgbClr val="CB132A"/>
                </a:solidFill>
                <a:latin typeface="Courier New" pitchFamily="34" charset="0"/>
                <a:ea typeface="Courier New" pitchFamily="34" charset="-122"/>
                <a:cs typeface="Courier New" pitchFamily="34" charset="-120"/>
              </a:rPr>
              <a:t>SA != green</a:t>
            </a:r>
            <a:endParaRPr lang="en-US" sz="1250" dirty="0"/>
          </a:p>
        </p:txBody>
      </p:sp>
      <p:sp>
        <p:nvSpPr>
          <p:cNvPr id="10" name="Text 8"/>
          <p:cNvSpPr/>
          <p:nvPr/>
        </p:nvSpPr>
        <p:spPr>
          <a:xfrm>
            <a:off x="5852160" y="1801368"/>
            <a:ext cx="5394960" cy="73152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Really just a domain reduction - apply it once, up front, and it is gone.</a:t>
            </a:r>
            <a:endParaRPr lang="en-US" sz="1300" dirty="0"/>
          </a:p>
        </p:txBody>
      </p:sp>
      <p:sp>
        <p:nvSpPr>
          <p:cNvPr id="11" name="Shape 9"/>
          <p:cNvSpPr/>
          <p:nvPr/>
        </p:nvSpPr>
        <p:spPr>
          <a:xfrm>
            <a:off x="640080" y="2770632"/>
            <a:ext cx="10908792" cy="960120"/>
          </a:xfrm>
          <a:prstGeom prst="roundRect">
            <a:avLst>
              <a:gd name="adj" fmla="val 5714"/>
            </a:avLst>
          </a:prstGeom>
          <a:solidFill>
            <a:srgbClr val="F6F7F8"/>
          </a:solidFill>
          <a:ln w="9525">
            <a:solidFill>
              <a:srgbClr val="D3D6D9"/>
            </a:solidFill>
            <a:prstDash val="solid"/>
          </a:ln>
        </p:spPr>
      </p:sp>
      <p:sp>
        <p:nvSpPr>
          <p:cNvPr id="12" name="Text 10"/>
          <p:cNvSpPr/>
          <p:nvPr/>
        </p:nvSpPr>
        <p:spPr>
          <a:xfrm>
            <a:off x="914400" y="2880360"/>
            <a:ext cx="1920240" cy="36576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Binary</a:t>
            </a:r>
            <a:endParaRPr lang="en-US" sz="1800" dirty="0"/>
          </a:p>
        </p:txBody>
      </p:sp>
      <p:sp>
        <p:nvSpPr>
          <p:cNvPr id="13" name="Text 11"/>
          <p:cNvSpPr/>
          <p:nvPr/>
        </p:nvSpPr>
        <p:spPr>
          <a:xfrm>
            <a:off x="914400" y="3282696"/>
            <a:ext cx="1920240" cy="292608"/>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Two variables</a:t>
            </a:r>
            <a:endParaRPr lang="en-US" sz="1100" dirty="0"/>
          </a:p>
        </p:txBody>
      </p:sp>
      <p:sp>
        <p:nvSpPr>
          <p:cNvPr id="14" name="Text 12"/>
          <p:cNvSpPr/>
          <p:nvPr/>
        </p:nvSpPr>
        <p:spPr>
          <a:xfrm>
            <a:off x="2926080" y="2880360"/>
            <a:ext cx="2743200" cy="731520"/>
          </a:xfrm>
          <a:prstGeom prst="rect">
            <a:avLst/>
          </a:prstGeom>
          <a:noFill/>
          <a:ln/>
        </p:spPr>
        <p:txBody>
          <a:bodyPr wrap="square" lIns="0" tIns="0" rIns="0" bIns="0" rtlCol="0" anchor="ctr"/>
          <a:lstStyle/>
          <a:p>
            <a:pPr indent="0" marL="0">
              <a:buNone/>
            </a:pPr>
            <a:r>
              <a:rPr lang="en-US" sz="1250" dirty="0">
                <a:solidFill>
                  <a:srgbClr val="CB132A"/>
                </a:solidFill>
                <a:latin typeface="Courier New" pitchFamily="34" charset="0"/>
                <a:ea typeface="Courier New" pitchFamily="34" charset="-122"/>
                <a:cs typeface="Courier New" pitchFamily="34" charset="-120"/>
              </a:rPr>
              <a:t>SA != WA</a:t>
            </a:r>
            <a:endParaRPr lang="en-US" sz="1250" dirty="0"/>
          </a:p>
        </p:txBody>
      </p:sp>
      <p:sp>
        <p:nvSpPr>
          <p:cNvPr id="15" name="Text 13"/>
          <p:cNvSpPr/>
          <p:nvPr/>
        </p:nvSpPr>
        <p:spPr>
          <a:xfrm>
            <a:off x="5852160" y="2880360"/>
            <a:ext cx="5394960" cy="73152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The case the whole algorithmic toolkit is built around.</a:t>
            </a:r>
            <a:endParaRPr lang="en-US" sz="1300" dirty="0"/>
          </a:p>
        </p:txBody>
      </p:sp>
      <p:sp>
        <p:nvSpPr>
          <p:cNvPr id="16" name="Shape 14"/>
          <p:cNvSpPr/>
          <p:nvPr/>
        </p:nvSpPr>
        <p:spPr>
          <a:xfrm>
            <a:off x="640080" y="3849624"/>
            <a:ext cx="10908792" cy="960120"/>
          </a:xfrm>
          <a:prstGeom prst="roundRect">
            <a:avLst>
              <a:gd name="adj" fmla="val 5714"/>
            </a:avLst>
          </a:prstGeom>
          <a:solidFill>
            <a:srgbClr val="F6F7F8"/>
          </a:solidFill>
          <a:ln w="9525">
            <a:solidFill>
              <a:srgbClr val="D3D6D9"/>
            </a:solidFill>
            <a:prstDash val="solid"/>
          </a:ln>
        </p:spPr>
      </p:sp>
      <p:sp>
        <p:nvSpPr>
          <p:cNvPr id="17" name="Text 15"/>
          <p:cNvSpPr/>
          <p:nvPr/>
        </p:nvSpPr>
        <p:spPr>
          <a:xfrm>
            <a:off x="914400" y="3959352"/>
            <a:ext cx="1920240" cy="36576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Higher-order</a:t>
            </a:r>
            <a:endParaRPr lang="en-US" sz="1800" dirty="0"/>
          </a:p>
        </p:txBody>
      </p:sp>
      <p:sp>
        <p:nvSpPr>
          <p:cNvPr id="18" name="Text 16"/>
          <p:cNvSpPr/>
          <p:nvPr/>
        </p:nvSpPr>
        <p:spPr>
          <a:xfrm>
            <a:off x="914400" y="4361688"/>
            <a:ext cx="1920240" cy="292608"/>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Three or more</a:t>
            </a:r>
            <a:endParaRPr lang="en-US" sz="1100" dirty="0"/>
          </a:p>
        </p:txBody>
      </p:sp>
      <p:sp>
        <p:nvSpPr>
          <p:cNvPr id="19" name="Text 17"/>
          <p:cNvSpPr/>
          <p:nvPr/>
        </p:nvSpPr>
        <p:spPr>
          <a:xfrm>
            <a:off x="2926080" y="3959352"/>
            <a:ext cx="2743200" cy="731520"/>
          </a:xfrm>
          <a:prstGeom prst="rect">
            <a:avLst/>
          </a:prstGeom>
          <a:noFill/>
          <a:ln/>
        </p:spPr>
        <p:txBody>
          <a:bodyPr wrap="square" lIns="0" tIns="0" rIns="0" bIns="0" rtlCol="0" anchor="ctr"/>
          <a:lstStyle/>
          <a:p>
            <a:pPr indent="0" marL="0">
              <a:buNone/>
            </a:pPr>
            <a:r>
              <a:rPr lang="en-US" sz="1250" dirty="0">
                <a:solidFill>
                  <a:srgbClr val="CB132A"/>
                </a:solidFill>
                <a:latin typeface="Courier New" pitchFamily="34" charset="0"/>
                <a:ea typeface="Courier New" pitchFamily="34" charset="-122"/>
                <a:cs typeface="Courier New" pitchFamily="34" charset="-120"/>
              </a:rPr>
              <a:t>alldiff(F,T,U,W,R,O)</a:t>
            </a:r>
            <a:endParaRPr lang="en-US" sz="1250" dirty="0"/>
          </a:p>
        </p:txBody>
      </p:sp>
      <p:sp>
        <p:nvSpPr>
          <p:cNvPr id="20" name="Text 18"/>
          <p:cNvSpPr/>
          <p:nvPr/>
        </p:nvSpPr>
        <p:spPr>
          <a:xfrm>
            <a:off x="5852160" y="3959352"/>
            <a:ext cx="5394960" cy="73152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Drawn as a square node. Decomposable into pairwise constraints, but you lose propagation strength doing it.</a:t>
            </a:r>
            <a:endParaRPr lang="en-US" sz="1300" dirty="0"/>
          </a:p>
        </p:txBody>
      </p:sp>
      <p:sp>
        <p:nvSpPr>
          <p:cNvPr id="21" name="Shape 19"/>
          <p:cNvSpPr/>
          <p:nvPr/>
        </p:nvSpPr>
        <p:spPr>
          <a:xfrm>
            <a:off x="640080" y="5175504"/>
            <a:ext cx="10908792" cy="1024128"/>
          </a:xfrm>
          <a:prstGeom prst="roundRect">
            <a:avLst>
              <a:gd name="adj" fmla="val 5357"/>
            </a:avLst>
          </a:prstGeom>
          <a:solidFill>
            <a:srgbClr val="FBEDEF"/>
          </a:solidFill>
          <a:ln w="9525">
            <a:solidFill>
              <a:srgbClr val="E8B5BC"/>
            </a:solidFill>
            <a:prstDash val="solid"/>
          </a:ln>
        </p:spPr>
      </p:sp>
      <p:sp>
        <p:nvSpPr>
          <p:cNvPr id="22" name="Text 20"/>
          <p:cNvSpPr/>
          <p:nvPr/>
        </p:nvSpPr>
        <p:spPr>
          <a:xfrm>
            <a:off x="914400" y="5285232"/>
            <a:ext cx="457200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Preferences, or soft constraints</a:t>
            </a:r>
            <a:endParaRPr lang="en-US" sz="1600" dirty="0"/>
          </a:p>
        </p:txBody>
      </p:sp>
      <p:sp>
        <p:nvSpPr>
          <p:cNvPr id="23" name="Text 21"/>
          <p:cNvSpPr/>
          <p:nvPr/>
        </p:nvSpPr>
        <p:spPr>
          <a:xfrm>
            <a:off x="914400" y="5596128"/>
            <a:ext cx="10332720" cy="566928"/>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Not legality rules but costs: red is better than green, but green is not illegal. This turns satisfaction into constrained optimization. We set it aside until Bayes nets, which reason over the same graph structure with real-valued weights instead of hard rules.</a:t>
            </a:r>
            <a:endParaRPr lang="en-US" sz="1250" dirty="0"/>
          </a:p>
        </p:txBody>
      </p:sp>
      <p:sp>
        <p:nvSpPr>
          <p:cNvPr id="24" name="Text 22"/>
          <p:cNvSpPr/>
          <p:nvPr/>
        </p:nvSpPr>
        <p:spPr>
          <a:xfrm>
            <a:off x="640080" y="4791456"/>
            <a:ext cx="10908792" cy="320040"/>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Careful: a binary constraint has arity two. It has nothing to do with the domain being { 0, 1 }. Students lose points on this every term.</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23</a:t>
            </a:r>
            <a:endParaRPr lang="en-US" sz="900" dirty="0"/>
          </a:p>
        </p:txBody>
      </p:sp>
      <p:sp>
        <p:nvSpPr>
          <p:cNvPr id="4" name="Shape 2"/>
          <p:cNvSpPr/>
          <p:nvPr/>
        </p:nvSpPr>
        <p:spPr>
          <a:xfrm>
            <a:off x="0" y="0"/>
            <a:ext cx="12191695" cy="6858000"/>
          </a:xfrm>
          <a:prstGeom prst="rect">
            <a:avLst/>
          </a:prstGeom>
          <a:solidFill>
            <a:srgbClr val="F1F2F3"/>
          </a:solidFill>
          <a:ln w="12700">
            <a:solidFill>
              <a:srgbClr val="333333"/>
            </a:solidFill>
            <a:prstDash val="solid"/>
          </a:ln>
        </p:spPr>
      </p:sp>
      <p:sp>
        <p:nvSpPr>
          <p:cNvPr id="5" name="Text 3"/>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6" name="Text 4"/>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23</a:t>
            </a:r>
            <a:endParaRPr lang="en-US" sz="900" dirty="0"/>
          </a:p>
        </p:txBody>
      </p:sp>
      <p:sp>
        <p:nvSpPr>
          <p:cNvPr id="7" name="Text 5"/>
          <p:cNvSpPr/>
          <p:nvPr/>
        </p:nvSpPr>
        <p:spPr>
          <a:xfrm>
            <a:off x="640080" y="502920"/>
            <a:ext cx="3657600" cy="365760"/>
          </a:xfrm>
          <a:prstGeom prst="rect">
            <a:avLst/>
          </a:prstGeom>
          <a:noFill/>
          <a:ln/>
        </p:spPr>
        <p:txBody>
          <a:bodyPr wrap="square" lIns="0" tIns="0" rIns="0" bIns="0" rtlCol="0" anchor="ctr"/>
          <a:lstStyle/>
          <a:p>
            <a:pPr indent="0" marL="0">
              <a:buNone/>
            </a:pPr>
            <a:r>
              <a:rPr lang="en-US" sz="1300" b="1" spc="300" kern="0" dirty="0">
                <a:solidFill>
                  <a:srgbClr val="CB132A"/>
                </a:solidFill>
                <a:latin typeface="Calibri" pitchFamily="34" charset="0"/>
                <a:ea typeface="Calibri" pitchFamily="34" charset="-122"/>
                <a:cs typeface="Calibri" pitchFamily="34" charset="-120"/>
              </a:rPr>
              <a:t>Checkpoint</a:t>
            </a:r>
            <a:endParaRPr lang="en-US" sz="1300" dirty="0"/>
          </a:p>
        </p:txBody>
      </p:sp>
      <p:sp>
        <p:nvSpPr>
          <p:cNvPr id="8" name="Text 6"/>
          <p:cNvSpPr/>
          <p:nvPr/>
        </p:nvSpPr>
        <p:spPr>
          <a:xfrm>
            <a:off x="640080" y="868680"/>
            <a:ext cx="10908792" cy="640080"/>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Model this before we go any further</a:t>
            </a:r>
            <a:endParaRPr lang="en-US" sz="3200" dirty="0"/>
          </a:p>
        </p:txBody>
      </p:sp>
      <p:sp>
        <p:nvSpPr>
          <p:cNvPr id="9" name="Shape 7"/>
          <p:cNvSpPr/>
          <p:nvPr/>
        </p:nvSpPr>
        <p:spPr>
          <a:xfrm>
            <a:off x="640080" y="1783080"/>
            <a:ext cx="6035040" cy="3108960"/>
          </a:xfrm>
          <a:prstGeom prst="roundRect">
            <a:avLst>
              <a:gd name="adj" fmla="val 1765"/>
            </a:avLst>
          </a:prstGeom>
          <a:solidFill>
            <a:srgbClr val="FFFFFF"/>
          </a:solidFill>
          <a:ln w="9525">
            <a:solidFill>
              <a:srgbClr val="D3D6D9"/>
            </a:solidFill>
            <a:prstDash val="solid"/>
          </a:ln>
        </p:spPr>
      </p:sp>
      <p:sp>
        <p:nvSpPr>
          <p:cNvPr id="10" name="Text 8"/>
          <p:cNvSpPr/>
          <p:nvPr/>
        </p:nvSpPr>
        <p:spPr>
          <a:xfrm>
            <a:off x="914400" y="1938528"/>
            <a:ext cx="548640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The problem</a:t>
            </a:r>
            <a:endParaRPr lang="en-US" sz="1700" dirty="0"/>
          </a:p>
        </p:txBody>
      </p:sp>
      <p:sp>
        <p:nvSpPr>
          <p:cNvPr id="11" name="Text 9"/>
          <p:cNvSpPr/>
          <p:nvPr/>
        </p:nvSpPr>
        <p:spPr>
          <a:xfrm>
            <a:off x="914400" y="2304288"/>
            <a:ext cx="5486400" cy="237744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COMP 469 has a final exam. So do five other courses. The registrar has four exam blocks and three rooms per block. No student may sit two exams in the same block, and no room may host two exams at once.</a:t>
            </a:r>
            <a:endParaRPr lang="en-US" sz="1400" dirty="0"/>
          </a:p>
          <a:p>
            <a:pPr indent="0" marL="0">
              <a:buNone/>
            </a:pPr>
            <a:endParaRPr lang="en-US" sz="1400" dirty="0"/>
          </a:p>
          <a:p>
            <a:pPr indent="0" marL="0">
              <a:buNone/>
            </a:pPr>
            <a:r>
              <a:rPr lang="en-US" sz="1400" dirty="0">
                <a:solidFill>
                  <a:srgbClr val="1C1E21"/>
                </a:solidFill>
                <a:latin typeface="Calibri" pitchFamily="34" charset="0"/>
                <a:ea typeface="Calibri" pitchFamily="34" charset="-122"/>
                <a:cs typeface="Calibri" pitchFamily="34" charset="-120"/>
              </a:rPr>
              <a:t>Some courses have enrollments larger than the small rooms hold.</a:t>
            </a:r>
            <a:endParaRPr lang="en-US" sz="1400" dirty="0"/>
          </a:p>
        </p:txBody>
      </p:sp>
      <p:sp>
        <p:nvSpPr>
          <p:cNvPr id="12" name="Shape 10"/>
          <p:cNvSpPr/>
          <p:nvPr/>
        </p:nvSpPr>
        <p:spPr>
          <a:xfrm>
            <a:off x="7086600" y="1783080"/>
            <a:ext cx="4462272" cy="3108960"/>
          </a:xfrm>
          <a:prstGeom prst="roundRect">
            <a:avLst>
              <a:gd name="adj" fmla="val 1765"/>
            </a:avLst>
          </a:prstGeom>
          <a:solidFill>
            <a:srgbClr val="FFFFFF"/>
          </a:solidFill>
          <a:ln w="9525">
            <a:solidFill>
              <a:srgbClr val="D3D6D9"/>
            </a:solidFill>
            <a:prstDash val="solid"/>
          </a:ln>
        </p:spPr>
      </p:sp>
      <p:sp>
        <p:nvSpPr>
          <p:cNvPr id="13" name="Text 11"/>
          <p:cNvSpPr/>
          <p:nvPr/>
        </p:nvSpPr>
        <p:spPr>
          <a:xfrm>
            <a:off x="7360920" y="1938528"/>
            <a:ext cx="393192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Write down</a:t>
            </a:r>
            <a:endParaRPr lang="en-US" sz="1700" dirty="0"/>
          </a:p>
        </p:txBody>
      </p:sp>
      <p:sp>
        <p:nvSpPr>
          <p:cNvPr id="14" name="Text 12"/>
          <p:cNvSpPr/>
          <p:nvPr/>
        </p:nvSpPr>
        <p:spPr>
          <a:xfrm>
            <a:off x="7360920" y="2331720"/>
            <a:ext cx="3931920" cy="2377440"/>
          </a:xfrm>
          <a:prstGeom prst="rect">
            <a:avLst/>
          </a:prstGeom>
          <a:noFill/>
          <a:ln/>
        </p:spPr>
        <p:txBody>
          <a:bodyPr wrap="square" lIns="0" tIns="0" rIns="0" bIns="0" rtlCol="0" anchor="t"/>
          <a:lstStyle/>
          <a:p>
            <a:pPr marL="177800" indent="-177800">
              <a:spcAft>
                <a:spcPts val="1200"/>
              </a:spcAft>
              <a:buSzPct val="100000"/>
              <a:buChar char="•"/>
            </a:pPr>
            <a:r>
              <a:rPr lang="en-US" sz="1300" b="1" dirty="0">
                <a:solidFill>
                  <a:srgbClr val="1C1E21"/>
                </a:solidFill>
                <a:latin typeface="Calibri" pitchFamily="34" charset="0"/>
                <a:ea typeface="Calibri" pitchFamily="34" charset="-122"/>
                <a:cs typeface="Calibri" pitchFamily="34" charset="-120"/>
              </a:rPr>
              <a:t>What is a variable? Justify the choice.</a:t>
            </a:r>
            <a:endParaRPr lang="en-US" sz="1300" dirty="0"/>
          </a:p>
          <a:p>
            <a:pPr marL="177800" indent="-177800">
              <a:spcAft>
                <a:spcPts val="1200"/>
              </a:spcAft>
              <a:buSzPct val="100000"/>
              <a:buChar char="•"/>
            </a:pPr>
            <a:r>
              <a:rPr lang="en-US" sz="1300" b="1" dirty="0">
                <a:solidFill>
                  <a:srgbClr val="1C1E21"/>
                </a:solidFill>
                <a:latin typeface="Calibri" pitchFamily="34" charset="0"/>
                <a:ea typeface="Calibri" pitchFamily="34" charset="-122"/>
                <a:cs typeface="Calibri" pitchFamily="34" charset="-120"/>
              </a:rPr>
              <a:t>What is its domain?</a:t>
            </a:r>
            <a:endParaRPr lang="en-US" sz="1300" dirty="0"/>
          </a:p>
          <a:p>
            <a:pPr marL="177800" indent="-177800">
              <a:spcAft>
                <a:spcPts val="1200"/>
              </a:spcAft>
              <a:buSzPct val="100000"/>
              <a:buChar char="•"/>
            </a:pPr>
            <a:r>
              <a:rPr lang="en-US" sz="1300" b="1" dirty="0">
                <a:solidFill>
                  <a:srgbClr val="1C1E21"/>
                </a:solidFill>
                <a:latin typeface="Calibri" pitchFamily="34" charset="0"/>
                <a:ea typeface="Calibri" pitchFamily="34" charset="-122"/>
                <a:cs typeface="Calibri" pitchFamily="34" charset="-120"/>
              </a:rPr>
              <a:t>List the constraints, and give the arity of each.</a:t>
            </a:r>
            <a:endParaRPr lang="en-US" sz="1300" dirty="0"/>
          </a:p>
          <a:p>
            <a:pPr marL="177800" indent="-177800">
              <a:spcAft>
                <a:spcPts val="1200"/>
              </a:spcAft>
              <a:buSzPct val="100000"/>
              <a:buChar char="•"/>
            </a:pPr>
            <a:r>
              <a:rPr lang="en-US" sz="1300" b="1" dirty="0">
                <a:solidFill>
                  <a:srgbClr val="1C1E21"/>
                </a:solidFill>
                <a:latin typeface="Calibri" pitchFamily="34" charset="0"/>
                <a:ea typeface="Calibri" pitchFamily="34" charset="-122"/>
                <a:cs typeface="Calibri" pitchFamily="34" charset="-120"/>
              </a:rPr>
              <a:t>Which are unary? Can you eliminate them immediately?</a:t>
            </a:r>
            <a:endParaRPr lang="en-US" sz="1300" dirty="0"/>
          </a:p>
        </p:txBody>
      </p:sp>
      <p:sp>
        <p:nvSpPr>
          <p:cNvPr id="15" name="Shape 13"/>
          <p:cNvSpPr/>
          <p:nvPr/>
        </p:nvSpPr>
        <p:spPr>
          <a:xfrm>
            <a:off x="640080" y="5120640"/>
            <a:ext cx="10908792" cy="868680"/>
          </a:xfrm>
          <a:prstGeom prst="roundRect">
            <a:avLst>
              <a:gd name="adj" fmla="val 6316"/>
            </a:avLst>
          </a:prstGeom>
          <a:solidFill>
            <a:srgbClr val="1C1E21"/>
          </a:solidFill>
          <a:ln w="9525">
            <a:solidFill>
              <a:srgbClr val="1C1E21"/>
            </a:solidFill>
            <a:prstDash val="solid"/>
          </a:ln>
        </p:spPr>
      </p:sp>
      <p:sp>
        <p:nvSpPr>
          <p:cNvPr id="16" name="Text 14"/>
          <p:cNvSpPr/>
          <p:nvPr/>
        </p:nvSpPr>
        <p:spPr>
          <a:xfrm>
            <a:off x="960120" y="5120640"/>
            <a:ext cx="10268712" cy="8686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Four minutes on your own, three with the person next to you. </a:t>
            </a:r>
            <a:pPr indent="0" marL="0">
              <a:buNone/>
            </a:pPr>
            <a:r>
              <a:rPr lang="en-US" sz="1400" dirty="0">
                <a:solidFill>
                  <a:srgbClr val="B9BDC1"/>
                </a:solidFill>
                <a:latin typeface="Calibri" pitchFamily="34" charset="0"/>
                <a:ea typeface="Calibri" pitchFamily="34" charset="-122"/>
                <a:cs typeface="Calibri" pitchFamily="34" charset="-120"/>
              </a:rPr>
              <a:t>There is more than one defensible answer - the interesting disagreement is whether a variable is a course or a room-block pair.</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2651760"/>
            <a:ext cx="73152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Break</a:t>
            </a:r>
            <a:endParaRPr lang="en-US" sz="5400" dirty="0"/>
          </a:p>
        </p:txBody>
      </p:sp>
      <p:sp>
        <p:nvSpPr>
          <p:cNvPr id="3" name="Text 1"/>
          <p:cNvSpPr/>
          <p:nvPr/>
        </p:nvSpPr>
        <p:spPr>
          <a:xfrm>
            <a:off x="640080" y="3703320"/>
            <a:ext cx="8686800" cy="457200"/>
          </a:xfrm>
          <a:prstGeom prst="rect">
            <a:avLst/>
          </a:prstGeom>
          <a:noFill/>
          <a:ln/>
        </p:spPr>
        <p:txBody>
          <a:bodyPr wrap="square" lIns="0" tIns="0" rIns="0" bIns="0" rtlCol="0" anchor="ctr"/>
          <a:lstStyle/>
          <a:p>
            <a:pPr indent="0" marL="0">
              <a:buNone/>
            </a:pPr>
            <a:r>
              <a:rPr lang="en-US" sz="1700" i="1" dirty="0">
                <a:solidFill>
                  <a:srgbClr val="9FA4A9"/>
                </a:solidFill>
                <a:latin typeface="Calibri" pitchFamily="34" charset="0"/>
                <a:ea typeface="Calibri" pitchFamily="34" charset="-122"/>
                <a:cs typeface="Calibri" pitchFamily="34" charset="-120"/>
              </a:rPr>
              <a:t>Ten minutes. When we come back: how to actually solve one of these.</a:t>
            </a:r>
            <a:endParaRPr lang="en-US" sz="1700" dirty="0"/>
          </a:p>
        </p:txBody>
      </p:sp>
      <p:sp>
        <p:nvSpPr>
          <p:cNvPr id="4" name="Shape 2"/>
          <p:cNvSpPr/>
          <p:nvPr/>
        </p:nvSpPr>
        <p:spPr>
          <a:xfrm>
            <a:off x="640080" y="4572000"/>
            <a:ext cx="347472" cy="347472"/>
          </a:xfrm>
          <a:prstGeom prst="rect">
            <a:avLst/>
          </a:prstGeom>
          <a:solidFill>
            <a:srgbClr val="C0392B"/>
          </a:solidFill>
          <a:ln w="12700">
            <a:solidFill>
              <a:srgbClr val="333333"/>
            </a:solidFill>
            <a:prstDash val="solid"/>
          </a:ln>
        </p:spPr>
      </p:sp>
      <p:sp>
        <p:nvSpPr>
          <p:cNvPr id="5" name="Shape 3"/>
          <p:cNvSpPr/>
          <p:nvPr/>
        </p:nvSpPr>
        <p:spPr>
          <a:xfrm>
            <a:off x="1097280" y="4572000"/>
            <a:ext cx="347472" cy="347472"/>
          </a:xfrm>
          <a:prstGeom prst="rect">
            <a:avLst/>
          </a:prstGeom>
          <a:solidFill>
            <a:srgbClr val="2E8B45"/>
          </a:solidFill>
          <a:ln w="12700">
            <a:solidFill>
              <a:srgbClr val="333333"/>
            </a:solidFill>
            <a:prstDash val="solid"/>
          </a:ln>
        </p:spPr>
      </p:sp>
      <p:sp>
        <p:nvSpPr>
          <p:cNvPr id="6" name="Shape 4"/>
          <p:cNvSpPr/>
          <p:nvPr/>
        </p:nvSpPr>
        <p:spPr>
          <a:xfrm>
            <a:off x="1554480" y="4572000"/>
            <a:ext cx="347472" cy="347472"/>
          </a:xfrm>
          <a:prstGeom prst="rect">
            <a:avLst/>
          </a:prstGeom>
          <a:solidFill>
            <a:srgbClr val="2A62C4"/>
          </a:solidFill>
          <a:ln w="12700">
            <a:solidFill>
              <a:srgbClr val="333333"/>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2423160"/>
            <a:ext cx="3657600" cy="365760"/>
          </a:xfrm>
          <a:prstGeom prst="rect">
            <a:avLst/>
          </a:prstGeom>
          <a:noFill/>
          <a:ln/>
        </p:spPr>
        <p:txBody>
          <a:bodyPr wrap="square" lIns="0" tIns="0" rIns="0" bIns="0" rtlCol="0" anchor="ctr"/>
          <a:lstStyle/>
          <a:p>
            <a:pPr indent="0" marL="0">
              <a:buNone/>
            </a:pPr>
            <a:r>
              <a:rPr lang="en-US" sz="1400" b="1" spc="300" kern="0" dirty="0">
                <a:solidFill>
                  <a:srgbClr val="CB132A"/>
                </a:solidFill>
                <a:latin typeface="Calibri" pitchFamily="34" charset="0"/>
                <a:ea typeface="Calibri" pitchFamily="34" charset="-122"/>
                <a:cs typeface="Calibri" pitchFamily="34" charset="-120"/>
              </a:rPr>
              <a:t>Part 4</a:t>
            </a:r>
            <a:endParaRPr lang="en-US" sz="1400" dirty="0"/>
          </a:p>
        </p:txBody>
      </p:sp>
      <p:sp>
        <p:nvSpPr>
          <p:cNvPr id="3" name="Text 1"/>
          <p:cNvSpPr/>
          <p:nvPr/>
        </p:nvSpPr>
        <p:spPr>
          <a:xfrm>
            <a:off x="640080" y="278892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Solving CSPs</a:t>
            </a:r>
            <a:endParaRPr lang="en-US" sz="4000" dirty="0"/>
          </a:p>
        </p:txBody>
      </p:sp>
      <p:sp>
        <p:nvSpPr>
          <p:cNvPr id="4" name="Text 2"/>
          <p:cNvSpPr/>
          <p:nvPr/>
        </p:nvSpPr>
        <p:spPr>
          <a:xfrm>
            <a:off x="640080" y="3703320"/>
            <a:ext cx="9144000" cy="411480"/>
          </a:xfrm>
          <a:prstGeom prst="rect">
            <a:avLst/>
          </a:prstGeom>
          <a:noFill/>
          <a:ln/>
        </p:spPr>
        <p:txBody>
          <a:bodyPr wrap="square" lIns="0" tIns="0" rIns="0" bIns="0" rtlCol="0" anchor="ctr"/>
          <a:lstStyle/>
          <a:p>
            <a:pPr indent="0" marL="0">
              <a:buNone/>
            </a:pPr>
            <a:r>
              <a:rPr lang="en-US" sz="1700" i="1" dirty="0">
                <a:solidFill>
                  <a:srgbClr val="9FA4A9"/>
                </a:solidFill>
                <a:latin typeface="Calibri" pitchFamily="34" charset="0"/>
                <a:ea typeface="Calibri" pitchFamily="34" charset="-122"/>
                <a:cs typeface="Calibri" pitchFamily="34" charset="-120"/>
              </a:rPr>
              <a:t>Backtracking search, and why it needs help</a:t>
            </a:r>
            <a:endParaRPr lang="en-US" sz="1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26</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Step one: a CSP is a search problem</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Map it onto the Chapter 3 machinery unchanged</a:t>
            </a:r>
            <a:endParaRPr lang="en-US" sz="1400" dirty="0"/>
          </a:p>
        </p:txBody>
      </p:sp>
      <p:sp>
        <p:nvSpPr>
          <p:cNvPr id="6" name="Shape 4"/>
          <p:cNvSpPr/>
          <p:nvPr/>
        </p:nvSpPr>
        <p:spPr>
          <a:xfrm>
            <a:off x="640080" y="1691640"/>
            <a:ext cx="10908792" cy="786384"/>
          </a:xfrm>
          <a:prstGeom prst="roundRect">
            <a:avLst>
              <a:gd name="adj" fmla="val 6977"/>
            </a:avLst>
          </a:prstGeom>
          <a:solidFill>
            <a:srgbClr val="F6F7F8"/>
          </a:solidFill>
          <a:ln w="9525">
            <a:solidFill>
              <a:srgbClr val="D3D6D9"/>
            </a:solidFill>
            <a:prstDash val="solid"/>
          </a:ln>
        </p:spPr>
      </p:sp>
      <p:sp>
        <p:nvSpPr>
          <p:cNvPr id="7" name="Text 5"/>
          <p:cNvSpPr/>
          <p:nvPr/>
        </p:nvSpPr>
        <p:spPr>
          <a:xfrm>
            <a:off x="914400" y="1691640"/>
            <a:ext cx="2651760" cy="786384"/>
          </a:xfrm>
          <a:prstGeom prst="rect">
            <a:avLst/>
          </a:prstGeom>
          <a:noFill/>
          <a:ln/>
        </p:spPr>
        <p:txBody>
          <a:bodyPr wrap="square" lIns="0" tIns="0" rIns="0" bIns="0" rtlCol="0" anchor="ctr"/>
          <a:lstStyle/>
          <a:p>
            <a:pPr indent="0" marL="0">
              <a:buNone/>
            </a:pPr>
            <a:r>
              <a:rPr lang="en-US" sz="1650" b="1" dirty="0">
                <a:solidFill>
                  <a:srgbClr val="1C1E21"/>
                </a:solidFill>
                <a:latin typeface="Cambria" pitchFamily="34" charset="0"/>
                <a:ea typeface="Cambria" pitchFamily="34" charset="-122"/>
                <a:cs typeface="Cambria" pitchFamily="34" charset="-120"/>
              </a:rPr>
              <a:t>State</a:t>
            </a:r>
            <a:endParaRPr lang="en-US" sz="1650" dirty="0"/>
          </a:p>
        </p:txBody>
      </p:sp>
      <p:sp>
        <p:nvSpPr>
          <p:cNvPr id="8" name="Text 6"/>
          <p:cNvSpPr/>
          <p:nvPr/>
        </p:nvSpPr>
        <p:spPr>
          <a:xfrm>
            <a:off x="3657600" y="1691640"/>
            <a:ext cx="5120640" cy="786384"/>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A partial assignment - the values chosen so far</a:t>
            </a:r>
            <a:endParaRPr lang="en-US" sz="1350" dirty="0"/>
          </a:p>
        </p:txBody>
      </p:sp>
      <p:sp>
        <p:nvSpPr>
          <p:cNvPr id="9" name="Text 7"/>
          <p:cNvSpPr/>
          <p:nvPr/>
        </p:nvSpPr>
        <p:spPr>
          <a:xfrm>
            <a:off x="8915400" y="1691640"/>
            <a:ext cx="2377440" cy="786384"/>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 WA=red, NT=green }</a:t>
            </a:r>
            <a:endParaRPr lang="en-US" sz="1050" dirty="0"/>
          </a:p>
        </p:txBody>
      </p:sp>
      <p:sp>
        <p:nvSpPr>
          <p:cNvPr id="10" name="Shape 8"/>
          <p:cNvSpPr/>
          <p:nvPr/>
        </p:nvSpPr>
        <p:spPr>
          <a:xfrm>
            <a:off x="640080" y="2596896"/>
            <a:ext cx="10908792" cy="786384"/>
          </a:xfrm>
          <a:prstGeom prst="roundRect">
            <a:avLst>
              <a:gd name="adj" fmla="val 6977"/>
            </a:avLst>
          </a:prstGeom>
          <a:solidFill>
            <a:srgbClr val="F6F7F8"/>
          </a:solidFill>
          <a:ln w="9525">
            <a:solidFill>
              <a:srgbClr val="D3D6D9"/>
            </a:solidFill>
            <a:prstDash val="solid"/>
          </a:ln>
        </p:spPr>
      </p:sp>
      <p:sp>
        <p:nvSpPr>
          <p:cNvPr id="11" name="Text 9"/>
          <p:cNvSpPr/>
          <p:nvPr/>
        </p:nvSpPr>
        <p:spPr>
          <a:xfrm>
            <a:off x="914400" y="2596896"/>
            <a:ext cx="2651760" cy="786384"/>
          </a:xfrm>
          <a:prstGeom prst="rect">
            <a:avLst/>
          </a:prstGeom>
          <a:noFill/>
          <a:ln/>
        </p:spPr>
        <p:txBody>
          <a:bodyPr wrap="square" lIns="0" tIns="0" rIns="0" bIns="0" rtlCol="0" anchor="ctr"/>
          <a:lstStyle/>
          <a:p>
            <a:pPr indent="0" marL="0">
              <a:buNone/>
            </a:pPr>
            <a:r>
              <a:rPr lang="en-US" sz="1650" b="1" dirty="0">
                <a:solidFill>
                  <a:srgbClr val="1C1E21"/>
                </a:solidFill>
                <a:latin typeface="Cambria" pitchFamily="34" charset="0"/>
                <a:ea typeface="Cambria" pitchFamily="34" charset="-122"/>
                <a:cs typeface="Cambria" pitchFamily="34" charset="-120"/>
              </a:rPr>
              <a:t>Initial state</a:t>
            </a:r>
            <a:endParaRPr lang="en-US" sz="1650" dirty="0"/>
          </a:p>
        </p:txBody>
      </p:sp>
      <p:sp>
        <p:nvSpPr>
          <p:cNvPr id="12" name="Text 10"/>
          <p:cNvSpPr/>
          <p:nvPr/>
        </p:nvSpPr>
        <p:spPr>
          <a:xfrm>
            <a:off x="3657600" y="2596896"/>
            <a:ext cx="5120640" cy="786384"/>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The empty assignment</a:t>
            </a:r>
            <a:endParaRPr lang="en-US" sz="1350" dirty="0"/>
          </a:p>
        </p:txBody>
      </p:sp>
      <p:sp>
        <p:nvSpPr>
          <p:cNvPr id="13" name="Text 11"/>
          <p:cNvSpPr/>
          <p:nvPr/>
        </p:nvSpPr>
        <p:spPr>
          <a:xfrm>
            <a:off x="8915400" y="2596896"/>
            <a:ext cx="2377440" cy="786384"/>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 }</a:t>
            </a:r>
            <a:endParaRPr lang="en-US" sz="1050" dirty="0"/>
          </a:p>
        </p:txBody>
      </p:sp>
      <p:sp>
        <p:nvSpPr>
          <p:cNvPr id="14" name="Shape 12"/>
          <p:cNvSpPr/>
          <p:nvPr/>
        </p:nvSpPr>
        <p:spPr>
          <a:xfrm>
            <a:off x="640080" y="3502152"/>
            <a:ext cx="10908792" cy="786384"/>
          </a:xfrm>
          <a:prstGeom prst="roundRect">
            <a:avLst>
              <a:gd name="adj" fmla="val 6977"/>
            </a:avLst>
          </a:prstGeom>
          <a:solidFill>
            <a:srgbClr val="F6F7F8"/>
          </a:solidFill>
          <a:ln w="9525">
            <a:solidFill>
              <a:srgbClr val="D3D6D9"/>
            </a:solidFill>
            <a:prstDash val="solid"/>
          </a:ln>
        </p:spPr>
      </p:sp>
      <p:sp>
        <p:nvSpPr>
          <p:cNvPr id="15" name="Text 13"/>
          <p:cNvSpPr/>
          <p:nvPr/>
        </p:nvSpPr>
        <p:spPr>
          <a:xfrm>
            <a:off x="914400" y="3502152"/>
            <a:ext cx="2651760" cy="786384"/>
          </a:xfrm>
          <a:prstGeom prst="rect">
            <a:avLst/>
          </a:prstGeom>
          <a:noFill/>
          <a:ln/>
        </p:spPr>
        <p:txBody>
          <a:bodyPr wrap="square" lIns="0" tIns="0" rIns="0" bIns="0" rtlCol="0" anchor="ctr"/>
          <a:lstStyle/>
          <a:p>
            <a:pPr indent="0" marL="0">
              <a:buNone/>
            </a:pPr>
            <a:r>
              <a:rPr lang="en-US" sz="1650" b="1" dirty="0">
                <a:solidFill>
                  <a:srgbClr val="1C1E21"/>
                </a:solidFill>
                <a:latin typeface="Cambria" pitchFamily="34" charset="0"/>
                <a:ea typeface="Cambria" pitchFamily="34" charset="-122"/>
                <a:cs typeface="Cambria" pitchFamily="34" charset="-120"/>
              </a:rPr>
              <a:t>Successor function</a:t>
            </a:r>
            <a:endParaRPr lang="en-US" sz="1650" dirty="0"/>
          </a:p>
        </p:txBody>
      </p:sp>
      <p:sp>
        <p:nvSpPr>
          <p:cNvPr id="16" name="Text 14"/>
          <p:cNvSpPr/>
          <p:nvPr/>
        </p:nvSpPr>
        <p:spPr>
          <a:xfrm>
            <a:off x="3657600" y="3502152"/>
            <a:ext cx="5120640" cy="786384"/>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Assign a value to one currently unassigned variable</a:t>
            </a:r>
            <a:endParaRPr lang="en-US" sz="1350" dirty="0"/>
          </a:p>
        </p:txBody>
      </p:sp>
      <p:sp>
        <p:nvSpPr>
          <p:cNvPr id="17" name="Text 15"/>
          <p:cNvSpPr/>
          <p:nvPr/>
        </p:nvSpPr>
        <p:spPr>
          <a:xfrm>
            <a:off x="8915400" y="3502152"/>
            <a:ext cx="2377440" cy="786384"/>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add Q=red</a:t>
            </a:r>
            <a:endParaRPr lang="en-US" sz="1050" dirty="0"/>
          </a:p>
        </p:txBody>
      </p:sp>
      <p:sp>
        <p:nvSpPr>
          <p:cNvPr id="18" name="Shape 16"/>
          <p:cNvSpPr/>
          <p:nvPr/>
        </p:nvSpPr>
        <p:spPr>
          <a:xfrm>
            <a:off x="640080" y="4407408"/>
            <a:ext cx="10908792" cy="786384"/>
          </a:xfrm>
          <a:prstGeom prst="roundRect">
            <a:avLst>
              <a:gd name="adj" fmla="val 6977"/>
            </a:avLst>
          </a:prstGeom>
          <a:solidFill>
            <a:srgbClr val="F6F7F8"/>
          </a:solidFill>
          <a:ln w="9525">
            <a:solidFill>
              <a:srgbClr val="D3D6D9"/>
            </a:solidFill>
            <a:prstDash val="solid"/>
          </a:ln>
        </p:spPr>
      </p:sp>
      <p:sp>
        <p:nvSpPr>
          <p:cNvPr id="19" name="Text 17"/>
          <p:cNvSpPr/>
          <p:nvPr/>
        </p:nvSpPr>
        <p:spPr>
          <a:xfrm>
            <a:off x="914400" y="4407408"/>
            <a:ext cx="2651760" cy="786384"/>
          </a:xfrm>
          <a:prstGeom prst="rect">
            <a:avLst/>
          </a:prstGeom>
          <a:noFill/>
          <a:ln/>
        </p:spPr>
        <p:txBody>
          <a:bodyPr wrap="square" lIns="0" tIns="0" rIns="0" bIns="0" rtlCol="0" anchor="ctr"/>
          <a:lstStyle/>
          <a:p>
            <a:pPr indent="0" marL="0">
              <a:buNone/>
            </a:pPr>
            <a:r>
              <a:rPr lang="en-US" sz="1650" b="1" dirty="0">
                <a:solidFill>
                  <a:srgbClr val="1C1E21"/>
                </a:solidFill>
                <a:latin typeface="Cambria" pitchFamily="34" charset="0"/>
                <a:ea typeface="Cambria" pitchFamily="34" charset="-122"/>
                <a:cs typeface="Cambria" pitchFamily="34" charset="-120"/>
              </a:rPr>
              <a:t>Goal test</a:t>
            </a:r>
            <a:endParaRPr lang="en-US" sz="1650" dirty="0"/>
          </a:p>
        </p:txBody>
      </p:sp>
      <p:sp>
        <p:nvSpPr>
          <p:cNvPr id="20" name="Text 18"/>
          <p:cNvSpPr/>
          <p:nvPr/>
        </p:nvSpPr>
        <p:spPr>
          <a:xfrm>
            <a:off x="3657600" y="4407408"/>
            <a:ext cx="5120640" cy="786384"/>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The assignment is complete AND satisfies every constraint</a:t>
            </a:r>
            <a:endParaRPr lang="en-US" sz="1350" dirty="0"/>
          </a:p>
        </p:txBody>
      </p:sp>
      <p:sp>
        <p:nvSpPr>
          <p:cNvPr id="21" name="Text 19"/>
          <p:cNvSpPr/>
          <p:nvPr/>
        </p:nvSpPr>
        <p:spPr>
          <a:xfrm>
            <a:off x="8915400" y="4407408"/>
            <a:ext cx="2377440" cy="786384"/>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all 7 assigned, no clash</a:t>
            </a:r>
            <a:endParaRPr lang="en-US" sz="1050" dirty="0"/>
          </a:p>
        </p:txBody>
      </p:sp>
      <p:sp>
        <p:nvSpPr>
          <p:cNvPr id="22" name="Shape 20"/>
          <p:cNvSpPr/>
          <p:nvPr/>
        </p:nvSpPr>
        <p:spPr>
          <a:xfrm>
            <a:off x="640080" y="5312664"/>
            <a:ext cx="10908792" cy="786384"/>
          </a:xfrm>
          <a:prstGeom prst="roundRect">
            <a:avLst>
              <a:gd name="adj" fmla="val 6977"/>
            </a:avLst>
          </a:prstGeom>
          <a:solidFill>
            <a:srgbClr val="EFEFF0"/>
          </a:solidFill>
          <a:ln w="9525">
            <a:solidFill>
              <a:srgbClr val="D3D6D9"/>
            </a:solidFill>
            <a:prstDash val="solid"/>
          </a:ln>
        </p:spPr>
      </p:sp>
      <p:sp>
        <p:nvSpPr>
          <p:cNvPr id="23" name="Text 21"/>
          <p:cNvSpPr/>
          <p:nvPr/>
        </p:nvSpPr>
        <p:spPr>
          <a:xfrm>
            <a:off x="914400" y="5312664"/>
            <a:ext cx="2651760" cy="786384"/>
          </a:xfrm>
          <a:prstGeom prst="rect">
            <a:avLst/>
          </a:prstGeom>
          <a:noFill/>
          <a:ln/>
        </p:spPr>
        <p:txBody>
          <a:bodyPr wrap="square" lIns="0" tIns="0" rIns="0" bIns="0" rtlCol="0" anchor="ctr"/>
          <a:lstStyle/>
          <a:p>
            <a:pPr indent="0" marL="0">
              <a:buNone/>
            </a:pPr>
            <a:r>
              <a:rPr lang="en-US" sz="1650" b="1" dirty="0">
                <a:solidFill>
                  <a:srgbClr val="7C8085"/>
                </a:solidFill>
                <a:latin typeface="Cambria" pitchFamily="34" charset="0"/>
                <a:ea typeface="Cambria" pitchFamily="34" charset="-122"/>
                <a:cs typeface="Cambria" pitchFamily="34" charset="-120"/>
              </a:rPr>
              <a:t>Path cost</a:t>
            </a:r>
            <a:endParaRPr lang="en-US" sz="1650" dirty="0"/>
          </a:p>
        </p:txBody>
      </p:sp>
      <p:sp>
        <p:nvSpPr>
          <p:cNvPr id="24" name="Text 22"/>
          <p:cNvSpPr/>
          <p:nvPr/>
        </p:nvSpPr>
        <p:spPr>
          <a:xfrm>
            <a:off x="3657600" y="5312664"/>
            <a:ext cx="5120640" cy="786384"/>
          </a:xfrm>
          <a:prstGeom prst="rect">
            <a:avLst/>
          </a:prstGeom>
          <a:noFill/>
          <a:ln/>
        </p:spPr>
        <p:txBody>
          <a:bodyPr wrap="square" lIns="0" tIns="0" rIns="0" bIns="0" rtlCol="0" anchor="ctr"/>
          <a:lstStyle/>
          <a:p>
            <a:pPr indent="0" marL="0">
              <a:buNone/>
            </a:pPr>
            <a:r>
              <a:rPr lang="en-US" sz="1350" dirty="0">
                <a:solidFill>
                  <a:srgbClr val="7C8085"/>
                </a:solidFill>
                <a:latin typeface="Calibri" pitchFamily="34" charset="0"/>
                <a:ea typeface="Calibri" pitchFamily="34" charset="-122"/>
                <a:cs typeface="Calibri" pitchFamily="34" charset="-120"/>
              </a:rPr>
              <a:t>Meaningless. Every solution is at depth n.</a:t>
            </a:r>
            <a:endParaRPr lang="en-US" sz="1350" dirty="0"/>
          </a:p>
        </p:txBody>
      </p:sp>
      <p:sp>
        <p:nvSpPr>
          <p:cNvPr id="25" name="Text 23"/>
          <p:cNvSpPr/>
          <p:nvPr/>
        </p:nvSpPr>
        <p:spPr>
          <a:xfrm>
            <a:off x="8915400" y="5312664"/>
            <a:ext cx="2377440" cy="786384"/>
          </a:xfrm>
          <a:prstGeom prst="rect">
            <a:avLst/>
          </a:prstGeom>
          <a:noFill/>
          <a:ln/>
        </p:spPr>
        <p:txBody>
          <a:bodyPr wrap="square" lIns="0" tIns="0" rIns="0" bIns="0" rtlCol="0" anchor="ctr"/>
          <a:lstStyle/>
          <a:p>
            <a:pPr indent="0" marL="0">
              <a:buNone/>
            </a:pPr>
            <a:r>
              <a:rPr lang="en-US" sz="1050" dirty="0">
                <a:solidFill>
                  <a:srgbClr val="53565A"/>
                </a:solidFill>
                <a:latin typeface="Courier New" pitchFamily="34" charset="0"/>
                <a:ea typeface="Courier New" pitchFamily="34" charset="-122"/>
                <a:cs typeface="Courier New" pitchFamily="34" charset="-120"/>
              </a:rPr>
              <a:t>-</a:t>
            </a:r>
            <a:endParaRPr lang="en-US" sz="1050" dirty="0"/>
          </a:p>
        </p:txBody>
      </p:sp>
      <p:sp>
        <p:nvSpPr>
          <p:cNvPr id="26" name="Shape 24"/>
          <p:cNvSpPr/>
          <p:nvPr/>
        </p:nvSpPr>
        <p:spPr>
          <a:xfrm>
            <a:off x="640080" y="5577840"/>
            <a:ext cx="10908792" cy="731520"/>
          </a:xfrm>
          <a:prstGeom prst="roundRect">
            <a:avLst>
              <a:gd name="adj" fmla="val 7500"/>
            </a:avLst>
          </a:prstGeom>
          <a:solidFill>
            <a:srgbClr val="FBEDEF"/>
          </a:solidFill>
          <a:ln w="9525">
            <a:solidFill>
              <a:srgbClr val="E8B5BC"/>
            </a:solidFill>
            <a:prstDash val="solid"/>
          </a:ln>
        </p:spPr>
      </p:sp>
      <p:sp>
        <p:nvSpPr>
          <p:cNvPr id="27" name="Text 25"/>
          <p:cNvSpPr/>
          <p:nvPr/>
        </p:nvSpPr>
        <p:spPr>
          <a:xfrm>
            <a:off x="914400" y="5577840"/>
            <a:ext cx="10360152" cy="73152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This formulation is correct and completely usable. It is also, run naively, close to the worst thing you could do. Let us see why.</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27</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How big is that tree?</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Australia: 7 variables, 3 values each</a:t>
            </a:r>
            <a:endParaRPr lang="en-US" sz="1400" dirty="0"/>
          </a:p>
        </p:txBody>
      </p:sp>
      <p:sp>
        <p:nvSpPr>
          <p:cNvPr id="6" name="Shape 4"/>
          <p:cNvSpPr/>
          <p:nvPr/>
        </p:nvSpPr>
        <p:spPr>
          <a:xfrm>
            <a:off x="640080" y="1691640"/>
            <a:ext cx="3529584" cy="1874520"/>
          </a:xfrm>
          <a:prstGeom prst="roundRect">
            <a:avLst>
              <a:gd name="adj" fmla="val 2927"/>
            </a:avLst>
          </a:prstGeom>
          <a:solidFill>
            <a:srgbClr val="F6F7F8"/>
          </a:solidFill>
          <a:ln w="9525">
            <a:solidFill>
              <a:srgbClr val="D3D6D9"/>
            </a:solidFill>
            <a:prstDash val="solid"/>
          </a:ln>
        </p:spPr>
      </p:sp>
      <p:sp>
        <p:nvSpPr>
          <p:cNvPr id="7" name="Text 5"/>
          <p:cNvSpPr/>
          <p:nvPr/>
        </p:nvSpPr>
        <p:spPr>
          <a:xfrm>
            <a:off x="822960" y="1874520"/>
            <a:ext cx="3163824" cy="640080"/>
          </a:xfrm>
          <a:prstGeom prst="rect">
            <a:avLst/>
          </a:prstGeom>
          <a:noFill/>
          <a:ln/>
        </p:spPr>
        <p:txBody>
          <a:bodyPr wrap="square" lIns="0" tIns="0" rIns="0" bIns="0" rtlCol="0" anchor="ctr"/>
          <a:lstStyle/>
          <a:p>
            <a:pPr algn="ctr" indent="0" marL="0">
              <a:buNone/>
            </a:pPr>
            <a:r>
              <a:rPr lang="en-US" sz="3000" b="1" dirty="0">
                <a:solidFill>
                  <a:srgbClr val="1C1E21"/>
                </a:solidFill>
                <a:latin typeface="Cambria" pitchFamily="34" charset="0"/>
                <a:ea typeface="Cambria" pitchFamily="34" charset="-122"/>
                <a:cs typeface="Cambria" pitchFamily="34" charset="-120"/>
              </a:rPr>
              <a:t>3^7 = 2,187</a:t>
            </a:r>
            <a:endParaRPr lang="en-US" sz="3000" dirty="0"/>
          </a:p>
        </p:txBody>
      </p:sp>
      <p:sp>
        <p:nvSpPr>
          <p:cNvPr id="8" name="Text 6"/>
          <p:cNvSpPr/>
          <p:nvPr/>
        </p:nvSpPr>
        <p:spPr>
          <a:xfrm>
            <a:off x="822960" y="2542032"/>
            <a:ext cx="3163824" cy="320040"/>
          </a:xfrm>
          <a:prstGeom prst="rect">
            <a:avLst/>
          </a:prstGeom>
          <a:noFill/>
          <a:ln/>
        </p:spPr>
        <p:txBody>
          <a:bodyPr wrap="square" lIns="0" tIns="0" rIns="0" bIns="0" rtlCol="0" anchor="ctr"/>
          <a:lstStyle/>
          <a:p>
            <a:pPr algn="ctr" indent="0" marL="0">
              <a:buNone/>
            </a:pPr>
            <a:r>
              <a:rPr lang="en-US" sz="1350" b="1" dirty="0">
                <a:solidFill>
                  <a:srgbClr val="1C1E21"/>
                </a:solidFill>
                <a:latin typeface="Calibri" pitchFamily="34" charset="0"/>
                <a:ea typeface="Calibri" pitchFamily="34" charset="-122"/>
                <a:cs typeface="Calibri" pitchFamily="34" charset="-120"/>
              </a:rPr>
              <a:t>complete assignments</a:t>
            </a:r>
            <a:endParaRPr lang="en-US" sz="1350" dirty="0"/>
          </a:p>
        </p:txBody>
      </p:sp>
      <p:sp>
        <p:nvSpPr>
          <p:cNvPr id="9" name="Text 7"/>
          <p:cNvSpPr/>
          <p:nvPr/>
        </p:nvSpPr>
        <p:spPr>
          <a:xfrm>
            <a:off x="822960" y="2852928"/>
            <a:ext cx="3163824" cy="457200"/>
          </a:xfrm>
          <a:prstGeom prst="rect">
            <a:avLst/>
          </a:prstGeom>
          <a:noFill/>
          <a:ln/>
        </p:spPr>
        <p:txBody>
          <a:bodyPr wrap="square" lIns="0" tIns="0" rIns="0" bIns="0" rtlCol="0" anchor="ctr"/>
          <a:lstStyle/>
          <a:p>
            <a:pPr algn="ctr" indent="0" marL="0">
              <a:buNone/>
            </a:pPr>
            <a:r>
              <a:rPr lang="en-US" sz="1150" i="1" dirty="0">
                <a:solidFill>
                  <a:srgbClr val="7C8085"/>
                </a:solidFill>
                <a:latin typeface="Calibri" pitchFamily="34" charset="0"/>
                <a:ea typeface="Calibri" pitchFamily="34" charset="-122"/>
                <a:cs typeface="Calibri" pitchFamily="34" charset="-120"/>
              </a:rPr>
              <a:t>what actually exists</a:t>
            </a:r>
            <a:endParaRPr lang="en-US" sz="1150" dirty="0"/>
          </a:p>
        </p:txBody>
      </p:sp>
      <p:sp>
        <p:nvSpPr>
          <p:cNvPr id="10" name="Shape 8"/>
          <p:cNvSpPr/>
          <p:nvPr/>
        </p:nvSpPr>
        <p:spPr>
          <a:xfrm>
            <a:off x="4325112" y="1691640"/>
            <a:ext cx="3529584" cy="1874520"/>
          </a:xfrm>
          <a:prstGeom prst="roundRect">
            <a:avLst>
              <a:gd name="adj" fmla="val 2927"/>
            </a:avLst>
          </a:prstGeom>
          <a:solidFill>
            <a:srgbClr val="FBEDEF"/>
          </a:solidFill>
          <a:ln w="9525">
            <a:solidFill>
              <a:srgbClr val="E8B5BC"/>
            </a:solidFill>
            <a:prstDash val="solid"/>
          </a:ln>
        </p:spPr>
      </p:sp>
      <p:sp>
        <p:nvSpPr>
          <p:cNvPr id="11" name="Text 9"/>
          <p:cNvSpPr/>
          <p:nvPr/>
        </p:nvSpPr>
        <p:spPr>
          <a:xfrm>
            <a:off x="4507992" y="1874520"/>
            <a:ext cx="3163824" cy="640080"/>
          </a:xfrm>
          <a:prstGeom prst="rect">
            <a:avLst/>
          </a:prstGeom>
          <a:noFill/>
          <a:ln/>
        </p:spPr>
        <p:txBody>
          <a:bodyPr wrap="square" lIns="0" tIns="0" rIns="0" bIns="0" rtlCol="0" anchor="ctr"/>
          <a:lstStyle/>
          <a:p>
            <a:pPr algn="ctr" indent="0" marL="0">
              <a:buNone/>
            </a:pPr>
            <a:r>
              <a:rPr lang="en-US" sz="3000" b="1" dirty="0">
                <a:solidFill>
                  <a:srgbClr val="CB132A"/>
                </a:solidFill>
                <a:latin typeface="Cambria" pitchFamily="34" charset="0"/>
                <a:ea typeface="Cambria" pitchFamily="34" charset="-122"/>
                <a:cs typeface="Cambria" pitchFamily="34" charset="-120"/>
              </a:rPr>
              <a:t>7! x 3^7</a:t>
            </a:r>
            <a:endParaRPr lang="en-US" sz="3000" dirty="0"/>
          </a:p>
        </p:txBody>
      </p:sp>
      <p:sp>
        <p:nvSpPr>
          <p:cNvPr id="12" name="Text 10"/>
          <p:cNvSpPr/>
          <p:nvPr/>
        </p:nvSpPr>
        <p:spPr>
          <a:xfrm>
            <a:off x="4507992" y="2542032"/>
            <a:ext cx="3163824" cy="320040"/>
          </a:xfrm>
          <a:prstGeom prst="rect">
            <a:avLst/>
          </a:prstGeom>
          <a:noFill/>
          <a:ln/>
        </p:spPr>
        <p:txBody>
          <a:bodyPr wrap="square" lIns="0" tIns="0" rIns="0" bIns="0" rtlCol="0" anchor="ctr"/>
          <a:lstStyle/>
          <a:p>
            <a:pPr algn="ctr" indent="0" marL="0">
              <a:buNone/>
            </a:pPr>
            <a:r>
              <a:rPr lang="en-US" sz="1350" b="1" dirty="0">
                <a:solidFill>
                  <a:srgbClr val="1C1E21"/>
                </a:solidFill>
                <a:latin typeface="Calibri" pitchFamily="34" charset="0"/>
                <a:ea typeface="Calibri" pitchFamily="34" charset="-122"/>
                <a:cs typeface="Calibri" pitchFamily="34" charset="-120"/>
              </a:rPr>
              <a:t>leaves in the naive tree</a:t>
            </a:r>
            <a:endParaRPr lang="en-US" sz="1350" dirty="0"/>
          </a:p>
        </p:txBody>
      </p:sp>
      <p:sp>
        <p:nvSpPr>
          <p:cNvPr id="13" name="Text 11"/>
          <p:cNvSpPr/>
          <p:nvPr/>
        </p:nvSpPr>
        <p:spPr>
          <a:xfrm>
            <a:off x="4507992" y="2852928"/>
            <a:ext cx="3163824" cy="457200"/>
          </a:xfrm>
          <a:prstGeom prst="rect">
            <a:avLst/>
          </a:prstGeom>
          <a:noFill/>
          <a:ln/>
        </p:spPr>
        <p:txBody>
          <a:bodyPr wrap="square" lIns="0" tIns="0" rIns="0" bIns="0" rtlCol="0" anchor="ctr"/>
          <a:lstStyle/>
          <a:p>
            <a:pPr algn="ctr" indent="0" marL="0">
              <a:buNone/>
            </a:pPr>
            <a:r>
              <a:rPr lang="en-US" sz="1150" i="1" dirty="0">
                <a:solidFill>
                  <a:srgbClr val="7C8085"/>
                </a:solidFill>
                <a:latin typeface="Calibri" pitchFamily="34" charset="0"/>
                <a:ea typeface="Calibri" pitchFamily="34" charset="-122"/>
                <a:cs typeface="Calibri" pitchFamily="34" charset="-120"/>
              </a:rPr>
              <a:t>about 11 million</a:t>
            </a:r>
            <a:endParaRPr lang="en-US" sz="1150" dirty="0"/>
          </a:p>
        </p:txBody>
      </p:sp>
      <p:sp>
        <p:nvSpPr>
          <p:cNvPr id="14" name="Shape 12"/>
          <p:cNvSpPr/>
          <p:nvPr/>
        </p:nvSpPr>
        <p:spPr>
          <a:xfrm>
            <a:off x="8010144" y="1691640"/>
            <a:ext cx="3529584" cy="1874520"/>
          </a:xfrm>
          <a:prstGeom prst="roundRect">
            <a:avLst>
              <a:gd name="adj" fmla="val 2927"/>
            </a:avLst>
          </a:prstGeom>
          <a:solidFill>
            <a:srgbClr val="F6F7F8"/>
          </a:solidFill>
          <a:ln w="9525">
            <a:solidFill>
              <a:srgbClr val="D3D6D9"/>
            </a:solidFill>
            <a:prstDash val="solid"/>
          </a:ln>
        </p:spPr>
      </p:sp>
      <p:sp>
        <p:nvSpPr>
          <p:cNvPr id="15" name="Text 13"/>
          <p:cNvSpPr/>
          <p:nvPr/>
        </p:nvSpPr>
        <p:spPr>
          <a:xfrm>
            <a:off x="8193024" y="1874520"/>
            <a:ext cx="3163824" cy="640080"/>
          </a:xfrm>
          <a:prstGeom prst="rect">
            <a:avLst/>
          </a:prstGeom>
          <a:noFill/>
          <a:ln/>
        </p:spPr>
        <p:txBody>
          <a:bodyPr wrap="square" lIns="0" tIns="0" rIns="0" bIns="0" rtlCol="0" anchor="ctr"/>
          <a:lstStyle/>
          <a:p>
            <a:pPr algn="ctr" indent="0" marL="0">
              <a:buNone/>
            </a:pPr>
            <a:r>
              <a:rPr lang="en-US" sz="3000" b="1" dirty="0">
                <a:solidFill>
                  <a:srgbClr val="1C1E21"/>
                </a:solidFill>
                <a:latin typeface="Cambria" pitchFamily="34" charset="0"/>
                <a:ea typeface="Cambria" pitchFamily="34" charset="-122"/>
                <a:cs typeface="Cambria" pitchFamily="34" charset="-120"/>
              </a:rPr>
              <a:t>3,240</a:t>
            </a:r>
            <a:endParaRPr lang="en-US" sz="3000" dirty="0"/>
          </a:p>
        </p:txBody>
      </p:sp>
      <p:sp>
        <p:nvSpPr>
          <p:cNvPr id="16" name="Text 14"/>
          <p:cNvSpPr/>
          <p:nvPr/>
        </p:nvSpPr>
        <p:spPr>
          <a:xfrm>
            <a:off x="8193024" y="2542032"/>
            <a:ext cx="3163824" cy="320040"/>
          </a:xfrm>
          <a:prstGeom prst="rect">
            <a:avLst/>
          </a:prstGeom>
          <a:noFill/>
          <a:ln/>
        </p:spPr>
        <p:txBody>
          <a:bodyPr wrap="square" lIns="0" tIns="0" rIns="0" bIns="0" rtlCol="0" anchor="ctr"/>
          <a:lstStyle/>
          <a:p>
            <a:pPr algn="ctr" indent="0" marL="0">
              <a:buNone/>
            </a:pPr>
            <a:r>
              <a:rPr lang="en-US" sz="1350" b="1" dirty="0">
                <a:solidFill>
                  <a:srgbClr val="1C1E21"/>
                </a:solidFill>
                <a:latin typeface="Calibri" pitchFamily="34" charset="0"/>
                <a:ea typeface="Calibri" pitchFamily="34" charset="-122"/>
                <a:cs typeface="Calibri" pitchFamily="34" charset="-120"/>
              </a:rPr>
              <a:t>actual solutions</a:t>
            </a:r>
            <a:endParaRPr lang="en-US" sz="1350" dirty="0"/>
          </a:p>
        </p:txBody>
      </p:sp>
      <p:sp>
        <p:nvSpPr>
          <p:cNvPr id="17" name="Text 15"/>
          <p:cNvSpPr/>
          <p:nvPr/>
        </p:nvSpPr>
        <p:spPr>
          <a:xfrm>
            <a:off x="8193024" y="2852928"/>
            <a:ext cx="3163824" cy="457200"/>
          </a:xfrm>
          <a:prstGeom prst="rect">
            <a:avLst/>
          </a:prstGeom>
          <a:noFill/>
          <a:ln/>
        </p:spPr>
        <p:txBody>
          <a:bodyPr wrap="square" lIns="0" tIns="0" rIns="0" bIns="0" rtlCol="0" anchor="ctr"/>
          <a:lstStyle/>
          <a:p>
            <a:pPr algn="ctr" indent="0" marL="0">
              <a:buNone/>
            </a:pPr>
            <a:r>
              <a:rPr lang="en-US" sz="1150" i="1" dirty="0">
                <a:solidFill>
                  <a:srgbClr val="7C8085"/>
                </a:solidFill>
                <a:latin typeface="Calibri" pitchFamily="34" charset="0"/>
                <a:ea typeface="Calibri" pitchFamily="34" charset="-122"/>
                <a:cs typeface="Calibri" pitchFamily="34" charset="-120"/>
              </a:rPr>
              <a:t>if one exists, many do</a:t>
            </a:r>
            <a:endParaRPr lang="en-US" sz="1150" dirty="0"/>
          </a:p>
        </p:txBody>
      </p:sp>
      <p:sp>
        <p:nvSpPr>
          <p:cNvPr id="18" name="Shape 16"/>
          <p:cNvSpPr/>
          <p:nvPr/>
        </p:nvSpPr>
        <p:spPr>
          <a:xfrm>
            <a:off x="640080" y="3794760"/>
            <a:ext cx="10908792" cy="2057400"/>
          </a:xfrm>
          <a:prstGeom prst="roundRect">
            <a:avLst>
              <a:gd name="adj" fmla="val 2667"/>
            </a:avLst>
          </a:prstGeom>
          <a:solidFill>
            <a:srgbClr val="F6F7F8"/>
          </a:solidFill>
          <a:ln w="9525">
            <a:solidFill>
              <a:srgbClr val="D3D6D9"/>
            </a:solidFill>
            <a:prstDash val="solid"/>
          </a:ln>
        </p:spPr>
      </p:sp>
      <p:sp>
        <p:nvSpPr>
          <p:cNvPr id="19" name="Text 17"/>
          <p:cNvSpPr/>
          <p:nvPr/>
        </p:nvSpPr>
        <p:spPr>
          <a:xfrm>
            <a:off x="914400" y="3977640"/>
            <a:ext cx="1005840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Where the extra factor of 7! comes from</a:t>
            </a:r>
            <a:endParaRPr lang="en-US" sz="1900" dirty="0"/>
          </a:p>
        </p:txBody>
      </p:sp>
      <p:sp>
        <p:nvSpPr>
          <p:cNvPr id="20" name="Text 18"/>
          <p:cNvSpPr/>
          <p:nvPr/>
        </p:nvSpPr>
        <p:spPr>
          <a:xfrm>
            <a:off x="914400" y="4343400"/>
            <a:ext cx="10332720" cy="137160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The successor function as written lets you assign any unassigned variable next. So the search tree contains { WA=red then NT=green } and { NT=green then WA=red } as two different nodes reaching the same state.</a:t>
            </a:r>
            <a:endParaRPr lang="en-US" sz="1400" dirty="0"/>
          </a:p>
          <a:p>
            <a:pPr indent="0" marL="0">
              <a:buNone/>
            </a:pPr>
            <a:endParaRPr lang="en-US" sz="1400" dirty="0"/>
          </a:p>
          <a:p>
            <a:pPr indent="0" marL="0">
              <a:buNone/>
            </a:pPr>
            <a:r>
              <a:rPr lang="en-US" sz="1400" dirty="0">
                <a:solidFill>
                  <a:srgbClr val="1C1E21"/>
                </a:solidFill>
                <a:latin typeface="Calibri" pitchFamily="34" charset="0"/>
                <a:ea typeface="Calibri" pitchFamily="34" charset="-122"/>
                <a:cs typeface="Calibri" pitchFamily="34" charset="-120"/>
              </a:rPr>
              <a:t>They are the same assignment. Order of assignment carries no information - assignments are commutative. The tree is n! times larger than the space it is searching, and every one of those copies gets explored.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28</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Why the obvious algorithms fail here</a:t>
            </a:r>
            <a:endParaRPr lang="en-US" sz="3200" dirty="0"/>
          </a:p>
        </p:txBody>
      </p:sp>
      <p:sp>
        <p:nvSpPr>
          <p:cNvPr id="5" name="Shape 3"/>
          <p:cNvSpPr/>
          <p:nvPr/>
        </p:nvSpPr>
        <p:spPr>
          <a:xfrm>
            <a:off x="640080" y="1600200"/>
            <a:ext cx="5349240" cy="3931920"/>
          </a:xfrm>
          <a:prstGeom prst="roundRect">
            <a:avLst>
              <a:gd name="adj" fmla="val 1395"/>
            </a:avLst>
          </a:prstGeom>
          <a:solidFill>
            <a:srgbClr val="F6F7F8"/>
          </a:solidFill>
          <a:ln w="9525">
            <a:solidFill>
              <a:srgbClr val="D3D6D9"/>
            </a:solidFill>
            <a:prstDash val="solid"/>
          </a:ln>
        </p:spPr>
      </p:sp>
      <p:sp>
        <p:nvSpPr>
          <p:cNvPr id="6" name="Text 4"/>
          <p:cNvSpPr/>
          <p:nvPr/>
        </p:nvSpPr>
        <p:spPr>
          <a:xfrm>
            <a:off x="914400" y="1783080"/>
            <a:ext cx="4754880" cy="365760"/>
          </a:xfrm>
          <a:prstGeom prst="rect">
            <a:avLst/>
          </a:prstGeom>
          <a:noFill/>
          <a:ln/>
        </p:spPr>
        <p:txBody>
          <a:bodyPr wrap="square" lIns="0" tIns="0" rIns="0" bIns="0" rtlCol="0" anchor="ctr"/>
          <a:lstStyle/>
          <a:p>
            <a:pPr indent="0" marL="0">
              <a:buNone/>
            </a:pPr>
            <a:r>
              <a:rPr lang="en-US" sz="2000" b="1" dirty="0">
                <a:solidFill>
                  <a:srgbClr val="1C1E21"/>
                </a:solidFill>
                <a:latin typeface="Cambria" pitchFamily="34" charset="0"/>
                <a:ea typeface="Cambria" pitchFamily="34" charset="-122"/>
                <a:cs typeface="Cambria" pitchFamily="34" charset="-120"/>
              </a:rPr>
              <a:t>Breadth-first search</a:t>
            </a:r>
            <a:endParaRPr lang="en-US" sz="2000" dirty="0"/>
          </a:p>
        </p:txBody>
      </p:sp>
      <p:sp>
        <p:nvSpPr>
          <p:cNvPr id="7" name="Text 5"/>
          <p:cNvSpPr/>
          <p:nvPr/>
        </p:nvSpPr>
        <p:spPr>
          <a:xfrm>
            <a:off x="914400" y="2148840"/>
            <a:ext cx="4754880" cy="274320"/>
          </a:xfrm>
          <a:prstGeom prst="rect">
            <a:avLst/>
          </a:prstGeom>
          <a:noFill/>
          <a:ln/>
        </p:spPr>
        <p:txBody>
          <a:bodyPr wrap="square" lIns="0" tIns="0" rIns="0" bIns="0" rtlCol="0" anchor="ctr"/>
          <a:lstStyle/>
          <a:p>
            <a:pPr indent="0" marL="0">
              <a:buNone/>
            </a:pPr>
            <a:r>
              <a:rPr lang="en-US" sz="1300" i="1" dirty="0">
                <a:solidFill>
                  <a:srgbClr val="CB132A"/>
                </a:solidFill>
                <a:latin typeface="Calibri" pitchFamily="34" charset="0"/>
                <a:ea typeface="Calibri" pitchFamily="34" charset="-122"/>
                <a:cs typeface="Calibri" pitchFamily="34" charset="-120"/>
              </a:rPr>
              <a:t>The worst case in the whole course.</a:t>
            </a:r>
            <a:endParaRPr lang="en-US" sz="1300" dirty="0"/>
          </a:p>
        </p:txBody>
      </p:sp>
      <p:sp>
        <p:nvSpPr>
          <p:cNvPr id="8" name="Text 6"/>
          <p:cNvSpPr/>
          <p:nvPr/>
        </p:nvSpPr>
        <p:spPr>
          <a:xfrm>
            <a:off x="914400" y="2514600"/>
            <a:ext cx="4754880" cy="201168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Only a complete assignment can be a goal, so every solution sits at the deepest level</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Every level above it contains exactly zero goals</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BFS must fully expand all of them first</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It systematically explores everywhere the answers are not, then reaches the one level where they are</a:t>
            </a:r>
            <a:endParaRPr lang="en-US" sz="1350" dirty="0"/>
          </a:p>
        </p:txBody>
      </p:sp>
      <p:sp>
        <p:nvSpPr>
          <p:cNvPr id="9" name="Text 7"/>
          <p:cNvSpPr/>
          <p:nvPr/>
        </p:nvSpPr>
        <p:spPr>
          <a:xfrm>
            <a:off x="914400" y="4892040"/>
            <a:ext cx="4754880" cy="502920"/>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Optimality was the reason to pay for BFS. Here there is nothing to be optimal about.</a:t>
            </a:r>
            <a:endParaRPr lang="en-US" sz="1250" dirty="0"/>
          </a:p>
        </p:txBody>
      </p:sp>
      <p:sp>
        <p:nvSpPr>
          <p:cNvPr id="10" name="Shape 8"/>
          <p:cNvSpPr/>
          <p:nvPr/>
        </p:nvSpPr>
        <p:spPr>
          <a:xfrm>
            <a:off x="6263640" y="1600200"/>
            <a:ext cx="5285232" cy="3931920"/>
          </a:xfrm>
          <a:prstGeom prst="roundRect">
            <a:avLst>
              <a:gd name="adj" fmla="val 1395"/>
            </a:avLst>
          </a:prstGeom>
          <a:solidFill>
            <a:srgbClr val="F6F7F8"/>
          </a:solidFill>
          <a:ln w="9525">
            <a:solidFill>
              <a:srgbClr val="D3D6D9"/>
            </a:solidFill>
            <a:prstDash val="solid"/>
          </a:ln>
        </p:spPr>
      </p:sp>
      <p:sp>
        <p:nvSpPr>
          <p:cNvPr id="11" name="Text 9"/>
          <p:cNvSpPr/>
          <p:nvPr/>
        </p:nvSpPr>
        <p:spPr>
          <a:xfrm>
            <a:off x="6537960" y="1783080"/>
            <a:ext cx="4754880" cy="365760"/>
          </a:xfrm>
          <a:prstGeom prst="rect">
            <a:avLst/>
          </a:prstGeom>
          <a:noFill/>
          <a:ln/>
        </p:spPr>
        <p:txBody>
          <a:bodyPr wrap="square" lIns="0" tIns="0" rIns="0" bIns="0" rtlCol="0" anchor="ctr"/>
          <a:lstStyle/>
          <a:p>
            <a:pPr indent="0" marL="0">
              <a:buNone/>
            </a:pPr>
            <a:r>
              <a:rPr lang="en-US" sz="2000" b="1" dirty="0">
                <a:solidFill>
                  <a:srgbClr val="1C1E21"/>
                </a:solidFill>
                <a:latin typeface="Cambria" pitchFamily="34" charset="0"/>
                <a:ea typeface="Cambria" pitchFamily="34" charset="-122"/>
                <a:cs typeface="Cambria" pitchFamily="34" charset="-120"/>
              </a:rPr>
              <a:t>Naive depth-first search</a:t>
            </a:r>
            <a:endParaRPr lang="en-US" sz="2000" dirty="0"/>
          </a:p>
        </p:txBody>
      </p:sp>
      <p:sp>
        <p:nvSpPr>
          <p:cNvPr id="12" name="Text 10"/>
          <p:cNvSpPr/>
          <p:nvPr/>
        </p:nvSpPr>
        <p:spPr>
          <a:xfrm>
            <a:off x="6537960" y="2148840"/>
            <a:ext cx="4754880" cy="274320"/>
          </a:xfrm>
          <a:prstGeom prst="rect">
            <a:avLst/>
          </a:prstGeom>
          <a:noFill/>
          <a:ln/>
        </p:spPr>
        <p:txBody>
          <a:bodyPr wrap="square" lIns="0" tIns="0" rIns="0" bIns="0" rtlCol="0" anchor="ctr"/>
          <a:lstStyle/>
          <a:p>
            <a:pPr indent="0" marL="0">
              <a:buNone/>
            </a:pPr>
            <a:r>
              <a:rPr lang="en-US" sz="1300" i="1" dirty="0">
                <a:solidFill>
                  <a:srgbClr val="CB132A"/>
                </a:solidFill>
                <a:latin typeface="Calibri" pitchFamily="34" charset="0"/>
                <a:ea typeface="Calibri" pitchFamily="34" charset="-122"/>
                <a:cs typeface="Calibri" pitchFamily="34" charset="-120"/>
              </a:rPr>
              <a:t>Better instinct, still badly wasteful.</a:t>
            </a:r>
            <a:endParaRPr lang="en-US" sz="1300" dirty="0"/>
          </a:p>
        </p:txBody>
      </p:sp>
      <p:sp>
        <p:nvSpPr>
          <p:cNvPr id="13" name="Text 11"/>
          <p:cNvSpPr/>
          <p:nvPr/>
        </p:nvSpPr>
        <p:spPr>
          <a:xfrm>
            <a:off x="6537960" y="2514600"/>
            <a:ext cx="4754880" cy="201168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At least it drives straight for the bottom, where the goals live</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But it only goal-tests complete assignments</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So it will happily extend { WA=red, NT=red } through five more variables before checking anything</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It can burn an entire subtree below an assignment that was already illegal at depth two</a:t>
            </a:r>
            <a:endParaRPr lang="en-US" sz="1350" dirty="0"/>
          </a:p>
        </p:txBody>
      </p:sp>
      <p:sp>
        <p:nvSpPr>
          <p:cNvPr id="14" name="Text 12"/>
          <p:cNvSpPr/>
          <p:nvPr/>
        </p:nvSpPr>
        <p:spPr>
          <a:xfrm>
            <a:off x="6537960" y="4892040"/>
            <a:ext cx="4754880" cy="502920"/>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It is not searching wrong. It is refusing to look at information it already has.</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29</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Two fixes, and the algorithm they produce</a:t>
            </a:r>
            <a:endParaRPr lang="en-US" sz="3200" dirty="0"/>
          </a:p>
        </p:txBody>
      </p:sp>
      <p:sp>
        <p:nvSpPr>
          <p:cNvPr id="5" name="Shape 3"/>
          <p:cNvSpPr/>
          <p:nvPr/>
        </p:nvSpPr>
        <p:spPr>
          <a:xfrm>
            <a:off x="640080" y="1645920"/>
            <a:ext cx="5349240" cy="2286000"/>
          </a:xfrm>
          <a:prstGeom prst="roundRect">
            <a:avLst>
              <a:gd name="adj" fmla="val 2400"/>
            </a:avLst>
          </a:prstGeom>
          <a:solidFill>
            <a:srgbClr val="F6F7F8"/>
          </a:solidFill>
          <a:ln w="9525">
            <a:solidFill>
              <a:srgbClr val="D3D6D9"/>
            </a:solidFill>
            <a:prstDash val="solid"/>
          </a:ln>
        </p:spPr>
      </p:sp>
      <p:sp>
        <p:nvSpPr>
          <p:cNvPr id="6" name="Shape 4"/>
          <p:cNvSpPr/>
          <p:nvPr/>
        </p:nvSpPr>
        <p:spPr>
          <a:xfrm>
            <a:off x="914400" y="1847088"/>
            <a:ext cx="365760" cy="365760"/>
          </a:xfrm>
          <a:prstGeom prst="ellipse">
            <a:avLst/>
          </a:prstGeom>
          <a:solidFill>
            <a:srgbClr val="CB132A"/>
          </a:solidFill>
          <a:ln w="12700">
            <a:solidFill>
              <a:srgbClr val="CB132A"/>
            </a:solidFill>
            <a:prstDash val="solid"/>
          </a:ln>
        </p:spPr>
      </p:sp>
      <p:sp>
        <p:nvSpPr>
          <p:cNvPr id="7" name="Text 5"/>
          <p:cNvSpPr/>
          <p:nvPr/>
        </p:nvSpPr>
        <p:spPr>
          <a:xfrm>
            <a:off x="914400" y="18470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417320" y="1810512"/>
            <a:ext cx="4297680" cy="41148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One variable at a time</a:t>
            </a:r>
            <a:endParaRPr lang="en-US" sz="1900" dirty="0"/>
          </a:p>
        </p:txBody>
      </p:sp>
      <p:sp>
        <p:nvSpPr>
          <p:cNvPr id="9" name="Text 7"/>
          <p:cNvSpPr/>
          <p:nvPr/>
        </p:nvSpPr>
        <p:spPr>
          <a:xfrm>
            <a:off x="914400" y="2286000"/>
            <a:ext cx="4800600" cy="150876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Assignments are commutative, so fix an ordering and only ever branch on the next variable in it.</a:t>
            </a:r>
            <a:endParaRPr lang="en-US" sz="1300" dirty="0"/>
          </a:p>
          <a:p>
            <a:pPr indent="0" marL="0">
              <a:buNone/>
            </a:pPr>
            <a:endParaRPr lang="en-US" sz="1300" dirty="0"/>
          </a:p>
          <a:p>
            <a:pPr indent="0" marL="0">
              <a:buNone/>
            </a:pPr>
            <a:r>
              <a:rPr lang="en-US" sz="1300" dirty="0">
                <a:solidFill>
                  <a:srgbClr val="1C1E21"/>
                </a:solidFill>
                <a:latin typeface="Calibri" pitchFamily="34" charset="0"/>
                <a:ea typeface="Calibri" pitchFamily="34" charset="-122"/>
                <a:cs typeface="Calibri" pitchFamily="34" charset="-120"/>
              </a:rPr>
              <a:t>[WA=red then NT=green] is the same state as [NT=green then WA=red]. Choosing an order does not lose any solution - it just stops you enumerating each one n! times.</a:t>
            </a:r>
            <a:endParaRPr lang="en-US" sz="1300" dirty="0"/>
          </a:p>
        </p:txBody>
      </p:sp>
      <p:sp>
        <p:nvSpPr>
          <p:cNvPr id="10" name="Shape 8"/>
          <p:cNvSpPr/>
          <p:nvPr/>
        </p:nvSpPr>
        <p:spPr>
          <a:xfrm>
            <a:off x="6263640" y="1645920"/>
            <a:ext cx="5285232" cy="2286000"/>
          </a:xfrm>
          <a:prstGeom prst="roundRect">
            <a:avLst>
              <a:gd name="adj" fmla="val 2400"/>
            </a:avLst>
          </a:prstGeom>
          <a:solidFill>
            <a:srgbClr val="F6F7F8"/>
          </a:solidFill>
          <a:ln w="9525">
            <a:solidFill>
              <a:srgbClr val="D3D6D9"/>
            </a:solidFill>
            <a:prstDash val="solid"/>
          </a:ln>
        </p:spPr>
      </p:sp>
      <p:sp>
        <p:nvSpPr>
          <p:cNvPr id="11" name="Shape 9"/>
          <p:cNvSpPr/>
          <p:nvPr/>
        </p:nvSpPr>
        <p:spPr>
          <a:xfrm>
            <a:off x="6537960" y="1847088"/>
            <a:ext cx="365760" cy="365760"/>
          </a:xfrm>
          <a:prstGeom prst="ellipse">
            <a:avLst/>
          </a:prstGeom>
          <a:solidFill>
            <a:srgbClr val="CB132A"/>
          </a:solidFill>
          <a:ln w="12700">
            <a:solidFill>
              <a:srgbClr val="CB132A"/>
            </a:solidFill>
            <a:prstDash val="solid"/>
          </a:ln>
        </p:spPr>
      </p:sp>
      <p:sp>
        <p:nvSpPr>
          <p:cNvPr id="12" name="Text 10"/>
          <p:cNvSpPr/>
          <p:nvPr/>
        </p:nvSpPr>
        <p:spPr>
          <a:xfrm>
            <a:off x="6537960" y="184708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7040880" y="1810512"/>
            <a:ext cx="4206240" cy="41148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Check constraints as you go</a:t>
            </a:r>
            <a:endParaRPr lang="en-US" sz="1900" dirty="0"/>
          </a:p>
        </p:txBody>
      </p:sp>
      <p:sp>
        <p:nvSpPr>
          <p:cNvPr id="14" name="Text 12"/>
          <p:cNvSpPr/>
          <p:nvPr/>
        </p:nvSpPr>
        <p:spPr>
          <a:xfrm>
            <a:off x="6537960" y="2286000"/>
            <a:ext cx="4754880" cy="150876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Consider only values that do not conflict with what is already assigned. Abandon a partial assignment the moment it is inconsistent.</a:t>
            </a:r>
            <a:endParaRPr lang="en-US" sz="1300" dirty="0"/>
          </a:p>
          <a:p>
            <a:pPr indent="0" marL="0">
              <a:buNone/>
            </a:pPr>
            <a:endParaRPr lang="en-US" sz="1300" dirty="0"/>
          </a:p>
          <a:p>
            <a:pPr indent="0" marL="0">
              <a:buNone/>
            </a:pPr>
            <a:r>
              <a:rPr lang="en-US" sz="1300" dirty="0">
                <a:solidFill>
                  <a:srgbClr val="1C1E21"/>
                </a:solidFill>
                <a:latin typeface="Calibri" pitchFamily="34" charset="0"/>
                <a:ea typeface="Calibri" pitchFamily="34" charset="-122"/>
                <a:cs typeface="Calibri" pitchFamily="34" charset="-120"/>
              </a:rPr>
              <a:t>This is an incremental goal test, and it is legal only because of the key insight below.</a:t>
            </a:r>
            <a:endParaRPr lang="en-US" sz="1300" dirty="0"/>
          </a:p>
        </p:txBody>
      </p:sp>
      <p:sp>
        <p:nvSpPr>
          <p:cNvPr id="15" name="Shape 13"/>
          <p:cNvSpPr/>
          <p:nvPr/>
        </p:nvSpPr>
        <p:spPr>
          <a:xfrm>
            <a:off x="640080" y="4114800"/>
            <a:ext cx="10908792" cy="1051560"/>
          </a:xfrm>
          <a:prstGeom prst="roundRect">
            <a:avLst>
              <a:gd name="adj" fmla="val 5217"/>
            </a:avLst>
          </a:prstGeom>
          <a:solidFill>
            <a:srgbClr val="1C1E21"/>
          </a:solidFill>
          <a:ln w="9525">
            <a:solidFill>
              <a:srgbClr val="1C1E21"/>
            </a:solidFill>
            <a:prstDash val="solid"/>
          </a:ln>
        </p:spPr>
      </p:sp>
      <p:sp>
        <p:nvSpPr>
          <p:cNvPr id="16" name="Text 14"/>
          <p:cNvSpPr/>
          <p:nvPr/>
        </p:nvSpPr>
        <p:spPr>
          <a:xfrm>
            <a:off x="960120" y="4114800"/>
            <a:ext cx="10268712" cy="1051560"/>
          </a:xfrm>
          <a:prstGeom prst="rect">
            <a:avLst/>
          </a:prstGeom>
          <a:noFill/>
          <a:ln/>
        </p:spPr>
        <p:txBody>
          <a:bodyPr wrap="square" lIns="0" tIns="0" rIns="0" bIns="0" rtlCol="0" anchor="ctr"/>
          <a:lstStyle/>
          <a:p>
            <a:pPr indent="0" marL="0">
              <a:buNone/>
            </a:pPr>
            <a:r>
              <a:rPr lang="en-US" sz="1400" b="1" dirty="0">
                <a:solidFill>
                  <a:srgbClr val="CB132A"/>
                </a:solidFill>
                <a:latin typeface="Calibri" pitchFamily="34" charset="0"/>
                <a:ea typeface="Calibri" pitchFamily="34" charset="-122"/>
                <a:cs typeface="Calibri" pitchFamily="34" charset="-120"/>
              </a:rPr>
              <a:t>The key insight: </a:t>
            </a:r>
            <a:pPr indent="0" marL="0">
              <a:buNone/>
            </a:pPr>
            <a:r>
              <a:rPr lang="en-US" sz="1400" dirty="0">
                <a:solidFill>
                  <a:srgbClr val="FFFFFF"/>
                </a:solidFill>
                <a:latin typeface="Calibri" pitchFamily="34" charset="0"/>
                <a:ea typeface="Calibri" pitchFamily="34" charset="-122"/>
                <a:cs typeface="Calibri" pitchFamily="34" charset="-120"/>
              </a:rPr>
              <a:t>in a CSP, a violated constraint can never be repaired by going deeper. In general search a bad-looking path can still lead somewhere good, so you cannot prune on appearances. Here, once you are illegal you are illegal forever - so pruning is not a heuristic gamble, it is sound.</a:t>
            </a:r>
            <a:endParaRPr lang="en-US" sz="1400" dirty="0"/>
          </a:p>
        </p:txBody>
      </p:sp>
      <p:sp>
        <p:nvSpPr>
          <p:cNvPr id="17" name="Text 15"/>
          <p:cNvSpPr/>
          <p:nvPr/>
        </p:nvSpPr>
        <p:spPr>
          <a:xfrm>
            <a:off x="640080" y="5349240"/>
            <a:ext cx="10908792" cy="640080"/>
          </a:xfrm>
          <a:prstGeom prst="rect">
            <a:avLst/>
          </a:prstGeom>
          <a:noFill/>
          <a:ln/>
        </p:spPr>
        <p:txBody>
          <a:bodyPr wrap="square" lIns="0" tIns="0" rIns="0" bIns="0" rtlCol="0" anchor="ctr"/>
          <a:lstStyle/>
          <a:p>
            <a:pPr indent="0" marL="0">
              <a:buNone/>
            </a:pPr>
            <a:r>
              <a:rPr lang="en-US" sz="1700" i="1" dirty="0">
                <a:solidFill>
                  <a:srgbClr val="1C1E21"/>
                </a:solidFill>
                <a:latin typeface="Cambria" pitchFamily="34" charset="0"/>
                <a:ea typeface="Cambria" pitchFamily="34" charset="-122"/>
                <a:cs typeface="Cambria" pitchFamily="34" charset="-120"/>
              </a:rPr>
              <a:t>Depth-first search plus these two ideas is called backtracking search. The name is unfortunate - nothing about it is fancier than DFS that prunes on violation.</a:t>
            </a:r>
            <a:endParaRPr lang="en-US" sz="1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30</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Backtracking search</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AIMA figure 6.5, with the two choice points marked</a:t>
            </a:r>
            <a:endParaRPr lang="en-US" sz="1400" dirty="0"/>
          </a:p>
        </p:txBody>
      </p:sp>
      <p:sp>
        <p:nvSpPr>
          <p:cNvPr id="6" name="Shape 4"/>
          <p:cNvSpPr/>
          <p:nvPr/>
        </p:nvSpPr>
        <p:spPr>
          <a:xfrm>
            <a:off x="640080" y="1600200"/>
            <a:ext cx="6903720" cy="3520440"/>
          </a:xfrm>
          <a:prstGeom prst="roundRect">
            <a:avLst>
              <a:gd name="adj" fmla="val 1299"/>
            </a:avLst>
          </a:prstGeom>
          <a:solidFill>
            <a:srgbClr val="F4F5F6"/>
          </a:solidFill>
          <a:ln w="9525">
            <a:solidFill>
              <a:srgbClr val="D3D6D9"/>
            </a:solidFill>
            <a:prstDash val="solid"/>
          </a:ln>
        </p:spPr>
      </p:sp>
      <p:sp>
        <p:nvSpPr>
          <p:cNvPr id="7" name="Text 5"/>
          <p:cNvSpPr/>
          <p:nvPr/>
        </p:nvSpPr>
        <p:spPr>
          <a:xfrm>
            <a:off x="786384" y="1709928"/>
            <a:ext cx="6611112" cy="3300984"/>
          </a:xfrm>
          <a:prstGeom prst="rect">
            <a:avLst/>
          </a:prstGeom>
          <a:noFill/>
          <a:ln/>
        </p:spPr>
        <p:txBody>
          <a:bodyPr wrap="square" lIns="0" tIns="0" rIns="0" bIns="0" rtlCol="0" anchor="t"/>
          <a:lstStyle/>
          <a:p>
            <a:pPr indent="0" marL="0">
              <a:lnSpc>
                <a:spcPct val="112000"/>
              </a:lnSpc>
              <a:buNone/>
            </a:pPr>
            <a:r>
              <a:rPr lang="en-US" sz="1150" b="1" dirty="0">
                <a:solidFill>
                  <a:srgbClr val="1C1E21"/>
                </a:solidFill>
                <a:latin typeface="Courier New" pitchFamily="34" charset="0"/>
                <a:ea typeface="Courier New" pitchFamily="34" charset="-122"/>
                <a:cs typeface="Courier New" pitchFamily="34" charset="-120"/>
              </a:rPr>
              <a:t>function BACKTRACKING-SEARCH(csp) returns solution or failure</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return RECURSIVE-BACKTRACK({ }, csp)</a:t>
            </a:r>
            <a:endParaRPr lang="en-US" sz="1150" dirty="0"/>
          </a:p>
          <a:p>
            <a:pPr indent="0" marL="0">
              <a:lnSpc>
                <a:spcPct val="112000"/>
              </a:lnSpc>
              <a:buNone/>
            </a:pPr>
            <a:endParaRPr lang="en-US" sz="1150" dirty="0"/>
          </a:p>
          <a:p>
            <a:pPr indent="0" marL="0">
              <a:lnSpc>
                <a:spcPct val="112000"/>
              </a:lnSpc>
              <a:buNone/>
            </a:pPr>
            <a:r>
              <a:rPr lang="en-US" sz="1150" b="1" dirty="0">
                <a:solidFill>
                  <a:srgbClr val="1C1E21"/>
                </a:solidFill>
                <a:latin typeface="Courier New" pitchFamily="34" charset="0"/>
                <a:ea typeface="Courier New" pitchFamily="34" charset="-122"/>
                <a:cs typeface="Courier New" pitchFamily="34" charset="-120"/>
              </a:rPr>
              <a:t>function RECURSIVE-BACKTRACK(assignment, csp) returns soln or failure</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if assignment is complete then return assignment</a:t>
            </a:r>
            <a:endParaRPr lang="en-US" sz="1150" dirty="0"/>
          </a:p>
          <a:p>
            <a:pPr indent="0" marL="0">
              <a:lnSpc>
                <a:spcPct val="112000"/>
              </a:lnSpc>
              <a:buNone/>
            </a:pPr>
            <a:r>
              <a:rPr lang="en-US" sz="1150" dirty="0">
                <a:solidFill>
                  <a:srgbClr val="CB132A"/>
                </a:solidFill>
                <a:latin typeface="Courier New" pitchFamily="34" charset="0"/>
                <a:ea typeface="Courier New" pitchFamily="34" charset="-122"/>
                <a:cs typeface="Courier New" pitchFamily="34" charset="-120"/>
              </a:rPr>
              <a:t>    var &lt;- SELECT-UNASSIGNED-VARIABLE(csp, assignment)        &lt;-- choice</a:t>
            </a:r>
            <a:endParaRPr lang="en-US" sz="1150" dirty="0"/>
          </a:p>
          <a:p>
            <a:pPr indent="0" marL="0">
              <a:lnSpc>
                <a:spcPct val="112000"/>
              </a:lnSpc>
              <a:buNone/>
            </a:pPr>
            <a:r>
              <a:rPr lang="en-US" sz="1150" dirty="0">
                <a:solidFill>
                  <a:srgbClr val="CB132A"/>
                </a:solidFill>
                <a:latin typeface="Courier New" pitchFamily="34" charset="0"/>
                <a:ea typeface="Courier New" pitchFamily="34" charset="-122"/>
                <a:cs typeface="Courier New" pitchFamily="34" charset="-120"/>
              </a:rPr>
              <a:t>    for each value in ORDER-DOMAIN-VALUES(var, assignment)    &lt;-- choice</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if value is consistent with assignment given CONSTRAINTS then</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add { var = value } to assignment</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result &lt;- RECURSIVE-BACKTRACK(assignment, csp)</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if result != failure then return result</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remove { var = value } from assignment</a:t>
            </a:r>
            <a:endParaRPr lang="en-US" sz="1150" dirty="0"/>
          </a:p>
          <a:p>
            <a:pPr indent="0" marL="0">
              <a:lnSpc>
                <a:spcPct val="112000"/>
              </a:lnSpc>
              <a:buNone/>
            </a:pPr>
            <a:r>
              <a:rPr lang="en-US" sz="1150" dirty="0">
                <a:solidFill>
                  <a:srgbClr val="1C1E21"/>
                </a:solidFill>
                <a:latin typeface="Courier New" pitchFamily="34" charset="0"/>
                <a:ea typeface="Courier New" pitchFamily="34" charset="-122"/>
                <a:cs typeface="Courier New" pitchFamily="34" charset="-120"/>
              </a:rPr>
              <a:t>    return failure</a:t>
            </a:r>
            <a:endParaRPr lang="en-US" sz="1150" dirty="0"/>
          </a:p>
        </p:txBody>
      </p:sp>
      <p:sp>
        <p:nvSpPr>
          <p:cNvPr id="8" name="Shape 6"/>
          <p:cNvSpPr/>
          <p:nvPr/>
        </p:nvSpPr>
        <p:spPr>
          <a:xfrm>
            <a:off x="7818120" y="1600200"/>
            <a:ext cx="3730752" cy="1691640"/>
          </a:xfrm>
          <a:prstGeom prst="roundRect">
            <a:avLst>
              <a:gd name="adj" fmla="val 3243"/>
            </a:avLst>
          </a:prstGeom>
          <a:solidFill>
            <a:srgbClr val="F6F7F8"/>
          </a:solidFill>
          <a:ln w="9525">
            <a:solidFill>
              <a:srgbClr val="D3D6D9"/>
            </a:solidFill>
            <a:prstDash val="solid"/>
          </a:ln>
        </p:spPr>
      </p:sp>
      <p:sp>
        <p:nvSpPr>
          <p:cNvPr id="9" name="Text 7"/>
          <p:cNvSpPr/>
          <p:nvPr/>
        </p:nvSpPr>
        <p:spPr>
          <a:xfrm>
            <a:off x="8046720" y="1737360"/>
            <a:ext cx="329184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Why no final check?</a:t>
            </a:r>
            <a:endParaRPr lang="en-US" sz="1600" dirty="0"/>
          </a:p>
        </p:txBody>
      </p:sp>
      <p:sp>
        <p:nvSpPr>
          <p:cNvPr id="10" name="Text 8"/>
          <p:cNvSpPr/>
          <p:nvPr/>
        </p:nvSpPr>
        <p:spPr>
          <a:xfrm>
            <a:off x="8046720" y="2066544"/>
            <a:ext cx="3291840" cy="109728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A complete assignment is returned with no constraint test. It does not need one - any violation would have been caught at the step that introduced it.</a:t>
            </a:r>
            <a:endParaRPr lang="en-US" sz="1250" dirty="0"/>
          </a:p>
        </p:txBody>
      </p:sp>
      <p:sp>
        <p:nvSpPr>
          <p:cNvPr id="11" name="Shape 9"/>
          <p:cNvSpPr/>
          <p:nvPr/>
        </p:nvSpPr>
        <p:spPr>
          <a:xfrm>
            <a:off x="7818120" y="3429000"/>
            <a:ext cx="3730752" cy="1691640"/>
          </a:xfrm>
          <a:prstGeom prst="roundRect">
            <a:avLst>
              <a:gd name="adj" fmla="val 3243"/>
            </a:avLst>
          </a:prstGeom>
          <a:solidFill>
            <a:srgbClr val="FBEDEF"/>
          </a:solidFill>
          <a:ln w="9525">
            <a:solidFill>
              <a:srgbClr val="E8B5BC"/>
            </a:solidFill>
            <a:prstDash val="solid"/>
          </a:ln>
        </p:spPr>
      </p:sp>
      <p:sp>
        <p:nvSpPr>
          <p:cNvPr id="12" name="Text 10"/>
          <p:cNvSpPr/>
          <p:nvPr/>
        </p:nvSpPr>
        <p:spPr>
          <a:xfrm>
            <a:off x="8046720" y="3566160"/>
            <a:ext cx="329184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Two choice points</a:t>
            </a:r>
            <a:endParaRPr lang="en-US" sz="1600" dirty="0"/>
          </a:p>
        </p:txBody>
      </p:sp>
      <p:sp>
        <p:nvSpPr>
          <p:cNvPr id="13" name="Text 11"/>
          <p:cNvSpPr/>
          <p:nvPr/>
        </p:nvSpPr>
        <p:spPr>
          <a:xfrm>
            <a:off x="8046720" y="3895344"/>
            <a:ext cx="3291840" cy="109728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Which variable next, and in what order to try its values. Both are currently arbitrary. Filling them in intelligently is the last section of today.</a:t>
            </a:r>
            <a:endParaRPr lang="en-US" sz="1250" dirty="0"/>
          </a:p>
        </p:txBody>
      </p:sp>
      <p:sp>
        <p:nvSpPr>
          <p:cNvPr id="14" name="Text 12"/>
          <p:cNvSpPr/>
          <p:nvPr/>
        </p:nvSpPr>
        <p:spPr>
          <a:xfrm>
            <a:off x="640080" y="5349240"/>
            <a:ext cx="10908792" cy="548640"/>
          </a:xfrm>
          <a:prstGeom prst="rect">
            <a:avLst/>
          </a:prstGeom>
          <a:noFill/>
          <a:ln/>
        </p:spPr>
        <p:txBody>
          <a:bodyPr wrap="square" lIns="0" tIns="0" rIns="0" bIns="0" rtlCol="0" anchor="ctr"/>
          <a:lstStyle/>
          <a:p>
            <a:pPr indent="0" marL="0">
              <a:buNone/>
            </a:pPr>
            <a:r>
              <a:rPr lang="en-US" sz="1300" i="1" dirty="0">
                <a:solidFill>
                  <a:srgbClr val="53565A"/>
                </a:solidFill>
                <a:latin typeface="Calibri" pitchFamily="34" charset="0"/>
                <a:ea typeface="Calibri" pitchFamily="34" charset="-122"/>
                <a:cs typeface="Calibri" pitchFamily="34" charset="-120"/>
              </a:rPr>
              <a:t>Recursion is a poor fit for general search, where you want explicit control of the fringe. Here it is exactly right: all you ever do is descend and undo.</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31</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Backtracking on Australia</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Variable order WA, NT, Q. Crossed branches die on arrival.</a:t>
            </a:r>
            <a:endParaRPr lang="en-US" sz="1400" dirty="0"/>
          </a:p>
        </p:txBody>
      </p:sp>
      <p:sp>
        <p:nvSpPr>
          <p:cNvPr id="6" name="Shape 4"/>
          <p:cNvSpPr/>
          <p:nvPr/>
        </p:nvSpPr>
        <p:spPr>
          <a:xfrm>
            <a:off x="5212080" y="1691640"/>
            <a:ext cx="1371600" cy="402336"/>
          </a:xfrm>
          <a:prstGeom prst="roundRect">
            <a:avLst>
              <a:gd name="adj" fmla="val 11364"/>
            </a:avLst>
          </a:prstGeom>
          <a:solidFill>
            <a:srgbClr val="FFFFFF"/>
          </a:solidFill>
          <a:ln w="13970">
            <a:solidFill>
              <a:srgbClr val="1C1E21"/>
            </a:solidFill>
            <a:prstDash val="solid"/>
          </a:ln>
        </p:spPr>
      </p:sp>
      <p:sp>
        <p:nvSpPr>
          <p:cNvPr id="7" name="Text 5"/>
          <p:cNvSpPr/>
          <p:nvPr/>
        </p:nvSpPr>
        <p:spPr>
          <a:xfrm>
            <a:off x="5212080" y="169164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 }</a:t>
            </a:r>
            <a:endParaRPr lang="en-US" sz="1000" dirty="0"/>
          </a:p>
        </p:txBody>
      </p:sp>
      <p:sp>
        <p:nvSpPr>
          <p:cNvPr id="8" name="Shape 6"/>
          <p:cNvSpPr/>
          <p:nvPr/>
        </p:nvSpPr>
        <p:spPr>
          <a:xfrm flipH="1">
            <a:off x="2514600" y="2093976"/>
            <a:ext cx="3383280" cy="420624"/>
          </a:xfrm>
          <a:prstGeom prst="line">
            <a:avLst/>
          </a:prstGeom>
          <a:noFill/>
          <a:ln w="13970">
            <a:solidFill>
              <a:srgbClr val="53565A"/>
            </a:solidFill>
            <a:prstDash val="solid"/>
          </a:ln>
        </p:spPr>
      </p:sp>
      <p:sp>
        <p:nvSpPr>
          <p:cNvPr id="9" name="Shape 7"/>
          <p:cNvSpPr/>
          <p:nvPr/>
        </p:nvSpPr>
        <p:spPr>
          <a:xfrm>
            <a:off x="1828800" y="2514600"/>
            <a:ext cx="1371600" cy="402336"/>
          </a:xfrm>
          <a:prstGeom prst="roundRect">
            <a:avLst>
              <a:gd name="adj" fmla="val 11364"/>
            </a:avLst>
          </a:prstGeom>
          <a:solidFill>
            <a:srgbClr val="FFFFFF"/>
          </a:solidFill>
          <a:ln w="13970">
            <a:solidFill>
              <a:srgbClr val="1C1E21"/>
            </a:solidFill>
            <a:prstDash val="solid"/>
          </a:ln>
        </p:spPr>
      </p:sp>
      <p:sp>
        <p:nvSpPr>
          <p:cNvPr id="10" name="Text 8"/>
          <p:cNvSpPr/>
          <p:nvPr/>
        </p:nvSpPr>
        <p:spPr>
          <a:xfrm>
            <a:off x="1828800" y="251460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WA = red</a:t>
            </a:r>
            <a:endParaRPr lang="en-US" sz="1000" dirty="0"/>
          </a:p>
        </p:txBody>
      </p:sp>
      <p:sp>
        <p:nvSpPr>
          <p:cNvPr id="11" name="Shape 9"/>
          <p:cNvSpPr/>
          <p:nvPr/>
        </p:nvSpPr>
        <p:spPr>
          <a:xfrm>
            <a:off x="5897880" y="2093976"/>
            <a:ext cx="914" cy="420624"/>
          </a:xfrm>
          <a:prstGeom prst="line">
            <a:avLst/>
          </a:prstGeom>
          <a:noFill/>
          <a:ln w="13970">
            <a:solidFill>
              <a:srgbClr val="53565A"/>
            </a:solidFill>
            <a:prstDash val="solid"/>
          </a:ln>
        </p:spPr>
      </p:sp>
      <p:sp>
        <p:nvSpPr>
          <p:cNvPr id="12" name="Shape 10"/>
          <p:cNvSpPr/>
          <p:nvPr/>
        </p:nvSpPr>
        <p:spPr>
          <a:xfrm>
            <a:off x="5212080" y="2514600"/>
            <a:ext cx="1371600" cy="402336"/>
          </a:xfrm>
          <a:prstGeom prst="roundRect">
            <a:avLst>
              <a:gd name="adj" fmla="val 11364"/>
            </a:avLst>
          </a:prstGeom>
          <a:solidFill>
            <a:srgbClr val="FFFFFF"/>
          </a:solidFill>
          <a:ln w="13970">
            <a:solidFill>
              <a:srgbClr val="1C1E21"/>
            </a:solidFill>
            <a:prstDash val="solid"/>
          </a:ln>
        </p:spPr>
      </p:sp>
      <p:sp>
        <p:nvSpPr>
          <p:cNvPr id="13" name="Text 11"/>
          <p:cNvSpPr/>
          <p:nvPr/>
        </p:nvSpPr>
        <p:spPr>
          <a:xfrm>
            <a:off x="5212080" y="251460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WA = green</a:t>
            </a:r>
            <a:endParaRPr lang="en-US" sz="1000" dirty="0"/>
          </a:p>
        </p:txBody>
      </p:sp>
      <p:sp>
        <p:nvSpPr>
          <p:cNvPr id="14" name="Shape 12"/>
          <p:cNvSpPr/>
          <p:nvPr/>
        </p:nvSpPr>
        <p:spPr>
          <a:xfrm>
            <a:off x="5897880" y="2093976"/>
            <a:ext cx="3383280" cy="420624"/>
          </a:xfrm>
          <a:prstGeom prst="line">
            <a:avLst/>
          </a:prstGeom>
          <a:noFill/>
          <a:ln w="13970">
            <a:solidFill>
              <a:srgbClr val="53565A"/>
            </a:solidFill>
            <a:prstDash val="solid"/>
          </a:ln>
        </p:spPr>
      </p:sp>
      <p:sp>
        <p:nvSpPr>
          <p:cNvPr id="15" name="Shape 13"/>
          <p:cNvSpPr/>
          <p:nvPr/>
        </p:nvSpPr>
        <p:spPr>
          <a:xfrm>
            <a:off x="8595360" y="2514600"/>
            <a:ext cx="1371600" cy="402336"/>
          </a:xfrm>
          <a:prstGeom prst="roundRect">
            <a:avLst>
              <a:gd name="adj" fmla="val 11364"/>
            </a:avLst>
          </a:prstGeom>
          <a:solidFill>
            <a:srgbClr val="FFFFFF"/>
          </a:solidFill>
          <a:ln w="13970">
            <a:solidFill>
              <a:srgbClr val="1C1E21"/>
            </a:solidFill>
            <a:prstDash val="solid"/>
          </a:ln>
        </p:spPr>
      </p:sp>
      <p:sp>
        <p:nvSpPr>
          <p:cNvPr id="16" name="Text 14"/>
          <p:cNvSpPr/>
          <p:nvPr/>
        </p:nvSpPr>
        <p:spPr>
          <a:xfrm>
            <a:off x="8595360" y="251460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WA = blue</a:t>
            </a:r>
            <a:endParaRPr lang="en-US" sz="1000" dirty="0"/>
          </a:p>
        </p:txBody>
      </p:sp>
      <p:sp>
        <p:nvSpPr>
          <p:cNvPr id="17" name="Shape 15"/>
          <p:cNvSpPr/>
          <p:nvPr/>
        </p:nvSpPr>
        <p:spPr>
          <a:xfrm flipH="1">
            <a:off x="1371600" y="2916936"/>
            <a:ext cx="1143000" cy="603504"/>
          </a:xfrm>
          <a:prstGeom prst="line">
            <a:avLst/>
          </a:prstGeom>
          <a:noFill/>
          <a:ln w="13970">
            <a:solidFill>
              <a:srgbClr val="53565A"/>
            </a:solidFill>
            <a:prstDash val="solid"/>
          </a:ln>
        </p:spPr>
      </p:sp>
      <p:sp>
        <p:nvSpPr>
          <p:cNvPr id="18" name="Shape 16"/>
          <p:cNvSpPr/>
          <p:nvPr/>
        </p:nvSpPr>
        <p:spPr>
          <a:xfrm>
            <a:off x="685800" y="3520440"/>
            <a:ext cx="1371600" cy="402336"/>
          </a:xfrm>
          <a:prstGeom prst="roundRect">
            <a:avLst>
              <a:gd name="adj" fmla="val 11364"/>
            </a:avLst>
          </a:prstGeom>
          <a:solidFill>
            <a:srgbClr val="F7DDE0"/>
          </a:solidFill>
          <a:ln w="13970">
            <a:solidFill>
              <a:srgbClr val="CB132A"/>
            </a:solidFill>
            <a:prstDash val="solid"/>
          </a:ln>
        </p:spPr>
      </p:sp>
      <p:sp>
        <p:nvSpPr>
          <p:cNvPr id="19" name="Text 17"/>
          <p:cNvSpPr/>
          <p:nvPr/>
        </p:nvSpPr>
        <p:spPr>
          <a:xfrm>
            <a:off x="685800" y="3520440"/>
            <a:ext cx="1371600" cy="402336"/>
          </a:xfrm>
          <a:prstGeom prst="rect">
            <a:avLst/>
          </a:prstGeom>
          <a:noFill/>
          <a:ln/>
        </p:spPr>
        <p:txBody>
          <a:bodyPr wrap="square" lIns="0" tIns="0" rIns="0" bIns="0" rtlCol="0" anchor="ctr"/>
          <a:lstStyle/>
          <a:p>
            <a:pPr algn="ctr" indent="0" marL="0">
              <a:buNone/>
            </a:pPr>
            <a:r>
              <a:rPr lang="en-US" sz="1000" dirty="0">
                <a:solidFill>
                  <a:srgbClr val="CB132A"/>
                </a:solidFill>
                <a:latin typeface="Courier New" pitchFamily="34" charset="0"/>
                <a:ea typeface="Courier New" pitchFamily="34" charset="-122"/>
                <a:cs typeface="Courier New" pitchFamily="34" charset="-120"/>
              </a:rPr>
              <a:t>NT = red</a:t>
            </a:r>
            <a:endParaRPr lang="en-US" sz="1000" dirty="0"/>
          </a:p>
        </p:txBody>
      </p:sp>
      <p:sp>
        <p:nvSpPr>
          <p:cNvPr id="20" name="Text 18"/>
          <p:cNvSpPr/>
          <p:nvPr/>
        </p:nvSpPr>
        <p:spPr>
          <a:xfrm>
            <a:off x="2011680" y="3557016"/>
            <a:ext cx="274320" cy="274320"/>
          </a:xfrm>
          <a:prstGeom prst="rect">
            <a:avLst/>
          </a:prstGeom>
          <a:noFill/>
          <a:ln/>
        </p:spPr>
        <p:txBody>
          <a:bodyPr wrap="square" lIns="0" tIns="0" rIns="0" bIns="0" rtlCol="0" anchor="ctr"/>
          <a:lstStyle/>
          <a:p>
            <a:pPr algn="ctr" indent="0" marL="0">
              <a:buNone/>
            </a:pPr>
            <a:r>
              <a:rPr lang="en-US" sz="1300" b="1" dirty="0">
                <a:solidFill>
                  <a:srgbClr val="CB132A"/>
                </a:solidFill>
                <a:latin typeface="Calibri" pitchFamily="34" charset="0"/>
                <a:ea typeface="Calibri" pitchFamily="34" charset="-122"/>
                <a:cs typeface="Calibri" pitchFamily="34" charset="-120"/>
              </a:rPr>
              <a:t>X</a:t>
            </a:r>
            <a:endParaRPr lang="en-US" sz="1300" dirty="0"/>
          </a:p>
        </p:txBody>
      </p:sp>
      <p:sp>
        <p:nvSpPr>
          <p:cNvPr id="21" name="Shape 19"/>
          <p:cNvSpPr/>
          <p:nvPr/>
        </p:nvSpPr>
        <p:spPr>
          <a:xfrm>
            <a:off x="2514600" y="2916936"/>
            <a:ext cx="365760" cy="603504"/>
          </a:xfrm>
          <a:prstGeom prst="line">
            <a:avLst/>
          </a:prstGeom>
          <a:noFill/>
          <a:ln w="13970">
            <a:solidFill>
              <a:srgbClr val="53565A"/>
            </a:solidFill>
            <a:prstDash val="solid"/>
          </a:ln>
        </p:spPr>
      </p:sp>
      <p:sp>
        <p:nvSpPr>
          <p:cNvPr id="22" name="Shape 20"/>
          <p:cNvSpPr/>
          <p:nvPr/>
        </p:nvSpPr>
        <p:spPr>
          <a:xfrm>
            <a:off x="2194560" y="3520440"/>
            <a:ext cx="1371600" cy="402336"/>
          </a:xfrm>
          <a:prstGeom prst="roundRect">
            <a:avLst>
              <a:gd name="adj" fmla="val 11364"/>
            </a:avLst>
          </a:prstGeom>
          <a:solidFill>
            <a:srgbClr val="FFFFFF"/>
          </a:solidFill>
          <a:ln w="13970">
            <a:solidFill>
              <a:srgbClr val="1C1E21"/>
            </a:solidFill>
            <a:prstDash val="solid"/>
          </a:ln>
        </p:spPr>
      </p:sp>
      <p:sp>
        <p:nvSpPr>
          <p:cNvPr id="23" name="Text 21"/>
          <p:cNvSpPr/>
          <p:nvPr/>
        </p:nvSpPr>
        <p:spPr>
          <a:xfrm>
            <a:off x="2194560" y="352044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NT = green</a:t>
            </a:r>
            <a:endParaRPr lang="en-US" sz="1000" dirty="0"/>
          </a:p>
        </p:txBody>
      </p:sp>
      <p:sp>
        <p:nvSpPr>
          <p:cNvPr id="24" name="Shape 22"/>
          <p:cNvSpPr/>
          <p:nvPr/>
        </p:nvSpPr>
        <p:spPr>
          <a:xfrm>
            <a:off x="2514600" y="2916936"/>
            <a:ext cx="1874520" cy="603504"/>
          </a:xfrm>
          <a:prstGeom prst="line">
            <a:avLst/>
          </a:prstGeom>
          <a:noFill/>
          <a:ln w="13970">
            <a:solidFill>
              <a:srgbClr val="53565A"/>
            </a:solidFill>
            <a:prstDash val="solid"/>
          </a:ln>
        </p:spPr>
      </p:sp>
      <p:sp>
        <p:nvSpPr>
          <p:cNvPr id="25" name="Shape 23"/>
          <p:cNvSpPr/>
          <p:nvPr/>
        </p:nvSpPr>
        <p:spPr>
          <a:xfrm>
            <a:off x="3703320" y="3520440"/>
            <a:ext cx="1371600" cy="402336"/>
          </a:xfrm>
          <a:prstGeom prst="roundRect">
            <a:avLst>
              <a:gd name="adj" fmla="val 11364"/>
            </a:avLst>
          </a:prstGeom>
          <a:solidFill>
            <a:srgbClr val="FFFFFF"/>
          </a:solidFill>
          <a:ln w="13970">
            <a:solidFill>
              <a:srgbClr val="1C1E21"/>
            </a:solidFill>
            <a:prstDash val="solid"/>
          </a:ln>
        </p:spPr>
      </p:sp>
      <p:sp>
        <p:nvSpPr>
          <p:cNvPr id="26" name="Text 24"/>
          <p:cNvSpPr/>
          <p:nvPr/>
        </p:nvSpPr>
        <p:spPr>
          <a:xfrm>
            <a:off x="3703320" y="352044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NT = blue</a:t>
            </a:r>
            <a:endParaRPr lang="en-US" sz="1000" dirty="0"/>
          </a:p>
        </p:txBody>
      </p:sp>
      <p:sp>
        <p:nvSpPr>
          <p:cNvPr id="27" name="Shape 25"/>
          <p:cNvSpPr/>
          <p:nvPr/>
        </p:nvSpPr>
        <p:spPr>
          <a:xfrm flipH="1">
            <a:off x="1874520" y="3922776"/>
            <a:ext cx="1005840" cy="603504"/>
          </a:xfrm>
          <a:prstGeom prst="line">
            <a:avLst/>
          </a:prstGeom>
          <a:noFill/>
          <a:ln w="13970">
            <a:solidFill>
              <a:srgbClr val="53565A"/>
            </a:solidFill>
            <a:prstDash val="solid"/>
          </a:ln>
        </p:spPr>
      </p:sp>
      <p:sp>
        <p:nvSpPr>
          <p:cNvPr id="28" name="Shape 26"/>
          <p:cNvSpPr/>
          <p:nvPr/>
        </p:nvSpPr>
        <p:spPr>
          <a:xfrm>
            <a:off x="1188720" y="4526280"/>
            <a:ext cx="1371600" cy="402336"/>
          </a:xfrm>
          <a:prstGeom prst="roundRect">
            <a:avLst>
              <a:gd name="adj" fmla="val 11364"/>
            </a:avLst>
          </a:prstGeom>
          <a:solidFill>
            <a:srgbClr val="FFFFFF"/>
          </a:solidFill>
          <a:ln w="13970">
            <a:solidFill>
              <a:srgbClr val="1C1E21"/>
            </a:solidFill>
            <a:prstDash val="solid"/>
          </a:ln>
        </p:spPr>
      </p:sp>
      <p:sp>
        <p:nvSpPr>
          <p:cNvPr id="29" name="Text 27"/>
          <p:cNvSpPr/>
          <p:nvPr/>
        </p:nvSpPr>
        <p:spPr>
          <a:xfrm>
            <a:off x="1188720" y="452628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Q = red</a:t>
            </a:r>
            <a:endParaRPr lang="en-US" sz="1000" dirty="0"/>
          </a:p>
        </p:txBody>
      </p:sp>
      <p:sp>
        <p:nvSpPr>
          <p:cNvPr id="30" name="Shape 28"/>
          <p:cNvSpPr/>
          <p:nvPr/>
        </p:nvSpPr>
        <p:spPr>
          <a:xfrm>
            <a:off x="2880360" y="3922776"/>
            <a:ext cx="502920" cy="603504"/>
          </a:xfrm>
          <a:prstGeom prst="line">
            <a:avLst/>
          </a:prstGeom>
          <a:noFill/>
          <a:ln w="13970">
            <a:solidFill>
              <a:srgbClr val="53565A"/>
            </a:solidFill>
            <a:prstDash val="solid"/>
          </a:ln>
        </p:spPr>
      </p:sp>
      <p:sp>
        <p:nvSpPr>
          <p:cNvPr id="31" name="Shape 29"/>
          <p:cNvSpPr/>
          <p:nvPr/>
        </p:nvSpPr>
        <p:spPr>
          <a:xfrm>
            <a:off x="2697480" y="4526280"/>
            <a:ext cx="1371600" cy="402336"/>
          </a:xfrm>
          <a:prstGeom prst="roundRect">
            <a:avLst>
              <a:gd name="adj" fmla="val 11364"/>
            </a:avLst>
          </a:prstGeom>
          <a:solidFill>
            <a:srgbClr val="F7DDE0"/>
          </a:solidFill>
          <a:ln w="13970">
            <a:solidFill>
              <a:srgbClr val="CB132A"/>
            </a:solidFill>
            <a:prstDash val="solid"/>
          </a:ln>
        </p:spPr>
      </p:sp>
      <p:sp>
        <p:nvSpPr>
          <p:cNvPr id="32" name="Text 30"/>
          <p:cNvSpPr/>
          <p:nvPr/>
        </p:nvSpPr>
        <p:spPr>
          <a:xfrm>
            <a:off x="2697480" y="4526280"/>
            <a:ext cx="1371600" cy="402336"/>
          </a:xfrm>
          <a:prstGeom prst="rect">
            <a:avLst/>
          </a:prstGeom>
          <a:noFill/>
          <a:ln/>
        </p:spPr>
        <p:txBody>
          <a:bodyPr wrap="square" lIns="0" tIns="0" rIns="0" bIns="0" rtlCol="0" anchor="ctr"/>
          <a:lstStyle/>
          <a:p>
            <a:pPr algn="ctr" indent="0" marL="0">
              <a:buNone/>
            </a:pPr>
            <a:r>
              <a:rPr lang="en-US" sz="1000" dirty="0">
                <a:solidFill>
                  <a:srgbClr val="CB132A"/>
                </a:solidFill>
                <a:latin typeface="Courier New" pitchFamily="34" charset="0"/>
                <a:ea typeface="Courier New" pitchFamily="34" charset="-122"/>
                <a:cs typeface="Courier New" pitchFamily="34" charset="-120"/>
              </a:rPr>
              <a:t>Q = green</a:t>
            </a:r>
            <a:endParaRPr lang="en-US" sz="1000" dirty="0"/>
          </a:p>
        </p:txBody>
      </p:sp>
      <p:sp>
        <p:nvSpPr>
          <p:cNvPr id="33" name="Text 31"/>
          <p:cNvSpPr/>
          <p:nvPr/>
        </p:nvSpPr>
        <p:spPr>
          <a:xfrm>
            <a:off x="4023360" y="4562856"/>
            <a:ext cx="274320" cy="274320"/>
          </a:xfrm>
          <a:prstGeom prst="rect">
            <a:avLst/>
          </a:prstGeom>
          <a:noFill/>
          <a:ln/>
        </p:spPr>
        <p:txBody>
          <a:bodyPr wrap="square" lIns="0" tIns="0" rIns="0" bIns="0" rtlCol="0" anchor="ctr"/>
          <a:lstStyle/>
          <a:p>
            <a:pPr algn="ctr" indent="0" marL="0">
              <a:buNone/>
            </a:pPr>
            <a:r>
              <a:rPr lang="en-US" sz="1300" b="1" dirty="0">
                <a:solidFill>
                  <a:srgbClr val="CB132A"/>
                </a:solidFill>
                <a:latin typeface="Calibri" pitchFamily="34" charset="0"/>
                <a:ea typeface="Calibri" pitchFamily="34" charset="-122"/>
                <a:cs typeface="Calibri" pitchFamily="34" charset="-120"/>
              </a:rPr>
              <a:t>X</a:t>
            </a:r>
            <a:endParaRPr lang="en-US" sz="1300" dirty="0"/>
          </a:p>
        </p:txBody>
      </p:sp>
      <p:sp>
        <p:nvSpPr>
          <p:cNvPr id="34" name="Shape 32"/>
          <p:cNvSpPr/>
          <p:nvPr/>
        </p:nvSpPr>
        <p:spPr>
          <a:xfrm>
            <a:off x="2880360" y="3922776"/>
            <a:ext cx="2011680" cy="603504"/>
          </a:xfrm>
          <a:prstGeom prst="line">
            <a:avLst/>
          </a:prstGeom>
          <a:noFill/>
          <a:ln w="13970">
            <a:solidFill>
              <a:srgbClr val="53565A"/>
            </a:solidFill>
            <a:prstDash val="solid"/>
          </a:ln>
        </p:spPr>
      </p:sp>
      <p:sp>
        <p:nvSpPr>
          <p:cNvPr id="35" name="Shape 33"/>
          <p:cNvSpPr/>
          <p:nvPr/>
        </p:nvSpPr>
        <p:spPr>
          <a:xfrm>
            <a:off x="4206240" y="4526280"/>
            <a:ext cx="1371600" cy="402336"/>
          </a:xfrm>
          <a:prstGeom prst="roundRect">
            <a:avLst>
              <a:gd name="adj" fmla="val 11364"/>
            </a:avLst>
          </a:prstGeom>
          <a:solidFill>
            <a:srgbClr val="FFFFFF"/>
          </a:solidFill>
          <a:ln w="13970">
            <a:solidFill>
              <a:srgbClr val="1C1E21"/>
            </a:solidFill>
            <a:prstDash val="solid"/>
          </a:ln>
        </p:spPr>
      </p:sp>
      <p:sp>
        <p:nvSpPr>
          <p:cNvPr id="36" name="Text 34"/>
          <p:cNvSpPr/>
          <p:nvPr/>
        </p:nvSpPr>
        <p:spPr>
          <a:xfrm>
            <a:off x="4206240" y="4526280"/>
            <a:ext cx="1371600" cy="402336"/>
          </a:xfrm>
          <a:prstGeom prst="rect">
            <a:avLst/>
          </a:prstGeom>
          <a:noFill/>
          <a:ln/>
        </p:spPr>
        <p:txBody>
          <a:bodyPr wrap="square" lIns="0" tIns="0" rIns="0" bIns="0" rtlCol="0" anchor="ctr"/>
          <a:lstStyle/>
          <a:p>
            <a:pPr algn="ctr" indent="0" marL="0">
              <a:buNone/>
            </a:pPr>
            <a:r>
              <a:rPr lang="en-US" sz="1000" dirty="0">
                <a:solidFill>
                  <a:srgbClr val="1C1E21"/>
                </a:solidFill>
                <a:latin typeface="Courier New" pitchFamily="34" charset="0"/>
                <a:ea typeface="Courier New" pitchFamily="34" charset="-122"/>
                <a:cs typeface="Courier New" pitchFamily="34" charset="-120"/>
              </a:rPr>
              <a:t>Q = blue</a:t>
            </a:r>
            <a:endParaRPr lang="en-US" sz="1000" dirty="0"/>
          </a:p>
        </p:txBody>
      </p:sp>
      <p:sp>
        <p:nvSpPr>
          <p:cNvPr id="37" name="Text 35"/>
          <p:cNvSpPr/>
          <p:nvPr/>
        </p:nvSpPr>
        <p:spPr>
          <a:xfrm>
            <a:off x="658368" y="3986784"/>
            <a:ext cx="1463040" cy="457200"/>
          </a:xfrm>
          <a:prstGeom prst="rect">
            <a:avLst/>
          </a:prstGeom>
          <a:noFill/>
          <a:ln/>
        </p:spPr>
        <p:txBody>
          <a:bodyPr wrap="square" lIns="0" tIns="0" rIns="0" bIns="0" rtlCol="0" anchor="ctr"/>
          <a:lstStyle/>
          <a:p>
            <a:pPr algn="ctr" indent="0" marL="0">
              <a:buNone/>
            </a:pPr>
            <a:r>
              <a:rPr lang="en-US" sz="950" i="1" dirty="0">
                <a:solidFill>
                  <a:srgbClr val="CB132A"/>
                </a:solidFill>
                <a:latin typeface="Calibri" pitchFamily="34" charset="0"/>
                <a:ea typeface="Calibri" pitchFamily="34" charset="-122"/>
                <a:cs typeface="Calibri" pitchFamily="34" charset="-120"/>
              </a:rPr>
              <a:t>dies immediately:</a:t>
            </a:r>
            <a:endParaRPr lang="en-US" sz="950" dirty="0"/>
          </a:p>
          <a:p>
            <a:pPr algn="ctr" indent="0" marL="0">
              <a:buNone/>
            </a:pPr>
            <a:r>
              <a:rPr lang="en-US" sz="950" i="1" dirty="0">
                <a:solidFill>
                  <a:srgbClr val="CB132A"/>
                </a:solidFill>
                <a:latin typeface="Calibri" pitchFamily="34" charset="0"/>
                <a:ea typeface="Calibri" pitchFamily="34" charset="-122"/>
                <a:cs typeface="Calibri" pitchFamily="34" charset="-120"/>
              </a:rPr>
              <a:t>WA = NT = red</a:t>
            </a:r>
            <a:endParaRPr lang="en-US" sz="950" dirty="0"/>
          </a:p>
        </p:txBody>
      </p:sp>
      <p:sp>
        <p:nvSpPr>
          <p:cNvPr id="38" name="Text 36"/>
          <p:cNvSpPr/>
          <p:nvPr/>
        </p:nvSpPr>
        <p:spPr>
          <a:xfrm>
            <a:off x="2651760" y="4992624"/>
            <a:ext cx="1554480" cy="457200"/>
          </a:xfrm>
          <a:prstGeom prst="rect">
            <a:avLst/>
          </a:prstGeom>
          <a:noFill/>
          <a:ln/>
        </p:spPr>
        <p:txBody>
          <a:bodyPr wrap="square" lIns="0" tIns="0" rIns="0" bIns="0" rtlCol="0" anchor="ctr"/>
          <a:lstStyle/>
          <a:p>
            <a:pPr algn="ctr" indent="0" marL="0">
              <a:buNone/>
            </a:pPr>
            <a:r>
              <a:rPr lang="en-US" sz="950" i="1" dirty="0">
                <a:solidFill>
                  <a:srgbClr val="CB132A"/>
                </a:solidFill>
                <a:latin typeface="Calibri" pitchFamily="34" charset="0"/>
                <a:ea typeface="Calibri" pitchFamily="34" charset="-122"/>
                <a:cs typeface="Calibri" pitchFamily="34" charset="-120"/>
              </a:rPr>
              <a:t>dies immediately:</a:t>
            </a:r>
            <a:endParaRPr lang="en-US" sz="950" dirty="0"/>
          </a:p>
          <a:p>
            <a:pPr algn="ctr" indent="0" marL="0">
              <a:buNone/>
            </a:pPr>
            <a:r>
              <a:rPr lang="en-US" sz="950" i="1" dirty="0">
                <a:solidFill>
                  <a:srgbClr val="CB132A"/>
                </a:solidFill>
                <a:latin typeface="Calibri" pitchFamily="34" charset="0"/>
                <a:ea typeface="Calibri" pitchFamily="34" charset="-122"/>
                <a:cs typeface="Calibri" pitchFamily="34" charset="-120"/>
              </a:rPr>
              <a:t>Q = NT = green</a:t>
            </a:r>
            <a:endParaRPr lang="en-US" sz="950" dirty="0"/>
          </a:p>
        </p:txBody>
      </p:sp>
      <p:sp>
        <p:nvSpPr>
          <p:cNvPr id="39" name="Shape 37"/>
          <p:cNvSpPr/>
          <p:nvPr/>
        </p:nvSpPr>
        <p:spPr>
          <a:xfrm flipH="1">
            <a:off x="8906256" y="3639312"/>
            <a:ext cx="658368" cy="420624"/>
          </a:xfrm>
          <a:prstGeom prst="line">
            <a:avLst/>
          </a:prstGeom>
          <a:noFill/>
          <a:ln w="15875">
            <a:solidFill>
              <a:srgbClr val="53565A"/>
            </a:solidFill>
            <a:prstDash val="solid"/>
          </a:ln>
        </p:spPr>
      </p:sp>
      <p:sp>
        <p:nvSpPr>
          <p:cNvPr id="40" name="Shape 38"/>
          <p:cNvSpPr/>
          <p:nvPr/>
        </p:nvSpPr>
        <p:spPr>
          <a:xfrm>
            <a:off x="8906256" y="4059936"/>
            <a:ext cx="702259" cy="462686"/>
          </a:xfrm>
          <a:prstGeom prst="line">
            <a:avLst/>
          </a:prstGeom>
          <a:noFill/>
          <a:ln w="15875">
            <a:solidFill>
              <a:srgbClr val="53565A"/>
            </a:solidFill>
            <a:prstDash val="solid"/>
          </a:ln>
        </p:spPr>
      </p:sp>
      <p:sp>
        <p:nvSpPr>
          <p:cNvPr id="41" name="Shape 39"/>
          <p:cNvSpPr/>
          <p:nvPr/>
        </p:nvSpPr>
        <p:spPr>
          <a:xfrm>
            <a:off x="9564624" y="3639312"/>
            <a:ext cx="43891" cy="883310"/>
          </a:xfrm>
          <a:prstGeom prst="line">
            <a:avLst/>
          </a:prstGeom>
          <a:noFill/>
          <a:ln w="15875">
            <a:solidFill>
              <a:srgbClr val="53565A"/>
            </a:solidFill>
            <a:prstDash val="solid"/>
          </a:ln>
        </p:spPr>
      </p:sp>
      <p:sp>
        <p:nvSpPr>
          <p:cNvPr id="42" name="Shape 40"/>
          <p:cNvSpPr/>
          <p:nvPr/>
        </p:nvSpPr>
        <p:spPr>
          <a:xfrm>
            <a:off x="9564624" y="3639312"/>
            <a:ext cx="702259" cy="189281"/>
          </a:xfrm>
          <a:prstGeom prst="line">
            <a:avLst/>
          </a:prstGeom>
          <a:noFill/>
          <a:ln w="15875">
            <a:solidFill>
              <a:srgbClr val="53565A"/>
            </a:solidFill>
            <a:prstDash val="solid"/>
          </a:ln>
        </p:spPr>
      </p:sp>
      <p:sp>
        <p:nvSpPr>
          <p:cNvPr id="43" name="Shape 41"/>
          <p:cNvSpPr/>
          <p:nvPr/>
        </p:nvSpPr>
        <p:spPr>
          <a:xfrm flipH="1">
            <a:off x="9608515" y="3828593"/>
            <a:ext cx="658368" cy="694030"/>
          </a:xfrm>
          <a:prstGeom prst="line">
            <a:avLst/>
          </a:prstGeom>
          <a:noFill/>
          <a:ln w="15875">
            <a:solidFill>
              <a:srgbClr val="53565A"/>
            </a:solidFill>
            <a:prstDash val="solid"/>
          </a:ln>
        </p:spPr>
      </p:sp>
      <p:sp>
        <p:nvSpPr>
          <p:cNvPr id="44" name="Shape 42"/>
          <p:cNvSpPr/>
          <p:nvPr/>
        </p:nvSpPr>
        <p:spPr>
          <a:xfrm flipH="1">
            <a:off x="9608515" y="4501591"/>
            <a:ext cx="833933" cy="21031"/>
          </a:xfrm>
          <a:prstGeom prst="line">
            <a:avLst/>
          </a:prstGeom>
          <a:noFill/>
          <a:ln w="15875">
            <a:solidFill>
              <a:srgbClr val="53565A"/>
            </a:solidFill>
            <a:prstDash val="solid"/>
          </a:ln>
        </p:spPr>
      </p:sp>
      <p:sp>
        <p:nvSpPr>
          <p:cNvPr id="45" name="Shape 43"/>
          <p:cNvSpPr/>
          <p:nvPr/>
        </p:nvSpPr>
        <p:spPr>
          <a:xfrm>
            <a:off x="9608515" y="4522622"/>
            <a:ext cx="438912" cy="504749"/>
          </a:xfrm>
          <a:prstGeom prst="line">
            <a:avLst/>
          </a:prstGeom>
          <a:noFill/>
          <a:ln w="15875">
            <a:solidFill>
              <a:srgbClr val="53565A"/>
            </a:solidFill>
            <a:prstDash val="solid"/>
          </a:ln>
        </p:spPr>
      </p:sp>
      <p:sp>
        <p:nvSpPr>
          <p:cNvPr id="46" name="Shape 44"/>
          <p:cNvSpPr/>
          <p:nvPr/>
        </p:nvSpPr>
        <p:spPr>
          <a:xfrm>
            <a:off x="10266883" y="3828593"/>
            <a:ext cx="175565" cy="672998"/>
          </a:xfrm>
          <a:prstGeom prst="line">
            <a:avLst/>
          </a:prstGeom>
          <a:noFill/>
          <a:ln w="15875">
            <a:solidFill>
              <a:srgbClr val="53565A"/>
            </a:solidFill>
            <a:prstDash val="solid"/>
          </a:ln>
        </p:spPr>
      </p:sp>
      <p:sp>
        <p:nvSpPr>
          <p:cNvPr id="47" name="Shape 45"/>
          <p:cNvSpPr/>
          <p:nvPr/>
        </p:nvSpPr>
        <p:spPr>
          <a:xfrm flipH="1">
            <a:off x="10047427" y="4501591"/>
            <a:ext cx="395021" cy="525780"/>
          </a:xfrm>
          <a:prstGeom prst="line">
            <a:avLst/>
          </a:prstGeom>
          <a:noFill/>
          <a:ln w="15875">
            <a:solidFill>
              <a:srgbClr val="53565A"/>
            </a:solidFill>
            <a:prstDash val="solid"/>
          </a:ln>
        </p:spPr>
      </p:sp>
      <p:sp>
        <p:nvSpPr>
          <p:cNvPr id="48" name="Shape 46"/>
          <p:cNvSpPr/>
          <p:nvPr/>
        </p:nvSpPr>
        <p:spPr>
          <a:xfrm>
            <a:off x="9381744" y="3456432"/>
            <a:ext cx="365760" cy="365760"/>
          </a:xfrm>
          <a:prstGeom prst="ellipse">
            <a:avLst/>
          </a:prstGeom>
          <a:solidFill>
            <a:srgbClr val="2E8B45"/>
          </a:solidFill>
          <a:ln w="17780">
            <a:solidFill>
              <a:srgbClr val="2E8B45"/>
            </a:solidFill>
            <a:prstDash val="solid"/>
          </a:ln>
        </p:spPr>
      </p:sp>
      <p:sp>
        <p:nvSpPr>
          <p:cNvPr id="49" name="Text 47"/>
          <p:cNvSpPr/>
          <p:nvPr/>
        </p:nvSpPr>
        <p:spPr>
          <a:xfrm>
            <a:off x="9381744" y="3456432"/>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NT</a:t>
            </a:r>
            <a:endParaRPr lang="en-US" sz="1000" dirty="0"/>
          </a:p>
        </p:txBody>
      </p:sp>
      <p:sp>
        <p:nvSpPr>
          <p:cNvPr id="50" name="Shape 48"/>
          <p:cNvSpPr/>
          <p:nvPr/>
        </p:nvSpPr>
        <p:spPr>
          <a:xfrm>
            <a:off x="10084003" y="3645713"/>
            <a:ext cx="365760" cy="365760"/>
          </a:xfrm>
          <a:prstGeom prst="ellipse">
            <a:avLst/>
          </a:prstGeom>
          <a:solidFill>
            <a:srgbClr val="FFFFFF"/>
          </a:solidFill>
          <a:ln w="17780">
            <a:solidFill>
              <a:srgbClr val="1C1E21"/>
            </a:solidFill>
            <a:prstDash val="solid"/>
          </a:ln>
        </p:spPr>
      </p:sp>
      <p:sp>
        <p:nvSpPr>
          <p:cNvPr id="51" name="Text 49"/>
          <p:cNvSpPr/>
          <p:nvPr/>
        </p:nvSpPr>
        <p:spPr>
          <a:xfrm>
            <a:off x="10084003" y="3645713"/>
            <a:ext cx="365760" cy="365760"/>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Q</a:t>
            </a:r>
            <a:endParaRPr lang="en-US" sz="1000" dirty="0"/>
          </a:p>
        </p:txBody>
      </p:sp>
      <p:sp>
        <p:nvSpPr>
          <p:cNvPr id="52" name="Shape 50"/>
          <p:cNvSpPr/>
          <p:nvPr/>
        </p:nvSpPr>
        <p:spPr>
          <a:xfrm>
            <a:off x="8723376" y="3877056"/>
            <a:ext cx="365760" cy="365760"/>
          </a:xfrm>
          <a:prstGeom prst="ellipse">
            <a:avLst/>
          </a:prstGeom>
          <a:solidFill>
            <a:srgbClr val="C0392B"/>
          </a:solidFill>
          <a:ln w="17780">
            <a:solidFill>
              <a:srgbClr val="C0392B"/>
            </a:solidFill>
            <a:prstDash val="solid"/>
          </a:ln>
        </p:spPr>
      </p:sp>
      <p:sp>
        <p:nvSpPr>
          <p:cNvPr id="53" name="Text 51"/>
          <p:cNvSpPr/>
          <p:nvPr/>
        </p:nvSpPr>
        <p:spPr>
          <a:xfrm>
            <a:off x="8723376" y="3877056"/>
            <a:ext cx="36576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a:t>
            </a:r>
            <a:endParaRPr lang="en-US" sz="1000" dirty="0"/>
          </a:p>
        </p:txBody>
      </p:sp>
      <p:sp>
        <p:nvSpPr>
          <p:cNvPr id="54" name="Shape 52"/>
          <p:cNvSpPr/>
          <p:nvPr/>
        </p:nvSpPr>
        <p:spPr>
          <a:xfrm>
            <a:off x="9425635" y="4339742"/>
            <a:ext cx="365760" cy="365760"/>
          </a:xfrm>
          <a:prstGeom prst="ellipse">
            <a:avLst/>
          </a:prstGeom>
          <a:solidFill>
            <a:srgbClr val="FFFFFF"/>
          </a:solidFill>
          <a:ln w="17780">
            <a:solidFill>
              <a:srgbClr val="1C1E21"/>
            </a:solidFill>
            <a:prstDash val="solid"/>
          </a:ln>
        </p:spPr>
      </p:sp>
      <p:sp>
        <p:nvSpPr>
          <p:cNvPr id="55" name="Text 53"/>
          <p:cNvSpPr/>
          <p:nvPr/>
        </p:nvSpPr>
        <p:spPr>
          <a:xfrm>
            <a:off x="9425635" y="4339742"/>
            <a:ext cx="365760" cy="365760"/>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SA</a:t>
            </a:r>
            <a:endParaRPr lang="en-US" sz="1000" dirty="0"/>
          </a:p>
        </p:txBody>
      </p:sp>
      <p:sp>
        <p:nvSpPr>
          <p:cNvPr id="56" name="Shape 54"/>
          <p:cNvSpPr/>
          <p:nvPr/>
        </p:nvSpPr>
        <p:spPr>
          <a:xfrm>
            <a:off x="10259568" y="4318711"/>
            <a:ext cx="365760" cy="365760"/>
          </a:xfrm>
          <a:prstGeom prst="ellipse">
            <a:avLst/>
          </a:prstGeom>
          <a:solidFill>
            <a:srgbClr val="FFFFFF"/>
          </a:solidFill>
          <a:ln w="17780">
            <a:solidFill>
              <a:srgbClr val="1C1E21"/>
            </a:solidFill>
            <a:prstDash val="solid"/>
          </a:ln>
        </p:spPr>
      </p:sp>
      <p:sp>
        <p:nvSpPr>
          <p:cNvPr id="57" name="Text 55"/>
          <p:cNvSpPr/>
          <p:nvPr/>
        </p:nvSpPr>
        <p:spPr>
          <a:xfrm>
            <a:off x="10259568" y="4318711"/>
            <a:ext cx="365760" cy="365760"/>
          </a:xfrm>
          <a:prstGeom prst="rect">
            <a:avLst/>
          </a:prstGeom>
          <a:noFill/>
          <a:ln/>
        </p:spPr>
        <p:txBody>
          <a:bodyPr wrap="square" lIns="0" tIns="0" rIns="0" bIns="0" rtlCol="0" anchor="ctr"/>
          <a:lstStyle/>
          <a:p>
            <a:pPr algn="ctr" indent="0" marL="0">
              <a:buNone/>
            </a:pPr>
            <a:r>
              <a:rPr lang="en-US" sz="850" b="1" dirty="0">
                <a:solidFill>
                  <a:srgbClr val="1C1E21"/>
                </a:solidFill>
                <a:latin typeface="Calibri" pitchFamily="34" charset="0"/>
                <a:ea typeface="Calibri" pitchFamily="34" charset="-122"/>
                <a:cs typeface="Calibri" pitchFamily="34" charset="-120"/>
              </a:rPr>
              <a:t>NSW</a:t>
            </a:r>
            <a:endParaRPr lang="en-US" sz="850" dirty="0"/>
          </a:p>
        </p:txBody>
      </p:sp>
      <p:sp>
        <p:nvSpPr>
          <p:cNvPr id="58" name="Shape 56"/>
          <p:cNvSpPr/>
          <p:nvPr/>
        </p:nvSpPr>
        <p:spPr>
          <a:xfrm>
            <a:off x="9864547" y="4844491"/>
            <a:ext cx="365760" cy="365760"/>
          </a:xfrm>
          <a:prstGeom prst="ellipse">
            <a:avLst/>
          </a:prstGeom>
          <a:solidFill>
            <a:srgbClr val="FFFFFF"/>
          </a:solidFill>
          <a:ln w="17780">
            <a:solidFill>
              <a:srgbClr val="1C1E21"/>
            </a:solidFill>
            <a:prstDash val="solid"/>
          </a:ln>
        </p:spPr>
      </p:sp>
      <p:sp>
        <p:nvSpPr>
          <p:cNvPr id="59" name="Text 57"/>
          <p:cNvSpPr/>
          <p:nvPr/>
        </p:nvSpPr>
        <p:spPr>
          <a:xfrm>
            <a:off x="9864547" y="4844491"/>
            <a:ext cx="365760" cy="365760"/>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V</a:t>
            </a:r>
            <a:endParaRPr lang="en-US" sz="1000" dirty="0"/>
          </a:p>
        </p:txBody>
      </p:sp>
      <p:sp>
        <p:nvSpPr>
          <p:cNvPr id="60" name="Shape 58"/>
          <p:cNvSpPr/>
          <p:nvPr/>
        </p:nvSpPr>
        <p:spPr>
          <a:xfrm>
            <a:off x="9820656" y="5349240"/>
            <a:ext cx="365760" cy="365760"/>
          </a:xfrm>
          <a:prstGeom prst="ellipse">
            <a:avLst/>
          </a:prstGeom>
          <a:solidFill>
            <a:srgbClr val="FFFFFF"/>
          </a:solidFill>
          <a:ln w="17780">
            <a:solidFill>
              <a:srgbClr val="1C1E21"/>
            </a:solidFill>
            <a:prstDash val="solid"/>
          </a:ln>
        </p:spPr>
      </p:sp>
      <p:sp>
        <p:nvSpPr>
          <p:cNvPr id="61" name="Text 59"/>
          <p:cNvSpPr/>
          <p:nvPr/>
        </p:nvSpPr>
        <p:spPr>
          <a:xfrm>
            <a:off x="9820656" y="5349240"/>
            <a:ext cx="365760" cy="365760"/>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T</a:t>
            </a:r>
            <a:endParaRPr lang="en-US" sz="1000" dirty="0"/>
          </a:p>
        </p:txBody>
      </p:sp>
      <p:sp>
        <p:nvSpPr>
          <p:cNvPr id="62" name="Shape 60"/>
          <p:cNvSpPr/>
          <p:nvPr/>
        </p:nvSpPr>
        <p:spPr>
          <a:xfrm>
            <a:off x="6035040" y="5166360"/>
            <a:ext cx="2286000" cy="960120"/>
          </a:xfrm>
          <a:prstGeom prst="roundRect">
            <a:avLst>
              <a:gd name="adj" fmla="val 5714"/>
            </a:avLst>
          </a:prstGeom>
          <a:solidFill>
            <a:srgbClr val="FBEDEF"/>
          </a:solidFill>
          <a:ln w="9525">
            <a:solidFill>
              <a:srgbClr val="E8B5BC"/>
            </a:solidFill>
            <a:prstDash val="solid"/>
          </a:ln>
        </p:spPr>
      </p:sp>
      <p:sp>
        <p:nvSpPr>
          <p:cNvPr id="63" name="Text 61"/>
          <p:cNvSpPr/>
          <p:nvPr/>
        </p:nvSpPr>
        <p:spPr>
          <a:xfrm>
            <a:off x="6217920" y="5166360"/>
            <a:ext cx="1920240" cy="960120"/>
          </a:xfrm>
          <a:prstGeom prst="rect">
            <a:avLst/>
          </a:prstGeom>
          <a:noFill/>
          <a:ln/>
        </p:spPr>
        <p:txBody>
          <a:bodyPr wrap="square" lIns="0" tIns="0" rIns="0" bIns="0" rtlCol="0" anchor="ctr"/>
          <a:lstStyle/>
          <a:p>
            <a:pPr indent="0" marL="0">
              <a:buNone/>
            </a:pPr>
            <a:r>
              <a:rPr lang="en-US" sz="1150" dirty="0">
                <a:solidFill>
                  <a:srgbClr val="1C1E21"/>
                </a:solidFill>
                <a:latin typeface="Calibri" pitchFamily="34" charset="0"/>
                <a:ea typeface="Calibri" pitchFamily="34" charset="-122"/>
                <a:cs typeface="Calibri" pitchFamily="34" charset="-120"/>
              </a:rPr>
              <a:t>Naive DFS would have explored everything below both red X nodes.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32</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Where that leaves us</a:t>
            </a:r>
            <a:endParaRPr lang="en-US" sz="3200" dirty="0"/>
          </a:p>
        </p:txBody>
      </p:sp>
      <p:sp>
        <p:nvSpPr>
          <p:cNvPr id="5" name="Shape 3"/>
          <p:cNvSpPr/>
          <p:nvPr/>
        </p:nvSpPr>
        <p:spPr>
          <a:xfrm>
            <a:off x="640080" y="1737360"/>
            <a:ext cx="3529584" cy="1737360"/>
          </a:xfrm>
          <a:prstGeom prst="roundRect">
            <a:avLst>
              <a:gd name="adj" fmla="val 3158"/>
            </a:avLst>
          </a:prstGeom>
          <a:solidFill>
            <a:srgbClr val="FBEDEF"/>
          </a:solidFill>
          <a:ln w="9525">
            <a:solidFill>
              <a:srgbClr val="E8B5BC"/>
            </a:solidFill>
            <a:prstDash val="solid"/>
          </a:ln>
        </p:spPr>
      </p:sp>
      <p:sp>
        <p:nvSpPr>
          <p:cNvPr id="6" name="Text 4"/>
          <p:cNvSpPr/>
          <p:nvPr/>
        </p:nvSpPr>
        <p:spPr>
          <a:xfrm>
            <a:off x="640080" y="1920240"/>
            <a:ext cx="3529584" cy="685800"/>
          </a:xfrm>
          <a:prstGeom prst="rect">
            <a:avLst/>
          </a:prstGeom>
          <a:noFill/>
          <a:ln/>
        </p:spPr>
        <p:txBody>
          <a:bodyPr wrap="square" lIns="0" tIns="0" rIns="0" bIns="0" rtlCol="0" anchor="ctr"/>
          <a:lstStyle/>
          <a:p>
            <a:pPr algn="ctr" indent="0" marL="0">
              <a:buNone/>
            </a:pPr>
            <a:r>
              <a:rPr lang="en-US" sz="4000" b="1" dirty="0">
                <a:solidFill>
                  <a:srgbClr val="CB132A"/>
                </a:solidFill>
                <a:latin typeface="Cambria" pitchFamily="34" charset="0"/>
                <a:ea typeface="Cambria" pitchFamily="34" charset="-122"/>
                <a:cs typeface="Cambria" pitchFamily="34" charset="-120"/>
              </a:rPr>
              <a:t>n = 25</a:t>
            </a:r>
            <a:endParaRPr lang="en-US" sz="4000" dirty="0"/>
          </a:p>
        </p:txBody>
      </p:sp>
      <p:sp>
        <p:nvSpPr>
          <p:cNvPr id="7" name="Text 5"/>
          <p:cNvSpPr/>
          <p:nvPr/>
        </p:nvSpPr>
        <p:spPr>
          <a:xfrm>
            <a:off x="914400" y="2651760"/>
            <a:ext cx="2980944" cy="640080"/>
          </a:xfrm>
          <a:prstGeom prst="rect">
            <a:avLst/>
          </a:prstGeom>
          <a:noFill/>
          <a:ln/>
        </p:spPr>
        <p:txBody>
          <a:bodyPr wrap="square" lIns="0" tIns="0" rIns="0" bIns="0" rtlCol="0" anchor="ctr"/>
          <a:lstStyle/>
          <a:p>
            <a:pPr algn="ctr" indent="0" marL="0">
              <a:buNone/>
            </a:pPr>
            <a:r>
              <a:rPr lang="en-US" sz="1250" dirty="0">
                <a:solidFill>
                  <a:srgbClr val="1C1E21"/>
                </a:solidFill>
                <a:latin typeface="Calibri" pitchFamily="34" charset="0"/>
                <a:ea typeface="Calibri" pitchFamily="34" charset="-122"/>
                <a:cs typeface="Calibri" pitchFamily="34" charset="-120"/>
              </a:rPr>
              <a:t>largest N-Queens plain backtracking handles comfortably</a:t>
            </a:r>
            <a:endParaRPr lang="en-US" sz="1250" dirty="0"/>
          </a:p>
        </p:txBody>
      </p:sp>
      <p:sp>
        <p:nvSpPr>
          <p:cNvPr id="8" name="Shape 6"/>
          <p:cNvSpPr/>
          <p:nvPr/>
        </p:nvSpPr>
        <p:spPr>
          <a:xfrm>
            <a:off x="4325112" y="1737360"/>
            <a:ext cx="7223760" cy="1737360"/>
          </a:xfrm>
          <a:prstGeom prst="roundRect">
            <a:avLst>
              <a:gd name="adj" fmla="val 3158"/>
            </a:avLst>
          </a:prstGeom>
          <a:solidFill>
            <a:srgbClr val="F6F7F8"/>
          </a:solidFill>
          <a:ln w="9525">
            <a:solidFill>
              <a:srgbClr val="D3D6D9"/>
            </a:solidFill>
            <a:prstDash val="solid"/>
          </a:ln>
        </p:spPr>
      </p:sp>
      <p:sp>
        <p:nvSpPr>
          <p:cNvPr id="9" name="Text 7"/>
          <p:cNvSpPr/>
          <p:nvPr/>
        </p:nvSpPr>
        <p:spPr>
          <a:xfrm>
            <a:off x="4599432" y="1901952"/>
            <a:ext cx="6675120" cy="365760"/>
          </a:xfrm>
          <a:prstGeom prst="rect">
            <a:avLst/>
          </a:prstGeom>
          <a:noFill/>
          <a:ln/>
        </p:spPr>
        <p:txBody>
          <a:bodyPr wrap="square" lIns="0" tIns="0" rIns="0" bIns="0" rtlCol="0" anchor="ctr"/>
          <a:lstStyle/>
          <a:p>
            <a:pPr indent="0" marL="0">
              <a:buNone/>
            </a:pPr>
            <a:r>
              <a:rPr lang="en-US" sz="1900" b="1" dirty="0">
                <a:solidFill>
                  <a:srgbClr val="1C1E21"/>
                </a:solidFill>
                <a:latin typeface="Cambria" pitchFamily="34" charset="0"/>
                <a:ea typeface="Cambria" pitchFamily="34" charset="-122"/>
                <a:cs typeface="Cambria" pitchFamily="34" charset="-120"/>
              </a:rPr>
              <a:t>Respectable. Also still exponential.</a:t>
            </a:r>
            <a:endParaRPr lang="en-US" sz="1900" dirty="0"/>
          </a:p>
        </p:txBody>
      </p:sp>
      <p:sp>
        <p:nvSpPr>
          <p:cNvPr id="10" name="Text 8"/>
          <p:cNvSpPr/>
          <p:nvPr/>
        </p:nvSpPr>
        <p:spPr>
          <a:xfrm>
            <a:off x="4599432" y="2286000"/>
            <a:ext cx="6675120" cy="105156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Both fixes were free and neither was clever. We removed the n! redundancy and we stopped extending assignments we already knew were dead. What we have not done is use any information about where the search is going next.</a:t>
            </a:r>
            <a:endParaRPr lang="en-US" sz="1350" dirty="0"/>
          </a:p>
        </p:txBody>
      </p:sp>
      <p:sp>
        <p:nvSpPr>
          <p:cNvPr id="11" name="Text 9"/>
          <p:cNvSpPr/>
          <p:nvPr/>
        </p:nvSpPr>
        <p:spPr>
          <a:xfrm>
            <a:off x="640080" y="3794760"/>
            <a:ext cx="10908792" cy="411480"/>
          </a:xfrm>
          <a:prstGeom prst="rect">
            <a:avLst/>
          </a:prstGeom>
          <a:noFill/>
          <a:ln/>
        </p:spPr>
        <p:txBody>
          <a:bodyPr wrap="square" lIns="0" tIns="0" rIns="0" bIns="0" rtlCol="0" anchor="ctr"/>
          <a:lstStyle/>
          <a:p>
            <a:pPr indent="0" marL="0">
              <a:buNone/>
            </a:pPr>
            <a:r>
              <a:rPr lang="en-US" sz="2100" b="1" dirty="0">
                <a:solidFill>
                  <a:srgbClr val="1C1E21"/>
                </a:solidFill>
                <a:latin typeface="Cambria" pitchFamily="34" charset="0"/>
                <a:ea typeface="Cambria" pitchFamily="34" charset="-122"/>
                <a:cs typeface="Cambria" pitchFamily="34" charset="-120"/>
              </a:rPr>
              <a:t>Three ways to do better - all general purpose</a:t>
            </a:r>
            <a:endParaRPr lang="en-US" sz="2100" dirty="0"/>
          </a:p>
        </p:txBody>
      </p:sp>
      <p:sp>
        <p:nvSpPr>
          <p:cNvPr id="12" name="Shape 10"/>
          <p:cNvSpPr/>
          <p:nvPr/>
        </p:nvSpPr>
        <p:spPr>
          <a:xfrm>
            <a:off x="640080" y="4297680"/>
            <a:ext cx="3529584" cy="1600200"/>
          </a:xfrm>
          <a:prstGeom prst="roundRect">
            <a:avLst>
              <a:gd name="adj" fmla="val 3429"/>
            </a:avLst>
          </a:prstGeom>
          <a:solidFill>
            <a:srgbClr val="F6F7F8"/>
          </a:solidFill>
          <a:ln w="9525">
            <a:solidFill>
              <a:srgbClr val="D3D6D9"/>
            </a:solidFill>
            <a:prstDash val="solid"/>
          </a:ln>
        </p:spPr>
      </p:sp>
      <p:sp>
        <p:nvSpPr>
          <p:cNvPr id="13" name="Shape 11"/>
          <p:cNvSpPr/>
          <p:nvPr/>
        </p:nvSpPr>
        <p:spPr>
          <a:xfrm>
            <a:off x="868680" y="4480560"/>
            <a:ext cx="329184" cy="329184"/>
          </a:xfrm>
          <a:prstGeom prst="ellipse">
            <a:avLst/>
          </a:prstGeom>
          <a:solidFill>
            <a:srgbClr val="CB132A"/>
          </a:solidFill>
          <a:ln w="12700">
            <a:solidFill>
              <a:srgbClr val="CB132A"/>
            </a:solidFill>
            <a:prstDash val="solid"/>
          </a:ln>
        </p:spPr>
      </p:sp>
      <p:sp>
        <p:nvSpPr>
          <p:cNvPr id="14" name="Text 12"/>
          <p:cNvSpPr/>
          <p:nvPr/>
        </p:nvSpPr>
        <p:spPr>
          <a:xfrm>
            <a:off x="868680"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5" name="Text 13"/>
          <p:cNvSpPr/>
          <p:nvPr/>
        </p:nvSpPr>
        <p:spPr>
          <a:xfrm>
            <a:off x="1298448" y="4425696"/>
            <a:ext cx="2651760" cy="384048"/>
          </a:xfrm>
          <a:prstGeom prst="rect">
            <a:avLst/>
          </a:prstGeom>
          <a:noFill/>
          <a:ln/>
        </p:spPr>
        <p:txBody>
          <a:bodyPr wrap="square" lIns="0" tIns="0" rIns="0" bIns="0" rtlCol="0" anchor="ctr"/>
          <a:lstStyle/>
          <a:p>
            <a:pPr indent="0" marL="0">
              <a:buNone/>
            </a:pPr>
            <a:r>
              <a:rPr lang="en-US" sz="1800" b="1" dirty="0">
                <a:solidFill>
                  <a:srgbClr val="CB132A"/>
                </a:solidFill>
                <a:latin typeface="Cambria" pitchFamily="34" charset="0"/>
                <a:ea typeface="Cambria" pitchFamily="34" charset="-122"/>
                <a:cs typeface="Cambria" pitchFamily="34" charset="-120"/>
              </a:rPr>
              <a:t>Ordering</a:t>
            </a:r>
            <a:endParaRPr lang="en-US" sz="1800" dirty="0"/>
          </a:p>
        </p:txBody>
      </p:sp>
      <p:sp>
        <p:nvSpPr>
          <p:cNvPr id="16" name="Text 14"/>
          <p:cNvSpPr/>
          <p:nvPr/>
        </p:nvSpPr>
        <p:spPr>
          <a:xfrm>
            <a:off x="868680" y="4892040"/>
            <a:ext cx="3072384" cy="73152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Which variable should we assign next, and in which order should we try its values?</a:t>
            </a:r>
            <a:endParaRPr lang="en-US" sz="1250" dirty="0"/>
          </a:p>
        </p:txBody>
      </p:sp>
      <p:sp>
        <p:nvSpPr>
          <p:cNvPr id="17" name="Text 15"/>
          <p:cNvSpPr/>
          <p:nvPr/>
        </p:nvSpPr>
        <p:spPr>
          <a:xfrm>
            <a:off x="868680" y="5577840"/>
            <a:ext cx="3072384" cy="274320"/>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last section today</a:t>
            </a:r>
            <a:endParaRPr lang="en-US" sz="1100" dirty="0"/>
          </a:p>
        </p:txBody>
      </p:sp>
      <p:sp>
        <p:nvSpPr>
          <p:cNvPr id="18" name="Shape 16"/>
          <p:cNvSpPr/>
          <p:nvPr/>
        </p:nvSpPr>
        <p:spPr>
          <a:xfrm>
            <a:off x="4325112" y="4297680"/>
            <a:ext cx="3529584" cy="1600200"/>
          </a:xfrm>
          <a:prstGeom prst="roundRect">
            <a:avLst>
              <a:gd name="adj" fmla="val 3429"/>
            </a:avLst>
          </a:prstGeom>
          <a:solidFill>
            <a:srgbClr val="F6F7F8"/>
          </a:solidFill>
          <a:ln w="9525">
            <a:solidFill>
              <a:srgbClr val="D3D6D9"/>
            </a:solidFill>
            <a:prstDash val="solid"/>
          </a:ln>
        </p:spPr>
      </p:sp>
      <p:sp>
        <p:nvSpPr>
          <p:cNvPr id="19" name="Shape 17"/>
          <p:cNvSpPr/>
          <p:nvPr/>
        </p:nvSpPr>
        <p:spPr>
          <a:xfrm>
            <a:off x="4553712" y="4480560"/>
            <a:ext cx="329184" cy="329184"/>
          </a:xfrm>
          <a:prstGeom prst="ellipse">
            <a:avLst/>
          </a:prstGeom>
          <a:solidFill>
            <a:srgbClr val="CB132A"/>
          </a:solidFill>
          <a:ln w="12700">
            <a:solidFill>
              <a:srgbClr val="CB132A"/>
            </a:solidFill>
            <a:prstDash val="solid"/>
          </a:ln>
        </p:spPr>
      </p:sp>
      <p:sp>
        <p:nvSpPr>
          <p:cNvPr id="20" name="Text 18"/>
          <p:cNvSpPr/>
          <p:nvPr/>
        </p:nvSpPr>
        <p:spPr>
          <a:xfrm>
            <a:off x="4553712"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1" name="Text 19"/>
          <p:cNvSpPr/>
          <p:nvPr/>
        </p:nvSpPr>
        <p:spPr>
          <a:xfrm>
            <a:off x="4983480" y="4425696"/>
            <a:ext cx="2651760" cy="384048"/>
          </a:xfrm>
          <a:prstGeom prst="rect">
            <a:avLst/>
          </a:prstGeom>
          <a:noFill/>
          <a:ln/>
        </p:spPr>
        <p:txBody>
          <a:bodyPr wrap="square" lIns="0" tIns="0" rIns="0" bIns="0" rtlCol="0" anchor="ctr"/>
          <a:lstStyle/>
          <a:p>
            <a:pPr indent="0" marL="0">
              <a:buNone/>
            </a:pPr>
            <a:r>
              <a:rPr lang="en-US" sz="1800" b="1" dirty="0">
                <a:solidFill>
                  <a:srgbClr val="CB132A"/>
                </a:solidFill>
                <a:latin typeface="Cambria" pitchFamily="34" charset="0"/>
                <a:ea typeface="Cambria" pitchFamily="34" charset="-122"/>
                <a:cs typeface="Cambria" pitchFamily="34" charset="-120"/>
              </a:rPr>
              <a:t>Filtering</a:t>
            </a:r>
            <a:endParaRPr lang="en-US" sz="1800" dirty="0"/>
          </a:p>
        </p:txBody>
      </p:sp>
      <p:sp>
        <p:nvSpPr>
          <p:cNvPr id="22" name="Text 20"/>
          <p:cNvSpPr/>
          <p:nvPr/>
        </p:nvSpPr>
        <p:spPr>
          <a:xfrm>
            <a:off x="4553712" y="4892040"/>
            <a:ext cx="3072384" cy="73152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Can we detect a doomed branch before we walk into it?</a:t>
            </a:r>
            <a:endParaRPr lang="en-US" sz="1250" dirty="0"/>
          </a:p>
        </p:txBody>
      </p:sp>
      <p:sp>
        <p:nvSpPr>
          <p:cNvPr id="23" name="Text 21"/>
          <p:cNvSpPr/>
          <p:nvPr/>
        </p:nvSpPr>
        <p:spPr>
          <a:xfrm>
            <a:off x="4553712" y="5577840"/>
            <a:ext cx="3072384" cy="274320"/>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next section</a:t>
            </a:r>
            <a:endParaRPr lang="en-US" sz="1100" dirty="0"/>
          </a:p>
        </p:txBody>
      </p:sp>
      <p:sp>
        <p:nvSpPr>
          <p:cNvPr id="24" name="Shape 22"/>
          <p:cNvSpPr/>
          <p:nvPr/>
        </p:nvSpPr>
        <p:spPr>
          <a:xfrm>
            <a:off x="8010144" y="4297680"/>
            <a:ext cx="3529584" cy="1600200"/>
          </a:xfrm>
          <a:prstGeom prst="roundRect">
            <a:avLst>
              <a:gd name="adj" fmla="val 3429"/>
            </a:avLst>
          </a:prstGeom>
          <a:solidFill>
            <a:srgbClr val="F6F7F8"/>
          </a:solidFill>
          <a:ln w="9525">
            <a:solidFill>
              <a:srgbClr val="D3D6D9"/>
            </a:solidFill>
            <a:prstDash val="solid"/>
          </a:ln>
        </p:spPr>
      </p:sp>
      <p:sp>
        <p:nvSpPr>
          <p:cNvPr id="25" name="Shape 23"/>
          <p:cNvSpPr/>
          <p:nvPr/>
        </p:nvSpPr>
        <p:spPr>
          <a:xfrm>
            <a:off x="8238744" y="4480560"/>
            <a:ext cx="329184" cy="329184"/>
          </a:xfrm>
          <a:prstGeom prst="ellipse">
            <a:avLst/>
          </a:prstGeom>
          <a:solidFill>
            <a:srgbClr val="CB132A"/>
          </a:solidFill>
          <a:ln w="12700">
            <a:solidFill>
              <a:srgbClr val="CB132A"/>
            </a:solidFill>
            <a:prstDash val="solid"/>
          </a:ln>
        </p:spPr>
      </p:sp>
      <p:sp>
        <p:nvSpPr>
          <p:cNvPr id="26" name="Text 24"/>
          <p:cNvSpPr/>
          <p:nvPr/>
        </p:nvSpPr>
        <p:spPr>
          <a:xfrm>
            <a:off x="8238744" y="44805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7" name="Text 25"/>
          <p:cNvSpPr/>
          <p:nvPr/>
        </p:nvSpPr>
        <p:spPr>
          <a:xfrm>
            <a:off x="8668512" y="4425696"/>
            <a:ext cx="2651760" cy="384048"/>
          </a:xfrm>
          <a:prstGeom prst="rect">
            <a:avLst/>
          </a:prstGeom>
          <a:noFill/>
          <a:ln/>
        </p:spPr>
        <p:txBody>
          <a:bodyPr wrap="square" lIns="0" tIns="0" rIns="0" bIns="0" rtlCol="0" anchor="ctr"/>
          <a:lstStyle/>
          <a:p>
            <a:pPr indent="0" marL="0">
              <a:buNone/>
            </a:pPr>
            <a:r>
              <a:rPr lang="en-US" sz="1800" b="1" dirty="0">
                <a:solidFill>
                  <a:srgbClr val="CB132A"/>
                </a:solidFill>
                <a:latin typeface="Cambria" pitchFamily="34" charset="0"/>
                <a:ea typeface="Cambria" pitchFamily="34" charset="-122"/>
                <a:cs typeface="Cambria" pitchFamily="34" charset="-120"/>
              </a:rPr>
              <a:t>Structure</a:t>
            </a:r>
            <a:endParaRPr lang="en-US" sz="1800" dirty="0"/>
          </a:p>
        </p:txBody>
      </p:sp>
      <p:sp>
        <p:nvSpPr>
          <p:cNvPr id="28" name="Text 26"/>
          <p:cNvSpPr/>
          <p:nvPr/>
        </p:nvSpPr>
        <p:spPr>
          <a:xfrm>
            <a:off x="8238744" y="4892040"/>
            <a:ext cx="3072384" cy="731520"/>
          </a:xfrm>
          <a:prstGeom prst="rect">
            <a:avLst/>
          </a:prstGeom>
          <a:noFill/>
          <a:ln/>
        </p:spPr>
        <p:txBody>
          <a:bodyPr wrap="square" lIns="0" tIns="0" rIns="0" bIns="0" rtlCol="0" anchor="ctr"/>
          <a:lstStyle/>
          <a:p>
            <a:pPr indent="0" marL="0">
              <a:buNone/>
            </a:pPr>
            <a:r>
              <a:rPr lang="en-US" sz="1250" dirty="0">
                <a:solidFill>
                  <a:srgbClr val="1C1E21"/>
                </a:solidFill>
                <a:latin typeface="Calibri" pitchFamily="34" charset="0"/>
                <a:ea typeface="Calibri" pitchFamily="34" charset="-122"/>
                <a:cs typeface="Calibri" pitchFamily="34" charset="-120"/>
              </a:rPr>
              <a:t>Can we exploit the shape of the constraint graph itself?</a:t>
            </a:r>
            <a:endParaRPr lang="en-US" sz="1250" dirty="0"/>
          </a:p>
        </p:txBody>
      </p:sp>
      <p:sp>
        <p:nvSpPr>
          <p:cNvPr id="29" name="Text 27"/>
          <p:cNvSpPr/>
          <p:nvPr/>
        </p:nvSpPr>
        <p:spPr>
          <a:xfrm>
            <a:off x="8238744" y="5577840"/>
            <a:ext cx="3072384" cy="274320"/>
          </a:xfrm>
          <a:prstGeom prst="rect">
            <a:avLst/>
          </a:prstGeom>
          <a:noFill/>
          <a:ln/>
        </p:spPr>
        <p:txBody>
          <a:bodyPr wrap="square" lIns="0" tIns="0" rIns="0" bIns="0" rtlCol="0" anchor="ctr"/>
          <a:lstStyle/>
          <a:p>
            <a:pPr indent="0" marL="0">
              <a:buNone/>
            </a:pPr>
            <a:r>
              <a:rPr lang="en-US" sz="1100" i="1" dirty="0">
                <a:solidFill>
                  <a:srgbClr val="7C8085"/>
                </a:solidFill>
                <a:latin typeface="Calibri" pitchFamily="34" charset="0"/>
                <a:ea typeface="Calibri" pitchFamily="34" charset="-122"/>
                <a:cs typeface="Calibri" pitchFamily="34" charset="-120"/>
              </a:rPr>
              <a:t>next lecture</a:t>
            </a:r>
            <a:endParaRPr lang="en-US" sz="1100" dirty="0"/>
          </a:p>
        </p:txBody>
      </p:sp>
      <p:sp>
        <p:nvSpPr>
          <p:cNvPr id="30" name="Text 28"/>
          <p:cNvSpPr/>
          <p:nvPr/>
        </p:nvSpPr>
        <p:spPr>
          <a:xfrm>
            <a:off x="640080" y="5989320"/>
            <a:ext cx="10908792" cy="365760"/>
          </a:xfrm>
          <a:prstGeom prst="rect">
            <a:avLst/>
          </a:prstGeom>
          <a:noFill/>
          <a:ln/>
        </p:spPr>
        <p:txBody>
          <a:bodyPr wrap="square" lIns="0" tIns="0" rIns="0" bIns="0" rtlCol="0" anchor="ctr"/>
          <a:lstStyle/>
          <a:p>
            <a:pPr indent="0" marL="0">
              <a:buNone/>
            </a:pPr>
            <a:r>
              <a:rPr lang="en-US" sz="1250" i="1" dirty="0">
                <a:solidFill>
                  <a:srgbClr val="53565A"/>
                </a:solidFill>
                <a:latin typeface="Calibri" pitchFamily="34" charset="0"/>
                <a:ea typeface="Calibri" pitchFamily="34" charset="-122"/>
                <a:cs typeface="Calibri" pitchFamily="34" charset="-120"/>
              </a:rPr>
              <a:t>Unlike an A* heuristic, none of these are custom-built for one problem. They are properties of the CSP formalism, so they pay off across all of them.</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2423160"/>
            <a:ext cx="3657600" cy="365760"/>
          </a:xfrm>
          <a:prstGeom prst="rect">
            <a:avLst/>
          </a:prstGeom>
          <a:noFill/>
          <a:ln/>
        </p:spPr>
        <p:txBody>
          <a:bodyPr wrap="square" lIns="0" tIns="0" rIns="0" bIns="0" rtlCol="0" anchor="ctr"/>
          <a:lstStyle/>
          <a:p>
            <a:pPr indent="0" marL="0">
              <a:buNone/>
            </a:pPr>
            <a:r>
              <a:rPr lang="en-US" sz="1400" b="1" spc="300" kern="0" dirty="0">
                <a:solidFill>
                  <a:srgbClr val="CB132A"/>
                </a:solidFill>
                <a:latin typeface="Calibri" pitchFamily="34" charset="0"/>
                <a:ea typeface="Calibri" pitchFamily="34" charset="-122"/>
                <a:cs typeface="Calibri" pitchFamily="34" charset="-120"/>
              </a:rPr>
              <a:t>Part 5</a:t>
            </a:r>
            <a:endParaRPr lang="en-US" sz="1400" dirty="0"/>
          </a:p>
        </p:txBody>
      </p:sp>
      <p:sp>
        <p:nvSpPr>
          <p:cNvPr id="3" name="Text 1"/>
          <p:cNvSpPr/>
          <p:nvPr/>
        </p:nvSpPr>
        <p:spPr>
          <a:xfrm>
            <a:off x="640080" y="278892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Filtering</a:t>
            </a:r>
            <a:endParaRPr lang="en-US" sz="4000" dirty="0"/>
          </a:p>
        </p:txBody>
      </p:sp>
      <p:sp>
        <p:nvSpPr>
          <p:cNvPr id="4" name="Text 2"/>
          <p:cNvSpPr/>
          <p:nvPr/>
        </p:nvSpPr>
        <p:spPr>
          <a:xfrm>
            <a:off x="640080" y="3703320"/>
            <a:ext cx="9144000" cy="411480"/>
          </a:xfrm>
          <a:prstGeom prst="rect">
            <a:avLst/>
          </a:prstGeom>
          <a:noFill/>
          <a:ln/>
        </p:spPr>
        <p:txBody>
          <a:bodyPr wrap="square" lIns="0" tIns="0" rIns="0" bIns="0" rtlCol="0" anchor="ctr"/>
          <a:lstStyle/>
          <a:p>
            <a:pPr indent="0" marL="0">
              <a:buNone/>
            </a:pPr>
            <a:r>
              <a:rPr lang="en-US" sz="1700" i="1" dirty="0">
                <a:solidFill>
                  <a:srgbClr val="9FA4A9"/>
                </a:solidFill>
                <a:latin typeface="Calibri" pitchFamily="34" charset="0"/>
                <a:ea typeface="Calibri" pitchFamily="34" charset="-122"/>
                <a:cs typeface="Calibri" pitchFamily="34" charset="-120"/>
              </a:rPr>
              <a:t>Detecting failure before you walk into it</a:t>
            </a:r>
            <a:endParaRPr lang="en-US" sz="1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34</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Forward checking</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Keep a live domain for every unassigned variable, and prune it as you go</a:t>
            </a:r>
            <a:endParaRPr lang="en-US" sz="1400" dirty="0"/>
          </a:p>
        </p:txBody>
      </p:sp>
      <p:sp>
        <p:nvSpPr>
          <p:cNvPr id="6" name="Shape 4"/>
          <p:cNvSpPr/>
          <p:nvPr/>
        </p:nvSpPr>
        <p:spPr>
          <a:xfrm>
            <a:off x="640080" y="1645920"/>
            <a:ext cx="10908792" cy="1371600"/>
          </a:xfrm>
          <a:prstGeom prst="roundRect">
            <a:avLst>
              <a:gd name="adj" fmla="val 4000"/>
            </a:avLst>
          </a:prstGeom>
          <a:solidFill>
            <a:srgbClr val="FBEDEF"/>
          </a:solidFill>
          <a:ln w="9525">
            <a:solidFill>
              <a:srgbClr val="E8B5BC"/>
            </a:solidFill>
            <a:prstDash val="solid"/>
          </a:ln>
        </p:spPr>
      </p:sp>
      <p:sp>
        <p:nvSpPr>
          <p:cNvPr id="7" name="Text 5"/>
          <p:cNvSpPr/>
          <p:nvPr/>
        </p:nvSpPr>
        <p:spPr>
          <a:xfrm>
            <a:off x="914400" y="1783080"/>
            <a:ext cx="274320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The rule</a:t>
            </a:r>
            <a:endParaRPr lang="en-US" sz="1700" dirty="0"/>
          </a:p>
        </p:txBody>
      </p:sp>
      <p:sp>
        <p:nvSpPr>
          <p:cNvPr id="8" name="Text 6"/>
          <p:cNvSpPr/>
          <p:nvPr/>
        </p:nvSpPr>
        <p:spPr>
          <a:xfrm>
            <a:off x="914400" y="2121408"/>
            <a:ext cx="10332720" cy="73152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Whenever you assign a variable, look at every unassigned variable connected to it by a constraint and cross off any value that now conflicts. You are not assigning those neighbors - you are shrinking their candidate lists.</a:t>
            </a:r>
            <a:endParaRPr lang="en-US" sz="1400" dirty="0"/>
          </a:p>
        </p:txBody>
      </p:sp>
      <p:sp>
        <p:nvSpPr>
          <p:cNvPr id="9" name="Text 7"/>
          <p:cNvSpPr/>
          <p:nvPr/>
        </p:nvSpPr>
        <p:spPr>
          <a:xfrm>
            <a:off x="640080" y="3246120"/>
            <a:ext cx="4572000" cy="274320"/>
          </a:xfrm>
          <a:prstGeom prst="rect">
            <a:avLst/>
          </a:prstGeom>
          <a:noFill/>
          <a:ln/>
        </p:spPr>
        <p:txBody>
          <a:bodyPr wrap="square" lIns="0" tIns="0" rIns="0" bIns="0" rtlCol="0" anchor="ctr"/>
          <a:lstStyle/>
          <a:p>
            <a:pPr indent="0" marL="0">
              <a:buNone/>
            </a:pPr>
            <a:r>
              <a:rPr lang="en-US" sz="1200" b="1" dirty="0">
                <a:solidFill>
                  <a:srgbClr val="53565A"/>
                </a:solidFill>
                <a:latin typeface="Calibri" pitchFamily="34" charset="0"/>
                <a:ea typeface="Calibri" pitchFamily="34" charset="-122"/>
                <a:cs typeface="Calibri" pitchFamily="34" charset="-120"/>
              </a:rPr>
              <a:t>Start: every domain full</a:t>
            </a:r>
            <a:endParaRPr lang="en-US" sz="1200" dirty="0"/>
          </a:p>
        </p:txBody>
      </p:sp>
      <p:sp>
        <p:nvSpPr>
          <p:cNvPr id="10" name="Shape 8"/>
          <p:cNvSpPr/>
          <p:nvPr/>
        </p:nvSpPr>
        <p:spPr>
          <a:xfrm>
            <a:off x="640080" y="3858768"/>
            <a:ext cx="1737360" cy="365760"/>
          </a:xfrm>
          <a:prstGeom prst="rect">
            <a:avLst/>
          </a:prstGeom>
          <a:solidFill>
            <a:srgbClr val="FFFFFF"/>
          </a:solidFill>
          <a:ln w="12700">
            <a:solidFill>
              <a:srgbClr val="1C1E21"/>
            </a:solidFill>
            <a:prstDash val="solid"/>
          </a:ln>
        </p:spPr>
      </p:sp>
      <p:sp>
        <p:nvSpPr>
          <p:cNvPr id="11" name="Text 9"/>
          <p:cNvSpPr/>
          <p:nvPr/>
        </p:nvSpPr>
        <p:spPr>
          <a:xfrm>
            <a:off x="640080" y="3566160"/>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WA</a:t>
            </a:r>
            <a:endParaRPr lang="en-US" sz="1200" dirty="0"/>
          </a:p>
        </p:txBody>
      </p:sp>
      <p:sp>
        <p:nvSpPr>
          <p:cNvPr id="12" name="Shape 10"/>
          <p:cNvSpPr/>
          <p:nvPr/>
        </p:nvSpPr>
        <p:spPr>
          <a:xfrm>
            <a:off x="862584" y="3931920"/>
            <a:ext cx="219456" cy="219456"/>
          </a:xfrm>
          <a:prstGeom prst="rect">
            <a:avLst/>
          </a:prstGeom>
          <a:solidFill>
            <a:srgbClr val="C0392B"/>
          </a:solidFill>
          <a:ln w="12700">
            <a:solidFill>
              <a:srgbClr val="C0392B"/>
            </a:solidFill>
            <a:prstDash val="solid"/>
          </a:ln>
        </p:spPr>
      </p:sp>
      <p:sp>
        <p:nvSpPr>
          <p:cNvPr id="13" name="Shape 11"/>
          <p:cNvSpPr/>
          <p:nvPr/>
        </p:nvSpPr>
        <p:spPr>
          <a:xfrm>
            <a:off x="1399032" y="3931920"/>
            <a:ext cx="219456" cy="219456"/>
          </a:xfrm>
          <a:prstGeom prst="rect">
            <a:avLst/>
          </a:prstGeom>
          <a:solidFill>
            <a:srgbClr val="2E8B45"/>
          </a:solidFill>
          <a:ln w="12700">
            <a:solidFill>
              <a:srgbClr val="2E8B45"/>
            </a:solidFill>
            <a:prstDash val="solid"/>
          </a:ln>
        </p:spPr>
      </p:sp>
      <p:sp>
        <p:nvSpPr>
          <p:cNvPr id="14" name="Shape 12"/>
          <p:cNvSpPr/>
          <p:nvPr/>
        </p:nvSpPr>
        <p:spPr>
          <a:xfrm>
            <a:off x="1935480" y="3931920"/>
            <a:ext cx="219456" cy="219456"/>
          </a:xfrm>
          <a:prstGeom prst="rect">
            <a:avLst/>
          </a:prstGeom>
          <a:solidFill>
            <a:srgbClr val="2A62C4"/>
          </a:solidFill>
          <a:ln w="12700">
            <a:solidFill>
              <a:srgbClr val="2A62C4"/>
            </a:solidFill>
            <a:prstDash val="solid"/>
          </a:ln>
        </p:spPr>
      </p:sp>
      <p:sp>
        <p:nvSpPr>
          <p:cNvPr id="15" name="Shape 13"/>
          <p:cNvSpPr/>
          <p:nvPr/>
        </p:nvSpPr>
        <p:spPr>
          <a:xfrm>
            <a:off x="2478024" y="3858768"/>
            <a:ext cx="1737360" cy="365760"/>
          </a:xfrm>
          <a:prstGeom prst="rect">
            <a:avLst/>
          </a:prstGeom>
          <a:solidFill>
            <a:srgbClr val="FFFFFF"/>
          </a:solidFill>
          <a:ln w="12700">
            <a:solidFill>
              <a:srgbClr val="1C1E21"/>
            </a:solidFill>
            <a:prstDash val="solid"/>
          </a:ln>
        </p:spPr>
      </p:sp>
      <p:sp>
        <p:nvSpPr>
          <p:cNvPr id="16" name="Text 14"/>
          <p:cNvSpPr/>
          <p:nvPr/>
        </p:nvSpPr>
        <p:spPr>
          <a:xfrm>
            <a:off x="2478024" y="3566160"/>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NT</a:t>
            </a:r>
            <a:endParaRPr lang="en-US" sz="1200" dirty="0"/>
          </a:p>
        </p:txBody>
      </p:sp>
      <p:sp>
        <p:nvSpPr>
          <p:cNvPr id="17" name="Shape 15"/>
          <p:cNvSpPr/>
          <p:nvPr/>
        </p:nvSpPr>
        <p:spPr>
          <a:xfrm>
            <a:off x="2700528" y="3931920"/>
            <a:ext cx="219456" cy="219456"/>
          </a:xfrm>
          <a:prstGeom prst="rect">
            <a:avLst/>
          </a:prstGeom>
          <a:solidFill>
            <a:srgbClr val="C0392B"/>
          </a:solidFill>
          <a:ln w="12700">
            <a:solidFill>
              <a:srgbClr val="C0392B"/>
            </a:solidFill>
            <a:prstDash val="solid"/>
          </a:ln>
        </p:spPr>
      </p:sp>
      <p:sp>
        <p:nvSpPr>
          <p:cNvPr id="18" name="Shape 16"/>
          <p:cNvSpPr/>
          <p:nvPr/>
        </p:nvSpPr>
        <p:spPr>
          <a:xfrm>
            <a:off x="3236976" y="3931920"/>
            <a:ext cx="219456" cy="219456"/>
          </a:xfrm>
          <a:prstGeom prst="rect">
            <a:avLst/>
          </a:prstGeom>
          <a:solidFill>
            <a:srgbClr val="2E8B45"/>
          </a:solidFill>
          <a:ln w="12700">
            <a:solidFill>
              <a:srgbClr val="2E8B45"/>
            </a:solidFill>
            <a:prstDash val="solid"/>
          </a:ln>
        </p:spPr>
      </p:sp>
      <p:sp>
        <p:nvSpPr>
          <p:cNvPr id="19" name="Shape 17"/>
          <p:cNvSpPr/>
          <p:nvPr/>
        </p:nvSpPr>
        <p:spPr>
          <a:xfrm>
            <a:off x="3773424" y="3931920"/>
            <a:ext cx="219456" cy="219456"/>
          </a:xfrm>
          <a:prstGeom prst="rect">
            <a:avLst/>
          </a:prstGeom>
          <a:solidFill>
            <a:srgbClr val="2A62C4"/>
          </a:solidFill>
          <a:ln w="12700">
            <a:solidFill>
              <a:srgbClr val="2A62C4"/>
            </a:solidFill>
            <a:prstDash val="solid"/>
          </a:ln>
        </p:spPr>
      </p:sp>
      <p:sp>
        <p:nvSpPr>
          <p:cNvPr id="20" name="Shape 18"/>
          <p:cNvSpPr/>
          <p:nvPr/>
        </p:nvSpPr>
        <p:spPr>
          <a:xfrm>
            <a:off x="4315968" y="3858768"/>
            <a:ext cx="1737360" cy="365760"/>
          </a:xfrm>
          <a:prstGeom prst="rect">
            <a:avLst/>
          </a:prstGeom>
          <a:solidFill>
            <a:srgbClr val="FFFFFF"/>
          </a:solidFill>
          <a:ln w="12700">
            <a:solidFill>
              <a:srgbClr val="1C1E21"/>
            </a:solidFill>
            <a:prstDash val="solid"/>
          </a:ln>
        </p:spPr>
      </p:sp>
      <p:sp>
        <p:nvSpPr>
          <p:cNvPr id="21" name="Text 19"/>
          <p:cNvSpPr/>
          <p:nvPr/>
        </p:nvSpPr>
        <p:spPr>
          <a:xfrm>
            <a:off x="4315968" y="3566160"/>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Q</a:t>
            </a:r>
            <a:endParaRPr lang="en-US" sz="1200" dirty="0"/>
          </a:p>
        </p:txBody>
      </p:sp>
      <p:sp>
        <p:nvSpPr>
          <p:cNvPr id="22" name="Shape 20"/>
          <p:cNvSpPr/>
          <p:nvPr/>
        </p:nvSpPr>
        <p:spPr>
          <a:xfrm>
            <a:off x="4538472" y="3931920"/>
            <a:ext cx="219456" cy="219456"/>
          </a:xfrm>
          <a:prstGeom prst="rect">
            <a:avLst/>
          </a:prstGeom>
          <a:solidFill>
            <a:srgbClr val="C0392B"/>
          </a:solidFill>
          <a:ln w="12700">
            <a:solidFill>
              <a:srgbClr val="C0392B"/>
            </a:solidFill>
            <a:prstDash val="solid"/>
          </a:ln>
        </p:spPr>
      </p:sp>
      <p:sp>
        <p:nvSpPr>
          <p:cNvPr id="23" name="Shape 21"/>
          <p:cNvSpPr/>
          <p:nvPr/>
        </p:nvSpPr>
        <p:spPr>
          <a:xfrm>
            <a:off x="5074920" y="3931920"/>
            <a:ext cx="219456" cy="219456"/>
          </a:xfrm>
          <a:prstGeom prst="rect">
            <a:avLst/>
          </a:prstGeom>
          <a:solidFill>
            <a:srgbClr val="2E8B45"/>
          </a:solidFill>
          <a:ln w="12700">
            <a:solidFill>
              <a:srgbClr val="2E8B45"/>
            </a:solidFill>
            <a:prstDash val="solid"/>
          </a:ln>
        </p:spPr>
      </p:sp>
      <p:sp>
        <p:nvSpPr>
          <p:cNvPr id="24" name="Shape 22"/>
          <p:cNvSpPr/>
          <p:nvPr/>
        </p:nvSpPr>
        <p:spPr>
          <a:xfrm>
            <a:off x="5611368" y="3931920"/>
            <a:ext cx="219456" cy="219456"/>
          </a:xfrm>
          <a:prstGeom prst="rect">
            <a:avLst/>
          </a:prstGeom>
          <a:solidFill>
            <a:srgbClr val="2A62C4"/>
          </a:solidFill>
          <a:ln w="12700">
            <a:solidFill>
              <a:srgbClr val="2A62C4"/>
            </a:solidFill>
            <a:prstDash val="solid"/>
          </a:ln>
        </p:spPr>
      </p:sp>
      <p:sp>
        <p:nvSpPr>
          <p:cNvPr id="25" name="Shape 23"/>
          <p:cNvSpPr/>
          <p:nvPr/>
        </p:nvSpPr>
        <p:spPr>
          <a:xfrm>
            <a:off x="6153912" y="3858768"/>
            <a:ext cx="1737360" cy="365760"/>
          </a:xfrm>
          <a:prstGeom prst="rect">
            <a:avLst/>
          </a:prstGeom>
          <a:solidFill>
            <a:srgbClr val="FFFFFF"/>
          </a:solidFill>
          <a:ln w="12700">
            <a:solidFill>
              <a:srgbClr val="1C1E21"/>
            </a:solidFill>
            <a:prstDash val="solid"/>
          </a:ln>
        </p:spPr>
      </p:sp>
      <p:sp>
        <p:nvSpPr>
          <p:cNvPr id="26" name="Text 24"/>
          <p:cNvSpPr/>
          <p:nvPr/>
        </p:nvSpPr>
        <p:spPr>
          <a:xfrm>
            <a:off x="6153912" y="3566160"/>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NSW</a:t>
            </a:r>
            <a:endParaRPr lang="en-US" sz="1200" dirty="0"/>
          </a:p>
        </p:txBody>
      </p:sp>
      <p:sp>
        <p:nvSpPr>
          <p:cNvPr id="27" name="Shape 25"/>
          <p:cNvSpPr/>
          <p:nvPr/>
        </p:nvSpPr>
        <p:spPr>
          <a:xfrm>
            <a:off x="6376416" y="3931920"/>
            <a:ext cx="219456" cy="219456"/>
          </a:xfrm>
          <a:prstGeom prst="rect">
            <a:avLst/>
          </a:prstGeom>
          <a:solidFill>
            <a:srgbClr val="C0392B"/>
          </a:solidFill>
          <a:ln w="12700">
            <a:solidFill>
              <a:srgbClr val="C0392B"/>
            </a:solidFill>
            <a:prstDash val="solid"/>
          </a:ln>
        </p:spPr>
      </p:sp>
      <p:sp>
        <p:nvSpPr>
          <p:cNvPr id="28" name="Shape 26"/>
          <p:cNvSpPr/>
          <p:nvPr/>
        </p:nvSpPr>
        <p:spPr>
          <a:xfrm>
            <a:off x="6912864" y="3931920"/>
            <a:ext cx="219456" cy="219456"/>
          </a:xfrm>
          <a:prstGeom prst="rect">
            <a:avLst/>
          </a:prstGeom>
          <a:solidFill>
            <a:srgbClr val="2E8B45"/>
          </a:solidFill>
          <a:ln w="12700">
            <a:solidFill>
              <a:srgbClr val="2E8B45"/>
            </a:solidFill>
            <a:prstDash val="solid"/>
          </a:ln>
        </p:spPr>
      </p:sp>
      <p:sp>
        <p:nvSpPr>
          <p:cNvPr id="29" name="Shape 27"/>
          <p:cNvSpPr/>
          <p:nvPr/>
        </p:nvSpPr>
        <p:spPr>
          <a:xfrm>
            <a:off x="7449312" y="3931920"/>
            <a:ext cx="219456" cy="219456"/>
          </a:xfrm>
          <a:prstGeom prst="rect">
            <a:avLst/>
          </a:prstGeom>
          <a:solidFill>
            <a:srgbClr val="2A62C4"/>
          </a:solidFill>
          <a:ln w="12700">
            <a:solidFill>
              <a:srgbClr val="2A62C4"/>
            </a:solidFill>
            <a:prstDash val="solid"/>
          </a:ln>
        </p:spPr>
      </p:sp>
      <p:sp>
        <p:nvSpPr>
          <p:cNvPr id="30" name="Shape 28"/>
          <p:cNvSpPr/>
          <p:nvPr/>
        </p:nvSpPr>
        <p:spPr>
          <a:xfrm>
            <a:off x="7991856" y="3858768"/>
            <a:ext cx="1737360" cy="365760"/>
          </a:xfrm>
          <a:prstGeom prst="rect">
            <a:avLst/>
          </a:prstGeom>
          <a:solidFill>
            <a:srgbClr val="FFFFFF"/>
          </a:solidFill>
          <a:ln w="12700">
            <a:solidFill>
              <a:srgbClr val="1C1E21"/>
            </a:solidFill>
            <a:prstDash val="solid"/>
          </a:ln>
        </p:spPr>
      </p:sp>
      <p:sp>
        <p:nvSpPr>
          <p:cNvPr id="31" name="Text 29"/>
          <p:cNvSpPr/>
          <p:nvPr/>
        </p:nvSpPr>
        <p:spPr>
          <a:xfrm>
            <a:off x="7991856" y="3566160"/>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V</a:t>
            </a:r>
            <a:endParaRPr lang="en-US" sz="1200" dirty="0"/>
          </a:p>
        </p:txBody>
      </p:sp>
      <p:sp>
        <p:nvSpPr>
          <p:cNvPr id="32" name="Shape 30"/>
          <p:cNvSpPr/>
          <p:nvPr/>
        </p:nvSpPr>
        <p:spPr>
          <a:xfrm>
            <a:off x="8214360" y="3931920"/>
            <a:ext cx="219456" cy="219456"/>
          </a:xfrm>
          <a:prstGeom prst="rect">
            <a:avLst/>
          </a:prstGeom>
          <a:solidFill>
            <a:srgbClr val="C0392B"/>
          </a:solidFill>
          <a:ln w="12700">
            <a:solidFill>
              <a:srgbClr val="C0392B"/>
            </a:solidFill>
            <a:prstDash val="solid"/>
          </a:ln>
        </p:spPr>
      </p:sp>
      <p:sp>
        <p:nvSpPr>
          <p:cNvPr id="33" name="Shape 31"/>
          <p:cNvSpPr/>
          <p:nvPr/>
        </p:nvSpPr>
        <p:spPr>
          <a:xfrm>
            <a:off x="8750808" y="3931920"/>
            <a:ext cx="219456" cy="219456"/>
          </a:xfrm>
          <a:prstGeom prst="rect">
            <a:avLst/>
          </a:prstGeom>
          <a:solidFill>
            <a:srgbClr val="2E8B45"/>
          </a:solidFill>
          <a:ln w="12700">
            <a:solidFill>
              <a:srgbClr val="2E8B45"/>
            </a:solidFill>
            <a:prstDash val="solid"/>
          </a:ln>
        </p:spPr>
      </p:sp>
      <p:sp>
        <p:nvSpPr>
          <p:cNvPr id="34" name="Shape 32"/>
          <p:cNvSpPr/>
          <p:nvPr/>
        </p:nvSpPr>
        <p:spPr>
          <a:xfrm>
            <a:off x="9287256" y="3931920"/>
            <a:ext cx="219456" cy="219456"/>
          </a:xfrm>
          <a:prstGeom prst="rect">
            <a:avLst/>
          </a:prstGeom>
          <a:solidFill>
            <a:srgbClr val="2A62C4"/>
          </a:solidFill>
          <a:ln w="12700">
            <a:solidFill>
              <a:srgbClr val="2A62C4"/>
            </a:solidFill>
            <a:prstDash val="solid"/>
          </a:ln>
        </p:spPr>
      </p:sp>
      <p:sp>
        <p:nvSpPr>
          <p:cNvPr id="35" name="Shape 33"/>
          <p:cNvSpPr/>
          <p:nvPr/>
        </p:nvSpPr>
        <p:spPr>
          <a:xfrm>
            <a:off x="9829800" y="3858768"/>
            <a:ext cx="1737360" cy="365760"/>
          </a:xfrm>
          <a:prstGeom prst="rect">
            <a:avLst/>
          </a:prstGeom>
          <a:solidFill>
            <a:srgbClr val="FFFFFF"/>
          </a:solidFill>
          <a:ln w="12700">
            <a:solidFill>
              <a:srgbClr val="1C1E21"/>
            </a:solidFill>
            <a:prstDash val="solid"/>
          </a:ln>
        </p:spPr>
      </p:sp>
      <p:sp>
        <p:nvSpPr>
          <p:cNvPr id="36" name="Text 34"/>
          <p:cNvSpPr/>
          <p:nvPr/>
        </p:nvSpPr>
        <p:spPr>
          <a:xfrm>
            <a:off x="9829800" y="3566160"/>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SA</a:t>
            </a:r>
            <a:endParaRPr lang="en-US" sz="1200" dirty="0"/>
          </a:p>
        </p:txBody>
      </p:sp>
      <p:sp>
        <p:nvSpPr>
          <p:cNvPr id="37" name="Shape 35"/>
          <p:cNvSpPr/>
          <p:nvPr/>
        </p:nvSpPr>
        <p:spPr>
          <a:xfrm>
            <a:off x="10052304" y="3931920"/>
            <a:ext cx="219456" cy="219456"/>
          </a:xfrm>
          <a:prstGeom prst="rect">
            <a:avLst/>
          </a:prstGeom>
          <a:solidFill>
            <a:srgbClr val="C0392B"/>
          </a:solidFill>
          <a:ln w="12700">
            <a:solidFill>
              <a:srgbClr val="C0392B"/>
            </a:solidFill>
            <a:prstDash val="solid"/>
          </a:ln>
        </p:spPr>
      </p:sp>
      <p:sp>
        <p:nvSpPr>
          <p:cNvPr id="38" name="Shape 36"/>
          <p:cNvSpPr/>
          <p:nvPr/>
        </p:nvSpPr>
        <p:spPr>
          <a:xfrm>
            <a:off x="10588752" y="3931920"/>
            <a:ext cx="219456" cy="219456"/>
          </a:xfrm>
          <a:prstGeom prst="rect">
            <a:avLst/>
          </a:prstGeom>
          <a:solidFill>
            <a:srgbClr val="2E8B45"/>
          </a:solidFill>
          <a:ln w="12700">
            <a:solidFill>
              <a:srgbClr val="2E8B45"/>
            </a:solidFill>
            <a:prstDash val="solid"/>
          </a:ln>
        </p:spPr>
      </p:sp>
      <p:sp>
        <p:nvSpPr>
          <p:cNvPr id="39" name="Shape 37"/>
          <p:cNvSpPr/>
          <p:nvPr/>
        </p:nvSpPr>
        <p:spPr>
          <a:xfrm>
            <a:off x="11125200" y="3931920"/>
            <a:ext cx="219456" cy="219456"/>
          </a:xfrm>
          <a:prstGeom prst="rect">
            <a:avLst/>
          </a:prstGeom>
          <a:solidFill>
            <a:srgbClr val="2A62C4"/>
          </a:solidFill>
          <a:ln w="12700">
            <a:solidFill>
              <a:srgbClr val="2A62C4"/>
            </a:solidFill>
            <a:prstDash val="solid"/>
          </a:ln>
        </p:spPr>
      </p:sp>
      <p:sp>
        <p:nvSpPr>
          <p:cNvPr id="40" name="Text 38"/>
          <p:cNvSpPr/>
          <p:nvPr/>
        </p:nvSpPr>
        <p:spPr>
          <a:xfrm>
            <a:off x="640080" y="4480560"/>
            <a:ext cx="5486400" cy="274320"/>
          </a:xfrm>
          <a:prstGeom prst="rect">
            <a:avLst/>
          </a:prstGeom>
          <a:noFill/>
          <a:ln/>
        </p:spPr>
        <p:txBody>
          <a:bodyPr wrap="square" lIns="0" tIns="0" rIns="0" bIns="0" rtlCol="0" anchor="ctr"/>
          <a:lstStyle/>
          <a:p>
            <a:pPr indent="0" marL="0">
              <a:buNone/>
            </a:pPr>
            <a:r>
              <a:rPr lang="en-US" sz="1200" b="1" dirty="0">
                <a:solidFill>
                  <a:srgbClr val="53565A"/>
                </a:solidFill>
                <a:latin typeface="Calibri" pitchFamily="34" charset="0"/>
                <a:ea typeface="Calibri" pitchFamily="34" charset="-122"/>
                <a:cs typeface="Calibri" pitchFamily="34" charset="-120"/>
              </a:rPr>
              <a:t>After WA = red: red is gone from NT and SA</a:t>
            </a:r>
            <a:endParaRPr lang="en-US" sz="1200" dirty="0"/>
          </a:p>
        </p:txBody>
      </p:sp>
      <p:sp>
        <p:nvSpPr>
          <p:cNvPr id="41" name="Shape 39"/>
          <p:cNvSpPr/>
          <p:nvPr/>
        </p:nvSpPr>
        <p:spPr>
          <a:xfrm>
            <a:off x="640080" y="4800600"/>
            <a:ext cx="1737360" cy="365760"/>
          </a:xfrm>
          <a:prstGeom prst="rect">
            <a:avLst/>
          </a:prstGeom>
          <a:solidFill>
            <a:srgbClr val="FFFFFF"/>
          </a:solidFill>
          <a:ln w="12700">
            <a:solidFill>
              <a:srgbClr val="1C1E21"/>
            </a:solidFill>
            <a:prstDash val="solid"/>
          </a:ln>
        </p:spPr>
      </p:sp>
      <p:sp>
        <p:nvSpPr>
          <p:cNvPr id="42" name="Shape 40"/>
          <p:cNvSpPr/>
          <p:nvPr/>
        </p:nvSpPr>
        <p:spPr>
          <a:xfrm>
            <a:off x="704088" y="4864608"/>
            <a:ext cx="1609344" cy="237744"/>
          </a:xfrm>
          <a:prstGeom prst="rect">
            <a:avLst/>
          </a:prstGeom>
          <a:solidFill>
            <a:srgbClr val="C0392B"/>
          </a:solidFill>
          <a:ln w="12700">
            <a:solidFill>
              <a:srgbClr val="C0392B"/>
            </a:solidFill>
            <a:prstDash val="solid"/>
          </a:ln>
        </p:spPr>
      </p:sp>
      <p:sp>
        <p:nvSpPr>
          <p:cNvPr id="43" name="Shape 41"/>
          <p:cNvSpPr/>
          <p:nvPr/>
        </p:nvSpPr>
        <p:spPr>
          <a:xfrm>
            <a:off x="2478024" y="4800600"/>
            <a:ext cx="1737360" cy="365760"/>
          </a:xfrm>
          <a:prstGeom prst="rect">
            <a:avLst/>
          </a:prstGeom>
          <a:solidFill>
            <a:srgbClr val="FFFFFF"/>
          </a:solidFill>
          <a:ln w="12700">
            <a:solidFill>
              <a:srgbClr val="1C1E21"/>
            </a:solidFill>
            <a:prstDash val="solid"/>
          </a:ln>
        </p:spPr>
      </p:sp>
      <p:sp>
        <p:nvSpPr>
          <p:cNvPr id="44" name="Shape 42"/>
          <p:cNvSpPr/>
          <p:nvPr/>
        </p:nvSpPr>
        <p:spPr>
          <a:xfrm>
            <a:off x="3236976" y="4873752"/>
            <a:ext cx="219456" cy="219456"/>
          </a:xfrm>
          <a:prstGeom prst="rect">
            <a:avLst/>
          </a:prstGeom>
          <a:solidFill>
            <a:srgbClr val="2E8B45"/>
          </a:solidFill>
          <a:ln w="12700">
            <a:solidFill>
              <a:srgbClr val="2E8B45"/>
            </a:solidFill>
            <a:prstDash val="solid"/>
          </a:ln>
        </p:spPr>
      </p:sp>
      <p:sp>
        <p:nvSpPr>
          <p:cNvPr id="45" name="Shape 43"/>
          <p:cNvSpPr/>
          <p:nvPr/>
        </p:nvSpPr>
        <p:spPr>
          <a:xfrm>
            <a:off x="3773424" y="4873752"/>
            <a:ext cx="219456" cy="219456"/>
          </a:xfrm>
          <a:prstGeom prst="rect">
            <a:avLst/>
          </a:prstGeom>
          <a:solidFill>
            <a:srgbClr val="2A62C4"/>
          </a:solidFill>
          <a:ln w="12700">
            <a:solidFill>
              <a:srgbClr val="2A62C4"/>
            </a:solidFill>
            <a:prstDash val="solid"/>
          </a:ln>
        </p:spPr>
      </p:sp>
      <p:sp>
        <p:nvSpPr>
          <p:cNvPr id="46" name="Shape 44"/>
          <p:cNvSpPr/>
          <p:nvPr/>
        </p:nvSpPr>
        <p:spPr>
          <a:xfrm>
            <a:off x="4315968" y="4800600"/>
            <a:ext cx="1737360" cy="365760"/>
          </a:xfrm>
          <a:prstGeom prst="rect">
            <a:avLst/>
          </a:prstGeom>
          <a:solidFill>
            <a:srgbClr val="FFFFFF"/>
          </a:solidFill>
          <a:ln w="12700">
            <a:solidFill>
              <a:srgbClr val="1C1E21"/>
            </a:solidFill>
            <a:prstDash val="solid"/>
          </a:ln>
        </p:spPr>
      </p:sp>
      <p:sp>
        <p:nvSpPr>
          <p:cNvPr id="47" name="Shape 45"/>
          <p:cNvSpPr/>
          <p:nvPr/>
        </p:nvSpPr>
        <p:spPr>
          <a:xfrm>
            <a:off x="4538472" y="4873752"/>
            <a:ext cx="219456" cy="219456"/>
          </a:xfrm>
          <a:prstGeom prst="rect">
            <a:avLst/>
          </a:prstGeom>
          <a:solidFill>
            <a:srgbClr val="C0392B"/>
          </a:solidFill>
          <a:ln w="12700">
            <a:solidFill>
              <a:srgbClr val="C0392B"/>
            </a:solidFill>
            <a:prstDash val="solid"/>
          </a:ln>
        </p:spPr>
      </p:sp>
      <p:sp>
        <p:nvSpPr>
          <p:cNvPr id="48" name="Shape 46"/>
          <p:cNvSpPr/>
          <p:nvPr/>
        </p:nvSpPr>
        <p:spPr>
          <a:xfrm>
            <a:off x="5074920" y="4873752"/>
            <a:ext cx="219456" cy="219456"/>
          </a:xfrm>
          <a:prstGeom prst="rect">
            <a:avLst/>
          </a:prstGeom>
          <a:solidFill>
            <a:srgbClr val="2E8B45"/>
          </a:solidFill>
          <a:ln w="12700">
            <a:solidFill>
              <a:srgbClr val="2E8B45"/>
            </a:solidFill>
            <a:prstDash val="solid"/>
          </a:ln>
        </p:spPr>
      </p:sp>
      <p:sp>
        <p:nvSpPr>
          <p:cNvPr id="49" name="Shape 47"/>
          <p:cNvSpPr/>
          <p:nvPr/>
        </p:nvSpPr>
        <p:spPr>
          <a:xfrm>
            <a:off x="5611368" y="4873752"/>
            <a:ext cx="219456" cy="219456"/>
          </a:xfrm>
          <a:prstGeom prst="rect">
            <a:avLst/>
          </a:prstGeom>
          <a:solidFill>
            <a:srgbClr val="2A62C4"/>
          </a:solidFill>
          <a:ln w="12700">
            <a:solidFill>
              <a:srgbClr val="2A62C4"/>
            </a:solidFill>
            <a:prstDash val="solid"/>
          </a:ln>
        </p:spPr>
      </p:sp>
      <p:sp>
        <p:nvSpPr>
          <p:cNvPr id="50" name="Shape 48"/>
          <p:cNvSpPr/>
          <p:nvPr/>
        </p:nvSpPr>
        <p:spPr>
          <a:xfrm>
            <a:off x="6153912" y="4800600"/>
            <a:ext cx="1737360" cy="365760"/>
          </a:xfrm>
          <a:prstGeom prst="rect">
            <a:avLst/>
          </a:prstGeom>
          <a:solidFill>
            <a:srgbClr val="FFFFFF"/>
          </a:solidFill>
          <a:ln w="12700">
            <a:solidFill>
              <a:srgbClr val="1C1E21"/>
            </a:solidFill>
            <a:prstDash val="solid"/>
          </a:ln>
        </p:spPr>
      </p:sp>
      <p:sp>
        <p:nvSpPr>
          <p:cNvPr id="51" name="Shape 49"/>
          <p:cNvSpPr/>
          <p:nvPr/>
        </p:nvSpPr>
        <p:spPr>
          <a:xfrm>
            <a:off x="6376416" y="4873752"/>
            <a:ext cx="219456" cy="219456"/>
          </a:xfrm>
          <a:prstGeom prst="rect">
            <a:avLst/>
          </a:prstGeom>
          <a:solidFill>
            <a:srgbClr val="C0392B"/>
          </a:solidFill>
          <a:ln w="12700">
            <a:solidFill>
              <a:srgbClr val="C0392B"/>
            </a:solidFill>
            <a:prstDash val="solid"/>
          </a:ln>
        </p:spPr>
      </p:sp>
      <p:sp>
        <p:nvSpPr>
          <p:cNvPr id="52" name="Shape 50"/>
          <p:cNvSpPr/>
          <p:nvPr/>
        </p:nvSpPr>
        <p:spPr>
          <a:xfrm>
            <a:off x="6912864" y="4873752"/>
            <a:ext cx="219456" cy="219456"/>
          </a:xfrm>
          <a:prstGeom prst="rect">
            <a:avLst/>
          </a:prstGeom>
          <a:solidFill>
            <a:srgbClr val="2E8B45"/>
          </a:solidFill>
          <a:ln w="12700">
            <a:solidFill>
              <a:srgbClr val="2E8B45"/>
            </a:solidFill>
            <a:prstDash val="solid"/>
          </a:ln>
        </p:spPr>
      </p:sp>
      <p:sp>
        <p:nvSpPr>
          <p:cNvPr id="53" name="Shape 51"/>
          <p:cNvSpPr/>
          <p:nvPr/>
        </p:nvSpPr>
        <p:spPr>
          <a:xfrm>
            <a:off x="7449312" y="4873752"/>
            <a:ext cx="219456" cy="219456"/>
          </a:xfrm>
          <a:prstGeom prst="rect">
            <a:avLst/>
          </a:prstGeom>
          <a:solidFill>
            <a:srgbClr val="2A62C4"/>
          </a:solidFill>
          <a:ln w="12700">
            <a:solidFill>
              <a:srgbClr val="2A62C4"/>
            </a:solidFill>
            <a:prstDash val="solid"/>
          </a:ln>
        </p:spPr>
      </p:sp>
      <p:sp>
        <p:nvSpPr>
          <p:cNvPr id="54" name="Shape 52"/>
          <p:cNvSpPr/>
          <p:nvPr/>
        </p:nvSpPr>
        <p:spPr>
          <a:xfrm>
            <a:off x="7991856" y="4800600"/>
            <a:ext cx="1737360" cy="365760"/>
          </a:xfrm>
          <a:prstGeom prst="rect">
            <a:avLst/>
          </a:prstGeom>
          <a:solidFill>
            <a:srgbClr val="FFFFFF"/>
          </a:solidFill>
          <a:ln w="12700">
            <a:solidFill>
              <a:srgbClr val="1C1E21"/>
            </a:solidFill>
            <a:prstDash val="solid"/>
          </a:ln>
        </p:spPr>
      </p:sp>
      <p:sp>
        <p:nvSpPr>
          <p:cNvPr id="55" name="Shape 53"/>
          <p:cNvSpPr/>
          <p:nvPr/>
        </p:nvSpPr>
        <p:spPr>
          <a:xfrm>
            <a:off x="8214360" y="4873752"/>
            <a:ext cx="219456" cy="219456"/>
          </a:xfrm>
          <a:prstGeom prst="rect">
            <a:avLst/>
          </a:prstGeom>
          <a:solidFill>
            <a:srgbClr val="C0392B"/>
          </a:solidFill>
          <a:ln w="12700">
            <a:solidFill>
              <a:srgbClr val="C0392B"/>
            </a:solidFill>
            <a:prstDash val="solid"/>
          </a:ln>
        </p:spPr>
      </p:sp>
      <p:sp>
        <p:nvSpPr>
          <p:cNvPr id="56" name="Shape 54"/>
          <p:cNvSpPr/>
          <p:nvPr/>
        </p:nvSpPr>
        <p:spPr>
          <a:xfrm>
            <a:off x="8750808" y="4873752"/>
            <a:ext cx="219456" cy="219456"/>
          </a:xfrm>
          <a:prstGeom prst="rect">
            <a:avLst/>
          </a:prstGeom>
          <a:solidFill>
            <a:srgbClr val="2E8B45"/>
          </a:solidFill>
          <a:ln w="12700">
            <a:solidFill>
              <a:srgbClr val="2E8B45"/>
            </a:solidFill>
            <a:prstDash val="solid"/>
          </a:ln>
        </p:spPr>
      </p:sp>
      <p:sp>
        <p:nvSpPr>
          <p:cNvPr id="57" name="Shape 55"/>
          <p:cNvSpPr/>
          <p:nvPr/>
        </p:nvSpPr>
        <p:spPr>
          <a:xfrm>
            <a:off x="9287256" y="4873752"/>
            <a:ext cx="219456" cy="219456"/>
          </a:xfrm>
          <a:prstGeom prst="rect">
            <a:avLst/>
          </a:prstGeom>
          <a:solidFill>
            <a:srgbClr val="2A62C4"/>
          </a:solidFill>
          <a:ln w="12700">
            <a:solidFill>
              <a:srgbClr val="2A62C4"/>
            </a:solidFill>
            <a:prstDash val="solid"/>
          </a:ln>
        </p:spPr>
      </p:sp>
      <p:sp>
        <p:nvSpPr>
          <p:cNvPr id="58" name="Shape 56"/>
          <p:cNvSpPr/>
          <p:nvPr/>
        </p:nvSpPr>
        <p:spPr>
          <a:xfrm>
            <a:off x="9829800" y="4800600"/>
            <a:ext cx="1737360" cy="365760"/>
          </a:xfrm>
          <a:prstGeom prst="rect">
            <a:avLst/>
          </a:prstGeom>
          <a:solidFill>
            <a:srgbClr val="FFFFFF"/>
          </a:solidFill>
          <a:ln w="12700">
            <a:solidFill>
              <a:srgbClr val="1C1E21"/>
            </a:solidFill>
            <a:prstDash val="solid"/>
          </a:ln>
        </p:spPr>
      </p:sp>
      <p:sp>
        <p:nvSpPr>
          <p:cNvPr id="59" name="Shape 57"/>
          <p:cNvSpPr/>
          <p:nvPr/>
        </p:nvSpPr>
        <p:spPr>
          <a:xfrm>
            <a:off x="10588752" y="4873752"/>
            <a:ext cx="219456" cy="219456"/>
          </a:xfrm>
          <a:prstGeom prst="rect">
            <a:avLst/>
          </a:prstGeom>
          <a:solidFill>
            <a:srgbClr val="2E8B45"/>
          </a:solidFill>
          <a:ln w="12700">
            <a:solidFill>
              <a:srgbClr val="2E8B45"/>
            </a:solidFill>
            <a:prstDash val="solid"/>
          </a:ln>
        </p:spPr>
      </p:sp>
      <p:sp>
        <p:nvSpPr>
          <p:cNvPr id="60" name="Shape 58"/>
          <p:cNvSpPr/>
          <p:nvPr/>
        </p:nvSpPr>
        <p:spPr>
          <a:xfrm>
            <a:off x="11125200" y="4873752"/>
            <a:ext cx="219456" cy="219456"/>
          </a:xfrm>
          <a:prstGeom prst="rect">
            <a:avLst/>
          </a:prstGeom>
          <a:solidFill>
            <a:srgbClr val="2A62C4"/>
          </a:solidFill>
          <a:ln w="12700">
            <a:solidFill>
              <a:srgbClr val="2A62C4"/>
            </a:solidFill>
            <a:prstDash val="solid"/>
          </a:ln>
        </p:spPr>
      </p:sp>
      <p:sp>
        <p:nvSpPr>
          <p:cNvPr id="61" name="Text 59"/>
          <p:cNvSpPr/>
          <p:nvPr/>
        </p:nvSpPr>
        <p:spPr>
          <a:xfrm>
            <a:off x="640080" y="5349240"/>
            <a:ext cx="5486400" cy="274320"/>
          </a:xfrm>
          <a:prstGeom prst="rect">
            <a:avLst/>
          </a:prstGeom>
          <a:noFill/>
          <a:ln/>
        </p:spPr>
        <p:txBody>
          <a:bodyPr wrap="square" lIns="0" tIns="0" rIns="0" bIns="0" rtlCol="0" anchor="ctr"/>
          <a:lstStyle/>
          <a:p>
            <a:pPr indent="0" marL="0">
              <a:buNone/>
            </a:pPr>
            <a:r>
              <a:rPr lang="en-US" sz="1200" b="1" dirty="0">
                <a:solidFill>
                  <a:srgbClr val="53565A"/>
                </a:solidFill>
                <a:latin typeface="Calibri" pitchFamily="34" charset="0"/>
                <a:ea typeface="Calibri" pitchFamily="34" charset="-122"/>
                <a:cs typeface="Calibri" pitchFamily="34" charset="-120"/>
              </a:rPr>
              <a:t>After Q = green: green leaves NT, NSW, and SA</a:t>
            </a:r>
            <a:endParaRPr lang="en-US" sz="1200" dirty="0"/>
          </a:p>
        </p:txBody>
      </p:sp>
      <p:sp>
        <p:nvSpPr>
          <p:cNvPr id="62" name="Shape 60"/>
          <p:cNvSpPr/>
          <p:nvPr/>
        </p:nvSpPr>
        <p:spPr>
          <a:xfrm>
            <a:off x="640080" y="5669280"/>
            <a:ext cx="1737360" cy="365760"/>
          </a:xfrm>
          <a:prstGeom prst="rect">
            <a:avLst/>
          </a:prstGeom>
          <a:solidFill>
            <a:srgbClr val="FFFFFF"/>
          </a:solidFill>
          <a:ln w="12700">
            <a:solidFill>
              <a:srgbClr val="1C1E21"/>
            </a:solidFill>
            <a:prstDash val="solid"/>
          </a:ln>
        </p:spPr>
      </p:sp>
      <p:sp>
        <p:nvSpPr>
          <p:cNvPr id="63" name="Shape 61"/>
          <p:cNvSpPr/>
          <p:nvPr/>
        </p:nvSpPr>
        <p:spPr>
          <a:xfrm>
            <a:off x="704088" y="5733288"/>
            <a:ext cx="1609344" cy="237744"/>
          </a:xfrm>
          <a:prstGeom prst="rect">
            <a:avLst/>
          </a:prstGeom>
          <a:solidFill>
            <a:srgbClr val="C0392B"/>
          </a:solidFill>
          <a:ln w="12700">
            <a:solidFill>
              <a:srgbClr val="C0392B"/>
            </a:solidFill>
            <a:prstDash val="solid"/>
          </a:ln>
        </p:spPr>
      </p:sp>
      <p:sp>
        <p:nvSpPr>
          <p:cNvPr id="64" name="Shape 62"/>
          <p:cNvSpPr/>
          <p:nvPr/>
        </p:nvSpPr>
        <p:spPr>
          <a:xfrm>
            <a:off x="2478024" y="5669280"/>
            <a:ext cx="1737360" cy="365760"/>
          </a:xfrm>
          <a:prstGeom prst="rect">
            <a:avLst/>
          </a:prstGeom>
          <a:solidFill>
            <a:srgbClr val="FFFFFF"/>
          </a:solidFill>
          <a:ln w="12700">
            <a:solidFill>
              <a:srgbClr val="1C1E21"/>
            </a:solidFill>
            <a:prstDash val="solid"/>
          </a:ln>
        </p:spPr>
      </p:sp>
      <p:sp>
        <p:nvSpPr>
          <p:cNvPr id="65" name="Shape 63"/>
          <p:cNvSpPr/>
          <p:nvPr/>
        </p:nvSpPr>
        <p:spPr>
          <a:xfrm>
            <a:off x="3773424" y="5742432"/>
            <a:ext cx="219456" cy="219456"/>
          </a:xfrm>
          <a:prstGeom prst="rect">
            <a:avLst/>
          </a:prstGeom>
          <a:solidFill>
            <a:srgbClr val="2A62C4"/>
          </a:solidFill>
          <a:ln w="12700">
            <a:solidFill>
              <a:srgbClr val="2A62C4"/>
            </a:solidFill>
            <a:prstDash val="solid"/>
          </a:ln>
        </p:spPr>
      </p:sp>
      <p:sp>
        <p:nvSpPr>
          <p:cNvPr id="66" name="Shape 64"/>
          <p:cNvSpPr/>
          <p:nvPr/>
        </p:nvSpPr>
        <p:spPr>
          <a:xfrm>
            <a:off x="4315968" y="5669280"/>
            <a:ext cx="1737360" cy="365760"/>
          </a:xfrm>
          <a:prstGeom prst="rect">
            <a:avLst/>
          </a:prstGeom>
          <a:solidFill>
            <a:srgbClr val="FFFFFF"/>
          </a:solidFill>
          <a:ln w="12700">
            <a:solidFill>
              <a:srgbClr val="1C1E21"/>
            </a:solidFill>
            <a:prstDash val="solid"/>
          </a:ln>
        </p:spPr>
      </p:sp>
      <p:sp>
        <p:nvSpPr>
          <p:cNvPr id="67" name="Shape 65"/>
          <p:cNvSpPr/>
          <p:nvPr/>
        </p:nvSpPr>
        <p:spPr>
          <a:xfrm>
            <a:off x="4379976" y="5733288"/>
            <a:ext cx="1609344" cy="237744"/>
          </a:xfrm>
          <a:prstGeom prst="rect">
            <a:avLst/>
          </a:prstGeom>
          <a:solidFill>
            <a:srgbClr val="2E8B45"/>
          </a:solidFill>
          <a:ln w="12700">
            <a:solidFill>
              <a:srgbClr val="2E8B45"/>
            </a:solidFill>
            <a:prstDash val="solid"/>
          </a:ln>
        </p:spPr>
      </p:sp>
      <p:sp>
        <p:nvSpPr>
          <p:cNvPr id="68" name="Shape 66"/>
          <p:cNvSpPr/>
          <p:nvPr/>
        </p:nvSpPr>
        <p:spPr>
          <a:xfrm>
            <a:off x="6153912" y="5669280"/>
            <a:ext cx="1737360" cy="365760"/>
          </a:xfrm>
          <a:prstGeom prst="rect">
            <a:avLst/>
          </a:prstGeom>
          <a:solidFill>
            <a:srgbClr val="FFFFFF"/>
          </a:solidFill>
          <a:ln w="12700">
            <a:solidFill>
              <a:srgbClr val="1C1E21"/>
            </a:solidFill>
            <a:prstDash val="solid"/>
          </a:ln>
        </p:spPr>
      </p:sp>
      <p:sp>
        <p:nvSpPr>
          <p:cNvPr id="69" name="Shape 67"/>
          <p:cNvSpPr/>
          <p:nvPr/>
        </p:nvSpPr>
        <p:spPr>
          <a:xfrm>
            <a:off x="6376416" y="5742432"/>
            <a:ext cx="219456" cy="219456"/>
          </a:xfrm>
          <a:prstGeom prst="rect">
            <a:avLst/>
          </a:prstGeom>
          <a:solidFill>
            <a:srgbClr val="C0392B"/>
          </a:solidFill>
          <a:ln w="12700">
            <a:solidFill>
              <a:srgbClr val="C0392B"/>
            </a:solidFill>
            <a:prstDash val="solid"/>
          </a:ln>
        </p:spPr>
      </p:sp>
      <p:sp>
        <p:nvSpPr>
          <p:cNvPr id="70" name="Shape 68"/>
          <p:cNvSpPr/>
          <p:nvPr/>
        </p:nvSpPr>
        <p:spPr>
          <a:xfrm>
            <a:off x="7449312" y="5742432"/>
            <a:ext cx="219456" cy="219456"/>
          </a:xfrm>
          <a:prstGeom prst="rect">
            <a:avLst/>
          </a:prstGeom>
          <a:solidFill>
            <a:srgbClr val="2A62C4"/>
          </a:solidFill>
          <a:ln w="12700">
            <a:solidFill>
              <a:srgbClr val="2A62C4"/>
            </a:solidFill>
            <a:prstDash val="solid"/>
          </a:ln>
        </p:spPr>
      </p:sp>
      <p:sp>
        <p:nvSpPr>
          <p:cNvPr id="71" name="Shape 69"/>
          <p:cNvSpPr/>
          <p:nvPr/>
        </p:nvSpPr>
        <p:spPr>
          <a:xfrm>
            <a:off x="7991856" y="5669280"/>
            <a:ext cx="1737360" cy="365760"/>
          </a:xfrm>
          <a:prstGeom prst="rect">
            <a:avLst/>
          </a:prstGeom>
          <a:solidFill>
            <a:srgbClr val="FFFFFF"/>
          </a:solidFill>
          <a:ln w="12700">
            <a:solidFill>
              <a:srgbClr val="1C1E21"/>
            </a:solidFill>
            <a:prstDash val="solid"/>
          </a:ln>
        </p:spPr>
      </p:sp>
      <p:sp>
        <p:nvSpPr>
          <p:cNvPr id="72" name="Shape 70"/>
          <p:cNvSpPr/>
          <p:nvPr/>
        </p:nvSpPr>
        <p:spPr>
          <a:xfrm>
            <a:off x="8214360" y="5742432"/>
            <a:ext cx="219456" cy="219456"/>
          </a:xfrm>
          <a:prstGeom prst="rect">
            <a:avLst/>
          </a:prstGeom>
          <a:solidFill>
            <a:srgbClr val="C0392B"/>
          </a:solidFill>
          <a:ln w="12700">
            <a:solidFill>
              <a:srgbClr val="C0392B"/>
            </a:solidFill>
            <a:prstDash val="solid"/>
          </a:ln>
        </p:spPr>
      </p:sp>
      <p:sp>
        <p:nvSpPr>
          <p:cNvPr id="73" name="Shape 71"/>
          <p:cNvSpPr/>
          <p:nvPr/>
        </p:nvSpPr>
        <p:spPr>
          <a:xfrm>
            <a:off x="8750808" y="5742432"/>
            <a:ext cx="219456" cy="219456"/>
          </a:xfrm>
          <a:prstGeom prst="rect">
            <a:avLst/>
          </a:prstGeom>
          <a:solidFill>
            <a:srgbClr val="2E8B45"/>
          </a:solidFill>
          <a:ln w="12700">
            <a:solidFill>
              <a:srgbClr val="2E8B45"/>
            </a:solidFill>
            <a:prstDash val="solid"/>
          </a:ln>
        </p:spPr>
      </p:sp>
      <p:sp>
        <p:nvSpPr>
          <p:cNvPr id="74" name="Shape 72"/>
          <p:cNvSpPr/>
          <p:nvPr/>
        </p:nvSpPr>
        <p:spPr>
          <a:xfrm>
            <a:off x="9287256" y="5742432"/>
            <a:ext cx="219456" cy="219456"/>
          </a:xfrm>
          <a:prstGeom prst="rect">
            <a:avLst/>
          </a:prstGeom>
          <a:solidFill>
            <a:srgbClr val="2A62C4"/>
          </a:solidFill>
          <a:ln w="12700">
            <a:solidFill>
              <a:srgbClr val="2A62C4"/>
            </a:solidFill>
            <a:prstDash val="solid"/>
          </a:ln>
        </p:spPr>
      </p:sp>
      <p:sp>
        <p:nvSpPr>
          <p:cNvPr id="75" name="Shape 73"/>
          <p:cNvSpPr/>
          <p:nvPr/>
        </p:nvSpPr>
        <p:spPr>
          <a:xfrm>
            <a:off x="9829800" y="5669280"/>
            <a:ext cx="1737360" cy="365760"/>
          </a:xfrm>
          <a:prstGeom prst="rect">
            <a:avLst/>
          </a:prstGeom>
          <a:solidFill>
            <a:srgbClr val="FFFFFF"/>
          </a:solidFill>
          <a:ln w="12700">
            <a:solidFill>
              <a:srgbClr val="1C1E21"/>
            </a:solidFill>
            <a:prstDash val="solid"/>
          </a:ln>
        </p:spPr>
      </p:sp>
      <p:sp>
        <p:nvSpPr>
          <p:cNvPr id="76" name="Shape 74"/>
          <p:cNvSpPr/>
          <p:nvPr/>
        </p:nvSpPr>
        <p:spPr>
          <a:xfrm>
            <a:off x="11125200" y="5742432"/>
            <a:ext cx="219456" cy="219456"/>
          </a:xfrm>
          <a:prstGeom prst="rect">
            <a:avLst/>
          </a:prstGeom>
          <a:solidFill>
            <a:srgbClr val="2A62C4"/>
          </a:solidFill>
          <a:ln w="12700">
            <a:solidFill>
              <a:srgbClr val="2A62C4"/>
            </a:solidFill>
            <a:prstDash val="solid"/>
          </a:ln>
        </p:spPr>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35</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Look again at that last row</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Forward checking has already lost, and does not know it</a:t>
            </a:r>
            <a:endParaRPr lang="en-US" sz="1400" dirty="0"/>
          </a:p>
        </p:txBody>
      </p:sp>
      <p:sp>
        <p:nvSpPr>
          <p:cNvPr id="6" name="Shape 4"/>
          <p:cNvSpPr/>
          <p:nvPr/>
        </p:nvSpPr>
        <p:spPr>
          <a:xfrm>
            <a:off x="640080" y="2148840"/>
            <a:ext cx="1737360" cy="365760"/>
          </a:xfrm>
          <a:prstGeom prst="rect">
            <a:avLst/>
          </a:prstGeom>
          <a:solidFill>
            <a:srgbClr val="FFFFFF"/>
          </a:solidFill>
          <a:ln w="12700">
            <a:solidFill>
              <a:srgbClr val="1C1E21"/>
            </a:solidFill>
            <a:prstDash val="solid"/>
          </a:ln>
        </p:spPr>
      </p:sp>
      <p:sp>
        <p:nvSpPr>
          <p:cNvPr id="7" name="Text 5"/>
          <p:cNvSpPr/>
          <p:nvPr/>
        </p:nvSpPr>
        <p:spPr>
          <a:xfrm>
            <a:off x="640080"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WA</a:t>
            </a:r>
            <a:endParaRPr lang="en-US" sz="1200" dirty="0"/>
          </a:p>
        </p:txBody>
      </p:sp>
      <p:sp>
        <p:nvSpPr>
          <p:cNvPr id="8" name="Shape 6"/>
          <p:cNvSpPr/>
          <p:nvPr/>
        </p:nvSpPr>
        <p:spPr>
          <a:xfrm>
            <a:off x="704088" y="2212848"/>
            <a:ext cx="1609344" cy="237744"/>
          </a:xfrm>
          <a:prstGeom prst="rect">
            <a:avLst/>
          </a:prstGeom>
          <a:solidFill>
            <a:srgbClr val="C0392B"/>
          </a:solidFill>
          <a:ln w="12700">
            <a:solidFill>
              <a:srgbClr val="C0392B"/>
            </a:solidFill>
            <a:prstDash val="solid"/>
          </a:ln>
        </p:spPr>
      </p:sp>
      <p:sp>
        <p:nvSpPr>
          <p:cNvPr id="9" name="Shape 7"/>
          <p:cNvSpPr/>
          <p:nvPr/>
        </p:nvSpPr>
        <p:spPr>
          <a:xfrm>
            <a:off x="2478024" y="2148840"/>
            <a:ext cx="1737360" cy="365760"/>
          </a:xfrm>
          <a:prstGeom prst="rect">
            <a:avLst/>
          </a:prstGeom>
          <a:solidFill>
            <a:srgbClr val="FFFFFF"/>
          </a:solidFill>
          <a:ln w="12700">
            <a:solidFill>
              <a:srgbClr val="1C1E21"/>
            </a:solidFill>
            <a:prstDash val="solid"/>
          </a:ln>
        </p:spPr>
      </p:sp>
      <p:sp>
        <p:nvSpPr>
          <p:cNvPr id="10" name="Text 8"/>
          <p:cNvSpPr/>
          <p:nvPr/>
        </p:nvSpPr>
        <p:spPr>
          <a:xfrm>
            <a:off x="2478024"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NT</a:t>
            </a:r>
            <a:endParaRPr lang="en-US" sz="1200" dirty="0"/>
          </a:p>
        </p:txBody>
      </p:sp>
      <p:sp>
        <p:nvSpPr>
          <p:cNvPr id="11" name="Shape 9"/>
          <p:cNvSpPr/>
          <p:nvPr/>
        </p:nvSpPr>
        <p:spPr>
          <a:xfrm>
            <a:off x="3773424" y="2221992"/>
            <a:ext cx="219456" cy="219456"/>
          </a:xfrm>
          <a:prstGeom prst="rect">
            <a:avLst/>
          </a:prstGeom>
          <a:solidFill>
            <a:srgbClr val="2A62C4"/>
          </a:solidFill>
          <a:ln w="12700">
            <a:solidFill>
              <a:srgbClr val="2A62C4"/>
            </a:solidFill>
            <a:prstDash val="solid"/>
          </a:ln>
        </p:spPr>
      </p:sp>
      <p:sp>
        <p:nvSpPr>
          <p:cNvPr id="12" name="Shape 10"/>
          <p:cNvSpPr/>
          <p:nvPr/>
        </p:nvSpPr>
        <p:spPr>
          <a:xfrm>
            <a:off x="4315968" y="2148840"/>
            <a:ext cx="1737360" cy="365760"/>
          </a:xfrm>
          <a:prstGeom prst="rect">
            <a:avLst/>
          </a:prstGeom>
          <a:solidFill>
            <a:srgbClr val="FFFFFF"/>
          </a:solidFill>
          <a:ln w="12700">
            <a:solidFill>
              <a:srgbClr val="1C1E21"/>
            </a:solidFill>
            <a:prstDash val="solid"/>
          </a:ln>
        </p:spPr>
      </p:sp>
      <p:sp>
        <p:nvSpPr>
          <p:cNvPr id="13" name="Text 11"/>
          <p:cNvSpPr/>
          <p:nvPr/>
        </p:nvSpPr>
        <p:spPr>
          <a:xfrm>
            <a:off x="4315968"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Q</a:t>
            </a:r>
            <a:endParaRPr lang="en-US" sz="1200" dirty="0"/>
          </a:p>
        </p:txBody>
      </p:sp>
      <p:sp>
        <p:nvSpPr>
          <p:cNvPr id="14" name="Shape 12"/>
          <p:cNvSpPr/>
          <p:nvPr/>
        </p:nvSpPr>
        <p:spPr>
          <a:xfrm>
            <a:off x="4379976" y="2212848"/>
            <a:ext cx="1609344" cy="237744"/>
          </a:xfrm>
          <a:prstGeom prst="rect">
            <a:avLst/>
          </a:prstGeom>
          <a:solidFill>
            <a:srgbClr val="2E8B45"/>
          </a:solidFill>
          <a:ln w="12700">
            <a:solidFill>
              <a:srgbClr val="2E8B45"/>
            </a:solidFill>
            <a:prstDash val="solid"/>
          </a:ln>
        </p:spPr>
      </p:sp>
      <p:sp>
        <p:nvSpPr>
          <p:cNvPr id="15" name="Shape 13"/>
          <p:cNvSpPr/>
          <p:nvPr/>
        </p:nvSpPr>
        <p:spPr>
          <a:xfrm>
            <a:off x="6153912" y="2148840"/>
            <a:ext cx="1737360" cy="365760"/>
          </a:xfrm>
          <a:prstGeom prst="rect">
            <a:avLst/>
          </a:prstGeom>
          <a:solidFill>
            <a:srgbClr val="FFFFFF"/>
          </a:solidFill>
          <a:ln w="12700">
            <a:solidFill>
              <a:srgbClr val="1C1E21"/>
            </a:solidFill>
            <a:prstDash val="solid"/>
          </a:ln>
        </p:spPr>
      </p:sp>
      <p:sp>
        <p:nvSpPr>
          <p:cNvPr id="16" name="Text 14"/>
          <p:cNvSpPr/>
          <p:nvPr/>
        </p:nvSpPr>
        <p:spPr>
          <a:xfrm>
            <a:off x="6153912"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NSW</a:t>
            </a:r>
            <a:endParaRPr lang="en-US" sz="1200" dirty="0"/>
          </a:p>
        </p:txBody>
      </p:sp>
      <p:sp>
        <p:nvSpPr>
          <p:cNvPr id="17" name="Shape 15"/>
          <p:cNvSpPr/>
          <p:nvPr/>
        </p:nvSpPr>
        <p:spPr>
          <a:xfrm>
            <a:off x="6376416" y="2221992"/>
            <a:ext cx="219456" cy="219456"/>
          </a:xfrm>
          <a:prstGeom prst="rect">
            <a:avLst/>
          </a:prstGeom>
          <a:solidFill>
            <a:srgbClr val="C0392B"/>
          </a:solidFill>
          <a:ln w="12700">
            <a:solidFill>
              <a:srgbClr val="C0392B"/>
            </a:solidFill>
            <a:prstDash val="solid"/>
          </a:ln>
        </p:spPr>
      </p:sp>
      <p:sp>
        <p:nvSpPr>
          <p:cNvPr id="18" name="Shape 16"/>
          <p:cNvSpPr/>
          <p:nvPr/>
        </p:nvSpPr>
        <p:spPr>
          <a:xfrm>
            <a:off x="7449312" y="2221992"/>
            <a:ext cx="219456" cy="219456"/>
          </a:xfrm>
          <a:prstGeom prst="rect">
            <a:avLst/>
          </a:prstGeom>
          <a:solidFill>
            <a:srgbClr val="2A62C4"/>
          </a:solidFill>
          <a:ln w="12700">
            <a:solidFill>
              <a:srgbClr val="2A62C4"/>
            </a:solidFill>
            <a:prstDash val="solid"/>
          </a:ln>
        </p:spPr>
      </p:sp>
      <p:sp>
        <p:nvSpPr>
          <p:cNvPr id="19" name="Shape 17"/>
          <p:cNvSpPr/>
          <p:nvPr/>
        </p:nvSpPr>
        <p:spPr>
          <a:xfrm>
            <a:off x="7991856" y="2148840"/>
            <a:ext cx="1737360" cy="365760"/>
          </a:xfrm>
          <a:prstGeom prst="rect">
            <a:avLst/>
          </a:prstGeom>
          <a:solidFill>
            <a:srgbClr val="FFFFFF"/>
          </a:solidFill>
          <a:ln w="12700">
            <a:solidFill>
              <a:srgbClr val="1C1E21"/>
            </a:solidFill>
            <a:prstDash val="solid"/>
          </a:ln>
        </p:spPr>
      </p:sp>
      <p:sp>
        <p:nvSpPr>
          <p:cNvPr id="20" name="Text 18"/>
          <p:cNvSpPr/>
          <p:nvPr/>
        </p:nvSpPr>
        <p:spPr>
          <a:xfrm>
            <a:off x="7991856"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V</a:t>
            </a:r>
            <a:endParaRPr lang="en-US" sz="1200" dirty="0"/>
          </a:p>
        </p:txBody>
      </p:sp>
      <p:sp>
        <p:nvSpPr>
          <p:cNvPr id="21" name="Shape 19"/>
          <p:cNvSpPr/>
          <p:nvPr/>
        </p:nvSpPr>
        <p:spPr>
          <a:xfrm>
            <a:off x="8214360" y="2221992"/>
            <a:ext cx="219456" cy="219456"/>
          </a:xfrm>
          <a:prstGeom prst="rect">
            <a:avLst/>
          </a:prstGeom>
          <a:solidFill>
            <a:srgbClr val="C0392B"/>
          </a:solidFill>
          <a:ln w="12700">
            <a:solidFill>
              <a:srgbClr val="C0392B"/>
            </a:solidFill>
            <a:prstDash val="solid"/>
          </a:ln>
        </p:spPr>
      </p:sp>
      <p:sp>
        <p:nvSpPr>
          <p:cNvPr id="22" name="Shape 20"/>
          <p:cNvSpPr/>
          <p:nvPr/>
        </p:nvSpPr>
        <p:spPr>
          <a:xfrm>
            <a:off x="8750808" y="2221992"/>
            <a:ext cx="219456" cy="219456"/>
          </a:xfrm>
          <a:prstGeom prst="rect">
            <a:avLst/>
          </a:prstGeom>
          <a:solidFill>
            <a:srgbClr val="2E8B45"/>
          </a:solidFill>
          <a:ln w="12700">
            <a:solidFill>
              <a:srgbClr val="2E8B45"/>
            </a:solidFill>
            <a:prstDash val="solid"/>
          </a:ln>
        </p:spPr>
      </p:sp>
      <p:sp>
        <p:nvSpPr>
          <p:cNvPr id="23" name="Shape 21"/>
          <p:cNvSpPr/>
          <p:nvPr/>
        </p:nvSpPr>
        <p:spPr>
          <a:xfrm>
            <a:off x="9287256" y="2221992"/>
            <a:ext cx="219456" cy="219456"/>
          </a:xfrm>
          <a:prstGeom prst="rect">
            <a:avLst/>
          </a:prstGeom>
          <a:solidFill>
            <a:srgbClr val="2A62C4"/>
          </a:solidFill>
          <a:ln w="12700">
            <a:solidFill>
              <a:srgbClr val="2A62C4"/>
            </a:solidFill>
            <a:prstDash val="solid"/>
          </a:ln>
        </p:spPr>
      </p:sp>
      <p:sp>
        <p:nvSpPr>
          <p:cNvPr id="24" name="Shape 22"/>
          <p:cNvSpPr/>
          <p:nvPr/>
        </p:nvSpPr>
        <p:spPr>
          <a:xfrm>
            <a:off x="9829800" y="2148840"/>
            <a:ext cx="1737360" cy="365760"/>
          </a:xfrm>
          <a:prstGeom prst="rect">
            <a:avLst/>
          </a:prstGeom>
          <a:solidFill>
            <a:srgbClr val="FFFFFF"/>
          </a:solidFill>
          <a:ln w="12700">
            <a:solidFill>
              <a:srgbClr val="1C1E21"/>
            </a:solidFill>
            <a:prstDash val="solid"/>
          </a:ln>
        </p:spPr>
      </p:sp>
      <p:sp>
        <p:nvSpPr>
          <p:cNvPr id="25" name="Text 23"/>
          <p:cNvSpPr/>
          <p:nvPr/>
        </p:nvSpPr>
        <p:spPr>
          <a:xfrm>
            <a:off x="9829800"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SA</a:t>
            </a:r>
            <a:endParaRPr lang="en-US" sz="1200" dirty="0"/>
          </a:p>
        </p:txBody>
      </p:sp>
      <p:sp>
        <p:nvSpPr>
          <p:cNvPr id="26" name="Shape 24"/>
          <p:cNvSpPr/>
          <p:nvPr/>
        </p:nvSpPr>
        <p:spPr>
          <a:xfrm>
            <a:off x="11125200" y="2221992"/>
            <a:ext cx="219456" cy="219456"/>
          </a:xfrm>
          <a:prstGeom prst="rect">
            <a:avLst/>
          </a:prstGeom>
          <a:solidFill>
            <a:srgbClr val="2A62C4"/>
          </a:solidFill>
          <a:ln w="12700">
            <a:solidFill>
              <a:srgbClr val="2A62C4"/>
            </a:solidFill>
            <a:prstDash val="solid"/>
          </a:ln>
        </p:spPr>
      </p:sp>
      <p:sp>
        <p:nvSpPr>
          <p:cNvPr id="27" name="Shape 25"/>
          <p:cNvSpPr/>
          <p:nvPr/>
        </p:nvSpPr>
        <p:spPr>
          <a:xfrm>
            <a:off x="2478024" y="2606040"/>
            <a:ext cx="1737360" cy="274320"/>
          </a:xfrm>
          <a:prstGeom prst="roundRect">
            <a:avLst>
              <a:gd name="adj" fmla="val 13333"/>
            </a:avLst>
          </a:prstGeom>
          <a:solidFill>
            <a:srgbClr val="F7DDE0"/>
          </a:solidFill>
          <a:ln w="12700">
            <a:solidFill>
              <a:srgbClr val="CB132A"/>
            </a:solidFill>
            <a:prstDash val="solid"/>
          </a:ln>
        </p:spPr>
      </p:sp>
      <p:sp>
        <p:nvSpPr>
          <p:cNvPr id="28" name="Text 26"/>
          <p:cNvSpPr/>
          <p:nvPr/>
        </p:nvSpPr>
        <p:spPr>
          <a:xfrm>
            <a:off x="2478024" y="2606040"/>
            <a:ext cx="1737360" cy="274320"/>
          </a:xfrm>
          <a:prstGeom prst="rect">
            <a:avLst/>
          </a:prstGeom>
          <a:noFill/>
          <a:ln/>
        </p:spPr>
        <p:txBody>
          <a:bodyPr wrap="square" lIns="0" tIns="0" rIns="0" bIns="0" rtlCol="0" anchor="ctr"/>
          <a:lstStyle/>
          <a:p>
            <a:pPr algn="ctr" indent="0" marL="0">
              <a:buNone/>
            </a:pPr>
            <a:r>
              <a:rPr lang="en-US" sz="1000" b="1" dirty="0">
                <a:solidFill>
                  <a:srgbClr val="CB132A"/>
                </a:solidFill>
                <a:latin typeface="Calibri" pitchFamily="34" charset="0"/>
                <a:ea typeface="Calibri" pitchFamily="34" charset="-122"/>
                <a:cs typeface="Calibri" pitchFamily="34" charset="-120"/>
              </a:rPr>
              <a:t>only blue left</a:t>
            </a:r>
            <a:endParaRPr lang="en-US" sz="1000" dirty="0"/>
          </a:p>
        </p:txBody>
      </p:sp>
      <p:sp>
        <p:nvSpPr>
          <p:cNvPr id="29" name="Shape 27"/>
          <p:cNvSpPr/>
          <p:nvPr/>
        </p:nvSpPr>
        <p:spPr>
          <a:xfrm>
            <a:off x="9829800" y="2606040"/>
            <a:ext cx="1737360" cy="274320"/>
          </a:xfrm>
          <a:prstGeom prst="roundRect">
            <a:avLst>
              <a:gd name="adj" fmla="val 13333"/>
            </a:avLst>
          </a:prstGeom>
          <a:solidFill>
            <a:srgbClr val="F7DDE0"/>
          </a:solidFill>
          <a:ln w="12700">
            <a:solidFill>
              <a:srgbClr val="CB132A"/>
            </a:solidFill>
            <a:prstDash val="solid"/>
          </a:ln>
        </p:spPr>
      </p:sp>
      <p:sp>
        <p:nvSpPr>
          <p:cNvPr id="30" name="Text 28"/>
          <p:cNvSpPr/>
          <p:nvPr/>
        </p:nvSpPr>
        <p:spPr>
          <a:xfrm>
            <a:off x="9829800" y="2606040"/>
            <a:ext cx="1737360" cy="274320"/>
          </a:xfrm>
          <a:prstGeom prst="rect">
            <a:avLst/>
          </a:prstGeom>
          <a:noFill/>
          <a:ln/>
        </p:spPr>
        <p:txBody>
          <a:bodyPr wrap="square" lIns="0" tIns="0" rIns="0" bIns="0" rtlCol="0" anchor="ctr"/>
          <a:lstStyle/>
          <a:p>
            <a:pPr algn="ctr" indent="0" marL="0">
              <a:buNone/>
            </a:pPr>
            <a:r>
              <a:rPr lang="en-US" sz="1000" b="1" dirty="0">
                <a:solidFill>
                  <a:srgbClr val="CB132A"/>
                </a:solidFill>
                <a:latin typeface="Calibri" pitchFamily="34" charset="0"/>
                <a:ea typeface="Calibri" pitchFamily="34" charset="-122"/>
                <a:cs typeface="Calibri" pitchFamily="34" charset="-120"/>
              </a:rPr>
              <a:t>only blue left</a:t>
            </a:r>
            <a:endParaRPr lang="en-US" sz="1000" dirty="0"/>
          </a:p>
        </p:txBody>
      </p:sp>
      <p:sp>
        <p:nvSpPr>
          <p:cNvPr id="31" name="Shape 29"/>
          <p:cNvSpPr/>
          <p:nvPr/>
        </p:nvSpPr>
        <p:spPr>
          <a:xfrm>
            <a:off x="640080" y="3200400"/>
            <a:ext cx="7040880" cy="2651760"/>
          </a:xfrm>
          <a:prstGeom prst="roundRect">
            <a:avLst>
              <a:gd name="adj" fmla="val 2069"/>
            </a:avLst>
          </a:prstGeom>
          <a:solidFill>
            <a:srgbClr val="FBEDEF"/>
          </a:solidFill>
          <a:ln w="9525">
            <a:solidFill>
              <a:srgbClr val="E8B5BC"/>
            </a:solidFill>
            <a:prstDash val="solid"/>
          </a:ln>
        </p:spPr>
      </p:sp>
      <p:sp>
        <p:nvSpPr>
          <p:cNvPr id="32" name="Text 30"/>
          <p:cNvSpPr/>
          <p:nvPr/>
        </p:nvSpPr>
        <p:spPr>
          <a:xfrm>
            <a:off x="914400" y="3383280"/>
            <a:ext cx="6492240" cy="411480"/>
          </a:xfrm>
          <a:prstGeom prst="rect">
            <a:avLst/>
          </a:prstGeom>
          <a:noFill/>
          <a:ln/>
        </p:spPr>
        <p:txBody>
          <a:bodyPr wrap="square" lIns="0" tIns="0" rIns="0" bIns="0" rtlCol="0" anchor="ctr"/>
          <a:lstStyle/>
          <a:p>
            <a:pPr indent="0" marL="0">
              <a:buNone/>
            </a:pPr>
            <a:r>
              <a:rPr lang="en-US" sz="2000" b="1" dirty="0">
                <a:solidFill>
                  <a:srgbClr val="CB132A"/>
                </a:solidFill>
                <a:latin typeface="Cambria" pitchFamily="34" charset="0"/>
                <a:ea typeface="Cambria" pitchFamily="34" charset="-122"/>
                <a:cs typeface="Cambria" pitchFamily="34" charset="-120"/>
              </a:rPr>
              <a:t>NT and SA are adjacent. Both have only blue left.</a:t>
            </a:r>
            <a:endParaRPr lang="en-US" sz="2000" dirty="0"/>
          </a:p>
        </p:txBody>
      </p:sp>
      <p:sp>
        <p:nvSpPr>
          <p:cNvPr id="33" name="Text 31"/>
          <p:cNvSpPr/>
          <p:nvPr/>
        </p:nvSpPr>
        <p:spPr>
          <a:xfrm>
            <a:off x="914400" y="3840480"/>
            <a:ext cx="6492240" cy="822960"/>
          </a:xfrm>
          <a:prstGeom prst="rect">
            <a:avLst/>
          </a:prstGeom>
          <a:noFill/>
          <a:ln/>
        </p:spPr>
        <p:txBody>
          <a:bodyPr wrap="square" lIns="0" tIns="0" rIns="0" bIns="0" rtlCol="0" anchor="ctr"/>
          <a:lstStyle/>
          <a:p>
            <a:pPr indent="0" marL="0">
              <a:buNone/>
            </a:pPr>
            <a:r>
              <a:rPr lang="en-US" sz="1400" dirty="0">
                <a:solidFill>
                  <a:srgbClr val="1C1E21"/>
                </a:solidFill>
                <a:latin typeface="Calibri" pitchFamily="34" charset="0"/>
                <a:ea typeface="Calibri" pitchFamily="34" charset="-122"/>
                <a:cs typeface="Calibri" pitchFamily="34" charset="-120"/>
              </a:rPr>
              <a:t>This problem is already unsolvable. Forward checking will not notice until it actually tries to assign one of them and then fails on the other - several more assignments and one wasted subtree from now.</a:t>
            </a:r>
            <a:endParaRPr lang="en-US" sz="1400" dirty="0"/>
          </a:p>
        </p:txBody>
      </p:sp>
      <p:sp>
        <p:nvSpPr>
          <p:cNvPr id="34" name="Text 32"/>
          <p:cNvSpPr/>
          <p:nvPr/>
        </p:nvSpPr>
        <p:spPr>
          <a:xfrm>
            <a:off x="914400" y="4663440"/>
            <a:ext cx="6492240" cy="320040"/>
          </a:xfrm>
          <a:prstGeom prst="rect">
            <a:avLst/>
          </a:prstGeom>
          <a:noFill/>
          <a:ln/>
        </p:spPr>
        <p:txBody>
          <a:bodyPr wrap="square" lIns="0" tIns="0" rIns="0" bIns="0" rtlCol="0" anchor="ctr"/>
          <a:lstStyle/>
          <a:p>
            <a:pPr indent="0" marL="0">
              <a:buNone/>
            </a:pPr>
            <a:r>
              <a:rPr lang="en-US" sz="1600" b="1" dirty="0">
                <a:solidFill>
                  <a:srgbClr val="1C1E21"/>
                </a:solidFill>
                <a:latin typeface="Cambria" pitchFamily="34" charset="0"/>
                <a:ea typeface="Cambria" pitchFamily="34" charset="-122"/>
                <a:cs typeface="Cambria" pitchFamily="34" charset="-120"/>
              </a:rPr>
              <a:t>Why it misses this</a:t>
            </a:r>
            <a:endParaRPr lang="en-US" sz="1600" dirty="0"/>
          </a:p>
        </p:txBody>
      </p:sp>
      <p:sp>
        <p:nvSpPr>
          <p:cNvPr id="35" name="Text 33"/>
          <p:cNvSpPr/>
          <p:nvPr/>
        </p:nvSpPr>
        <p:spPr>
          <a:xfrm>
            <a:off x="914400" y="4983480"/>
            <a:ext cx="6492240" cy="77724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Forward checking only ever reasons from an assigned variable to its unassigned neighbors. NT and SA are both unassigned, so the constraint between them is never examined. Anything beyond that is thinking too hard for forward checking.</a:t>
            </a:r>
            <a:endParaRPr lang="en-US" sz="1300" dirty="0"/>
          </a:p>
        </p:txBody>
      </p:sp>
      <p:sp>
        <p:nvSpPr>
          <p:cNvPr id="36" name="Shape 34"/>
          <p:cNvSpPr/>
          <p:nvPr/>
        </p:nvSpPr>
        <p:spPr>
          <a:xfrm flipH="1">
            <a:off x="8595360" y="3717036"/>
            <a:ext cx="822960" cy="393192"/>
          </a:xfrm>
          <a:prstGeom prst="line">
            <a:avLst/>
          </a:prstGeom>
          <a:noFill/>
          <a:ln w="15875">
            <a:solidFill>
              <a:srgbClr val="53565A"/>
            </a:solidFill>
            <a:prstDash val="solid"/>
          </a:ln>
        </p:spPr>
      </p:sp>
      <p:sp>
        <p:nvSpPr>
          <p:cNvPr id="37" name="Shape 35"/>
          <p:cNvSpPr/>
          <p:nvPr/>
        </p:nvSpPr>
        <p:spPr>
          <a:xfrm>
            <a:off x="8595360" y="4110228"/>
            <a:ext cx="877824" cy="432511"/>
          </a:xfrm>
          <a:prstGeom prst="line">
            <a:avLst/>
          </a:prstGeom>
          <a:noFill/>
          <a:ln w="15875">
            <a:solidFill>
              <a:srgbClr val="53565A"/>
            </a:solidFill>
            <a:prstDash val="solid"/>
          </a:ln>
        </p:spPr>
      </p:sp>
      <p:sp>
        <p:nvSpPr>
          <p:cNvPr id="38" name="Shape 36"/>
          <p:cNvSpPr/>
          <p:nvPr/>
        </p:nvSpPr>
        <p:spPr>
          <a:xfrm>
            <a:off x="9418320" y="3717036"/>
            <a:ext cx="54864" cy="825703"/>
          </a:xfrm>
          <a:prstGeom prst="line">
            <a:avLst/>
          </a:prstGeom>
          <a:noFill/>
          <a:ln w="31750">
            <a:solidFill>
              <a:srgbClr val="CB132A"/>
            </a:solidFill>
            <a:prstDash val="solid"/>
          </a:ln>
        </p:spPr>
      </p:sp>
      <p:sp>
        <p:nvSpPr>
          <p:cNvPr id="39" name="Shape 37"/>
          <p:cNvSpPr/>
          <p:nvPr/>
        </p:nvSpPr>
        <p:spPr>
          <a:xfrm>
            <a:off x="9418320" y="3717036"/>
            <a:ext cx="877824" cy="176936"/>
          </a:xfrm>
          <a:prstGeom prst="line">
            <a:avLst/>
          </a:prstGeom>
          <a:noFill/>
          <a:ln w="15875">
            <a:solidFill>
              <a:srgbClr val="53565A"/>
            </a:solidFill>
            <a:prstDash val="solid"/>
          </a:ln>
        </p:spPr>
      </p:sp>
      <p:sp>
        <p:nvSpPr>
          <p:cNvPr id="40" name="Shape 38"/>
          <p:cNvSpPr/>
          <p:nvPr/>
        </p:nvSpPr>
        <p:spPr>
          <a:xfrm flipH="1">
            <a:off x="9473184" y="3893972"/>
            <a:ext cx="822960" cy="648767"/>
          </a:xfrm>
          <a:prstGeom prst="line">
            <a:avLst/>
          </a:prstGeom>
          <a:noFill/>
          <a:ln w="15875">
            <a:solidFill>
              <a:srgbClr val="53565A"/>
            </a:solidFill>
            <a:prstDash val="solid"/>
          </a:ln>
        </p:spPr>
      </p:sp>
      <p:sp>
        <p:nvSpPr>
          <p:cNvPr id="41" name="Shape 39"/>
          <p:cNvSpPr/>
          <p:nvPr/>
        </p:nvSpPr>
        <p:spPr>
          <a:xfrm flipH="1">
            <a:off x="9473184" y="4523080"/>
            <a:ext cx="1042416" cy="19660"/>
          </a:xfrm>
          <a:prstGeom prst="line">
            <a:avLst/>
          </a:prstGeom>
          <a:noFill/>
          <a:ln w="15875">
            <a:solidFill>
              <a:srgbClr val="53565A"/>
            </a:solidFill>
            <a:prstDash val="solid"/>
          </a:ln>
        </p:spPr>
      </p:sp>
      <p:sp>
        <p:nvSpPr>
          <p:cNvPr id="42" name="Shape 40"/>
          <p:cNvSpPr/>
          <p:nvPr/>
        </p:nvSpPr>
        <p:spPr>
          <a:xfrm>
            <a:off x="9473184" y="4542739"/>
            <a:ext cx="548640" cy="471830"/>
          </a:xfrm>
          <a:prstGeom prst="line">
            <a:avLst/>
          </a:prstGeom>
          <a:noFill/>
          <a:ln w="15875">
            <a:solidFill>
              <a:srgbClr val="53565A"/>
            </a:solidFill>
            <a:prstDash val="solid"/>
          </a:ln>
        </p:spPr>
      </p:sp>
      <p:sp>
        <p:nvSpPr>
          <p:cNvPr id="43" name="Shape 41"/>
          <p:cNvSpPr/>
          <p:nvPr/>
        </p:nvSpPr>
        <p:spPr>
          <a:xfrm>
            <a:off x="10296144" y="3893972"/>
            <a:ext cx="219456" cy="629107"/>
          </a:xfrm>
          <a:prstGeom prst="line">
            <a:avLst/>
          </a:prstGeom>
          <a:noFill/>
          <a:ln w="15875">
            <a:solidFill>
              <a:srgbClr val="53565A"/>
            </a:solidFill>
            <a:prstDash val="solid"/>
          </a:ln>
        </p:spPr>
      </p:sp>
      <p:sp>
        <p:nvSpPr>
          <p:cNvPr id="44" name="Shape 42"/>
          <p:cNvSpPr/>
          <p:nvPr/>
        </p:nvSpPr>
        <p:spPr>
          <a:xfrm flipH="1">
            <a:off x="10021824" y="4523080"/>
            <a:ext cx="493776" cy="491490"/>
          </a:xfrm>
          <a:prstGeom prst="line">
            <a:avLst/>
          </a:prstGeom>
          <a:noFill/>
          <a:ln w="15875">
            <a:solidFill>
              <a:srgbClr val="53565A"/>
            </a:solidFill>
            <a:prstDash val="solid"/>
          </a:ln>
        </p:spPr>
      </p:sp>
      <p:sp>
        <p:nvSpPr>
          <p:cNvPr id="45" name="Shape 43"/>
          <p:cNvSpPr/>
          <p:nvPr/>
        </p:nvSpPr>
        <p:spPr>
          <a:xfrm>
            <a:off x="9208008" y="3506724"/>
            <a:ext cx="420624" cy="420624"/>
          </a:xfrm>
          <a:prstGeom prst="ellipse">
            <a:avLst/>
          </a:prstGeom>
          <a:solidFill>
            <a:srgbClr val="2A62C4"/>
          </a:solidFill>
          <a:ln w="17780">
            <a:solidFill>
              <a:srgbClr val="2A62C4"/>
            </a:solidFill>
            <a:prstDash val="solid"/>
          </a:ln>
        </p:spPr>
      </p:sp>
      <p:sp>
        <p:nvSpPr>
          <p:cNvPr id="46" name="Text 44"/>
          <p:cNvSpPr/>
          <p:nvPr/>
        </p:nvSpPr>
        <p:spPr>
          <a:xfrm>
            <a:off x="9208008" y="3506724"/>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NT</a:t>
            </a:r>
            <a:endParaRPr lang="en-US" sz="1000" dirty="0"/>
          </a:p>
        </p:txBody>
      </p:sp>
      <p:sp>
        <p:nvSpPr>
          <p:cNvPr id="47" name="Shape 45"/>
          <p:cNvSpPr/>
          <p:nvPr/>
        </p:nvSpPr>
        <p:spPr>
          <a:xfrm>
            <a:off x="10085832" y="3683660"/>
            <a:ext cx="420624" cy="420624"/>
          </a:xfrm>
          <a:prstGeom prst="ellipse">
            <a:avLst/>
          </a:prstGeom>
          <a:solidFill>
            <a:srgbClr val="2E8B45"/>
          </a:solidFill>
          <a:ln w="17780">
            <a:solidFill>
              <a:srgbClr val="2E8B45"/>
            </a:solidFill>
            <a:prstDash val="solid"/>
          </a:ln>
        </p:spPr>
      </p:sp>
      <p:sp>
        <p:nvSpPr>
          <p:cNvPr id="48" name="Text 46"/>
          <p:cNvSpPr/>
          <p:nvPr/>
        </p:nvSpPr>
        <p:spPr>
          <a:xfrm>
            <a:off x="10085832" y="3683660"/>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a:t>
            </a:r>
            <a:endParaRPr lang="en-US" sz="1000" dirty="0"/>
          </a:p>
        </p:txBody>
      </p:sp>
      <p:sp>
        <p:nvSpPr>
          <p:cNvPr id="49" name="Shape 47"/>
          <p:cNvSpPr/>
          <p:nvPr/>
        </p:nvSpPr>
        <p:spPr>
          <a:xfrm>
            <a:off x="8385048" y="3899916"/>
            <a:ext cx="420624" cy="420624"/>
          </a:xfrm>
          <a:prstGeom prst="ellipse">
            <a:avLst/>
          </a:prstGeom>
          <a:solidFill>
            <a:srgbClr val="C0392B"/>
          </a:solidFill>
          <a:ln w="17780">
            <a:solidFill>
              <a:srgbClr val="C0392B"/>
            </a:solidFill>
            <a:prstDash val="solid"/>
          </a:ln>
        </p:spPr>
      </p:sp>
      <p:sp>
        <p:nvSpPr>
          <p:cNvPr id="50" name="Text 48"/>
          <p:cNvSpPr/>
          <p:nvPr/>
        </p:nvSpPr>
        <p:spPr>
          <a:xfrm>
            <a:off x="8385048" y="3899916"/>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a:t>
            </a:r>
            <a:endParaRPr lang="en-US" sz="1000" dirty="0"/>
          </a:p>
        </p:txBody>
      </p:sp>
      <p:sp>
        <p:nvSpPr>
          <p:cNvPr id="51" name="Shape 49"/>
          <p:cNvSpPr/>
          <p:nvPr/>
        </p:nvSpPr>
        <p:spPr>
          <a:xfrm>
            <a:off x="9262872" y="4332427"/>
            <a:ext cx="420624" cy="420624"/>
          </a:xfrm>
          <a:prstGeom prst="ellipse">
            <a:avLst/>
          </a:prstGeom>
          <a:solidFill>
            <a:srgbClr val="2A62C4"/>
          </a:solidFill>
          <a:ln w="17780">
            <a:solidFill>
              <a:srgbClr val="2A62C4"/>
            </a:solidFill>
            <a:prstDash val="solid"/>
          </a:ln>
        </p:spPr>
      </p:sp>
      <p:sp>
        <p:nvSpPr>
          <p:cNvPr id="52" name="Text 50"/>
          <p:cNvSpPr/>
          <p:nvPr/>
        </p:nvSpPr>
        <p:spPr>
          <a:xfrm>
            <a:off x="9262872" y="4332427"/>
            <a:ext cx="420624" cy="42062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a:t>
            </a:r>
            <a:endParaRPr lang="en-US" sz="1000" dirty="0"/>
          </a:p>
        </p:txBody>
      </p:sp>
      <p:sp>
        <p:nvSpPr>
          <p:cNvPr id="53" name="Shape 51"/>
          <p:cNvSpPr/>
          <p:nvPr/>
        </p:nvSpPr>
        <p:spPr>
          <a:xfrm>
            <a:off x="10305288" y="4312768"/>
            <a:ext cx="420624" cy="420624"/>
          </a:xfrm>
          <a:prstGeom prst="ellipse">
            <a:avLst/>
          </a:prstGeom>
          <a:solidFill>
            <a:srgbClr val="FFFFFF"/>
          </a:solidFill>
          <a:ln w="17780">
            <a:solidFill>
              <a:srgbClr val="1C1E21"/>
            </a:solidFill>
            <a:prstDash val="solid"/>
          </a:ln>
        </p:spPr>
      </p:sp>
      <p:sp>
        <p:nvSpPr>
          <p:cNvPr id="54" name="Text 52"/>
          <p:cNvSpPr/>
          <p:nvPr/>
        </p:nvSpPr>
        <p:spPr>
          <a:xfrm>
            <a:off x="10305288" y="4312768"/>
            <a:ext cx="420624" cy="420624"/>
          </a:xfrm>
          <a:prstGeom prst="rect">
            <a:avLst/>
          </a:prstGeom>
          <a:noFill/>
          <a:ln/>
        </p:spPr>
        <p:txBody>
          <a:bodyPr wrap="square" lIns="0" tIns="0" rIns="0" bIns="0" rtlCol="0" anchor="ctr"/>
          <a:lstStyle/>
          <a:p>
            <a:pPr algn="ctr" indent="0" marL="0">
              <a:buNone/>
            </a:pPr>
            <a:r>
              <a:rPr lang="en-US" sz="850" b="1" dirty="0">
                <a:solidFill>
                  <a:srgbClr val="1C1E21"/>
                </a:solidFill>
                <a:latin typeface="Calibri" pitchFamily="34" charset="0"/>
                <a:ea typeface="Calibri" pitchFamily="34" charset="-122"/>
                <a:cs typeface="Calibri" pitchFamily="34" charset="-120"/>
              </a:rPr>
              <a:t>NSW</a:t>
            </a:r>
            <a:endParaRPr lang="en-US" sz="850" dirty="0"/>
          </a:p>
        </p:txBody>
      </p:sp>
      <p:sp>
        <p:nvSpPr>
          <p:cNvPr id="55" name="Shape 53"/>
          <p:cNvSpPr/>
          <p:nvPr/>
        </p:nvSpPr>
        <p:spPr>
          <a:xfrm>
            <a:off x="9811512" y="4804258"/>
            <a:ext cx="420624" cy="420624"/>
          </a:xfrm>
          <a:prstGeom prst="ellipse">
            <a:avLst/>
          </a:prstGeom>
          <a:solidFill>
            <a:srgbClr val="FFFFFF"/>
          </a:solidFill>
          <a:ln w="17780">
            <a:solidFill>
              <a:srgbClr val="1C1E21"/>
            </a:solidFill>
            <a:prstDash val="solid"/>
          </a:ln>
        </p:spPr>
      </p:sp>
      <p:sp>
        <p:nvSpPr>
          <p:cNvPr id="56" name="Text 54"/>
          <p:cNvSpPr/>
          <p:nvPr/>
        </p:nvSpPr>
        <p:spPr>
          <a:xfrm>
            <a:off x="9811512" y="4804258"/>
            <a:ext cx="420624" cy="420624"/>
          </a:xfrm>
          <a:prstGeom prst="rect">
            <a:avLst/>
          </a:prstGeom>
          <a:noFill/>
          <a:ln/>
        </p:spPr>
        <p:txBody>
          <a:bodyPr wrap="square" lIns="0" tIns="0" rIns="0" bIns="0" rtlCol="0" anchor="ctr"/>
          <a:lstStyle/>
          <a:p>
            <a:pPr algn="ctr" indent="0" marL="0">
              <a:buNone/>
            </a:pPr>
            <a:r>
              <a:rPr lang="en-US" sz="1000" b="1" dirty="0">
                <a:solidFill>
                  <a:srgbClr val="1C1E21"/>
                </a:solidFill>
                <a:latin typeface="Calibri" pitchFamily="34" charset="0"/>
                <a:ea typeface="Calibri" pitchFamily="34" charset="-122"/>
                <a:cs typeface="Calibri" pitchFamily="34" charset="-120"/>
              </a:rPr>
              <a:t>V</a:t>
            </a:r>
            <a:endParaRPr lang="en-US" sz="1000" dirty="0"/>
          </a:p>
        </p:txBody>
      </p:sp>
      <p:sp>
        <p:nvSpPr>
          <p:cNvPr id="57" name="Text 55"/>
          <p:cNvSpPr/>
          <p:nvPr/>
        </p:nvSpPr>
        <p:spPr>
          <a:xfrm>
            <a:off x="7863840" y="5806440"/>
            <a:ext cx="3657600" cy="274320"/>
          </a:xfrm>
          <a:prstGeom prst="rect">
            <a:avLst/>
          </a:prstGeom>
          <a:noFill/>
          <a:ln/>
        </p:spPr>
        <p:txBody>
          <a:bodyPr wrap="square" lIns="0" tIns="0" rIns="0" bIns="0" rtlCol="0" anchor="ctr"/>
          <a:lstStyle/>
          <a:p>
            <a:pPr algn="ctr" indent="0" marL="0">
              <a:buNone/>
            </a:pPr>
            <a:r>
              <a:rPr lang="en-US" sz="1100" i="1" dirty="0">
                <a:solidFill>
                  <a:srgbClr val="CB132A"/>
                </a:solidFill>
                <a:latin typeface="Calibri" pitchFamily="34" charset="0"/>
                <a:ea typeface="Calibri" pitchFamily="34" charset="-122"/>
                <a:cs typeface="Calibri" pitchFamily="34" charset="-120"/>
              </a:rPr>
              <a:t>the constraint nobody checked</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36</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Constraint propagation</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Reason from constraint to constraint, not just from assignments outward</a:t>
            </a:r>
            <a:endParaRPr lang="en-US" sz="1400" dirty="0"/>
          </a:p>
        </p:txBody>
      </p:sp>
      <p:sp>
        <p:nvSpPr>
          <p:cNvPr id="6" name="Shape 4"/>
          <p:cNvSpPr/>
          <p:nvPr/>
        </p:nvSpPr>
        <p:spPr>
          <a:xfrm>
            <a:off x="640080" y="1645920"/>
            <a:ext cx="5349240" cy="1920240"/>
          </a:xfrm>
          <a:prstGeom prst="roundRect">
            <a:avLst>
              <a:gd name="adj" fmla="val 2857"/>
            </a:avLst>
          </a:prstGeom>
          <a:solidFill>
            <a:srgbClr val="F6F7F8"/>
          </a:solidFill>
          <a:ln w="9525">
            <a:solidFill>
              <a:srgbClr val="D3D6D9"/>
            </a:solidFill>
            <a:prstDash val="solid"/>
          </a:ln>
        </p:spPr>
      </p:sp>
      <p:sp>
        <p:nvSpPr>
          <p:cNvPr id="7" name="Text 5"/>
          <p:cNvSpPr/>
          <p:nvPr/>
        </p:nvSpPr>
        <p:spPr>
          <a:xfrm>
            <a:off x="914400" y="1810512"/>
            <a:ext cx="4800600" cy="365760"/>
          </a:xfrm>
          <a:prstGeom prst="rect">
            <a:avLst/>
          </a:prstGeom>
          <a:noFill/>
          <a:ln/>
        </p:spPr>
        <p:txBody>
          <a:bodyPr wrap="square" lIns="0" tIns="0" rIns="0" bIns="0" rtlCol="0" anchor="ctr"/>
          <a:lstStyle/>
          <a:p>
            <a:pPr indent="0" marL="0">
              <a:buNone/>
            </a:pPr>
            <a:r>
              <a:rPr lang="en-US" sz="1800" b="1" dirty="0">
                <a:solidFill>
                  <a:srgbClr val="1C1E21"/>
                </a:solidFill>
                <a:latin typeface="Cambria" pitchFamily="34" charset="0"/>
                <a:ea typeface="Cambria" pitchFamily="34" charset="-122"/>
                <a:cs typeface="Cambria" pitchFamily="34" charset="-120"/>
              </a:rPr>
              <a:t>Edges are undirected. Checking is not.</a:t>
            </a:r>
            <a:endParaRPr lang="en-US" sz="1800" dirty="0"/>
          </a:p>
        </p:txBody>
      </p:sp>
      <p:sp>
        <p:nvSpPr>
          <p:cNvPr id="8" name="Text 6"/>
          <p:cNvSpPr/>
          <p:nvPr/>
        </p:nvSpPr>
        <p:spPr>
          <a:xfrm>
            <a:off x="914400" y="2212848"/>
            <a:ext cx="4800600" cy="118872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The constraint between SA and NSW is one edge. It yields two arcs that have to be checked separately: SA -&gt; NSW and NSW -&gt; SA. They can give different answers.</a:t>
            </a:r>
            <a:endParaRPr lang="en-US" sz="1350" dirty="0"/>
          </a:p>
        </p:txBody>
      </p:sp>
      <p:sp>
        <p:nvSpPr>
          <p:cNvPr id="9" name="Shape 7"/>
          <p:cNvSpPr/>
          <p:nvPr/>
        </p:nvSpPr>
        <p:spPr>
          <a:xfrm>
            <a:off x="6263640" y="1645920"/>
            <a:ext cx="5285232" cy="1920240"/>
          </a:xfrm>
          <a:prstGeom prst="roundRect">
            <a:avLst>
              <a:gd name="adj" fmla="val 2857"/>
            </a:avLst>
          </a:prstGeom>
          <a:solidFill>
            <a:srgbClr val="FBEDEF"/>
          </a:solidFill>
          <a:ln w="9525">
            <a:solidFill>
              <a:srgbClr val="E8B5BC"/>
            </a:solidFill>
            <a:prstDash val="solid"/>
          </a:ln>
        </p:spPr>
      </p:sp>
      <p:sp>
        <p:nvSpPr>
          <p:cNvPr id="10" name="Text 8"/>
          <p:cNvSpPr/>
          <p:nvPr/>
        </p:nvSpPr>
        <p:spPr>
          <a:xfrm>
            <a:off x="6537960" y="1810512"/>
            <a:ext cx="4754880" cy="320040"/>
          </a:xfrm>
          <a:prstGeom prst="rect">
            <a:avLst/>
          </a:prstGeom>
          <a:noFill/>
          <a:ln/>
        </p:spPr>
        <p:txBody>
          <a:bodyPr wrap="square" lIns="0" tIns="0" rIns="0" bIns="0" rtlCol="0" anchor="ctr"/>
          <a:lstStyle/>
          <a:p>
            <a:pPr indent="0" marL="0">
              <a:buNone/>
            </a:pPr>
            <a:r>
              <a:rPr lang="en-US" sz="1800" b="1" dirty="0">
                <a:solidFill>
                  <a:srgbClr val="CB132A"/>
                </a:solidFill>
                <a:latin typeface="Cambria" pitchFamily="34" charset="0"/>
                <a:ea typeface="Cambria" pitchFamily="34" charset="-122"/>
                <a:cs typeface="Cambria" pitchFamily="34" charset="-120"/>
              </a:rPr>
              <a:t>Definition</a:t>
            </a:r>
            <a:endParaRPr lang="en-US" sz="1800" dirty="0"/>
          </a:p>
        </p:txBody>
      </p:sp>
      <p:sp>
        <p:nvSpPr>
          <p:cNvPr id="11" name="Text 9"/>
          <p:cNvSpPr/>
          <p:nvPr/>
        </p:nvSpPr>
        <p:spPr>
          <a:xfrm>
            <a:off x="6537960" y="2157984"/>
            <a:ext cx="4754880" cy="9144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Arc X -&gt; Y is consistent if, for every value x remaining in X's domain (the tail), there is some value y remaining in Y's domain (the head) that satisfies the constraint.</a:t>
            </a:r>
            <a:endParaRPr lang="en-US" sz="1350" dirty="0"/>
          </a:p>
        </p:txBody>
      </p:sp>
      <p:sp>
        <p:nvSpPr>
          <p:cNvPr id="12" name="Text 10"/>
          <p:cNvSpPr/>
          <p:nvPr/>
        </p:nvSpPr>
        <p:spPr>
          <a:xfrm>
            <a:off x="6537960" y="3108960"/>
            <a:ext cx="4754880" cy="320040"/>
          </a:xfrm>
          <a:prstGeom prst="rect">
            <a:avLst/>
          </a:prstGeom>
          <a:noFill/>
          <a:ln/>
        </p:spPr>
        <p:txBody>
          <a:bodyPr wrap="square" lIns="0" tIns="0" rIns="0" bIns="0" rtlCol="0" anchor="ctr"/>
          <a:lstStyle/>
          <a:p>
            <a:pPr indent="0" marL="0">
              <a:buNone/>
            </a:pPr>
            <a:r>
              <a:rPr lang="en-US" sz="1300" b="1" i="1" dirty="0">
                <a:solidFill>
                  <a:srgbClr val="CB132A"/>
                </a:solidFill>
                <a:latin typeface="Calibri" pitchFamily="34" charset="0"/>
                <a:ea typeface="Calibri" pitchFamily="34" charset="-122"/>
                <a:cs typeface="Calibri" pitchFamily="34" charset="-120"/>
              </a:rPr>
              <a:t>Every in the tail, some in the head.</a:t>
            </a:r>
            <a:endParaRPr lang="en-US" sz="1300" dirty="0"/>
          </a:p>
        </p:txBody>
      </p:sp>
      <p:sp>
        <p:nvSpPr>
          <p:cNvPr id="13" name="Shape 11"/>
          <p:cNvSpPr/>
          <p:nvPr/>
        </p:nvSpPr>
        <p:spPr>
          <a:xfrm>
            <a:off x="640080" y="3749040"/>
            <a:ext cx="10908792" cy="1234440"/>
          </a:xfrm>
          <a:prstGeom prst="roundRect">
            <a:avLst>
              <a:gd name="adj" fmla="val 4444"/>
            </a:avLst>
          </a:prstGeom>
          <a:solidFill>
            <a:srgbClr val="1C1E21"/>
          </a:solidFill>
          <a:ln w="9525">
            <a:solidFill>
              <a:srgbClr val="1C1E21"/>
            </a:solidFill>
            <a:prstDash val="solid"/>
          </a:ln>
        </p:spPr>
      </p:sp>
      <p:sp>
        <p:nvSpPr>
          <p:cNvPr id="14" name="Text 12"/>
          <p:cNvSpPr/>
          <p:nvPr/>
        </p:nvSpPr>
        <p:spPr>
          <a:xfrm>
            <a:off x="960120" y="3749040"/>
            <a:ext cx="10268712" cy="1234440"/>
          </a:xfrm>
          <a:prstGeom prst="rect">
            <a:avLst/>
          </a:prstGeom>
          <a:noFill/>
          <a:ln/>
        </p:spPr>
        <p:txBody>
          <a:bodyPr wrap="square" lIns="0" tIns="0" rIns="0" bIns="0" rtlCol="0" anchor="ctr"/>
          <a:lstStyle/>
          <a:p>
            <a:pPr indent="0" marL="0">
              <a:buNone/>
            </a:pPr>
            <a:r>
              <a:rPr lang="en-US" sz="1600" b="1" dirty="0">
                <a:solidFill>
                  <a:srgbClr val="CB132A"/>
                </a:solidFill>
                <a:latin typeface="Calibri" pitchFamily="34" charset="0"/>
                <a:ea typeface="Calibri" pitchFamily="34" charset="-122"/>
                <a:cs typeface="Calibri" pitchFamily="34" charset="-120"/>
              </a:rPr>
              <a:t>To make an arc consistent, delete from the tail. </a:t>
            </a:r>
            <a:pPr indent="0" marL="0">
              <a:buNone/>
            </a:pPr>
            <a:r>
              <a:rPr lang="en-US" sz="1450" dirty="0">
                <a:solidFill>
                  <a:srgbClr val="FFFFFF"/>
                </a:solidFill>
                <a:latin typeface="Calibri" pitchFamily="34" charset="0"/>
                <a:ea typeface="Calibri" pitchFamily="34" charset="-122"/>
                <a:cs typeface="Calibri" pitchFamily="34" charset="-120"/>
              </a:rPr>
              <a:t>Never from the head. If a tail value has no surviving partner, that value can never appear in any solution, so it goes. The head is the evidence, not the defendant.</a:t>
            </a:r>
            <a:endParaRPr lang="en-US" sz="1450" dirty="0"/>
          </a:p>
        </p:txBody>
      </p:sp>
      <p:sp>
        <p:nvSpPr>
          <p:cNvPr id="15" name="Shape 13"/>
          <p:cNvSpPr/>
          <p:nvPr/>
        </p:nvSpPr>
        <p:spPr>
          <a:xfrm>
            <a:off x="640080" y="5166360"/>
            <a:ext cx="10908792" cy="960120"/>
          </a:xfrm>
          <a:prstGeom prst="roundRect">
            <a:avLst>
              <a:gd name="adj" fmla="val 5714"/>
            </a:avLst>
          </a:prstGeom>
          <a:solidFill>
            <a:srgbClr val="F6F7F8"/>
          </a:solidFill>
          <a:ln w="9525">
            <a:solidFill>
              <a:srgbClr val="D3D6D9"/>
            </a:solidFill>
            <a:prstDash val="solid"/>
          </a:ln>
        </p:spPr>
      </p:sp>
      <p:sp>
        <p:nvSpPr>
          <p:cNvPr id="16" name="Text 14"/>
          <p:cNvSpPr/>
          <p:nvPr/>
        </p:nvSpPr>
        <p:spPr>
          <a:xfrm>
            <a:off x="914400" y="5257800"/>
            <a:ext cx="457200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Forward checking, restated</a:t>
            </a:r>
            <a:endParaRPr lang="en-US" sz="1600" dirty="0"/>
          </a:p>
        </p:txBody>
      </p:sp>
      <p:sp>
        <p:nvSpPr>
          <p:cNvPr id="17" name="Text 15"/>
          <p:cNvSpPr/>
          <p:nvPr/>
        </p:nvSpPr>
        <p:spPr>
          <a:xfrm>
            <a:off x="914400" y="5559552"/>
            <a:ext cx="10332720" cy="50292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Forward checking is exactly this operation, run only on the arcs pointing into the variable you just assigned. Arc consistency is the same operation run on every arc in the graph - including arcs nowhere near your last move. That is precisely the difference that catches NT and SA.</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37</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Four arcs, worked</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Given WA = red</a:t>
            </a:r>
            <a:endParaRPr lang="en-US" sz="1400" dirty="0"/>
          </a:p>
        </p:txBody>
      </p:sp>
      <p:sp>
        <p:nvSpPr>
          <p:cNvPr id="6" name="Shape 4"/>
          <p:cNvSpPr/>
          <p:nvPr/>
        </p:nvSpPr>
        <p:spPr>
          <a:xfrm>
            <a:off x="640080" y="1691640"/>
            <a:ext cx="10908792" cy="914400"/>
          </a:xfrm>
          <a:prstGeom prst="roundRect">
            <a:avLst>
              <a:gd name="adj" fmla="val 6000"/>
            </a:avLst>
          </a:prstGeom>
          <a:solidFill>
            <a:srgbClr val="FBEDEF"/>
          </a:solidFill>
          <a:ln w="9525">
            <a:solidFill>
              <a:srgbClr val="E8B5BC"/>
            </a:solidFill>
            <a:prstDash val="solid"/>
          </a:ln>
        </p:spPr>
      </p:sp>
      <p:sp>
        <p:nvSpPr>
          <p:cNvPr id="7" name="Text 5"/>
          <p:cNvSpPr/>
          <p:nvPr/>
        </p:nvSpPr>
        <p:spPr>
          <a:xfrm>
            <a:off x="914400" y="1691640"/>
            <a:ext cx="1737360" cy="914400"/>
          </a:xfrm>
          <a:prstGeom prst="rect">
            <a:avLst/>
          </a:prstGeom>
          <a:noFill/>
          <a:ln/>
        </p:spPr>
        <p:txBody>
          <a:bodyPr wrap="square" lIns="0" tIns="0" rIns="0" bIns="0" rtlCol="0" anchor="ctr"/>
          <a:lstStyle/>
          <a:p>
            <a:pPr indent="0" marL="0">
              <a:buNone/>
            </a:pPr>
            <a:r>
              <a:rPr lang="en-US" sz="1400" b="1" dirty="0">
                <a:solidFill>
                  <a:srgbClr val="1C1E21"/>
                </a:solidFill>
                <a:latin typeface="Courier New" pitchFamily="34" charset="0"/>
                <a:ea typeface="Courier New" pitchFamily="34" charset="-122"/>
                <a:cs typeface="Courier New" pitchFamily="34" charset="-120"/>
              </a:rPr>
              <a:t>NT -&gt; WA</a:t>
            </a:r>
            <a:endParaRPr lang="en-US" sz="1400" dirty="0"/>
          </a:p>
        </p:txBody>
      </p:sp>
      <p:sp>
        <p:nvSpPr>
          <p:cNvPr id="8" name="Text 6"/>
          <p:cNvSpPr/>
          <p:nvPr/>
        </p:nvSpPr>
        <p:spPr>
          <a:xfrm>
            <a:off x="2697480" y="1691640"/>
            <a:ext cx="1691640" cy="914400"/>
          </a:xfrm>
          <a:prstGeom prst="rect">
            <a:avLst/>
          </a:prstGeom>
          <a:noFill/>
          <a:ln/>
        </p:spPr>
        <p:txBody>
          <a:bodyPr wrap="square" lIns="0" tIns="0" rIns="0" bIns="0" rtlCol="0" anchor="ctr"/>
          <a:lstStyle/>
          <a:p>
            <a:pPr indent="0" marL="0">
              <a:buNone/>
            </a:pPr>
            <a:r>
              <a:rPr lang="en-US" sz="1250" b="1" dirty="0">
                <a:solidFill>
                  <a:srgbClr val="CB132A"/>
                </a:solidFill>
                <a:latin typeface="Calibri" pitchFamily="34" charset="0"/>
                <a:ea typeface="Calibri" pitchFamily="34" charset="-122"/>
                <a:cs typeface="Calibri" pitchFamily="34" charset="-120"/>
              </a:rPr>
              <a:t>inconsistent</a:t>
            </a:r>
            <a:endParaRPr lang="en-US" sz="1250" dirty="0"/>
          </a:p>
        </p:txBody>
      </p:sp>
      <p:sp>
        <p:nvSpPr>
          <p:cNvPr id="9" name="Text 7"/>
          <p:cNvSpPr/>
          <p:nvPr/>
        </p:nvSpPr>
        <p:spPr>
          <a:xfrm>
            <a:off x="4526280" y="1764792"/>
            <a:ext cx="6766560" cy="77724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NT still has red. WA is fixed at red, so red in NT has no legal partner. Delete red from NT.</a:t>
            </a:r>
            <a:endParaRPr lang="en-US" sz="1300" dirty="0"/>
          </a:p>
        </p:txBody>
      </p:sp>
      <p:sp>
        <p:nvSpPr>
          <p:cNvPr id="10" name="Shape 8"/>
          <p:cNvSpPr/>
          <p:nvPr/>
        </p:nvSpPr>
        <p:spPr>
          <a:xfrm>
            <a:off x="640080" y="2724912"/>
            <a:ext cx="10908792" cy="914400"/>
          </a:xfrm>
          <a:prstGeom prst="roundRect">
            <a:avLst>
              <a:gd name="adj" fmla="val 6000"/>
            </a:avLst>
          </a:prstGeom>
          <a:solidFill>
            <a:srgbClr val="F6F7F8"/>
          </a:solidFill>
          <a:ln w="9525">
            <a:solidFill>
              <a:srgbClr val="D3D6D9"/>
            </a:solidFill>
            <a:prstDash val="solid"/>
          </a:ln>
        </p:spPr>
      </p:sp>
      <p:sp>
        <p:nvSpPr>
          <p:cNvPr id="11" name="Text 9"/>
          <p:cNvSpPr/>
          <p:nvPr/>
        </p:nvSpPr>
        <p:spPr>
          <a:xfrm>
            <a:off x="914400" y="2724912"/>
            <a:ext cx="1737360" cy="914400"/>
          </a:xfrm>
          <a:prstGeom prst="rect">
            <a:avLst/>
          </a:prstGeom>
          <a:noFill/>
          <a:ln/>
        </p:spPr>
        <p:txBody>
          <a:bodyPr wrap="square" lIns="0" tIns="0" rIns="0" bIns="0" rtlCol="0" anchor="ctr"/>
          <a:lstStyle/>
          <a:p>
            <a:pPr indent="0" marL="0">
              <a:buNone/>
            </a:pPr>
            <a:r>
              <a:rPr lang="en-US" sz="1400" b="1" dirty="0">
                <a:solidFill>
                  <a:srgbClr val="1C1E21"/>
                </a:solidFill>
                <a:latin typeface="Courier New" pitchFamily="34" charset="0"/>
                <a:ea typeface="Courier New" pitchFamily="34" charset="-122"/>
                <a:cs typeface="Courier New" pitchFamily="34" charset="-120"/>
              </a:rPr>
              <a:t>Q -&gt; WA</a:t>
            </a:r>
            <a:endParaRPr lang="en-US" sz="1400" dirty="0"/>
          </a:p>
        </p:txBody>
      </p:sp>
      <p:sp>
        <p:nvSpPr>
          <p:cNvPr id="12" name="Text 10"/>
          <p:cNvSpPr/>
          <p:nvPr/>
        </p:nvSpPr>
        <p:spPr>
          <a:xfrm>
            <a:off x="2697480" y="2724912"/>
            <a:ext cx="1691640" cy="914400"/>
          </a:xfrm>
          <a:prstGeom prst="rect">
            <a:avLst/>
          </a:prstGeom>
          <a:noFill/>
          <a:ln/>
        </p:spPr>
        <p:txBody>
          <a:bodyPr wrap="square" lIns="0" tIns="0" rIns="0" bIns="0" rtlCol="0" anchor="ctr"/>
          <a:lstStyle/>
          <a:p>
            <a:pPr indent="0" marL="0">
              <a:buNone/>
            </a:pPr>
            <a:r>
              <a:rPr lang="en-US" sz="1250" b="1" dirty="0">
                <a:solidFill>
                  <a:srgbClr val="53565A"/>
                </a:solidFill>
                <a:latin typeface="Calibri" pitchFamily="34" charset="0"/>
                <a:ea typeface="Calibri" pitchFamily="34" charset="-122"/>
                <a:cs typeface="Calibri" pitchFamily="34" charset="-120"/>
              </a:rPr>
              <a:t>consistent</a:t>
            </a:r>
            <a:endParaRPr lang="en-US" sz="1250" dirty="0"/>
          </a:p>
        </p:txBody>
      </p:sp>
      <p:sp>
        <p:nvSpPr>
          <p:cNvPr id="13" name="Text 11"/>
          <p:cNvSpPr/>
          <p:nvPr/>
        </p:nvSpPr>
        <p:spPr>
          <a:xfrm>
            <a:off x="4526280" y="2798064"/>
            <a:ext cx="6766560" cy="77724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Q and WA are not adjacent, so no constraint relates them. Every value in the tail trivially has a partner. Nothing to do.</a:t>
            </a:r>
            <a:endParaRPr lang="en-US" sz="1300" dirty="0"/>
          </a:p>
        </p:txBody>
      </p:sp>
      <p:sp>
        <p:nvSpPr>
          <p:cNvPr id="14" name="Shape 12"/>
          <p:cNvSpPr/>
          <p:nvPr/>
        </p:nvSpPr>
        <p:spPr>
          <a:xfrm>
            <a:off x="640080" y="3758184"/>
            <a:ext cx="10908792" cy="914400"/>
          </a:xfrm>
          <a:prstGeom prst="roundRect">
            <a:avLst>
              <a:gd name="adj" fmla="val 6000"/>
            </a:avLst>
          </a:prstGeom>
          <a:solidFill>
            <a:srgbClr val="F6F7F8"/>
          </a:solidFill>
          <a:ln w="9525">
            <a:solidFill>
              <a:srgbClr val="D3D6D9"/>
            </a:solidFill>
            <a:prstDash val="solid"/>
          </a:ln>
        </p:spPr>
      </p:sp>
      <p:sp>
        <p:nvSpPr>
          <p:cNvPr id="15" name="Text 13"/>
          <p:cNvSpPr/>
          <p:nvPr/>
        </p:nvSpPr>
        <p:spPr>
          <a:xfrm>
            <a:off x="914400" y="3758184"/>
            <a:ext cx="1737360" cy="914400"/>
          </a:xfrm>
          <a:prstGeom prst="rect">
            <a:avLst/>
          </a:prstGeom>
          <a:noFill/>
          <a:ln/>
        </p:spPr>
        <p:txBody>
          <a:bodyPr wrap="square" lIns="0" tIns="0" rIns="0" bIns="0" rtlCol="0" anchor="ctr"/>
          <a:lstStyle/>
          <a:p>
            <a:pPr indent="0" marL="0">
              <a:buNone/>
            </a:pPr>
            <a:r>
              <a:rPr lang="en-US" sz="1400" b="1" dirty="0">
                <a:solidFill>
                  <a:srgbClr val="1C1E21"/>
                </a:solidFill>
                <a:latin typeface="Courier New" pitchFamily="34" charset="0"/>
                <a:ea typeface="Courier New" pitchFamily="34" charset="-122"/>
                <a:cs typeface="Courier New" pitchFamily="34" charset="-120"/>
              </a:rPr>
              <a:t>SA -&gt; NSW</a:t>
            </a:r>
            <a:endParaRPr lang="en-US" sz="1400" dirty="0"/>
          </a:p>
        </p:txBody>
      </p:sp>
      <p:sp>
        <p:nvSpPr>
          <p:cNvPr id="16" name="Text 14"/>
          <p:cNvSpPr/>
          <p:nvPr/>
        </p:nvSpPr>
        <p:spPr>
          <a:xfrm>
            <a:off x="2697480" y="3758184"/>
            <a:ext cx="1691640" cy="914400"/>
          </a:xfrm>
          <a:prstGeom prst="rect">
            <a:avLst/>
          </a:prstGeom>
          <a:noFill/>
          <a:ln/>
        </p:spPr>
        <p:txBody>
          <a:bodyPr wrap="square" lIns="0" tIns="0" rIns="0" bIns="0" rtlCol="0" anchor="ctr"/>
          <a:lstStyle/>
          <a:p>
            <a:pPr indent="0" marL="0">
              <a:buNone/>
            </a:pPr>
            <a:r>
              <a:rPr lang="en-US" sz="1250" b="1" dirty="0">
                <a:solidFill>
                  <a:srgbClr val="53565A"/>
                </a:solidFill>
                <a:latin typeface="Calibri" pitchFamily="34" charset="0"/>
                <a:ea typeface="Calibri" pitchFamily="34" charset="-122"/>
                <a:cs typeface="Calibri" pitchFamily="34" charset="-120"/>
              </a:rPr>
              <a:t>consistent</a:t>
            </a:r>
            <a:endParaRPr lang="en-US" sz="1250" dirty="0"/>
          </a:p>
        </p:txBody>
      </p:sp>
      <p:sp>
        <p:nvSpPr>
          <p:cNvPr id="17" name="Text 15"/>
          <p:cNvSpPr/>
          <p:nvPr/>
        </p:nvSpPr>
        <p:spPr>
          <a:xfrm>
            <a:off x="4526280" y="3831336"/>
            <a:ext cx="6766560" cy="77724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Every value left in SA has at least one legal partner in NSW. No deletion.</a:t>
            </a:r>
            <a:endParaRPr lang="en-US" sz="1300" dirty="0"/>
          </a:p>
        </p:txBody>
      </p:sp>
      <p:sp>
        <p:nvSpPr>
          <p:cNvPr id="18" name="Shape 16"/>
          <p:cNvSpPr/>
          <p:nvPr/>
        </p:nvSpPr>
        <p:spPr>
          <a:xfrm>
            <a:off x="640080" y="4791456"/>
            <a:ext cx="10908792" cy="914400"/>
          </a:xfrm>
          <a:prstGeom prst="roundRect">
            <a:avLst>
              <a:gd name="adj" fmla="val 6000"/>
            </a:avLst>
          </a:prstGeom>
          <a:solidFill>
            <a:srgbClr val="FBEDEF"/>
          </a:solidFill>
          <a:ln w="9525">
            <a:solidFill>
              <a:srgbClr val="E8B5BC"/>
            </a:solidFill>
            <a:prstDash val="solid"/>
          </a:ln>
        </p:spPr>
      </p:sp>
      <p:sp>
        <p:nvSpPr>
          <p:cNvPr id="19" name="Text 17"/>
          <p:cNvSpPr/>
          <p:nvPr/>
        </p:nvSpPr>
        <p:spPr>
          <a:xfrm>
            <a:off x="914400" y="4791456"/>
            <a:ext cx="1737360" cy="914400"/>
          </a:xfrm>
          <a:prstGeom prst="rect">
            <a:avLst/>
          </a:prstGeom>
          <a:noFill/>
          <a:ln/>
        </p:spPr>
        <p:txBody>
          <a:bodyPr wrap="square" lIns="0" tIns="0" rIns="0" bIns="0" rtlCol="0" anchor="ctr"/>
          <a:lstStyle/>
          <a:p>
            <a:pPr indent="0" marL="0">
              <a:buNone/>
            </a:pPr>
            <a:r>
              <a:rPr lang="en-US" sz="1400" b="1" dirty="0">
                <a:solidFill>
                  <a:srgbClr val="1C1E21"/>
                </a:solidFill>
                <a:latin typeface="Courier New" pitchFamily="34" charset="0"/>
                <a:ea typeface="Courier New" pitchFamily="34" charset="-122"/>
                <a:cs typeface="Courier New" pitchFamily="34" charset="-120"/>
              </a:rPr>
              <a:t>NSW -&gt; SA</a:t>
            </a:r>
            <a:endParaRPr lang="en-US" sz="1400" dirty="0"/>
          </a:p>
        </p:txBody>
      </p:sp>
      <p:sp>
        <p:nvSpPr>
          <p:cNvPr id="20" name="Text 18"/>
          <p:cNvSpPr/>
          <p:nvPr/>
        </p:nvSpPr>
        <p:spPr>
          <a:xfrm>
            <a:off x="2697480" y="4791456"/>
            <a:ext cx="1691640" cy="914400"/>
          </a:xfrm>
          <a:prstGeom prst="rect">
            <a:avLst/>
          </a:prstGeom>
          <a:noFill/>
          <a:ln/>
        </p:spPr>
        <p:txBody>
          <a:bodyPr wrap="square" lIns="0" tIns="0" rIns="0" bIns="0" rtlCol="0" anchor="ctr"/>
          <a:lstStyle/>
          <a:p>
            <a:pPr indent="0" marL="0">
              <a:buNone/>
            </a:pPr>
            <a:r>
              <a:rPr lang="en-US" sz="1250" b="1" dirty="0">
                <a:solidFill>
                  <a:srgbClr val="CB132A"/>
                </a:solidFill>
                <a:latin typeface="Calibri" pitchFamily="34" charset="0"/>
                <a:ea typeface="Calibri" pitchFamily="34" charset="-122"/>
                <a:cs typeface="Calibri" pitchFamily="34" charset="-120"/>
              </a:rPr>
              <a:t>inconsistent</a:t>
            </a:r>
            <a:endParaRPr lang="en-US" sz="1250" dirty="0"/>
          </a:p>
        </p:txBody>
      </p:sp>
      <p:sp>
        <p:nvSpPr>
          <p:cNvPr id="21" name="Text 19"/>
          <p:cNvSpPr/>
          <p:nvPr/>
        </p:nvSpPr>
        <p:spPr>
          <a:xfrm>
            <a:off x="4526280" y="4864608"/>
            <a:ext cx="6766560" cy="77724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Swap tail and head and the answer changes. A value in NSW is left with no partner in SA and must go. Direction matters.</a:t>
            </a:r>
            <a:endParaRPr lang="en-US" sz="1300" dirty="0"/>
          </a:p>
        </p:txBody>
      </p:sp>
      <p:sp>
        <p:nvSpPr>
          <p:cNvPr id="22" name="Shape 20"/>
          <p:cNvSpPr/>
          <p:nvPr/>
        </p:nvSpPr>
        <p:spPr>
          <a:xfrm>
            <a:off x="640080" y="5833872"/>
            <a:ext cx="10908792" cy="420624"/>
          </a:xfrm>
          <a:prstGeom prst="roundRect">
            <a:avLst>
              <a:gd name="adj" fmla="val 13043"/>
            </a:avLst>
          </a:prstGeom>
          <a:solidFill>
            <a:srgbClr val="1C1E21"/>
          </a:solidFill>
          <a:ln w="9525">
            <a:solidFill>
              <a:srgbClr val="1C1E21"/>
            </a:solidFill>
            <a:prstDash val="solid"/>
          </a:ln>
        </p:spPr>
      </p:sp>
      <p:sp>
        <p:nvSpPr>
          <p:cNvPr id="23" name="Text 21"/>
          <p:cNvSpPr/>
          <p:nvPr/>
        </p:nvSpPr>
        <p:spPr>
          <a:xfrm>
            <a:off x="960120" y="5833872"/>
            <a:ext cx="10268712" cy="420624"/>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And now the cascade: once NSW loses a value, every arc pointing into NSW that you already declared consistent may no longer be.</a:t>
            </a:r>
            <a:endParaRPr lang="en-US" sz="12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38</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Deletions ripple</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Which is why one pass over the arcs is not enough</a:t>
            </a:r>
            <a:endParaRPr lang="en-US" sz="1400" dirty="0"/>
          </a:p>
        </p:txBody>
      </p:sp>
      <p:sp>
        <p:nvSpPr>
          <p:cNvPr id="6" name="Shape 4"/>
          <p:cNvSpPr/>
          <p:nvPr/>
        </p:nvSpPr>
        <p:spPr>
          <a:xfrm>
            <a:off x="640080" y="1691640"/>
            <a:ext cx="10908792" cy="914400"/>
          </a:xfrm>
          <a:prstGeom prst="roundRect">
            <a:avLst>
              <a:gd name="adj" fmla="val 6000"/>
            </a:avLst>
          </a:prstGeom>
          <a:solidFill>
            <a:srgbClr val="F6F7F8"/>
          </a:solidFill>
          <a:ln w="9525">
            <a:solidFill>
              <a:srgbClr val="D3D6D9"/>
            </a:solidFill>
            <a:prstDash val="solid"/>
          </a:ln>
        </p:spPr>
      </p:sp>
      <p:sp>
        <p:nvSpPr>
          <p:cNvPr id="7" name="Shape 5"/>
          <p:cNvSpPr/>
          <p:nvPr/>
        </p:nvSpPr>
        <p:spPr>
          <a:xfrm>
            <a:off x="914400" y="1965960"/>
            <a:ext cx="365760" cy="365760"/>
          </a:xfrm>
          <a:prstGeom prst="ellipse">
            <a:avLst/>
          </a:prstGeom>
          <a:solidFill>
            <a:srgbClr val="CB132A"/>
          </a:solidFill>
          <a:ln w="12700">
            <a:solidFill>
              <a:srgbClr val="CB132A"/>
            </a:solidFill>
            <a:prstDash val="solid"/>
          </a:ln>
        </p:spPr>
      </p:sp>
      <p:sp>
        <p:nvSpPr>
          <p:cNvPr id="8" name="Text 6"/>
          <p:cNvSpPr/>
          <p:nvPr/>
        </p:nvSpPr>
        <p:spPr>
          <a:xfrm>
            <a:off x="914400" y="19659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463040" y="1810512"/>
            <a:ext cx="5394960" cy="365760"/>
          </a:xfrm>
          <a:prstGeom prst="rect">
            <a:avLst/>
          </a:prstGeom>
          <a:noFill/>
          <a:ln/>
        </p:spPr>
        <p:txBody>
          <a:bodyPr wrap="square" lIns="0" tIns="0" rIns="0" bIns="0" rtlCol="0" anchor="ctr"/>
          <a:lstStyle/>
          <a:p>
            <a:pPr indent="0" marL="0">
              <a:buNone/>
            </a:pPr>
            <a:r>
              <a:rPr lang="en-US" sz="1450" b="1" dirty="0">
                <a:solidFill>
                  <a:srgbClr val="1C1E21"/>
                </a:solidFill>
                <a:latin typeface="Calibri" pitchFamily="34" charset="0"/>
                <a:ea typeface="Calibri" pitchFamily="34" charset="-122"/>
                <a:cs typeface="Calibri" pitchFamily="34" charset="-120"/>
              </a:rPr>
              <a:t>You check SA -&gt; NSW and declare it consistent.</a:t>
            </a:r>
            <a:endParaRPr lang="en-US" sz="1450" dirty="0"/>
          </a:p>
        </p:txBody>
      </p:sp>
      <p:sp>
        <p:nvSpPr>
          <p:cNvPr id="10" name="Text 8"/>
          <p:cNvSpPr/>
          <p:nvPr/>
        </p:nvSpPr>
        <p:spPr>
          <a:xfrm>
            <a:off x="1463040" y="2157984"/>
            <a:ext cx="9692640" cy="36576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Every SA value had a partner in NSW at that moment.</a:t>
            </a:r>
            <a:endParaRPr lang="en-US" sz="1250" dirty="0"/>
          </a:p>
        </p:txBody>
      </p:sp>
      <p:sp>
        <p:nvSpPr>
          <p:cNvPr id="11" name="Shape 9"/>
          <p:cNvSpPr/>
          <p:nvPr/>
        </p:nvSpPr>
        <p:spPr>
          <a:xfrm>
            <a:off x="640080" y="2724912"/>
            <a:ext cx="10908792" cy="914400"/>
          </a:xfrm>
          <a:prstGeom prst="roundRect">
            <a:avLst>
              <a:gd name="adj" fmla="val 6000"/>
            </a:avLst>
          </a:prstGeom>
          <a:solidFill>
            <a:srgbClr val="F6F7F8"/>
          </a:solidFill>
          <a:ln w="9525">
            <a:solidFill>
              <a:srgbClr val="D3D6D9"/>
            </a:solidFill>
            <a:prstDash val="solid"/>
          </a:ln>
        </p:spPr>
      </p:sp>
      <p:sp>
        <p:nvSpPr>
          <p:cNvPr id="12" name="Shape 10"/>
          <p:cNvSpPr/>
          <p:nvPr/>
        </p:nvSpPr>
        <p:spPr>
          <a:xfrm>
            <a:off x="914400" y="2999232"/>
            <a:ext cx="365760" cy="365760"/>
          </a:xfrm>
          <a:prstGeom prst="ellipse">
            <a:avLst/>
          </a:prstGeom>
          <a:solidFill>
            <a:srgbClr val="CB132A"/>
          </a:solidFill>
          <a:ln w="12700">
            <a:solidFill>
              <a:srgbClr val="CB132A"/>
            </a:solidFill>
            <a:prstDash val="solid"/>
          </a:ln>
        </p:spPr>
      </p:sp>
      <p:sp>
        <p:nvSpPr>
          <p:cNvPr id="13" name="Text 11"/>
          <p:cNvSpPr/>
          <p:nvPr/>
        </p:nvSpPr>
        <p:spPr>
          <a:xfrm>
            <a:off x="914400" y="29992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463040" y="2843784"/>
            <a:ext cx="5394960" cy="365760"/>
          </a:xfrm>
          <a:prstGeom prst="rect">
            <a:avLst/>
          </a:prstGeom>
          <a:noFill/>
          <a:ln/>
        </p:spPr>
        <p:txBody>
          <a:bodyPr wrap="square" lIns="0" tIns="0" rIns="0" bIns="0" rtlCol="0" anchor="ctr"/>
          <a:lstStyle/>
          <a:p>
            <a:pPr indent="0" marL="0">
              <a:buNone/>
            </a:pPr>
            <a:r>
              <a:rPr lang="en-US" sz="1450" b="1" dirty="0">
                <a:solidFill>
                  <a:srgbClr val="1C1E21"/>
                </a:solidFill>
                <a:latin typeface="Calibri" pitchFamily="34" charset="0"/>
                <a:ea typeface="Calibri" pitchFamily="34" charset="-122"/>
                <a:cs typeface="Calibri" pitchFamily="34" charset="-120"/>
              </a:rPr>
              <a:t>Later, some other arc deletes a value from NSW's domain.</a:t>
            </a:r>
            <a:endParaRPr lang="en-US" sz="1450" dirty="0"/>
          </a:p>
        </p:txBody>
      </p:sp>
      <p:sp>
        <p:nvSpPr>
          <p:cNvPr id="15" name="Text 13"/>
          <p:cNvSpPr/>
          <p:nvPr/>
        </p:nvSpPr>
        <p:spPr>
          <a:xfrm>
            <a:off x="1463040" y="3191256"/>
            <a:ext cx="9692640" cy="36576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Perfectly legal - that value had no support of its own.</a:t>
            </a:r>
            <a:endParaRPr lang="en-US" sz="1250" dirty="0"/>
          </a:p>
        </p:txBody>
      </p:sp>
      <p:sp>
        <p:nvSpPr>
          <p:cNvPr id="16" name="Shape 14"/>
          <p:cNvSpPr/>
          <p:nvPr/>
        </p:nvSpPr>
        <p:spPr>
          <a:xfrm>
            <a:off x="640080" y="3758184"/>
            <a:ext cx="10908792" cy="914400"/>
          </a:xfrm>
          <a:prstGeom prst="roundRect">
            <a:avLst>
              <a:gd name="adj" fmla="val 6000"/>
            </a:avLst>
          </a:prstGeom>
          <a:solidFill>
            <a:srgbClr val="F6F7F8"/>
          </a:solidFill>
          <a:ln w="9525">
            <a:solidFill>
              <a:srgbClr val="D3D6D9"/>
            </a:solidFill>
            <a:prstDash val="solid"/>
          </a:ln>
        </p:spPr>
      </p:sp>
      <p:sp>
        <p:nvSpPr>
          <p:cNvPr id="17" name="Shape 15"/>
          <p:cNvSpPr/>
          <p:nvPr/>
        </p:nvSpPr>
        <p:spPr>
          <a:xfrm>
            <a:off x="914400" y="4032504"/>
            <a:ext cx="365760" cy="365760"/>
          </a:xfrm>
          <a:prstGeom prst="ellipse">
            <a:avLst/>
          </a:prstGeom>
          <a:solidFill>
            <a:srgbClr val="CB132A"/>
          </a:solidFill>
          <a:ln w="12700">
            <a:solidFill>
              <a:srgbClr val="CB132A"/>
            </a:solidFill>
            <a:prstDash val="solid"/>
          </a:ln>
        </p:spPr>
      </p:sp>
      <p:sp>
        <p:nvSpPr>
          <p:cNvPr id="18" name="Text 16"/>
          <p:cNvSpPr/>
          <p:nvPr/>
        </p:nvSpPr>
        <p:spPr>
          <a:xfrm>
            <a:off x="914400" y="40325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463040" y="3877056"/>
            <a:ext cx="5394960" cy="365760"/>
          </a:xfrm>
          <a:prstGeom prst="rect">
            <a:avLst/>
          </a:prstGeom>
          <a:noFill/>
          <a:ln/>
        </p:spPr>
        <p:txBody>
          <a:bodyPr wrap="square" lIns="0" tIns="0" rIns="0" bIns="0" rtlCol="0" anchor="ctr"/>
          <a:lstStyle/>
          <a:p>
            <a:pPr indent="0" marL="0">
              <a:buNone/>
            </a:pPr>
            <a:r>
              <a:rPr lang="en-US" sz="1450" b="1" dirty="0">
                <a:solidFill>
                  <a:srgbClr val="1C1E21"/>
                </a:solidFill>
                <a:latin typeface="Calibri" pitchFamily="34" charset="0"/>
                <a:ea typeface="Calibri" pitchFamily="34" charset="-122"/>
                <a:cs typeface="Calibri" pitchFamily="34" charset="-120"/>
              </a:rPr>
              <a:t>SA -&gt; NSW may now be inconsistent.</a:t>
            </a:r>
            <a:endParaRPr lang="en-US" sz="1450" dirty="0"/>
          </a:p>
        </p:txBody>
      </p:sp>
      <p:sp>
        <p:nvSpPr>
          <p:cNvPr id="20" name="Text 18"/>
          <p:cNvSpPr/>
          <p:nvPr/>
        </p:nvSpPr>
        <p:spPr>
          <a:xfrm>
            <a:off x="1463040" y="4224528"/>
            <a:ext cx="9692640" cy="36576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The deleted NSW value may have been the only partner some SA value had.</a:t>
            </a:r>
            <a:endParaRPr lang="en-US" sz="1250" dirty="0"/>
          </a:p>
        </p:txBody>
      </p:sp>
      <p:sp>
        <p:nvSpPr>
          <p:cNvPr id="21" name="Shape 19"/>
          <p:cNvSpPr/>
          <p:nvPr/>
        </p:nvSpPr>
        <p:spPr>
          <a:xfrm>
            <a:off x="640080" y="4791456"/>
            <a:ext cx="10908792" cy="914400"/>
          </a:xfrm>
          <a:prstGeom prst="roundRect">
            <a:avLst>
              <a:gd name="adj" fmla="val 6000"/>
            </a:avLst>
          </a:prstGeom>
          <a:solidFill>
            <a:srgbClr val="FBEDEF"/>
          </a:solidFill>
          <a:ln w="9525">
            <a:solidFill>
              <a:srgbClr val="E8B5BC"/>
            </a:solidFill>
            <a:prstDash val="solid"/>
          </a:ln>
        </p:spPr>
      </p:sp>
      <p:sp>
        <p:nvSpPr>
          <p:cNvPr id="22" name="Shape 20"/>
          <p:cNvSpPr/>
          <p:nvPr/>
        </p:nvSpPr>
        <p:spPr>
          <a:xfrm>
            <a:off x="914400" y="5065776"/>
            <a:ext cx="365760" cy="365760"/>
          </a:xfrm>
          <a:prstGeom prst="ellipse">
            <a:avLst/>
          </a:prstGeom>
          <a:solidFill>
            <a:srgbClr val="CB132A"/>
          </a:solidFill>
          <a:ln w="12700">
            <a:solidFill>
              <a:srgbClr val="CB132A"/>
            </a:solidFill>
            <a:prstDash val="solid"/>
          </a:ln>
        </p:spPr>
      </p:sp>
      <p:sp>
        <p:nvSpPr>
          <p:cNvPr id="23" name="Text 21"/>
          <p:cNvSpPr/>
          <p:nvPr/>
        </p:nvSpPr>
        <p:spPr>
          <a:xfrm>
            <a:off x="914400" y="506577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4" name="Text 22"/>
          <p:cNvSpPr/>
          <p:nvPr/>
        </p:nvSpPr>
        <p:spPr>
          <a:xfrm>
            <a:off x="1463040" y="4910328"/>
            <a:ext cx="5394960" cy="365760"/>
          </a:xfrm>
          <a:prstGeom prst="rect">
            <a:avLst/>
          </a:prstGeom>
          <a:noFill/>
          <a:ln/>
        </p:spPr>
        <p:txBody>
          <a:bodyPr wrap="square" lIns="0" tIns="0" rIns="0" bIns="0" rtlCol="0" anchor="ctr"/>
          <a:lstStyle/>
          <a:p>
            <a:pPr indent="0" marL="0">
              <a:buNone/>
            </a:pPr>
            <a:r>
              <a:rPr lang="en-US" sz="1450" b="1" dirty="0">
                <a:solidFill>
                  <a:srgbClr val="CB132A"/>
                </a:solidFill>
                <a:latin typeface="Calibri" pitchFamily="34" charset="0"/>
                <a:ea typeface="Calibri" pitchFamily="34" charset="-122"/>
                <a:cs typeface="Calibri" pitchFamily="34" charset="-120"/>
              </a:rPr>
              <a:t>So SA -&gt; NSW has to go back in the queue.</a:t>
            </a:r>
            <a:endParaRPr lang="en-US" sz="1450" dirty="0"/>
          </a:p>
        </p:txBody>
      </p:sp>
      <p:sp>
        <p:nvSpPr>
          <p:cNvPr id="25" name="Text 23"/>
          <p:cNvSpPr/>
          <p:nvPr/>
        </p:nvSpPr>
        <p:spPr>
          <a:xfrm>
            <a:off x="1463040" y="5257800"/>
            <a:ext cx="9692640" cy="36576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In general: if X loses a value, re-queue every arc (Z, X) for every neighbor Z of X.</a:t>
            </a:r>
            <a:endParaRPr lang="en-US" sz="1250" dirty="0"/>
          </a:p>
        </p:txBody>
      </p:sp>
      <p:sp>
        <p:nvSpPr>
          <p:cNvPr id="26" name="Shape 24"/>
          <p:cNvSpPr/>
          <p:nvPr/>
        </p:nvSpPr>
        <p:spPr>
          <a:xfrm>
            <a:off x="640080" y="5806440"/>
            <a:ext cx="10908792" cy="457200"/>
          </a:xfrm>
          <a:prstGeom prst="roundRect">
            <a:avLst>
              <a:gd name="adj" fmla="val 12000"/>
            </a:avLst>
          </a:prstGeom>
          <a:solidFill>
            <a:srgbClr val="F6F7F8"/>
          </a:solidFill>
          <a:ln w="9525">
            <a:solidFill>
              <a:srgbClr val="D3D6D9"/>
            </a:solidFill>
            <a:prstDash val="solid"/>
          </a:ln>
        </p:spPr>
      </p:sp>
      <p:sp>
        <p:nvSpPr>
          <p:cNvPr id="27" name="Text 25"/>
          <p:cNvSpPr/>
          <p:nvPr/>
        </p:nvSpPr>
        <p:spPr>
          <a:xfrm>
            <a:off x="914400" y="5806440"/>
            <a:ext cx="10360152" cy="457200"/>
          </a:xfrm>
          <a:prstGeom prst="rect">
            <a:avLst/>
          </a:prstGeom>
          <a:noFill/>
          <a:ln/>
        </p:spPr>
        <p:txBody>
          <a:bodyPr wrap="square" lIns="0" tIns="0" rIns="0" bIns="0" rtlCol="0" anchor="ctr"/>
          <a:lstStyle/>
          <a:p>
            <a:pPr indent="0" marL="0">
              <a:buNone/>
            </a:pPr>
            <a:r>
              <a:rPr lang="en-US" sz="1300" i="1" dirty="0">
                <a:solidFill>
                  <a:srgbClr val="1C1E21"/>
                </a:solidFill>
                <a:latin typeface="Calibri" pitchFamily="34" charset="0"/>
                <a:ea typeface="Calibri" pitchFamily="34" charset="-122"/>
                <a:cs typeface="Calibri" pitchFamily="34" charset="-120"/>
              </a:rPr>
              <a:t>Note the direction of the re-queue: arcs pointing INTO the variable that shrank, because those are the ones whose head just changed.</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39</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AC-3</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 queue of arcs, inside a search that already has a queue of its own</a:t>
            </a:r>
            <a:endParaRPr lang="en-US" sz="1400" dirty="0"/>
          </a:p>
        </p:txBody>
      </p:sp>
      <p:sp>
        <p:nvSpPr>
          <p:cNvPr id="6" name="Shape 4"/>
          <p:cNvSpPr/>
          <p:nvPr/>
        </p:nvSpPr>
        <p:spPr>
          <a:xfrm>
            <a:off x="640080" y="1600200"/>
            <a:ext cx="6903720" cy="3200400"/>
          </a:xfrm>
          <a:prstGeom prst="roundRect">
            <a:avLst>
              <a:gd name="adj" fmla="val 1429"/>
            </a:avLst>
          </a:prstGeom>
          <a:solidFill>
            <a:srgbClr val="F4F5F6"/>
          </a:solidFill>
          <a:ln w="9525">
            <a:solidFill>
              <a:srgbClr val="D3D6D9"/>
            </a:solidFill>
            <a:prstDash val="solid"/>
          </a:ln>
        </p:spPr>
      </p:sp>
      <p:sp>
        <p:nvSpPr>
          <p:cNvPr id="7" name="Text 5"/>
          <p:cNvSpPr/>
          <p:nvPr/>
        </p:nvSpPr>
        <p:spPr>
          <a:xfrm>
            <a:off x="786384" y="1709928"/>
            <a:ext cx="6611112" cy="2980944"/>
          </a:xfrm>
          <a:prstGeom prst="rect">
            <a:avLst/>
          </a:prstGeom>
          <a:noFill/>
          <a:ln/>
        </p:spPr>
        <p:txBody>
          <a:bodyPr wrap="square" lIns="0" tIns="0" rIns="0" bIns="0" rtlCol="0" anchor="t"/>
          <a:lstStyle/>
          <a:p>
            <a:pPr indent="0" marL="0">
              <a:lnSpc>
                <a:spcPct val="112000"/>
              </a:lnSpc>
              <a:buNone/>
            </a:pPr>
            <a:r>
              <a:rPr lang="en-US" sz="1100" b="1" dirty="0">
                <a:solidFill>
                  <a:srgbClr val="1C1E21"/>
                </a:solidFill>
                <a:latin typeface="Courier New" pitchFamily="34" charset="0"/>
                <a:ea typeface="Courier New" pitchFamily="34" charset="-122"/>
                <a:cs typeface="Courier New" pitchFamily="34" charset="-120"/>
              </a:rPr>
              <a:t>function AC-3(csp) returns the CSP, possibly with reduced domains</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queue &lt;- all arcs in csp        // both directions of every edge</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while queue is not empty do</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(Xi, Xj) &lt;- REMOVE-FIRST(queue)</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if REVISE(Xi, Xj) then</a:t>
            </a:r>
            <a:endParaRPr lang="en-US" sz="1100" dirty="0"/>
          </a:p>
          <a:p>
            <a:pPr indent="0" marL="0">
              <a:lnSpc>
                <a:spcPct val="112000"/>
              </a:lnSpc>
              <a:buNone/>
            </a:pPr>
            <a:r>
              <a:rPr lang="en-US" sz="1100" dirty="0">
                <a:solidFill>
                  <a:srgbClr val="CB132A"/>
                </a:solidFill>
                <a:latin typeface="Courier New" pitchFamily="34" charset="0"/>
                <a:ea typeface="Courier New" pitchFamily="34" charset="-122"/>
                <a:cs typeface="Courier New" pitchFamily="34" charset="-120"/>
              </a:rPr>
              <a:t>            if Di is empty then return failure</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for each Xk in NEIGHBORS(Xi) - {Xj} do</a:t>
            </a:r>
            <a:endParaRPr lang="en-US" sz="1100" dirty="0"/>
          </a:p>
          <a:p>
            <a:pPr indent="0" marL="0">
              <a:lnSpc>
                <a:spcPct val="112000"/>
              </a:lnSpc>
              <a:buNone/>
            </a:pPr>
            <a:r>
              <a:rPr lang="en-US" sz="1100" dirty="0">
                <a:solidFill>
                  <a:srgbClr val="CB132A"/>
                </a:solidFill>
                <a:latin typeface="Courier New" pitchFamily="34" charset="0"/>
                <a:ea typeface="Courier New" pitchFamily="34" charset="-122"/>
                <a:cs typeface="Courier New" pitchFamily="34" charset="-120"/>
              </a:rPr>
              <a:t>                add (Xk, Xi) to queue        // arcs INTO Xi</a:t>
            </a:r>
            <a:endParaRPr lang="en-US" sz="1100" dirty="0"/>
          </a:p>
          <a:p>
            <a:pPr indent="0" marL="0">
              <a:lnSpc>
                <a:spcPct val="112000"/>
              </a:lnSpc>
              <a:buNone/>
            </a:pPr>
            <a:endParaRPr lang="en-US" sz="1100" dirty="0"/>
          </a:p>
          <a:p>
            <a:pPr indent="0" marL="0">
              <a:lnSpc>
                <a:spcPct val="112000"/>
              </a:lnSpc>
              <a:buNone/>
            </a:pPr>
            <a:r>
              <a:rPr lang="en-US" sz="1100" b="1" dirty="0">
                <a:solidFill>
                  <a:srgbClr val="1C1E21"/>
                </a:solidFill>
                <a:latin typeface="Courier New" pitchFamily="34" charset="0"/>
                <a:ea typeface="Courier New" pitchFamily="34" charset="-122"/>
                <a:cs typeface="Courier New" pitchFamily="34" charset="-120"/>
              </a:rPr>
              <a:t>function REVISE(Xi, Xj) returns true iff Di was changed</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revised &lt;- false</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for each x in Di do</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if no y in Dj allows (x, y) to satisfy the constraint then</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delete x from Di ;  revised &lt;- true</a:t>
            </a:r>
            <a:endParaRPr lang="en-US" sz="1100" dirty="0"/>
          </a:p>
          <a:p>
            <a:pPr indent="0" marL="0">
              <a:lnSpc>
                <a:spcPct val="112000"/>
              </a:lnSpc>
              <a:buNone/>
            </a:pPr>
            <a:r>
              <a:rPr lang="en-US" sz="1100" dirty="0">
                <a:solidFill>
                  <a:srgbClr val="1C1E21"/>
                </a:solidFill>
                <a:latin typeface="Courier New" pitchFamily="34" charset="0"/>
                <a:ea typeface="Courier New" pitchFamily="34" charset="-122"/>
                <a:cs typeface="Courier New" pitchFamily="34" charset="-120"/>
              </a:rPr>
              <a:t>    return revised</a:t>
            </a:r>
            <a:endParaRPr lang="en-US" sz="1100" dirty="0"/>
          </a:p>
        </p:txBody>
      </p:sp>
      <p:sp>
        <p:nvSpPr>
          <p:cNvPr id="8" name="Shape 6"/>
          <p:cNvSpPr/>
          <p:nvPr/>
        </p:nvSpPr>
        <p:spPr>
          <a:xfrm>
            <a:off x="7818120" y="1600200"/>
            <a:ext cx="3730752" cy="1463040"/>
          </a:xfrm>
          <a:prstGeom prst="roundRect">
            <a:avLst>
              <a:gd name="adj" fmla="val 3750"/>
            </a:avLst>
          </a:prstGeom>
          <a:solidFill>
            <a:srgbClr val="FBEDEF"/>
          </a:solidFill>
          <a:ln w="9525">
            <a:solidFill>
              <a:srgbClr val="E8B5BC"/>
            </a:solidFill>
            <a:prstDash val="solid"/>
          </a:ln>
        </p:spPr>
      </p:sp>
      <p:sp>
        <p:nvSpPr>
          <p:cNvPr id="9" name="Text 7"/>
          <p:cNvSpPr/>
          <p:nvPr/>
        </p:nvSpPr>
        <p:spPr>
          <a:xfrm>
            <a:off x="8046720" y="1719072"/>
            <a:ext cx="329184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Binary only</a:t>
            </a:r>
            <a:endParaRPr lang="en-US" sz="1600" dirty="0"/>
          </a:p>
        </p:txBody>
      </p:sp>
      <p:sp>
        <p:nvSpPr>
          <p:cNvPr id="10" name="Text 8"/>
          <p:cNvSpPr/>
          <p:nvPr/>
        </p:nvSpPr>
        <p:spPr>
          <a:xfrm>
            <a:off x="8046720" y="2029968"/>
            <a:ext cx="3291840" cy="914400"/>
          </a:xfrm>
          <a:prstGeom prst="rect">
            <a:avLst/>
          </a:prstGeom>
          <a:noFill/>
          <a:ln/>
        </p:spPr>
        <p:txBody>
          <a:bodyPr wrap="square" lIns="0" tIns="0" rIns="0" bIns="0" rtlCol="0" anchor="ctr"/>
          <a:lstStyle/>
          <a:p>
            <a:pPr indent="0" marL="0">
              <a:buNone/>
            </a:pPr>
            <a:r>
              <a:rPr lang="en-US" sz="1200" dirty="0">
                <a:solidFill>
                  <a:srgbClr val="1C1E21"/>
                </a:solidFill>
                <a:latin typeface="Calibri" pitchFamily="34" charset="0"/>
                <a:ea typeface="Calibri" pitchFamily="34" charset="-122"/>
                <a:cs typeface="Calibri" pitchFamily="34" charset="-120"/>
              </a:rPr>
              <a:t>An arc relates exactly two variables. Higher-order constraints need generalized arc consistency, which we are not covering.</a:t>
            </a:r>
            <a:endParaRPr lang="en-US" sz="1200" dirty="0"/>
          </a:p>
        </p:txBody>
      </p:sp>
      <p:sp>
        <p:nvSpPr>
          <p:cNvPr id="11" name="Shape 9"/>
          <p:cNvSpPr/>
          <p:nvPr/>
        </p:nvSpPr>
        <p:spPr>
          <a:xfrm>
            <a:off x="7818120" y="3200400"/>
            <a:ext cx="3730752" cy="1600200"/>
          </a:xfrm>
          <a:prstGeom prst="roundRect">
            <a:avLst>
              <a:gd name="adj" fmla="val 3429"/>
            </a:avLst>
          </a:prstGeom>
          <a:solidFill>
            <a:srgbClr val="F6F7F8"/>
          </a:solidFill>
          <a:ln w="9525">
            <a:solidFill>
              <a:srgbClr val="D3D6D9"/>
            </a:solidFill>
            <a:prstDash val="solid"/>
          </a:ln>
        </p:spPr>
      </p:sp>
      <p:sp>
        <p:nvSpPr>
          <p:cNvPr id="12" name="Text 10"/>
          <p:cNvSpPr/>
          <p:nvPr/>
        </p:nvSpPr>
        <p:spPr>
          <a:xfrm>
            <a:off x="8046720" y="3319272"/>
            <a:ext cx="329184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Why it terminates</a:t>
            </a:r>
            <a:endParaRPr lang="en-US" sz="1600" dirty="0"/>
          </a:p>
        </p:txBody>
      </p:sp>
      <p:sp>
        <p:nvSpPr>
          <p:cNvPr id="13" name="Text 11"/>
          <p:cNvSpPr/>
          <p:nvPr/>
        </p:nvSpPr>
        <p:spPr>
          <a:xfrm>
            <a:off x="8046720" y="3630168"/>
            <a:ext cx="3291840" cy="1051560"/>
          </a:xfrm>
          <a:prstGeom prst="rect">
            <a:avLst/>
          </a:prstGeom>
          <a:noFill/>
          <a:ln/>
        </p:spPr>
        <p:txBody>
          <a:bodyPr wrap="square" lIns="0" tIns="0" rIns="0" bIns="0" rtlCol="0" anchor="ctr"/>
          <a:lstStyle/>
          <a:p>
            <a:pPr indent="0" marL="0">
              <a:buNone/>
            </a:pPr>
            <a:r>
              <a:rPr lang="en-US" sz="1200" dirty="0">
                <a:solidFill>
                  <a:srgbClr val="1C1E21"/>
                </a:solidFill>
                <a:latin typeface="Calibri" pitchFamily="34" charset="0"/>
                <a:ea typeface="Calibri" pitchFamily="34" charset="-122"/>
                <a:cs typeface="Calibri" pitchFamily="34" charset="-120"/>
              </a:rPr>
              <a:t>An arc is only re-queued when a value was actually deleted. A domain can lose at most d values before it is empty, so deletions are finite and the loop must drain.</a:t>
            </a:r>
            <a:endParaRPr lang="en-US" sz="1200" dirty="0"/>
          </a:p>
        </p:txBody>
      </p:sp>
      <p:sp>
        <p:nvSpPr>
          <p:cNvPr id="14" name="Shape 12"/>
          <p:cNvSpPr/>
          <p:nvPr/>
        </p:nvSpPr>
        <p:spPr>
          <a:xfrm>
            <a:off x="640080" y="4983480"/>
            <a:ext cx="10908792" cy="1188720"/>
          </a:xfrm>
          <a:prstGeom prst="roundRect">
            <a:avLst>
              <a:gd name="adj" fmla="val 4615"/>
            </a:avLst>
          </a:prstGeom>
          <a:solidFill>
            <a:srgbClr val="F6F7F8"/>
          </a:solidFill>
          <a:ln w="9525">
            <a:solidFill>
              <a:srgbClr val="D3D6D9"/>
            </a:solidFill>
            <a:prstDash val="solid"/>
          </a:ln>
        </p:spPr>
      </p:sp>
      <p:sp>
        <p:nvSpPr>
          <p:cNvPr id="15" name="Text 13"/>
          <p:cNvSpPr/>
          <p:nvPr/>
        </p:nvSpPr>
        <p:spPr>
          <a:xfrm>
            <a:off x="914400" y="5102352"/>
            <a:ext cx="274320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Runtime</a:t>
            </a:r>
            <a:endParaRPr lang="en-US" sz="1700" dirty="0"/>
          </a:p>
        </p:txBody>
      </p:sp>
      <p:sp>
        <p:nvSpPr>
          <p:cNvPr id="16" name="Text 14"/>
          <p:cNvSpPr/>
          <p:nvPr/>
        </p:nvSpPr>
        <p:spPr>
          <a:xfrm>
            <a:off x="914400" y="5431536"/>
            <a:ext cx="10332720" cy="68580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One REVISE costs O(d^2): every tail value against every head value. There are O(n^2) arcs, and each can be re-queued up to d times. That gives O(n^2 d^3), tightenable to O(n^2 d^2) with a smarter implementation. Polynomial - not cheap, but nothing like the search it is pruning.</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40</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What arc consistency does not give you</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After a full AC-3 pass, exactly one of three things is true</a:t>
            </a:r>
            <a:endParaRPr lang="en-US" sz="1400" dirty="0"/>
          </a:p>
        </p:txBody>
      </p:sp>
      <p:sp>
        <p:nvSpPr>
          <p:cNvPr id="6" name="Shape 4"/>
          <p:cNvSpPr/>
          <p:nvPr/>
        </p:nvSpPr>
        <p:spPr>
          <a:xfrm>
            <a:off x="640080" y="1691640"/>
            <a:ext cx="10908792" cy="960120"/>
          </a:xfrm>
          <a:prstGeom prst="roundRect">
            <a:avLst>
              <a:gd name="adj" fmla="val 5714"/>
            </a:avLst>
          </a:prstGeom>
          <a:solidFill>
            <a:srgbClr val="F6F7F8"/>
          </a:solidFill>
          <a:ln w="9525">
            <a:solidFill>
              <a:srgbClr val="D3D6D9"/>
            </a:solidFill>
            <a:prstDash val="solid"/>
          </a:ln>
        </p:spPr>
      </p:sp>
      <p:sp>
        <p:nvSpPr>
          <p:cNvPr id="7" name="Shape 5"/>
          <p:cNvSpPr/>
          <p:nvPr/>
        </p:nvSpPr>
        <p:spPr>
          <a:xfrm>
            <a:off x="914400" y="1984248"/>
            <a:ext cx="365760" cy="365760"/>
          </a:xfrm>
          <a:prstGeom prst="ellipse">
            <a:avLst/>
          </a:prstGeom>
          <a:solidFill>
            <a:srgbClr val="CB132A"/>
          </a:solidFill>
          <a:ln w="12700">
            <a:solidFill>
              <a:srgbClr val="CB132A"/>
            </a:solidFill>
            <a:prstDash val="solid"/>
          </a:ln>
        </p:spPr>
      </p:sp>
      <p:sp>
        <p:nvSpPr>
          <p:cNvPr id="8" name="Text 6"/>
          <p:cNvSpPr/>
          <p:nvPr/>
        </p:nvSpPr>
        <p:spPr>
          <a:xfrm>
            <a:off x="914400" y="19842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463040" y="1801368"/>
            <a:ext cx="5852160"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One solution left</a:t>
            </a:r>
            <a:endParaRPr lang="en-US" sz="1700" dirty="0"/>
          </a:p>
        </p:txBody>
      </p:sp>
      <p:sp>
        <p:nvSpPr>
          <p:cNvPr id="10" name="Text 8"/>
          <p:cNvSpPr/>
          <p:nvPr/>
        </p:nvSpPr>
        <p:spPr>
          <a:xfrm>
            <a:off x="1463040" y="2167128"/>
            <a:ext cx="9692640" cy="41148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Every domain has a single value, and that assignment is the answer. Sometimes zero backtracking is needed after this.</a:t>
            </a:r>
            <a:endParaRPr lang="en-US" sz="1300" dirty="0"/>
          </a:p>
        </p:txBody>
      </p:sp>
      <p:sp>
        <p:nvSpPr>
          <p:cNvPr id="11" name="Shape 9"/>
          <p:cNvSpPr/>
          <p:nvPr/>
        </p:nvSpPr>
        <p:spPr>
          <a:xfrm>
            <a:off x="640080" y="2770632"/>
            <a:ext cx="10908792" cy="960120"/>
          </a:xfrm>
          <a:prstGeom prst="roundRect">
            <a:avLst>
              <a:gd name="adj" fmla="val 5714"/>
            </a:avLst>
          </a:prstGeom>
          <a:solidFill>
            <a:srgbClr val="F6F7F8"/>
          </a:solidFill>
          <a:ln w="9525">
            <a:solidFill>
              <a:srgbClr val="D3D6D9"/>
            </a:solidFill>
            <a:prstDash val="solid"/>
          </a:ln>
        </p:spPr>
      </p:sp>
      <p:sp>
        <p:nvSpPr>
          <p:cNvPr id="12" name="Shape 10"/>
          <p:cNvSpPr/>
          <p:nvPr/>
        </p:nvSpPr>
        <p:spPr>
          <a:xfrm>
            <a:off x="914400" y="3063240"/>
            <a:ext cx="365760" cy="365760"/>
          </a:xfrm>
          <a:prstGeom prst="ellipse">
            <a:avLst/>
          </a:prstGeom>
          <a:solidFill>
            <a:srgbClr val="CB132A"/>
          </a:solidFill>
          <a:ln w="12700">
            <a:solidFill>
              <a:srgbClr val="CB132A"/>
            </a:solidFill>
            <a:prstDash val="solid"/>
          </a:ln>
        </p:spPr>
      </p:sp>
      <p:sp>
        <p:nvSpPr>
          <p:cNvPr id="13" name="Text 11"/>
          <p:cNvSpPr/>
          <p:nvPr/>
        </p:nvSpPr>
        <p:spPr>
          <a:xfrm>
            <a:off x="914400" y="30632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2"/>
          <p:cNvSpPr/>
          <p:nvPr/>
        </p:nvSpPr>
        <p:spPr>
          <a:xfrm>
            <a:off x="1463040" y="2880360"/>
            <a:ext cx="5852160" cy="36576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Multiple solutions left</a:t>
            </a:r>
            <a:endParaRPr lang="en-US" sz="1700" dirty="0"/>
          </a:p>
        </p:txBody>
      </p:sp>
      <p:sp>
        <p:nvSpPr>
          <p:cNvPr id="15" name="Text 13"/>
          <p:cNvSpPr/>
          <p:nvPr/>
        </p:nvSpPr>
        <p:spPr>
          <a:xfrm>
            <a:off x="1463040" y="3246120"/>
            <a:ext cx="9692640" cy="41148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Domains are smaller but still plural. You still have to search - AC-3 only pruned the space.</a:t>
            </a:r>
            <a:endParaRPr lang="en-US" sz="1300" dirty="0"/>
          </a:p>
        </p:txBody>
      </p:sp>
      <p:sp>
        <p:nvSpPr>
          <p:cNvPr id="16" name="Shape 14"/>
          <p:cNvSpPr/>
          <p:nvPr/>
        </p:nvSpPr>
        <p:spPr>
          <a:xfrm>
            <a:off x="640080" y="3849624"/>
            <a:ext cx="6858000" cy="960120"/>
          </a:xfrm>
          <a:prstGeom prst="roundRect">
            <a:avLst>
              <a:gd name="adj" fmla="val 5714"/>
            </a:avLst>
          </a:prstGeom>
          <a:solidFill>
            <a:srgbClr val="FBEDEF"/>
          </a:solidFill>
          <a:ln w="9525">
            <a:solidFill>
              <a:srgbClr val="E8B5BC"/>
            </a:solidFill>
            <a:prstDash val="solid"/>
          </a:ln>
        </p:spPr>
      </p:sp>
      <p:sp>
        <p:nvSpPr>
          <p:cNvPr id="17" name="Shape 15"/>
          <p:cNvSpPr/>
          <p:nvPr/>
        </p:nvSpPr>
        <p:spPr>
          <a:xfrm>
            <a:off x="914400" y="4142232"/>
            <a:ext cx="365760" cy="365760"/>
          </a:xfrm>
          <a:prstGeom prst="ellipse">
            <a:avLst/>
          </a:prstGeom>
          <a:solidFill>
            <a:srgbClr val="CB132A"/>
          </a:solidFill>
          <a:ln w="12700">
            <a:solidFill>
              <a:srgbClr val="CB132A"/>
            </a:solidFill>
            <a:prstDash val="solid"/>
          </a:ln>
        </p:spPr>
      </p:sp>
      <p:sp>
        <p:nvSpPr>
          <p:cNvPr id="18" name="Text 16"/>
          <p:cNvSpPr/>
          <p:nvPr/>
        </p:nvSpPr>
        <p:spPr>
          <a:xfrm>
            <a:off x="914400" y="414223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463040" y="3959352"/>
            <a:ext cx="5852160" cy="36576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No solutions left, and the graph does not know it</a:t>
            </a:r>
            <a:endParaRPr lang="en-US" sz="1700" dirty="0"/>
          </a:p>
        </p:txBody>
      </p:sp>
      <p:sp>
        <p:nvSpPr>
          <p:cNvPr id="20" name="Text 18"/>
          <p:cNvSpPr/>
          <p:nvPr/>
        </p:nvSpPr>
        <p:spPr>
          <a:xfrm>
            <a:off x="1463040" y="4325112"/>
            <a:ext cx="5852160" cy="41148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Every domain is non-empty, every arc is consistent, and yet nothing satisfies the CSP.</a:t>
            </a:r>
            <a:endParaRPr lang="en-US" sz="1300" dirty="0"/>
          </a:p>
        </p:txBody>
      </p:sp>
      <p:sp>
        <p:nvSpPr>
          <p:cNvPr id="21" name="Shape 19"/>
          <p:cNvSpPr/>
          <p:nvPr/>
        </p:nvSpPr>
        <p:spPr>
          <a:xfrm>
            <a:off x="640080" y="4937760"/>
            <a:ext cx="6858000" cy="1234440"/>
          </a:xfrm>
          <a:prstGeom prst="roundRect">
            <a:avLst>
              <a:gd name="adj" fmla="val 4444"/>
            </a:avLst>
          </a:prstGeom>
          <a:solidFill>
            <a:srgbClr val="1C1E21"/>
          </a:solidFill>
          <a:ln w="9525">
            <a:solidFill>
              <a:srgbClr val="1C1E21"/>
            </a:solidFill>
            <a:prstDash val="solid"/>
          </a:ln>
        </p:spPr>
      </p:sp>
      <p:sp>
        <p:nvSpPr>
          <p:cNvPr id="22" name="Text 20"/>
          <p:cNvSpPr/>
          <p:nvPr/>
        </p:nvSpPr>
        <p:spPr>
          <a:xfrm>
            <a:off x="914400" y="5047488"/>
            <a:ext cx="630936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Why case 3 can happen</a:t>
            </a:r>
            <a:endParaRPr lang="en-US" sz="1600" dirty="0"/>
          </a:p>
        </p:txBody>
      </p:sp>
      <p:sp>
        <p:nvSpPr>
          <p:cNvPr id="23" name="Text 21"/>
          <p:cNvSpPr/>
          <p:nvPr/>
        </p:nvSpPr>
        <p:spPr>
          <a:xfrm>
            <a:off x="914400" y="5358384"/>
            <a:ext cx="6309360" cy="7315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Arc consistency only ever reasons about two variables at a time. Take three mutually adjacent regions with only two colors left between them: every pairwise arc checks out, but no assignment satisfies all three at once. AC-3 cannot see a violation that only exists across three or more variables.</a:t>
            </a:r>
            <a:endParaRPr lang="en-US" sz="1250" dirty="0"/>
          </a:p>
        </p:txBody>
      </p:sp>
      <p:sp>
        <p:nvSpPr>
          <p:cNvPr id="24" name="Shape 22"/>
          <p:cNvSpPr/>
          <p:nvPr/>
        </p:nvSpPr>
        <p:spPr>
          <a:xfrm flipH="1">
            <a:off x="9098280" y="4114800"/>
            <a:ext cx="777240" cy="1024128"/>
          </a:xfrm>
          <a:prstGeom prst="line">
            <a:avLst/>
          </a:prstGeom>
          <a:noFill/>
          <a:ln w="16510">
            <a:solidFill>
              <a:srgbClr val="53565A"/>
            </a:solidFill>
            <a:prstDash val="solid"/>
          </a:ln>
        </p:spPr>
      </p:sp>
      <p:sp>
        <p:nvSpPr>
          <p:cNvPr id="25" name="Shape 23"/>
          <p:cNvSpPr/>
          <p:nvPr/>
        </p:nvSpPr>
        <p:spPr>
          <a:xfrm>
            <a:off x="9098280" y="5138928"/>
            <a:ext cx="1554480" cy="914"/>
          </a:xfrm>
          <a:prstGeom prst="line">
            <a:avLst/>
          </a:prstGeom>
          <a:noFill/>
          <a:ln w="16510">
            <a:solidFill>
              <a:srgbClr val="53565A"/>
            </a:solidFill>
            <a:prstDash val="solid"/>
          </a:ln>
        </p:spPr>
      </p:sp>
      <p:sp>
        <p:nvSpPr>
          <p:cNvPr id="26" name="Shape 24"/>
          <p:cNvSpPr/>
          <p:nvPr/>
        </p:nvSpPr>
        <p:spPr>
          <a:xfrm>
            <a:off x="9875520" y="4114800"/>
            <a:ext cx="777240" cy="1024128"/>
          </a:xfrm>
          <a:prstGeom prst="line">
            <a:avLst/>
          </a:prstGeom>
          <a:noFill/>
          <a:ln w="16510">
            <a:solidFill>
              <a:srgbClr val="53565A"/>
            </a:solidFill>
            <a:prstDash val="solid"/>
          </a:ln>
        </p:spPr>
      </p:sp>
      <p:sp>
        <p:nvSpPr>
          <p:cNvPr id="27" name="Shape 25"/>
          <p:cNvSpPr/>
          <p:nvPr/>
        </p:nvSpPr>
        <p:spPr>
          <a:xfrm>
            <a:off x="9646920" y="3886200"/>
            <a:ext cx="457200" cy="457200"/>
          </a:xfrm>
          <a:prstGeom prst="ellipse">
            <a:avLst/>
          </a:prstGeom>
          <a:solidFill>
            <a:srgbClr val="FFFFFF"/>
          </a:solidFill>
          <a:ln w="17780">
            <a:solidFill>
              <a:srgbClr val="1C1E21"/>
            </a:solidFill>
            <a:prstDash val="solid"/>
          </a:ln>
        </p:spPr>
      </p:sp>
      <p:sp>
        <p:nvSpPr>
          <p:cNvPr id="28" name="Text 26"/>
          <p:cNvSpPr/>
          <p:nvPr/>
        </p:nvSpPr>
        <p:spPr>
          <a:xfrm>
            <a:off x="9646920" y="3886200"/>
            <a:ext cx="457200" cy="457200"/>
          </a:xfrm>
          <a:prstGeom prst="rect">
            <a:avLst/>
          </a:prstGeom>
          <a:noFill/>
          <a:ln/>
        </p:spPr>
        <p:txBody>
          <a:bodyPr wrap="square" lIns="0" tIns="0" rIns="0" bIns="0" rtlCol="0" anchor="ctr"/>
          <a:lstStyle/>
          <a:p>
            <a:pPr algn="ctr" indent="0" marL="0">
              <a:buNone/>
            </a:pPr>
            <a:r>
              <a:rPr lang="en-US" sz="1100" b="1" dirty="0">
                <a:solidFill>
                  <a:srgbClr val="1C1E21"/>
                </a:solidFill>
                <a:latin typeface="Calibri" pitchFamily="34" charset="0"/>
                <a:ea typeface="Calibri" pitchFamily="34" charset="-122"/>
                <a:cs typeface="Calibri" pitchFamily="34" charset="-120"/>
              </a:rPr>
              <a:t>A</a:t>
            </a:r>
            <a:endParaRPr lang="en-US" sz="1100" dirty="0"/>
          </a:p>
        </p:txBody>
      </p:sp>
      <p:sp>
        <p:nvSpPr>
          <p:cNvPr id="29" name="Shape 27"/>
          <p:cNvSpPr/>
          <p:nvPr/>
        </p:nvSpPr>
        <p:spPr>
          <a:xfrm>
            <a:off x="9692640" y="4398264"/>
            <a:ext cx="146304" cy="146304"/>
          </a:xfrm>
          <a:prstGeom prst="rect">
            <a:avLst/>
          </a:prstGeom>
          <a:solidFill>
            <a:srgbClr val="C0392B"/>
          </a:solidFill>
          <a:ln w="12700">
            <a:solidFill>
              <a:srgbClr val="333333"/>
            </a:solidFill>
            <a:prstDash val="solid"/>
          </a:ln>
        </p:spPr>
      </p:sp>
      <p:sp>
        <p:nvSpPr>
          <p:cNvPr id="30" name="Shape 28"/>
          <p:cNvSpPr/>
          <p:nvPr/>
        </p:nvSpPr>
        <p:spPr>
          <a:xfrm>
            <a:off x="9893808" y="4398264"/>
            <a:ext cx="146304" cy="146304"/>
          </a:xfrm>
          <a:prstGeom prst="rect">
            <a:avLst/>
          </a:prstGeom>
          <a:solidFill>
            <a:srgbClr val="2E8B45"/>
          </a:solidFill>
          <a:ln w="12700">
            <a:solidFill>
              <a:srgbClr val="333333"/>
            </a:solidFill>
            <a:prstDash val="solid"/>
          </a:ln>
        </p:spPr>
      </p:sp>
      <p:sp>
        <p:nvSpPr>
          <p:cNvPr id="31" name="Shape 29"/>
          <p:cNvSpPr/>
          <p:nvPr/>
        </p:nvSpPr>
        <p:spPr>
          <a:xfrm>
            <a:off x="8869680" y="4910328"/>
            <a:ext cx="457200" cy="457200"/>
          </a:xfrm>
          <a:prstGeom prst="ellipse">
            <a:avLst/>
          </a:prstGeom>
          <a:solidFill>
            <a:srgbClr val="FFFFFF"/>
          </a:solidFill>
          <a:ln w="17780">
            <a:solidFill>
              <a:srgbClr val="1C1E21"/>
            </a:solidFill>
            <a:prstDash val="solid"/>
          </a:ln>
        </p:spPr>
      </p:sp>
      <p:sp>
        <p:nvSpPr>
          <p:cNvPr id="32" name="Text 30"/>
          <p:cNvSpPr/>
          <p:nvPr/>
        </p:nvSpPr>
        <p:spPr>
          <a:xfrm>
            <a:off x="8869680" y="4910328"/>
            <a:ext cx="457200" cy="457200"/>
          </a:xfrm>
          <a:prstGeom prst="rect">
            <a:avLst/>
          </a:prstGeom>
          <a:noFill/>
          <a:ln/>
        </p:spPr>
        <p:txBody>
          <a:bodyPr wrap="square" lIns="0" tIns="0" rIns="0" bIns="0" rtlCol="0" anchor="ctr"/>
          <a:lstStyle/>
          <a:p>
            <a:pPr algn="ctr" indent="0" marL="0">
              <a:buNone/>
            </a:pPr>
            <a:r>
              <a:rPr lang="en-US" sz="1100" b="1" dirty="0">
                <a:solidFill>
                  <a:srgbClr val="1C1E21"/>
                </a:solidFill>
                <a:latin typeface="Calibri" pitchFamily="34" charset="0"/>
                <a:ea typeface="Calibri" pitchFamily="34" charset="-122"/>
                <a:cs typeface="Calibri" pitchFamily="34" charset="-120"/>
              </a:rPr>
              <a:t>B</a:t>
            </a:r>
            <a:endParaRPr lang="en-US" sz="1100" dirty="0"/>
          </a:p>
        </p:txBody>
      </p:sp>
      <p:sp>
        <p:nvSpPr>
          <p:cNvPr id="33" name="Shape 31"/>
          <p:cNvSpPr/>
          <p:nvPr/>
        </p:nvSpPr>
        <p:spPr>
          <a:xfrm>
            <a:off x="8915400" y="5422392"/>
            <a:ext cx="146304" cy="146304"/>
          </a:xfrm>
          <a:prstGeom prst="rect">
            <a:avLst/>
          </a:prstGeom>
          <a:solidFill>
            <a:srgbClr val="C0392B"/>
          </a:solidFill>
          <a:ln w="12700">
            <a:solidFill>
              <a:srgbClr val="333333"/>
            </a:solidFill>
            <a:prstDash val="solid"/>
          </a:ln>
        </p:spPr>
      </p:sp>
      <p:sp>
        <p:nvSpPr>
          <p:cNvPr id="34" name="Shape 32"/>
          <p:cNvSpPr/>
          <p:nvPr/>
        </p:nvSpPr>
        <p:spPr>
          <a:xfrm>
            <a:off x="9116568" y="5422392"/>
            <a:ext cx="146304" cy="146304"/>
          </a:xfrm>
          <a:prstGeom prst="rect">
            <a:avLst/>
          </a:prstGeom>
          <a:solidFill>
            <a:srgbClr val="2E8B45"/>
          </a:solidFill>
          <a:ln w="12700">
            <a:solidFill>
              <a:srgbClr val="333333"/>
            </a:solidFill>
            <a:prstDash val="solid"/>
          </a:ln>
        </p:spPr>
      </p:sp>
      <p:sp>
        <p:nvSpPr>
          <p:cNvPr id="35" name="Shape 33"/>
          <p:cNvSpPr/>
          <p:nvPr/>
        </p:nvSpPr>
        <p:spPr>
          <a:xfrm>
            <a:off x="10424160" y="4910328"/>
            <a:ext cx="457200" cy="457200"/>
          </a:xfrm>
          <a:prstGeom prst="ellipse">
            <a:avLst/>
          </a:prstGeom>
          <a:solidFill>
            <a:srgbClr val="FFFFFF"/>
          </a:solidFill>
          <a:ln w="17780">
            <a:solidFill>
              <a:srgbClr val="1C1E21"/>
            </a:solidFill>
            <a:prstDash val="solid"/>
          </a:ln>
        </p:spPr>
      </p:sp>
      <p:sp>
        <p:nvSpPr>
          <p:cNvPr id="36" name="Text 34"/>
          <p:cNvSpPr/>
          <p:nvPr/>
        </p:nvSpPr>
        <p:spPr>
          <a:xfrm>
            <a:off x="10424160" y="4910328"/>
            <a:ext cx="457200" cy="457200"/>
          </a:xfrm>
          <a:prstGeom prst="rect">
            <a:avLst/>
          </a:prstGeom>
          <a:noFill/>
          <a:ln/>
        </p:spPr>
        <p:txBody>
          <a:bodyPr wrap="square" lIns="0" tIns="0" rIns="0" bIns="0" rtlCol="0" anchor="ctr"/>
          <a:lstStyle/>
          <a:p>
            <a:pPr algn="ctr" indent="0" marL="0">
              <a:buNone/>
            </a:pPr>
            <a:r>
              <a:rPr lang="en-US" sz="1100" b="1" dirty="0">
                <a:solidFill>
                  <a:srgbClr val="1C1E21"/>
                </a:solidFill>
                <a:latin typeface="Calibri" pitchFamily="34" charset="0"/>
                <a:ea typeface="Calibri" pitchFamily="34" charset="-122"/>
                <a:cs typeface="Calibri" pitchFamily="34" charset="-120"/>
              </a:rPr>
              <a:t>C</a:t>
            </a:r>
            <a:endParaRPr lang="en-US" sz="1100" dirty="0"/>
          </a:p>
        </p:txBody>
      </p:sp>
      <p:sp>
        <p:nvSpPr>
          <p:cNvPr id="37" name="Shape 35"/>
          <p:cNvSpPr/>
          <p:nvPr/>
        </p:nvSpPr>
        <p:spPr>
          <a:xfrm>
            <a:off x="10469880" y="5422392"/>
            <a:ext cx="146304" cy="146304"/>
          </a:xfrm>
          <a:prstGeom prst="rect">
            <a:avLst/>
          </a:prstGeom>
          <a:solidFill>
            <a:srgbClr val="C0392B"/>
          </a:solidFill>
          <a:ln w="12700">
            <a:solidFill>
              <a:srgbClr val="333333"/>
            </a:solidFill>
            <a:prstDash val="solid"/>
          </a:ln>
        </p:spPr>
      </p:sp>
      <p:sp>
        <p:nvSpPr>
          <p:cNvPr id="38" name="Shape 36"/>
          <p:cNvSpPr/>
          <p:nvPr/>
        </p:nvSpPr>
        <p:spPr>
          <a:xfrm>
            <a:off x="10671048" y="5422392"/>
            <a:ext cx="146304" cy="146304"/>
          </a:xfrm>
          <a:prstGeom prst="rect">
            <a:avLst/>
          </a:prstGeom>
          <a:solidFill>
            <a:srgbClr val="2E8B45"/>
          </a:solidFill>
          <a:ln w="12700">
            <a:solidFill>
              <a:srgbClr val="333333"/>
            </a:solidFill>
            <a:prstDash val="solid"/>
          </a:ln>
        </p:spPr>
      </p:sp>
      <p:sp>
        <p:nvSpPr>
          <p:cNvPr id="39" name="Text 37"/>
          <p:cNvSpPr/>
          <p:nvPr/>
        </p:nvSpPr>
        <p:spPr>
          <a:xfrm>
            <a:off x="8092440" y="5623560"/>
            <a:ext cx="3566160" cy="548640"/>
          </a:xfrm>
          <a:prstGeom prst="rect">
            <a:avLst/>
          </a:prstGeom>
          <a:noFill/>
          <a:ln/>
        </p:spPr>
        <p:txBody>
          <a:bodyPr wrap="square" lIns="0" tIns="0" rIns="0" bIns="0" rtlCol="0" anchor="ctr"/>
          <a:lstStyle/>
          <a:p>
            <a:pPr algn="ctr" indent="0" marL="0">
              <a:buNone/>
            </a:pPr>
            <a:r>
              <a:rPr lang="en-US" sz="1100" i="1" dirty="0">
                <a:solidFill>
                  <a:srgbClr val="7C8085"/>
                </a:solidFill>
                <a:latin typeface="Calibri" pitchFamily="34" charset="0"/>
                <a:ea typeface="Calibri" pitchFamily="34" charset="-122"/>
                <a:cs typeface="Calibri" pitchFamily="34" charset="-120"/>
              </a:rPr>
              <a:t>three variables, two colors, all pairwise arcs consistent, no solution</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41</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Forward checking against arc consistency</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Same graph, same first bad assignment</a:t>
            </a:r>
            <a:endParaRPr lang="en-US" sz="1400" dirty="0"/>
          </a:p>
        </p:txBody>
      </p:sp>
      <p:sp>
        <p:nvSpPr>
          <p:cNvPr id="6" name="Shape 4"/>
          <p:cNvSpPr/>
          <p:nvPr/>
        </p:nvSpPr>
        <p:spPr>
          <a:xfrm>
            <a:off x="640080" y="1691640"/>
            <a:ext cx="5349240" cy="3200400"/>
          </a:xfrm>
          <a:prstGeom prst="roundRect">
            <a:avLst>
              <a:gd name="adj" fmla="val 1714"/>
            </a:avLst>
          </a:prstGeom>
          <a:solidFill>
            <a:srgbClr val="F6F7F8"/>
          </a:solidFill>
          <a:ln w="9525">
            <a:solidFill>
              <a:srgbClr val="D3D6D9"/>
            </a:solidFill>
            <a:prstDash val="solid"/>
          </a:ln>
        </p:spPr>
      </p:sp>
      <p:sp>
        <p:nvSpPr>
          <p:cNvPr id="7" name="Text 5"/>
          <p:cNvSpPr/>
          <p:nvPr/>
        </p:nvSpPr>
        <p:spPr>
          <a:xfrm>
            <a:off x="914400" y="1856232"/>
            <a:ext cx="4800600" cy="365760"/>
          </a:xfrm>
          <a:prstGeom prst="rect">
            <a:avLst/>
          </a:prstGeom>
          <a:noFill/>
          <a:ln/>
        </p:spPr>
        <p:txBody>
          <a:bodyPr wrap="square" lIns="0" tIns="0" rIns="0" bIns="0" rtlCol="0" anchor="ctr"/>
          <a:lstStyle/>
          <a:p>
            <a:pPr indent="0" marL="0">
              <a:buNone/>
            </a:pPr>
            <a:r>
              <a:rPr lang="en-US" sz="1900" b="1" dirty="0">
                <a:solidFill>
                  <a:srgbClr val="1C1E21"/>
                </a:solidFill>
                <a:latin typeface="Cambria" pitchFamily="34" charset="0"/>
                <a:ea typeface="Cambria" pitchFamily="34" charset="-122"/>
                <a:cs typeface="Cambria" pitchFamily="34" charset="-120"/>
              </a:rPr>
              <a:t>Forward checking</a:t>
            </a:r>
            <a:endParaRPr lang="en-US" sz="1900" dirty="0"/>
          </a:p>
        </p:txBody>
      </p:sp>
      <p:sp>
        <p:nvSpPr>
          <p:cNvPr id="8" name="Text 6"/>
          <p:cNvSpPr/>
          <p:nvPr/>
        </p:nvSpPr>
        <p:spPr>
          <a:xfrm>
            <a:off x="914400" y="2286000"/>
            <a:ext cx="4800600" cy="228600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Prunes only the neighbors of the variable just assigned</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Discovers the graph is doomed several assignments after the damage was done</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Wastes the entire subtree built in between</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Cheap per assignment</a:t>
            </a:r>
            <a:endParaRPr lang="en-US" sz="1350" dirty="0"/>
          </a:p>
        </p:txBody>
      </p:sp>
      <p:sp>
        <p:nvSpPr>
          <p:cNvPr id="9" name="Shape 7"/>
          <p:cNvSpPr/>
          <p:nvPr/>
        </p:nvSpPr>
        <p:spPr>
          <a:xfrm>
            <a:off x="6263640" y="1691640"/>
            <a:ext cx="5285232" cy="3200400"/>
          </a:xfrm>
          <a:prstGeom prst="roundRect">
            <a:avLst>
              <a:gd name="adj" fmla="val 1714"/>
            </a:avLst>
          </a:prstGeom>
          <a:solidFill>
            <a:srgbClr val="FBEDEF"/>
          </a:solidFill>
          <a:ln w="9525">
            <a:solidFill>
              <a:srgbClr val="E8B5BC"/>
            </a:solidFill>
            <a:prstDash val="solid"/>
          </a:ln>
        </p:spPr>
      </p:sp>
      <p:sp>
        <p:nvSpPr>
          <p:cNvPr id="10" name="Text 8"/>
          <p:cNvSpPr/>
          <p:nvPr/>
        </p:nvSpPr>
        <p:spPr>
          <a:xfrm>
            <a:off x="6537960" y="1856232"/>
            <a:ext cx="475488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Arc consistency</a:t>
            </a:r>
            <a:endParaRPr lang="en-US" sz="1900" dirty="0"/>
          </a:p>
        </p:txBody>
      </p:sp>
      <p:sp>
        <p:nvSpPr>
          <p:cNvPr id="11" name="Text 9"/>
          <p:cNvSpPr/>
          <p:nvPr/>
        </p:nvSpPr>
        <p:spPr>
          <a:xfrm>
            <a:off x="6537960" y="2286000"/>
            <a:ext cx="4754880" cy="2286000"/>
          </a:xfrm>
          <a:prstGeom prst="rect">
            <a:avLst/>
          </a:prstGeom>
          <a:noFill/>
          <a:ln/>
        </p:spPr>
        <p:txBody>
          <a:bodyPr wrap="square" lIns="0" tIns="0" rIns="0" bIns="0" rtlCol="0" anchor="t"/>
          <a:lstStyle/>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Propagates the consequences of the first bad assignment across the whole graph immediately</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Variables you have not touched already show shrunken domains</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Backtracking still happens, but it stays local and shallow</a:t>
            </a:r>
            <a:endParaRPr lang="en-US" sz="1350" dirty="0"/>
          </a:p>
          <a:p>
            <a:pPr marL="177800" indent="-177800">
              <a:spcAft>
                <a:spcPts val="900"/>
              </a:spcAft>
              <a:buSzPct val="100000"/>
              <a:buChar char="•"/>
            </a:pPr>
            <a:r>
              <a:rPr lang="en-US" sz="1350" dirty="0">
                <a:solidFill>
                  <a:srgbClr val="1C1E21"/>
                </a:solidFill>
                <a:latin typeface="Calibri" pitchFamily="34" charset="0"/>
                <a:ea typeface="Calibri" pitchFamily="34" charset="-122"/>
                <a:cs typeface="Calibri" pitchFamily="34" charset="-120"/>
              </a:rPr>
              <a:t>More work per assignment</a:t>
            </a:r>
            <a:endParaRPr lang="en-US" sz="1350" dirty="0"/>
          </a:p>
        </p:txBody>
      </p:sp>
      <p:sp>
        <p:nvSpPr>
          <p:cNvPr id="12" name="Shape 10"/>
          <p:cNvSpPr/>
          <p:nvPr/>
        </p:nvSpPr>
        <p:spPr>
          <a:xfrm>
            <a:off x="640080" y="5074920"/>
            <a:ext cx="10908792" cy="1097280"/>
          </a:xfrm>
          <a:prstGeom prst="roundRect">
            <a:avLst>
              <a:gd name="adj" fmla="val 5000"/>
            </a:avLst>
          </a:prstGeom>
          <a:solidFill>
            <a:srgbClr val="1C1E21"/>
          </a:solidFill>
          <a:ln w="9525">
            <a:solidFill>
              <a:srgbClr val="1C1E21"/>
            </a:solidFill>
            <a:prstDash val="solid"/>
          </a:ln>
        </p:spPr>
      </p:sp>
      <p:sp>
        <p:nvSpPr>
          <p:cNvPr id="13" name="Text 11"/>
          <p:cNvSpPr/>
          <p:nvPr/>
        </p:nvSpPr>
        <p:spPr>
          <a:xfrm>
            <a:off x="960120" y="5166360"/>
            <a:ext cx="1005840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The trade-off, which should feel familiar</a:t>
            </a:r>
            <a:endParaRPr lang="en-US" sz="1600" dirty="0"/>
          </a:p>
        </p:txBody>
      </p:sp>
      <p:sp>
        <p:nvSpPr>
          <p:cNvPr id="14" name="Text 12"/>
          <p:cNvSpPr/>
          <p:nvPr/>
        </p:nvSpPr>
        <p:spPr>
          <a:xfrm>
            <a:off x="960120" y="5477256"/>
            <a:ext cx="10607040" cy="6400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This is the A* bargain again: pay more per node in exchange for expanding far fewer nodes. Running full arc consistency after every assignment usually pays for itself - but how much depends on the problem, and there are constraint graphs where forward checking wins on wall-clock time.</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2423160"/>
            <a:ext cx="3657600" cy="365760"/>
          </a:xfrm>
          <a:prstGeom prst="rect">
            <a:avLst/>
          </a:prstGeom>
          <a:noFill/>
          <a:ln/>
        </p:spPr>
        <p:txBody>
          <a:bodyPr wrap="square" lIns="0" tIns="0" rIns="0" bIns="0" rtlCol="0" anchor="ctr"/>
          <a:lstStyle/>
          <a:p>
            <a:pPr indent="0" marL="0">
              <a:buNone/>
            </a:pPr>
            <a:r>
              <a:rPr lang="en-US" sz="1400" b="1" spc="300" kern="0" dirty="0">
                <a:solidFill>
                  <a:srgbClr val="CB132A"/>
                </a:solidFill>
                <a:latin typeface="Calibri" pitchFamily="34" charset="0"/>
                <a:ea typeface="Calibri" pitchFamily="34" charset="-122"/>
                <a:cs typeface="Calibri" pitchFamily="34" charset="-120"/>
              </a:rPr>
              <a:t>Part 6</a:t>
            </a:r>
            <a:endParaRPr lang="en-US" sz="1400" dirty="0"/>
          </a:p>
        </p:txBody>
      </p:sp>
      <p:sp>
        <p:nvSpPr>
          <p:cNvPr id="3" name="Text 1"/>
          <p:cNvSpPr/>
          <p:nvPr/>
        </p:nvSpPr>
        <p:spPr>
          <a:xfrm>
            <a:off x="640080" y="2788920"/>
            <a:ext cx="9144000" cy="86868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Ordering</a:t>
            </a:r>
            <a:endParaRPr lang="en-US" sz="4000" dirty="0"/>
          </a:p>
        </p:txBody>
      </p:sp>
      <p:sp>
        <p:nvSpPr>
          <p:cNvPr id="4" name="Text 2"/>
          <p:cNvSpPr/>
          <p:nvPr/>
        </p:nvSpPr>
        <p:spPr>
          <a:xfrm>
            <a:off x="640080" y="3703320"/>
            <a:ext cx="9144000" cy="411480"/>
          </a:xfrm>
          <a:prstGeom prst="rect">
            <a:avLst/>
          </a:prstGeom>
          <a:noFill/>
          <a:ln/>
        </p:spPr>
        <p:txBody>
          <a:bodyPr wrap="square" lIns="0" tIns="0" rIns="0" bIns="0" rtlCol="0" anchor="ctr"/>
          <a:lstStyle/>
          <a:p>
            <a:pPr indent="0" marL="0">
              <a:buNone/>
            </a:pPr>
            <a:r>
              <a:rPr lang="en-US" sz="1700" i="1" dirty="0">
                <a:solidFill>
                  <a:srgbClr val="9FA4A9"/>
                </a:solidFill>
                <a:latin typeface="Calibri" pitchFamily="34" charset="0"/>
                <a:ea typeface="Calibri" pitchFamily="34" charset="-122"/>
                <a:cs typeface="Calibri" pitchFamily="34" charset="-120"/>
              </a:rPr>
              <a:t>Filling in the two choice points we left blank</a:t>
            </a:r>
            <a:endParaRPr lang="en-US" sz="1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43</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Variable ordering: minimum remaining values</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SELECT-UNASSIGNED-VARIABLE: pick the variable with the fewest legal values left</a:t>
            </a:r>
            <a:endParaRPr lang="en-US" sz="1400" dirty="0"/>
          </a:p>
        </p:txBody>
      </p:sp>
      <p:sp>
        <p:nvSpPr>
          <p:cNvPr id="6" name="Shape 4"/>
          <p:cNvSpPr/>
          <p:nvPr/>
        </p:nvSpPr>
        <p:spPr>
          <a:xfrm>
            <a:off x="640080" y="2148840"/>
            <a:ext cx="1737360" cy="365760"/>
          </a:xfrm>
          <a:prstGeom prst="rect">
            <a:avLst/>
          </a:prstGeom>
          <a:solidFill>
            <a:srgbClr val="FFFFFF"/>
          </a:solidFill>
          <a:ln w="12700">
            <a:solidFill>
              <a:srgbClr val="1C1E21"/>
            </a:solidFill>
            <a:prstDash val="solid"/>
          </a:ln>
        </p:spPr>
      </p:sp>
      <p:sp>
        <p:nvSpPr>
          <p:cNvPr id="7" name="Text 5"/>
          <p:cNvSpPr/>
          <p:nvPr/>
        </p:nvSpPr>
        <p:spPr>
          <a:xfrm>
            <a:off x="640080"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WA</a:t>
            </a:r>
            <a:endParaRPr lang="en-US" sz="1200" dirty="0"/>
          </a:p>
        </p:txBody>
      </p:sp>
      <p:sp>
        <p:nvSpPr>
          <p:cNvPr id="8" name="Shape 6"/>
          <p:cNvSpPr/>
          <p:nvPr/>
        </p:nvSpPr>
        <p:spPr>
          <a:xfrm>
            <a:off x="704088" y="2212848"/>
            <a:ext cx="1609344" cy="237744"/>
          </a:xfrm>
          <a:prstGeom prst="rect">
            <a:avLst/>
          </a:prstGeom>
          <a:solidFill>
            <a:srgbClr val="C0392B"/>
          </a:solidFill>
          <a:ln w="12700">
            <a:solidFill>
              <a:srgbClr val="C0392B"/>
            </a:solidFill>
            <a:prstDash val="solid"/>
          </a:ln>
        </p:spPr>
      </p:sp>
      <p:sp>
        <p:nvSpPr>
          <p:cNvPr id="9" name="Shape 7"/>
          <p:cNvSpPr/>
          <p:nvPr/>
        </p:nvSpPr>
        <p:spPr>
          <a:xfrm>
            <a:off x="2478024" y="2148840"/>
            <a:ext cx="1737360" cy="365760"/>
          </a:xfrm>
          <a:prstGeom prst="rect">
            <a:avLst/>
          </a:prstGeom>
          <a:solidFill>
            <a:srgbClr val="FFFFFF"/>
          </a:solidFill>
          <a:ln w="12700">
            <a:solidFill>
              <a:srgbClr val="1C1E21"/>
            </a:solidFill>
            <a:prstDash val="solid"/>
          </a:ln>
        </p:spPr>
      </p:sp>
      <p:sp>
        <p:nvSpPr>
          <p:cNvPr id="10" name="Text 8"/>
          <p:cNvSpPr/>
          <p:nvPr/>
        </p:nvSpPr>
        <p:spPr>
          <a:xfrm>
            <a:off x="2478024"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NT</a:t>
            </a:r>
            <a:endParaRPr lang="en-US" sz="1200" dirty="0"/>
          </a:p>
        </p:txBody>
      </p:sp>
      <p:sp>
        <p:nvSpPr>
          <p:cNvPr id="11" name="Shape 9"/>
          <p:cNvSpPr/>
          <p:nvPr/>
        </p:nvSpPr>
        <p:spPr>
          <a:xfrm>
            <a:off x="3773424" y="2221992"/>
            <a:ext cx="219456" cy="219456"/>
          </a:xfrm>
          <a:prstGeom prst="rect">
            <a:avLst/>
          </a:prstGeom>
          <a:solidFill>
            <a:srgbClr val="2A62C4"/>
          </a:solidFill>
          <a:ln w="12700">
            <a:solidFill>
              <a:srgbClr val="2A62C4"/>
            </a:solidFill>
            <a:prstDash val="solid"/>
          </a:ln>
        </p:spPr>
      </p:sp>
      <p:sp>
        <p:nvSpPr>
          <p:cNvPr id="12" name="Shape 10"/>
          <p:cNvSpPr/>
          <p:nvPr/>
        </p:nvSpPr>
        <p:spPr>
          <a:xfrm>
            <a:off x="4315968" y="2148840"/>
            <a:ext cx="1737360" cy="365760"/>
          </a:xfrm>
          <a:prstGeom prst="rect">
            <a:avLst/>
          </a:prstGeom>
          <a:solidFill>
            <a:srgbClr val="FFFFFF"/>
          </a:solidFill>
          <a:ln w="12700">
            <a:solidFill>
              <a:srgbClr val="1C1E21"/>
            </a:solidFill>
            <a:prstDash val="solid"/>
          </a:ln>
        </p:spPr>
      </p:sp>
      <p:sp>
        <p:nvSpPr>
          <p:cNvPr id="13" name="Text 11"/>
          <p:cNvSpPr/>
          <p:nvPr/>
        </p:nvSpPr>
        <p:spPr>
          <a:xfrm>
            <a:off x="4315968"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Q</a:t>
            </a:r>
            <a:endParaRPr lang="en-US" sz="1200" dirty="0"/>
          </a:p>
        </p:txBody>
      </p:sp>
      <p:sp>
        <p:nvSpPr>
          <p:cNvPr id="14" name="Shape 12"/>
          <p:cNvSpPr/>
          <p:nvPr/>
        </p:nvSpPr>
        <p:spPr>
          <a:xfrm>
            <a:off x="4379976" y="2212848"/>
            <a:ext cx="1609344" cy="237744"/>
          </a:xfrm>
          <a:prstGeom prst="rect">
            <a:avLst/>
          </a:prstGeom>
          <a:solidFill>
            <a:srgbClr val="2E8B45"/>
          </a:solidFill>
          <a:ln w="12700">
            <a:solidFill>
              <a:srgbClr val="2E8B45"/>
            </a:solidFill>
            <a:prstDash val="solid"/>
          </a:ln>
        </p:spPr>
      </p:sp>
      <p:sp>
        <p:nvSpPr>
          <p:cNvPr id="15" name="Shape 13"/>
          <p:cNvSpPr/>
          <p:nvPr/>
        </p:nvSpPr>
        <p:spPr>
          <a:xfrm>
            <a:off x="6153912" y="2148840"/>
            <a:ext cx="1737360" cy="365760"/>
          </a:xfrm>
          <a:prstGeom prst="rect">
            <a:avLst/>
          </a:prstGeom>
          <a:solidFill>
            <a:srgbClr val="FFFFFF"/>
          </a:solidFill>
          <a:ln w="12700">
            <a:solidFill>
              <a:srgbClr val="1C1E21"/>
            </a:solidFill>
            <a:prstDash val="solid"/>
          </a:ln>
        </p:spPr>
      </p:sp>
      <p:sp>
        <p:nvSpPr>
          <p:cNvPr id="16" name="Text 14"/>
          <p:cNvSpPr/>
          <p:nvPr/>
        </p:nvSpPr>
        <p:spPr>
          <a:xfrm>
            <a:off x="6153912"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NSW</a:t>
            </a:r>
            <a:endParaRPr lang="en-US" sz="1200" dirty="0"/>
          </a:p>
        </p:txBody>
      </p:sp>
      <p:sp>
        <p:nvSpPr>
          <p:cNvPr id="17" name="Shape 15"/>
          <p:cNvSpPr/>
          <p:nvPr/>
        </p:nvSpPr>
        <p:spPr>
          <a:xfrm>
            <a:off x="6376416" y="2221992"/>
            <a:ext cx="219456" cy="219456"/>
          </a:xfrm>
          <a:prstGeom prst="rect">
            <a:avLst/>
          </a:prstGeom>
          <a:solidFill>
            <a:srgbClr val="C0392B"/>
          </a:solidFill>
          <a:ln w="12700">
            <a:solidFill>
              <a:srgbClr val="C0392B"/>
            </a:solidFill>
            <a:prstDash val="solid"/>
          </a:ln>
        </p:spPr>
      </p:sp>
      <p:sp>
        <p:nvSpPr>
          <p:cNvPr id="18" name="Shape 16"/>
          <p:cNvSpPr/>
          <p:nvPr/>
        </p:nvSpPr>
        <p:spPr>
          <a:xfrm>
            <a:off x="7449312" y="2221992"/>
            <a:ext cx="219456" cy="219456"/>
          </a:xfrm>
          <a:prstGeom prst="rect">
            <a:avLst/>
          </a:prstGeom>
          <a:solidFill>
            <a:srgbClr val="2A62C4"/>
          </a:solidFill>
          <a:ln w="12700">
            <a:solidFill>
              <a:srgbClr val="2A62C4"/>
            </a:solidFill>
            <a:prstDash val="solid"/>
          </a:ln>
        </p:spPr>
      </p:sp>
      <p:sp>
        <p:nvSpPr>
          <p:cNvPr id="19" name="Shape 17"/>
          <p:cNvSpPr/>
          <p:nvPr/>
        </p:nvSpPr>
        <p:spPr>
          <a:xfrm>
            <a:off x="7991856" y="2148840"/>
            <a:ext cx="1737360" cy="365760"/>
          </a:xfrm>
          <a:prstGeom prst="rect">
            <a:avLst/>
          </a:prstGeom>
          <a:solidFill>
            <a:srgbClr val="FFFFFF"/>
          </a:solidFill>
          <a:ln w="12700">
            <a:solidFill>
              <a:srgbClr val="1C1E21"/>
            </a:solidFill>
            <a:prstDash val="solid"/>
          </a:ln>
        </p:spPr>
      </p:sp>
      <p:sp>
        <p:nvSpPr>
          <p:cNvPr id="20" name="Text 18"/>
          <p:cNvSpPr/>
          <p:nvPr/>
        </p:nvSpPr>
        <p:spPr>
          <a:xfrm>
            <a:off x="7991856"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V</a:t>
            </a:r>
            <a:endParaRPr lang="en-US" sz="1200" dirty="0"/>
          </a:p>
        </p:txBody>
      </p:sp>
      <p:sp>
        <p:nvSpPr>
          <p:cNvPr id="21" name="Shape 19"/>
          <p:cNvSpPr/>
          <p:nvPr/>
        </p:nvSpPr>
        <p:spPr>
          <a:xfrm>
            <a:off x="8214360" y="2221992"/>
            <a:ext cx="219456" cy="219456"/>
          </a:xfrm>
          <a:prstGeom prst="rect">
            <a:avLst/>
          </a:prstGeom>
          <a:solidFill>
            <a:srgbClr val="C0392B"/>
          </a:solidFill>
          <a:ln w="12700">
            <a:solidFill>
              <a:srgbClr val="C0392B"/>
            </a:solidFill>
            <a:prstDash val="solid"/>
          </a:ln>
        </p:spPr>
      </p:sp>
      <p:sp>
        <p:nvSpPr>
          <p:cNvPr id="22" name="Shape 20"/>
          <p:cNvSpPr/>
          <p:nvPr/>
        </p:nvSpPr>
        <p:spPr>
          <a:xfrm>
            <a:off x="8750808" y="2221992"/>
            <a:ext cx="219456" cy="219456"/>
          </a:xfrm>
          <a:prstGeom prst="rect">
            <a:avLst/>
          </a:prstGeom>
          <a:solidFill>
            <a:srgbClr val="2E8B45"/>
          </a:solidFill>
          <a:ln w="12700">
            <a:solidFill>
              <a:srgbClr val="2E8B45"/>
            </a:solidFill>
            <a:prstDash val="solid"/>
          </a:ln>
        </p:spPr>
      </p:sp>
      <p:sp>
        <p:nvSpPr>
          <p:cNvPr id="23" name="Shape 21"/>
          <p:cNvSpPr/>
          <p:nvPr/>
        </p:nvSpPr>
        <p:spPr>
          <a:xfrm>
            <a:off x="9287256" y="2221992"/>
            <a:ext cx="219456" cy="219456"/>
          </a:xfrm>
          <a:prstGeom prst="rect">
            <a:avLst/>
          </a:prstGeom>
          <a:solidFill>
            <a:srgbClr val="2A62C4"/>
          </a:solidFill>
          <a:ln w="12700">
            <a:solidFill>
              <a:srgbClr val="2A62C4"/>
            </a:solidFill>
            <a:prstDash val="solid"/>
          </a:ln>
        </p:spPr>
      </p:sp>
      <p:sp>
        <p:nvSpPr>
          <p:cNvPr id="24" name="Shape 22"/>
          <p:cNvSpPr/>
          <p:nvPr/>
        </p:nvSpPr>
        <p:spPr>
          <a:xfrm>
            <a:off x="9829800" y="2148840"/>
            <a:ext cx="1737360" cy="365760"/>
          </a:xfrm>
          <a:prstGeom prst="rect">
            <a:avLst/>
          </a:prstGeom>
          <a:solidFill>
            <a:srgbClr val="FFFFFF"/>
          </a:solidFill>
          <a:ln w="12700">
            <a:solidFill>
              <a:srgbClr val="1C1E21"/>
            </a:solidFill>
            <a:prstDash val="solid"/>
          </a:ln>
        </p:spPr>
      </p:sp>
      <p:sp>
        <p:nvSpPr>
          <p:cNvPr id="25" name="Text 23"/>
          <p:cNvSpPr/>
          <p:nvPr/>
        </p:nvSpPr>
        <p:spPr>
          <a:xfrm>
            <a:off x="9829800" y="1856232"/>
            <a:ext cx="173736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SA</a:t>
            </a:r>
            <a:endParaRPr lang="en-US" sz="1200" dirty="0"/>
          </a:p>
        </p:txBody>
      </p:sp>
      <p:sp>
        <p:nvSpPr>
          <p:cNvPr id="26" name="Shape 24"/>
          <p:cNvSpPr/>
          <p:nvPr/>
        </p:nvSpPr>
        <p:spPr>
          <a:xfrm>
            <a:off x="11125200" y="2221992"/>
            <a:ext cx="219456" cy="219456"/>
          </a:xfrm>
          <a:prstGeom prst="rect">
            <a:avLst/>
          </a:prstGeom>
          <a:solidFill>
            <a:srgbClr val="2A62C4"/>
          </a:solidFill>
          <a:ln w="12700">
            <a:solidFill>
              <a:srgbClr val="2A62C4"/>
            </a:solidFill>
            <a:prstDash val="solid"/>
          </a:ln>
        </p:spPr>
      </p:sp>
      <p:sp>
        <p:nvSpPr>
          <p:cNvPr id="27" name="Shape 25"/>
          <p:cNvSpPr/>
          <p:nvPr/>
        </p:nvSpPr>
        <p:spPr>
          <a:xfrm>
            <a:off x="2478024" y="2606040"/>
            <a:ext cx="1737360" cy="292608"/>
          </a:xfrm>
          <a:prstGeom prst="roundRect">
            <a:avLst>
              <a:gd name="adj" fmla="val 12500"/>
            </a:avLst>
          </a:prstGeom>
          <a:solidFill>
            <a:srgbClr val="F7DDE0"/>
          </a:solidFill>
          <a:ln w="12700">
            <a:solidFill>
              <a:srgbClr val="CB132A"/>
            </a:solidFill>
            <a:prstDash val="solid"/>
          </a:ln>
        </p:spPr>
      </p:sp>
      <p:sp>
        <p:nvSpPr>
          <p:cNvPr id="28" name="Text 26"/>
          <p:cNvSpPr/>
          <p:nvPr/>
        </p:nvSpPr>
        <p:spPr>
          <a:xfrm>
            <a:off x="2478024" y="2606040"/>
            <a:ext cx="1737360" cy="292608"/>
          </a:xfrm>
          <a:prstGeom prst="rect">
            <a:avLst/>
          </a:prstGeom>
          <a:noFill/>
          <a:ln/>
        </p:spPr>
        <p:txBody>
          <a:bodyPr wrap="square" lIns="0" tIns="0" rIns="0" bIns="0" rtlCol="0" anchor="ctr"/>
          <a:lstStyle/>
          <a:p>
            <a:pPr algn="ctr" indent="0" marL="0">
              <a:buNone/>
            </a:pPr>
            <a:r>
              <a:rPr lang="en-US" sz="1000" b="1" dirty="0">
                <a:solidFill>
                  <a:srgbClr val="CB132A"/>
                </a:solidFill>
                <a:latin typeface="Calibri" pitchFamily="34" charset="0"/>
                <a:ea typeface="Calibri" pitchFamily="34" charset="-122"/>
                <a:cs typeface="Calibri" pitchFamily="34" charset="-120"/>
              </a:rPr>
              <a:t>assign this one</a:t>
            </a:r>
            <a:endParaRPr lang="en-US" sz="1000" dirty="0"/>
          </a:p>
        </p:txBody>
      </p:sp>
      <p:sp>
        <p:nvSpPr>
          <p:cNvPr id="29" name="Text 27"/>
          <p:cNvSpPr/>
          <p:nvPr/>
        </p:nvSpPr>
        <p:spPr>
          <a:xfrm>
            <a:off x="7991856" y="2606040"/>
            <a:ext cx="1737360" cy="292608"/>
          </a:xfrm>
          <a:prstGeom prst="rect">
            <a:avLst/>
          </a:prstGeom>
          <a:noFill/>
          <a:ln/>
        </p:spPr>
        <p:txBody>
          <a:bodyPr wrap="square" lIns="0" tIns="0" rIns="0" bIns="0" rtlCol="0" anchor="ctr"/>
          <a:lstStyle/>
          <a:p>
            <a:pPr algn="ctr" indent="0" marL="0">
              <a:buNone/>
            </a:pPr>
            <a:r>
              <a:rPr lang="en-US" sz="1000" i="1" dirty="0">
                <a:solidFill>
                  <a:srgbClr val="7C8085"/>
                </a:solidFill>
                <a:latin typeface="Calibri" pitchFamily="34" charset="0"/>
                <a:ea typeface="Calibri" pitchFamily="34" charset="-122"/>
                <a:cs typeface="Calibri" pitchFamily="34" charset="-120"/>
              </a:rPr>
              <a:t>not this one</a:t>
            </a:r>
            <a:endParaRPr lang="en-US" sz="1000" dirty="0"/>
          </a:p>
        </p:txBody>
      </p:sp>
      <p:sp>
        <p:nvSpPr>
          <p:cNvPr id="30" name="Shape 28"/>
          <p:cNvSpPr/>
          <p:nvPr/>
        </p:nvSpPr>
        <p:spPr>
          <a:xfrm>
            <a:off x="640080" y="3200400"/>
            <a:ext cx="5349240" cy="2651760"/>
          </a:xfrm>
          <a:prstGeom prst="roundRect">
            <a:avLst>
              <a:gd name="adj" fmla="val 2069"/>
            </a:avLst>
          </a:prstGeom>
          <a:solidFill>
            <a:srgbClr val="F6F7F8"/>
          </a:solidFill>
          <a:ln w="9525">
            <a:solidFill>
              <a:srgbClr val="D3D6D9"/>
            </a:solidFill>
            <a:prstDash val="solid"/>
          </a:ln>
        </p:spPr>
      </p:sp>
      <p:sp>
        <p:nvSpPr>
          <p:cNvPr id="31" name="Text 29"/>
          <p:cNvSpPr/>
          <p:nvPr/>
        </p:nvSpPr>
        <p:spPr>
          <a:xfrm>
            <a:off x="914400" y="3364992"/>
            <a:ext cx="480060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Why fewest, not most?</a:t>
            </a:r>
            <a:endParaRPr lang="en-US" sz="1900" dirty="0"/>
          </a:p>
        </p:txBody>
      </p:sp>
      <p:sp>
        <p:nvSpPr>
          <p:cNvPr id="32" name="Text 30"/>
          <p:cNvSpPr/>
          <p:nvPr/>
        </p:nvSpPr>
        <p:spPr>
          <a:xfrm>
            <a:off x="914400" y="3749040"/>
            <a:ext cx="4800600" cy="192024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Because every variable has to be assigned eventually. There is no skipping the hard one - you will meet it either way.</a:t>
            </a:r>
            <a:endParaRPr lang="en-US" sz="1350" dirty="0"/>
          </a:p>
          <a:p>
            <a:pPr indent="0" marL="0">
              <a:buNone/>
            </a:pPr>
            <a:endParaRPr lang="en-US" sz="1350" dirty="0"/>
          </a:p>
          <a:p>
            <a:pPr indent="0" marL="0">
              <a:buNone/>
            </a:pPr>
            <a:r>
              <a:rPr lang="en-US" sz="1350" dirty="0">
                <a:solidFill>
                  <a:srgbClr val="1C1E21"/>
                </a:solidFill>
                <a:latin typeface="Calibri" pitchFamily="34" charset="0"/>
                <a:ea typeface="Calibri" pitchFamily="34" charset="-122"/>
                <a:cs typeface="Calibri" pitchFamily="34" charset="-120"/>
              </a:rPr>
              <a:t>So if this branch is going to fail, you want to find out now, at depth two, rather than after building five more levels on top of it. Steer deliberately toward the variable most likely to expose the problem.</a:t>
            </a:r>
            <a:endParaRPr lang="en-US" sz="1350" dirty="0"/>
          </a:p>
        </p:txBody>
      </p:sp>
      <p:sp>
        <p:nvSpPr>
          <p:cNvPr id="33" name="Shape 31"/>
          <p:cNvSpPr/>
          <p:nvPr/>
        </p:nvSpPr>
        <p:spPr>
          <a:xfrm>
            <a:off x="6263640" y="3200400"/>
            <a:ext cx="5285232" cy="2651760"/>
          </a:xfrm>
          <a:prstGeom prst="roundRect">
            <a:avLst>
              <a:gd name="adj" fmla="val 2069"/>
            </a:avLst>
          </a:prstGeom>
          <a:solidFill>
            <a:srgbClr val="FBEDEF"/>
          </a:solidFill>
          <a:ln w="9525">
            <a:solidFill>
              <a:srgbClr val="E8B5BC"/>
            </a:solidFill>
            <a:prstDash val="solid"/>
          </a:ln>
        </p:spPr>
      </p:sp>
      <p:sp>
        <p:nvSpPr>
          <p:cNvPr id="34" name="Text 32"/>
          <p:cNvSpPr/>
          <p:nvPr/>
        </p:nvSpPr>
        <p:spPr>
          <a:xfrm>
            <a:off x="6537960" y="3364992"/>
            <a:ext cx="475488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Also known as</a:t>
            </a:r>
            <a:endParaRPr lang="en-US" sz="1900" dirty="0"/>
          </a:p>
        </p:txBody>
      </p:sp>
      <p:sp>
        <p:nvSpPr>
          <p:cNvPr id="35" name="Text 33"/>
          <p:cNvSpPr/>
          <p:nvPr/>
        </p:nvSpPr>
        <p:spPr>
          <a:xfrm>
            <a:off x="6537960" y="3749040"/>
            <a:ext cx="4754880" cy="196596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1C1E21"/>
                </a:solidFill>
                <a:latin typeface="Calibri" pitchFamily="34" charset="0"/>
                <a:ea typeface="Calibri" pitchFamily="34" charset="-122"/>
                <a:cs typeface="Calibri" pitchFamily="34" charset="-120"/>
              </a:rPr>
              <a:t>Most constrained variable - same idea from the constraint side</a:t>
            </a:r>
            <a:endParaRPr lang="en-US" sz="1250" dirty="0"/>
          </a:p>
          <a:p>
            <a:pPr marL="177800" indent="-177800">
              <a:spcAft>
                <a:spcPts val="700"/>
              </a:spcAft>
              <a:buSzPct val="100000"/>
              <a:buChar char="•"/>
            </a:pPr>
            <a:r>
              <a:rPr lang="en-US" sz="1250" b="1" dirty="0">
                <a:solidFill>
                  <a:srgbClr val="1C1E21"/>
                </a:solidFill>
                <a:latin typeface="Calibri" pitchFamily="34" charset="0"/>
                <a:ea typeface="Calibri" pitchFamily="34" charset="-122"/>
                <a:cs typeface="Calibri" pitchFamily="34" charset="-120"/>
              </a:rPr>
              <a:t>Fail-fast ordering - the honest name</a:t>
            </a:r>
            <a:endParaRPr lang="en-US" sz="1250" dirty="0"/>
          </a:p>
          <a:p>
            <a:pPr marL="177800" indent="-177800">
              <a:spcAft>
                <a:spcPts val="700"/>
              </a:spcAft>
              <a:buSzPct val="100000"/>
              <a:buChar char="•"/>
            </a:pPr>
            <a:r>
              <a:rPr lang="en-US" sz="1250" b="1" dirty="0">
                <a:solidFill>
                  <a:srgbClr val="1C1E21"/>
                </a:solidFill>
                <a:latin typeface="Calibri" pitchFamily="34" charset="0"/>
                <a:ea typeface="Calibri" pitchFamily="34" charset="-122"/>
                <a:cs typeface="Calibri" pitchFamily="34" charset="-120"/>
              </a:rPr>
              <a:t>Needs filtering to work. With no maintained domains, every variable looks equally unconstrained and MRV degenerates to an arbitrary choice.</a:t>
            </a:r>
            <a:endParaRPr lang="en-US" sz="1250" dirty="0"/>
          </a:p>
          <a:p>
            <a:pPr marL="177800" indent="-177800">
              <a:spcAft>
                <a:spcPts val="700"/>
              </a:spcAft>
              <a:buSzPct val="100000"/>
              <a:buChar char="•"/>
            </a:pPr>
            <a:r>
              <a:rPr lang="en-US" sz="1250" b="1" dirty="0">
                <a:solidFill>
                  <a:srgbClr val="1C1E21"/>
                </a:solidFill>
                <a:latin typeface="Calibri" pitchFamily="34" charset="0"/>
                <a:ea typeface="Calibri" pitchFamily="34" charset="-122"/>
                <a:cs typeface="Calibri" pitchFamily="34" charset="-120"/>
              </a:rPr>
              <a:t>Common tie-break: degree heuristic - among variables tied on domain size, take the one with the most constraints on unassigned variables.</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44</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Value ordering: least constraining value</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ORDER-DOMAIN-VALUES: try the value that rules out the fewest options elsewhere</a:t>
            </a:r>
            <a:endParaRPr lang="en-US" sz="1400" dirty="0"/>
          </a:p>
        </p:txBody>
      </p:sp>
      <p:sp>
        <p:nvSpPr>
          <p:cNvPr id="6" name="Shape 4"/>
          <p:cNvSpPr/>
          <p:nvPr/>
        </p:nvSpPr>
        <p:spPr>
          <a:xfrm>
            <a:off x="640080" y="1691640"/>
            <a:ext cx="6766560" cy="2148840"/>
          </a:xfrm>
          <a:prstGeom prst="roundRect">
            <a:avLst>
              <a:gd name="adj" fmla="val 2553"/>
            </a:avLst>
          </a:prstGeom>
          <a:solidFill>
            <a:srgbClr val="F6F7F8"/>
          </a:solidFill>
          <a:ln w="9525">
            <a:solidFill>
              <a:srgbClr val="D3D6D9"/>
            </a:solidFill>
            <a:prstDash val="solid"/>
          </a:ln>
        </p:spPr>
      </p:sp>
      <p:sp>
        <p:nvSpPr>
          <p:cNvPr id="7" name="Text 5"/>
          <p:cNvSpPr/>
          <p:nvPr/>
        </p:nvSpPr>
        <p:spPr>
          <a:xfrm>
            <a:off x="914400" y="1847088"/>
            <a:ext cx="621792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The rule</a:t>
            </a:r>
            <a:endParaRPr lang="en-US" sz="1700" dirty="0"/>
          </a:p>
        </p:txBody>
      </p:sp>
      <p:sp>
        <p:nvSpPr>
          <p:cNvPr id="8" name="Text 6"/>
          <p:cNvSpPr/>
          <p:nvPr/>
        </p:nvSpPr>
        <p:spPr>
          <a:xfrm>
            <a:off x="914400" y="2194560"/>
            <a:ext cx="6217920" cy="150876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Having chosen a variable, order its remaining values by how many values they eliminate from neighboring domains, and try the least destructive one first.</a:t>
            </a:r>
            <a:endParaRPr lang="en-US" sz="1350" dirty="0"/>
          </a:p>
          <a:p>
            <a:pPr indent="0" marL="0">
              <a:buNone/>
            </a:pPr>
            <a:endParaRPr lang="en-US" sz="1350" dirty="0"/>
          </a:p>
          <a:p>
            <a:pPr indent="0" marL="0">
              <a:buNone/>
            </a:pPr>
            <a:r>
              <a:rPr lang="en-US" sz="1350" dirty="0">
                <a:solidFill>
                  <a:srgbClr val="1C1E21"/>
                </a:solidFill>
                <a:latin typeface="Calibri" pitchFamily="34" charset="0"/>
                <a:ea typeface="Calibri" pitchFamily="34" charset="-122"/>
                <a:cs typeface="Calibri" pitchFamily="34" charset="-120"/>
              </a:rPr>
              <a:t>Computing this exactly means running the filtering step once per candidate value to see how much each would prune. It is not free.</a:t>
            </a:r>
            <a:endParaRPr lang="en-US" sz="1350" dirty="0"/>
          </a:p>
        </p:txBody>
      </p:sp>
      <p:sp>
        <p:nvSpPr>
          <p:cNvPr id="9" name="Shape 7"/>
          <p:cNvSpPr/>
          <p:nvPr/>
        </p:nvSpPr>
        <p:spPr>
          <a:xfrm>
            <a:off x="7680960" y="1691640"/>
            <a:ext cx="3867912" cy="2148840"/>
          </a:xfrm>
          <a:prstGeom prst="roundRect">
            <a:avLst>
              <a:gd name="adj" fmla="val 2553"/>
            </a:avLst>
          </a:prstGeom>
          <a:solidFill>
            <a:srgbClr val="FBEDEF"/>
          </a:solidFill>
          <a:ln w="9525">
            <a:solidFill>
              <a:srgbClr val="E8B5BC"/>
            </a:solidFill>
            <a:prstDash val="solid"/>
          </a:ln>
        </p:spPr>
      </p:sp>
      <p:sp>
        <p:nvSpPr>
          <p:cNvPr id="10" name="Text 8"/>
          <p:cNvSpPr/>
          <p:nvPr/>
        </p:nvSpPr>
        <p:spPr>
          <a:xfrm>
            <a:off x="7955280" y="1847088"/>
            <a:ext cx="3383280" cy="32004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Worth the cost?</a:t>
            </a:r>
            <a:endParaRPr lang="en-US" sz="1700" dirty="0"/>
          </a:p>
        </p:txBody>
      </p:sp>
      <p:sp>
        <p:nvSpPr>
          <p:cNvPr id="11" name="Text 9"/>
          <p:cNvSpPr/>
          <p:nvPr/>
        </p:nvSpPr>
        <p:spPr>
          <a:xfrm>
            <a:off x="7955280" y="2194560"/>
            <a:ext cx="3383280" cy="1371600"/>
          </a:xfrm>
          <a:prstGeom prst="rect">
            <a:avLst/>
          </a:prstGeom>
          <a:noFill/>
          <a:ln/>
        </p:spPr>
        <p:txBody>
          <a:bodyPr wrap="square" lIns="0" tIns="0" rIns="0" bIns="0" rtlCol="0" anchor="ctr"/>
          <a:lstStyle/>
          <a:p>
            <a:pPr indent="0" marL="0">
              <a:buNone/>
            </a:pPr>
            <a:r>
              <a:rPr lang="en-US" sz="1300" dirty="0">
                <a:solidFill>
                  <a:srgbClr val="1C1E21"/>
                </a:solidFill>
                <a:latin typeface="Calibri" pitchFamily="34" charset="0"/>
                <a:ea typeface="Calibri" pitchFamily="34" charset="-122"/>
                <a:cs typeface="Calibri" pitchFamily="34" charset="-120"/>
              </a:rPr>
              <a:t>Often yes. If the first value you try works out, you never pay for the alternatives at all - and you may avoid backtracking entirely on that branch.</a:t>
            </a:r>
            <a:endParaRPr lang="en-US" sz="1300" dirty="0"/>
          </a:p>
        </p:txBody>
      </p:sp>
      <p:sp>
        <p:nvSpPr>
          <p:cNvPr id="12" name="Shape 10"/>
          <p:cNvSpPr/>
          <p:nvPr/>
        </p:nvSpPr>
        <p:spPr>
          <a:xfrm>
            <a:off x="640080" y="4069080"/>
            <a:ext cx="10908792" cy="2057400"/>
          </a:xfrm>
          <a:prstGeom prst="roundRect">
            <a:avLst>
              <a:gd name="adj" fmla="val 2667"/>
            </a:avLst>
          </a:prstGeom>
          <a:solidFill>
            <a:srgbClr val="1C1E21"/>
          </a:solidFill>
          <a:ln w="9525">
            <a:solidFill>
              <a:srgbClr val="1C1E21"/>
            </a:solidFill>
            <a:prstDash val="solid"/>
          </a:ln>
        </p:spPr>
      </p:sp>
      <p:sp>
        <p:nvSpPr>
          <p:cNvPr id="13" name="Text 11"/>
          <p:cNvSpPr/>
          <p:nvPr/>
        </p:nvSpPr>
        <p:spPr>
          <a:xfrm>
            <a:off x="960120" y="4224528"/>
            <a:ext cx="10058400" cy="365760"/>
          </a:xfrm>
          <a:prstGeom prst="rect">
            <a:avLst/>
          </a:prstGeom>
          <a:noFill/>
          <a:ln/>
        </p:spPr>
        <p:txBody>
          <a:bodyPr wrap="square" lIns="0" tIns="0" rIns="0" bIns="0" rtlCol="0" anchor="ctr"/>
          <a:lstStyle/>
          <a:p>
            <a:pPr indent="0" marL="0">
              <a:buNone/>
            </a:pPr>
            <a:r>
              <a:rPr lang="en-US" sz="2000" b="1" dirty="0">
                <a:solidFill>
                  <a:srgbClr val="CB132A"/>
                </a:solidFill>
                <a:latin typeface="Cambria" pitchFamily="34" charset="0"/>
                <a:ea typeface="Cambria" pitchFamily="34" charset="-122"/>
                <a:cs typeface="Cambria" pitchFamily="34" charset="-120"/>
              </a:rPr>
              <a:t>The asymmetry - and it is not arbitrary</a:t>
            </a:r>
            <a:endParaRPr lang="en-US" sz="2000" dirty="0"/>
          </a:p>
        </p:txBody>
      </p:sp>
      <p:sp>
        <p:nvSpPr>
          <p:cNvPr id="14" name="Text 12"/>
          <p:cNvSpPr/>
          <p:nvPr/>
        </p:nvSpPr>
        <p:spPr>
          <a:xfrm>
            <a:off x="960120" y="4599432"/>
            <a:ext cx="10058400" cy="36576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Hardest variable first. Easiest value first.</a:t>
            </a:r>
            <a:endParaRPr lang="en-US" sz="1800" dirty="0"/>
          </a:p>
        </p:txBody>
      </p:sp>
      <p:sp>
        <p:nvSpPr>
          <p:cNvPr id="15" name="Text 13"/>
          <p:cNvSpPr/>
          <p:nvPr/>
        </p:nvSpPr>
        <p:spPr>
          <a:xfrm>
            <a:off x="960120" y="5029200"/>
            <a:ext cx="10607040" cy="1005840"/>
          </a:xfrm>
          <a:prstGeom prst="rect">
            <a:avLst/>
          </a:prstGeom>
          <a:noFill/>
          <a:ln/>
        </p:spPr>
        <p:txBody>
          <a:bodyPr wrap="square" lIns="0" tIns="0" rIns="0" bIns="0" rtlCol="0" anchor="ctr"/>
          <a:lstStyle/>
          <a:p>
            <a:pPr indent="0" marL="0">
              <a:buNone/>
            </a:pPr>
            <a:r>
              <a:rPr lang="en-US" sz="1350" dirty="0">
                <a:solidFill>
                  <a:srgbClr val="D6D9DC"/>
                </a:solidFill>
                <a:latin typeface="Calibri" pitchFamily="34" charset="0"/>
                <a:ea typeface="Calibri" pitchFamily="34" charset="-122"/>
                <a:cs typeface="Calibri" pitchFamily="34" charset="-120"/>
              </a:rPr>
              <a:t>Every variable must be assigned, so among variables there is nothing to gain by avoiding the hard one - only information to gain by confronting it early. But you only need one value per variable to work. Among values, you are not obligated to try the rest, so chase the one most likely to succeed.</a:t>
            </a:r>
            <a:endParaRPr lang="en-US" sz="1350" dirty="0"/>
          </a:p>
          <a:p>
            <a:pPr indent="0" marL="0">
              <a:buNone/>
            </a:pPr>
            <a:endParaRPr lang="en-US" sz="1350" dirty="0"/>
          </a:p>
          <a:p>
            <a:pPr indent="0" marL="0">
              <a:buNone/>
            </a:pPr>
            <a:r>
              <a:rPr lang="en-US" sz="1350" dirty="0">
                <a:solidFill>
                  <a:srgbClr val="D6D9DC"/>
                </a:solidFill>
                <a:latin typeface="Calibri" pitchFamily="34" charset="0"/>
                <a:ea typeface="Calibri" pitchFamily="34" charset="-122"/>
                <a:cs typeface="Calibri" pitchFamily="34" charset="-120"/>
              </a:rPr>
              <a:t>Fail fast where failure is unavoidable. Succeed fast where success is sufficient.</a:t>
            </a:r>
            <a:endParaRPr lang="en-US" sz="13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45</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Stacking everything we built today</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Same algorithm, four configurations</a:t>
            </a:r>
            <a:endParaRPr lang="en-US" sz="1400" dirty="0"/>
          </a:p>
        </p:txBody>
      </p:sp>
      <p:sp>
        <p:nvSpPr>
          <p:cNvPr id="6" name="Shape 4"/>
          <p:cNvSpPr/>
          <p:nvPr/>
        </p:nvSpPr>
        <p:spPr>
          <a:xfrm>
            <a:off x="640080" y="1737360"/>
            <a:ext cx="10908792" cy="914400"/>
          </a:xfrm>
          <a:prstGeom prst="roundRect">
            <a:avLst>
              <a:gd name="adj" fmla="val 6000"/>
            </a:avLst>
          </a:prstGeom>
          <a:solidFill>
            <a:srgbClr val="F6F7F8"/>
          </a:solidFill>
          <a:ln w="9525">
            <a:solidFill>
              <a:srgbClr val="D3D6D9"/>
            </a:solidFill>
            <a:prstDash val="solid"/>
          </a:ln>
        </p:spPr>
      </p:sp>
      <p:sp>
        <p:nvSpPr>
          <p:cNvPr id="7" name="Shape 5"/>
          <p:cNvSpPr/>
          <p:nvPr/>
        </p:nvSpPr>
        <p:spPr>
          <a:xfrm>
            <a:off x="914400" y="2011680"/>
            <a:ext cx="365760" cy="365760"/>
          </a:xfrm>
          <a:prstGeom prst="ellipse">
            <a:avLst/>
          </a:prstGeom>
          <a:solidFill>
            <a:srgbClr val="CB132A"/>
          </a:solidFill>
          <a:ln w="12700">
            <a:solidFill>
              <a:srgbClr val="CB132A"/>
            </a:solidFill>
            <a:prstDash val="solid"/>
          </a:ln>
        </p:spPr>
      </p:sp>
      <p:sp>
        <p:nvSpPr>
          <p:cNvPr id="8" name="Text 6"/>
          <p:cNvSpPr/>
          <p:nvPr/>
        </p:nvSpPr>
        <p:spPr>
          <a:xfrm>
            <a:off x="914400" y="2011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481328" y="1737360"/>
            <a:ext cx="4023360" cy="91440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Naive DFS</a:t>
            </a:r>
            <a:endParaRPr lang="en-US" sz="1700" dirty="0"/>
          </a:p>
        </p:txBody>
      </p:sp>
      <p:sp>
        <p:nvSpPr>
          <p:cNvPr id="10" name="Text 8"/>
          <p:cNvSpPr/>
          <p:nvPr/>
        </p:nvSpPr>
        <p:spPr>
          <a:xfrm>
            <a:off x="5577840" y="1737360"/>
            <a:ext cx="3566160" cy="91440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no ordering, goal test at the leaves only</a:t>
            </a:r>
            <a:endParaRPr lang="en-US" sz="1250" dirty="0"/>
          </a:p>
        </p:txBody>
      </p:sp>
      <p:sp>
        <p:nvSpPr>
          <p:cNvPr id="11" name="Text 9"/>
          <p:cNvSpPr/>
          <p:nvPr/>
        </p:nvSpPr>
        <p:spPr>
          <a:xfrm>
            <a:off x="9235440" y="1737360"/>
            <a:ext cx="2103120" cy="914400"/>
          </a:xfrm>
          <a:prstGeom prst="rect">
            <a:avLst/>
          </a:prstGeom>
          <a:noFill/>
          <a:ln/>
        </p:spPr>
        <p:txBody>
          <a:bodyPr wrap="square" lIns="0" tIns="0" rIns="0" bIns="0" rtlCol="0" anchor="ctr"/>
          <a:lstStyle/>
          <a:p>
            <a:pPr algn="r" indent="0" marL="0">
              <a:buNone/>
            </a:pPr>
            <a:r>
              <a:rPr lang="en-US" sz="1300" b="1" dirty="0">
                <a:solidFill>
                  <a:srgbClr val="1C1E21"/>
                </a:solidFill>
                <a:latin typeface="Calibri" pitchFamily="34" charset="0"/>
                <a:ea typeface="Calibri" pitchFamily="34" charset="-122"/>
                <a:cs typeface="Calibri" pitchFamily="34" charset="-120"/>
              </a:rPr>
              <a:t>hopeless past toy sizes</a:t>
            </a:r>
            <a:endParaRPr lang="en-US" sz="1300" dirty="0"/>
          </a:p>
        </p:txBody>
      </p:sp>
      <p:sp>
        <p:nvSpPr>
          <p:cNvPr id="12" name="Shape 10"/>
          <p:cNvSpPr/>
          <p:nvPr/>
        </p:nvSpPr>
        <p:spPr>
          <a:xfrm>
            <a:off x="640080" y="2761488"/>
            <a:ext cx="10908792" cy="914400"/>
          </a:xfrm>
          <a:prstGeom prst="roundRect">
            <a:avLst>
              <a:gd name="adj" fmla="val 6000"/>
            </a:avLst>
          </a:prstGeom>
          <a:solidFill>
            <a:srgbClr val="F6F7F8"/>
          </a:solidFill>
          <a:ln w="9525">
            <a:solidFill>
              <a:srgbClr val="D3D6D9"/>
            </a:solidFill>
            <a:prstDash val="solid"/>
          </a:ln>
        </p:spPr>
      </p:sp>
      <p:sp>
        <p:nvSpPr>
          <p:cNvPr id="13" name="Shape 11"/>
          <p:cNvSpPr/>
          <p:nvPr/>
        </p:nvSpPr>
        <p:spPr>
          <a:xfrm>
            <a:off x="914400" y="3035808"/>
            <a:ext cx="365760" cy="365760"/>
          </a:xfrm>
          <a:prstGeom prst="ellipse">
            <a:avLst/>
          </a:prstGeom>
          <a:solidFill>
            <a:srgbClr val="CB132A"/>
          </a:solidFill>
          <a:ln w="12700">
            <a:solidFill>
              <a:srgbClr val="CB132A"/>
            </a:solidFill>
            <a:prstDash val="solid"/>
          </a:ln>
        </p:spPr>
      </p:sp>
      <p:sp>
        <p:nvSpPr>
          <p:cNvPr id="14" name="Text 12"/>
          <p:cNvSpPr/>
          <p:nvPr/>
        </p:nvSpPr>
        <p:spPr>
          <a:xfrm>
            <a:off x="914400" y="30358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481328" y="2761488"/>
            <a:ext cx="4023360" cy="91440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Backtracking</a:t>
            </a:r>
            <a:endParaRPr lang="en-US" sz="1700" dirty="0"/>
          </a:p>
        </p:txBody>
      </p:sp>
      <p:sp>
        <p:nvSpPr>
          <p:cNvPr id="16" name="Text 14"/>
          <p:cNvSpPr/>
          <p:nvPr/>
        </p:nvSpPr>
        <p:spPr>
          <a:xfrm>
            <a:off x="5577840" y="2761488"/>
            <a:ext cx="3566160" cy="91440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fixed variable order, incremental constraint check</a:t>
            </a:r>
            <a:endParaRPr lang="en-US" sz="1250" dirty="0"/>
          </a:p>
        </p:txBody>
      </p:sp>
      <p:sp>
        <p:nvSpPr>
          <p:cNvPr id="17" name="Text 15"/>
          <p:cNvSpPr/>
          <p:nvPr/>
        </p:nvSpPr>
        <p:spPr>
          <a:xfrm>
            <a:off x="9235440" y="2761488"/>
            <a:ext cx="2103120" cy="914400"/>
          </a:xfrm>
          <a:prstGeom prst="rect">
            <a:avLst/>
          </a:prstGeom>
          <a:noFill/>
          <a:ln/>
        </p:spPr>
        <p:txBody>
          <a:bodyPr wrap="square" lIns="0" tIns="0" rIns="0" bIns="0" rtlCol="0" anchor="ctr"/>
          <a:lstStyle/>
          <a:p>
            <a:pPr algn="r" indent="0" marL="0">
              <a:buNone/>
            </a:pPr>
            <a:r>
              <a:rPr lang="en-US" sz="1300" b="1" dirty="0">
                <a:solidFill>
                  <a:srgbClr val="1C1E21"/>
                </a:solidFill>
                <a:latin typeface="Calibri" pitchFamily="34" charset="0"/>
                <a:ea typeface="Calibri" pitchFamily="34" charset="-122"/>
                <a:cs typeface="Calibri" pitchFamily="34" charset="-120"/>
              </a:rPr>
              <a:t>n-queens to about 25</a:t>
            </a:r>
            <a:endParaRPr lang="en-US" sz="1300" dirty="0"/>
          </a:p>
        </p:txBody>
      </p:sp>
      <p:sp>
        <p:nvSpPr>
          <p:cNvPr id="18" name="Shape 16"/>
          <p:cNvSpPr/>
          <p:nvPr/>
        </p:nvSpPr>
        <p:spPr>
          <a:xfrm>
            <a:off x="640080" y="3785616"/>
            <a:ext cx="10908792" cy="914400"/>
          </a:xfrm>
          <a:prstGeom prst="roundRect">
            <a:avLst>
              <a:gd name="adj" fmla="val 6000"/>
            </a:avLst>
          </a:prstGeom>
          <a:solidFill>
            <a:srgbClr val="F6F7F8"/>
          </a:solidFill>
          <a:ln w="9525">
            <a:solidFill>
              <a:srgbClr val="D3D6D9"/>
            </a:solidFill>
            <a:prstDash val="solid"/>
          </a:ln>
        </p:spPr>
      </p:sp>
      <p:sp>
        <p:nvSpPr>
          <p:cNvPr id="19" name="Shape 17"/>
          <p:cNvSpPr/>
          <p:nvPr/>
        </p:nvSpPr>
        <p:spPr>
          <a:xfrm>
            <a:off x="914400" y="4059936"/>
            <a:ext cx="365760" cy="365760"/>
          </a:xfrm>
          <a:prstGeom prst="ellipse">
            <a:avLst/>
          </a:prstGeom>
          <a:solidFill>
            <a:srgbClr val="CB132A"/>
          </a:solidFill>
          <a:ln w="12700">
            <a:solidFill>
              <a:srgbClr val="CB132A"/>
            </a:solidFill>
            <a:prstDash val="solid"/>
          </a:ln>
        </p:spPr>
      </p:sp>
      <p:sp>
        <p:nvSpPr>
          <p:cNvPr id="20" name="Text 18"/>
          <p:cNvSpPr/>
          <p:nvPr/>
        </p:nvSpPr>
        <p:spPr>
          <a:xfrm>
            <a:off x="914400" y="4059936"/>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481328" y="3785616"/>
            <a:ext cx="4023360" cy="914400"/>
          </a:xfrm>
          <a:prstGeom prst="rect">
            <a:avLst/>
          </a:prstGeom>
          <a:noFill/>
          <a:ln/>
        </p:spPr>
        <p:txBody>
          <a:bodyPr wrap="square" lIns="0" tIns="0" rIns="0" bIns="0" rtlCol="0" anchor="ctr"/>
          <a:lstStyle/>
          <a:p>
            <a:pPr indent="0" marL="0">
              <a:buNone/>
            </a:pPr>
            <a:r>
              <a:rPr lang="en-US" sz="1700" b="1" dirty="0">
                <a:solidFill>
                  <a:srgbClr val="1C1E21"/>
                </a:solidFill>
                <a:latin typeface="Cambria" pitchFamily="34" charset="0"/>
                <a:ea typeface="Cambria" pitchFamily="34" charset="-122"/>
                <a:cs typeface="Cambria" pitchFamily="34" charset="-120"/>
              </a:rPr>
              <a:t>+ forward checking</a:t>
            </a:r>
            <a:endParaRPr lang="en-US" sz="1700" dirty="0"/>
          </a:p>
        </p:txBody>
      </p:sp>
      <p:sp>
        <p:nvSpPr>
          <p:cNvPr id="22" name="Text 20"/>
          <p:cNvSpPr/>
          <p:nvPr/>
        </p:nvSpPr>
        <p:spPr>
          <a:xfrm>
            <a:off x="5577840" y="3785616"/>
            <a:ext cx="3566160" cy="91440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prune neighbor domains on each assignment</a:t>
            </a:r>
            <a:endParaRPr lang="en-US" sz="1250" dirty="0"/>
          </a:p>
        </p:txBody>
      </p:sp>
      <p:sp>
        <p:nvSpPr>
          <p:cNvPr id="23" name="Text 21"/>
          <p:cNvSpPr/>
          <p:nvPr/>
        </p:nvSpPr>
        <p:spPr>
          <a:xfrm>
            <a:off x="9235440" y="3785616"/>
            <a:ext cx="2103120" cy="914400"/>
          </a:xfrm>
          <a:prstGeom prst="rect">
            <a:avLst/>
          </a:prstGeom>
          <a:noFill/>
          <a:ln/>
        </p:spPr>
        <p:txBody>
          <a:bodyPr wrap="square" lIns="0" tIns="0" rIns="0" bIns="0" rtlCol="0" anchor="ctr"/>
          <a:lstStyle/>
          <a:p>
            <a:pPr algn="r" indent="0" marL="0">
              <a:buNone/>
            </a:pPr>
            <a:r>
              <a:rPr lang="en-US" sz="1300" b="1" dirty="0">
                <a:solidFill>
                  <a:srgbClr val="1C1E21"/>
                </a:solidFill>
                <a:latin typeface="Calibri" pitchFamily="34" charset="0"/>
                <a:ea typeface="Calibri" pitchFamily="34" charset="-122"/>
                <a:cs typeface="Calibri" pitchFamily="34" charset="-120"/>
              </a:rPr>
              <a:t>meaningfully further</a:t>
            </a:r>
            <a:endParaRPr lang="en-US" sz="1300" dirty="0"/>
          </a:p>
        </p:txBody>
      </p:sp>
      <p:sp>
        <p:nvSpPr>
          <p:cNvPr id="24" name="Shape 22"/>
          <p:cNvSpPr/>
          <p:nvPr/>
        </p:nvSpPr>
        <p:spPr>
          <a:xfrm>
            <a:off x="640080" y="4809744"/>
            <a:ext cx="10908792" cy="914400"/>
          </a:xfrm>
          <a:prstGeom prst="roundRect">
            <a:avLst>
              <a:gd name="adj" fmla="val 6000"/>
            </a:avLst>
          </a:prstGeom>
          <a:solidFill>
            <a:srgbClr val="FBEDEF"/>
          </a:solidFill>
          <a:ln w="9525">
            <a:solidFill>
              <a:srgbClr val="E8B5BC"/>
            </a:solidFill>
            <a:prstDash val="solid"/>
          </a:ln>
        </p:spPr>
      </p:sp>
      <p:sp>
        <p:nvSpPr>
          <p:cNvPr id="25" name="Shape 23"/>
          <p:cNvSpPr/>
          <p:nvPr/>
        </p:nvSpPr>
        <p:spPr>
          <a:xfrm>
            <a:off x="914400" y="5084064"/>
            <a:ext cx="365760" cy="365760"/>
          </a:xfrm>
          <a:prstGeom prst="ellipse">
            <a:avLst/>
          </a:prstGeom>
          <a:solidFill>
            <a:srgbClr val="CB132A"/>
          </a:solidFill>
          <a:ln w="12700">
            <a:solidFill>
              <a:srgbClr val="CB132A"/>
            </a:solidFill>
            <a:prstDash val="solid"/>
          </a:ln>
        </p:spPr>
      </p:sp>
      <p:sp>
        <p:nvSpPr>
          <p:cNvPr id="26" name="Text 24"/>
          <p:cNvSpPr/>
          <p:nvPr/>
        </p:nvSpPr>
        <p:spPr>
          <a:xfrm>
            <a:off x="914400" y="508406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p:nvPr/>
        </p:nvSpPr>
        <p:spPr>
          <a:xfrm>
            <a:off x="1481328" y="4809744"/>
            <a:ext cx="4023360" cy="914400"/>
          </a:xfrm>
          <a:prstGeom prst="rect">
            <a:avLst/>
          </a:prstGeom>
          <a:noFill/>
          <a:ln/>
        </p:spPr>
        <p:txBody>
          <a:bodyPr wrap="square" lIns="0" tIns="0" rIns="0" bIns="0" rtlCol="0" anchor="ctr"/>
          <a:lstStyle/>
          <a:p>
            <a:pPr indent="0" marL="0">
              <a:buNone/>
            </a:pPr>
            <a:r>
              <a:rPr lang="en-US" sz="1700" b="1" dirty="0">
                <a:solidFill>
                  <a:srgbClr val="CB132A"/>
                </a:solidFill>
                <a:latin typeface="Cambria" pitchFamily="34" charset="0"/>
                <a:ea typeface="Cambria" pitchFamily="34" charset="-122"/>
                <a:cs typeface="Cambria" pitchFamily="34" charset="-120"/>
              </a:rPr>
              <a:t>+ arc consistency + MRV + LCV</a:t>
            </a:r>
            <a:endParaRPr lang="en-US" sz="1700" dirty="0"/>
          </a:p>
        </p:txBody>
      </p:sp>
      <p:sp>
        <p:nvSpPr>
          <p:cNvPr id="28" name="Text 26"/>
          <p:cNvSpPr/>
          <p:nvPr/>
        </p:nvSpPr>
        <p:spPr>
          <a:xfrm>
            <a:off x="5577840" y="4809744"/>
            <a:ext cx="3566160" cy="91440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full propagation and both ordering heuristics</a:t>
            </a:r>
            <a:endParaRPr lang="en-US" sz="1250" dirty="0"/>
          </a:p>
        </p:txBody>
      </p:sp>
      <p:sp>
        <p:nvSpPr>
          <p:cNvPr id="29" name="Text 27"/>
          <p:cNvSpPr/>
          <p:nvPr/>
        </p:nvSpPr>
        <p:spPr>
          <a:xfrm>
            <a:off x="9235440" y="4809744"/>
            <a:ext cx="2103120" cy="914400"/>
          </a:xfrm>
          <a:prstGeom prst="rect">
            <a:avLst/>
          </a:prstGeom>
          <a:noFill/>
          <a:ln/>
        </p:spPr>
        <p:txBody>
          <a:bodyPr wrap="square" lIns="0" tIns="0" rIns="0" bIns="0" rtlCol="0" anchor="ctr"/>
          <a:lstStyle/>
          <a:p>
            <a:pPr algn="r" indent="0" marL="0">
              <a:buNone/>
            </a:pPr>
            <a:r>
              <a:rPr lang="en-US" sz="1300" b="1" dirty="0">
                <a:solidFill>
                  <a:srgbClr val="CB132A"/>
                </a:solidFill>
                <a:latin typeface="Calibri" pitchFamily="34" charset="0"/>
                <a:ea typeface="Calibri" pitchFamily="34" charset="-122"/>
                <a:cs typeface="Calibri" pitchFamily="34" charset="-120"/>
              </a:rPr>
              <a:t>1,000 queens is feasible</a:t>
            </a:r>
            <a:endParaRPr lang="en-US" sz="1300" dirty="0"/>
          </a:p>
        </p:txBody>
      </p:sp>
      <p:sp>
        <p:nvSpPr>
          <p:cNvPr id="30" name="Shape 28"/>
          <p:cNvSpPr/>
          <p:nvPr/>
        </p:nvSpPr>
        <p:spPr>
          <a:xfrm>
            <a:off x="640080" y="5815584"/>
            <a:ext cx="10908792" cy="475488"/>
          </a:xfrm>
          <a:prstGeom prst="roundRect">
            <a:avLst>
              <a:gd name="adj" fmla="val 11538"/>
            </a:avLst>
          </a:prstGeom>
          <a:solidFill>
            <a:srgbClr val="1C1E21"/>
          </a:solidFill>
          <a:ln w="9525">
            <a:solidFill>
              <a:srgbClr val="1C1E21"/>
            </a:solidFill>
            <a:prstDash val="solid"/>
          </a:ln>
        </p:spPr>
      </p:sp>
      <p:sp>
        <p:nvSpPr>
          <p:cNvPr id="31" name="Text 29"/>
          <p:cNvSpPr/>
          <p:nvPr/>
        </p:nvSpPr>
        <p:spPr>
          <a:xfrm>
            <a:off x="960120" y="5815584"/>
            <a:ext cx="10268712" cy="47548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None of these changed the complexity class. All of them changed what you can actually run before lunch.</a:t>
            </a:r>
            <a:endParaRPr lang="en-US" sz="13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46</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The honest caveat</a:t>
            </a:r>
            <a:endParaRPr lang="en-US" sz="3200" dirty="0"/>
          </a:p>
        </p:txBody>
      </p:sp>
      <p:sp>
        <p:nvSpPr>
          <p:cNvPr id="5" name="Text 3"/>
          <p:cNvSpPr/>
          <p:nvPr/>
        </p:nvSpPr>
        <p:spPr>
          <a:xfrm>
            <a:off x="640080" y="987552"/>
            <a:ext cx="10908792" cy="310896"/>
          </a:xfrm>
          <a:prstGeom prst="rect">
            <a:avLst/>
          </a:prstGeom>
          <a:noFill/>
          <a:ln/>
        </p:spPr>
        <p:txBody>
          <a:bodyPr wrap="square" lIns="0" tIns="0" rIns="0" bIns="0" rtlCol="0" anchor="ctr"/>
          <a:lstStyle/>
          <a:p>
            <a:pPr indent="0" marL="0">
              <a:buNone/>
            </a:pPr>
            <a:r>
              <a:rPr lang="en-US" sz="1400" i="1" dirty="0">
                <a:solidFill>
                  <a:srgbClr val="53565A"/>
                </a:solidFill>
                <a:latin typeface="Calibri" pitchFamily="34" charset="0"/>
                <a:ea typeface="Calibri" pitchFamily="34" charset="-122"/>
                <a:cs typeface="Calibri" pitchFamily="34" charset="-120"/>
              </a:rPr>
              <a:t>Read this before you conclude that CSPs are solved</a:t>
            </a:r>
            <a:endParaRPr lang="en-US" sz="1400" dirty="0"/>
          </a:p>
        </p:txBody>
      </p:sp>
      <p:sp>
        <p:nvSpPr>
          <p:cNvPr id="6" name="Shape 4"/>
          <p:cNvSpPr/>
          <p:nvPr/>
        </p:nvSpPr>
        <p:spPr>
          <a:xfrm>
            <a:off x="640080" y="1737360"/>
            <a:ext cx="5349240" cy="2286000"/>
          </a:xfrm>
          <a:prstGeom prst="roundRect">
            <a:avLst>
              <a:gd name="adj" fmla="val 2400"/>
            </a:avLst>
          </a:prstGeom>
          <a:solidFill>
            <a:srgbClr val="FBEDEF"/>
          </a:solidFill>
          <a:ln w="9525">
            <a:solidFill>
              <a:srgbClr val="E8B5BC"/>
            </a:solidFill>
            <a:prstDash val="solid"/>
          </a:ln>
        </p:spPr>
      </p:sp>
      <p:sp>
        <p:nvSpPr>
          <p:cNvPr id="7" name="Text 5"/>
          <p:cNvSpPr/>
          <p:nvPr/>
        </p:nvSpPr>
        <p:spPr>
          <a:xfrm>
            <a:off x="914400" y="1920240"/>
            <a:ext cx="480060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CSPs are NP-hard in general</a:t>
            </a:r>
            <a:endParaRPr lang="en-US" sz="1900" dirty="0"/>
          </a:p>
        </p:txBody>
      </p:sp>
      <p:sp>
        <p:nvSpPr>
          <p:cNvPr id="8" name="Text 6"/>
          <p:cNvSpPr/>
          <p:nvPr/>
        </p:nvSpPr>
        <p:spPr>
          <a:xfrm>
            <a:off x="914400" y="2331720"/>
            <a:ext cx="4800600" cy="155448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SAT is a Boolean CSP, and SAT is NP-complete. So no polynomial-time filtering algorithm can decide satisfiability for every CSP - if one could, it would settle P versus NP.</a:t>
            </a:r>
            <a:endParaRPr lang="en-US" sz="1350" dirty="0"/>
          </a:p>
          <a:p>
            <a:pPr indent="0" marL="0">
              <a:buNone/>
            </a:pPr>
            <a:endParaRPr lang="en-US" sz="1350" dirty="0"/>
          </a:p>
          <a:p>
            <a:pPr indent="0" marL="0">
              <a:buNone/>
            </a:pPr>
            <a:r>
              <a:rPr lang="en-US" sz="1350" dirty="0">
                <a:solidFill>
                  <a:srgbClr val="1C1E21"/>
                </a:solidFill>
                <a:latin typeface="Calibri" pitchFamily="34" charset="0"/>
                <a:ea typeface="Calibri" pitchFamily="34" charset="-122"/>
                <a:cs typeface="Calibri" pitchFamily="34" charset="-120"/>
              </a:rPr>
              <a:t>That is why AC-3 only prunes and backtracking search is still required underneath it.</a:t>
            </a:r>
            <a:endParaRPr lang="en-US" sz="1350" dirty="0"/>
          </a:p>
        </p:txBody>
      </p:sp>
      <p:sp>
        <p:nvSpPr>
          <p:cNvPr id="9" name="Shape 7"/>
          <p:cNvSpPr/>
          <p:nvPr/>
        </p:nvSpPr>
        <p:spPr>
          <a:xfrm>
            <a:off x="6263640" y="1737360"/>
            <a:ext cx="5285232" cy="2286000"/>
          </a:xfrm>
          <a:prstGeom prst="roundRect">
            <a:avLst>
              <a:gd name="adj" fmla="val 2400"/>
            </a:avLst>
          </a:prstGeom>
          <a:solidFill>
            <a:srgbClr val="F6F7F8"/>
          </a:solidFill>
          <a:ln w="9525">
            <a:solidFill>
              <a:srgbClr val="D3D6D9"/>
            </a:solidFill>
            <a:prstDash val="solid"/>
          </a:ln>
        </p:spPr>
      </p:sp>
      <p:sp>
        <p:nvSpPr>
          <p:cNvPr id="10" name="Text 8"/>
          <p:cNvSpPr/>
          <p:nvPr/>
        </p:nvSpPr>
        <p:spPr>
          <a:xfrm>
            <a:off x="6537960" y="1920240"/>
            <a:ext cx="4754880" cy="365760"/>
          </a:xfrm>
          <a:prstGeom prst="rect">
            <a:avLst/>
          </a:prstGeom>
          <a:noFill/>
          <a:ln/>
        </p:spPr>
        <p:txBody>
          <a:bodyPr wrap="square" lIns="0" tIns="0" rIns="0" bIns="0" rtlCol="0" anchor="ctr"/>
          <a:lstStyle/>
          <a:p>
            <a:pPr indent="0" marL="0">
              <a:buNone/>
            </a:pPr>
            <a:r>
              <a:rPr lang="en-US" sz="1900" b="1" dirty="0">
                <a:solidFill>
                  <a:srgbClr val="1C1E21"/>
                </a:solidFill>
                <a:latin typeface="Cambria" pitchFamily="34" charset="0"/>
                <a:ea typeface="Cambria" pitchFamily="34" charset="-122"/>
                <a:cs typeface="Cambria" pitchFamily="34" charset="-120"/>
              </a:rPr>
              <a:t>And yet</a:t>
            </a:r>
            <a:endParaRPr lang="en-US" sz="1900" dirty="0"/>
          </a:p>
        </p:txBody>
      </p:sp>
      <p:sp>
        <p:nvSpPr>
          <p:cNvPr id="11" name="Text 9"/>
          <p:cNvSpPr/>
          <p:nvPr/>
        </p:nvSpPr>
        <p:spPr>
          <a:xfrm>
            <a:off x="6537960" y="2331720"/>
            <a:ext cx="4754880" cy="1554480"/>
          </a:xfrm>
          <a:prstGeom prst="rect">
            <a:avLst/>
          </a:prstGeom>
          <a:noFill/>
          <a:ln/>
        </p:spPr>
        <p:txBody>
          <a:bodyPr wrap="square" lIns="0" tIns="0" rIns="0" bIns="0" rtlCol="0" anchor="ctr"/>
          <a:lstStyle/>
          <a:p>
            <a:pPr indent="0" marL="0">
              <a:buNone/>
            </a:pPr>
            <a:r>
              <a:rPr lang="en-US" sz="1350" dirty="0">
                <a:solidFill>
                  <a:srgbClr val="1C1E21"/>
                </a:solidFill>
                <a:latin typeface="Calibri" pitchFamily="34" charset="0"/>
                <a:ea typeface="Calibri" pitchFamily="34" charset="-122"/>
                <a:cs typeface="Calibri" pitchFamily="34" charset="-120"/>
              </a:rPr>
              <a:t>Worst-case hardness says nothing about the instances you actually get handed. Real timetables, real rosters, and real configurations carry structure that these techniques exploit ruthlessly.</a:t>
            </a:r>
            <a:endParaRPr lang="en-US" sz="1350" dirty="0"/>
          </a:p>
          <a:p>
            <a:pPr indent="0" marL="0">
              <a:buNone/>
            </a:pPr>
            <a:endParaRPr lang="en-US" sz="1350" dirty="0"/>
          </a:p>
          <a:p>
            <a:pPr indent="0" marL="0">
              <a:buNone/>
            </a:pPr>
            <a:r>
              <a:rPr lang="en-US" sz="1350" dirty="0">
                <a:solidFill>
                  <a:srgbClr val="1C1E21"/>
                </a:solidFill>
                <a:latin typeface="Calibri" pitchFamily="34" charset="0"/>
                <a:ea typeface="Calibri" pitchFamily="34" charset="-122"/>
                <a:cs typeface="Calibri" pitchFamily="34" charset="-120"/>
              </a:rPr>
              <a:t>Industrial SAT and CSP solvers routinely dispatch instances with millions of variables.</a:t>
            </a:r>
            <a:endParaRPr lang="en-US" sz="1350" dirty="0"/>
          </a:p>
        </p:txBody>
      </p:sp>
      <p:sp>
        <p:nvSpPr>
          <p:cNvPr id="12" name="Shape 10"/>
          <p:cNvSpPr/>
          <p:nvPr/>
        </p:nvSpPr>
        <p:spPr>
          <a:xfrm>
            <a:off x="640080" y="4251960"/>
            <a:ext cx="10908792" cy="1508760"/>
          </a:xfrm>
          <a:prstGeom prst="roundRect">
            <a:avLst>
              <a:gd name="adj" fmla="val 3636"/>
            </a:avLst>
          </a:prstGeom>
          <a:solidFill>
            <a:srgbClr val="1C1E21"/>
          </a:solidFill>
          <a:ln w="9525">
            <a:solidFill>
              <a:srgbClr val="1C1E21"/>
            </a:solidFill>
            <a:prstDash val="solid"/>
          </a:ln>
        </p:spPr>
      </p:sp>
      <p:sp>
        <p:nvSpPr>
          <p:cNvPr id="13" name="Text 11"/>
          <p:cNvSpPr/>
          <p:nvPr/>
        </p:nvSpPr>
        <p:spPr>
          <a:xfrm>
            <a:off x="960120" y="4407408"/>
            <a:ext cx="10058400" cy="365760"/>
          </a:xfrm>
          <a:prstGeom prst="rect">
            <a:avLst/>
          </a:prstGeom>
          <a:noFill/>
          <a:ln/>
        </p:spPr>
        <p:txBody>
          <a:bodyPr wrap="square" lIns="0" tIns="0" rIns="0" bIns="0" rtlCol="0" anchor="ctr"/>
          <a:lstStyle/>
          <a:p>
            <a:pPr indent="0" marL="0">
              <a:buNone/>
            </a:pPr>
            <a:r>
              <a:rPr lang="en-US" sz="2000" b="1" dirty="0">
                <a:solidFill>
                  <a:srgbClr val="CB132A"/>
                </a:solidFill>
                <a:latin typeface="Cambria" pitchFamily="34" charset="0"/>
                <a:ea typeface="Cambria" pitchFamily="34" charset="-122"/>
                <a:cs typeface="Cambria" pitchFamily="34" charset="-120"/>
              </a:rPr>
              <a:t>Hold both of these at once</a:t>
            </a:r>
            <a:endParaRPr lang="en-US" sz="2000" dirty="0"/>
          </a:p>
        </p:txBody>
      </p:sp>
      <p:sp>
        <p:nvSpPr>
          <p:cNvPr id="14" name="Text 12"/>
          <p:cNvSpPr/>
          <p:nvPr/>
        </p:nvSpPr>
        <p:spPr>
          <a:xfrm>
            <a:off x="960120" y="4828032"/>
            <a:ext cx="10607040" cy="822960"/>
          </a:xfrm>
          <a:prstGeom prst="rect">
            <a:avLst/>
          </a:prstGeom>
          <a:noFill/>
          <a:ln/>
        </p:spPr>
        <p:txBody>
          <a:bodyPr wrap="square" lIns="0" tIns="0" rIns="0" bIns="0" rtlCol="0" anchor="ctr"/>
          <a:lstStyle/>
          <a:p>
            <a:pPr indent="0" marL="0">
              <a:buNone/>
            </a:pPr>
            <a:r>
              <a:rPr lang="en-US" sz="1400" dirty="0">
                <a:solidFill>
                  <a:srgbClr val="D6D9DC"/>
                </a:solidFill>
                <a:latin typeface="Calibri" pitchFamily="34" charset="0"/>
                <a:ea typeface="Calibri" pitchFamily="34" charset="-122"/>
                <a:cs typeface="Calibri" pitchFamily="34" charset="-120"/>
              </a:rPr>
              <a:t>The techniques in this lecture do not defeat the exponential. They change the constant and the average case by enough that an enormous number of practically important problems fall over. Both halves of that sentence are true, and a good engineer keeps them in view simultaneously.</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47</a:t>
            </a:r>
            <a:endParaRPr lang="en-US" sz="900" dirty="0"/>
          </a:p>
        </p:txBody>
      </p:sp>
      <p:sp>
        <p:nvSpPr>
          <p:cNvPr id="4" name="Shape 2"/>
          <p:cNvSpPr/>
          <p:nvPr/>
        </p:nvSpPr>
        <p:spPr>
          <a:xfrm>
            <a:off x="0" y="0"/>
            <a:ext cx="12191695" cy="6858000"/>
          </a:xfrm>
          <a:prstGeom prst="rect">
            <a:avLst/>
          </a:prstGeom>
          <a:solidFill>
            <a:srgbClr val="F1F2F3"/>
          </a:solidFill>
          <a:ln w="12700">
            <a:solidFill>
              <a:srgbClr val="333333"/>
            </a:solidFill>
            <a:prstDash val="solid"/>
          </a:ln>
        </p:spPr>
      </p:sp>
      <p:sp>
        <p:nvSpPr>
          <p:cNvPr id="5" name="Text 3"/>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6" name="Text 4"/>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47</a:t>
            </a:r>
            <a:endParaRPr lang="en-US" sz="900" dirty="0"/>
          </a:p>
        </p:txBody>
      </p:sp>
      <p:sp>
        <p:nvSpPr>
          <p:cNvPr id="7" name="Text 5"/>
          <p:cNvSpPr/>
          <p:nvPr/>
        </p:nvSpPr>
        <p:spPr>
          <a:xfrm>
            <a:off x="640080" y="457200"/>
            <a:ext cx="3657600" cy="365760"/>
          </a:xfrm>
          <a:prstGeom prst="rect">
            <a:avLst/>
          </a:prstGeom>
          <a:noFill/>
          <a:ln/>
        </p:spPr>
        <p:txBody>
          <a:bodyPr wrap="square" lIns="0" tIns="0" rIns="0" bIns="0" rtlCol="0" anchor="ctr"/>
          <a:lstStyle/>
          <a:p>
            <a:pPr indent="0" marL="0">
              <a:buNone/>
            </a:pPr>
            <a:r>
              <a:rPr lang="en-US" sz="1300" b="1" spc="300" kern="0" dirty="0">
                <a:solidFill>
                  <a:srgbClr val="CB132A"/>
                </a:solidFill>
                <a:latin typeface="Calibri" pitchFamily="34" charset="0"/>
                <a:ea typeface="Calibri" pitchFamily="34" charset="-122"/>
                <a:cs typeface="Calibri" pitchFamily="34" charset="-120"/>
              </a:rPr>
              <a:t>Checkpoint</a:t>
            </a:r>
            <a:endParaRPr lang="en-US" sz="1300" dirty="0"/>
          </a:p>
        </p:txBody>
      </p:sp>
      <p:sp>
        <p:nvSpPr>
          <p:cNvPr id="8" name="Text 6"/>
          <p:cNvSpPr/>
          <p:nvPr/>
        </p:nvSpPr>
        <p:spPr>
          <a:xfrm>
            <a:off x="640080" y="804672"/>
            <a:ext cx="10908792" cy="594360"/>
          </a:xfrm>
          <a:prstGeom prst="rect">
            <a:avLst/>
          </a:prstGeom>
          <a:noFill/>
          <a:ln/>
        </p:spPr>
        <p:txBody>
          <a:bodyPr wrap="square" lIns="0" tIns="0" rIns="0" bIns="0" rtlCol="0" anchor="ctr"/>
          <a:lstStyle/>
          <a:p>
            <a:pPr indent="0" marL="0">
              <a:buNone/>
            </a:pPr>
            <a:r>
              <a:rPr lang="en-US" sz="3000" b="1" dirty="0">
                <a:solidFill>
                  <a:srgbClr val="1C1E21"/>
                </a:solidFill>
                <a:latin typeface="Cambria" pitchFamily="34" charset="0"/>
                <a:ea typeface="Cambria" pitchFamily="34" charset="-122"/>
                <a:cs typeface="Cambria" pitchFamily="34" charset="-120"/>
              </a:rPr>
              <a:t>Trace it by hand</a:t>
            </a:r>
            <a:endParaRPr lang="en-US" sz="3000" dirty="0"/>
          </a:p>
        </p:txBody>
      </p:sp>
      <p:sp>
        <p:nvSpPr>
          <p:cNvPr id="9" name="Shape 7"/>
          <p:cNvSpPr/>
          <p:nvPr/>
        </p:nvSpPr>
        <p:spPr>
          <a:xfrm>
            <a:off x="640080" y="1554480"/>
            <a:ext cx="5943600" cy="2788920"/>
          </a:xfrm>
          <a:prstGeom prst="roundRect">
            <a:avLst>
              <a:gd name="adj" fmla="val 1967"/>
            </a:avLst>
          </a:prstGeom>
          <a:solidFill>
            <a:srgbClr val="FFFFFF"/>
          </a:solidFill>
          <a:ln w="9525">
            <a:solidFill>
              <a:srgbClr val="D3D6D9"/>
            </a:solidFill>
            <a:prstDash val="solid"/>
          </a:ln>
        </p:spPr>
      </p:sp>
      <p:sp>
        <p:nvSpPr>
          <p:cNvPr id="10" name="Text 8"/>
          <p:cNvSpPr/>
          <p:nvPr/>
        </p:nvSpPr>
        <p:spPr>
          <a:xfrm>
            <a:off x="914400" y="1691640"/>
            <a:ext cx="5394960" cy="320040"/>
          </a:xfrm>
          <a:prstGeom prst="rect">
            <a:avLst/>
          </a:prstGeom>
          <a:noFill/>
          <a:ln/>
        </p:spPr>
        <p:txBody>
          <a:bodyPr wrap="square" lIns="0" tIns="0" rIns="0" bIns="0" rtlCol="0" anchor="ctr"/>
          <a:lstStyle/>
          <a:p>
            <a:pPr indent="0" marL="0">
              <a:buNone/>
            </a:pPr>
            <a:r>
              <a:rPr lang="en-US" sz="1600" b="1" dirty="0">
                <a:solidFill>
                  <a:srgbClr val="CB132A"/>
                </a:solidFill>
                <a:latin typeface="Cambria" pitchFamily="34" charset="0"/>
                <a:ea typeface="Cambria" pitchFamily="34" charset="-122"/>
                <a:cs typeface="Cambria" pitchFamily="34" charset="-120"/>
              </a:rPr>
              <a:t>Starting from these domains</a:t>
            </a:r>
            <a:endParaRPr lang="en-US" sz="1600" dirty="0"/>
          </a:p>
        </p:txBody>
      </p:sp>
      <p:sp>
        <p:nvSpPr>
          <p:cNvPr id="11" name="Shape 9"/>
          <p:cNvSpPr/>
          <p:nvPr/>
        </p:nvSpPr>
        <p:spPr>
          <a:xfrm>
            <a:off x="914400" y="2331720"/>
            <a:ext cx="1691640" cy="365760"/>
          </a:xfrm>
          <a:prstGeom prst="rect">
            <a:avLst/>
          </a:prstGeom>
          <a:solidFill>
            <a:srgbClr val="FFFFFF"/>
          </a:solidFill>
          <a:ln w="12700">
            <a:solidFill>
              <a:srgbClr val="1C1E21"/>
            </a:solidFill>
            <a:prstDash val="solid"/>
          </a:ln>
        </p:spPr>
      </p:sp>
      <p:sp>
        <p:nvSpPr>
          <p:cNvPr id="12" name="Text 10"/>
          <p:cNvSpPr/>
          <p:nvPr/>
        </p:nvSpPr>
        <p:spPr>
          <a:xfrm>
            <a:off x="914400" y="2039112"/>
            <a:ext cx="169164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WA</a:t>
            </a:r>
            <a:endParaRPr lang="en-US" sz="1200" dirty="0"/>
          </a:p>
        </p:txBody>
      </p:sp>
      <p:sp>
        <p:nvSpPr>
          <p:cNvPr id="13" name="Shape 11"/>
          <p:cNvSpPr/>
          <p:nvPr/>
        </p:nvSpPr>
        <p:spPr>
          <a:xfrm>
            <a:off x="978408" y="2395728"/>
            <a:ext cx="1563624" cy="237744"/>
          </a:xfrm>
          <a:prstGeom prst="rect">
            <a:avLst/>
          </a:prstGeom>
          <a:solidFill>
            <a:srgbClr val="C0392B"/>
          </a:solidFill>
          <a:ln w="12700">
            <a:solidFill>
              <a:srgbClr val="C0392B"/>
            </a:solidFill>
            <a:prstDash val="solid"/>
          </a:ln>
        </p:spPr>
      </p:sp>
      <p:sp>
        <p:nvSpPr>
          <p:cNvPr id="14" name="Shape 12"/>
          <p:cNvSpPr/>
          <p:nvPr/>
        </p:nvSpPr>
        <p:spPr>
          <a:xfrm>
            <a:off x="2724912" y="2331720"/>
            <a:ext cx="1691640" cy="365760"/>
          </a:xfrm>
          <a:prstGeom prst="rect">
            <a:avLst/>
          </a:prstGeom>
          <a:solidFill>
            <a:srgbClr val="FFFFFF"/>
          </a:solidFill>
          <a:ln w="12700">
            <a:solidFill>
              <a:srgbClr val="1C1E21"/>
            </a:solidFill>
            <a:prstDash val="solid"/>
          </a:ln>
        </p:spPr>
      </p:sp>
      <p:sp>
        <p:nvSpPr>
          <p:cNvPr id="15" name="Text 13"/>
          <p:cNvSpPr/>
          <p:nvPr/>
        </p:nvSpPr>
        <p:spPr>
          <a:xfrm>
            <a:off x="2724912" y="2039112"/>
            <a:ext cx="169164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NT</a:t>
            </a:r>
            <a:endParaRPr lang="en-US" sz="1200" dirty="0"/>
          </a:p>
        </p:txBody>
      </p:sp>
      <p:sp>
        <p:nvSpPr>
          <p:cNvPr id="16" name="Shape 14"/>
          <p:cNvSpPr/>
          <p:nvPr/>
        </p:nvSpPr>
        <p:spPr>
          <a:xfrm>
            <a:off x="3461004" y="2404872"/>
            <a:ext cx="219456" cy="219456"/>
          </a:xfrm>
          <a:prstGeom prst="rect">
            <a:avLst/>
          </a:prstGeom>
          <a:solidFill>
            <a:srgbClr val="2E8B45"/>
          </a:solidFill>
          <a:ln w="12700">
            <a:solidFill>
              <a:srgbClr val="2E8B45"/>
            </a:solidFill>
            <a:prstDash val="solid"/>
          </a:ln>
        </p:spPr>
      </p:sp>
      <p:sp>
        <p:nvSpPr>
          <p:cNvPr id="17" name="Shape 15"/>
          <p:cNvSpPr/>
          <p:nvPr/>
        </p:nvSpPr>
        <p:spPr>
          <a:xfrm>
            <a:off x="3982212" y="2404872"/>
            <a:ext cx="219456" cy="219456"/>
          </a:xfrm>
          <a:prstGeom prst="rect">
            <a:avLst/>
          </a:prstGeom>
          <a:solidFill>
            <a:srgbClr val="2A62C4"/>
          </a:solidFill>
          <a:ln w="12700">
            <a:solidFill>
              <a:srgbClr val="2A62C4"/>
            </a:solidFill>
            <a:prstDash val="solid"/>
          </a:ln>
        </p:spPr>
      </p:sp>
      <p:sp>
        <p:nvSpPr>
          <p:cNvPr id="18" name="Shape 16"/>
          <p:cNvSpPr/>
          <p:nvPr/>
        </p:nvSpPr>
        <p:spPr>
          <a:xfrm>
            <a:off x="4535424" y="2331720"/>
            <a:ext cx="1691640" cy="365760"/>
          </a:xfrm>
          <a:prstGeom prst="rect">
            <a:avLst/>
          </a:prstGeom>
          <a:solidFill>
            <a:srgbClr val="FFFFFF"/>
          </a:solidFill>
          <a:ln w="12700">
            <a:solidFill>
              <a:srgbClr val="1C1E21"/>
            </a:solidFill>
            <a:prstDash val="solid"/>
          </a:ln>
        </p:spPr>
      </p:sp>
      <p:sp>
        <p:nvSpPr>
          <p:cNvPr id="19" name="Text 17"/>
          <p:cNvSpPr/>
          <p:nvPr/>
        </p:nvSpPr>
        <p:spPr>
          <a:xfrm>
            <a:off x="4535424" y="2039112"/>
            <a:ext cx="1691640" cy="256032"/>
          </a:xfrm>
          <a:prstGeom prst="rect">
            <a:avLst/>
          </a:prstGeom>
          <a:noFill/>
          <a:ln/>
        </p:spPr>
        <p:txBody>
          <a:bodyPr wrap="square" lIns="0" tIns="0" rIns="0" bIns="0" rtlCol="0" anchor="ctr"/>
          <a:lstStyle/>
          <a:p>
            <a:pPr algn="ctr" indent="0" marL="0">
              <a:buNone/>
            </a:pPr>
            <a:r>
              <a:rPr lang="en-US" sz="1200" b="1" dirty="0">
                <a:solidFill>
                  <a:srgbClr val="1C1E21"/>
                </a:solidFill>
                <a:latin typeface="Calibri" pitchFamily="34" charset="0"/>
                <a:ea typeface="Calibri" pitchFamily="34" charset="-122"/>
                <a:cs typeface="Calibri" pitchFamily="34" charset="-120"/>
              </a:rPr>
              <a:t>SA</a:t>
            </a:r>
            <a:endParaRPr lang="en-US" sz="1200" dirty="0"/>
          </a:p>
        </p:txBody>
      </p:sp>
      <p:sp>
        <p:nvSpPr>
          <p:cNvPr id="20" name="Shape 18"/>
          <p:cNvSpPr/>
          <p:nvPr/>
        </p:nvSpPr>
        <p:spPr>
          <a:xfrm>
            <a:off x="5271516" y="2404872"/>
            <a:ext cx="219456" cy="219456"/>
          </a:xfrm>
          <a:prstGeom prst="rect">
            <a:avLst/>
          </a:prstGeom>
          <a:solidFill>
            <a:srgbClr val="2E8B45"/>
          </a:solidFill>
          <a:ln w="12700">
            <a:solidFill>
              <a:srgbClr val="2E8B45"/>
            </a:solidFill>
            <a:prstDash val="solid"/>
          </a:ln>
        </p:spPr>
      </p:sp>
      <p:sp>
        <p:nvSpPr>
          <p:cNvPr id="21" name="Shape 19"/>
          <p:cNvSpPr/>
          <p:nvPr/>
        </p:nvSpPr>
        <p:spPr>
          <a:xfrm>
            <a:off x="5792724" y="2404872"/>
            <a:ext cx="219456" cy="219456"/>
          </a:xfrm>
          <a:prstGeom prst="rect">
            <a:avLst/>
          </a:prstGeom>
          <a:solidFill>
            <a:srgbClr val="2A62C4"/>
          </a:solidFill>
          <a:ln w="12700">
            <a:solidFill>
              <a:srgbClr val="2A62C4"/>
            </a:solidFill>
            <a:prstDash val="solid"/>
          </a:ln>
        </p:spPr>
      </p:sp>
      <p:sp>
        <p:nvSpPr>
          <p:cNvPr id="22" name="Text 20"/>
          <p:cNvSpPr/>
          <p:nvPr/>
        </p:nvSpPr>
        <p:spPr>
          <a:xfrm>
            <a:off x="914400" y="2834640"/>
            <a:ext cx="5394960" cy="274320"/>
          </a:xfrm>
          <a:prstGeom prst="rect">
            <a:avLst/>
          </a:prstGeom>
          <a:noFill/>
          <a:ln/>
        </p:spPr>
        <p:txBody>
          <a:bodyPr wrap="square" lIns="0" tIns="0" rIns="0" bIns="0" rtlCol="0" anchor="ctr"/>
          <a:lstStyle/>
          <a:p>
            <a:pPr indent="0" marL="0">
              <a:buNone/>
            </a:pPr>
            <a:r>
              <a:rPr lang="en-US" sz="1200" i="1" dirty="0">
                <a:solidFill>
                  <a:srgbClr val="7C8085"/>
                </a:solidFill>
                <a:latin typeface="Calibri" pitchFamily="34" charset="0"/>
                <a:ea typeface="Calibri" pitchFamily="34" charset="-122"/>
                <a:cs typeface="Calibri" pitchFamily="34" charset="-120"/>
              </a:rPr>
              <a:t>plus Q, NSW, V, T all still { R, G, B }</a:t>
            </a:r>
            <a:endParaRPr lang="en-US" sz="1200" dirty="0"/>
          </a:p>
        </p:txBody>
      </p:sp>
      <p:sp>
        <p:nvSpPr>
          <p:cNvPr id="23" name="Text 21"/>
          <p:cNvSpPr/>
          <p:nvPr/>
        </p:nvSpPr>
        <p:spPr>
          <a:xfrm>
            <a:off x="914400" y="3246120"/>
            <a:ext cx="5394960" cy="320040"/>
          </a:xfrm>
          <a:prstGeom prst="rect">
            <a:avLst/>
          </a:prstGeom>
          <a:noFill/>
          <a:ln/>
        </p:spPr>
        <p:txBody>
          <a:bodyPr wrap="square" lIns="0" tIns="0" rIns="0" bIns="0" rtlCol="0" anchor="ctr"/>
          <a:lstStyle/>
          <a:p>
            <a:pPr indent="0" marL="0">
              <a:buNone/>
            </a:pPr>
            <a:r>
              <a:rPr lang="en-US" sz="1500" b="1" dirty="0">
                <a:solidFill>
                  <a:srgbClr val="1C1E21"/>
                </a:solidFill>
                <a:latin typeface="Calibri" pitchFamily="34" charset="0"/>
                <a:ea typeface="Calibri" pitchFamily="34" charset="-122"/>
                <a:cs typeface="Calibri" pitchFamily="34" charset="-120"/>
              </a:rPr>
              <a:t>Now assign NT = green.</a:t>
            </a:r>
            <a:endParaRPr lang="en-US" sz="1500" dirty="0"/>
          </a:p>
        </p:txBody>
      </p:sp>
      <p:sp>
        <p:nvSpPr>
          <p:cNvPr id="24" name="Text 22"/>
          <p:cNvSpPr/>
          <p:nvPr/>
        </p:nvSpPr>
        <p:spPr>
          <a:xfrm>
            <a:off x="914400" y="3611880"/>
            <a:ext cx="5394960" cy="640080"/>
          </a:xfrm>
          <a:prstGeom prst="rect">
            <a:avLst/>
          </a:prstGeom>
          <a:noFill/>
          <a:ln/>
        </p:spPr>
        <p:txBody>
          <a:bodyPr wrap="square" lIns="0" tIns="0" rIns="0" bIns="0" rtlCol="0" anchor="ctr"/>
          <a:lstStyle/>
          <a:p>
            <a:pPr indent="0" marL="0">
              <a:buNone/>
            </a:pPr>
            <a:r>
              <a:rPr lang="en-US" sz="1300" dirty="0">
                <a:solidFill>
                  <a:srgbClr val="53565A"/>
                </a:solidFill>
                <a:latin typeface="Calibri" pitchFamily="34" charset="0"/>
                <a:ea typeface="Calibri" pitchFamily="34" charset="-122"/>
                <a:cs typeface="Calibri" pitchFamily="34" charset="-120"/>
              </a:rPr>
              <a:t>Answer both parts against that assignment, and be ready to defend the arc directions you chose.</a:t>
            </a:r>
            <a:endParaRPr lang="en-US" sz="1300" dirty="0"/>
          </a:p>
        </p:txBody>
      </p:sp>
      <p:sp>
        <p:nvSpPr>
          <p:cNvPr id="25" name="Shape 23"/>
          <p:cNvSpPr/>
          <p:nvPr/>
        </p:nvSpPr>
        <p:spPr>
          <a:xfrm>
            <a:off x="6949440" y="1554480"/>
            <a:ext cx="4599432" cy="2788920"/>
          </a:xfrm>
          <a:prstGeom prst="roundRect">
            <a:avLst>
              <a:gd name="adj" fmla="val 1967"/>
            </a:avLst>
          </a:prstGeom>
          <a:solidFill>
            <a:srgbClr val="FFFFFF"/>
          </a:solidFill>
          <a:ln w="9525">
            <a:solidFill>
              <a:srgbClr val="D3D6D9"/>
            </a:solidFill>
            <a:prstDash val="solid"/>
          </a:ln>
        </p:spPr>
      </p:sp>
      <p:sp>
        <p:nvSpPr>
          <p:cNvPr id="26" name="Shape 24"/>
          <p:cNvSpPr/>
          <p:nvPr/>
        </p:nvSpPr>
        <p:spPr>
          <a:xfrm>
            <a:off x="7223760" y="1737360"/>
            <a:ext cx="310896" cy="310896"/>
          </a:xfrm>
          <a:prstGeom prst="ellipse">
            <a:avLst/>
          </a:prstGeom>
          <a:solidFill>
            <a:srgbClr val="CB132A"/>
          </a:solidFill>
          <a:ln w="12700">
            <a:solidFill>
              <a:srgbClr val="CB132A"/>
            </a:solidFill>
            <a:prstDash val="solid"/>
          </a:ln>
        </p:spPr>
      </p:sp>
      <p:sp>
        <p:nvSpPr>
          <p:cNvPr id="27" name="Text 25"/>
          <p:cNvSpPr/>
          <p:nvPr/>
        </p:nvSpPr>
        <p:spPr>
          <a:xfrm>
            <a:off x="7223760" y="173736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8" name="Text 26"/>
          <p:cNvSpPr/>
          <p:nvPr/>
        </p:nvSpPr>
        <p:spPr>
          <a:xfrm>
            <a:off x="7635240" y="1700784"/>
            <a:ext cx="3749040" cy="384048"/>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What does forward checking remove?</a:t>
            </a:r>
            <a:endParaRPr lang="en-US" sz="1400" dirty="0"/>
          </a:p>
        </p:txBody>
      </p:sp>
      <p:sp>
        <p:nvSpPr>
          <p:cNvPr id="29" name="Text 27"/>
          <p:cNvSpPr/>
          <p:nvPr/>
        </p:nvSpPr>
        <p:spPr>
          <a:xfrm>
            <a:off x="7223760" y="2148840"/>
            <a:ext cx="4114800" cy="54864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List every domain it touches and every value it deletes. Does anything empty out?</a:t>
            </a:r>
            <a:endParaRPr lang="en-US" sz="1250" dirty="0"/>
          </a:p>
        </p:txBody>
      </p:sp>
      <p:sp>
        <p:nvSpPr>
          <p:cNvPr id="30" name="Shape 28"/>
          <p:cNvSpPr/>
          <p:nvPr/>
        </p:nvSpPr>
        <p:spPr>
          <a:xfrm>
            <a:off x="7223760" y="2834640"/>
            <a:ext cx="310896" cy="310896"/>
          </a:xfrm>
          <a:prstGeom prst="ellipse">
            <a:avLst/>
          </a:prstGeom>
          <a:solidFill>
            <a:srgbClr val="CB132A"/>
          </a:solidFill>
          <a:ln w="12700">
            <a:solidFill>
              <a:srgbClr val="CB132A"/>
            </a:solidFill>
            <a:prstDash val="solid"/>
          </a:ln>
        </p:spPr>
      </p:sp>
      <p:sp>
        <p:nvSpPr>
          <p:cNvPr id="31" name="Text 29"/>
          <p:cNvSpPr/>
          <p:nvPr/>
        </p:nvSpPr>
        <p:spPr>
          <a:xfrm>
            <a:off x="7223760" y="283464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32" name="Text 30"/>
          <p:cNvSpPr/>
          <p:nvPr/>
        </p:nvSpPr>
        <p:spPr>
          <a:xfrm>
            <a:off x="7635240" y="2798064"/>
            <a:ext cx="3749040" cy="384048"/>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What does full AC-3 remove?</a:t>
            </a:r>
            <a:endParaRPr lang="en-US" sz="1400" dirty="0"/>
          </a:p>
        </p:txBody>
      </p:sp>
      <p:sp>
        <p:nvSpPr>
          <p:cNvPr id="33" name="Text 31"/>
          <p:cNvSpPr/>
          <p:nvPr/>
        </p:nvSpPr>
        <p:spPr>
          <a:xfrm>
            <a:off x="7223760" y="3246120"/>
            <a:ext cx="4114800" cy="685800"/>
          </a:xfrm>
          <a:prstGeom prst="rect">
            <a:avLst/>
          </a:prstGeom>
          <a:noFill/>
          <a:ln/>
        </p:spPr>
        <p:txBody>
          <a:bodyPr wrap="square" lIns="0" tIns="0" rIns="0" bIns="0" rtlCol="0" anchor="ctr"/>
          <a:lstStyle/>
          <a:p>
            <a:pPr indent="0" marL="0">
              <a:buNone/>
            </a:pPr>
            <a:r>
              <a:rPr lang="en-US" sz="1250" dirty="0">
                <a:solidFill>
                  <a:srgbClr val="53565A"/>
                </a:solidFill>
                <a:latin typeface="Calibri" pitchFamily="34" charset="0"/>
                <a:ea typeface="Calibri" pitchFamily="34" charset="-122"/>
                <a:cs typeface="Calibri" pitchFamily="34" charset="-120"/>
              </a:rPr>
              <a:t>Name at least one arc AC-3 checks that forward checking never looks at, and say what it finds there.</a:t>
            </a:r>
            <a:endParaRPr lang="en-US" sz="1250" dirty="0"/>
          </a:p>
        </p:txBody>
      </p:sp>
      <p:sp>
        <p:nvSpPr>
          <p:cNvPr id="34" name="Shape 32"/>
          <p:cNvSpPr/>
          <p:nvPr/>
        </p:nvSpPr>
        <p:spPr>
          <a:xfrm>
            <a:off x="640080" y="4572000"/>
            <a:ext cx="10908792" cy="1371600"/>
          </a:xfrm>
          <a:prstGeom prst="roundRect">
            <a:avLst>
              <a:gd name="adj" fmla="val 4000"/>
            </a:avLst>
          </a:prstGeom>
          <a:solidFill>
            <a:srgbClr val="1C1E21"/>
          </a:solidFill>
          <a:ln w="9525">
            <a:solidFill>
              <a:srgbClr val="1C1E21"/>
            </a:solidFill>
            <a:prstDash val="solid"/>
          </a:ln>
        </p:spPr>
      </p:sp>
      <p:sp>
        <p:nvSpPr>
          <p:cNvPr id="35" name="Text 33"/>
          <p:cNvSpPr/>
          <p:nvPr/>
        </p:nvSpPr>
        <p:spPr>
          <a:xfrm>
            <a:off x="960120" y="4709160"/>
            <a:ext cx="10058400" cy="320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Five minutes in pairs. Then two of you walk it at the board.</a:t>
            </a:r>
            <a:endParaRPr lang="en-US" sz="1700" dirty="0"/>
          </a:p>
        </p:txBody>
      </p:sp>
      <p:sp>
        <p:nvSpPr>
          <p:cNvPr id="36" name="Text 34"/>
          <p:cNvSpPr/>
          <p:nvPr/>
        </p:nvSpPr>
        <p:spPr>
          <a:xfrm>
            <a:off x="960120" y="5120640"/>
            <a:ext cx="10607040" cy="685800"/>
          </a:xfrm>
          <a:prstGeom prst="rect">
            <a:avLst/>
          </a:prstGeom>
          <a:noFill/>
          <a:ln/>
        </p:spPr>
        <p:txBody>
          <a:bodyPr wrap="square" lIns="0" tIns="0" rIns="0" bIns="0" rtlCol="0" anchor="ctr"/>
          <a:lstStyle/>
          <a:p>
            <a:pPr indent="0" marL="0">
              <a:buNone/>
            </a:pPr>
            <a:r>
              <a:rPr lang="en-US" sz="1350" dirty="0">
                <a:solidFill>
                  <a:srgbClr val="B9BDC1"/>
                </a:solidFill>
                <a:latin typeface="Calibri" pitchFamily="34" charset="0"/>
                <a:ea typeface="Calibri" pitchFamily="34" charset="-122"/>
                <a:cs typeface="Calibri" pitchFamily="34" charset="-120"/>
              </a:rPr>
              <a:t>If you can do this by hand, you can implement it. If you cannot, the implementation will not save you - the arc directions and the re-queue rule are exactly where the bugs live.</a:t>
            </a:r>
            <a:endParaRPr lang="en-US" sz="13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900" dirty="0">
                <a:solidFill>
                  <a:srgbClr val="7C8085"/>
                </a:solidFill>
                <a:latin typeface="Calibri" pitchFamily="34" charset="0"/>
                <a:ea typeface="Calibri" pitchFamily="34" charset="-122"/>
                <a:cs typeface="Calibri" pitchFamily="34" charset="-120"/>
              </a:rPr>
              <a:t>COMP 469  |  Constraint Satisfaction Problems I</a:t>
            </a:r>
            <a:endParaRPr lang="en-US" sz="900" dirty="0"/>
          </a:p>
        </p:txBody>
      </p:sp>
      <p:sp>
        <p:nvSpPr>
          <p:cNvPr id="3" name="Text 1"/>
          <p:cNvSpPr/>
          <p:nvPr/>
        </p:nvSpPr>
        <p:spPr>
          <a:xfrm>
            <a:off x="11002975" y="6355080"/>
            <a:ext cx="548640" cy="274320"/>
          </a:xfrm>
          <a:prstGeom prst="rect">
            <a:avLst/>
          </a:prstGeom>
          <a:noFill/>
          <a:ln/>
        </p:spPr>
        <p:txBody>
          <a:bodyPr wrap="square" lIns="0" tIns="0" rIns="0" bIns="0" rtlCol="0" anchor="ctr"/>
          <a:lstStyle/>
          <a:p>
            <a:pPr algn="r" indent="0" marL="0">
              <a:buNone/>
            </a:pPr>
            <a:r>
              <a:rPr lang="en-US" sz="900" dirty="0">
                <a:solidFill>
                  <a:srgbClr val="7C8085"/>
                </a:solidFill>
                <a:latin typeface="Calibri" pitchFamily="34" charset="0"/>
                <a:ea typeface="Calibri" pitchFamily="34" charset="-122"/>
                <a:cs typeface="Calibri" pitchFamily="34" charset="-120"/>
              </a:rPr>
              <a:t>48</a:t>
            </a:r>
            <a:endParaRPr lang="en-US" sz="900" dirty="0"/>
          </a:p>
        </p:txBody>
      </p:sp>
      <p:sp>
        <p:nvSpPr>
          <p:cNvPr id="4" name="Text 2"/>
          <p:cNvSpPr/>
          <p:nvPr/>
        </p:nvSpPr>
        <p:spPr>
          <a:xfrm>
            <a:off x="640080" y="347472"/>
            <a:ext cx="10908792" cy="658368"/>
          </a:xfrm>
          <a:prstGeom prst="rect">
            <a:avLst/>
          </a:prstGeom>
          <a:noFill/>
          <a:ln/>
        </p:spPr>
        <p:txBody>
          <a:bodyPr wrap="square" lIns="0" tIns="0" rIns="0" bIns="0" rtlCol="0" anchor="ctr"/>
          <a:lstStyle/>
          <a:p>
            <a:pPr indent="0" marL="0">
              <a:buNone/>
            </a:pPr>
            <a:r>
              <a:rPr lang="en-US" sz="3200" b="1" dirty="0">
                <a:solidFill>
                  <a:srgbClr val="1C1E21"/>
                </a:solidFill>
                <a:latin typeface="Cambria" pitchFamily="34" charset="0"/>
                <a:ea typeface="Cambria" pitchFamily="34" charset="-122"/>
                <a:cs typeface="Cambria" pitchFamily="34" charset="-120"/>
              </a:rPr>
              <a:t>What to take away</a:t>
            </a:r>
            <a:endParaRPr lang="en-US" sz="3200" dirty="0"/>
          </a:p>
        </p:txBody>
      </p:sp>
      <p:sp>
        <p:nvSpPr>
          <p:cNvPr id="5" name="Shape 3"/>
          <p:cNvSpPr/>
          <p:nvPr/>
        </p:nvSpPr>
        <p:spPr>
          <a:xfrm>
            <a:off x="640080" y="1481328"/>
            <a:ext cx="10908792" cy="713232"/>
          </a:xfrm>
          <a:prstGeom prst="roundRect">
            <a:avLst>
              <a:gd name="adj" fmla="val 7692"/>
            </a:avLst>
          </a:prstGeom>
          <a:solidFill>
            <a:srgbClr val="F6F7F8"/>
          </a:solidFill>
          <a:ln w="9525">
            <a:solidFill>
              <a:srgbClr val="D3D6D9"/>
            </a:solidFill>
            <a:prstDash val="solid"/>
          </a:ln>
        </p:spPr>
      </p:sp>
      <p:sp>
        <p:nvSpPr>
          <p:cNvPr id="6" name="Shape 4"/>
          <p:cNvSpPr/>
          <p:nvPr/>
        </p:nvSpPr>
        <p:spPr>
          <a:xfrm>
            <a:off x="896112" y="1673352"/>
            <a:ext cx="329184" cy="329184"/>
          </a:xfrm>
          <a:prstGeom prst="ellipse">
            <a:avLst/>
          </a:prstGeom>
          <a:solidFill>
            <a:srgbClr val="CB132A"/>
          </a:solidFill>
          <a:ln w="12700">
            <a:solidFill>
              <a:srgbClr val="CB132A"/>
            </a:solidFill>
            <a:prstDash val="solid"/>
          </a:ln>
        </p:spPr>
      </p:sp>
      <p:sp>
        <p:nvSpPr>
          <p:cNvPr id="7" name="Text 5"/>
          <p:cNvSpPr/>
          <p:nvPr/>
        </p:nvSpPr>
        <p:spPr>
          <a:xfrm>
            <a:off x="896112" y="167335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389888" y="1481328"/>
            <a:ext cx="3611880" cy="713232"/>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A CSP is a triple</a:t>
            </a:r>
            <a:endParaRPr lang="en-US" sz="1400" dirty="0"/>
          </a:p>
        </p:txBody>
      </p:sp>
      <p:sp>
        <p:nvSpPr>
          <p:cNvPr id="9" name="Text 7"/>
          <p:cNvSpPr/>
          <p:nvPr/>
        </p:nvSpPr>
        <p:spPr>
          <a:xfrm>
            <a:off x="5074920" y="1517904"/>
            <a:ext cx="6217920" cy="64008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Variables, domains, constraints. The goal test stops being an opaque function and becomes a set of rules you can inspect mid-search.</a:t>
            </a:r>
            <a:endParaRPr lang="en-US" sz="1200" dirty="0"/>
          </a:p>
        </p:txBody>
      </p:sp>
      <p:sp>
        <p:nvSpPr>
          <p:cNvPr id="10" name="Shape 8"/>
          <p:cNvSpPr/>
          <p:nvPr/>
        </p:nvSpPr>
        <p:spPr>
          <a:xfrm>
            <a:off x="640080" y="2267712"/>
            <a:ext cx="10908792" cy="713232"/>
          </a:xfrm>
          <a:prstGeom prst="roundRect">
            <a:avLst>
              <a:gd name="adj" fmla="val 7692"/>
            </a:avLst>
          </a:prstGeom>
          <a:solidFill>
            <a:srgbClr val="F6F7F8"/>
          </a:solidFill>
          <a:ln w="9525">
            <a:solidFill>
              <a:srgbClr val="D3D6D9"/>
            </a:solidFill>
            <a:prstDash val="solid"/>
          </a:ln>
        </p:spPr>
      </p:sp>
      <p:sp>
        <p:nvSpPr>
          <p:cNvPr id="11" name="Shape 9"/>
          <p:cNvSpPr/>
          <p:nvPr/>
        </p:nvSpPr>
        <p:spPr>
          <a:xfrm>
            <a:off x="896112" y="2459736"/>
            <a:ext cx="329184" cy="329184"/>
          </a:xfrm>
          <a:prstGeom prst="ellipse">
            <a:avLst/>
          </a:prstGeom>
          <a:solidFill>
            <a:srgbClr val="CB132A"/>
          </a:solidFill>
          <a:ln w="12700">
            <a:solidFill>
              <a:srgbClr val="CB132A"/>
            </a:solidFill>
            <a:prstDash val="solid"/>
          </a:ln>
        </p:spPr>
      </p:sp>
      <p:sp>
        <p:nvSpPr>
          <p:cNvPr id="12" name="Text 10"/>
          <p:cNvSpPr/>
          <p:nvPr/>
        </p:nvSpPr>
        <p:spPr>
          <a:xfrm>
            <a:off x="896112" y="245973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389888" y="2267712"/>
            <a:ext cx="3611880" cy="713232"/>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Formulation beats algorithm</a:t>
            </a:r>
            <a:endParaRPr lang="en-US" sz="1400" dirty="0"/>
          </a:p>
        </p:txBody>
      </p:sp>
      <p:sp>
        <p:nvSpPr>
          <p:cNvPr id="14" name="Text 12"/>
          <p:cNvSpPr/>
          <p:nvPr/>
        </p:nvSpPr>
        <p:spPr>
          <a:xfrm>
            <a:off x="5074920" y="2304288"/>
            <a:ext cx="6217920" cy="64008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One variable per row instead of one per square took N-Queens from 2^(N^2) to N^N before a single line of solver code ran.</a:t>
            </a:r>
            <a:endParaRPr lang="en-US" sz="1200" dirty="0"/>
          </a:p>
        </p:txBody>
      </p:sp>
      <p:sp>
        <p:nvSpPr>
          <p:cNvPr id="15" name="Shape 13"/>
          <p:cNvSpPr/>
          <p:nvPr/>
        </p:nvSpPr>
        <p:spPr>
          <a:xfrm>
            <a:off x="640080" y="3054096"/>
            <a:ext cx="10908792" cy="713232"/>
          </a:xfrm>
          <a:prstGeom prst="roundRect">
            <a:avLst>
              <a:gd name="adj" fmla="val 7692"/>
            </a:avLst>
          </a:prstGeom>
          <a:solidFill>
            <a:srgbClr val="F6F7F8"/>
          </a:solidFill>
          <a:ln w="9525">
            <a:solidFill>
              <a:srgbClr val="D3D6D9"/>
            </a:solidFill>
            <a:prstDash val="solid"/>
          </a:ln>
        </p:spPr>
      </p:sp>
      <p:sp>
        <p:nvSpPr>
          <p:cNvPr id="16" name="Shape 14"/>
          <p:cNvSpPr/>
          <p:nvPr/>
        </p:nvSpPr>
        <p:spPr>
          <a:xfrm>
            <a:off x="896112" y="3246120"/>
            <a:ext cx="329184" cy="329184"/>
          </a:xfrm>
          <a:prstGeom prst="ellipse">
            <a:avLst/>
          </a:prstGeom>
          <a:solidFill>
            <a:srgbClr val="CB132A"/>
          </a:solidFill>
          <a:ln w="12700">
            <a:solidFill>
              <a:srgbClr val="CB132A"/>
            </a:solidFill>
            <a:prstDash val="solid"/>
          </a:ln>
        </p:spPr>
      </p:sp>
      <p:sp>
        <p:nvSpPr>
          <p:cNvPr id="17" name="Text 15"/>
          <p:cNvSpPr/>
          <p:nvPr/>
        </p:nvSpPr>
        <p:spPr>
          <a:xfrm>
            <a:off x="896112" y="32461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p:nvPr/>
        </p:nvSpPr>
        <p:spPr>
          <a:xfrm>
            <a:off x="1389888" y="3054096"/>
            <a:ext cx="3611880" cy="713232"/>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Backtracking is DFS plus two free ideas</a:t>
            </a:r>
            <a:endParaRPr lang="en-US" sz="1400" dirty="0"/>
          </a:p>
        </p:txBody>
      </p:sp>
      <p:sp>
        <p:nvSpPr>
          <p:cNvPr id="19" name="Text 17"/>
          <p:cNvSpPr/>
          <p:nvPr/>
        </p:nvSpPr>
        <p:spPr>
          <a:xfrm>
            <a:off x="5074920" y="3090672"/>
            <a:ext cx="6217920" cy="64008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Fix a variable ordering, and check constraints incrementally. Sound to prune because a violated constraint cannot be repaired by going deeper.</a:t>
            </a:r>
            <a:endParaRPr lang="en-US" sz="1200" dirty="0"/>
          </a:p>
        </p:txBody>
      </p:sp>
      <p:sp>
        <p:nvSpPr>
          <p:cNvPr id="20" name="Shape 18"/>
          <p:cNvSpPr/>
          <p:nvPr/>
        </p:nvSpPr>
        <p:spPr>
          <a:xfrm>
            <a:off x="640080" y="3840480"/>
            <a:ext cx="10908792" cy="713232"/>
          </a:xfrm>
          <a:prstGeom prst="roundRect">
            <a:avLst>
              <a:gd name="adj" fmla="val 7692"/>
            </a:avLst>
          </a:prstGeom>
          <a:solidFill>
            <a:srgbClr val="F6F7F8"/>
          </a:solidFill>
          <a:ln w="9525">
            <a:solidFill>
              <a:srgbClr val="D3D6D9"/>
            </a:solidFill>
            <a:prstDash val="solid"/>
          </a:ln>
        </p:spPr>
      </p:sp>
      <p:sp>
        <p:nvSpPr>
          <p:cNvPr id="21" name="Shape 19"/>
          <p:cNvSpPr/>
          <p:nvPr/>
        </p:nvSpPr>
        <p:spPr>
          <a:xfrm>
            <a:off x="896112" y="4032504"/>
            <a:ext cx="329184" cy="329184"/>
          </a:xfrm>
          <a:prstGeom prst="ellipse">
            <a:avLst/>
          </a:prstGeom>
          <a:solidFill>
            <a:srgbClr val="CB132A"/>
          </a:solidFill>
          <a:ln w="12700">
            <a:solidFill>
              <a:srgbClr val="CB132A"/>
            </a:solidFill>
            <a:prstDash val="solid"/>
          </a:ln>
        </p:spPr>
      </p:sp>
      <p:sp>
        <p:nvSpPr>
          <p:cNvPr id="22" name="Text 20"/>
          <p:cNvSpPr/>
          <p:nvPr/>
        </p:nvSpPr>
        <p:spPr>
          <a:xfrm>
            <a:off x="896112" y="40325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1389888" y="3840480"/>
            <a:ext cx="3611880" cy="713232"/>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Filtering trades work per node for fewer nodes</a:t>
            </a:r>
            <a:endParaRPr lang="en-US" sz="1400" dirty="0"/>
          </a:p>
        </p:txBody>
      </p:sp>
      <p:sp>
        <p:nvSpPr>
          <p:cNvPr id="24" name="Text 22"/>
          <p:cNvSpPr/>
          <p:nvPr/>
        </p:nvSpPr>
        <p:spPr>
          <a:xfrm>
            <a:off x="5074920" y="3877056"/>
            <a:ext cx="6217920" cy="64008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Forward checking prunes the neighbors of the last assignment. Arc consistency propagates everywhere - delete from the tail, re-queue arcs pointing in.</a:t>
            </a:r>
            <a:endParaRPr lang="en-US" sz="1200" dirty="0"/>
          </a:p>
        </p:txBody>
      </p:sp>
      <p:sp>
        <p:nvSpPr>
          <p:cNvPr id="25" name="Shape 23"/>
          <p:cNvSpPr/>
          <p:nvPr/>
        </p:nvSpPr>
        <p:spPr>
          <a:xfrm>
            <a:off x="640080" y="4626864"/>
            <a:ext cx="10908792" cy="713232"/>
          </a:xfrm>
          <a:prstGeom prst="roundRect">
            <a:avLst>
              <a:gd name="adj" fmla="val 7692"/>
            </a:avLst>
          </a:prstGeom>
          <a:solidFill>
            <a:srgbClr val="F6F7F8"/>
          </a:solidFill>
          <a:ln w="9525">
            <a:solidFill>
              <a:srgbClr val="D3D6D9"/>
            </a:solidFill>
            <a:prstDash val="solid"/>
          </a:ln>
        </p:spPr>
      </p:sp>
      <p:sp>
        <p:nvSpPr>
          <p:cNvPr id="26" name="Shape 24"/>
          <p:cNvSpPr/>
          <p:nvPr/>
        </p:nvSpPr>
        <p:spPr>
          <a:xfrm>
            <a:off x="896112" y="4818888"/>
            <a:ext cx="329184" cy="329184"/>
          </a:xfrm>
          <a:prstGeom prst="ellipse">
            <a:avLst/>
          </a:prstGeom>
          <a:solidFill>
            <a:srgbClr val="CB132A"/>
          </a:solidFill>
          <a:ln w="12700">
            <a:solidFill>
              <a:srgbClr val="CB132A"/>
            </a:solidFill>
            <a:prstDash val="solid"/>
          </a:ln>
        </p:spPr>
      </p:sp>
      <p:sp>
        <p:nvSpPr>
          <p:cNvPr id="27" name="Text 25"/>
          <p:cNvSpPr/>
          <p:nvPr/>
        </p:nvSpPr>
        <p:spPr>
          <a:xfrm>
            <a:off x="896112" y="481888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p:nvPr/>
        </p:nvSpPr>
        <p:spPr>
          <a:xfrm>
            <a:off x="1389888" y="4626864"/>
            <a:ext cx="3611880" cy="713232"/>
          </a:xfrm>
          <a:prstGeom prst="rect">
            <a:avLst/>
          </a:prstGeom>
          <a:noFill/>
          <a:ln/>
        </p:spPr>
        <p:txBody>
          <a:bodyPr wrap="square" lIns="0" tIns="0" rIns="0" bIns="0" rtlCol="0" anchor="ctr"/>
          <a:lstStyle/>
          <a:p>
            <a:pPr indent="0" marL="0">
              <a:buNone/>
            </a:pPr>
            <a:r>
              <a:rPr lang="en-US" sz="1400" b="1" dirty="0">
                <a:solidFill>
                  <a:srgbClr val="1C1E21"/>
                </a:solidFill>
                <a:latin typeface="Calibri" pitchFamily="34" charset="0"/>
                <a:ea typeface="Calibri" pitchFamily="34" charset="-122"/>
                <a:cs typeface="Calibri" pitchFamily="34" charset="-120"/>
              </a:rPr>
              <a:t>Ordering is asymmetric on purpose</a:t>
            </a:r>
            <a:endParaRPr lang="en-US" sz="1400" dirty="0"/>
          </a:p>
        </p:txBody>
      </p:sp>
      <p:sp>
        <p:nvSpPr>
          <p:cNvPr id="29" name="Text 27"/>
          <p:cNvSpPr/>
          <p:nvPr/>
        </p:nvSpPr>
        <p:spPr>
          <a:xfrm>
            <a:off x="5074920" y="4663440"/>
            <a:ext cx="6217920" cy="64008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Most constrained variable, least constraining value. Fail fast where failure is unavoidable; succeed fast where success is sufficient.</a:t>
            </a:r>
            <a:endParaRPr lang="en-US" sz="1200" dirty="0"/>
          </a:p>
        </p:txBody>
      </p:sp>
      <p:sp>
        <p:nvSpPr>
          <p:cNvPr id="30" name="Shape 28"/>
          <p:cNvSpPr/>
          <p:nvPr/>
        </p:nvSpPr>
        <p:spPr>
          <a:xfrm>
            <a:off x="640080" y="5413248"/>
            <a:ext cx="10908792" cy="713232"/>
          </a:xfrm>
          <a:prstGeom prst="roundRect">
            <a:avLst>
              <a:gd name="adj" fmla="val 7692"/>
            </a:avLst>
          </a:prstGeom>
          <a:solidFill>
            <a:srgbClr val="FBEDEF"/>
          </a:solidFill>
          <a:ln w="9525">
            <a:solidFill>
              <a:srgbClr val="E8B5BC"/>
            </a:solidFill>
            <a:prstDash val="solid"/>
          </a:ln>
        </p:spPr>
      </p:sp>
      <p:sp>
        <p:nvSpPr>
          <p:cNvPr id="31" name="Shape 29"/>
          <p:cNvSpPr/>
          <p:nvPr/>
        </p:nvSpPr>
        <p:spPr>
          <a:xfrm>
            <a:off x="896112" y="5605272"/>
            <a:ext cx="329184" cy="329184"/>
          </a:xfrm>
          <a:prstGeom prst="ellipse">
            <a:avLst/>
          </a:prstGeom>
          <a:solidFill>
            <a:srgbClr val="CB132A"/>
          </a:solidFill>
          <a:ln w="12700">
            <a:solidFill>
              <a:srgbClr val="CB132A"/>
            </a:solidFill>
            <a:prstDash val="solid"/>
          </a:ln>
        </p:spPr>
      </p:sp>
      <p:sp>
        <p:nvSpPr>
          <p:cNvPr id="32" name="Text 30"/>
          <p:cNvSpPr/>
          <p:nvPr/>
        </p:nvSpPr>
        <p:spPr>
          <a:xfrm>
            <a:off x="896112" y="560527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p:nvPr/>
        </p:nvSpPr>
        <p:spPr>
          <a:xfrm>
            <a:off x="1389888" y="5413248"/>
            <a:ext cx="3611880" cy="713232"/>
          </a:xfrm>
          <a:prstGeom prst="rect">
            <a:avLst/>
          </a:prstGeom>
          <a:noFill/>
          <a:ln/>
        </p:spPr>
        <p:txBody>
          <a:bodyPr wrap="square" lIns="0" tIns="0" rIns="0" bIns="0" rtlCol="0" anchor="ctr"/>
          <a:lstStyle/>
          <a:p>
            <a:pPr indent="0" marL="0">
              <a:buNone/>
            </a:pPr>
            <a:r>
              <a:rPr lang="en-US" sz="1400" b="1" dirty="0">
                <a:solidFill>
                  <a:srgbClr val="CB132A"/>
                </a:solidFill>
                <a:latin typeface="Calibri" pitchFamily="34" charset="0"/>
                <a:ea typeface="Calibri" pitchFamily="34" charset="-122"/>
                <a:cs typeface="Calibri" pitchFamily="34" charset="-120"/>
              </a:rPr>
              <a:t>None of it beats NP-hardness</a:t>
            </a:r>
            <a:endParaRPr lang="en-US" sz="1400" dirty="0"/>
          </a:p>
        </p:txBody>
      </p:sp>
      <p:sp>
        <p:nvSpPr>
          <p:cNvPr id="34" name="Text 32"/>
          <p:cNvSpPr/>
          <p:nvPr/>
        </p:nvSpPr>
        <p:spPr>
          <a:xfrm>
            <a:off x="5074920" y="5449824"/>
            <a:ext cx="6217920" cy="640080"/>
          </a:xfrm>
          <a:prstGeom prst="rect">
            <a:avLst/>
          </a:prstGeom>
          <a:noFill/>
          <a:ln/>
        </p:spPr>
        <p:txBody>
          <a:bodyPr wrap="square" lIns="0" tIns="0" rIns="0" bIns="0" rtlCol="0" anchor="ctr"/>
          <a:lstStyle/>
          <a:p>
            <a:pPr indent="0" marL="0">
              <a:buNone/>
            </a:pPr>
            <a:r>
              <a:rPr lang="en-US" sz="1200" dirty="0">
                <a:solidFill>
                  <a:srgbClr val="53565A"/>
                </a:solidFill>
                <a:latin typeface="Calibri" pitchFamily="34" charset="0"/>
                <a:ea typeface="Calibri" pitchFamily="34" charset="-122"/>
                <a:cs typeface="Calibri" pitchFamily="34" charset="-120"/>
              </a:rPr>
              <a:t>And on the problems you will actually be handed, it very often does not need to.</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1C1E21"/>
        </a:solidFill>
      </p:bgPr>
    </p:bg>
    <p:spTree>
      <p:nvGrpSpPr>
        <p:cNvPr id="1" name=""/>
        <p:cNvGrpSpPr/>
        <p:nvPr/>
      </p:nvGrpSpPr>
      <p:grpSpPr>
        <a:xfrm>
          <a:off x="0" y="0"/>
          <a:ext cx="0" cy="0"/>
          <a:chOff x="0" y="0"/>
          <a:chExt cx="0" cy="0"/>
        </a:xfrm>
      </p:grpSpPr>
      <p:sp>
        <p:nvSpPr>
          <p:cNvPr id="2" name="Text 0"/>
          <p:cNvSpPr/>
          <p:nvPr/>
        </p:nvSpPr>
        <p:spPr>
          <a:xfrm>
            <a:off x="640080" y="685800"/>
            <a:ext cx="5486400" cy="457200"/>
          </a:xfrm>
          <a:prstGeom prst="rect">
            <a:avLst/>
          </a:prstGeom>
          <a:noFill/>
          <a:ln/>
        </p:spPr>
        <p:txBody>
          <a:bodyPr wrap="square" lIns="0" tIns="0" rIns="0" bIns="0" rtlCol="0" anchor="ctr"/>
          <a:lstStyle/>
          <a:p>
            <a:pPr indent="0" marL="0">
              <a:buNone/>
            </a:pPr>
            <a:r>
              <a:rPr lang="en-US" sz="1400" b="1" spc="300" kern="0" dirty="0">
                <a:solidFill>
                  <a:srgbClr val="CB132A"/>
                </a:solidFill>
                <a:latin typeface="Calibri" pitchFamily="34" charset="0"/>
                <a:ea typeface="Calibri" pitchFamily="34" charset="-122"/>
                <a:cs typeface="Calibri" pitchFamily="34" charset="-120"/>
              </a:rPr>
              <a:t>Next session</a:t>
            </a:r>
            <a:endParaRPr lang="en-US" sz="1400" dirty="0"/>
          </a:p>
        </p:txBody>
      </p:sp>
      <p:sp>
        <p:nvSpPr>
          <p:cNvPr id="3" name="Text 1"/>
          <p:cNvSpPr/>
          <p:nvPr/>
        </p:nvSpPr>
        <p:spPr>
          <a:xfrm>
            <a:off x="640080" y="109728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Constraint Satisfaction Problems II</a:t>
            </a:r>
            <a:endParaRPr lang="en-US" sz="3400" dirty="0"/>
          </a:p>
        </p:txBody>
      </p:sp>
      <p:sp>
        <p:nvSpPr>
          <p:cNvPr id="4" name="Shape 2"/>
          <p:cNvSpPr/>
          <p:nvPr/>
        </p:nvSpPr>
        <p:spPr>
          <a:xfrm>
            <a:off x="640080" y="2103120"/>
            <a:ext cx="6949440" cy="1024128"/>
          </a:xfrm>
          <a:prstGeom prst="roundRect">
            <a:avLst>
              <a:gd name="adj" fmla="val 5357"/>
            </a:avLst>
          </a:prstGeom>
          <a:solidFill>
            <a:srgbClr val="2C3034"/>
          </a:solidFill>
          <a:ln w="9525">
            <a:solidFill>
              <a:srgbClr val="3A3E43"/>
            </a:solidFill>
            <a:prstDash val="solid"/>
          </a:ln>
        </p:spPr>
      </p:sp>
      <p:sp>
        <p:nvSpPr>
          <p:cNvPr id="5" name="Shape 3"/>
          <p:cNvSpPr/>
          <p:nvPr/>
        </p:nvSpPr>
        <p:spPr>
          <a:xfrm>
            <a:off x="914400" y="2432304"/>
            <a:ext cx="365760" cy="365760"/>
          </a:xfrm>
          <a:prstGeom prst="ellipse">
            <a:avLst/>
          </a:prstGeom>
          <a:solidFill>
            <a:srgbClr val="CB132A"/>
          </a:solidFill>
          <a:ln w="12700">
            <a:solidFill>
              <a:srgbClr val="CB132A"/>
            </a:solidFill>
            <a:prstDash val="solid"/>
          </a:ln>
        </p:spPr>
      </p:sp>
      <p:sp>
        <p:nvSpPr>
          <p:cNvPr id="6" name="Text 4"/>
          <p:cNvSpPr/>
          <p:nvPr/>
        </p:nvSpPr>
        <p:spPr>
          <a:xfrm>
            <a:off x="914400" y="243230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481328" y="2231136"/>
            <a:ext cx="58521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Local search for CSPs</a:t>
            </a:r>
            <a:endParaRPr lang="en-US" sz="1500" dirty="0"/>
          </a:p>
        </p:txBody>
      </p:sp>
      <p:sp>
        <p:nvSpPr>
          <p:cNvPr id="8" name="Text 6"/>
          <p:cNvSpPr/>
          <p:nvPr/>
        </p:nvSpPr>
        <p:spPr>
          <a:xfrm>
            <a:off x="1481328" y="2560320"/>
            <a:ext cx="5852160" cy="502920"/>
          </a:xfrm>
          <a:prstGeom prst="rect">
            <a:avLst/>
          </a:prstGeom>
          <a:noFill/>
          <a:ln/>
        </p:spPr>
        <p:txBody>
          <a:bodyPr wrap="square" lIns="0" tIns="0" rIns="0" bIns="0" rtlCol="0" anchor="ctr"/>
          <a:lstStyle/>
          <a:p>
            <a:pPr indent="0" marL="0">
              <a:buNone/>
            </a:pPr>
            <a:r>
              <a:rPr lang="en-US" sz="1200" dirty="0">
                <a:solidFill>
                  <a:srgbClr val="9FA4A9"/>
                </a:solidFill>
                <a:latin typeface="Calibri" pitchFamily="34" charset="0"/>
                <a:ea typeface="Calibri" pitchFamily="34" charset="-122"/>
                <a:cs typeface="Calibri" pitchFamily="34" charset="-120"/>
              </a:rPr>
              <a:t>Min-conflicts hill climbing - and why it solves million-queens instances in seconds while backtracking is still setting up</a:t>
            </a:r>
            <a:endParaRPr lang="en-US" sz="1200" dirty="0"/>
          </a:p>
        </p:txBody>
      </p:sp>
      <p:sp>
        <p:nvSpPr>
          <p:cNvPr id="9" name="Shape 7"/>
          <p:cNvSpPr/>
          <p:nvPr/>
        </p:nvSpPr>
        <p:spPr>
          <a:xfrm>
            <a:off x="640080" y="3255264"/>
            <a:ext cx="6949440" cy="1024128"/>
          </a:xfrm>
          <a:prstGeom prst="roundRect">
            <a:avLst>
              <a:gd name="adj" fmla="val 5357"/>
            </a:avLst>
          </a:prstGeom>
          <a:solidFill>
            <a:srgbClr val="2C3034"/>
          </a:solidFill>
          <a:ln w="9525">
            <a:solidFill>
              <a:srgbClr val="3A3E43"/>
            </a:solidFill>
            <a:prstDash val="solid"/>
          </a:ln>
        </p:spPr>
      </p:sp>
      <p:sp>
        <p:nvSpPr>
          <p:cNvPr id="10" name="Shape 8"/>
          <p:cNvSpPr/>
          <p:nvPr/>
        </p:nvSpPr>
        <p:spPr>
          <a:xfrm>
            <a:off x="914400" y="3584448"/>
            <a:ext cx="365760" cy="365760"/>
          </a:xfrm>
          <a:prstGeom prst="ellipse">
            <a:avLst/>
          </a:prstGeom>
          <a:solidFill>
            <a:srgbClr val="CB132A"/>
          </a:solidFill>
          <a:ln w="12700">
            <a:solidFill>
              <a:srgbClr val="CB132A"/>
            </a:solidFill>
            <a:prstDash val="solid"/>
          </a:ln>
        </p:spPr>
      </p:sp>
      <p:sp>
        <p:nvSpPr>
          <p:cNvPr id="11" name="Text 9"/>
          <p:cNvSpPr/>
          <p:nvPr/>
        </p:nvSpPr>
        <p:spPr>
          <a:xfrm>
            <a:off x="914400" y="358444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481328" y="3383280"/>
            <a:ext cx="58521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Exploiting structure</a:t>
            </a:r>
            <a:endParaRPr lang="en-US" sz="1500" dirty="0"/>
          </a:p>
        </p:txBody>
      </p:sp>
      <p:sp>
        <p:nvSpPr>
          <p:cNvPr id="13" name="Text 11"/>
          <p:cNvSpPr/>
          <p:nvPr/>
        </p:nvSpPr>
        <p:spPr>
          <a:xfrm>
            <a:off x="1481328" y="3712464"/>
            <a:ext cx="5852160" cy="502920"/>
          </a:xfrm>
          <a:prstGeom prst="rect">
            <a:avLst/>
          </a:prstGeom>
          <a:noFill/>
          <a:ln/>
        </p:spPr>
        <p:txBody>
          <a:bodyPr wrap="square" lIns="0" tIns="0" rIns="0" bIns="0" rtlCol="0" anchor="ctr"/>
          <a:lstStyle/>
          <a:p>
            <a:pPr indent="0" marL="0">
              <a:buNone/>
            </a:pPr>
            <a:r>
              <a:rPr lang="en-US" sz="1200" dirty="0">
                <a:solidFill>
                  <a:srgbClr val="9FA4A9"/>
                </a:solidFill>
                <a:latin typeface="Calibri" pitchFamily="34" charset="0"/>
                <a:ea typeface="Calibri" pitchFamily="34" charset="-122"/>
                <a:cs typeface="Calibri" pitchFamily="34" charset="-120"/>
              </a:rPr>
              <a:t>Tree-structured CSPs solve in O(n d^2). Cutset conditioning and tree decomposition get you close on graphs that are nearly trees</a:t>
            </a:r>
            <a:endParaRPr lang="en-US" sz="1200" dirty="0"/>
          </a:p>
        </p:txBody>
      </p:sp>
      <p:sp>
        <p:nvSpPr>
          <p:cNvPr id="14" name="Shape 12"/>
          <p:cNvSpPr/>
          <p:nvPr/>
        </p:nvSpPr>
        <p:spPr>
          <a:xfrm>
            <a:off x="640080" y="4407408"/>
            <a:ext cx="6949440" cy="1024128"/>
          </a:xfrm>
          <a:prstGeom prst="roundRect">
            <a:avLst>
              <a:gd name="adj" fmla="val 5357"/>
            </a:avLst>
          </a:prstGeom>
          <a:solidFill>
            <a:srgbClr val="2C3034"/>
          </a:solidFill>
          <a:ln w="9525">
            <a:solidFill>
              <a:srgbClr val="3A3E43"/>
            </a:solidFill>
            <a:prstDash val="solid"/>
          </a:ln>
        </p:spPr>
      </p:sp>
      <p:sp>
        <p:nvSpPr>
          <p:cNvPr id="15" name="Shape 13"/>
          <p:cNvSpPr/>
          <p:nvPr/>
        </p:nvSpPr>
        <p:spPr>
          <a:xfrm>
            <a:off x="914400" y="4736592"/>
            <a:ext cx="365760" cy="365760"/>
          </a:xfrm>
          <a:prstGeom prst="ellipse">
            <a:avLst/>
          </a:prstGeom>
          <a:solidFill>
            <a:srgbClr val="CB132A"/>
          </a:solidFill>
          <a:ln w="12700">
            <a:solidFill>
              <a:srgbClr val="CB132A"/>
            </a:solidFill>
            <a:prstDash val="solid"/>
          </a:ln>
        </p:spPr>
      </p:sp>
      <p:sp>
        <p:nvSpPr>
          <p:cNvPr id="16" name="Text 14"/>
          <p:cNvSpPr/>
          <p:nvPr/>
        </p:nvSpPr>
        <p:spPr>
          <a:xfrm>
            <a:off x="914400" y="473659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481328" y="4535424"/>
            <a:ext cx="585216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 to Tasmania</a:t>
            </a:r>
            <a:endParaRPr lang="en-US" sz="1500" dirty="0"/>
          </a:p>
        </p:txBody>
      </p:sp>
      <p:sp>
        <p:nvSpPr>
          <p:cNvPr id="18" name="Text 16"/>
          <p:cNvSpPr/>
          <p:nvPr/>
        </p:nvSpPr>
        <p:spPr>
          <a:xfrm>
            <a:off x="1481328" y="4864608"/>
            <a:ext cx="5852160" cy="502920"/>
          </a:xfrm>
          <a:prstGeom prst="rect">
            <a:avLst/>
          </a:prstGeom>
          <a:noFill/>
          <a:ln/>
        </p:spPr>
        <p:txBody>
          <a:bodyPr wrap="square" lIns="0" tIns="0" rIns="0" bIns="0" rtlCol="0" anchor="ctr"/>
          <a:lstStyle/>
          <a:p>
            <a:pPr indent="0" marL="0">
              <a:buNone/>
            </a:pPr>
            <a:r>
              <a:rPr lang="en-US" sz="1200" dirty="0">
                <a:solidFill>
                  <a:srgbClr val="9FA4A9"/>
                </a:solidFill>
                <a:latin typeface="Calibri" pitchFamily="34" charset="0"/>
                <a:ea typeface="Calibri" pitchFamily="34" charset="-122"/>
                <a:cs typeface="Calibri" pitchFamily="34" charset="-120"/>
              </a:rPr>
              <a:t>Independent subproblems, and why noticing them is worth more than any heuristic on this list</a:t>
            </a:r>
            <a:endParaRPr lang="en-US" sz="1200" dirty="0"/>
          </a:p>
        </p:txBody>
      </p:sp>
      <p:sp>
        <p:nvSpPr>
          <p:cNvPr id="19" name="Shape 17"/>
          <p:cNvSpPr/>
          <p:nvPr/>
        </p:nvSpPr>
        <p:spPr>
          <a:xfrm>
            <a:off x="7863840" y="2103120"/>
            <a:ext cx="3685032" cy="3456432"/>
          </a:xfrm>
          <a:prstGeom prst="roundRect">
            <a:avLst>
              <a:gd name="adj" fmla="val 1587"/>
            </a:avLst>
          </a:prstGeom>
          <a:solidFill>
            <a:srgbClr val="2C3034"/>
          </a:solidFill>
          <a:ln w="9525">
            <a:solidFill>
              <a:srgbClr val="3A3E43"/>
            </a:solidFill>
            <a:prstDash val="solid"/>
          </a:ln>
        </p:spPr>
      </p:sp>
      <p:sp>
        <p:nvSpPr>
          <p:cNvPr id="20" name="Text 18"/>
          <p:cNvSpPr/>
          <p:nvPr/>
        </p:nvSpPr>
        <p:spPr>
          <a:xfrm>
            <a:off x="8138160" y="2267712"/>
            <a:ext cx="3200400" cy="365760"/>
          </a:xfrm>
          <a:prstGeom prst="rect">
            <a:avLst/>
          </a:prstGeom>
          <a:noFill/>
          <a:ln/>
        </p:spPr>
        <p:txBody>
          <a:bodyPr wrap="square" lIns="0" tIns="0" rIns="0" bIns="0" rtlCol="0" anchor="ctr"/>
          <a:lstStyle/>
          <a:p>
            <a:pPr indent="0" marL="0">
              <a:buNone/>
            </a:pPr>
            <a:r>
              <a:rPr lang="en-US" sz="1900" b="1" dirty="0">
                <a:solidFill>
                  <a:srgbClr val="CB132A"/>
                </a:solidFill>
                <a:latin typeface="Cambria" pitchFamily="34" charset="0"/>
                <a:ea typeface="Cambria" pitchFamily="34" charset="-122"/>
                <a:cs typeface="Cambria" pitchFamily="34" charset="-120"/>
              </a:rPr>
              <a:t>Before then</a:t>
            </a:r>
            <a:endParaRPr lang="en-US" sz="1900" dirty="0"/>
          </a:p>
        </p:txBody>
      </p:sp>
      <p:sp>
        <p:nvSpPr>
          <p:cNvPr id="21" name="Text 19"/>
          <p:cNvSpPr/>
          <p:nvPr/>
        </p:nvSpPr>
        <p:spPr>
          <a:xfrm>
            <a:off x="8138160" y="2697480"/>
            <a:ext cx="3200400" cy="2468880"/>
          </a:xfrm>
          <a:prstGeom prst="rect">
            <a:avLst/>
          </a:prstGeom>
          <a:noFill/>
          <a:ln/>
        </p:spPr>
        <p:txBody>
          <a:bodyPr wrap="square" lIns="0" tIns="0" rIns="0" bIns="0" rtlCol="0" anchor="t"/>
          <a:lstStyle/>
          <a:p>
            <a:pPr marL="177800" indent="-1778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Read AIMA 4e sections 6.1 through 6.3</a:t>
            </a:r>
            <a:endParaRPr lang="en-US" sz="1250" dirty="0"/>
          </a:p>
          <a:p>
            <a:pPr marL="177800" indent="-1778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Skim 6.5 - structure - before next session</a:t>
            </a:r>
            <a:endParaRPr lang="en-US" sz="1250" dirty="0"/>
          </a:p>
          <a:p>
            <a:pPr marL="177800" indent="-177800">
              <a:spcAft>
                <a:spcPts val="900"/>
              </a:spcAft>
              <a:buSzPct val="100000"/>
              <a:buChar char="•"/>
            </a:pPr>
            <a:r>
              <a:rPr lang="en-US" sz="1200" dirty="0">
                <a:solidFill>
                  <a:srgbClr val="B9BDC1"/>
                </a:solidFill>
                <a:latin typeface="Calibri" pitchFamily="34" charset="0"/>
                <a:ea typeface="Calibri" pitchFamily="34" charset="-122"/>
                <a:cs typeface="Calibri" pitchFamily="34" charset="-120"/>
              </a:rPr>
              <a:t>Problem set: model the exam-scheduling CSP from checkpoint 1 in full, then hand-trace AC-3 on it</a:t>
            </a:r>
            <a:endParaRPr lang="en-US" sz="1250" dirty="0"/>
          </a:p>
          <a:p>
            <a:pPr marL="177800" indent="-177800">
              <a:spcAft>
                <a:spcPts val="900"/>
              </a:spcAft>
              <a:buSzPct val="100000"/>
              <a:buChar char="•"/>
            </a:pPr>
            <a:r>
              <a:rPr lang="en-US" sz="1200" dirty="0">
                <a:solidFill>
                  <a:srgbClr val="B9BDC1"/>
                </a:solidFill>
                <a:latin typeface="Calibri" pitchFamily="34" charset="0"/>
                <a:ea typeface="Calibri" pitchFamily="34" charset="-122"/>
                <a:cs typeface="Calibri" pitchFamily="34" charset="-120"/>
              </a:rPr>
              <a:t>Programming: implement backtracking with forward checking and MRV; report node counts with each feature on and off</a:t>
            </a:r>
            <a:endParaRPr lang="en-US" sz="1250" dirty="0"/>
          </a:p>
        </p:txBody>
      </p:sp>
      <p:sp>
        <p:nvSpPr>
          <p:cNvPr id="22" name="Text 20"/>
          <p:cNvSpPr/>
          <p:nvPr/>
        </p:nvSpPr>
        <p:spPr>
          <a:xfrm>
            <a:off x="640080" y="5715000"/>
            <a:ext cx="10058400" cy="365760"/>
          </a:xfrm>
          <a:prstGeom prst="rect">
            <a:avLst/>
          </a:prstGeom>
          <a:noFill/>
          <a:ln/>
        </p:spPr>
        <p:txBody>
          <a:bodyPr wrap="square" lIns="0" tIns="0" rIns="0" bIns="0" rtlCol="0" anchor="ctr"/>
          <a:lstStyle/>
          <a:p>
            <a:pPr indent="0" marL="0">
              <a:buNone/>
            </a:pPr>
            <a:r>
              <a:rPr lang="en-US" sz="1400" i="1" dirty="0">
                <a:solidFill>
                  <a:srgbClr val="9FA4A9"/>
                </a:solidFill>
                <a:latin typeface="Calibri" pitchFamily="34" charset="0"/>
                <a:ea typeface="Calibri" pitchFamily="34" charset="-122"/>
                <a:cs typeface="Calibri" pitchFamily="34" charset="-120"/>
              </a:rPr>
              <a:t>Questions now, office hours after, or bring them to the start of next session.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CSU Channel Islands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 469 - Constraint Satisfaction Problems I</dc:title>
  <dc:subject>PptxGenJS Presentation</dc:subject>
  <dc:creator>Juan Rios</dc:creator>
  <cp:lastModifiedBy>Juan Rios</cp:lastModifiedBy>
  <cp:revision>1</cp:revision>
  <dcterms:created xsi:type="dcterms:W3CDTF">2026-08-07T05:40:32Z</dcterms:created>
  <dcterms:modified xsi:type="dcterms:W3CDTF">2026-08-07T05:40:32Z</dcterms:modified>
</cp:coreProperties>
</file>